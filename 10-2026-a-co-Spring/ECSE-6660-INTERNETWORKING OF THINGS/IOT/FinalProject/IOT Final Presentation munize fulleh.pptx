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9770fdb533_3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9770fdb533_3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9770fdb533_3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9770fdb533_3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9770fdb533_3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9770fdb533_3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9770fdb533_3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9770fdb533_3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9770fdb533_3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9770fdb533_3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97723b908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97723b908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dark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j.iot.2025.101554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Hardware-Secured IoT Gateway</a:t>
            </a:r>
            <a:endParaRPr sz="450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Edgar Muniz, Hayden Fuller</a:t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311700" y="4404125"/>
            <a:ext cx="4629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</a:rPr>
              <a:t>ECSE 6660 Internetworking of Things</a:t>
            </a:r>
            <a:endParaRPr sz="18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</a:t>
            </a:r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Develop a Hardware-Secured IoT Gateway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Demonstrate a cryptographically verified telemetry pipeline for critical infrastructure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Real World Application:</a:t>
            </a:r>
            <a:br>
              <a:rPr lang="en"/>
            </a:br>
            <a:r>
              <a:rPr lang="en"/>
              <a:t>Help utility operators ensuring that sensor readings cannot be spoofed at the software level. </a:t>
            </a:r>
            <a:br>
              <a:rPr lang="en"/>
            </a:br>
            <a:br>
              <a:rPr lang="en"/>
            </a:br>
            <a:r>
              <a:rPr lang="en"/>
              <a:t>This demonstration will benefit society by providing a blueprint for low-cost, low-power “Zero Trust” IoT gateways where the security keys are physically isolated from the internet facing processor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Research Question: How does offloading cryptographic authentication to a dedicated FPGA-based “Root of Trust” impact the latency, determinism, and security posture of an IoT gateway compared to a software only implementation?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Innovation + Literature Review</a:t>
            </a:r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project aims to establish a working proof of concept for a low power (and potentially low cost) IoT device capable of performing cryptographic functions.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While Traditional IoT security relies on software-level encryption, this design moves to offload these functions to hardware.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Recent work in Quantum Resistance and Digital Signature via GPU for IoT applications provided inspiration for this subject and field.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Hardware/Software Used</a:t>
            </a:r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Raspberry Pi 3b </a:t>
            </a:r>
            <a:br>
              <a:rPr lang="en"/>
            </a:br>
            <a:r>
              <a:rPr lang="en"/>
              <a:t>	</a:t>
            </a:r>
            <a:r>
              <a:rPr lang="en" sz="1200"/>
              <a:t>Interface with sensors, FPGA</a:t>
            </a:r>
            <a:br>
              <a:rPr lang="en" sz="1200"/>
            </a:br>
            <a:r>
              <a:rPr lang="en" sz="1200"/>
              <a:t>	Publish to MQTT Broker</a:t>
            </a:r>
            <a:endParaRPr sz="12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Nexys A7-100T FPGA</a:t>
            </a:r>
            <a:br>
              <a:rPr lang="en"/>
            </a:br>
            <a:r>
              <a:rPr lang="en" sz="1200"/>
              <a:t>	AES-128 Encryption</a:t>
            </a:r>
            <a:endParaRPr sz="12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DHT11</a:t>
            </a:r>
            <a:br>
              <a:rPr lang="en"/>
            </a:br>
            <a:r>
              <a:rPr lang="en" sz="1200"/>
              <a:t>	Collect Temperature and Humidity data</a:t>
            </a:r>
            <a:endParaRPr sz="12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PC</a:t>
            </a:r>
            <a:br>
              <a:rPr lang="en"/>
            </a:br>
            <a:r>
              <a:rPr lang="en" sz="1200"/>
              <a:t>	Run Node-RED server</a:t>
            </a:r>
            <a:br>
              <a:rPr lang="en" sz="1200"/>
            </a:br>
            <a:r>
              <a:rPr lang="en" sz="1200"/>
              <a:t>	Subscribe to MQTT topic</a:t>
            </a:r>
            <a:br>
              <a:rPr lang="en" sz="1200"/>
            </a:br>
            <a:r>
              <a:rPr lang="en" sz="1200"/>
              <a:t>	Display data on dashboard</a:t>
            </a:r>
            <a:endParaRPr sz="12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Vivado ML </a:t>
            </a:r>
            <a:br>
              <a:rPr lang="en"/>
            </a:br>
            <a:r>
              <a:rPr lang="en" sz="1200"/>
              <a:t>	Verilog synthesis</a:t>
            </a:r>
            <a:br>
              <a:rPr lang="en" sz="1200"/>
            </a:br>
            <a:r>
              <a:rPr lang="en" sz="1200"/>
              <a:t>	PPA analysis</a:t>
            </a:r>
            <a:endParaRPr sz="12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Python</a:t>
            </a:r>
            <a:br>
              <a:rPr lang="en"/>
            </a:br>
            <a:r>
              <a:rPr lang="en" sz="1200"/>
              <a:t>	RPi logic</a:t>
            </a:r>
            <a:br>
              <a:rPr lang="en" sz="1200"/>
            </a:br>
            <a:r>
              <a:rPr lang="en" sz="1200"/>
              <a:t>	Sensor Interfacing</a:t>
            </a:r>
            <a:endParaRPr sz="12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Node-RED</a:t>
            </a:r>
            <a:br>
              <a:rPr lang="en"/>
            </a:br>
            <a:r>
              <a:rPr lang="en" sz="1200"/>
              <a:t>	MQTT Subscription</a:t>
            </a:r>
            <a:br>
              <a:rPr lang="en" sz="1200"/>
            </a:br>
            <a:r>
              <a:rPr lang="en" sz="1200"/>
              <a:t>	Data Visualization</a:t>
            </a:r>
            <a:endParaRPr sz="12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ModelSim</a:t>
            </a:r>
            <a:br>
              <a:rPr lang="en"/>
            </a:br>
            <a:r>
              <a:rPr lang="en"/>
              <a:t>	</a:t>
            </a:r>
            <a:r>
              <a:rPr lang="en" sz="1300"/>
              <a:t>Verification of AES-128 hardware algorithm</a:t>
            </a:r>
            <a:endParaRPr sz="13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</a:t>
            </a:r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4154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Sensors collect raw data and sent it to the RPi</a:t>
            </a:r>
            <a:endParaRPr sz="12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RPi formats data into 16-byte payload</a:t>
            </a:r>
            <a:endParaRPr sz="12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nonce + counter generates AES-CTR input block</a:t>
            </a:r>
            <a:endParaRPr sz="12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Counter block sent to FPGA via SPI</a:t>
            </a:r>
            <a:endParaRPr sz="12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FPGA produces encrypted keystream</a:t>
            </a:r>
            <a:endParaRPr sz="12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RPi XORs keystream with sensor data for ciphertext</a:t>
            </a:r>
            <a:endParaRPr sz="12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published as JSON via MQTT</a:t>
            </a:r>
            <a:endParaRPr sz="12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/>
              <a:t>Node-RED server receives, decrypts, and displays data</a:t>
            </a:r>
            <a:endParaRPr sz="1200"/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4775" y="1152475"/>
            <a:ext cx="4467525" cy="356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96150" y="2460975"/>
            <a:ext cx="72575" cy="7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>
            <a:spLocks noGrp="1"/>
          </p:cNvSpPr>
          <p:nvPr>
            <p:ph type="title"/>
          </p:nvPr>
        </p:nvSpPr>
        <p:spPr>
          <a:xfrm>
            <a:off x="203943" y="135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Demo</a:t>
            </a:r>
            <a:endParaRPr dirty="0"/>
          </a:p>
        </p:txBody>
      </p:sp>
      <p:pic>
        <p:nvPicPr>
          <p:cNvPr id="2" name="IOTdemo">
            <a:hlinkClick r:id="" action="ppaction://media"/>
            <a:extLst>
              <a:ext uri="{FF2B5EF4-FFF2-40B4-BE49-F238E27FC236}">
                <a16:creationId xmlns:a16="http://schemas.microsoft.com/office/drawing/2014/main" id="{F5FEB55C-2AE3-3BBA-300E-C11CBB79E11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87721" y="819648"/>
            <a:ext cx="7568558" cy="426460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536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95" name="Google Shape;95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P. Cíbik, S. Ricci, Patrik Dobiáš, J. Hajný, L. Malina, and J. Havlín, “Quantum-resistant hardware-accelerated IoT traffic encryptor,” </a:t>
            </a:r>
            <a:r>
              <a:rPr lang="en" sz="11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Internet of Things</a:t>
            </a:r>
            <a:r>
              <a:rPr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pp. 101554–101554, Mar. 2025, doi: </a:t>
            </a:r>
            <a:r>
              <a:rPr lang="en" sz="11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https://doi.org/10.1016/j.iot.2025.101554</a:t>
            </a:r>
            <a:r>
              <a:rPr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C. -C. Chang, W. -K. Lee, Y. Liu, B. -M. Goi and R. C. . -W. Phan, "Signature Gateway: Offloading Signature Generation to IoT Gateway Accelerated by GPU," in IEEE Internet of Things Journal, vol. 6, no. 3, pp. 4448-4461, June 2019, doi: 10.1109/JIOT.2018.2881425.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</a:rPr>
              <a:t>D. Evans, K. Brown, and P. Bond, “FIPS 197 Federal Information Processing Standards Publication Advanced Encryption Standard (AES),” </a:t>
            </a:r>
            <a:r>
              <a:rPr lang="en" sz="1200" i="1">
                <a:solidFill>
                  <a:srgbClr val="000000"/>
                </a:solidFill>
              </a:rPr>
              <a:t>Advanced Encryption Standard (AES)</a:t>
            </a:r>
            <a:r>
              <a:rPr lang="en" sz="1200">
                <a:solidFill>
                  <a:srgbClr val="000000"/>
                </a:solidFill>
              </a:rPr>
              <a:t>, Nov. 2001, doi: https://doi.org/10.6028/NIST.FIPS.197-upd1.</a:t>
            </a:r>
            <a:endParaRPr sz="12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</a:rPr>
              <a:t>‌</a:t>
            </a:r>
            <a:endParaRPr sz="1200">
              <a:solidFill>
                <a:srgbClr val="000000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530</Words>
  <Application>Microsoft Office PowerPoint</Application>
  <PresentationFormat>On-screen Show (16:9)</PresentationFormat>
  <Paragraphs>39</Paragraphs>
  <Slides>7</Slides>
  <Notes>7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Times New Roman</vt:lpstr>
      <vt:lpstr>Simple Dark</vt:lpstr>
      <vt:lpstr>Hardware-Secured IoT Gateway</vt:lpstr>
      <vt:lpstr>Objective</vt:lpstr>
      <vt:lpstr>Innovation + Literature Review</vt:lpstr>
      <vt:lpstr>Hardware/Software Used</vt:lpstr>
      <vt:lpstr>Methodology</vt:lpstr>
      <vt:lpstr>Demo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Fuller, Hayden</cp:lastModifiedBy>
  <cp:revision>1</cp:revision>
  <dcterms:modified xsi:type="dcterms:W3CDTF">2026-04-20T03:01:27Z</dcterms:modified>
</cp:coreProperties>
</file>