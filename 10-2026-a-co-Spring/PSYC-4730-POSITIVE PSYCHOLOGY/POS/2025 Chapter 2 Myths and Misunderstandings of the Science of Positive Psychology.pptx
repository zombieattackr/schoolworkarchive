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29"/>
  </p:notesMasterIdLst>
  <p:handoutMasterIdLst>
    <p:handoutMasterId r:id="rId30"/>
  </p:handoutMasterIdLst>
  <p:sldIdLst>
    <p:sldId id="259" r:id="rId5"/>
    <p:sldId id="283" r:id="rId6"/>
    <p:sldId id="258" r:id="rId7"/>
    <p:sldId id="261" r:id="rId8"/>
    <p:sldId id="285" r:id="rId9"/>
    <p:sldId id="287" r:id="rId10"/>
    <p:sldId id="288" r:id="rId11"/>
    <p:sldId id="289" r:id="rId12"/>
    <p:sldId id="305" r:id="rId13"/>
    <p:sldId id="290" r:id="rId14"/>
    <p:sldId id="303" r:id="rId15"/>
    <p:sldId id="269" r:id="rId16"/>
    <p:sldId id="264" r:id="rId17"/>
    <p:sldId id="291" r:id="rId18"/>
    <p:sldId id="304" r:id="rId19"/>
    <p:sldId id="293" r:id="rId20"/>
    <p:sldId id="299" r:id="rId21"/>
    <p:sldId id="300" r:id="rId22"/>
    <p:sldId id="292" r:id="rId23"/>
    <p:sldId id="294" r:id="rId24"/>
    <p:sldId id="267" r:id="rId25"/>
    <p:sldId id="298" r:id="rId26"/>
    <p:sldId id="295" r:id="rId27"/>
    <p:sldId id="29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B0E6"/>
    <a:srgbClr val="ECECFE"/>
    <a:srgbClr val="C363CD"/>
    <a:srgbClr val="FDEC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2EC0D6-ACA1-483B-9ABE-9B8FFE5A0C60}" v="1" dt="2022-02-09T10:20:52.0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0" autoAdjust="0"/>
    <p:restoredTop sz="95365" autoAdjust="0"/>
  </p:normalViewPr>
  <p:slideViewPr>
    <p:cSldViewPr snapToGrid="0">
      <p:cViewPr varScale="1">
        <p:scale>
          <a:sx n="42" d="100"/>
          <a:sy n="42" d="100"/>
        </p:scale>
        <p:origin x="1354" y="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2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microsoft.com/office/2015/10/relationships/revisionInfo" Target="revisionInfo.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12E3B0-B76E-4D88-9CC9-1F2A7E0D322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2CFD3D6-3104-424E-B408-AC11745CD557}">
      <dgm:prSet/>
      <dgm:spPr/>
      <dgm:t>
        <a:bodyPr/>
        <a:lstStyle/>
        <a:p>
          <a:r>
            <a:rPr lang="en-US" i="1"/>
            <a:t>Correlation</a:t>
          </a:r>
          <a:r>
            <a:rPr lang="en-US"/>
            <a:t>: How strongly a pair of variables relate to one another and thus change together. </a:t>
          </a:r>
        </a:p>
      </dgm:t>
    </dgm:pt>
    <dgm:pt modelId="{CAC4711A-5D2E-4EBA-B53E-0ECCC51111CF}" type="parTrans" cxnId="{2964B14F-AB2B-4EC0-BF85-ACDC65831C92}">
      <dgm:prSet/>
      <dgm:spPr/>
      <dgm:t>
        <a:bodyPr/>
        <a:lstStyle/>
        <a:p>
          <a:endParaRPr lang="en-US"/>
        </a:p>
      </dgm:t>
    </dgm:pt>
    <dgm:pt modelId="{1136FDA8-D85D-42C8-94CB-92C9A9804B5A}" type="sibTrans" cxnId="{2964B14F-AB2B-4EC0-BF85-ACDC65831C92}">
      <dgm:prSet/>
      <dgm:spPr/>
      <dgm:t>
        <a:bodyPr/>
        <a:lstStyle/>
        <a:p>
          <a:endParaRPr lang="en-US"/>
        </a:p>
      </dgm:t>
    </dgm:pt>
    <dgm:pt modelId="{EAC936DE-5674-4906-9D8F-65150D376B04}">
      <dgm:prSet/>
      <dgm:spPr/>
      <dgm:t>
        <a:bodyPr/>
        <a:lstStyle/>
        <a:p>
          <a:r>
            <a:rPr lang="en-US"/>
            <a:t>Correlation </a:t>
          </a:r>
          <a:r>
            <a:rPr lang="en-US" u="sng"/>
            <a:t>does not</a:t>
          </a:r>
          <a:r>
            <a:rPr lang="en-US"/>
            <a:t> equal causation.</a:t>
          </a:r>
        </a:p>
      </dgm:t>
    </dgm:pt>
    <dgm:pt modelId="{FD1E03CD-27D6-4823-A92E-087948B59991}" type="parTrans" cxnId="{4621D29F-C082-4B93-B468-B32EF4D16B69}">
      <dgm:prSet/>
      <dgm:spPr/>
      <dgm:t>
        <a:bodyPr/>
        <a:lstStyle/>
        <a:p>
          <a:endParaRPr lang="en-US"/>
        </a:p>
      </dgm:t>
    </dgm:pt>
    <dgm:pt modelId="{22D06FBD-000E-45D9-8362-D52808A98CE3}" type="sibTrans" cxnId="{4621D29F-C082-4B93-B468-B32EF4D16B69}">
      <dgm:prSet/>
      <dgm:spPr/>
      <dgm:t>
        <a:bodyPr/>
        <a:lstStyle/>
        <a:p>
          <a:endParaRPr lang="en-US"/>
        </a:p>
      </dgm:t>
    </dgm:pt>
    <dgm:pt modelId="{E9879443-409F-4662-A1F8-A9E3E5F46AAE}">
      <dgm:prSet/>
      <dgm:spPr/>
      <dgm:t>
        <a:bodyPr/>
        <a:lstStyle/>
        <a:p>
          <a:r>
            <a:rPr lang="en-US"/>
            <a:t>Correlations between two variables can also be caused by a third variable that affects both of them, known as a </a:t>
          </a:r>
          <a:r>
            <a:rPr lang="en-US" i="1"/>
            <a:t>confounder</a:t>
          </a:r>
          <a:r>
            <a:rPr lang="en-US"/>
            <a:t>.</a:t>
          </a:r>
        </a:p>
      </dgm:t>
    </dgm:pt>
    <dgm:pt modelId="{0C88E09F-4BE6-464D-9583-2841F9227064}" type="parTrans" cxnId="{082E9469-23D4-4699-913E-42F2C8924864}">
      <dgm:prSet/>
      <dgm:spPr/>
      <dgm:t>
        <a:bodyPr/>
        <a:lstStyle/>
        <a:p>
          <a:endParaRPr lang="en-US"/>
        </a:p>
      </dgm:t>
    </dgm:pt>
    <dgm:pt modelId="{1413CC58-8ECA-46A4-98AC-33E4D60B1411}" type="sibTrans" cxnId="{082E9469-23D4-4699-913E-42F2C8924864}">
      <dgm:prSet/>
      <dgm:spPr/>
      <dgm:t>
        <a:bodyPr/>
        <a:lstStyle/>
        <a:p>
          <a:endParaRPr lang="en-US"/>
        </a:p>
      </dgm:t>
    </dgm:pt>
    <dgm:pt modelId="{D97CE6E0-BE90-4D82-BB80-724651318999}" type="pres">
      <dgm:prSet presAssocID="{0712E3B0-B76E-4D88-9CC9-1F2A7E0D322D}" presName="linear" presStyleCnt="0">
        <dgm:presLayoutVars>
          <dgm:animLvl val="lvl"/>
          <dgm:resizeHandles val="exact"/>
        </dgm:presLayoutVars>
      </dgm:prSet>
      <dgm:spPr/>
    </dgm:pt>
    <dgm:pt modelId="{BF8EF267-E903-44B7-B34F-FECD18D03D2E}" type="pres">
      <dgm:prSet presAssocID="{92CFD3D6-3104-424E-B408-AC11745CD557}" presName="parentText" presStyleLbl="node1" presStyleIdx="0" presStyleCnt="3">
        <dgm:presLayoutVars>
          <dgm:chMax val="0"/>
          <dgm:bulletEnabled val="1"/>
        </dgm:presLayoutVars>
      </dgm:prSet>
      <dgm:spPr/>
    </dgm:pt>
    <dgm:pt modelId="{1DDDEB4F-44D4-4D99-8084-A206E27F629F}" type="pres">
      <dgm:prSet presAssocID="{1136FDA8-D85D-42C8-94CB-92C9A9804B5A}" presName="spacer" presStyleCnt="0"/>
      <dgm:spPr/>
    </dgm:pt>
    <dgm:pt modelId="{76E18D94-82C5-4FBD-97E2-03A5C25C2C58}" type="pres">
      <dgm:prSet presAssocID="{EAC936DE-5674-4906-9D8F-65150D376B04}" presName="parentText" presStyleLbl="node1" presStyleIdx="1" presStyleCnt="3">
        <dgm:presLayoutVars>
          <dgm:chMax val="0"/>
          <dgm:bulletEnabled val="1"/>
        </dgm:presLayoutVars>
      </dgm:prSet>
      <dgm:spPr/>
    </dgm:pt>
    <dgm:pt modelId="{A0B08D80-EC02-4457-A653-7835E2ACEB51}" type="pres">
      <dgm:prSet presAssocID="{22D06FBD-000E-45D9-8362-D52808A98CE3}" presName="spacer" presStyleCnt="0"/>
      <dgm:spPr/>
    </dgm:pt>
    <dgm:pt modelId="{6C4D3E81-EB9E-4FB4-A217-8ED495F1A859}" type="pres">
      <dgm:prSet presAssocID="{E9879443-409F-4662-A1F8-A9E3E5F46AAE}" presName="parentText" presStyleLbl="node1" presStyleIdx="2" presStyleCnt="3">
        <dgm:presLayoutVars>
          <dgm:chMax val="0"/>
          <dgm:bulletEnabled val="1"/>
        </dgm:presLayoutVars>
      </dgm:prSet>
      <dgm:spPr/>
    </dgm:pt>
  </dgm:ptLst>
  <dgm:cxnLst>
    <dgm:cxn modelId="{88461429-9EDB-463B-A44D-C936721BA069}" type="presOf" srcId="{E9879443-409F-4662-A1F8-A9E3E5F46AAE}" destId="{6C4D3E81-EB9E-4FB4-A217-8ED495F1A859}" srcOrd="0" destOrd="0" presId="urn:microsoft.com/office/officeart/2005/8/layout/vList2"/>
    <dgm:cxn modelId="{082E9469-23D4-4699-913E-42F2C8924864}" srcId="{0712E3B0-B76E-4D88-9CC9-1F2A7E0D322D}" destId="{E9879443-409F-4662-A1F8-A9E3E5F46AAE}" srcOrd="2" destOrd="0" parTransId="{0C88E09F-4BE6-464D-9583-2841F9227064}" sibTransId="{1413CC58-8ECA-46A4-98AC-33E4D60B1411}"/>
    <dgm:cxn modelId="{2964B14F-AB2B-4EC0-BF85-ACDC65831C92}" srcId="{0712E3B0-B76E-4D88-9CC9-1F2A7E0D322D}" destId="{92CFD3D6-3104-424E-B408-AC11745CD557}" srcOrd="0" destOrd="0" parTransId="{CAC4711A-5D2E-4EBA-B53E-0ECCC51111CF}" sibTransId="{1136FDA8-D85D-42C8-94CB-92C9A9804B5A}"/>
    <dgm:cxn modelId="{E96B0A56-DE0E-4514-8064-646F1533EC6D}" type="presOf" srcId="{0712E3B0-B76E-4D88-9CC9-1F2A7E0D322D}" destId="{D97CE6E0-BE90-4D82-BB80-724651318999}" srcOrd="0" destOrd="0" presId="urn:microsoft.com/office/officeart/2005/8/layout/vList2"/>
    <dgm:cxn modelId="{E92BC099-D34C-40B7-BC1C-C4D727832059}" type="presOf" srcId="{92CFD3D6-3104-424E-B408-AC11745CD557}" destId="{BF8EF267-E903-44B7-B34F-FECD18D03D2E}" srcOrd="0" destOrd="0" presId="urn:microsoft.com/office/officeart/2005/8/layout/vList2"/>
    <dgm:cxn modelId="{4621D29F-C082-4B93-B468-B32EF4D16B69}" srcId="{0712E3B0-B76E-4D88-9CC9-1F2A7E0D322D}" destId="{EAC936DE-5674-4906-9D8F-65150D376B04}" srcOrd="1" destOrd="0" parTransId="{FD1E03CD-27D6-4823-A92E-087948B59991}" sibTransId="{22D06FBD-000E-45D9-8362-D52808A98CE3}"/>
    <dgm:cxn modelId="{68F587D1-9927-4BAB-8900-FC9721F3E771}" type="presOf" srcId="{EAC936DE-5674-4906-9D8F-65150D376B04}" destId="{76E18D94-82C5-4FBD-97E2-03A5C25C2C58}" srcOrd="0" destOrd="0" presId="urn:microsoft.com/office/officeart/2005/8/layout/vList2"/>
    <dgm:cxn modelId="{E25E06DE-0A7C-43BA-A298-E579B81EB840}" type="presParOf" srcId="{D97CE6E0-BE90-4D82-BB80-724651318999}" destId="{BF8EF267-E903-44B7-B34F-FECD18D03D2E}" srcOrd="0" destOrd="0" presId="urn:microsoft.com/office/officeart/2005/8/layout/vList2"/>
    <dgm:cxn modelId="{7529D0A8-FD2D-4311-B97E-D6E1BCAC2260}" type="presParOf" srcId="{D97CE6E0-BE90-4D82-BB80-724651318999}" destId="{1DDDEB4F-44D4-4D99-8084-A206E27F629F}" srcOrd="1" destOrd="0" presId="urn:microsoft.com/office/officeart/2005/8/layout/vList2"/>
    <dgm:cxn modelId="{2E7D42CF-67FF-4D1A-AE88-4AD1187B2A57}" type="presParOf" srcId="{D97CE6E0-BE90-4D82-BB80-724651318999}" destId="{76E18D94-82C5-4FBD-97E2-03A5C25C2C58}" srcOrd="2" destOrd="0" presId="urn:microsoft.com/office/officeart/2005/8/layout/vList2"/>
    <dgm:cxn modelId="{E8C20340-264B-424A-8D50-888F322276C6}" type="presParOf" srcId="{D97CE6E0-BE90-4D82-BB80-724651318999}" destId="{A0B08D80-EC02-4457-A653-7835E2ACEB51}" srcOrd="3" destOrd="0" presId="urn:microsoft.com/office/officeart/2005/8/layout/vList2"/>
    <dgm:cxn modelId="{71CE3DB6-DE9B-405C-81D2-702F483CEC06}" type="presParOf" srcId="{D97CE6E0-BE90-4D82-BB80-724651318999}" destId="{6C4D3E81-EB9E-4FB4-A217-8ED495F1A859}"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8EF267-E903-44B7-B34F-FECD18D03D2E}">
      <dsp:nvSpPr>
        <dsp:cNvPr id="0" name=""/>
        <dsp:cNvSpPr/>
      </dsp:nvSpPr>
      <dsp:spPr>
        <a:xfrm>
          <a:off x="0" y="472501"/>
          <a:ext cx="3943350" cy="1479574"/>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a:t>Correlation</a:t>
          </a:r>
          <a:r>
            <a:rPr lang="en-US" sz="2100" kern="1200"/>
            <a:t>: How strongly a pair of variables relate to one another and thus change together. </a:t>
          </a:r>
        </a:p>
      </dsp:txBody>
      <dsp:txXfrm>
        <a:off x="72227" y="544728"/>
        <a:ext cx="3798896" cy="1335120"/>
      </dsp:txXfrm>
    </dsp:sp>
    <dsp:sp modelId="{76E18D94-82C5-4FBD-97E2-03A5C25C2C58}">
      <dsp:nvSpPr>
        <dsp:cNvPr id="0" name=""/>
        <dsp:cNvSpPr/>
      </dsp:nvSpPr>
      <dsp:spPr>
        <a:xfrm>
          <a:off x="0" y="2012556"/>
          <a:ext cx="3943350" cy="1479574"/>
        </a:xfrm>
        <a:prstGeom prst="roundRect">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Correlation </a:t>
          </a:r>
          <a:r>
            <a:rPr lang="en-US" sz="2100" u="sng" kern="1200"/>
            <a:t>does not</a:t>
          </a:r>
          <a:r>
            <a:rPr lang="en-US" sz="2100" kern="1200"/>
            <a:t> equal causation.</a:t>
          </a:r>
        </a:p>
      </dsp:txBody>
      <dsp:txXfrm>
        <a:off x="72227" y="2084783"/>
        <a:ext cx="3798896" cy="1335120"/>
      </dsp:txXfrm>
    </dsp:sp>
    <dsp:sp modelId="{6C4D3E81-EB9E-4FB4-A217-8ED495F1A859}">
      <dsp:nvSpPr>
        <dsp:cNvPr id="0" name=""/>
        <dsp:cNvSpPr/>
      </dsp:nvSpPr>
      <dsp:spPr>
        <a:xfrm>
          <a:off x="0" y="3552611"/>
          <a:ext cx="3943350" cy="1479574"/>
        </a:xfrm>
        <a:prstGeom prst="roundRect">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Correlations between two variables can also be caused by a third variable that affects both of them, known as a </a:t>
          </a:r>
          <a:r>
            <a:rPr lang="en-US" sz="2100" i="1" kern="1200"/>
            <a:t>confounder</a:t>
          </a:r>
          <a:r>
            <a:rPr lang="en-US" sz="2100" kern="1200"/>
            <a:t>.</a:t>
          </a:r>
        </a:p>
      </dsp:txBody>
      <dsp:txXfrm>
        <a:off x="72227" y="3624838"/>
        <a:ext cx="3798896" cy="13351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F72A1B-196A-4155-8397-EF46A3A2FFBA}" type="datetimeFigureOut">
              <a:rPr lang="en-US" smtClean="0"/>
              <a:t>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5B57E6-BB92-47A0-B1B1-ED183A0B4C65}" type="slidenum">
              <a:rPr lang="en-US" smtClean="0"/>
              <a:t>‹#›</a:t>
            </a:fld>
            <a:endParaRPr lang="en-US" dirty="0"/>
          </a:p>
        </p:txBody>
      </p:sp>
    </p:spTree>
    <p:extLst>
      <p:ext uri="{BB962C8B-B14F-4D97-AF65-F5344CB8AC3E}">
        <p14:creationId xmlns:p14="http://schemas.microsoft.com/office/powerpoint/2010/main" val="355179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69A6D-8697-4D2F-B6E0-21678FE988F9}" type="datetimeFigureOut">
              <a:rPr lang="en-US" smtClean="0"/>
              <a:t>1/8/2025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5EBDA-FB43-46D3-ADD5-6E5F4CE48D99}" type="slidenum">
              <a:rPr lang="en-US" smtClean="0"/>
              <a:t>‹#›</a:t>
            </a:fld>
            <a:endParaRPr lang="en-US" dirty="0"/>
          </a:p>
        </p:txBody>
      </p:sp>
    </p:spTree>
    <p:extLst>
      <p:ext uri="{BB962C8B-B14F-4D97-AF65-F5344CB8AC3E}">
        <p14:creationId xmlns:p14="http://schemas.microsoft.com/office/powerpoint/2010/main" val="9413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4</a:t>
            </a:fld>
            <a:endParaRPr lang="en-US" dirty="0"/>
          </a:p>
        </p:txBody>
      </p:sp>
    </p:spTree>
    <p:extLst>
      <p:ext uri="{BB962C8B-B14F-4D97-AF65-F5344CB8AC3E}">
        <p14:creationId xmlns:p14="http://schemas.microsoft.com/office/powerpoint/2010/main" val="14756668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5</a:t>
            </a:fld>
            <a:endParaRPr lang="en-US" dirty="0"/>
          </a:p>
        </p:txBody>
      </p:sp>
    </p:spTree>
    <p:extLst>
      <p:ext uri="{BB962C8B-B14F-4D97-AF65-F5344CB8AC3E}">
        <p14:creationId xmlns:p14="http://schemas.microsoft.com/office/powerpoint/2010/main" val="1463105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6</a:t>
            </a:fld>
            <a:endParaRPr lang="en-US" dirty="0"/>
          </a:p>
        </p:txBody>
      </p:sp>
    </p:spTree>
    <p:extLst>
      <p:ext uri="{BB962C8B-B14F-4D97-AF65-F5344CB8AC3E}">
        <p14:creationId xmlns:p14="http://schemas.microsoft.com/office/powerpoint/2010/main" val="38373765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7</a:t>
            </a:fld>
            <a:endParaRPr lang="en-US" dirty="0"/>
          </a:p>
        </p:txBody>
      </p:sp>
    </p:spTree>
    <p:extLst>
      <p:ext uri="{BB962C8B-B14F-4D97-AF65-F5344CB8AC3E}">
        <p14:creationId xmlns:p14="http://schemas.microsoft.com/office/powerpoint/2010/main" val="2211374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8</a:t>
            </a:fld>
            <a:endParaRPr lang="en-US" dirty="0"/>
          </a:p>
        </p:txBody>
      </p:sp>
    </p:spTree>
    <p:extLst>
      <p:ext uri="{BB962C8B-B14F-4D97-AF65-F5344CB8AC3E}">
        <p14:creationId xmlns:p14="http://schemas.microsoft.com/office/powerpoint/2010/main" val="3632184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Grateful people more likely to make positive interpretations of situations and more likely to remember events more positively. </a:t>
            </a:r>
          </a:p>
        </p:txBody>
      </p:sp>
      <p:sp>
        <p:nvSpPr>
          <p:cNvPr id="4" name="Slide Number Placeholder 3"/>
          <p:cNvSpPr>
            <a:spLocks noGrp="1"/>
          </p:cNvSpPr>
          <p:nvPr>
            <p:ph type="sldNum" sz="quarter" idx="5"/>
          </p:nvPr>
        </p:nvSpPr>
        <p:spPr/>
        <p:txBody>
          <a:bodyPr/>
          <a:lstStyle/>
          <a:p>
            <a:fld id="{1BB5EBDA-FB43-46D3-ADD5-6E5F4CE48D99}" type="slidenum">
              <a:rPr lang="en-US" smtClean="0"/>
              <a:t>10</a:t>
            </a:fld>
            <a:endParaRPr lang="en-US" dirty="0"/>
          </a:p>
        </p:txBody>
      </p:sp>
    </p:spTree>
    <p:extLst>
      <p:ext uri="{BB962C8B-B14F-4D97-AF65-F5344CB8AC3E}">
        <p14:creationId xmlns:p14="http://schemas.microsoft.com/office/powerpoint/2010/main" val="414297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Consider asking students to pair off and discuss their lists with one another, noting similarities and differences. This can be followed by an all-class discussion.</a:t>
            </a:r>
          </a:p>
        </p:txBody>
      </p:sp>
      <p:sp>
        <p:nvSpPr>
          <p:cNvPr id="4" name="Slide Number Placeholder 3"/>
          <p:cNvSpPr>
            <a:spLocks noGrp="1"/>
          </p:cNvSpPr>
          <p:nvPr>
            <p:ph type="sldNum" sz="quarter" idx="10"/>
          </p:nvPr>
        </p:nvSpPr>
        <p:spPr/>
        <p:txBody>
          <a:bodyPr/>
          <a:lstStyle/>
          <a:p>
            <a:fld id="{1BB5EBDA-FB43-46D3-ADD5-6E5F4CE48D99}" type="slidenum">
              <a:rPr lang="en-US" smtClean="0"/>
              <a:t>17</a:t>
            </a:fld>
            <a:endParaRPr lang="en-US" dirty="0"/>
          </a:p>
        </p:txBody>
      </p:sp>
    </p:spTree>
    <p:extLst>
      <p:ext uri="{BB962C8B-B14F-4D97-AF65-F5344CB8AC3E}">
        <p14:creationId xmlns:p14="http://schemas.microsoft.com/office/powerpoint/2010/main" val="1456009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7886700" cy="2852737"/>
          </a:xfrm>
        </p:spPr>
        <p:txBody>
          <a:bodyPr anchor="ctr"/>
          <a:lstStyle>
            <a:lvl1pPr algn="ctr">
              <a:defRPr sz="6000"/>
            </a:lvl1pPr>
          </a:lstStyle>
          <a:p>
            <a:r>
              <a:rPr lang="en-US" dirty="0"/>
              <a:t>Click to edit Master title style</a:t>
            </a:r>
          </a:p>
        </p:txBody>
      </p:sp>
      <p:sp>
        <p:nvSpPr>
          <p:cNvPr id="3" name="Text Placeholder 2"/>
          <p:cNvSpPr>
            <a:spLocks noGrp="1"/>
          </p:cNvSpPr>
          <p:nvPr>
            <p:ph type="body" idx="1"/>
          </p:nvPr>
        </p:nvSpPr>
        <p:spPr>
          <a:xfrm>
            <a:off x="623888" y="3587118"/>
            <a:ext cx="7886700" cy="1500187"/>
          </a:xfrm>
        </p:spPr>
        <p:txBody>
          <a:bodyPr>
            <a:normAutofit/>
          </a:bodyPr>
          <a:lstStyle>
            <a:lvl1pPr marL="0" indent="0" algn="ctr">
              <a:buNone/>
              <a:defRPr sz="4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Footer Placeholder 6"/>
          <p:cNvSpPr>
            <a:spLocks noGrp="1"/>
          </p:cNvSpPr>
          <p:nvPr>
            <p:ph type="ftr" sz="quarter" idx="10"/>
          </p:nvPr>
        </p:nvSpPr>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41661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Title 6"/>
          <p:cNvSpPr>
            <a:spLocks noGrp="1"/>
          </p:cNvSpPr>
          <p:nvPr>
            <p:ph type="title"/>
          </p:nvPr>
        </p:nvSpPr>
        <p:spPr/>
        <p:txBody>
          <a:bodyPr/>
          <a:lstStyle/>
          <a:p>
            <a:r>
              <a:rPr lang="en-US" dirty="0"/>
              <a:t>Click to edit Master title style</a:t>
            </a:r>
          </a:p>
        </p:txBody>
      </p:sp>
      <p:sp>
        <p:nvSpPr>
          <p:cNvPr id="5" name="Footer Placeholder 4"/>
          <p:cNvSpPr>
            <a:spLocks noGrp="1"/>
          </p:cNvSpPr>
          <p:nvPr>
            <p:ph type="ftr" sz="quarter" idx="11"/>
          </p:nvPr>
        </p:nvSpPr>
        <p:spPr>
          <a:xfrm>
            <a:off x="2002155" y="6451713"/>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83607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2002155" y="6447131"/>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7065662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CECFE"/>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5" cstate="print">
            <a:extLst>
              <a:ext uri="{28A0092B-C50C-407E-A947-70E740481C1C}">
                <a14:useLocalDpi xmlns:a14="http://schemas.microsoft.com/office/drawing/2010/main" val="0"/>
              </a:ext>
            </a:extLst>
          </a:blip>
          <a:srcRect t="83837"/>
          <a:stretch/>
        </p:blipFill>
        <p:spPr>
          <a:xfrm>
            <a:off x="-12767" y="6322425"/>
            <a:ext cx="9156768" cy="535577"/>
          </a:xfrm>
          <a:prstGeom prst="rect">
            <a:avLst/>
          </a:prstGeom>
        </p:spPr>
      </p:pic>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002155" y="6451713"/>
            <a:ext cx="5139690" cy="276999"/>
          </a:xfrm>
          <a:prstGeom prst="rect">
            <a:avLst/>
          </a:prstGeom>
        </p:spPr>
        <p:txBody>
          <a:bodyPr vert="horz" lIns="91440" tIns="45720" rIns="91440" bIns="45720" rtlCol="0" anchor="ctr" anchorCtr="1">
            <a:spAutoFit/>
          </a:bodyPr>
          <a:lstStyle>
            <a:lvl1pPr algn="ctr">
              <a:defRPr sz="1200">
                <a:solidFill>
                  <a:schemeClr val="tx1">
                    <a:tint val="75000"/>
                  </a:schemeClr>
                </a:solidFill>
              </a:defRPr>
            </a:lvl1pPr>
          </a:lstStyle>
          <a:p>
            <a:r>
              <a:rPr lang="en-US" dirty="0"/>
              <a:t>The Science of Positive Psychology © Cambridge University Press 2021</a:t>
            </a:r>
          </a:p>
        </p:txBody>
      </p:sp>
      <p:pic>
        <p:nvPicPr>
          <p:cNvPr id="10" name="Picture 9"/>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69669" y="6403081"/>
            <a:ext cx="1932486" cy="400593"/>
          </a:xfrm>
          <a:prstGeom prst="rect">
            <a:avLst/>
          </a:prstGeom>
        </p:spPr>
      </p:pic>
    </p:spTree>
    <p:extLst>
      <p:ext uri="{BB962C8B-B14F-4D97-AF65-F5344CB8AC3E}">
        <p14:creationId xmlns:p14="http://schemas.microsoft.com/office/powerpoint/2010/main" val="3980212316"/>
      </p:ext>
    </p:extLst>
  </p:cSld>
  <p:clrMap bg1="lt1" tx1="dk1" bg2="lt2" tx2="dk2" accent1="accent1" accent2="accent2" accent3="accent3" accent4="accent4" accent5="accent5" accent6="accent6" hlink="hlink" folHlink="folHlink"/>
  <p:sldLayoutIdLst>
    <p:sldLayoutId id="2147483658" r:id="rId1"/>
    <p:sldLayoutId id="2147483656" r:id="rId2"/>
    <p:sldLayoutId id="2147483657"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formesign.com/care-assessments/wellbeing/life-orientation-test.html" TargetMode="External"/><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0A2B7F3-65A0-4CC5-8310-3252C59E02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950725"/>
            <a:ext cx="7886700" cy="1132696"/>
          </a:xfrm>
        </p:spPr>
        <p:txBody>
          <a:bodyPr vert="horz" lIns="91440" tIns="45720" rIns="91440" bIns="45720" rtlCol="0" anchor="b">
            <a:normAutofit/>
          </a:bodyPr>
          <a:lstStyle/>
          <a:p>
            <a:r>
              <a:rPr lang="en-US" sz="3800"/>
              <a:t>Chapter 2</a:t>
            </a:r>
          </a:p>
        </p:txBody>
      </p:sp>
      <p:sp>
        <p:nvSpPr>
          <p:cNvPr id="3" name="Text Placeholder 2"/>
          <p:cNvSpPr>
            <a:spLocks noGrp="1"/>
          </p:cNvSpPr>
          <p:nvPr>
            <p:ph type="body" idx="1"/>
          </p:nvPr>
        </p:nvSpPr>
        <p:spPr>
          <a:xfrm>
            <a:off x="628650" y="5145583"/>
            <a:ext cx="7886700" cy="1132696"/>
          </a:xfrm>
        </p:spPr>
        <p:txBody>
          <a:bodyPr vert="horz" lIns="91440" tIns="45720" rIns="91440" bIns="45720" rtlCol="0">
            <a:normAutofit/>
          </a:bodyPr>
          <a:lstStyle/>
          <a:p>
            <a:r>
              <a:rPr lang="en-US" sz="2400"/>
              <a:t>Myths and Misunderstandings about the Science of Positive Psychology </a:t>
            </a:r>
          </a:p>
        </p:txBody>
      </p:sp>
      <p:pic>
        <p:nvPicPr>
          <p:cNvPr id="4" name="Picture 3">
            <a:extLst>
              <a:ext uri="{FF2B5EF4-FFF2-40B4-BE49-F238E27FC236}">
                <a16:creationId xmlns:a16="http://schemas.microsoft.com/office/drawing/2014/main" id="{07F5A485-0477-4FF8-A504-8F4896A765F2}"/>
              </a:ext>
            </a:extLst>
          </p:cNvPr>
          <p:cNvPicPr>
            <a:picLocks noChangeAspect="1"/>
          </p:cNvPicPr>
          <p:nvPr/>
        </p:nvPicPr>
        <p:blipFill rotWithShape="1">
          <a:blip r:embed="rId2"/>
          <a:srcRect r="3792"/>
          <a:stretch/>
        </p:blipFill>
        <p:spPr>
          <a:xfrm>
            <a:off x="1065195" y="304800"/>
            <a:ext cx="7044135" cy="3672406"/>
          </a:xfrm>
          <a:custGeom>
            <a:avLst/>
            <a:gdLst/>
            <a:ahLst/>
            <a:cxnLst/>
            <a:rect l="l" t="t" r="r" b="b"/>
            <a:pathLst>
              <a:path w="9392179" h="3672406">
                <a:moveTo>
                  <a:pt x="8328426" y="0"/>
                </a:moveTo>
                <a:cubicBezTo>
                  <a:pt x="8306669" y="212063"/>
                  <a:pt x="8209966" y="234386"/>
                  <a:pt x="8156780" y="365530"/>
                </a:cubicBezTo>
                <a:cubicBezTo>
                  <a:pt x="8193044" y="376692"/>
                  <a:pt x="8224472" y="390643"/>
                  <a:pt x="8255900" y="396224"/>
                </a:cubicBezTo>
                <a:cubicBezTo>
                  <a:pt x="8379195" y="424127"/>
                  <a:pt x="8497654" y="496675"/>
                  <a:pt x="8608861" y="619448"/>
                </a:cubicBezTo>
                <a:cubicBezTo>
                  <a:pt x="8693475" y="711528"/>
                  <a:pt x="8785341" y="750593"/>
                  <a:pt x="8877208" y="756173"/>
                </a:cubicBezTo>
                <a:cubicBezTo>
                  <a:pt x="8923141" y="758964"/>
                  <a:pt x="8971492" y="761754"/>
                  <a:pt x="9012590" y="795238"/>
                </a:cubicBezTo>
                <a:cubicBezTo>
                  <a:pt x="9053688" y="828721"/>
                  <a:pt x="9133466" y="814770"/>
                  <a:pt x="9106875" y="996140"/>
                </a:cubicBezTo>
                <a:cubicBezTo>
                  <a:pt x="9210828" y="1068688"/>
                  <a:pt x="9167313" y="1283542"/>
                  <a:pt x="9215663" y="1417476"/>
                </a:cubicBezTo>
                <a:cubicBezTo>
                  <a:pt x="9268849" y="1565363"/>
                  <a:pt x="9300277" y="1746734"/>
                  <a:pt x="9370386" y="1872297"/>
                </a:cubicBezTo>
                <a:cubicBezTo>
                  <a:pt x="9396979" y="1916942"/>
                  <a:pt x="9396979" y="1967168"/>
                  <a:pt x="9382473" y="2014603"/>
                </a:cubicBezTo>
                <a:cubicBezTo>
                  <a:pt x="9355881" y="2115054"/>
                  <a:pt x="9322035" y="2201554"/>
                  <a:pt x="9276102" y="2268521"/>
                </a:cubicBezTo>
                <a:cubicBezTo>
                  <a:pt x="9106875" y="2514068"/>
                  <a:pt x="8932811" y="2756825"/>
                  <a:pt x="8746660" y="2949356"/>
                </a:cubicBezTo>
                <a:cubicBezTo>
                  <a:pt x="8536335" y="3169790"/>
                  <a:pt x="8304251" y="3289774"/>
                  <a:pt x="8069749" y="3384644"/>
                </a:cubicBezTo>
                <a:cubicBezTo>
                  <a:pt x="7624922" y="3566014"/>
                  <a:pt x="7172842" y="3632982"/>
                  <a:pt x="6713509" y="3649724"/>
                </a:cubicBezTo>
                <a:cubicBezTo>
                  <a:pt x="6406482" y="3660885"/>
                  <a:pt x="6101872" y="3674836"/>
                  <a:pt x="5794844" y="3672046"/>
                </a:cubicBezTo>
                <a:cubicBezTo>
                  <a:pt x="5526498" y="3669256"/>
                  <a:pt x="5258151" y="3638562"/>
                  <a:pt x="4987387" y="3599498"/>
                </a:cubicBezTo>
                <a:cubicBezTo>
                  <a:pt x="4636843" y="3546482"/>
                  <a:pt x="3362799" y="3312096"/>
                  <a:pt x="2920390" y="3220016"/>
                </a:cubicBezTo>
                <a:cubicBezTo>
                  <a:pt x="2702811" y="3175371"/>
                  <a:pt x="1498875" y="2762406"/>
                  <a:pt x="1472282" y="2695438"/>
                </a:cubicBezTo>
                <a:cubicBezTo>
                  <a:pt x="1554478" y="2650793"/>
                  <a:pt x="1634257" y="2728922"/>
                  <a:pt x="1721289" y="2681487"/>
                </a:cubicBezTo>
                <a:cubicBezTo>
                  <a:pt x="1571401" y="2578245"/>
                  <a:pt x="1399756" y="2625681"/>
                  <a:pt x="1257121" y="2555923"/>
                </a:cubicBezTo>
                <a:cubicBezTo>
                  <a:pt x="1259538" y="2488955"/>
                  <a:pt x="1322394" y="2508488"/>
                  <a:pt x="1332064" y="2463843"/>
                </a:cubicBezTo>
                <a:cubicBezTo>
                  <a:pt x="1061300" y="2335488"/>
                  <a:pt x="759108" y="2341069"/>
                  <a:pt x="483508" y="2229457"/>
                </a:cubicBezTo>
                <a:cubicBezTo>
                  <a:pt x="734932" y="2184812"/>
                  <a:pt x="981521" y="2232247"/>
                  <a:pt x="1235363" y="2240618"/>
                </a:cubicBezTo>
                <a:cubicBezTo>
                  <a:pt x="1211188" y="2182021"/>
                  <a:pt x="1167672" y="2187602"/>
                  <a:pt x="1138662" y="2168069"/>
                </a:cubicBezTo>
                <a:cubicBezTo>
                  <a:pt x="1099981" y="2142957"/>
                  <a:pt x="1068553" y="2120635"/>
                  <a:pt x="1092728" y="2056458"/>
                </a:cubicBezTo>
                <a:cubicBezTo>
                  <a:pt x="1116903" y="1995071"/>
                  <a:pt x="1085475" y="1978329"/>
                  <a:pt x="1039542" y="1956007"/>
                </a:cubicBezTo>
                <a:cubicBezTo>
                  <a:pt x="923501" y="1894620"/>
                  <a:pt x="795371" y="1914152"/>
                  <a:pt x="674494" y="1894620"/>
                </a:cubicBezTo>
                <a:cubicBezTo>
                  <a:pt x="618891" y="1886249"/>
                  <a:pt x="529441" y="1900200"/>
                  <a:pt x="514936" y="1852765"/>
                </a:cubicBezTo>
                <a:cubicBezTo>
                  <a:pt x="464168" y="1699298"/>
                  <a:pt x="362631" y="1743943"/>
                  <a:pt x="268347" y="1735572"/>
                </a:cubicBezTo>
                <a:cubicBezTo>
                  <a:pt x="171646" y="1727201"/>
                  <a:pt x="152305" y="1657444"/>
                  <a:pt x="200656" y="1529089"/>
                </a:cubicBezTo>
                <a:cubicBezTo>
                  <a:pt x="149887" y="1467702"/>
                  <a:pt x="65273" y="1537459"/>
                  <a:pt x="0" y="1453750"/>
                </a:cubicBezTo>
                <a:cubicBezTo>
                  <a:pt x="502848" y="1411896"/>
                  <a:pt x="993609" y="1450960"/>
                  <a:pt x="1479534" y="1330977"/>
                </a:cubicBezTo>
                <a:cubicBezTo>
                  <a:pt x="1324812" y="1336557"/>
                  <a:pt x="1172507" y="1286332"/>
                  <a:pt x="1017784" y="1317025"/>
                </a:cubicBezTo>
                <a:cubicBezTo>
                  <a:pt x="993609" y="1322606"/>
                  <a:pt x="964599" y="1317025"/>
                  <a:pt x="940423" y="1311445"/>
                </a:cubicBezTo>
                <a:cubicBezTo>
                  <a:pt x="913830" y="1305864"/>
                  <a:pt x="889655" y="1294703"/>
                  <a:pt x="889655" y="1255638"/>
                </a:cubicBezTo>
                <a:cubicBezTo>
                  <a:pt x="889655" y="1227735"/>
                  <a:pt x="908995" y="1213784"/>
                  <a:pt x="928335" y="1202623"/>
                </a:cubicBezTo>
                <a:cubicBezTo>
                  <a:pt x="981521" y="1171929"/>
                  <a:pt x="1039542" y="1163558"/>
                  <a:pt x="1092728" y="1194252"/>
                </a:cubicBezTo>
                <a:cubicBezTo>
                  <a:pt x="1153167" y="1227735"/>
                  <a:pt x="1201518" y="1219364"/>
                  <a:pt x="1247451" y="1160768"/>
                </a:cubicBezTo>
                <a:cubicBezTo>
                  <a:pt x="1307889" y="1085430"/>
                  <a:pt x="1394920" y="1113333"/>
                  <a:pt x="1467447" y="1088220"/>
                </a:cubicBezTo>
                <a:cubicBezTo>
                  <a:pt x="1547226" y="1063107"/>
                  <a:pt x="1631840" y="1077059"/>
                  <a:pt x="1735794" y="1032414"/>
                </a:cubicBezTo>
                <a:cubicBezTo>
                  <a:pt x="1559313" y="982188"/>
                  <a:pt x="1397338" y="1057527"/>
                  <a:pt x="1218440" y="1007301"/>
                </a:cubicBezTo>
                <a:cubicBezTo>
                  <a:pt x="1290966" y="937543"/>
                  <a:pt x="1356240" y="957076"/>
                  <a:pt x="1416678" y="945914"/>
                </a:cubicBezTo>
                <a:cubicBezTo>
                  <a:pt x="1489204" y="931963"/>
                  <a:pt x="1561731" y="929172"/>
                  <a:pt x="1634257" y="915221"/>
                </a:cubicBezTo>
                <a:cubicBezTo>
                  <a:pt x="1701949" y="904060"/>
                  <a:pt x="1767223" y="884528"/>
                  <a:pt x="1834914" y="873366"/>
                </a:cubicBezTo>
                <a:cubicBezTo>
                  <a:pt x="1900187" y="862205"/>
                  <a:pt x="1967878" y="876157"/>
                  <a:pt x="2028317" y="814770"/>
                </a:cubicBezTo>
                <a:cubicBezTo>
                  <a:pt x="1863924" y="691996"/>
                  <a:pt x="1677773" y="750593"/>
                  <a:pt x="1484370" y="719899"/>
                </a:cubicBezTo>
                <a:cubicBezTo>
                  <a:pt x="1535138" y="661303"/>
                  <a:pt x="1588324" y="672464"/>
                  <a:pt x="1631840" y="655722"/>
                </a:cubicBezTo>
                <a:cubicBezTo>
                  <a:pt x="1651180" y="650142"/>
                  <a:pt x="1675355" y="650142"/>
                  <a:pt x="1682608" y="622239"/>
                </a:cubicBezTo>
                <a:cubicBezTo>
                  <a:pt x="1692278" y="585965"/>
                  <a:pt x="1670520" y="563642"/>
                  <a:pt x="1646344" y="552481"/>
                </a:cubicBezTo>
                <a:cubicBezTo>
                  <a:pt x="1537556" y="499465"/>
                  <a:pt x="1421514" y="471562"/>
                  <a:pt x="1305472" y="443659"/>
                </a:cubicBezTo>
                <a:cubicBezTo>
                  <a:pt x="1240198" y="429707"/>
                  <a:pt x="1170090" y="438078"/>
                  <a:pt x="1112068" y="393433"/>
                </a:cubicBezTo>
                <a:cubicBezTo>
                  <a:pt x="1324812" y="200902"/>
                  <a:pt x="1561731" y="237176"/>
                  <a:pt x="1801068" y="248337"/>
                </a:cubicBezTo>
                <a:cubicBezTo>
                  <a:pt x="2190293" y="265079"/>
                  <a:pt x="2579516" y="281821"/>
                  <a:pt x="2971158" y="253918"/>
                </a:cubicBezTo>
                <a:cubicBezTo>
                  <a:pt x="3287854" y="200902"/>
                  <a:pt x="3609388" y="195322"/>
                  <a:pt x="3930923" y="175789"/>
                </a:cubicBezTo>
                <a:cubicBezTo>
                  <a:pt x="4283882" y="150677"/>
                  <a:pt x="4641678" y="170209"/>
                  <a:pt x="4997057" y="172999"/>
                </a:cubicBezTo>
                <a:cubicBezTo>
                  <a:pt x="5253316" y="175789"/>
                  <a:pt x="5511992" y="200902"/>
                  <a:pt x="5768252" y="178580"/>
                </a:cubicBezTo>
                <a:cubicBezTo>
                  <a:pt x="6068027" y="153467"/>
                  <a:pt x="6372637" y="172999"/>
                  <a:pt x="6674829" y="164628"/>
                </a:cubicBezTo>
                <a:cubicBezTo>
                  <a:pt x="6810212" y="161838"/>
                  <a:pt x="6945593" y="139515"/>
                  <a:pt x="7080976" y="122774"/>
                </a:cubicBezTo>
                <a:cubicBezTo>
                  <a:pt x="7334817" y="89290"/>
                  <a:pt x="7591076" y="44645"/>
                  <a:pt x="7847336" y="58596"/>
                </a:cubicBezTo>
                <a:cubicBezTo>
                  <a:pt x="8006894" y="66967"/>
                  <a:pt x="8164034" y="66967"/>
                  <a:pt x="8328426" y="0"/>
                </a:cubicBezTo>
                <a:close/>
              </a:path>
            </a:pathLst>
          </a:custGeom>
        </p:spPr>
      </p:pic>
      <p:sp>
        <p:nvSpPr>
          <p:cNvPr id="5" name="Footer Placeholder 3">
            <a:extLst>
              <a:ext uri="{FF2B5EF4-FFF2-40B4-BE49-F238E27FC236}">
                <a16:creationId xmlns:a16="http://schemas.microsoft.com/office/drawing/2014/main" id="{A9D1AEEC-C156-40F3-AECE-05E4A06E4502}"/>
              </a:ext>
            </a:extLst>
          </p:cNvPr>
          <p:cNvSpPr>
            <a:spLocks noGrp="1"/>
          </p:cNvSpPr>
          <p:nvPr/>
        </p:nvSpPr>
        <p:spPr>
          <a:xfrm>
            <a:off x="1997393" y="6396335"/>
            <a:ext cx="5139690" cy="461665"/>
          </a:xfrm>
          <a:prstGeom prst="rect">
            <a:avLst/>
          </a:prstGeom>
        </p:spPr>
        <p:txBody>
          <a:bodyPr vert="horz" lIns="91440" tIns="45720" rIns="91440" bIns="45720" rtlCol="0" anchor="ctr" anchorCtr="1">
            <a:spAutoFit/>
          </a:bodyP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600"/>
              </a:spcAft>
            </a:pPr>
            <a:r>
              <a:rPr lang="en-US" dirty="0"/>
              <a:t>The Science and Application of Positive Psychology </a:t>
            </a:r>
            <a:br>
              <a:rPr lang="en-US" dirty="0"/>
            </a:br>
            <a:r>
              <a:rPr lang="en-US" dirty="0"/>
              <a:t>© Cambridge University Press 2021</a:t>
            </a:r>
            <a:endParaRPr lang="en-US"/>
          </a:p>
        </p:txBody>
      </p:sp>
    </p:spTree>
    <p:extLst>
      <p:ext uri="{BB962C8B-B14F-4D97-AF65-F5344CB8AC3E}">
        <p14:creationId xmlns:p14="http://schemas.microsoft.com/office/powerpoint/2010/main" val="4177224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erson with idea concept">
            <a:extLst>
              <a:ext uri="{FF2B5EF4-FFF2-40B4-BE49-F238E27FC236}">
                <a16:creationId xmlns:a16="http://schemas.microsoft.com/office/drawing/2014/main" id="{C0618385-09C5-6989-3F02-BC4C127A597D}"/>
              </a:ext>
            </a:extLst>
          </p:cNvPr>
          <p:cNvPicPr>
            <a:picLocks noChangeAspect="1"/>
          </p:cNvPicPr>
          <p:nvPr/>
        </p:nvPicPr>
        <p:blipFill rotWithShape="1">
          <a:blip r:embed="rId2">
            <a:alphaModFix amt="40000"/>
          </a:blip>
          <a:srcRect l="21154" r="12692" b="1"/>
          <a:stretch/>
        </p:blipFill>
        <p:spPr>
          <a:xfrm>
            <a:off x="2349120" y="1021"/>
            <a:ext cx="6794879" cy="6855958"/>
          </a:xfrm>
          <a:prstGeom prst="rect">
            <a:avLst/>
          </a:prstGeom>
        </p:spPr>
      </p:pic>
      <p:sp>
        <p:nvSpPr>
          <p:cNvPr id="2" name="Title 1">
            <a:extLst>
              <a:ext uri="{FF2B5EF4-FFF2-40B4-BE49-F238E27FC236}">
                <a16:creationId xmlns:a16="http://schemas.microsoft.com/office/drawing/2014/main" id="{B011F734-8170-4D33-9F89-B8487E92A73F}"/>
              </a:ext>
            </a:extLst>
          </p:cNvPr>
          <p:cNvSpPr>
            <a:spLocks noGrp="1"/>
          </p:cNvSpPr>
          <p:nvPr>
            <p:ph type="title"/>
          </p:nvPr>
        </p:nvSpPr>
        <p:spPr>
          <a:xfrm>
            <a:off x="4917075" y="1099671"/>
            <a:ext cx="3729383" cy="3367554"/>
          </a:xfrm>
        </p:spPr>
        <p:txBody>
          <a:bodyPr vert="horz" lIns="91440" tIns="45720" rIns="91440" bIns="45720" rtlCol="0" anchor="b">
            <a:normAutofit/>
          </a:bodyPr>
          <a:lstStyle/>
          <a:p>
            <a:pPr algn="l"/>
            <a:r>
              <a:rPr lang="en-US" sz="3600" kern="1200">
                <a:latin typeface="+mj-lt"/>
                <a:ea typeface="+mj-ea"/>
                <a:cs typeface="+mj-cs"/>
              </a:rPr>
              <a:t>How to Distinguish </a:t>
            </a:r>
            <a:br>
              <a:rPr lang="en-US" sz="3600" kern="1200">
                <a:latin typeface="+mj-lt"/>
                <a:ea typeface="+mj-ea"/>
                <a:cs typeface="+mj-cs"/>
              </a:rPr>
            </a:br>
            <a:r>
              <a:rPr lang="en-US" sz="3600" kern="1200">
                <a:latin typeface="+mj-lt"/>
                <a:ea typeface="+mj-ea"/>
                <a:cs typeface="+mj-cs"/>
              </a:rPr>
              <a:t>Positive Psychology from Non-Scientific </a:t>
            </a:r>
            <a:br>
              <a:rPr lang="en-US" sz="3600" kern="1200">
                <a:latin typeface="+mj-lt"/>
                <a:ea typeface="+mj-ea"/>
                <a:cs typeface="+mj-cs"/>
              </a:rPr>
            </a:br>
            <a:r>
              <a:rPr lang="en-US" sz="3600" kern="1200">
                <a:latin typeface="+mj-lt"/>
                <a:ea typeface="+mj-ea"/>
                <a:cs typeface="+mj-cs"/>
              </a:rPr>
              <a:t>Pop Psychology</a:t>
            </a:r>
          </a:p>
        </p:txBody>
      </p:sp>
      <p:sp>
        <p:nvSpPr>
          <p:cNvPr id="17" name="Freeform: Shape 16">
            <a:extLst>
              <a:ext uri="{FF2B5EF4-FFF2-40B4-BE49-F238E27FC236}">
                <a16:creationId xmlns:a16="http://schemas.microsoft.com/office/drawing/2014/main" id="{9453FF84-60C1-4EA8-B49B-1B8C2D0C5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394613" cy="6857997"/>
          </a:xfrm>
          <a:custGeom>
            <a:avLst/>
            <a:gdLst>
              <a:gd name="connsiteX0" fmla="*/ 3198825 w 5859484"/>
              <a:gd name="connsiteY0" fmla="*/ 0 h 6857997"/>
              <a:gd name="connsiteX1" fmla="*/ 3962351 w 5859484"/>
              <a:gd name="connsiteY1" fmla="*/ 0 h 6857997"/>
              <a:gd name="connsiteX2" fmla="*/ 4129776 w 5859484"/>
              <a:gd name="connsiteY2" fmla="*/ 128761 h 6857997"/>
              <a:gd name="connsiteX3" fmla="*/ 5859484 w 5859484"/>
              <a:gd name="connsiteY3" fmla="*/ 3718209 h 6857997"/>
              <a:gd name="connsiteX4" fmla="*/ 4624700 w 5859484"/>
              <a:gd name="connsiteY4" fmla="*/ 6845880 h 6857997"/>
              <a:gd name="connsiteX5" fmla="*/ 4612896 w 5859484"/>
              <a:gd name="connsiteY5" fmla="*/ 6857997 h 6857997"/>
              <a:gd name="connsiteX6" fmla="*/ 4017658 w 5859484"/>
              <a:gd name="connsiteY6" fmla="*/ 6857997 h 6857997"/>
              <a:gd name="connsiteX7" fmla="*/ 4173230 w 5859484"/>
              <a:gd name="connsiteY7" fmla="*/ 6719623 h 6857997"/>
              <a:gd name="connsiteX8" fmla="*/ 5443583 w 5859484"/>
              <a:gd name="connsiteY8" fmla="*/ 3718209 h 6857997"/>
              <a:gd name="connsiteX9" fmla="*/ 3355352 w 5859484"/>
              <a:gd name="connsiteY9" fmla="*/ 88079 h 6857997"/>
              <a:gd name="connsiteX10" fmla="*/ 0 w 5859484"/>
              <a:gd name="connsiteY10" fmla="*/ 0 h 6857997"/>
              <a:gd name="connsiteX11" fmla="*/ 2941255 w 5859484"/>
              <a:gd name="connsiteY11" fmla="*/ 0 h 6857997"/>
              <a:gd name="connsiteX12" fmla="*/ 3117080 w 5859484"/>
              <a:gd name="connsiteY12" fmla="*/ 88129 h 6857997"/>
              <a:gd name="connsiteX13" fmla="*/ 5324754 w 5859484"/>
              <a:gd name="connsiteY13" fmla="*/ 3718209 h 6857997"/>
              <a:gd name="connsiteX14" fmla="*/ 4089206 w 5859484"/>
              <a:gd name="connsiteY14" fmla="*/ 6637392 h 6857997"/>
              <a:gd name="connsiteX15" fmla="*/ 3841183 w 5859484"/>
              <a:gd name="connsiteY15" fmla="*/ 6857997 h 6857997"/>
              <a:gd name="connsiteX16" fmla="*/ 0 w 5859484"/>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59484" h="6857997">
                <a:moveTo>
                  <a:pt x="3198825" y="0"/>
                </a:moveTo>
                <a:lnTo>
                  <a:pt x="3962351" y="0"/>
                </a:lnTo>
                <a:lnTo>
                  <a:pt x="4129776" y="128761"/>
                </a:lnTo>
                <a:cubicBezTo>
                  <a:pt x="5186152" y="981944"/>
                  <a:pt x="5859484" y="2273123"/>
                  <a:pt x="5859484" y="3718209"/>
                </a:cubicBezTo>
                <a:cubicBezTo>
                  <a:pt x="5859484" y="4922447"/>
                  <a:pt x="5391893" y="6019805"/>
                  <a:pt x="4624700" y="6845880"/>
                </a:cubicBezTo>
                <a:lnTo>
                  <a:pt x="4612896" y="6857997"/>
                </a:lnTo>
                <a:lnTo>
                  <a:pt x="4017658" y="6857997"/>
                </a:lnTo>
                <a:lnTo>
                  <a:pt x="4173230" y="6719623"/>
                </a:lnTo>
                <a:cubicBezTo>
                  <a:pt x="4958119" y="5951494"/>
                  <a:pt x="5443583" y="4890334"/>
                  <a:pt x="5443583" y="3718209"/>
                </a:cubicBezTo>
                <a:cubicBezTo>
                  <a:pt x="5443583" y="2179795"/>
                  <a:pt x="4607295" y="832535"/>
                  <a:pt x="3355352" y="88079"/>
                </a:cubicBezTo>
                <a:close/>
                <a:moveTo>
                  <a:pt x="0" y="0"/>
                </a:moveTo>
                <a:lnTo>
                  <a:pt x="2941255" y="0"/>
                </a:lnTo>
                <a:lnTo>
                  <a:pt x="3117080" y="88129"/>
                </a:lnTo>
                <a:cubicBezTo>
                  <a:pt x="4432070" y="787221"/>
                  <a:pt x="5324754" y="2150692"/>
                  <a:pt x="5324754" y="3718209"/>
                </a:cubicBezTo>
                <a:cubicBezTo>
                  <a:pt x="5324754" y="4858221"/>
                  <a:pt x="4852591" y="5890308"/>
                  <a:pt x="4089206" y="6637392"/>
                </a:cubicBezTo>
                <a:lnTo>
                  <a:pt x="3841183" y="6857997"/>
                </a:lnTo>
                <a:lnTo>
                  <a:pt x="0" y="6857997"/>
                </a:lnTo>
                <a:close/>
              </a:path>
            </a:pathLst>
          </a:cu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a:extLst>
              <a:ext uri="{FF2B5EF4-FFF2-40B4-BE49-F238E27FC236}">
                <a16:creationId xmlns:a16="http://schemas.microsoft.com/office/drawing/2014/main" id="{6B23883E-907D-4C73-B6D8-FC6A757798EA}"/>
              </a:ext>
            </a:extLst>
          </p:cNvPr>
          <p:cNvPicPr>
            <a:picLocks noChangeAspect="1"/>
          </p:cNvPicPr>
          <p:nvPr/>
        </p:nvPicPr>
        <p:blipFill rotWithShape="1">
          <a:blip r:embed="rId3"/>
          <a:srcRect l="11723" r="14207"/>
          <a:stretch/>
        </p:blipFill>
        <p:spPr>
          <a:xfrm>
            <a:off x="20" y="2"/>
            <a:ext cx="4571752"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
        <p:nvSpPr>
          <p:cNvPr id="4" name="Footer Placeholder 3">
            <a:extLst>
              <a:ext uri="{FF2B5EF4-FFF2-40B4-BE49-F238E27FC236}">
                <a16:creationId xmlns:a16="http://schemas.microsoft.com/office/drawing/2014/main" id="{D12592D3-AF77-474F-A075-63528DE407C4}"/>
              </a:ext>
            </a:extLst>
          </p:cNvPr>
          <p:cNvSpPr>
            <a:spLocks noGrp="1"/>
          </p:cNvSpPr>
          <p:nvPr>
            <p:ph type="ftr" sz="quarter" idx="10"/>
          </p:nvPr>
        </p:nvSpPr>
        <p:spPr>
          <a:xfrm>
            <a:off x="4917075" y="6351595"/>
            <a:ext cx="3444398" cy="365125"/>
          </a:xfrm>
        </p:spPr>
        <p:txBody>
          <a:bodyPr vert="horz" lIns="91440" tIns="45720" rIns="91440" bIns="45720" rtlCol="0" anchor="ctr">
            <a:normAutofit/>
          </a:bodyPr>
          <a:lstStyle/>
          <a:p>
            <a:pPr algn="l" defTabSz="914400">
              <a:lnSpc>
                <a:spcPct val="90000"/>
              </a:lnSpc>
              <a:spcAft>
                <a:spcPts val="600"/>
              </a:spcAft>
              <a:defRPr/>
            </a:pPr>
            <a:r>
              <a:rPr lang="en-US" sz="900" kern="1200">
                <a:solidFill>
                  <a:schemeClr val="tx1">
                    <a:tint val="75000"/>
                  </a:schemeClr>
                </a:solidFill>
                <a:latin typeface="+mn-lt"/>
                <a:ea typeface="+mn-ea"/>
                <a:cs typeface="+mn-cs"/>
              </a:rPr>
              <a:t>The Science and Application of Positive Psychology </a:t>
            </a:r>
            <a:br>
              <a:rPr lang="en-US" sz="900" kern="1200">
                <a:solidFill>
                  <a:schemeClr val="tx1">
                    <a:tint val="75000"/>
                  </a:schemeClr>
                </a:solidFill>
                <a:latin typeface="+mn-lt"/>
                <a:ea typeface="+mn-ea"/>
                <a:cs typeface="+mn-cs"/>
              </a:rPr>
            </a:br>
            <a:r>
              <a:rPr lang="en-US" sz="900" kern="1200">
                <a:solidFill>
                  <a:schemeClr val="tx1">
                    <a:tint val="75000"/>
                  </a:schemeClr>
                </a:solidFill>
                <a:latin typeface="+mn-lt"/>
                <a:ea typeface="+mn-ea"/>
                <a:cs typeface="+mn-cs"/>
              </a:rPr>
              <a:t>© Cambridge University Press 2021</a:t>
            </a:r>
          </a:p>
        </p:txBody>
      </p:sp>
    </p:spTree>
    <p:extLst>
      <p:ext uri="{BB962C8B-B14F-4D97-AF65-F5344CB8AC3E}">
        <p14:creationId xmlns:p14="http://schemas.microsoft.com/office/powerpoint/2010/main" val="201106034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screenshot of a cell phone&#10;&#10;Description automatically generated">
            <a:extLst>
              <a:ext uri="{FF2B5EF4-FFF2-40B4-BE49-F238E27FC236}">
                <a16:creationId xmlns:a16="http://schemas.microsoft.com/office/drawing/2014/main" id="{D6976968-D8F7-3148-A91F-206754C7357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9145" r="33296"/>
          <a:stretch/>
        </p:blipFill>
        <p:spPr>
          <a:xfrm>
            <a:off x="4571999" y="10"/>
            <a:ext cx="4579241" cy="6857990"/>
          </a:xfrm>
          <a:prstGeom prst="rect">
            <a:avLst/>
          </a:prstGeom>
        </p:spPr>
      </p:pic>
      <p:sp>
        <p:nvSpPr>
          <p:cNvPr id="10" name="Rectangle 9">
            <a:extLst>
              <a:ext uri="{FF2B5EF4-FFF2-40B4-BE49-F238E27FC236}">
                <a16:creationId xmlns:a16="http://schemas.microsoft.com/office/drawing/2014/main" id="{342D24BD-D4F4-48F4-9D0A-94C709D28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924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89562" y="640081"/>
            <a:ext cx="3604638" cy="4123272"/>
          </a:xfrm>
          <a:noFill/>
        </p:spPr>
        <p:txBody>
          <a:bodyPr vert="horz" lIns="91440" tIns="45720" rIns="91440" bIns="45720" rtlCol="0" anchor="b">
            <a:normAutofit/>
          </a:bodyPr>
          <a:lstStyle/>
          <a:p>
            <a:pPr lvl="2" algn="r" rtl="0">
              <a:lnSpc>
                <a:spcPct val="90000"/>
              </a:lnSpc>
              <a:spcBef>
                <a:spcPct val="0"/>
              </a:spcBef>
            </a:pPr>
            <a:r>
              <a:rPr lang="en-US" sz="5300" b="1" kern="1200">
                <a:solidFill>
                  <a:schemeClr val="bg1"/>
                </a:solidFill>
                <a:latin typeface="+mj-lt"/>
                <a:ea typeface="+mj-ea"/>
                <a:cs typeface="+mj-cs"/>
              </a:rPr>
              <a:t>Are the conclusions based on the scientific method?</a:t>
            </a:r>
            <a:endParaRPr lang="en-US" sz="5300" kern="1200">
              <a:solidFill>
                <a:schemeClr val="bg1"/>
              </a:solidFill>
              <a:latin typeface="+mj-lt"/>
              <a:ea typeface="+mj-ea"/>
              <a:cs typeface="+mj-cs"/>
            </a:endParaRPr>
          </a:p>
        </p:txBody>
      </p:sp>
      <p:sp>
        <p:nvSpPr>
          <p:cNvPr id="4" name="Footer Placeholder 3"/>
          <p:cNvSpPr>
            <a:spLocks noGrp="1"/>
          </p:cNvSpPr>
          <p:nvPr>
            <p:ph type="ftr" sz="quarter" idx="11"/>
          </p:nvPr>
        </p:nvSpPr>
        <p:spPr>
          <a:xfrm>
            <a:off x="374133" y="6356350"/>
            <a:ext cx="3710565" cy="365125"/>
          </a:xfrm>
          <a:noFill/>
        </p:spPr>
        <p:txBody>
          <a:bodyPr vert="horz" lIns="91440" tIns="45720" rIns="91440" bIns="45720" rtlCol="0" anchor="ctr">
            <a:normAutofit/>
          </a:bodyPr>
          <a:lstStyle/>
          <a:p>
            <a:pPr algn="l" defTabSz="914400">
              <a:lnSpc>
                <a:spcPct val="90000"/>
              </a:lnSpc>
              <a:spcAft>
                <a:spcPts val="600"/>
              </a:spcAft>
              <a:defRPr/>
            </a:pPr>
            <a:r>
              <a:rPr lang="en-US" sz="900" kern="1200">
                <a:solidFill>
                  <a:schemeClr val="bg1">
                    <a:lumMod val="85000"/>
                  </a:schemeClr>
                </a:solidFill>
                <a:latin typeface="Calibri" panose="020F0502020204030204"/>
                <a:ea typeface="+mn-ea"/>
                <a:cs typeface="+mn-cs"/>
              </a:rPr>
              <a:t>The Science and Application of Positive Psychology </a:t>
            </a:r>
            <a:br>
              <a:rPr lang="en-US" sz="900" kern="1200">
                <a:solidFill>
                  <a:schemeClr val="bg1">
                    <a:lumMod val="85000"/>
                  </a:schemeClr>
                </a:solidFill>
                <a:latin typeface="Calibri" panose="020F0502020204030204"/>
                <a:ea typeface="+mn-ea"/>
                <a:cs typeface="+mn-cs"/>
              </a:rPr>
            </a:br>
            <a:r>
              <a:rPr lang="en-US" sz="900" kern="1200">
                <a:solidFill>
                  <a:schemeClr val="bg1">
                    <a:lumMod val="85000"/>
                  </a:schemeClr>
                </a:solidFill>
                <a:latin typeface="Calibri" panose="020F0502020204030204"/>
                <a:ea typeface="+mn-ea"/>
                <a:cs typeface="+mn-cs"/>
              </a:rPr>
              <a:t>© Cambridge University Press 2021</a:t>
            </a:r>
          </a:p>
        </p:txBody>
      </p:sp>
    </p:spTree>
    <p:extLst>
      <p:ext uri="{BB962C8B-B14F-4D97-AF65-F5344CB8AC3E}">
        <p14:creationId xmlns:p14="http://schemas.microsoft.com/office/powerpoint/2010/main" val="3362203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C0630BC-675A-4BBE-ABF7-30D5936B1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23942"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389658" y="621792"/>
            <a:ext cx="3886128" cy="5504688"/>
          </a:xfrm>
        </p:spPr>
        <p:txBody>
          <a:bodyPr>
            <a:normAutofit/>
          </a:bodyPr>
          <a:lstStyle/>
          <a:p>
            <a:pPr lvl="2"/>
            <a:r>
              <a:rPr lang="en-US" sz="4200" b="1">
                <a:solidFill>
                  <a:schemeClr val="bg1"/>
                </a:solidFill>
                <a:latin typeface="+mj-lt"/>
              </a:rPr>
              <a:t>Does the research make it clear that causation isn’t the same as correlation?</a:t>
            </a:r>
            <a:endParaRPr lang="en-US" sz="4200">
              <a:solidFill>
                <a:schemeClr val="bg1"/>
              </a:solidFill>
              <a:latin typeface="+mj-lt"/>
            </a:endParaRPr>
          </a:p>
        </p:txBody>
      </p: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4896871" y="6356350"/>
            <a:ext cx="3086100"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graphicFrame>
        <p:nvGraphicFramePr>
          <p:cNvPr id="9" name="Content Placeholder 6">
            <a:extLst>
              <a:ext uri="{FF2B5EF4-FFF2-40B4-BE49-F238E27FC236}">
                <a16:creationId xmlns:a16="http://schemas.microsoft.com/office/drawing/2014/main" id="{479AD2D1-95C4-DD28-708D-BE6280AA495D}"/>
              </a:ext>
            </a:extLst>
          </p:cNvPr>
          <p:cNvGraphicFramePr>
            <a:graphicFrameLocks noGrp="1"/>
          </p:cNvGraphicFramePr>
          <p:nvPr>
            <p:ph idx="1"/>
            <p:extLst>
              <p:ext uri="{D42A27DB-BD31-4B8C-83A1-F6EECF244321}">
                <p14:modId xmlns:p14="http://schemas.microsoft.com/office/powerpoint/2010/main" val="2818865351"/>
              </p:ext>
            </p:extLst>
          </p:nvPr>
        </p:nvGraphicFramePr>
        <p:xfrm>
          <a:off x="4866531" y="621792"/>
          <a:ext cx="394335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24255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3724072" y="634181"/>
            <a:ext cx="4939868" cy="1286160"/>
          </a:xfrm>
        </p:spPr>
        <p:txBody>
          <a:bodyPr anchor="b">
            <a:noAutofit/>
          </a:bodyPr>
          <a:lstStyle/>
          <a:p>
            <a:pPr lvl="2"/>
            <a:r>
              <a:rPr lang="en-US" sz="3200" b="1" dirty="0">
                <a:latin typeface="+mj-lt"/>
              </a:rPr>
              <a:t>Does the research make it clear that causation isn’t the same as correlation?</a:t>
            </a:r>
            <a:endParaRPr lang="en-US" sz="3200" dirty="0">
              <a:latin typeface="+mj-lt"/>
            </a:endParaRPr>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3724073" y="2438400"/>
            <a:ext cx="4939867" cy="3785419"/>
          </a:xfrm>
        </p:spPr>
        <p:txBody>
          <a:bodyPr>
            <a:normAutofit/>
          </a:bodyPr>
          <a:lstStyle/>
          <a:p>
            <a:r>
              <a:rPr lang="en-US" sz="2400" dirty="0"/>
              <a:t>To make causal statements, we need a kind of study known as a </a:t>
            </a:r>
            <a:r>
              <a:rPr lang="en-US" sz="2400" i="1" dirty="0"/>
              <a:t>true experiment</a:t>
            </a:r>
            <a:r>
              <a:rPr lang="en-US" sz="2400" dirty="0"/>
              <a:t>, in which researchers manipulate one variable to see if it causes a change in the other.</a:t>
            </a:r>
          </a:p>
          <a:p>
            <a:pPr lvl="1"/>
            <a:endParaRPr lang="en-US" sz="1700" dirty="0"/>
          </a:p>
          <a:p>
            <a:endParaRPr lang="en-US" sz="1700" dirty="0"/>
          </a:p>
          <a:p>
            <a:endParaRPr lang="en-US" sz="1700" dirty="0"/>
          </a:p>
        </p:txBody>
      </p:sp>
      <p:pic>
        <p:nvPicPr>
          <p:cNvPr id="9" name="Picture 8" descr="Close up of beakers with solutions on a shelf in a lab">
            <a:extLst>
              <a:ext uri="{FF2B5EF4-FFF2-40B4-BE49-F238E27FC236}">
                <a16:creationId xmlns:a16="http://schemas.microsoft.com/office/drawing/2014/main" id="{2669E5D1-A0FE-BAA6-C2A9-41F03FFED94F}"/>
              </a:ext>
            </a:extLst>
          </p:cNvPr>
          <p:cNvPicPr>
            <a:picLocks noChangeAspect="1"/>
          </p:cNvPicPr>
          <p:nvPr/>
        </p:nvPicPr>
        <p:blipFill rotWithShape="1">
          <a:blip r:embed="rId3"/>
          <a:srcRect l="8529" r="57631" b="-1"/>
          <a:stretch/>
        </p:blipFill>
        <p:spPr>
          <a:xfrm>
            <a:off x="20" y="10"/>
            <a:ext cx="3476673" cy="6857990"/>
          </a:xfrm>
          <a:prstGeom prst="rect">
            <a:avLst/>
          </a:prstGeom>
          <a:effectLst/>
        </p:spPr>
      </p:pic>
      <p:cxnSp>
        <p:nvCxnSpPr>
          <p:cNvPr id="13" name="Straight Connector 12">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E62E00"/>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3614239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628650" y="365125"/>
            <a:ext cx="7886700" cy="1325563"/>
          </a:xfrm>
        </p:spPr>
        <p:txBody>
          <a:bodyPr>
            <a:normAutofit/>
          </a:bodyPr>
          <a:lstStyle/>
          <a:p>
            <a:pPr lvl="2">
              <a:lnSpc>
                <a:spcPct val="90000"/>
              </a:lnSpc>
            </a:pPr>
            <a:r>
              <a:rPr lang="en-US" sz="4300" b="1">
                <a:latin typeface="+mj-lt"/>
              </a:rPr>
              <a:t>Do the researchers generalize appropriately?</a:t>
            </a:r>
            <a:endParaRPr lang="en-US" sz="4300">
              <a:latin typeface="+mj-lt"/>
            </a:endParaRPr>
          </a:p>
        </p:txBody>
      </p:sp>
      <p:sp>
        <p:nvSpPr>
          <p:cNvPr id="1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 name="connsiteX0" fmla="*/ 0 w 8140446"/>
              <a:gd name="connsiteY0" fmla="*/ 0 h 18288"/>
              <a:gd name="connsiteX1" fmla="*/ 596966 w 8140446"/>
              <a:gd name="connsiteY1" fmla="*/ 0 h 18288"/>
              <a:gd name="connsiteX2" fmla="*/ 1031123 w 8140446"/>
              <a:gd name="connsiteY2" fmla="*/ 0 h 18288"/>
              <a:gd name="connsiteX3" fmla="*/ 1872303 w 8140446"/>
              <a:gd name="connsiteY3" fmla="*/ 0 h 18288"/>
              <a:gd name="connsiteX4" fmla="*/ 2469269 w 8140446"/>
              <a:gd name="connsiteY4" fmla="*/ 0 h 18288"/>
              <a:gd name="connsiteX5" fmla="*/ 3066235 w 8140446"/>
              <a:gd name="connsiteY5" fmla="*/ 0 h 18288"/>
              <a:gd name="connsiteX6" fmla="*/ 3907414 w 8140446"/>
              <a:gd name="connsiteY6" fmla="*/ 0 h 18288"/>
              <a:gd name="connsiteX7" fmla="*/ 4422976 w 8140446"/>
              <a:gd name="connsiteY7" fmla="*/ 0 h 18288"/>
              <a:gd name="connsiteX8" fmla="*/ 5264155 w 8140446"/>
              <a:gd name="connsiteY8" fmla="*/ 0 h 18288"/>
              <a:gd name="connsiteX9" fmla="*/ 6105335 w 8140446"/>
              <a:gd name="connsiteY9" fmla="*/ 0 h 18288"/>
              <a:gd name="connsiteX10" fmla="*/ 6783705 w 8140446"/>
              <a:gd name="connsiteY10" fmla="*/ 0 h 18288"/>
              <a:gd name="connsiteX11" fmla="*/ 8140446 w 8140446"/>
              <a:gd name="connsiteY11" fmla="*/ 0 h 18288"/>
              <a:gd name="connsiteX12" fmla="*/ 8140446 w 8140446"/>
              <a:gd name="connsiteY12" fmla="*/ 18288 h 18288"/>
              <a:gd name="connsiteX13" fmla="*/ 7706289 w 8140446"/>
              <a:gd name="connsiteY13" fmla="*/ 18288 h 18288"/>
              <a:gd name="connsiteX14" fmla="*/ 6865109 w 8140446"/>
              <a:gd name="connsiteY14" fmla="*/ 18288 h 18288"/>
              <a:gd name="connsiteX15" fmla="*/ 6349548 w 8140446"/>
              <a:gd name="connsiteY15" fmla="*/ 18288 h 18288"/>
              <a:gd name="connsiteX16" fmla="*/ 5671177 w 8140446"/>
              <a:gd name="connsiteY16" fmla="*/ 18288 h 18288"/>
              <a:gd name="connsiteX17" fmla="*/ 4829998 w 8140446"/>
              <a:gd name="connsiteY17" fmla="*/ 18288 h 18288"/>
              <a:gd name="connsiteX18" fmla="*/ 4151627 w 8140446"/>
              <a:gd name="connsiteY18" fmla="*/ 18288 h 18288"/>
              <a:gd name="connsiteX19" fmla="*/ 3717470 w 8140446"/>
              <a:gd name="connsiteY19" fmla="*/ 18288 h 18288"/>
              <a:gd name="connsiteX20" fmla="*/ 3201909 w 8140446"/>
              <a:gd name="connsiteY20" fmla="*/ 18288 h 18288"/>
              <a:gd name="connsiteX21" fmla="*/ 2360729 w 8140446"/>
              <a:gd name="connsiteY21" fmla="*/ 18288 h 18288"/>
              <a:gd name="connsiteX22" fmla="*/ 1682359 w 8140446"/>
              <a:gd name="connsiteY22" fmla="*/ 18288 h 18288"/>
              <a:gd name="connsiteX23" fmla="*/ 1166797 w 8140446"/>
              <a:gd name="connsiteY23" fmla="*/ 18288 h 18288"/>
              <a:gd name="connsiteX24" fmla="*/ 0 w 8140446"/>
              <a:gd name="connsiteY24" fmla="*/ 18288 h 18288"/>
              <a:gd name="connsiteX25" fmla="*/ 0 w 8140446"/>
              <a:gd name="connsiteY2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40446" h="18288" fill="none" extrusionOk="0">
                <a:moveTo>
                  <a:pt x="0" y="0"/>
                </a:moveTo>
                <a:cubicBezTo>
                  <a:pt x="87427" y="6231"/>
                  <a:pt x="309612" y="-26324"/>
                  <a:pt x="434157" y="0"/>
                </a:cubicBezTo>
                <a:cubicBezTo>
                  <a:pt x="536972" y="29330"/>
                  <a:pt x="959392" y="28619"/>
                  <a:pt x="1193932" y="0"/>
                </a:cubicBezTo>
                <a:cubicBezTo>
                  <a:pt x="1446097" y="13819"/>
                  <a:pt x="1471680" y="7203"/>
                  <a:pt x="1628089" y="0"/>
                </a:cubicBezTo>
                <a:cubicBezTo>
                  <a:pt x="1817415" y="4047"/>
                  <a:pt x="1949536" y="-59324"/>
                  <a:pt x="2225055" y="0"/>
                </a:cubicBezTo>
                <a:cubicBezTo>
                  <a:pt x="2520490" y="18365"/>
                  <a:pt x="2717469" y="18707"/>
                  <a:pt x="3066235" y="0"/>
                </a:cubicBezTo>
                <a:cubicBezTo>
                  <a:pt x="3437075" y="3751"/>
                  <a:pt x="3408347" y="31644"/>
                  <a:pt x="3744605" y="0"/>
                </a:cubicBezTo>
                <a:cubicBezTo>
                  <a:pt x="4097249" y="-11527"/>
                  <a:pt x="4249699" y="-32555"/>
                  <a:pt x="4504380" y="0"/>
                </a:cubicBezTo>
                <a:cubicBezTo>
                  <a:pt x="4737570" y="17980"/>
                  <a:pt x="4877497" y="1006"/>
                  <a:pt x="5101346" y="0"/>
                </a:cubicBezTo>
                <a:cubicBezTo>
                  <a:pt x="5359305" y="-15330"/>
                  <a:pt x="5447195" y="7257"/>
                  <a:pt x="5779717" y="0"/>
                </a:cubicBezTo>
                <a:cubicBezTo>
                  <a:pt x="6090019" y="-17621"/>
                  <a:pt x="6273151" y="4279"/>
                  <a:pt x="6620896" y="0"/>
                </a:cubicBezTo>
                <a:cubicBezTo>
                  <a:pt x="6968586" y="34056"/>
                  <a:pt x="6990073" y="23587"/>
                  <a:pt x="7136458" y="0"/>
                </a:cubicBezTo>
                <a:cubicBezTo>
                  <a:pt x="7320575" y="20480"/>
                  <a:pt x="7847401" y="-6173"/>
                  <a:pt x="8140446" y="0"/>
                </a:cubicBezTo>
                <a:cubicBezTo>
                  <a:pt x="8139878" y="7862"/>
                  <a:pt x="8140227" y="13269"/>
                  <a:pt x="8140446" y="18288"/>
                </a:cubicBezTo>
                <a:cubicBezTo>
                  <a:pt x="7908069" y="-20636"/>
                  <a:pt x="7683037" y="21977"/>
                  <a:pt x="7543480" y="18288"/>
                </a:cubicBezTo>
                <a:cubicBezTo>
                  <a:pt x="7393752" y="10050"/>
                  <a:pt x="7221032" y="-3229"/>
                  <a:pt x="7109323" y="18288"/>
                </a:cubicBezTo>
                <a:cubicBezTo>
                  <a:pt x="7015297" y="22483"/>
                  <a:pt x="6599332" y="40899"/>
                  <a:pt x="6430952" y="18288"/>
                </a:cubicBezTo>
                <a:cubicBezTo>
                  <a:pt x="6292915" y="-34150"/>
                  <a:pt x="6142305" y="21507"/>
                  <a:pt x="5915391" y="18288"/>
                </a:cubicBezTo>
                <a:cubicBezTo>
                  <a:pt x="5682725" y="47843"/>
                  <a:pt x="5440566" y="31420"/>
                  <a:pt x="5237020" y="18288"/>
                </a:cubicBezTo>
                <a:cubicBezTo>
                  <a:pt x="5046456" y="10577"/>
                  <a:pt x="4706449" y="51976"/>
                  <a:pt x="4558650" y="18288"/>
                </a:cubicBezTo>
                <a:cubicBezTo>
                  <a:pt x="4361396" y="-987"/>
                  <a:pt x="4145362" y="-22303"/>
                  <a:pt x="3880279" y="18288"/>
                </a:cubicBezTo>
                <a:cubicBezTo>
                  <a:pt x="3610716" y="25411"/>
                  <a:pt x="3472690" y="4008"/>
                  <a:pt x="3201909" y="18288"/>
                </a:cubicBezTo>
                <a:cubicBezTo>
                  <a:pt x="2913595" y="35097"/>
                  <a:pt x="2753317" y="-1149"/>
                  <a:pt x="2604943" y="18288"/>
                </a:cubicBezTo>
                <a:cubicBezTo>
                  <a:pt x="2450130" y="36989"/>
                  <a:pt x="1974183" y="40159"/>
                  <a:pt x="1845168" y="18288"/>
                </a:cubicBezTo>
                <a:cubicBezTo>
                  <a:pt x="1677929" y="220"/>
                  <a:pt x="1378098" y="-772"/>
                  <a:pt x="1166797" y="18288"/>
                </a:cubicBezTo>
                <a:cubicBezTo>
                  <a:pt x="921150" y="53277"/>
                  <a:pt x="327457" y="47297"/>
                  <a:pt x="0" y="18288"/>
                </a:cubicBezTo>
                <a:cubicBezTo>
                  <a:pt x="-589" y="13471"/>
                  <a:pt x="-474" y="7409"/>
                  <a:pt x="0" y="0"/>
                </a:cubicBezTo>
                <a:close/>
              </a:path>
              <a:path w="8140446" h="18288" stroke="0" extrusionOk="0">
                <a:moveTo>
                  <a:pt x="0" y="0"/>
                </a:moveTo>
                <a:cubicBezTo>
                  <a:pt x="136968" y="-25482"/>
                  <a:pt x="379786" y="11224"/>
                  <a:pt x="596966" y="0"/>
                </a:cubicBezTo>
                <a:cubicBezTo>
                  <a:pt x="815878" y="-21223"/>
                  <a:pt x="832062" y="11868"/>
                  <a:pt x="1031123" y="0"/>
                </a:cubicBezTo>
                <a:cubicBezTo>
                  <a:pt x="1256800" y="-30738"/>
                  <a:pt x="1658090" y="-20345"/>
                  <a:pt x="1872303" y="0"/>
                </a:cubicBezTo>
                <a:cubicBezTo>
                  <a:pt x="2115604" y="28431"/>
                  <a:pt x="2277865" y="-40642"/>
                  <a:pt x="2469269" y="0"/>
                </a:cubicBezTo>
                <a:cubicBezTo>
                  <a:pt x="2679731" y="25919"/>
                  <a:pt x="2788602" y="-6498"/>
                  <a:pt x="3066235" y="0"/>
                </a:cubicBezTo>
                <a:cubicBezTo>
                  <a:pt x="3325663" y="-14487"/>
                  <a:pt x="3706561" y="67517"/>
                  <a:pt x="3907414" y="0"/>
                </a:cubicBezTo>
                <a:cubicBezTo>
                  <a:pt x="4127229" y="-37113"/>
                  <a:pt x="4179037" y="-8167"/>
                  <a:pt x="4422976" y="0"/>
                </a:cubicBezTo>
                <a:cubicBezTo>
                  <a:pt x="4683575" y="-28486"/>
                  <a:pt x="5055803" y="-13799"/>
                  <a:pt x="5264155" y="0"/>
                </a:cubicBezTo>
                <a:cubicBezTo>
                  <a:pt x="5513566" y="14315"/>
                  <a:pt x="5735215" y="2768"/>
                  <a:pt x="6105335" y="0"/>
                </a:cubicBezTo>
                <a:cubicBezTo>
                  <a:pt x="6510913" y="-12587"/>
                  <a:pt x="6456171" y="3247"/>
                  <a:pt x="6783705" y="0"/>
                </a:cubicBezTo>
                <a:cubicBezTo>
                  <a:pt x="7057099" y="-15461"/>
                  <a:pt x="7592067" y="5384"/>
                  <a:pt x="8140446" y="0"/>
                </a:cubicBezTo>
                <a:cubicBezTo>
                  <a:pt x="8140452" y="8597"/>
                  <a:pt x="8141122" y="9732"/>
                  <a:pt x="8140446" y="18288"/>
                </a:cubicBezTo>
                <a:cubicBezTo>
                  <a:pt x="7961834" y="8406"/>
                  <a:pt x="7874097" y="10350"/>
                  <a:pt x="7706289" y="18288"/>
                </a:cubicBezTo>
                <a:cubicBezTo>
                  <a:pt x="7582508" y="-14920"/>
                  <a:pt x="7179551" y="-33111"/>
                  <a:pt x="6865109" y="18288"/>
                </a:cubicBezTo>
                <a:cubicBezTo>
                  <a:pt x="6583382" y="24117"/>
                  <a:pt x="6525821" y="36696"/>
                  <a:pt x="6349548" y="18288"/>
                </a:cubicBezTo>
                <a:cubicBezTo>
                  <a:pt x="6209953" y="10881"/>
                  <a:pt x="5959707" y="-47828"/>
                  <a:pt x="5671177" y="18288"/>
                </a:cubicBezTo>
                <a:cubicBezTo>
                  <a:pt x="5387744" y="29809"/>
                  <a:pt x="5228514" y="101507"/>
                  <a:pt x="4829998" y="18288"/>
                </a:cubicBezTo>
                <a:cubicBezTo>
                  <a:pt x="4415646" y="-28596"/>
                  <a:pt x="4343809" y="28954"/>
                  <a:pt x="4151627" y="18288"/>
                </a:cubicBezTo>
                <a:cubicBezTo>
                  <a:pt x="3950673" y="-9796"/>
                  <a:pt x="3879947" y="41143"/>
                  <a:pt x="3717470" y="18288"/>
                </a:cubicBezTo>
                <a:cubicBezTo>
                  <a:pt x="3558660" y="10110"/>
                  <a:pt x="3468854" y="29375"/>
                  <a:pt x="3201909" y="18288"/>
                </a:cubicBezTo>
                <a:cubicBezTo>
                  <a:pt x="2965673" y="10505"/>
                  <a:pt x="2568327" y="22116"/>
                  <a:pt x="2360729" y="18288"/>
                </a:cubicBezTo>
                <a:cubicBezTo>
                  <a:pt x="2171885" y="49144"/>
                  <a:pt x="1923258" y="16020"/>
                  <a:pt x="1682359" y="18288"/>
                </a:cubicBezTo>
                <a:cubicBezTo>
                  <a:pt x="1430698" y="-2378"/>
                  <a:pt x="1324229" y="-1751"/>
                  <a:pt x="1166797" y="18288"/>
                </a:cubicBezTo>
                <a:cubicBezTo>
                  <a:pt x="1001390" y="41795"/>
                  <a:pt x="324313" y="57964"/>
                  <a:pt x="0" y="18288"/>
                </a:cubicBezTo>
                <a:cubicBezTo>
                  <a:pt x="285" y="13135"/>
                  <a:pt x="532" y="5956"/>
                  <a:pt x="0" y="0"/>
                </a:cubicBezTo>
                <a:close/>
              </a:path>
              <a:path w="8140446" h="18288" fill="none" stroke="0" extrusionOk="0">
                <a:moveTo>
                  <a:pt x="0" y="0"/>
                </a:moveTo>
                <a:cubicBezTo>
                  <a:pt x="69532" y="-6557"/>
                  <a:pt x="264219" y="3919"/>
                  <a:pt x="434157" y="0"/>
                </a:cubicBezTo>
                <a:cubicBezTo>
                  <a:pt x="600013" y="9090"/>
                  <a:pt x="921449" y="-13478"/>
                  <a:pt x="1193932" y="0"/>
                </a:cubicBezTo>
                <a:cubicBezTo>
                  <a:pt x="1443592" y="14844"/>
                  <a:pt x="1471188" y="10722"/>
                  <a:pt x="1628089" y="0"/>
                </a:cubicBezTo>
                <a:cubicBezTo>
                  <a:pt x="1750006" y="-24149"/>
                  <a:pt x="1967480" y="-14904"/>
                  <a:pt x="2225055" y="0"/>
                </a:cubicBezTo>
                <a:cubicBezTo>
                  <a:pt x="2503918" y="19247"/>
                  <a:pt x="2709263" y="-16351"/>
                  <a:pt x="3066235" y="0"/>
                </a:cubicBezTo>
                <a:cubicBezTo>
                  <a:pt x="3429723" y="-1627"/>
                  <a:pt x="3399401" y="30976"/>
                  <a:pt x="3744605" y="0"/>
                </a:cubicBezTo>
                <a:cubicBezTo>
                  <a:pt x="4081920" y="-40602"/>
                  <a:pt x="4258272" y="-2441"/>
                  <a:pt x="4504380" y="0"/>
                </a:cubicBezTo>
                <a:cubicBezTo>
                  <a:pt x="4760039" y="21121"/>
                  <a:pt x="4866555" y="-1351"/>
                  <a:pt x="5101346" y="0"/>
                </a:cubicBezTo>
                <a:cubicBezTo>
                  <a:pt x="5336279" y="1859"/>
                  <a:pt x="5465100" y="30801"/>
                  <a:pt x="5779717" y="0"/>
                </a:cubicBezTo>
                <a:cubicBezTo>
                  <a:pt x="6117018" y="-2879"/>
                  <a:pt x="6273497" y="-5002"/>
                  <a:pt x="6620896" y="0"/>
                </a:cubicBezTo>
                <a:cubicBezTo>
                  <a:pt x="6972306" y="38666"/>
                  <a:pt x="6992056" y="28334"/>
                  <a:pt x="7136458" y="0"/>
                </a:cubicBezTo>
                <a:cubicBezTo>
                  <a:pt x="7325567" y="-61201"/>
                  <a:pt x="7766555" y="-88399"/>
                  <a:pt x="8140446" y="0"/>
                </a:cubicBezTo>
                <a:cubicBezTo>
                  <a:pt x="8140031" y="7748"/>
                  <a:pt x="8139515" y="13015"/>
                  <a:pt x="8140446" y="18288"/>
                </a:cubicBezTo>
                <a:cubicBezTo>
                  <a:pt x="7892673" y="-4012"/>
                  <a:pt x="7668025" y="650"/>
                  <a:pt x="7543480" y="18288"/>
                </a:cubicBezTo>
                <a:cubicBezTo>
                  <a:pt x="7406710" y="-3467"/>
                  <a:pt x="7207646" y="8893"/>
                  <a:pt x="7109323" y="18288"/>
                </a:cubicBezTo>
                <a:cubicBezTo>
                  <a:pt x="6993037" y="49011"/>
                  <a:pt x="6598723" y="59405"/>
                  <a:pt x="6430952" y="18288"/>
                </a:cubicBezTo>
                <a:cubicBezTo>
                  <a:pt x="6284771" y="15315"/>
                  <a:pt x="6162730" y="20350"/>
                  <a:pt x="5915391" y="18288"/>
                </a:cubicBezTo>
                <a:cubicBezTo>
                  <a:pt x="5684668" y="13603"/>
                  <a:pt x="5422852" y="53618"/>
                  <a:pt x="5237020" y="18288"/>
                </a:cubicBezTo>
                <a:cubicBezTo>
                  <a:pt x="5035482" y="26296"/>
                  <a:pt x="4719808" y="55145"/>
                  <a:pt x="4558650" y="18288"/>
                </a:cubicBezTo>
                <a:cubicBezTo>
                  <a:pt x="4375169" y="-35587"/>
                  <a:pt x="4137553" y="12086"/>
                  <a:pt x="3880279" y="18288"/>
                </a:cubicBezTo>
                <a:cubicBezTo>
                  <a:pt x="3624533" y="32648"/>
                  <a:pt x="3467387" y="6480"/>
                  <a:pt x="3201909" y="18288"/>
                </a:cubicBezTo>
                <a:cubicBezTo>
                  <a:pt x="2918126" y="73342"/>
                  <a:pt x="2717830" y="-17156"/>
                  <a:pt x="2604943" y="18288"/>
                </a:cubicBezTo>
                <a:cubicBezTo>
                  <a:pt x="2496133" y="44525"/>
                  <a:pt x="2003915" y="18254"/>
                  <a:pt x="1845168" y="18288"/>
                </a:cubicBezTo>
                <a:cubicBezTo>
                  <a:pt x="1694518" y="14989"/>
                  <a:pt x="1344959" y="44188"/>
                  <a:pt x="1166797" y="18288"/>
                </a:cubicBezTo>
                <a:cubicBezTo>
                  <a:pt x="935925" y="69451"/>
                  <a:pt x="319712" y="-63972"/>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628650" y="1929384"/>
            <a:ext cx="7886700" cy="4251960"/>
          </a:xfrm>
        </p:spPr>
        <p:txBody>
          <a:bodyPr>
            <a:normAutofit/>
          </a:bodyPr>
          <a:lstStyle/>
          <a:p>
            <a:r>
              <a:rPr lang="en-US" sz="2400" i="1" dirty="0"/>
              <a:t>Generalization</a:t>
            </a:r>
            <a:r>
              <a:rPr lang="en-US" sz="2400" b="1" dirty="0"/>
              <a:t>:</a:t>
            </a:r>
            <a:r>
              <a:rPr lang="en-US" sz="2400" b="1" i="1" dirty="0"/>
              <a:t> </a:t>
            </a:r>
            <a:r>
              <a:rPr lang="en-US" sz="2400" dirty="0"/>
              <a:t>The act of taking the results from a sample and applying it to a larger population.</a:t>
            </a:r>
          </a:p>
          <a:p>
            <a:pPr marL="0" indent="0">
              <a:buNone/>
            </a:pPr>
            <a:endParaRPr lang="en-US" sz="2400" dirty="0"/>
          </a:p>
          <a:p>
            <a:r>
              <a:rPr lang="en-US" sz="2400" dirty="0"/>
              <a:t>To determined how generalizable a piece of research is, it’s useful to know two things:</a:t>
            </a:r>
          </a:p>
          <a:p>
            <a:pPr lvl="1"/>
            <a:r>
              <a:rPr lang="en-US" dirty="0"/>
              <a:t>Is the sample size sufficient? </a:t>
            </a:r>
          </a:p>
          <a:p>
            <a:pPr lvl="1"/>
            <a:r>
              <a:rPr lang="en-US" dirty="0"/>
              <a:t>How representative of the population is the sample? </a:t>
            </a:r>
          </a:p>
          <a:p>
            <a:endParaRPr lang="en-US" sz="1900" dirty="0"/>
          </a:p>
        </p:txBody>
      </p: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179178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582930" y="731519"/>
            <a:ext cx="2133893" cy="3237579"/>
          </a:xfrm>
        </p:spPr>
        <p:txBody>
          <a:bodyPr>
            <a:normAutofit/>
          </a:bodyPr>
          <a:lstStyle/>
          <a:p>
            <a:pPr lvl="2"/>
            <a:r>
              <a:rPr lang="en-US" sz="3300" b="1">
                <a:solidFill>
                  <a:srgbClr val="FFFFFF"/>
                </a:solidFill>
                <a:latin typeface="+mj-lt"/>
              </a:rPr>
              <a:t>Do the researchers use valid and reliable measures?</a:t>
            </a:r>
            <a:endParaRPr lang="en-US" sz="3300">
              <a:solidFill>
                <a:srgbClr val="FFFFFF"/>
              </a:solidFill>
              <a:latin typeface="+mj-lt"/>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3284781" y="686862"/>
            <a:ext cx="5278194" cy="5475129"/>
          </a:xfrm>
        </p:spPr>
        <p:txBody>
          <a:bodyPr anchor="ctr">
            <a:normAutofit lnSpcReduction="10000"/>
          </a:bodyPr>
          <a:lstStyle/>
          <a:p>
            <a:r>
              <a:rPr lang="en-US" i="1" dirty="0"/>
              <a:t>Reliability</a:t>
            </a:r>
            <a:r>
              <a:rPr lang="en-US" dirty="0"/>
              <a:t>: The consistency of a measure’s results.  </a:t>
            </a:r>
          </a:p>
          <a:p>
            <a:r>
              <a:rPr lang="en-US" dirty="0"/>
              <a:t>Types of reliability:</a:t>
            </a:r>
          </a:p>
          <a:p>
            <a:pPr lvl="1"/>
            <a:r>
              <a:rPr lang="en-US" sz="2800" i="1" dirty="0"/>
              <a:t>Test-retest reliability</a:t>
            </a:r>
            <a:r>
              <a:rPr lang="en-US" sz="2800" dirty="0"/>
              <a:t>: The ability of a test to give the same (or at least similar) score every time it is administered to the same person.</a:t>
            </a:r>
          </a:p>
          <a:p>
            <a:pPr lvl="1"/>
            <a:r>
              <a:rPr lang="en-US" sz="2800" i="1" dirty="0"/>
              <a:t>Inter-rater reliability</a:t>
            </a:r>
            <a:r>
              <a:rPr lang="en-US" sz="2800" dirty="0"/>
              <a:t>: The ability of two observers (aka, raters) of someone’s behavior to come away with the same conclusions.</a:t>
            </a:r>
          </a:p>
          <a:p>
            <a:pPr lvl="1"/>
            <a:r>
              <a:rPr lang="en-US" sz="2800" i="1" dirty="0"/>
              <a:t>Internal consistency </a:t>
            </a:r>
            <a:r>
              <a:rPr lang="en-US" sz="2800" dirty="0"/>
              <a:t>reliability</a:t>
            </a:r>
          </a:p>
          <a:p>
            <a:pPr lvl="1"/>
            <a:endParaRPr lang="en-US" sz="2300" dirty="0"/>
          </a:p>
        </p:txBody>
      </p: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spTree>
    <p:extLst>
      <p:ext uri="{BB962C8B-B14F-4D97-AF65-F5344CB8AC3E}">
        <p14:creationId xmlns:p14="http://schemas.microsoft.com/office/powerpoint/2010/main" val="3320191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582930" y="731519"/>
            <a:ext cx="2133893" cy="3237579"/>
          </a:xfrm>
        </p:spPr>
        <p:txBody>
          <a:bodyPr>
            <a:normAutofit/>
          </a:bodyPr>
          <a:lstStyle/>
          <a:p>
            <a:pPr lvl="2"/>
            <a:r>
              <a:rPr lang="en-US" sz="3300" b="1">
                <a:solidFill>
                  <a:srgbClr val="FFFFFF"/>
                </a:solidFill>
                <a:latin typeface="+mj-lt"/>
              </a:rPr>
              <a:t>Do the researchers use valid and reliable measures?</a:t>
            </a:r>
            <a:endParaRPr lang="en-US" sz="3300">
              <a:solidFill>
                <a:srgbClr val="FFFFFF"/>
              </a:solidFill>
              <a:latin typeface="+mj-lt"/>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3284781" y="686862"/>
            <a:ext cx="5278194" cy="5475129"/>
          </a:xfrm>
        </p:spPr>
        <p:txBody>
          <a:bodyPr anchor="ctr">
            <a:normAutofit/>
          </a:bodyPr>
          <a:lstStyle/>
          <a:p>
            <a:r>
              <a:rPr lang="en-US" sz="2300" i="1"/>
              <a:t>Validity</a:t>
            </a:r>
            <a:r>
              <a:rPr lang="en-US" sz="2300"/>
              <a:t>: The extent to which a method of measurement actually measures what it claims to measure.  </a:t>
            </a:r>
          </a:p>
          <a:p>
            <a:pPr lvl="1"/>
            <a:r>
              <a:rPr lang="en-US" sz="2300"/>
              <a:t>Example: A self-report scale of optimism known as the Life Orientation Test (LOT), initially faced criticism because it appeared to measure not only optimism, but also general emotional stability (Smith, Pope, Rhodewalt, &amp; Poulton, 1989). So, the creators of the LOT revised some of the items. The resulting Revised Life Orientation Test (LOT-R), is now a “gold standard” for the valid measurement of optimism. </a:t>
            </a:r>
          </a:p>
        </p:txBody>
      </p: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spTree>
    <p:extLst>
      <p:ext uri="{BB962C8B-B14F-4D97-AF65-F5344CB8AC3E}">
        <p14:creationId xmlns:p14="http://schemas.microsoft.com/office/powerpoint/2010/main" val="3924515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AF6CB648-9554-488A-B457-99CAAD1DA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F6640AD-F89E-AC45-1F5A-95BDEFA40B55}"/>
              </a:ext>
            </a:extLst>
          </p:cNvPr>
          <p:cNvPicPr>
            <a:picLocks noChangeAspect="1"/>
          </p:cNvPicPr>
          <p:nvPr/>
        </p:nvPicPr>
        <p:blipFill>
          <a:blip r:embed="rId2"/>
          <a:srcRect l="40443" r="467"/>
          <a:stretch/>
        </p:blipFill>
        <p:spPr>
          <a:xfrm>
            <a:off x="5086349" y="1714500"/>
            <a:ext cx="4057651" cy="5143500"/>
          </a:xfrm>
          <a:prstGeom prst="rect">
            <a:avLst/>
          </a:prstGeom>
        </p:spPr>
      </p:pic>
      <p:sp useBgFill="1">
        <p:nvSpPr>
          <p:cNvPr id="22" name="Rectangle 21">
            <a:extLst>
              <a:ext uri="{FF2B5EF4-FFF2-40B4-BE49-F238E27FC236}">
                <a16:creationId xmlns:a16="http://schemas.microsoft.com/office/drawing/2014/main" id="{E1ED8A68-A582-AC62-104E-E319E9DB3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1729117"/>
          </a:xfrm>
          <a:prstGeom prst="rect">
            <a:avLst/>
          </a:prstGeom>
          <a:ln>
            <a:noFill/>
          </a:ln>
          <a:effectLst>
            <a:outerShdw blurRad="368300" dist="101600" dir="546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E92F55-8A00-37C5-033B-2662F87D2C95}"/>
              </a:ext>
            </a:extLst>
          </p:cNvPr>
          <p:cNvSpPr>
            <a:spLocks noGrp="1"/>
          </p:cNvSpPr>
          <p:nvPr>
            <p:ph type="title"/>
          </p:nvPr>
        </p:nvSpPr>
        <p:spPr>
          <a:xfrm>
            <a:off x="571350" y="250409"/>
            <a:ext cx="7667214" cy="1228299"/>
          </a:xfrm>
        </p:spPr>
        <p:txBody>
          <a:bodyPr>
            <a:normAutofit/>
          </a:bodyPr>
          <a:lstStyle/>
          <a:p>
            <a:r>
              <a:rPr lang="en-US" sz="3500"/>
              <a:t>Life Orientation Test-R</a:t>
            </a:r>
          </a:p>
        </p:txBody>
      </p:sp>
      <p:sp>
        <p:nvSpPr>
          <p:cNvPr id="3" name="Content Placeholder 2">
            <a:extLst>
              <a:ext uri="{FF2B5EF4-FFF2-40B4-BE49-F238E27FC236}">
                <a16:creationId xmlns:a16="http://schemas.microsoft.com/office/drawing/2014/main" id="{92454EC6-8585-B13F-FBC9-8B1324CCD137}"/>
              </a:ext>
            </a:extLst>
          </p:cNvPr>
          <p:cNvSpPr>
            <a:spLocks noGrp="1"/>
          </p:cNvSpPr>
          <p:nvPr>
            <p:ph idx="1"/>
          </p:nvPr>
        </p:nvSpPr>
        <p:spPr>
          <a:xfrm>
            <a:off x="571350" y="2183642"/>
            <a:ext cx="4000650" cy="4115018"/>
          </a:xfrm>
        </p:spPr>
        <p:txBody>
          <a:bodyPr anchor="ctr">
            <a:normAutofit/>
          </a:bodyPr>
          <a:lstStyle/>
          <a:p>
            <a:pPr marL="0" indent="0">
              <a:buNone/>
            </a:pPr>
            <a:r>
              <a:rPr lang="en-US" dirty="0">
                <a:hlinkClick r:id="rId3"/>
              </a:rPr>
              <a:t>Journal Entry #4</a:t>
            </a:r>
          </a:p>
          <a:p>
            <a:pPr marL="0" indent="0">
              <a:buNone/>
            </a:pPr>
            <a:endParaRPr lang="en-US" dirty="0">
              <a:hlinkClick r:id="rId3"/>
            </a:endParaRPr>
          </a:p>
          <a:p>
            <a:pPr marL="0" indent="0">
              <a:buNone/>
            </a:pPr>
            <a:endParaRPr lang="en-US" dirty="0">
              <a:hlinkClick r:id="rId3"/>
            </a:endParaRPr>
          </a:p>
          <a:p>
            <a:pPr marL="0" indent="0">
              <a:buNone/>
            </a:pPr>
            <a:r>
              <a:rPr lang="en-US" dirty="0">
                <a:hlinkClick r:id="rId3"/>
              </a:rPr>
              <a:t>Life Orientation Test-R</a:t>
            </a:r>
            <a:r>
              <a:rPr lang="en-US" dirty="0"/>
              <a:t> </a:t>
            </a:r>
          </a:p>
        </p:txBody>
      </p:sp>
      <p:sp>
        <p:nvSpPr>
          <p:cNvPr id="4" name="Footer Placeholder 3">
            <a:extLst>
              <a:ext uri="{FF2B5EF4-FFF2-40B4-BE49-F238E27FC236}">
                <a16:creationId xmlns:a16="http://schemas.microsoft.com/office/drawing/2014/main" id="{98C9D362-44E6-AC77-61BB-0C4DD3904C5E}"/>
              </a:ext>
            </a:extLst>
          </p:cNvPr>
          <p:cNvSpPr>
            <a:spLocks noGrp="1"/>
          </p:cNvSpPr>
          <p:nvPr>
            <p:ph type="ftr" sz="quarter" idx="11"/>
          </p:nvPr>
        </p:nvSpPr>
        <p:spPr>
          <a:xfrm>
            <a:off x="2332686" y="6356350"/>
            <a:ext cx="2239314" cy="365125"/>
          </a:xfrm>
        </p:spPr>
        <p:txBody>
          <a:bodyPr>
            <a:normAutofit/>
          </a:bodyPr>
          <a:lstStyle/>
          <a:p>
            <a:pPr algn="r">
              <a:lnSpc>
                <a:spcPct val="90000"/>
              </a:lnSpc>
              <a:spcAft>
                <a:spcPts val="600"/>
              </a:spcAft>
            </a:pPr>
            <a:r>
              <a:rPr lang="en-US" sz="900">
                <a:solidFill>
                  <a:schemeClr val="tx1"/>
                </a:solidFill>
              </a:rPr>
              <a:t>The Science of Positive Psychology © Cambridge University Press 2021</a:t>
            </a:r>
          </a:p>
        </p:txBody>
      </p:sp>
    </p:spTree>
    <p:extLst>
      <p:ext uri="{BB962C8B-B14F-4D97-AF65-F5344CB8AC3E}">
        <p14:creationId xmlns:p14="http://schemas.microsoft.com/office/powerpoint/2010/main" val="2034861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9CFB886-2CA2-4E2E-833C-0D512964D1E6}"/>
              </a:ext>
            </a:extLst>
          </p:cNvPr>
          <p:cNvSpPr>
            <a:spLocks noGrp="1"/>
          </p:cNvSpPr>
          <p:nvPr>
            <p:ph type="title"/>
          </p:nvPr>
        </p:nvSpPr>
        <p:spPr>
          <a:xfrm>
            <a:off x="582930" y="731519"/>
            <a:ext cx="2133893" cy="3237579"/>
          </a:xfrm>
        </p:spPr>
        <p:txBody>
          <a:bodyPr>
            <a:normAutofit/>
          </a:bodyPr>
          <a:lstStyle/>
          <a:p>
            <a:pPr lvl="2"/>
            <a:r>
              <a:rPr lang="en-US" sz="3300" b="1">
                <a:solidFill>
                  <a:srgbClr val="FFFFFF"/>
                </a:solidFill>
                <a:latin typeface="+mj-lt"/>
              </a:rPr>
              <a:t>Does more than one study show the result?</a:t>
            </a:r>
            <a:endParaRPr lang="en-US" sz="3300">
              <a:solidFill>
                <a:srgbClr val="FFFFFF"/>
              </a:solidFill>
              <a:latin typeface="+mj-lt"/>
            </a:endParaRPr>
          </a:p>
        </p:txBody>
      </p:sp>
      <p:sp>
        <p:nvSpPr>
          <p:cNvPr id="14" name="Rectangle 13">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6DFC006A-6D09-4DF3-BCEB-FEA5F16BE4F3}"/>
              </a:ext>
            </a:extLst>
          </p:cNvPr>
          <p:cNvSpPr>
            <a:spLocks noGrp="1"/>
          </p:cNvSpPr>
          <p:nvPr>
            <p:ph idx="1"/>
          </p:nvPr>
        </p:nvSpPr>
        <p:spPr>
          <a:xfrm>
            <a:off x="3284781" y="686862"/>
            <a:ext cx="5278194" cy="5475129"/>
          </a:xfrm>
        </p:spPr>
        <p:txBody>
          <a:bodyPr anchor="ctr">
            <a:normAutofit/>
          </a:bodyPr>
          <a:lstStyle/>
          <a:p>
            <a:r>
              <a:rPr lang="en-US" sz="2300" i="1"/>
              <a:t>Replicability</a:t>
            </a:r>
            <a:r>
              <a:rPr lang="en-US" sz="2300"/>
              <a:t>: The capability of two or more studies, often with somewhat different methodologies, to produce the same result.</a:t>
            </a:r>
          </a:p>
          <a:p>
            <a:r>
              <a:rPr lang="en-US" sz="2300"/>
              <a:t>In the early 2010s, the “replication crisis” rocked the field of psychology:</a:t>
            </a:r>
          </a:p>
          <a:p>
            <a:pPr lvl="1"/>
            <a:r>
              <a:rPr lang="en-US" sz="2300"/>
              <a:t>A group of 270 researchers calling themselves the Open Science Collaboration (2015) attempted to replicate 100 studies appearing in three high-ranking journals. </a:t>
            </a:r>
          </a:p>
          <a:p>
            <a:pPr lvl="1"/>
            <a:r>
              <a:rPr lang="en-US" sz="2300"/>
              <a:t>Only about a third of these attempted replications found statistically significant results.</a:t>
            </a:r>
          </a:p>
        </p:txBody>
      </p:sp>
      <p:sp>
        <p:nvSpPr>
          <p:cNvPr id="4" name="Footer Placeholder 3">
            <a:extLst>
              <a:ext uri="{FF2B5EF4-FFF2-40B4-BE49-F238E27FC236}">
                <a16:creationId xmlns:a16="http://schemas.microsoft.com/office/drawing/2014/main" id="{AAE4327F-595E-4F27-9C49-5183C05AFE38}"/>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spTree>
    <p:extLst>
      <p:ext uri="{BB962C8B-B14F-4D97-AF65-F5344CB8AC3E}">
        <p14:creationId xmlns:p14="http://schemas.microsoft.com/office/powerpoint/2010/main" val="2154436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83551" y="343486"/>
            <a:ext cx="8579094"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9E13F55-8E20-4C08-9C94-BFCD21B57326}"/>
              </a:ext>
            </a:extLst>
          </p:cNvPr>
          <p:cNvSpPr>
            <a:spLocks noGrp="1"/>
          </p:cNvSpPr>
          <p:nvPr>
            <p:ph type="title"/>
          </p:nvPr>
        </p:nvSpPr>
        <p:spPr>
          <a:xfrm>
            <a:off x="394554" y="466578"/>
            <a:ext cx="8354891" cy="930447"/>
          </a:xfrm>
        </p:spPr>
        <p:txBody>
          <a:bodyPr vert="horz" lIns="91440" tIns="45720" rIns="91440" bIns="45720" rtlCol="0" anchor="b">
            <a:normAutofit/>
          </a:bodyPr>
          <a:lstStyle/>
          <a:p>
            <a:pPr algn="ctr"/>
            <a:r>
              <a:rPr lang="en-US" sz="4700" kern="1200">
                <a:solidFill>
                  <a:srgbClr val="FFFFFF"/>
                </a:solidFill>
                <a:latin typeface="+mj-lt"/>
                <a:ea typeface="+mj-ea"/>
                <a:cs typeface="+mj-cs"/>
              </a:rPr>
              <a:t>Reliability and Validity</a:t>
            </a:r>
          </a:p>
        </p:txBody>
      </p:sp>
      <p:cxnSp>
        <p:nvCxnSpPr>
          <p:cNvPr id="12" name="Straight Connector 11">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57350" y="1448631"/>
            <a:ext cx="58293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39661469-3B2A-45B6-9085-FC62A38EBCA2}"/>
              </a:ext>
            </a:extLst>
          </p:cNvPr>
          <p:cNvPicPr>
            <a:picLocks noGrp="1" noChangeAspect="1"/>
          </p:cNvPicPr>
          <p:nvPr>
            <p:ph idx="1"/>
          </p:nvPr>
        </p:nvPicPr>
        <p:blipFill>
          <a:blip r:embed="rId2"/>
          <a:stretch>
            <a:fillRect/>
          </a:stretch>
        </p:blipFill>
        <p:spPr>
          <a:xfrm>
            <a:off x="240030" y="2827320"/>
            <a:ext cx="8622615" cy="3362818"/>
          </a:xfrm>
          <a:prstGeom prst="rect">
            <a:avLst/>
          </a:prstGeom>
        </p:spPr>
      </p:pic>
      <p:sp>
        <p:nvSpPr>
          <p:cNvPr id="4" name="Footer Placeholder 3">
            <a:extLst>
              <a:ext uri="{FF2B5EF4-FFF2-40B4-BE49-F238E27FC236}">
                <a16:creationId xmlns:a16="http://schemas.microsoft.com/office/drawing/2014/main" id="{E98B4EAE-BAA1-45C4-9C8C-A2FEB7CBC528}"/>
              </a:ext>
            </a:extLst>
          </p:cNvPr>
          <p:cNvSpPr>
            <a:spLocks noGrp="1"/>
          </p:cNvSpPr>
          <p:nvPr>
            <p:ph type="ftr" sz="quarter" idx="11"/>
          </p:nvPr>
        </p:nvSpPr>
        <p:spPr>
          <a:xfrm>
            <a:off x="3028950" y="6522430"/>
            <a:ext cx="3086100" cy="347472"/>
          </a:xfrm>
        </p:spPr>
        <p:txBody>
          <a:bodyPr vert="horz" lIns="91440" tIns="45720" rIns="91440" bIns="45720" rtlCol="0" anchor="ctr">
            <a:normAutofit/>
          </a:bodyPr>
          <a:lstStyle/>
          <a:p>
            <a:pPr defTabSz="914400">
              <a:lnSpc>
                <a:spcPct val="90000"/>
              </a:lnSpc>
              <a:spcAft>
                <a:spcPts val="600"/>
              </a:spcAft>
            </a:pPr>
            <a:r>
              <a:rPr lang="en-US" sz="900" kern="1200">
                <a:solidFill>
                  <a:srgbClr val="898989"/>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908810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011F734-8170-4D33-9F89-B8487E92A73F}"/>
              </a:ext>
            </a:extLst>
          </p:cNvPr>
          <p:cNvSpPr>
            <a:spLocks noGrp="1"/>
          </p:cNvSpPr>
          <p:nvPr>
            <p:ph type="title"/>
          </p:nvPr>
        </p:nvSpPr>
        <p:spPr>
          <a:xfrm>
            <a:off x="482601" y="643467"/>
            <a:ext cx="3879192" cy="4567137"/>
          </a:xfrm>
        </p:spPr>
        <p:txBody>
          <a:bodyPr vert="horz" lIns="91440" tIns="45720" rIns="91440" bIns="45720" rtlCol="0" anchor="b">
            <a:normAutofit/>
          </a:bodyPr>
          <a:lstStyle/>
          <a:p>
            <a:pPr algn="l"/>
            <a:r>
              <a:rPr lang="en-US" sz="3600" kern="1200" dirty="0">
                <a:solidFill>
                  <a:schemeClr val="tx1"/>
                </a:solidFill>
                <a:latin typeface="+mj-lt"/>
                <a:ea typeface="+mj-ea"/>
                <a:cs typeface="+mj-cs"/>
              </a:rPr>
              <a:t>Myths and Misunderstandings about Positive Psychology</a:t>
            </a:r>
          </a:p>
        </p:txBody>
      </p:sp>
      <p:pic>
        <p:nvPicPr>
          <p:cNvPr id="3" name="Picture 2">
            <a:extLst>
              <a:ext uri="{FF2B5EF4-FFF2-40B4-BE49-F238E27FC236}">
                <a16:creationId xmlns:a16="http://schemas.microsoft.com/office/drawing/2014/main" id="{708CCE10-FAE1-4872-8104-1BEAB267B603}"/>
              </a:ext>
            </a:extLst>
          </p:cNvPr>
          <p:cNvPicPr>
            <a:picLocks noChangeAspect="1"/>
          </p:cNvPicPr>
          <p:nvPr/>
        </p:nvPicPr>
        <p:blipFill>
          <a:blip r:embed="rId2"/>
          <a:stretch>
            <a:fillRect/>
          </a:stretch>
        </p:blipFill>
        <p:spPr>
          <a:xfrm>
            <a:off x="4954689" y="2195676"/>
            <a:ext cx="3706710" cy="2466647"/>
          </a:xfrm>
          <a:prstGeom prst="rect">
            <a:avLst/>
          </a:prstGeom>
        </p:spPr>
      </p:pic>
      <p:sp>
        <p:nvSpPr>
          <p:cNvPr id="4" name="Footer Placeholder 3">
            <a:extLst>
              <a:ext uri="{FF2B5EF4-FFF2-40B4-BE49-F238E27FC236}">
                <a16:creationId xmlns:a16="http://schemas.microsoft.com/office/drawing/2014/main" id="{D12592D3-AF77-474F-A075-63528DE407C4}"/>
              </a:ext>
            </a:extLst>
          </p:cNvPr>
          <p:cNvSpPr>
            <a:spLocks noGrp="1"/>
          </p:cNvSpPr>
          <p:nvPr>
            <p:ph type="ftr" sz="quarter" idx="10"/>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defRPr/>
            </a:pPr>
            <a:r>
              <a:rPr lang="en-US" sz="900" kern="1200">
                <a:solidFill>
                  <a:schemeClr val="tx1">
                    <a:tint val="75000"/>
                  </a:schemeClr>
                </a:solidFill>
                <a:latin typeface="+mn-lt"/>
                <a:ea typeface="+mn-ea"/>
                <a:cs typeface="+mn-cs"/>
              </a:rPr>
              <a:t>The Science and Application of Positive Psychology </a:t>
            </a:r>
            <a:br>
              <a:rPr lang="en-US" sz="900" kern="1200">
                <a:solidFill>
                  <a:schemeClr val="tx1">
                    <a:tint val="75000"/>
                  </a:schemeClr>
                </a:solidFill>
                <a:latin typeface="+mn-lt"/>
                <a:ea typeface="+mn-ea"/>
                <a:cs typeface="+mn-cs"/>
              </a:rPr>
            </a:br>
            <a:r>
              <a:rPr lang="en-US" sz="900" kern="1200">
                <a:solidFill>
                  <a:schemeClr val="tx1">
                    <a:tint val="75000"/>
                  </a:schemeClr>
                </a:solidFill>
                <a:latin typeface="+mn-lt"/>
                <a:ea typeface="+mn-ea"/>
                <a:cs typeface="+mn-cs"/>
              </a:rPr>
              <a:t>© Cambridge University Press 2021</a:t>
            </a:r>
          </a:p>
        </p:txBody>
      </p:sp>
    </p:spTree>
    <p:extLst>
      <p:ext uri="{BB962C8B-B14F-4D97-AF65-F5344CB8AC3E}">
        <p14:creationId xmlns:p14="http://schemas.microsoft.com/office/powerpoint/2010/main" val="2976536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Rectangle 3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DD1436-D024-437F-8CEE-ADC41E9D50A6}"/>
              </a:ext>
            </a:extLst>
          </p:cNvPr>
          <p:cNvSpPr>
            <a:spLocks noGrp="1"/>
          </p:cNvSpPr>
          <p:nvPr>
            <p:ph type="title"/>
          </p:nvPr>
        </p:nvSpPr>
        <p:spPr>
          <a:xfrm>
            <a:off x="350041" y="586855"/>
            <a:ext cx="2401025" cy="3387497"/>
          </a:xfrm>
        </p:spPr>
        <p:txBody>
          <a:bodyPr anchor="b">
            <a:normAutofit/>
          </a:bodyPr>
          <a:lstStyle/>
          <a:p>
            <a:pPr algn="r"/>
            <a:r>
              <a:rPr lang="en-US" sz="3500" dirty="0">
                <a:solidFill>
                  <a:srgbClr val="FFFFFF"/>
                </a:solidFill>
              </a:rPr>
              <a:t>Myth #1: Only stupid people are happy</a:t>
            </a:r>
          </a:p>
        </p:txBody>
      </p:sp>
      <p:sp>
        <p:nvSpPr>
          <p:cNvPr id="4" name="Footer Placeholder 3">
            <a:extLst>
              <a:ext uri="{FF2B5EF4-FFF2-40B4-BE49-F238E27FC236}">
                <a16:creationId xmlns:a16="http://schemas.microsoft.com/office/drawing/2014/main" id="{DD68B367-8207-48A4-B271-5127DFE1C469}"/>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a:t>
            </a:r>
            <a:br>
              <a:rPr lang="en-US" sz="900">
                <a:solidFill>
                  <a:srgbClr val="FFFFFF"/>
                </a:solidFill>
              </a:rPr>
            </a:br>
            <a:r>
              <a:rPr lang="en-US" sz="900">
                <a:solidFill>
                  <a:srgbClr val="FFFFFF"/>
                </a:solidFill>
              </a:rPr>
              <a:t>© Cambridge University Press 2021</a:t>
            </a:r>
          </a:p>
        </p:txBody>
      </p:sp>
      <p:sp>
        <p:nvSpPr>
          <p:cNvPr id="3" name="Content Placeholder 2">
            <a:extLst>
              <a:ext uri="{FF2B5EF4-FFF2-40B4-BE49-F238E27FC236}">
                <a16:creationId xmlns:a16="http://schemas.microsoft.com/office/drawing/2014/main" id="{2744E6C8-D486-4530-9E60-D267F8C030F2}"/>
              </a:ext>
            </a:extLst>
          </p:cNvPr>
          <p:cNvSpPr>
            <a:spLocks noGrp="1"/>
          </p:cNvSpPr>
          <p:nvPr>
            <p:ph idx="1"/>
          </p:nvPr>
        </p:nvSpPr>
        <p:spPr>
          <a:xfrm>
            <a:off x="3607694" y="649480"/>
            <a:ext cx="4916510" cy="5546047"/>
          </a:xfrm>
        </p:spPr>
        <p:txBody>
          <a:bodyPr anchor="ctr">
            <a:normAutofit/>
          </a:bodyPr>
          <a:lstStyle/>
          <a:p>
            <a:r>
              <a:rPr lang="en-US" sz="2400" dirty="0"/>
              <a:t>Related to the old saying, “Ignorance is bliss.”</a:t>
            </a:r>
          </a:p>
          <a:p>
            <a:r>
              <a:rPr lang="en-US" sz="2400" dirty="0"/>
              <a:t>A number of studies have investigated the correlations between scores on IQ tests and happiness, typically finding no relationship (e.g., </a:t>
            </a:r>
            <a:r>
              <a:rPr lang="en-US" sz="2400" dirty="0" err="1"/>
              <a:t>Watten</a:t>
            </a:r>
            <a:r>
              <a:rPr lang="en-US" sz="2400" dirty="0"/>
              <a:t>, Myhrer, &amp; </a:t>
            </a:r>
            <a:r>
              <a:rPr lang="en-US" sz="2400" dirty="0" err="1"/>
              <a:t>Swersen</a:t>
            </a:r>
            <a:r>
              <a:rPr lang="en-US" sz="2400" dirty="0"/>
              <a:t>, 1995; Gow et al., 2005; Hartog, 1998).</a:t>
            </a:r>
          </a:p>
        </p:txBody>
      </p:sp>
    </p:spTree>
    <p:extLst>
      <p:ext uri="{BB962C8B-B14F-4D97-AF65-F5344CB8AC3E}">
        <p14:creationId xmlns:p14="http://schemas.microsoft.com/office/powerpoint/2010/main" val="205953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7" name="Rectangle 4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DD1436-D024-437F-8CEE-ADC41E9D50A6}"/>
              </a:ext>
            </a:extLst>
          </p:cNvPr>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Myth #2: You can’t do anything about your level of happiness</a:t>
            </a:r>
          </a:p>
        </p:txBody>
      </p:sp>
      <p:sp>
        <p:nvSpPr>
          <p:cNvPr id="4" name="Footer Placeholder 3">
            <a:extLst>
              <a:ext uri="{FF2B5EF4-FFF2-40B4-BE49-F238E27FC236}">
                <a16:creationId xmlns:a16="http://schemas.microsoft.com/office/drawing/2014/main" id="{DD68B367-8207-48A4-B271-5127DFE1C469}"/>
              </a:ext>
            </a:extLst>
          </p:cNvPr>
          <p:cNvSpPr>
            <a:spLocks noGrp="1"/>
          </p:cNvSpPr>
          <p:nvPr>
            <p:ph type="ftr" sz="quarter" idx="11"/>
          </p:nvPr>
        </p:nvSpPr>
        <p:spPr>
          <a:xfrm rot="5400000">
            <a:off x="-1371600" y="2002536"/>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a:t>
            </a:r>
            <a:br>
              <a:rPr lang="en-US" sz="900">
                <a:solidFill>
                  <a:srgbClr val="FFFFFF"/>
                </a:solidFill>
              </a:rPr>
            </a:br>
            <a:r>
              <a:rPr lang="en-US" sz="900">
                <a:solidFill>
                  <a:srgbClr val="FFFFFF"/>
                </a:solidFill>
              </a:rPr>
              <a:t>© Cambridge University Press 2021</a:t>
            </a:r>
          </a:p>
        </p:txBody>
      </p:sp>
      <p:sp>
        <p:nvSpPr>
          <p:cNvPr id="3" name="Content Placeholder 2">
            <a:extLst>
              <a:ext uri="{FF2B5EF4-FFF2-40B4-BE49-F238E27FC236}">
                <a16:creationId xmlns:a16="http://schemas.microsoft.com/office/drawing/2014/main" id="{2744E6C8-D486-4530-9E60-D267F8C030F2}"/>
              </a:ext>
            </a:extLst>
          </p:cNvPr>
          <p:cNvSpPr>
            <a:spLocks noGrp="1"/>
          </p:cNvSpPr>
          <p:nvPr>
            <p:ph idx="1"/>
          </p:nvPr>
        </p:nvSpPr>
        <p:spPr>
          <a:xfrm>
            <a:off x="3436295" y="649480"/>
            <a:ext cx="2268977" cy="5546047"/>
          </a:xfrm>
        </p:spPr>
        <p:txBody>
          <a:bodyPr anchor="ctr">
            <a:normAutofit/>
          </a:bodyPr>
          <a:lstStyle/>
          <a:p>
            <a:pPr marL="0" indent="0">
              <a:spcBef>
                <a:spcPts val="1200"/>
              </a:spcBef>
              <a:buNone/>
            </a:pPr>
            <a:r>
              <a:rPr lang="en-US" sz="2000" i="1" dirty="0"/>
              <a:t>Happiness Set Point</a:t>
            </a:r>
            <a:r>
              <a:rPr lang="en-US" sz="2000" dirty="0"/>
              <a:t>: A point to which people’s happiness returns after major life events. Not completely a myth.</a:t>
            </a:r>
          </a:p>
          <a:p>
            <a:pPr marL="0" indent="0">
              <a:spcBef>
                <a:spcPts val="1200"/>
              </a:spcBef>
              <a:buNone/>
            </a:pPr>
            <a:r>
              <a:rPr lang="en-US" sz="2000" dirty="0"/>
              <a:t>The set point is probably partially genetic. Studies of genetically identical twins and adopted siblings support the notion that happiness is at least partly heritable (see Bartels, 2015).</a:t>
            </a:r>
          </a:p>
        </p:txBody>
      </p:sp>
      <p:pic>
        <p:nvPicPr>
          <p:cNvPr id="5" name="Picture 4">
            <a:extLst>
              <a:ext uri="{FF2B5EF4-FFF2-40B4-BE49-F238E27FC236}">
                <a16:creationId xmlns:a16="http://schemas.microsoft.com/office/drawing/2014/main" id="{017F1557-8D52-4A5C-BC88-CC5B634398B5}"/>
              </a:ext>
            </a:extLst>
          </p:cNvPr>
          <p:cNvPicPr>
            <a:picLocks noChangeAspect="1"/>
          </p:cNvPicPr>
          <p:nvPr/>
        </p:nvPicPr>
        <p:blipFill>
          <a:blip r:embed="rId2"/>
          <a:stretch>
            <a:fillRect/>
          </a:stretch>
        </p:blipFill>
        <p:spPr>
          <a:xfrm>
            <a:off x="6082126" y="2079023"/>
            <a:ext cx="2711832" cy="2711832"/>
          </a:xfrm>
          <a:prstGeom prst="rect">
            <a:avLst/>
          </a:prstGeom>
        </p:spPr>
      </p:pic>
    </p:spTree>
    <p:extLst>
      <p:ext uri="{BB962C8B-B14F-4D97-AF65-F5344CB8AC3E}">
        <p14:creationId xmlns:p14="http://schemas.microsoft.com/office/powerpoint/2010/main" val="41661249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DD1436-D024-437F-8CEE-ADC41E9D50A6}"/>
              </a:ext>
            </a:extLst>
          </p:cNvPr>
          <p:cNvSpPr>
            <a:spLocks noGrp="1"/>
          </p:cNvSpPr>
          <p:nvPr>
            <p:ph type="title"/>
          </p:nvPr>
        </p:nvSpPr>
        <p:spPr>
          <a:xfrm>
            <a:off x="350041" y="586855"/>
            <a:ext cx="2401025" cy="3387497"/>
          </a:xfrm>
        </p:spPr>
        <p:txBody>
          <a:bodyPr anchor="b">
            <a:normAutofit/>
          </a:bodyPr>
          <a:lstStyle/>
          <a:p>
            <a:pPr algn="r"/>
            <a:r>
              <a:rPr lang="en-US" sz="3500" dirty="0">
                <a:solidFill>
                  <a:srgbClr val="FFFFFF"/>
                </a:solidFill>
              </a:rPr>
              <a:t>Myth #2: You can’t do anything about your level of happiness</a:t>
            </a:r>
          </a:p>
        </p:txBody>
      </p:sp>
      <p:sp>
        <p:nvSpPr>
          <p:cNvPr id="4" name="Footer Placeholder 3">
            <a:extLst>
              <a:ext uri="{FF2B5EF4-FFF2-40B4-BE49-F238E27FC236}">
                <a16:creationId xmlns:a16="http://schemas.microsoft.com/office/drawing/2014/main" id="{DD68B367-8207-48A4-B271-5127DFE1C469}"/>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a:t>
            </a:r>
            <a:br>
              <a:rPr lang="en-US" sz="900">
                <a:solidFill>
                  <a:srgbClr val="FFFFFF"/>
                </a:solidFill>
              </a:rPr>
            </a:br>
            <a:r>
              <a:rPr lang="en-US" sz="900">
                <a:solidFill>
                  <a:srgbClr val="FFFFFF"/>
                </a:solidFill>
              </a:rPr>
              <a:t>© Cambridge University Press 2021</a:t>
            </a:r>
          </a:p>
        </p:txBody>
      </p:sp>
      <p:sp>
        <p:nvSpPr>
          <p:cNvPr id="3" name="Content Placeholder 2">
            <a:extLst>
              <a:ext uri="{FF2B5EF4-FFF2-40B4-BE49-F238E27FC236}">
                <a16:creationId xmlns:a16="http://schemas.microsoft.com/office/drawing/2014/main" id="{2744E6C8-D486-4530-9E60-D267F8C030F2}"/>
              </a:ext>
            </a:extLst>
          </p:cNvPr>
          <p:cNvSpPr>
            <a:spLocks noGrp="1"/>
          </p:cNvSpPr>
          <p:nvPr>
            <p:ph idx="1"/>
          </p:nvPr>
        </p:nvSpPr>
        <p:spPr>
          <a:xfrm>
            <a:off x="3607694" y="649480"/>
            <a:ext cx="4916510" cy="5546047"/>
          </a:xfrm>
        </p:spPr>
        <p:txBody>
          <a:bodyPr anchor="ctr">
            <a:normAutofit/>
          </a:bodyPr>
          <a:lstStyle/>
          <a:p>
            <a:pPr marL="0" indent="0">
              <a:spcBef>
                <a:spcPts val="1200"/>
              </a:spcBef>
              <a:buNone/>
            </a:pPr>
            <a:r>
              <a:rPr lang="en-US" sz="2000" dirty="0"/>
              <a:t>Implications of the happiness set point: </a:t>
            </a:r>
          </a:p>
          <a:p>
            <a:pPr lvl="1">
              <a:spcBef>
                <a:spcPts val="600"/>
              </a:spcBef>
            </a:pPr>
            <a:r>
              <a:rPr lang="en-US" sz="2000" dirty="0"/>
              <a:t>Positive implication: People aren’t generally as affected in the long term by negative events as one might expect. </a:t>
            </a:r>
          </a:p>
          <a:p>
            <a:pPr lvl="1">
              <a:spcBef>
                <a:spcPts val="600"/>
              </a:spcBef>
            </a:pPr>
            <a:r>
              <a:rPr lang="en-US" sz="2000" dirty="0"/>
              <a:t>Negative implication: Although we can strive to obtain accomplishments, objects, and experiences, this is a never-ending quest, given that the positive emotions from these outcomes rarely stick around long. Psychologists refer to this as being on a </a:t>
            </a:r>
            <a:r>
              <a:rPr lang="en-US" sz="2000" i="1" dirty="0"/>
              <a:t>hedonic treadmill</a:t>
            </a:r>
            <a:r>
              <a:rPr lang="en-US" sz="2000" dirty="0"/>
              <a:t> (Brickman &amp; Campbell, 1971).</a:t>
            </a:r>
          </a:p>
        </p:txBody>
      </p:sp>
    </p:spTree>
    <p:extLst>
      <p:ext uri="{BB962C8B-B14F-4D97-AF65-F5344CB8AC3E}">
        <p14:creationId xmlns:p14="http://schemas.microsoft.com/office/powerpoint/2010/main" val="3673376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1436-D024-437F-8CEE-ADC41E9D50A6}"/>
              </a:ext>
            </a:extLst>
          </p:cNvPr>
          <p:cNvSpPr>
            <a:spLocks noGrp="1"/>
          </p:cNvSpPr>
          <p:nvPr>
            <p:ph type="title"/>
          </p:nvPr>
        </p:nvSpPr>
        <p:spPr/>
        <p:txBody>
          <a:bodyPr>
            <a:normAutofit/>
          </a:bodyPr>
          <a:lstStyle/>
          <a:p>
            <a:r>
              <a:rPr lang="en-US" sz="3800" dirty="0"/>
              <a:t>Myth #2: You can’t do anything about your level of happiness</a:t>
            </a:r>
          </a:p>
        </p:txBody>
      </p:sp>
      <p:sp>
        <p:nvSpPr>
          <p:cNvPr id="4" name="Footer Placeholder 3">
            <a:extLst>
              <a:ext uri="{FF2B5EF4-FFF2-40B4-BE49-F238E27FC236}">
                <a16:creationId xmlns:a16="http://schemas.microsoft.com/office/drawing/2014/main" id="{DD68B367-8207-48A4-B271-5127DFE1C469}"/>
              </a:ext>
            </a:extLst>
          </p:cNvPr>
          <p:cNvSpPr>
            <a:spLocks noGrp="1"/>
          </p:cNvSpPr>
          <p:nvPr>
            <p:ph type="ftr" sz="quarter" idx="11"/>
          </p:nvPr>
        </p:nvSpPr>
        <p:spPr>
          <a:xfrm>
            <a:off x="2002155" y="6354798"/>
            <a:ext cx="5139690" cy="461665"/>
          </a:xfrm>
        </p:spPr>
        <p:txBody>
          <a:bodyPr/>
          <a:lstStyle/>
          <a:p>
            <a:r>
              <a:rPr lang="en-US" dirty="0"/>
              <a:t>The Science and Application of Positive Psychology </a:t>
            </a:r>
            <a:br>
              <a:rPr lang="en-US" dirty="0"/>
            </a:br>
            <a:r>
              <a:rPr lang="en-US" dirty="0"/>
              <a:t>© Cambridge University Press 2021</a:t>
            </a:r>
          </a:p>
        </p:txBody>
      </p:sp>
      <p:pic>
        <p:nvPicPr>
          <p:cNvPr id="7" name="Picture 6" descr="A picture containing device&#10;&#10;Description automatically generated">
            <a:extLst>
              <a:ext uri="{FF2B5EF4-FFF2-40B4-BE49-F238E27FC236}">
                <a16:creationId xmlns:a16="http://schemas.microsoft.com/office/drawing/2014/main" id="{3EA3E579-BB78-4843-887F-79C3A6DBBD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7041" y="2139174"/>
            <a:ext cx="7357316" cy="4142420"/>
          </a:xfrm>
          <a:prstGeom prst="rect">
            <a:avLst/>
          </a:prstGeom>
        </p:spPr>
      </p:pic>
      <p:sp>
        <p:nvSpPr>
          <p:cNvPr id="8" name="TextBox 7">
            <a:extLst>
              <a:ext uri="{FF2B5EF4-FFF2-40B4-BE49-F238E27FC236}">
                <a16:creationId xmlns:a16="http://schemas.microsoft.com/office/drawing/2014/main" id="{5A581DF7-97FA-4E44-95C4-05F25BADE3FB}"/>
              </a:ext>
            </a:extLst>
          </p:cNvPr>
          <p:cNvSpPr txBox="1"/>
          <p:nvPr/>
        </p:nvSpPr>
        <p:spPr>
          <a:xfrm>
            <a:off x="3565683" y="1885058"/>
            <a:ext cx="1922321" cy="369332"/>
          </a:xfrm>
          <a:prstGeom prst="rect">
            <a:avLst/>
          </a:prstGeom>
          <a:noFill/>
        </p:spPr>
        <p:txBody>
          <a:bodyPr wrap="none" rtlCol="0">
            <a:spAutoFit/>
          </a:bodyPr>
          <a:lstStyle/>
          <a:p>
            <a:r>
              <a:rPr lang="en-US" b="1" dirty="0"/>
              <a:t>The Happiness Pie</a:t>
            </a:r>
          </a:p>
        </p:txBody>
      </p:sp>
    </p:spTree>
    <p:extLst>
      <p:ext uri="{BB962C8B-B14F-4D97-AF65-F5344CB8AC3E}">
        <p14:creationId xmlns:p14="http://schemas.microsoft.com/office/powerpoint/2010/main" val="520911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60" y="321731"/>
            <a:ext cx="3106572" cy="6213425"/>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93192" y="583616"/>
            <a:ext cx="2791605" cy="5520579"/>
          </a:xfrm>
        </p:spPr>
        <p:txBody>
          <a:bodyPr>
            <a:normAutofit/>
          </a:bodyPr>
          <a:lstStyle/>
          <a:p>
            <a:r>
              <a:rPr lang="en-US" dirty="0">
                <a:solidFill>
                  <a:srgbClr val="FFFFFF"/>
                </a:solidFill>
              </a:rPr>
              <a:t>Well-Being Journal Entry #5: </a:t>
            </a:r>
            <a:br>
              <a:rPr lang="en-US" dirty="0">
                <a:solidFill>
                  <a:srgbClr val="FFFFFF"/>
                </a:solidFill>
              </a:rPr>
            </a:br>
            <a:r>
              <a:rPr lang="en-US" dirty="0">
                <a:solidFill>
                  <a:srgbClr val="FFFFFF"/>
                </a:solidFill>
              </a:rPr>
              <a:t>Consider Your Piece of the Pie </a:t>
            </a:r>
          </a:p>
        </p:txBody>
      </p:sp>
      <p:sp>
        <p:nvSpPr>
          <p:cNvPr id="4" name="Footer Placeholder 3"/>
          <p:cNvSpPr>
            <a:spLocks noGrp="1"/>
          </p:cNvSpPr>
          <p:nvPr>
            <p:ph type="ftr" sz="quarter" idx="11"/>
          </p:nvPr>
        </p:nvSpPr>
        <p:spPr>
          <a:xfrm>
            <a:off x="3700702" y="6535157"/>
            <a:ext cx="4009742" cy="274320"/>
          </a:xfrm>
        </p:spPr>
        <p:txBody>
          <a:bodyPr>
            <a:normAutofit/>
          </a:bodyPr>
          <a:lstStyle/>
          <a:p>
            <a:pPr algn="l">
              <a:spcAft>
                <a:spcPts val="600"/>
              </a:spcAft>
            </a:pPr>
            <a:r>
              <a:rPr lang="en-US" sz="900">
                <a:solidFill>
                  <a:schemeClr val="tx1">
                    <a:lumMod val="50000"/>
                    <a:lumOff val="50000"/>
                  </a:schemeClr>
                </a:solidFill>
              </a:rPr>
              <a:t>The Science of Positive Psychology © Cambridge University Press 2021</a:t>
            </a:r>
          </a:p>
        </p:txBody>
      </p:sp>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2127" y="321732"/>
            <a:ext cx="5430574"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3700701" y="583616"/>
            <a:ext cx="4945642" cy="5520579"/>
          </a:xfrm>
        </p:spPr>
        <p:txBody>
          <a:bodyPr anchor="ctr">
            <a:normAutofit/>
          </a:bodyPr>
          <a:lstStyle/>
          <a:p>
            <a:pPr marL="0" lvl="0" indent="0">
              <a:buNone/>
            </a:pPr>
            <a:r>
              <a:rPr lang="en-US" dirty="0">
                <a:solidFill>
                  <a:srgbClr val="FFFFFF"/>
                </a:solidFill>
              </a:rPr>
              <a:t>40% of what accounts for happiness is potentially controllable by changing our attitudes and behaviors. There are, of course, many factors in peoples’ lives they can’t control. Take a few minutes to write down a few things you can’t control and a few things you can control, that might have an influence on your happiness. </a:t>
            </a:r>
          </a:p>
        </p:txBody>
      </p:sp>
    </p:spTree>
    <p:extLst>
      <p:ext uri="{BB962C8B-B14F-4D97-AF65-F5344CB8AC3E}">
        <p14:creationId xmlns:p14="http://schemas.microsoft.com/office/powerpoint/2010/main" val="20658359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5660" y="321731"/>
            <a:ext cx="3106572" cy="6213425"/>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393192" y="583616"/>
            <a:ext cx="2791605" cy="5520579"/>
          </a:xfrm>
        </p:spPr>
        <p:txBody>
          <a:bodyPr>
            <a:normAutofit/>
          </a:bodyPr>
          <a:lstStyle/>
          <a:p>
            <a:r>
              <a:rPr lang="en-US">
                <a:solidFill>
                  <a:srgbClr val="FFFFFF"/>
                </a:solidFill>
              </a:rPr>
              <a:t>Consider Your Piece of the Pie </a:t>
            </a:r>
            <a:r>
              <a:rPr lang="en-US" i="1">
                <a:solidFill>
                  <a:srgbClr val="FFFFFF"/>
                </a:solidFill>
              </a:rPr>
              <a:t>Challenge</a:t>
            </a:r>
          </a:p>
        </p:txBody>
      </p:sp>
      <p:sp>
        <p:nvSpPr>
          <p:cNvPr id="4" name="Footer Placeholder 3"/>
          <p:cNvSpPr>
            <a:spLocks noGrp="1"/>
          </p:cNvSpPr>
          <p:nvPr>
            <p:ph type="ftr" sz="quarter" idx="11"/>
          </p:nvPr>
        </p:nvSpPr>
        <p:spPr>
          <a:xfrm>
            <a:off x="3700702" y="6535157"/>
            <a:ext cx="4009742" cy="274320"/>
          </a:xfrm>
        </p:spPr>
        <p:txBody>
          <a:bodyPr>
            <a:normAutofit/>
          </a:bodyPr>
          <a:lstStyle/>
          <a:p>
            <a:pPr algn="l">
              <a:spcAft>
                <a:spcPts val="600"/>
              </a:spcAft>
            </a:pPr>
            <a:r>
              <a:rPr lang="en-US" sz="900">
                <a:solidFill>
                  <a:schemeClr val="tx1">
                    <a:lumMod val="50000"/>
                    <a:lumOff val="50000"/>
                  </a:schemeClr>
                </a:solidFill>
              </a:rPr>
              <a:t>The Science of Positive Psychology © Cambridge University Press 2021</a:t>
            </a:r>
          </a:p>
        </p:txBody>
      </p:sp>
      <p:sp>
        <p:nvSpPr>
          <p:cNvPr id="11" name="Rectangle 10">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2127" y="321732"/>
            <a:ext cx="5430574" cy="6214534"/>
          </a:xfrm>
          <a:prstGeom prst="rect">
            <a:avLst/>
          </a:pr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3700701" y="583616"/>
            <a:ext cx="4945642" cy="5520579"/>
          </a:xfrm>
        </p:spPr>
        <p:txBody>
          <a:bodyPr anchor="ctr">
            <a:normAutofit/>
          </a:bodyPr>
          <a:lstStyle/>
          <a:p>
            <a:r>
              <a:rPr lang="en-US" sz="2400">
                <a:solidFill>
                  <a:srgbClr val="FFFFFF"/>
                </a:solidFill>
              </a:rPr>
              <a:t>Choose one or more of these practices that you can control to impact your happiness and try it for a week. Consider whether it’s something you could benefit from practicing a few times throughout the week or whether it could have an impact if done only once. Then add to your journal about what happened to your level of happiness as a result.</a:t>
            </a:r>
          </a:p>
          <a:p>
            <a:r>
              <a:rPr lang="en-US" sz="2400">
                <a:solidFill>
                  <a:srgbClr val="FFFFFF"/>
                </a:solidFill>
              </a:rPr>
              <a:t>Extended challenge: Continue throughout the semester and reflect again at the end of the semester and add that to your journal too</a:t>
            </a:r>
          </a:p>
        </p:txBody>
      </p:sp>
    </p:spTree>
    <p:extLst>
      <p:ext uri="{BB962C8B-B14F-4D97-AF65-F5344CB8AC3E}">
        <p14:creationId xmlns:p14="http://schemas.microsoft.com/office/powerpoint/2010/main" val="3279162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0BDD1436-D024-437F-8CEE-ADC41E9D50A6}"/>
              </a:ext>
            </a:extLst>
          </p:cNvPr>
          <p:cNvSpPr>
            <a:spLocks noGrp="1"/>
          </p:cNvSpPr>
          <p:nvPr>
            <p:ph type="title"/>
          </p:nvPr>
        </p:nvSpPr>
        <p:spPr>
          <a:xfrm>
            <a:off x="582930" y="731519"/>
            <a:ext cx="2133893" cy="3237579"/>
          </a:xfrm>
        </p:spPr>
        <p:txBody>
          <a:bodyPr>
            <a:normAutofit/>
          </a:bodyPr>
          <a:lstStyle/>
          <a:p>
            <a:r>
              <a:rPr lang="en-US" sz="3100" dirty="0">
                <a:solidFill>
                  <a:srgbClr val="FFFFFF"/>
                </a:solidFill>
              </a:rPr>
              <a:t>Myth #3: Positive psychology is only about being happy</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44E6C8-D486-4530-9E60-D267F8C030F2}"/>
              </a:ext>
            </a:extLst>
          </p:cNvPr>
          <p:cNvSpPr>
            <a:spLocks noGrp="1"/>
          </p:cNvSpPr>
          <p:nvPr>
            <p:ph idx="1"/>
          </p:nvPr>
        </p:nvSpPr>
        <p:spPr>
          <a:xfrm>
            <a:off x="3284781" y="1355834"/>
            <a:ext cx="5278194" cy="4806157"/>
          </a:xfrm>
        </p:spPr>
        <p:txBody>
          <a:bodyPr anchor="ctr">
            <a:normAutofit lnSpcReduction="10000"/>
          </a:bodyPr>
          <a:lstStyle/>
          <a:p>
            <a:r>
              <a:rPr lang="en-US" sz="1800" dirty="0"/>
              <a:t>Not everything that is “positive” in pleasurable.</a:t>
            </a:r>
          </a:p>
          <a:p>
            <a:r>
              <a:rPr lang="en-US" sz="1800" dirty="0"/>
              <a:t>Hedonic vs. </a:t>
            </a:r>
            <a:r>
              <a:rPr lang="en-US" sz="1800" dirty="0" err="1"/>
              <a:t>eudaimonic</a:t>
            </a:r>
            <a:r>
              <a:rPr lang="en-US" sz="1800" dirty="0"/>
              <a:t> well-being.</a:t>
            </a:r>
          </a:p>
          <a:p>
            <a:r>
              <a:rPr lang="en-US" sz="1800" dirty="0"/>
              <a:t>Even negative emotions can potentially be helpful.</a:t>
            </a:r>
          </a:p>
          <a:p>
            <a:pPr lvl="1"/>
            <a:r>
              <a:rPr lang="en-US" sz="1800" dirty="0"/>
              <a:t>Important study (</a:t>
            </a:r>
            <a:r>
              <a:rPr lang="en-US" sz="1800" dirty="0" err="1"/>
              <a:t>Forgas</a:t>
            </a:r>
            <a:r>
              <a:rPr lang="en-US" sz="1800" dirty="0"/>
              <a:t> &amp; East, 2008): Experimenters asked participants to play the role of a seller, negotiating with a buyer. Their task was to sell a batch of mobile phones to the buyer (who was actually an actor) at the highest price. Part-way through the experiment, some participants were led to believe that the buyer was angry with them, whereas others were led to believe that the buyer felt happy. The results showed that participants who believed they were dealing with an angry buyer offered their cell phones at more than a 30 percent discount over participants who thought they were dealing with a happy buyer, indicating that anger acted as a benefit, at least for the buyer. </a:t>
            </a:r>
          </a:p>
          <a:p>
            <a:endParaRPr lang="en-US" sz="1800" dirty="0"/>
          </a:p>
          <a:p>
            <a:endParaRPr lang="en-US" sz="1800" dirty="0"/>
          </a:p>
          <a:p>
            <a:endParaRPr lang="en-US" sz="1800" dirty="0"/>
          </a:p>
        </p:txBody>
      </p:sp>
      <p:sp>
        <p:nvSpPr>
          <p:cNvPr id="4" name="Footer Placeholder 3">
            <a:extLst>
              <a:ext uri="{FF2B5EF4-FFF2-40B4-BE49-F238E27FC236}">
                <a16:creationId xmlns:a16="http://schemas.microsoft.com/office/drawing/2014/main" id="{DD68B367-8207-48A4-B271-5127DFE1C469}"/>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spTree>
    <p:extLst>
      <p:ext uri="{BB962C8B-B14F-4D97-AF65-F5344CB8AC3E}">
        <p14:creationId xmlns:p14="http://schemas.microsoft.com/office/powerpoint/2010/main" val="3137603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0BDD1436-D024-437F-8CEE-ADC41E9D50A6}"/>
              </a:ext>
            </a:extLst>
          </p:cNvPr>
          <p:cNvSpPr>
            <a:spLocks noGrp="1"/>
          </p:cNvSpPr>
          <p:nvPr>
            <p:ph type="title"/>
          </p:nvPr>
        </p:nvSpPr>
        <p:spPr>
          <a:xfrm>
            <a:off x="582930" y="731519"/>
            <a:ext cx="2133893" cy="3237579"/>
          </a:xfrm>
        </p:spPr>
        <p:txBody>
          <a:bodyPr>
            <a:normAutofit/>
          </a:bodyPr>
          <a:lstStyle/>
          <a:p>
            <a:r>
              <a:rPr lang="en-US" sz="3300" dirty="0">
                <a:solidFill>
                  <a:srgbClr val="FFFFFF"/>
                </a:solidFill>
              </a:rPr>
              <a:t>Myth #4: Positive psychology is only for the privileged</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744E6C8-D486-4530-9E60-D267F8C030F2}"/>
              </a:ext>
            </a:extLst>
          </p:cNvPr>
          <p:cNvSpPr>
            <a:spLocks noGrp="1"/>
          </p:cNvSpPr>
          <p:nvPr>
            <p:ph idx="1"/>
          </p:nvPr>
        </p:nvSpPr>
        <p:spPr>
          <a:xfrm>
            <a:off x="3284781" y="686862"/>
            <a:ext cx="5278194" cy="5475129"/>
          </a:xfrm>
        </p:spPr>
        <p:txBody>
          <a:bodyPr anchor="ctr">
            <a:normAutofit/>
          </a:bodyPr>
          <a:lstStyle/>
          <a:p>
            <a:r>
              <a:rPr lang="en-US" sz="1600"/>
              <a:t>Consistent with this idea, research shows that people who lack basic resources and freedoms are often less happy than those who are afforded these advantages. For instance, people are generally happier in nations that provide higher levels of freedom (Rahman &amp; Veenhoven, 2018).</a:t>
            </a:r>
          </a:p>
          <a:p>
            <a:r>
              <a:rPr lang="en-US" sz="1600"/>
              <a:t>Nonetheless, this idea probably isn’t completely true.</a:t>
            </a:r>
          </a:p>
          <a:p>
            <a:pPr lvl="1"/>
            <a:r>
              <a:rPr lang="en-US" sz="1600"/>
              <a:t>In all parts of the world, people strive for and have positive emotions and experiences, and under a surprisingly wide variety of circumstances, including some very difficult ones. </a:t>
            </a:r>
          </a:p>
          <a:p>
            <a:pPr lvl="1"/>
            <a:r>
              <a:rPr lang="en-US" sz="1600"/>
              <a:t>Example: As the world experienced the COVID-19 pandemic, huge numbers of people faced financial insecurity, fear of infection, and the loss of loved ones. Although it will be a while until we have enough solid research to truly understand the psychological impacts of this period, people nonetheless continued to build community (O’Sullivan, 2020), experience gratitude (Law, 2020), set new goals (Brough, 2020), and even laugh (McTague, 2020).</a:t>
            </a:r>
          </a:p>
          <a:p>
            <a:endParaRPr lang="en-US" sz="1600"/>
          </a:p>
        </p:txBody>
      </p:sp>
      <p:sp>
        <p:nvSpPr>
          <p:cNvPr id="4" name="Footer Placeholder 3">
            <a:extLst>
              <a:ext uri="{FF2B5EF4-FFF2-40B4-BE49-F238E27FC236}">
                <a16:creationId xmlns:a16="http://schemas.microsoft.com/office/drawing/2014/main" id="{DD68B367-8207-48A4-B271-5127DFE1C469}"/>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spTree>
    <p:extLst>
      <p:ext uri="{BB962C8B-B14F-4D97-AF65-F5344CB8AC3E}">
        <p14:creationId xmlns:p14="http://schemas.microsoft.com/office/powerpoint/2010/main" val="38805396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EA555F5-3AD1-4F41-B322-8B9661A940DD}"/>
              </a:ext>
            </a:extLst>
          </p:cNvPr>
          <p:cNvSpPr>
            <a:spLocks noGrp="1"/>
          </p:cNvSpPr>
          <p:nvPr>
            <p:ph type="title"/>
          </p:nvPr>
        </p:nvSpPr>
        <p:spPr>
          <a:xfrm>
            <a:off x="582930" y="731519"/>
            <a:ext cx="2133893" cy="3237579"/>
          </a:xfrm>
        </p:spPr>
        <p:txBody>
          <a:bodyPr>
            <a:normAutofit/>
          </a:bodyPr>
          <a:lstStyle/>
          <a:p>
            <a:r>
              <a:rPr lang="en-US" sz="3300">
                <a:solidFill>
                  <a:srgbClr val="FFFFFF"/>
                </a:solidFill>
              </a:rPr>
              <a:t>Culture and the Science of Positive Psychology</a:t>
            </a: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3" name="Rectangle 12">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D7ED35-D335-4FED-B445-6377734134DA}"/>
              </a:ext>
            </a:extLst>
          </p:cNvPr>
          <p:cNvSpPr>
            <a:spLocks noGrp="1"/>
          </p:cNvSpPr>
          <p:nvPr>
            <p:ph idx="1"/>
          </p:nvPr>
        </p:nvSpPr>
        <p:spPr>
          <a:xfrm>
            <a:off x="3284781" y="686862"/>
            <a:ext cx="5278194" cy="5475129"/>
          </a:xfrm>
        </p:spPr>
        <p:txBody>
          <a:bodyPr anchor="ctr">
            <a:normAutofit/>
          </a:bodyPr>
          <a:lstStyle/>
          <a:p>
            <a:r>
              <a:rPr lang="en-US" sz="2400" dirty="0"/>
              <a:t>Research shows that the levels of happiness reported by individuals of marginalized racial and ethnic groups are lower, on average, than for White individuals. </a:t>
            </a:r>
          </a:p>
          <a:p>
            <a:r>
              <a:rPr lang="en-US" sz="2400" dirty="0"/>
              <a:t>Known as the </a:t>
            </a:r>
            <a:r>
              <a:rPr lang="en-US" sz="2400" i="1" dirty="0"/>
              <a:t>happiness gap</a:t>
            </a:r>
            <a:r>
              <a:rPr lang="en-US" sz="2400" dirty="0"/>
              <a:t>.</a:t>
            </a:r>
          </a:p>
          <a:p>
            <a:r>
              <a:rPr lang="en-US" sz="2400" dirty="0"/>
              <a:t>It’s one of many racial disparities that exist in the United States, including disparities in income and wealth, life expectancy, and education.</a:t>
            </a:r>
          </a:p>
        </p:txBody>
      </p:sp>
      <p:sp>
        <p:nvSpPr>
          <p:cNvPr id="4" name="Footer Placeholder 3">
            <a:extLst>
              <a:ext uri="{FF2B5EF4-FFF2-40B4-BE49-F238E27FC236}">
                <a16:creationId xmlns:a16="http://schemas.microsoft.com/office/drawing/2014/main" id="{F80E52BF-D622-4414-A373-C8B7FDF37840}"/>
              </a:ext>
            </a:extLst>
          </p:cNvPr>
          <p:cNvSpPr>
            <a:spLocks noGrp="1"/>
          </p:cNvSpPr>
          <p:nvPr>
            <p:ph type="ftr" sz="quarter" idx="11"/>
          </p:nvPr>
        </p:nvSpPr>
        <p:spPr>
          <a:xfrm>
            <a:off x="346543" y="6407779"/>
            <a:ext cx="5006340" cy="365125"/>
          </a:xfrm>
        </p:spPr>
        <p:txBody>
          <a:bodyPr>
            <a:normAutofit/>
          </a:bodyPr>
          <a:lstStyle/>
          <a:p>
            <a:pPr algn="l">
              <a:lnSpc>
                <a:spcPct val="90000"/>
              </a:lnSpc>
              <a:spcAft>
                <a:spcPts val="600"/>
              </a:spcAft>
            </a:pPr>
            <a:r>
              <a:rPr lang="en-US" sz="900">
                <a:solidFill>
                  <a:schemeClr val="tx1">
                    <a:lumMod val="50000"/>
                    <a:lumOff val="50000"/>
                  </a:schemeClr>
                </a:solidFill>
              </a:rPr>
              <a:t>The Science and Application of Positive Psychology </a:t>
            </a:r>
            <a:br>
              <a:rPr lang="en-US" sz="900">
                <a:solidFill>
                  <a:schemeClr val="tx1">
                    <a:lumMod val="50000"/>
                    <a:lumOff val="50000"/>
                  </a:schemeClr>
                </a:solidFill>
              </a:rPr>
            </a:br>
            <a:r>
              <a:rPr lang="en-US" sz="900">
                <a:solidFill>
                  <a:schemeClr val="tx1">
                    <a:lumMod val="50000"/>
                    <a:lumOff val="50000"/>
                  </a:schemeClr>
                </a:solidFill>
              </a:rPr>
              <a:t>© Cambridge University Press 2021</a:t>
            </a:r>
          </a:p>
        </p:txBody>
      </p:sp>
    </p:spTree>
    <p:extLst>
      <p:ext uri="{BB962C8B-B14F-4D97-AF65-F5344CB8AC3E}">
        <p14:creationId xmlns:p14="http://schemas.microsoft.com/office/powerpoint/2010/main" val="630239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3284781" y="686862"/>
            <a:ext cx="5278194" cy="54751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normAutofit fontScale="77500" lnSpcReduction="20000"/>
          </a:bodyPr>
          <a:lstStyle/>
          <a:p>
            <a:pPr algn="ctr" defTabSz="914400">
              <a:lnSpc>
                <a:spcPct val="90000"/>
              </a:lnSpc>
              <a:spcAft>
                <a:spcPts val="600"/>
              </a:spcAft>
            </a:pPr>
            <a:r>
              <a:rPr lang="en-US" sz="3600" dirty="0">
                <a:solidFill>
                  <a:schemeClr val="tx1"/>
                </a:solidFill>
              </a:rPr>
              <a:t>Which of these myths did you come into the course believing and why?</a:t>
            </a:r>
          </a:p>
          <a:p>
            <a:pPr algn="ctr" defTabSz="914400">
              <a:lnSpc>
                <a:spcPct val="90000"/>
              </a:lnSpc>
              <a:spcAft>
                <a:spcPts val="600"/>
              </a:spcAft>
            </a:pPr>
            <a:r>
              <a:rPr lang="en-US" sz="3600" dirty="0">
                <a:solidFill>
                  <a:srgbClr val="FFFFFF"/>
                </a:solidFill>
              </a:rPr>
              <a:t>Myth #1: Only stupid people are happy</a:t>
            </a:r>
          </a:p>
          <a:p>
            <a:pPr algn="ctr" defTabSz="914400">
              <a:lnSpc>
                <a:spcPct val="90000"/>
              </a:lnSpc>
              <a:spcAft>
                <a:spcPts val="600"/>
              </a:spcAft>
            </a:pPr>
            <a:r>
              <a:rPr lang="en-US" sz="3600" dirty="0">
                <a:solidFill>
                  <a:srgbClr val="FFFFFF"/>
                </a:solidFill>
              </a:rPr>
              <a:t>Myth #2: You can’t do anything about your level of happiness</a:t>
            </a:r>
          </a:p>
          <a:p>
            <a:pPr algn="ctr" defTabSz="914400">
              <a:lnSpc>
                <a:spcPct val="90000"/>
              </a:lnSpc>
              <a:spcAft>
                <a:spcPts val="600"/>
              </a:spcAft>
            </a:pPr>
            <a:r>
              <a:rPr lang="en-US" sz="3600" dirty="0">
                <a:solidFill>
                  <a:srgbClr val="FFFFFF"/>
                </a:solidFill>
              </a:rPr>
              <a:t>Myth #3: Positive psychology is only about being happy</a:t>
            </a:r>
          </a:p>
          <a:p>
            <a:pPr algn="ctr" defTabSz="914400">
              <a:lnSpc>
                <a:spcPct val="90000"/>
              </a:lnSpc>
              <a:spcAft>
                <a:spcPts val="600"/>
              </a:spcAft>
            </a:pPr>
            <a:r>
              <a:rPr lang="en-US" sz="3600" dirty="0">
                <a:solidFill>
                  <a:srgbClr val="FFFFFF"/>
                </a:solidFill>
              </a:rPr>
              <a:t>Myth #4: Positive psychology is only for the privileged</a:t>
            </a:r>
            <a:endParaRPr lang="en-US" sz="3600" dirty="0">
              <a:solidFill>
                <a:schemeClr val="tx1"/>
              </a:solidFill>
            </a:endParaRPr>
          </a:p>
          <a:p>
            <a:pPr algn="ctr" defTabSz="914400">
              <a:lnSpc>
                <a:spcPct val="90000"/>
              </a:lnSpc>
              <a:spcAft>
                <a:spcPts val="600"/>
              </a:spcAft>
            </a:pPr>
            <a:endParaRPr lang="en-US" sz="3600" dirty="0">
              <a:solidFill>
                <a:schemeClr val="tx1"/>
              </a:solidFill>
            </a:endParaRPr>
          </a:p>
          <a:p>
            <a:pPr algn="ctr" defTabSz="914400">
              <a:lnSpc>
                <a:spcPct val="90000"/>
              </a:lnSpc>
              <a:spcAft>
                <a:spcPts val="600"/>
              </a:spcAft>
            </a:pPr>
            <a:endParaRPr lang="en-US" sz="3600" dirty="0">
              <a:solidFill>
                <a:schemeClr val="tx1"/>
              </a:solidFill>
            </a:endParaRPr>
          </a:p>
        </p:txBody>
      </p:sp>
      <p:sp>
        <p:nvSpPr>
          <p:cNvPr id="4" name="Footer Placeholder 3"/>
          <p:cNvSpPr>
            <a:spLocks noGrp="1"/>
          </p:cNvSpPr>
          <p:nvPr>
            <p:ph type="ftr" sz="quarter" idx="11"/>
          </p:nvPr>
        </p:nvSpPr>
        <p:spPr>
          <a:xfrm>
            <a:off x="346543" y="6407779"/>
            <a:ext cx="5006340" cy="365125"/>
          </a:xfrm>
        </p:spPr>
        <p:txBody>
          <a:bodyPr vert="horz" lIns="91440" tIns="45720" rIns="91440" bIns="45720" rtlCol="0" anchor="ctr">
            <a:normAutofit/>
          </a:bodyPr>
          <a:lstStyle/>
          <a:p>
            <a:pPr algn="l" defTabSz="914400">
              <a:spcAft>
                <a:spcPts val="600"/>
              </a:spcAft>
            </a:pPr>
            <a:r>
              <a:rPr lang="en-US" sz="900" kern="1200">
                <a:solidFill>
                  <a:schemeClr val="tx1">
                    <a:lumMod val="50000"/>
                    <a:lumOff val="50000"/>
                  </a:schemeClr>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2248836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A555F5-3AD1-4F41-B322-8B9661A940DD}"/>
              </a:ext>
            </a:extLst>
          </p:cNvPr>
          <p:cNvSpPr>
            <a:spLocks noGrp="1"/>
          </p:cNvSpPr>
          <p:nvPr>
            <p:ph type="title"/>
          </p:nvPr>
        </p:nvSpPr>
        <p:spPr>
          <a:xfrm>
            <a:off x="473202" y="502920"/>
            <a:ext cx="2564892" cy="1463040"/>
          </a:xfrm>
        </p:spPr>
        <p:txBody>
          <a:bodyPr vert="horz" lIns="91440" tIns="45720" rIns="91440" bIns="45720" rtlCol="0" anchor="ctr">
            <a:normAutofit/>
          </a:bodyPr>
          <a:lstStyle/>
          <a:p>
            <a:r>
              <a:rPr lang="en-US" sz="2300" kern="1200">
                <a:solidFill>
                  <a:schemeClr val="tx1"/>
                </a:solidFill>
                <a:latin typeface="+mj-lt"/>
                <a:ea typeface="+mj-ea"/>
                <a:cs typeface="+mj-cs"/>
              </a:rPr>
              <a:t>Culture and the Science of Positive Psychology</a:t>
            </a:r>
          </a:p>
        </p:txBody>
      </p:sp>
      <p:sp>
        <p:nvSpPr>
          <p:cNvPr id="16"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480309" y="1227582"/>
            <a:ext cx="1554480" cy="13716"/>
          </a:xfrm>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 name="connsiteX0" fmla="*/ 0 w 1554480"/>
              <a:gd name="connsiteY0" fmla="*/ 0 h 13716"/>
              <a:gd name="connsiteX1" fmla="*/ 502615 w 1554480"/>
              <a:gd name="connsiteY1" fmla="*/ 0 h 13716"/>
              <a:gd name="connsiteX2" fmla="*/ 974141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1816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69558" y="-27075"/>
                  <a:pt x="365297" y="14897"/>
                  <a:pt x="549250" y="0"/>
                </a:cubicBezTo>
                <a:cubicBezTo>
                  <a:pt x="762323" y="14872"/>
                  <a:pt x="864871" y="21041"/>
                  <a:pt x="1082954" y="0"/>
                </a:cubicBezTo>
                <a:cubicBezTo>
                  <a:pt x="1306037" y="9403"/>
                  <a:pt x="1371926" y="14821"/>
                  <a:pt x="1554480" y="0"/>
                </a:cubicBezTo>
                <a:cubicBezTo>
                  <a:pt x="1554010" y="4793"/>
                  <a:pt x="1554680" y="10394"/>
                  <a:pt x="1554480" y="13716"/>
                </a:cubicBezTo>
                <a:cubicBezTo>
                  <a:pt x="1328957" y="3179"/>
                  <a:pt x="1207025" y="27731"/>
                  <a:pt x="1067410" y="13716"/>
                </a:cubicBezTo>
                <a:cubicBezTo>
                  <a:pt x="897316" y="-7440"/>
                  <a:pt x="788951" y="-24962"/>
                  <a:pt x="549250" y="13716"/>
                </a:cubicBezTo>
                <a:cubicBezTo>
                  <a:pt x="300394" y="-2982"/>
                  <a:pt x="129576" y="35301"/>
                  <a:pt x="0" y="13716"/>
                </a:cubicBezTo>
                <a:cubicBezTo>
                  <a:pt x="354" y="8869"/>
                  <a:pt x="649" y="6738"/>
                  <a:pt x="0" y="0"/>
                </a:cubicBezTo>
                <a:close/>
              </a:path>
              <a:path w="1554480" h="13716" stroke="0" extrusionOk="0">
                <a:moveTo>
                  <a:pt x="0" y="0"/>
                </a:moveTo>
                <a:cubicBezTo>
                  <a:pt x="249513" y="10124"/>
                  <a:pt x="389298" y="10419"/>
                  <a:pt x="502615" y="0"/>
                </a:cubicBezTo>
                <a:cubicBezTo>
                  <a:pt x="616735" y="10147"/>
                  <a:pt x="791037" y="-19212"/>
                  <a:pt x="974141" y="0"/>
                </a:cubicBezTo>
                <a:cubicBezTo>
                  <a:pt x="1141919" y="34853"/>
                  <a:pt x="1248514" y="16971"/>
                  <a:pt x="1554480" y="0"/>
                </a:cubicBezTo>
                <a:cubicBezTo>
                  <a:pt x="1554288" y="3835"/>
                  <a:pt x="1554171" y="7531"/>
                  <a:pt x="1554480" y="13716"/>
                </a:cubicBezTo>
                <a:cubicBezTo>
                  <a:pt x="1337806" y="9080"/>
                  <a:pt x="1308467" y="19887"/>
                  <a:pt x="1067410" y="13716"/>
                </a:cubicBezTo>
                <a:cubicBezTo>
                  <a:pt x="824349" y="13143"/>
                  <a:pt x="783437" y="24151"/>
                  <a:pt x="518160" y="13716"/>
                </a:cubicBezTo>
                <a:cubicBezTo>
                  <a:pt x="271530" y="4598"/>
                  <a:pt x="132568" y="-7659"/>
                  <a:pt x="0" y="13716"/>
                </a:cubicBezTo>
                <a:cubicBezTo>
                  <a:pt x="768" y="9617"/>
                  <a:pt x="-274" y="4847"/>
                  <a:pt x="0" y="0"/>
                </a:cubicBezTo>
                <a:close/>
              </a:path>
              <a:path w="1554480" h="13716" fill="none" stroke="0" extrusionOk="0">
                <a:moveTo>
                  <a:pt x="0" y="0"/>
                </a:moveTo>
                <a:cubicBezTo>
                  <a:pt x="95687" y="-31247"/>
                  <a:pt x="331569" y="3404"/>
                  <a:pt x="549250" y="0"/>
                </a:cubicBezTo>
                <a:cubicBezTo>
                  <a:pt x="776590" y="6530"/>
                  <a:pt x="844530" y="-5109"/>
                  <a:pt x="1082954" y="0"/>
                </a:cubicBezTo>
                <a:cubicBezTo>
                  <a:pt x="1293569" y="15486"/>
                  <a:pt x="1361850" y="13824"/>
                  <a:pt x="1554480" y="0"/>
                </a:cubicBezTo>
                <a:cubicBezTo>
                  <a:pt x="1553504" y="4786"/>
                  <a:pt x="1554832" y="10912"/>
                  <a:pt x="1554480" y="13716"/>
                </a:cubicBezTo>
                <a:cubicBezTo>
                  <a:pt x="1366718" y="4861"/>
                  <a:pt x="1218290" y="26644"/>
                  <a:pt x="1067410" y="13716"/>
                </a:cubicBezTo>
                <a:cubicBezTo>
                  <a:pt x="900327" y="-8822"/>
                  <a:pt x="792178" y="6310"/>
                  <a:pt x="549250" y="13716"/>
                </a:cubicBezTo>
                <a:cubicBezTo>
                  <a:pt x="295300" y="2843"/>
                  <a:pt x="142619" y="40779"/>
                  <a:pt x="0" y="13716"/>
                </a:cubicBezTo>
                <a:cubicBezTo>
                  <a:pt x="813" y="8812"/>
                  <a:pt x="948" y="672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1554480"/>
                      <a:gd name="connsiteY0" fmla="*/ 0 h 13716"/>
                      <a:gd name="connsiteX1" fmla="*/ 549250 w 1554480"/>
                      <a:gd name="connsiteY1" fmla="*/ 0 h 13716"/>
                      <a:gd name="connsiteX2" fmla="*/ 1082954 w 1554480"/>
                      <a:gd name="connsiteY2" fmla="*/ 0 h 13716"/>
                      <a:gd name="connsiteX3" fmla="*/ 1554480 w 1554480"/>
                      <a:gd name="connsiteY3" fmla="*/ 0 h 13716"/>
                      <a:gd name="connsiteX4" fmla="*/ 1554480 w 1554480"/>
                      <a:gd name="connsiteY4" fmla="*/ 13716 h 13716"/>
                      <a:gd name="connsiteX5" fmla="*/ 1067410 w 1554480"/>
                      <a:gd name="connsiteY5" fmla="*/ 13716 h 13716"/>
                      <a:gd name="connsiteX6" fmla="*/ 549250 w 1554480"/>
                      <a:gd name="connsiteY6" fmla="*/ 13716 h 13716"/>
                      <a:gd name="connsiteX7" fmla="*/ 0 w 1554480"/>
                      <a:gd name="connsiteY7" fmla="*/ 13716 h 13716"/>
                      <a:gd name="connsiteX8" fmla="*/ 0 w 1554480"/>
                      <a:gd name="connsiteY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3716"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3820" y="4959"/>
                          <a:pt x="1554594" y="10798"/>
                          <a:pt x="1554480" y="13716"/>
                        </a:cubicBezTo>
                        <a:cubicBezTo>
                          <a:pt x="1338847" y="1555"/>
                          <a:pt x="1215066" y="33279"/>
                          <a:pt x="1067410" y="13716"/>
                        </a:cubicBezTo>
                        <a:cubicBezTo>
                          <a:pt x="919754" y="-5847"/>
                          <a:pt x="800465" y="-1492"/>
                          <a:pt x="549250" y="13716"/>
                        </a:cubicBezTo>
                        <a:cubicBezTo>
                          <a:pt x="298035" y="28924"/>
                          <a:pt x="158868" y="18197"/>
                          <a:pt x="0" y="13716"/>
                        </a:cubicBezTo>
                        <a:cubicBezTo>
                          <a:pt x="488" y="8630"/>
                          <a:pt x="480" y="6612"/>
                          <a:pt x="0" y="0"/>
                        </a:cubicBezTo>
                        <a:close/>
                      </a:path>
                      <a:path w="1554480" h="13716"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232" y="4157"/>
                          <a:pt x="1554673" y="7559"/>
                          <a:pt x="1554480" y="13716"/>
                        </a:cubicBezTo>
                        <a:cubicBezTo>
                          <a:pt x="1336087" y="7600"/>
                          <a:pt x="1310024" y="15187"/>
                          <a:pt x="1067410" y="13716"/>
                        </a:cubicBezTo>
                        <a:cubicBezTo>
                          <a:pt x="824796" y="12246"/>
                          <a:pt x="787902" y="30075"/>
                          <a:pt x="518160" y="13716"/>
                        </a:cubicBezTo>
                        <a:cubicBezTo>
                          <a:pt x="248418" y="-2643"/>
                          <a:pt x="133160" y="4633"/>
                          <a:pt x="0" y="13716"/>
                        </a:cubicBezTo>
                        <a:cubicBezTo>
                          <a:pt x="43" y="9160"/>
                          <a:pt x="-111" y="4811"/>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9E71083-A141-F34F-AA7C-938DF5AF7B37}"/>
              </a:ext>
            </a:extLst>
          </p:cNvPr>
          <p:cNvSpPr/>
          <p:nvPr/>
        </p:nvSpPr>
        <p:spPr>
          <a:xfrm>
            <a:off x="3490721" y="502920"/>
            <a:ext cx="5170932" cy="1463040"/>
          </a:xfrm>
          <a:prstGeom prst="rect">
            <a:avLst/>
          </a:prstGeom>
        </p:spPr>
        <p:txBody>
          <a:bodyPr vert="horz" lIns="91440" tIns="45720" rIns="91440" bIns="45720" rtlCol="0" anchor="ctr">
            <a:normAutofit/>
          </a:bodyPr>
          <a:lstStyle/>
          <a:p>
            <a:pPr marL="57150" defTabSz="914400">
              <a:lnSpc>
                <a:spcPct val="90000"/>
              </a:lnSpc>
              <a:spcAft>
                <a:spcPts val="600"/>
              </a:spcAft>
            </a:pPr>
            <a:r>
              <a:rPr lang="en-US" sz="1900" dirty="0"/>
              <a:t>Iceland and Ludwig-</a:t>
            </a:r>
            <a:r>
              <a:rPr lang="en-US" sz="1900" dirty="0" err="1"/>
              <a:t>Dehm</a:t>
            </a:r>
            <a:r>
              <a:rPr lang="en-US" sz="1900" dirty="0"/>
              <a:t> (2019) tracked the happiness gap for Black Americans and White Americans from 1972 to 2014 using data from the General Social Survey (GSS).</a:t>
            </a:r>
          </a:p>
        </p:txBody>
      </p:sp>
      <p:pic>
        <p:nvPicPr>
          <p:cNvPr id="7" name="Picture 6" descr="A close up of text on a white background&#10;&#10;Description automatically generated">
            <a:extLst>
              <a:ext uri="{FF2B5EF4-FFF2-40B4-BE49-F238E27FC236}">
                <a16:creationId xmlns:a16="http://schemas.microsoft.com/office/drawing/2014/main" id="{2AAA4312-A79E-5745-85D8-3C276B47F0C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7277" t="8693" r="13180" b="10758"/>
          <a:stretch/>
        </p:blipFill>
        <p:spPr bwMode="auto">
          <a:xfrm>
            <a:off x="1528888" y="2290936"/>
            <a:ext cx="6077079" cy="3959352"/>
          </a:xfrm>
          <a:prstGeom prst="rect">
            <a:avLst/>
          </a:prstGeom>
          <a:extLst>
            <a:ext uri="{53640926-AAD7-44D8-BBD7-CCE9431645EC}">
              <a14:shadowObscured xmlns:a14="http://schemas.microsoft.com/office/drawing/2010/main"/>
            </a:ext>
          </a:extLst>
        </p:spPr>
      </p:pic>
      <p:sp>
        <p:nvSpPr>
          <p:cNvPr id="4" name="Footer Placeholder 3">
            <a:extLst>
              <a:ext uri="{FF2B5EF4-FFF2-40B4-BE49-F238E27FC236}">
                <a16:creationId xmlns:a16="http://schemas.microsoft.com/office/drawing/2014/main" id="{F80E52BF-D622-4414-A373-C8B7FDF37840}"/>
              </a:ext>
            </a:extLst>
          </p:cNvPr>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chemeClr val="tx1">
                    <a:tint val="75000"/>
                  </a:schemeClr>
                </a:solidFill>
                <a:latin typeface="+mn-lt"/>
                <a:ea typeface="+mn-ea"/>
                <a:cs typeface="+mn-cs"/>
              </a:rPr>
              <a:t>The Science and Application of Positive Psychology </a:t>
            </a:r>
            <a:br>
              <a:rPr lang="en-US" sz="900" kern="1200">
                <a:solidFill>
                  <a:schemeClr val="tx1">
                    <a:tint val="75000"/>
                  </a:schemeClr>
                </a:solidFill>
                <a:latin typeface="+mn-lt"/>
                <a:ea typeface="+mn-ea"/>
                <a:cs typeface="+mn-cs"/>
              </a:rPr>
            </a:br>
            <a:r>
              <a:rPr lang="en-US" sz="900" kern="1200">
                <a:solidFill>
                  <a:schemeClr val="tx1">
                    <a:tint val="75000"/>
                  </a:schemeClr>
                </a:solidFill>
                <a:latin typeface="+mn-lt"/>
                <a:ea typeface="+mn-ea"/>
                <a:cs typeface="+mn-cs"/>
              </a:rPr>
              <a:t>© Cambridge University Press 2021</a:t>
            </a:r>
          </a:p>
        </p:txBody>
      </p:sp>
    </p:spTree>
    <p:extLst>
      <p:ext uri="{BB962C8B-B14F-4D97-AF65-F5344CB8AC3E}">
        <p14:creationId xmlns:p14="http://schemas.microsoft.com/office/powerpoint/2010/main" val="8517046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A555F5-3AD1-4F41-B322-8B9661A940DD}"/>
              </a:ext>
            </a:extLst>
          </p:cNvPr>
          <p:cNvSpPr>
            <a:spLocks noGrp="1"/>
          </p:cNvSpPr>
          <p:nvPr>
            <p:ph type="title"/>
          </p:nvPr>
        </p:nvSpPr>
        <p:spPr>
          <a:xfrm>
            <a:off x="630936" y="548640"/>
            <a:ext cx="2700645" cy="5431536"/>
          </a:xfrm>
        </p:spPr>
        <p:txBody>
          <a:bodyPr>
            <a:normAutofit/>
          </a:bodyPr>
          <a:lstStyle/>
          <a:p>
            <a:r>
              <a:rPr lang="en-US" sz="4300"/>
              <a:t>Culture and the Science of Positive Psychology</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347917" y="3261001"/>
            <a:ext cx="4480560" cy="13716"/>
          </a:xfrm>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 name="connsiteX0" fmla="*/ 0 w 4480560"/>
              <a:gd name="connsiteY0" fmla="*/ 0 h 13716"/>
              <a:gd name="connsiteX1" fmla="*/ 595274 w 4480560"/>
              <a:gd name="connsiteY1" fmla="*/ 0 h 13716"/>
              <a:gd name="connsiteX2" fmla="*/ 1100938 w 4480560"/>
              <a:gd name="connsiteY2" fmla="*/ 0 h 13716"/>
              <a:gd name="connsiteX3" fmla="*/ 1830629 w 4480560"/>
              <a:gd name="connsiteY3" fmla="*/ 0 h 13716"/>
              <a:gd name="connsiteX4" fmla="*/ 2425903 w 4480560"/>
              <a:gd name="connsiteY4" fmla="*/ 0 h 13716"/>
              <a:gd name="connsiteX5" fmla="*/ 3021178 w 4480560"/>
              <a:gd name="connsiteY5" fmla="*/ 0 h 13716"/>
              <a:gd name="connsiteX6" fmla="*/ 3750869 w 4480560"/>
              <a:gd name="connsiteY6" fmla="*/ 0 h 13716"/>
              <a:gd name="connsiteX7" fmla="*/ 4480560 w 4480560"/>
              <a:gd name="connsiteY7" fmla="*/ 0 h 13716"/>
              <a:gd name="connsiteX8" fmla="*/ 4480560 w 4480560"/>
              <a:gd name="connsiteY8" fmla="*/ 13716 h 13716"/>
              <a:gd name="connsiteX9" fmla="*/ 3930091 w 4480560"/>
              <a:gd name="connsiteY9" fmla="*/ 13716 h 13716"/>
              <a:gd name="connsiteX10" fmla="*/ 3290011 w 4480560"/>
              <a:gd name="connsiteY10" fmla="*/ 13716 h 13716"/>
              <a:gd name="connsiteX11" fmla="*/ 2649931 w 4480560"/>
              <a:gd name="connsiteY11" fmla="*/ 13716 h 13716"/>
              <a:gd name="connsiteX12" fmla="*/ 2054657 w 4480560"/>
              <a:gd name="connsiteY12" fmla="*/ 13716 h 13716"/>
              <a:gd name="connsiteX13" fmla="*/ 1324966 w 4480560"/>
              <a:gd name="connsiteY13" fmla="*/ 13716 h 13716"/>
              <a:gd name="connsiteX14" fmla="*/ 595274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574" y="14606"/>
                  <a:pt x="338605" y="-40"/>
                  <a:pt x="595274" y="0"/>
                </a:cubicBezTo>
                <a:cubicBezTo>
                  <a:pt x="856171" y="-2198"/>
                  <a:pt x="863435" y="-13333"/>
                  <a:pt x="1100938" y="0"/>
                </a:cubicBezTo>
                <a:cubicBezTo>
                  <a:pt x="1340270" y="17713"/>
                  <a:pt x="1418448" y="-18893"/>
                  <a:pt x="1651406" y="0"/>
                </a:cubicBezTo>
                <a:cubicBezTo>
                  <a:pt x="1875387" y="1627"/>
                  <a:pt x="2153037" y="22688"/>
                  <a:pt x="2336292" y="0"/>
                </a:cubicBezTo>
                <a:cubicBezTo>
                  <a:pt x="2522206" y="-4211"/>
                  <a:pt x="2718333" y="34959"/>
                  <a:pt x="2931566" y="0"/>
                </a:cubicBezTo>
                <a:cubicBezTo>
                  <a:pt x="3137043" y="-17106"/>
                  <a:pt x="3304331" y="1415"/>
                  <a:pt x="3482035" y="0"/>
                </a:cubicBezTo>
                <a:cubicBezTo>
                  <a:pt x="3649837" y="-24078"/>
                  <a:pt x="4010577" y="-51921"/>
                  <a:pt x="4480560" y="0"/>
                </a:cubicBezTo>
                <a:cubicBezTo>
                  <a:pt x="4480642" y="3611"/>
                  <a:pt x="4480510" y="9346"/>
                  <a:pt x="4480560" y="13716"/>
                </a:cubicBezTo>
                <a:cubicBezTo>
                  <a:pt x="4305601" y="36948"/>
                  <a:pt x="4025154" y="21890"/>
                  <a:pt x="3840480" y="13716"/>
                </a:cubicBezTo>
                <a:cubicBezTo>
                  <a:pt x="3668919" y="-16903"/>
                  <a:pt x="3556555" y="-17246"/>
                  <a:pt x="3290011" y="13716"/>
                </a:cubicBezTo>
                <a:cubicBezTo>
                  <a:pt x="2991827" y="13600"/>
                  <a:pt x="2862038" y="-27094"/>
                  <a:pt x="2560320" y="13716"/>
                </a:cubicBezTo>
                <a:cubicBezTo>
                  <a:pt x="2273396" y="32804"/>
                  <a:pt x="2159701" y="35426"/>
                  <a:pt x="1965046" y="13716"/>
                </a:cubicBezTo>
                <a:cubicBezTo>
                  <a:pt x="1785994" y="24616"/>
                  <a:pt x="1686680" y="47748"/>
                  <a:pt x="1459382" y="13716"/>
                </a:cubicBezTo>
                <a:cubicBezTo>
                  <a:pt x="1260610" y="398"/>
                  <a:pt x="913962" y="26960"/>
                  <a:pt x="774497" y="13716"/>
                </a:cubicBezTo>
                <a:cubicBezTo>
                  <a:pt x="689426" y="-2719"/>
                  <a:pt x="378264" y="1751"/>
                  <a:pt x="0" y="13716"/>
                </a:cubicBezTo>
                <a:cubicBezTo>
                  <a:pt x="-173" y="8371"/>
                  <a:pt x="-387" y="6213"/>
                  <a:pt x="0" y="0"/>
                </a:cubicBezTo>
                <a:close/>
              </a:path>
              <a:path w="4480560" h="13716" stroke="0" extrusionOk="0">
                <a:moveTo>
                  <a:pt x="0" y="0"/>
                </a:moveTo>
                <a:cubicBezTo>
                  <a:pt x="290844" y="5546"/>
                  <a:pt x="318443" y="10543"/>
                  <a:pt x="595274" y="0"/>
                </a:cubicBezTo>
                <a:cubicBezTo>
                  <a:pt x="862223" y="-10630"/>
                  <a:pt x="1008164" y="-6970"/>
                  <a:pt x="1100938" y="0"/>
                </a:cubicBezTo>
                <a:cubicBezTo>
                  <a:pt x="1231751" y="-9052"/>
                  <a:pt x="1563421" y="-55931"/>
                  <a:pt x="1830629" y="0"/>
                </a:cubicBezTo>
                <a:cubicBezTo>
                  <a:pt x="2081843" y="38764"/>
                  <a:pt x="2181743" y="16966"/>
                  <a:pt x="2425903" y="0"/>
                </a:cubicBezTo>
                <a:cubicBezTo>
                  <a:pt x="2657412" y="-20059"/>
                  <a:pt x="2795431" y="8423"/>
                  <a:pt x="3021178" y="0"/>
                </a:cubicBezTo>
                <a:cubicBezTo>
                  <a:pt x="3275119" y="-4749"/>
                  <a:pt x="3480943" y="2522"/>
                  <a:pt x="3750869" y="0"/>
                </a:cubicBezTo>
                <a:cubicBezTo>
                  <a:pt x="4005211" y="16055"/>
                  <a:pt x="4302144" y="-2969"/>
                  <a:pt x="4480560" y="0"/>
                </a:cubicBezTo>
                <a:cubicBezTo>
                  <a:pt x="4480397" y="3458"/>
                  <a:pt x="4481383" y="8632"/>
                  <a:pt x="4480560" y="13716"/>
                </a:cubicBezTo>
                <a:cubicBezTo>
                  <a:pt x="4261480" y="-10003"/>
                  <a:pt x="4206199" y="28529"/>
                  <a:pt x="3930091" y="13716"/>
                </a:cubicBezTo>
                <a:cubicBezTo>
                  <a:pt x="3666932" y="-15474"/>
                  <a:pt x="3493645" y="14804"/>
                  <a:pt x="3290011" y="13716"/>
                </a:cubicBezTo>
                <a:cubicBezTo>
                  <a:pt x="3137078" y="-41032"/>
                  <a:pt x="2894690" y="-17948"/>
                  <a:pt x="2649931" y="13716"/>
                </a:cubicBezTo>
                <a:cubicBezTo>
                  <a:pt x="2413020" y="21294"/>
                  <a:pt x="2225991" y="-10559"/>
                  <a:pt x="2054657" y="13716"/>
                </a:cubicBezTo>
                <a:cubicBezTo>
                  <a:pt x="1886877" y="37541"/>
                  <a:pt x="1548763" y="45390"/>
                  <a:pt x="1324966" y="13716"/>
                </a:cubicBezTo>
                <a:cubicBezTo>
                  <a:pt x="1040995" y="1897"/>
                  <a:pt x="786929" y="-17655"/>
                  <a:pt x="595274" y="13716"/>
                </a:cubicBezTo>
                <a:cubicBezTo>
                  <a:pt x="371401" y="32831"/>
                  <a:pt x="168483" y="23167"/>
                  <a:pt x="0" y="13716"/>
                </a:cubicBezTo>
                <a:cubicBezTo>
                  <a:pt x="-740" y="8467"/>
                  <a:pt x="-279" y="4434"/>
                  <a:pt x="0" y="0"/>
                </a:cubicBezTo>
                <a:close/>
              </a:path>
              <a:path w="4480560" h="13716" fill="none" stroke="0" extrusionOk="0">
                <a:moveTo>
                  <a:pt x="0" y="0"/>
                </a:moveTo>
                <a:cubicBezTo>
                  <a:pt x="254633" y="596"/>
                  <a:pt x="318854" y="8353"/>
                  <a:pt x="595274" y="0"/>
                </a:cubicBezTo>
                <a:cubicBezTo>
                  <a:pt x="857042" y="-2503"/>
                  <a:pt x="863005" y="-13327"/>
                  <a:pt x="1100938" y="0"/>
                </a:cubicBezTo>
                <a:cubicBezTo>
                  <a:pt x="1322315" y="28736"/>
                  <a:pt x="1429801" y="-15572"/>
                  <a:pt x="1651406" y="0"/>
                </a:cubicBezTo>
                <a:cubicBezTo>
                  <a:pt x="1861310" y="20479"/>
                  <a:pt x="2199002" y="36173"/>
                  <a:pt x="2336292" y="0"/>
                </a:cubicBezTo>
                <a:cubicBezTo>
                  <a:pt x="2504451" y="-23230"/>
                  <a:pt x="2735943" y="-3451"/>
                  <a:pt x="2931566" y="0"/>
                </a:cubicBezTo>
                <a:cubicBezTo>
                  <a:pt x="3109081" y="-33272"/>
                  <a:pt x="3310374" y="39503"/>
                  <a:pt x="3482035" y="0"/>
                </a:cubicBezTo>
                <a:cubicBezTo>
                  <a:pt x="3630968" y="-117346"/>
                  <a:pt x="3975789" y="30358"/>
                  <a:pt x="4480560" y="0"/>
                </a:cubicBezTo>
                <a:cubicBezTo>
                  <a:pt x="4480546" y="3532"/>
                  <a:pt x="4481771" y="9530"/>
                  <a:pt x="4480560" y="13716"/>
                </a:cubicBezTo>
                <a:cubicBezTo>
                  <a:pt x="4299745" y="8025"/>
                  <a:pt x="4055484" y="54224"/>
                  <a:pt x="3840480" y="13716"/>
                </a:cubicBezTo>
                <a:cubicBezTo>
                  <a:pt x="3665362" y="14404"/>
                  <a:pt x="3548412" y="6532"/>
                  <a:pt x="3290011" y="13716"/>
                </a:cubicBezTo>
                <a:cubicBezTo>
                  <a:pt x="3037450" y="36923"/>
                  <a:pt x="2862123" y="43167"/>
                  <a:pt x="2560320" y="13716"/>
                </a:cubicBezTo>
                <a:cubicBezTo>
                  <a:pt x="2308793" y="7156"/>
                  <a:pt x="2153402" y="-25971"/>
                  <a:pt x="1965046" y="13716"/>
                </a:cubicBezTo>
                <a:cubicBezTo>
                  <a:pt x="1778601" y="25944"/>
                  <a:pt x="1672011" y="23840"/>
                  <a:pt x="1459382" y="13716"/>
                </a:cubicBezTo>
                <a:cubicBezTo>
                  <a:pt x="1212351" y="-9856"/>
                  <a:pt x="906131" y="12859"/>
                  <a:pt x="774497" y="13716"/>
                </a:cubicBezTo>
                <a:cubicBezTo>
                  <a:pt x="636671" y="-47283"/>
                  <a:pt x="331670" y="1705"/>
                  <a:pt x="0" y="13716"/>
                </a:cubicBezTo>
                <a:cubicBezTo>
                  <a:pt x="-561" y="8546"/>
                  <a:pt x="-377" y="61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4480560"/>
                      <a:gd name="connsiteY0" fmla="*/ 0 h 13716"/>
                      <a:gd name="connsiteX1" fmla="*/ 595274 w 4480560"/>
                      <a:gd name="connsiteY1" fmla="*/ 0 h 13716"/>
                      <a:gd name="connsiteX2" fmla="*/ 1100938 w 4480560"/>
                      <a:gd name="connsiteY2" fmla="*/ 0 h 13716"/>
                      <a:gd name="connsiteX3" fmla="*/ 1651406 w 4480560"/>
                      <a:gd name="connsiteY3" fmla="*/ 0 h 13716"/>
                      <a:gd name="connsiteX4" fmla="*/ 2336292 w 4480560"/>
                      <a:gd name="connsiteY4" fmla="*/ 0 h 13716"/>
                      <a:gd name="connsiteX5" fmla="*/ 2931566 w 4480560"/>
                      <a:gd name="connsiteY5" fmla="*/ 0 h 13716"/>
                      <a:gd name="connsiteX6" fmla="*/ 3482035 w 4480560"/>
                      <a:gd name="connsiteY6" fmla="*/ 0 h 13716"/>
                      <a:gd name="connsiteX7" fmla="*/ 4480560 w 4480560"/>
                      <a:gd name="connsiteY7" fmla="*/ 0 h 13716"/>
                      <a:gd name="connsiteX8" fmla="*/ 4480560 w 4480560"/>
                      <a:gd name="connsiteY8" fmla="*/ 13716 h 13716"/>
                      <a:gd name="connsiteX9" fmla="*/ 3840480 w 4480560"/>
                      <a:gd name="connsiteY9" fmla="*/ 13716 h 13716"/>
                      <a:gd name="connsiteX10" fmla="*/ 3290011 w 4480560"/>
                      <a:gd name="connsiteY10" fmla="*/ 13716 h 13716"/>
                      <a:gd name="connsiteX11" fmla="*/ 2560320 w 4480560"/>
                      <a:gd name="connsiteY11" fmla="*/ 13716 h 13716"/>
                      <a:gd name="connsiteX12" fmla="*/ 1965046 w 4480560"/>
                      <a:gd name="connsiteY12" fmla="*/ 13716 h 13716"/>
                      <a:gd name="connsiteX13" fmla="*/ 1459382 w 4480560"/>
                      <a:gd name="connsiteY13" fmla="*/ 13716 h 13716"/>
                      <a:gd name="connsiteX14" fmla="*/ 774497 w 4480560"/>
                      <a:gd name="connsiteY14" fmla="*/ 13716 h 13716"/>
                      <a:gd name="connsiteX15" fmla="*/ 0 w 4480560"/>
                      <a:gd name="connsiteY15" fmla="*/ 13716 h 13716"/>
                      <a:gd name="connsiteX16" fmla="*/ 0 w 4480560"/>
                      <a:gd name="connsiteY16"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3716"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273" y="3379"/>
                          <a:pt x="4480768" y="9289"/>
                          <a:pt x="4480560" y="13716"/>
                        </a:cubicBezTo>
                        <a:cubicBezTo>
                          <a:pt x="4314132" y="10352"/>
                          <a:pt x="4028383" y="32060"/>
                          <a:pt x="3840480" y="13716"/>
                        </a:cubicBezTo>
                        <a:cubicBezTo>
                          <a:pt x="3652577" y="-4628"/>
                          <a:pt x="3547615" y="-1724"/>
                          <a:pt x="3290011" y="13716"/>
                        </a:cubicBezTo>
                        <a:cubicBezTo>
                          <a:pt x="3032407" y="29156"/>
                          <a:pt x="2830268" y="4147"/>
                          <a:pt x="2560320" y="13716"/>
                        </a:cubicBezTo>
                        <a:cubicBezTo>
                          <a:pt x="2290372" y="23285"/>
                          <a:pt x="2147422" y="2156"/>
                          <a:pt x="1965046" y="13716"/>
                        </a:cubicBezTo>
                        <a:cubicBezTo>
                          <a:pt x="1782670" y="25276"/>
                          <a:pt x="1689791" y="36108"/>
                          <a:pt x="1459382" y="13716"/>
                        </a:cubicBezTo>
                        <a:cubicBezTo>
                          <a:pt x="1228973" y="-8676"/>
                          <a:pt x="915486" y="31929"/>
                          <a:pt x="774497" y="13716"/>
                        </a:cubicBezTo>
                        <a:cubicBezTo>
                          <a:pt x="633508" y="-4497"/>
                          <a:pt x="361442" y="-15679"/>
                          <a:pt x="0" y="13716"/>
                        </a:cubicBezTo>
                        <a:cubicBezTo>
                          <a:pt x="-362" y="8190"/>
                          <a:pt x="-434" y="6098"/>
                          <a:pt x="0" y="0"/>
                        </a:cubicBezTo>
                        <a:close/>
                      </a:path>
                      <a:path w="4480560" h="13716"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0360" y="3832"/>
                          <a:pt x="4481152" y="9314"/>
                          <a:pt x="4480560" y="13716"/>
                        </a:cubicBezTo>
                        <a:cubicBezTo>
                          <a:pt x="4279652" y="-11422"/>
                          <a:pt x="4200762" y="36994"/>
                          <a:pt x="3930091" y="13716"/>
                        </a:cubicBezTo>
                        <a:cubicBezTo>
                          <a:pt x="3659420" y="-9562"/>
                          <a:pt x="3456052" y="17722"/>
                          <a:pt x="3290011" y="13716"/>
                        </a:cubicBezTo>
                        <a:cubicBezTo>
                          <a:pt x="3123970" y="9710"/>
                          <a:pt x="2882392" y="28246"/>
                          <a:pt x="2649931" y="13716"/>
                        </a:cubicBezTo>
                        <a:cubicBezTo>
                          <a:pt x="2417470" y="-814"/>
                          <a:pt x="2238426" y="2765"/>
                          <a:pt x="2054657" y="13716"/>
                        </a:cubicBezTo>
                        <a:cubicBezTo>
                          <a:pt x="1870888" y="24667"/>
                          <a:pt x="1566368" y="40468"/>
                          <a:pt x="1324966" y="13716"/>
                        </a:cubicBezTo>
                        <a:cubicBezTo>
                          <a:pt x="1083564" y="-13036"/>
                          <a:pt x="787410" y="6374"/>
                          <a:pt x="595274" y="13716"/>
                        </a:cubicBezTo>
                        <a:cubicBezTo>
                          <a:pt x="403138" y="21058"/>
                          <a:pt x="169622" y="5927"/>
                          <a:pt x="0" y="13716"/>
                        </a:cubicBezTo>
                        <a:cubicBezTo>
                          <a:pt x="-475" y="8699"/>
                          <a:pt x="-565" y="4408"/>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D7ED35-D335-4FED-B445-6377734134DA}"/>
              </a:ext>
            </a:extLst>
          </p:cNvPr>
          <p:cNvSpPr>
            <a:spLocks noGrp="1"/>
          </p:cNvSpPr>
          <p:nvPr>
            <p:ph idx="1"/>
          </p:nvPr>
        </p:nvSpPr>
        <p:spPr>
          <a:xfrm>
            <a:off x="3844813" y="552091"/>
            <a:ext cx="4668251" cy="5431536"/>
          </a:xfrm>
        </p:spPr>
        <p:txBody>
          <a:bodyPr anchor="ctr">
            <a:normAutofit/>
          </a:bodyPr>
          <a:lstStyle/>
          <a:p>
            <a:r>
              <a:rPr lang="en-US" sz="1900"/>
              <a:t>Most studies of the happiness gap have focused on disparities in happiness among Black and White Americans. Thus, more research is needed to investigate similar happiness gaps in other diverse groups.</a:t>
            </a:r>
          </a:p>
          <a:p>
            <a:r>
              <a:rPr lang="en-US" sz="1900"/>
              <a:t>It is important for future studies to incorporate the concept of </a:t>
            </a:r>
            <a:r>
              <a:rPr lang="en-US" sz="1900" i="1"/>
              <a:t>intersectionality</a:t>
            </a:r>
            <a:r>
              <a:rPr lang="en-US" sz="1900" b="1"/>
              <a:t>—</a:t>
            </a:r>
            <a:r>
              <a:rPr lang="en-US" sz="1900"/>
              <a:t>meaning that people have complex, multiple, overlapping identities, including (among many others) their race, gender identity, age, sexual orientation, nationality, socioeconomic status, and religion. </a:t>
            </a:r>
          </a:p>
          <a:p>
            <a:r>
              <a:rPr lang="en-US" sz="1900"/>
              <a:t>Because each of these identities is the subject of differing levels and types of oppression and privilege, understanding how they intersect allows for greater knowledge of how and why happiness gaps exist and persist.</a:t>
            </a:r>
          </a:p>
          <a:p>
            <a:pPr lvl="1"/>
            <a:endParaRPr lang="en-US" sz="1900"/>
          </a:p>
        </p:txBody>
      </p:sp>
      <p:sp>
        <p:nvSpPr>
          <p:cNvPr id="4" name="Footer Placeholder 3">
            <a:extLst>
              <a:ext uri="{FF2B5EF4-FFF2-40B4-BE49-F238E27FC236}">
                <a16:creationId xmlns:a16="http://schemas.microsoft.com/office/drawing/2014/main" id="{F80E52BF-D622-4414-A373-C8B7FDF37840}"/>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23269869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1F5FA861B6BEB4497E30226FB654B7F" ma:contentTypeVersion="14" ma:contentTypeDescription="Create a new document." ma:contentTypeScope="" ma:versionID="5446b6abc1174e76b1ecf231e0511309">
  <xsd:schema xmlns:xsd="http://www.w3.org/2001/XMLSchema" xmlns:xs="http://www.w3.org/2001/XMLSchema" xmlns:p="http://schemas.microsoft.com/office/2006/metadata/properties" xmlns:ns3="098d3ce3-1732-4665-af2b-0c47aa6f0599" xmlns:ns4="6ebc9d44-dfc5-41fa-9646-f594d8bccd35" targetNamespace="http://schemas.microsoft.com/office/2006/metadata/properties" ma:root="true" ma:fieldsID="6ac3cd6cbff858ee08bb67d456e99cb1" ns3:_="" ns4:_="">
    <xsd:import namespace="098d3ce3-1732-4665-af2b-0c47aa6f0599"/>
    <xsd:import namespace="6ebc9d44-dfc5-41fa-9646-f594d8bccd3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8d3ce3-1732-4665-af2b-0c47aa6f05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ebc9d44-dfc5-41fa-9646-f594d8bccd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F14F560-3B9A-438C-83B1-6E3F72FA0877}">
  <ds:schemaRefs>
    <ds:schemaRef ds:uri="http://schemas.microsoft.com/sharepoint/v3/contenttype/forms"/>
  </ds:schemaRefs>
</ds:datastoreItem>
</file>

<file path=customXml/itemProps2.xml><?xml version="1.0" encoding="utf-8"?>
<ds:datastoreItem xmlns:ds="http://schemas.openxmlformats.org/officeDocument/2006/customXml" ds:itemID="{0A77D237-49E5-43D1-BBAE-C65D674315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8d3ce3-1732-4665-af2b-0c47aa6f0599"/>
    <ds:schemaRef ds:uri="6ebc9d44-dfc5-41fa-9646-f594d8bccd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F9FC689-0397-489D-B6C4-918490A97925}">
  <ds:schemaRefs>
    <ds:schemaRef ds:uri="http://schemas.openxmlformats.org/package/2006/metadata/core-properties"/>
    <ds:schemaRef ds:uri="http://purl.org/dc/terms/"/>
    <ds:schemaRef ds:uri="http://purl.org/dc/dcmitype/"/>
    <ds:schemaRef ds:uri="6ebc9d44-dfc5-41fa-9646-f594d8bccd35"/>
    <ds:schemaRef ds:uri="http://schemas.microsoft.com/office/2006/documentManagement/types"/>
    <ds:schemaRef ds:uri="http://www.w3.org/XML/1998/namespace"/>
    <ds:schemaRef ds:uri="098d3ce3-1732-4665-af2b-0c47aa6f0599"/>
    <ds:schemaRef ds:uri="http://schemas.microsoft.com/office/2006/metadata/properties"/>
    <ds:schemaRef ds:uri="http://purl.org/dc/elements/1.1/"/>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2290</TotalTime>
  <Words>1982</Words>
  <Application>Microsoft Office PowerPoint</Application>
  <PresentationFormat>On-screen Show (4:3)</PresentationFormat>
  <Paragraphs>119</Paragraphs>
  <Slides>24</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Chapter 2</vt:lpstr>
      <vt:lpstr>How to Distinguish  Positive Psychology from Non-Scientific  Pop Psychology</vt:lpstr>
      <vt:lpstr>Are the conclusions based on the scientific method?</vt:lpstr>
      <vt:lpstr>Does the research make it clear that causation isn’t the same as correlation?</vt:lpstr>
      <vt:lpstr>Does the research make it clear that causation isn’t the same as correlation?</vt:lpstr>
      <vt:lpstr>Do the researchers generalize appropriately?</vt:lpstr>
      <vt:lpstr>Do the researchers use valid and reliable measures?</vt:lpstr>
      <vt:lpstr>Do the researchers use valid and reliable measures?</vt:lpstr>
      <vt:lpstr>Life Orientation Test-R</vt:lpstr>
      <vt:lpstr>Does more than one study show the result?</vt:lpstr>
      <vt:lpstr>Reliability and Validity</vt:lpstr>
      <vt:lpstr>Myths and Misunderstandings about Positive Psychology</vt:lpstr>
      <vt:lpstr>Myth #1: Only stupid people are happy</vt:lpstr>
      <vt:lpstr>Myth #2: You can’t do anything about your level of happiness</vt:lpstr>
      <vt:lpstr>Myth #2: You can’t do anything about your level of happiness</vt:lpstr>
      <vt:lpstr>Myth #2: You can’t do anything about your level of happiness</vt:lpstr>
      <vt:lpstr>Well-Being Journal Entry #5:  Consider Your Piece of the Pie </vt:lpstr>
      <vt:lpstr>Consider Your Piece of the Pie Challenge</vt:lpstr>
      <vt:lpstr>Myth #3: Positive psychology is only about being happy</vt:lpstr>
      <vt:lpstr>Myth #4: Positive psychology is only for the privileged</vt:lpstr>
      <vt:lpstr>Culture and the Science of Positive Psychology</vt:lpstr>
      <vt:lpstr>PowerPoint Presentation</vt:lpstr>
      <vt:lpstr>Culture and the Science of Positive Psychology</vt:lpstr>
      <vt:lpstr>Culture and the Science of Positive Psychology</vt:lpstr>
    </vt:vector>
  </TitlesOfParts>
  <Company>Cambridge University 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 Adams</dc:creator>
  <cp:lastModifiedBy>Traver, Holly</cp:lastModifiedBy>
  <cp:revision>53</cp:revision>
  <dcterms:created xsi:type="dcterms:W3CDTF">2021-07-26T18:02:28Z</dcterms:created>
  <dcterms:modified xsi:type="dcterms:W3CDTF">2025-01-08T19:11:26Z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0x01010031F5FA861B6BEB4497E30226FB654B7F</vt:lpwstr>
  </property>
</Properties>
</file>