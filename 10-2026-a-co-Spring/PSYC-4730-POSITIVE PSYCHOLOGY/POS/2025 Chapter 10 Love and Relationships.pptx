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5" r:id="rId4"/>
  </p:sldMasterIdLst>
  <p:notesMasterIdLst>
    <p:notesMasterId r:id="rId45"/>
  </p:notesMasterIdLst>
  <p:handoutMasterIdLst>
    <p:handoutMasterId r:id="rId46"/>
  </p:handoutMasterIdLst>
  <p:sldIdLst>
    <p:sldId id="259" r:id="rId5"/>
    <p:sldId id="257" r:id="rId6"/>
    <p:sldId id="258" r:id="rId7"/>
    <p:sldId id="312" r:id="rId8"/>
    <p:sldId id="313" r:id="rId9"/>
    <p:sldId id="261" r:id="rId10"/>
    <p:sldId id="314" r:id="rId11"/>
    <p:sldId id="293" r:id="rId12"/>
    <p:sldId id="294" r:id="rId13"/>
    <p:sldId id="295" r:id="rId14"/>
    <p:sldId id="296" r:id="rId15"/>
    <p:sldId id="297" r:id="rId16"/>
    <p:sldId id="284" r:id="rId17"/>
    <p:sldId id="262" r:id="rId18"/>
    <p:sldId id="298" r:id="rId19"/>
    <p:sldId id="315" r:id="rId20"/>
    <p:sldId id="299" r:id="rId21"/>
    <p:sldId id="300" r:id="rId22"/>
    <p:sldId id="301" r:id="rId23"/>
    <p:sldId id="302" r:id="rId24"/>
    <p:sldId id="304" r:id="rId25"/>
    <p:sldId id="263" r:id="rId26"/>
    <p:sldId id="305" r:id="rId27"/>
    <p:sldId id="306" r:id="rId28"/>
    <p:sldId id="290" r:id="rId29"/>
    <p:sldId id="307" r:id="rId30"/>
    <p:sldId id="308" r:id="rId31"/>
    <p:sldId id="309" r:id="rId32"/>
    <p:sldId id="310" r:id="rId33"/>
    <p:sldId id="311" r:id="rId34"/>
    <p:sldId id="317" r:id="rId35"/>
    <p:sldId id="318" r:id="rId36"/>
    <p:sldId id="324" r:id="rId37"/>
    <p:sldId id="325" r:id="rId38"/>
    <p:sldId id="326" r:id="rId39"/>
    <p:sldId id="327" r:id="rId40"/>
    <p:sldId id="328" r:id="rId41"/>
    <p:sldId id="329" r:id="rId42"/>
    <p:sldId id="330" r:id="rId43"/>
    <p:sldId id="331" r:id="rId4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D3C2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8333" autoAdjust="0"/>
    <p:restoredTop sz="95365" autoAdjust="0"/>
  </p:normalViewPr>
  <p:slideViewPr>
    <p:cSldViewPr snapToGrid="0">
      <p:cViewPr varScale="1">
        <p:scale>
          <a:sx n="42" d="100"/>
          <a:sy n="42" d="100"/>
        </p:scale>
        <p:origin x="1690" y="38"/>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66" d="100"/>
          <a:sy n="66" d="100"/>
        </p:scale>
        <p:origin x="2280" y="7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viewProps" Target="viewProp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handoutMaster" Target="handoutMasters/handoutMaster1.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s>
</file>

<file path=ppt/diagrams/_rels/data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svg"/><Relationship Id="rId1" Type="http://schemas.openxmlformats.org/officeDocument/2006/relationships/image" Target="../media/image8.png"/><Relationship Id="rId4" Type="http://schemas.openxmlformats.org/officeDocument/2006/relationships/image" Target="../media/image11.svg"/></Relationships>
</file>

<file path=ppt/diagrams/_rels/drawing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svg"/><Relationship Id="rId1" Type="http://schemas.openxmlformats.org/officeDocument/2006/relationships/image" Target="../media/image8.png"/><Relationship Id="rId4" Type="http://schemas.openxmlformats.org/officeDocument/2006/relationships/image" Target="../media/image11.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a:alpha val="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B197C09-140B-47A4-8223-E7EB5B98FB43}" type="doc">
      <dgm:prSet loTypeId="urn:microsoft.com/office/officeart/2005/8/layout/process4" loCatId="process" qsTypeId="urn:microsoft.com/office/officeart/2005/8/quickstyle/simple1" qsCatId="simple" csTypeId="urn:microsoft.com/office/officeart/2005/8/colors/accent1_2" csCatId="accent1"/>
      <dgm:spPr/>
      <dgm:t>
        <a:bodyPr/>
        <a:lstStyle/>
        <a:p>
          <a:endParaRPr lang="en-US"/>
        </a:p>
      </dgm:t>
    </dgm:pt>
    <dgm:pt modelId="{5193185B-D8A2-4782-80BD-0B74CB4BC368}">
      <dgm:prSet/>
      <dgm:spPr/>
      <dgm:t>
        <a:bodyPr/>
        <a:lstStyle/>
        <a:p>
          <a:r>
            <a:rPr lang="en-US"/>
            <a:t>Relationships can be conceptualized and measured in various ways, all of which may have somewhat different associations with well-being.</a:t>
          </a:r>
        </a:p>
      </dgm:t>
    </dgm:pt>
    <dgm:pt modelId="{B7173305-28CA-4FF7-B9B0-18876153A13C}" type="parTrans" cxnId="{544D8107-E0DB-400D-A907-A850EBAE215B}">
      <dgm:prSet/>
      <dgm:spPr/>
      <dgm:t>
        <a:bodyPr/>
        <a:lstStyle/>
        <a:p>
          <a:endParaRPr lang="en-US"/>
        </a:p>
      </dgm:t>
    </dgm:pt>
    <dgm:pt modelId="{DF157C89-0149-4C64-961D-584D8BC6C3A7}" type="sibTrans" cxnId="{544D8107-E0DB-400D-A907-A850EBAE215B}">
      <dgm:prSet/>
      <dgm:spPr/>
      <dgm:t>
        <a:bodyPr/>
        <a:lstStyle/>
        <a:p>
          <a:endParaRPr lang="en-US"/>
        </a:p>
      </dgm:t>
    </dgm:pt>
    <dgm:pt modelId="{BFDE302F-E64C-4968-B3FB-D78B3DD3B5C4}">
      <dgm:prSet/>
      <dgm:spPr/>
      <dgm:t>
        <a:bodyPr/>
        <a:lstStyle/>
        <a:p>
          <a:r>
            <a:rPr lang="en-US"/>
            <a:t>We will cover four kinds of relationships:</a:t>
          </a:r>
        </a:p>
      </dgm:t>
    </dgm:pt>
    <dgm:pt modelId="{D5AA070E-DA3D-4E9F-9ECD-9F803BE6B3E6}" type="parTrans" cxnId="{1E036499-F365-424D-B219-713D20482AC4}">
      <dgm:prSet/>
      <dgm:spPr/>
      <dgm:t>
        <a:bodyPr/>
        <a:lstStyle/>
        <a:p>
          <a:endParaRPr lang="en-US"/>
        </a:p>
      </dgm:t>
    </dgm:pt>
    <dgm:pt modelId="{8EF2EECF-F489-41BE-9835-3A8DA5FD97E2}" type="sibTrans" cxnId="{1E036499-F365-424D-B219-713D20482AC4}">
      <dgm:prSet/>
      <dgm:spPr/>
      <dgm:t>
        <a:bodyPr/>
        <a:lstStyle/>
        <a:p>
          <a:endParaRPr lang="en-US"/>
        </a:p>
      </dgm:t>
    </dgm:pt>
    <dgm:pt modelId="{E4425CA9-1369-41E4-AF08-5BC68F801DF1}">
      <dgm:prSet/>
      <dgm:spPr/>
      <dgm:t>
        <a:bodyPr/>
        <a:lstStyle/>
        <a:p>
          <a:r>
            <a:rPr lang="en-US"/>
            <a:t>Merely having people in one’s life</a:t>
          </a:r>
        </a:p>
      </dgm:t>
    </dgm:pt>
    <dgm:pt modelId="{60F045FA-8280-488F-A4EB-41CBA512D4B0}" type="parTrans" cxnId="{5E4B7423-61AB-45EB-A6F7-329D5FB83320}">
      <dgm:prSet/>
      <dgm:spPr/>
      <dgm:t>
        <a:bodyPr/>
        <a:lstStyle/>
        <a:p>
          <a:endParaRPr lang="en-US"/>
        </a:p>
      </dgm:t>
    </dgm:pt>
    <dgm:pt modelId="{A2F0E83E-DEA1-4F42-8BEA-6571452FC39D}" type="sibTrans" cxnId="{5E4B7423-61AB-45EB-A6F7-329D5FB83320}">
      <dgm:prSet/>
      <dgm:spPr/>
      <dgm:t>
        <a:bodyPr/>
        <a:lstStyle/>
        <a:p>
          <a:endParaRPr lang="en-US"/>
        </a:p>
      </dgm:t>
    </dgm:pt>
    <dgm:pt modelId="{BEBCCE21-99B5-4360-961B-4DD10A068B79}">
      <dgm:prSet/>
      <dgm:spPr/>
      <dgm:t>
        <a:bodyPr/>
        <a:lstStyle/>
        <a:p>
          <a:r>
            <a:rPr lang="en-US"/>
            <a:t>Friendships</a:t>
          </a:r>
        </a:p>
      </dgm:t>
    </dgm:pt>
    <dgm:pt modelId="{DFABA83A-0992-4885-A1BC-45FEEB4CA4C0}" type="parTrans" cxnId="{A99BD9DD-1391-42BB-9C33-2EF597EA9384}">
      <dgm:prSet/>
      <dgm:spPr/>
      <dgm:t>
        <a:bodyPr/>
        <a:lstStyle/>
        <a:p>
          <a:endParaRPr lang="en-US"/>
        </a:p>
      </dgm:t>
    </dgm:pt>
    <dgm:pt modelId="{EC86CCFE-DFD7-48D7-B98F-CCCC7A0E53F9}" type="sibTrans" cxnId="{A99BD9DD-1391-42BB-9C33-2EF597EA9384}">
      <dgm:prSet/>
      <dgm:spPr/>
      <dgm:t>
        <a:bodyPr/>
        <a:lstStyle/>
        <a:p>
          <a:endParaRPr lang="en-US"/>
        </a:p>
      </dgm:t>
    </dgm:pt>
    <dgm:pt modelId="{7A1E174F-DB1F-46C9-9144-2C9581846EFF}">
      <dgm:prSet/>
      <dgm:spPr/>
      <dgm:t>
        <a:bodyPr/>
        <a:lstStyle/>
        <a:p>
          <a:r>
            <a:rPr lang="en-US"/>
            <a:t>Online/social media relationships</a:t>
          </a:r>
        </a:p>
      </dgm:t>
    </dgm:pt>
    <dgm:pt modelId="{BEF328FA-64E9-433C-8039-7F6992F31337}" type="parTrans" cxnId="{BEB69C84-8D5B-4FCE-9F0D-2C1E46920D2B}">
      <dgm:prSet/>
      <dgm:spPr/>
      <dgm:t>
        <a:bodyPr/>
        <a:lstStyle/>
        <a:p>
          <a:endParaRPr lang="en-US"/>
        </a:p>
      </dgm:t>
    </dgm:pt>
    <dgm:pt modelId="{9FEFEB32-D606-4925-877E-199162434D3C}" type="sibTrans" cxnId="{BEB69C84-8D5B-4FCE-9F0D-2C1E46920D2B}">
      <dgm:prSet/>
      <dgm:spPr/>
      <dgm:t>
        <a:bodyPr/>
        <a:lstStyle/>
        <a:p>
          <a:endParaRPr lang="en-US"/>
        </a:p>
      </dgm:t>
    </dgm:pt>
    <dgm:pt modelId="{F69EAE84-61A1-4C2F-9788-6714941B216C}">
      <dgm:prSet/>
      <dgm:spPr/>
      <dgm:t>
        <a:bodyPr/>
        <a:lstStyle/>
        <a:p>
          <a:r>
            <a:rPr lang="en-US"/>
            <a:t>Marriage</a:t>
          </a:r>
        </a:p>
      </dgm:t>
    </dgm:pt>
    <dgm:pt modelId="{3EFA36D7-656B-4B2D-873A-21C051F38EC2}" type="parTrans" cxnId="{8D72578E-8120-438F-9191-C951E657922A}">
      <dgm:prSet/>
      <dgm:spPr/>
      <dgm:t>
        <a:bodyPr/>
        <a:lstStyle/>
        <a:p>
          <a:endParaRPr lang="en-US"/>
        </a:p>
      </dgm:t>
    </dgm:pt>
    <dgm:pt modelId="{7FEC5C52-6E89-4620-8599-1D820D458C19}" type="sibTrans" cxnId="{8D72578E-8120-438F-9191-C951E657922A}">
      <dgm:prSet/>
      <dgm:spPr/>
      <dgm:t>
        <a:bodyPr/>
        <a:lstStyle/>
        <a:p>
          <a:endParaRPr lang="en-US"/>
        </a:p>
      </dgm:t>
    </dgm:pt>
    <dgm:pt modelId="{40641D1E-A39E-4D43-BFDA-3CDAB8A72B19}" type="pres">
      <dgm:prSet presAssocID="{3B197C09-140B-47A4-8223-E7EB5B98FB43}" presName="Name0" presStyleCnt="0">
        <dgm:presLayoutVars>
          <dgm:dir/>
          <dgm:animLvl val="lvl"/>
          <dgm:resizeHandles val="exact"/>
        </dgm:presLayoutVars>
      </dgm:prSet>
      <dgm:spPr/>
    </dgm:pt>
    <dgm:pt modelId="{B083C40C-3E22-43D4-8B40-D52B30E21751}" type="pres">
      <dgm:prSet presAssocID="{BFDE302F-E64C-4968-B3FB-D78B3DD3B5C4}" presName="boxAndChildren" presStyleCnt="0"/>
      <dgm:spPr/>
    </dgm:pt>
    <dgm:pt modelId="{C799DCA9-8BF9-40B6-B618-989BC8E62669}" type="pres">
      <dgm:prSet presAssocID="{BFDE302F-E64C-4968-B3FB-D78B3DD3B5C4}" presName="parentTextBox" presStyleLbl="node1" presStyleIdx="0" presStyleCnt="2"/>
      <dgm:spPr/>
    </dgm:pt>
    <dgm:pt modelId="{265DAC1E-9DA7-40F0-8FDA-895F47C70BE1}" type="pres">
      <dgm:prSet presAssocID="{BFDE302F-E64C-4968-B3FB-D78B3DD3B5C4}" presName="entireBox" presStyleLbl="node1" presStyleIdx="0" presStyleCnt="2"/>
      <dgm:spPr/>
    </dgm:pt>
    <dgm:pt modelId="{B8C61AB4-2F69-4A76-B38C-53BC7155FA60}" type="pres">
      <dgm:prSet presAssocID="{BFDE302F-E64C-4968-B3FB-D78B3DD3B5C4}" presName="descendantBox" presStyleCnt="0"/>
      <dgm:spPr/>
    </dgm:pt>
    <dgm:pt modelId="{E918EABE-98A5-488D-8D8A-98AD2AFE0B92}" type="pres">
      <dgm:prSet presAssocID="{E4425CA9-1369-41E4-AF08-5BC68F801DF1}" presName="childTextBox" presStyleLbl="fgAccFollowNode1" presStyleIdx="0" presStyleCnt="4">
        <dgm:presLayoutVars>
          <dgm:bulletEnabled val="1"/>
        </dgm:presLayoutVars>
      </dgm:prSet>
      <dgm:spPr/>
    </dgm:pt>
    <dgm:pt modelId="{6E41C27B-97C1-4D23-A25A-237883CC9443}" type="pres">
      <dgm:prSet presAssocID="{BEBCCE21-99B5-4360-961B-4DD10A068B79}" presName="childTextBox" presStyleLbl="fgAccFollowNode1" presStyleIdx="1" presStyleCnt="4">
        <dgm:presLayoutVars>
          <dgm:bulletEnabled val="1"/>
        </dgm:presLayoutVars>
      </dgm:prSet>
      <dgm:spPr/>
    </dgm:pt>
    <dgm:pt modelId="{4DE826F1-7FC7-459A-84FD-58313BE61D36}" type="pres">
      <dgm:prSet presAssocID="{7A1E174F-DB1F-46C9-9144-2C9581846EFF}" presName="childTextBox" presStyleLbl="fgAccFollowNode1" presStyleIdx="2" presStyleCnt="4">
        <dgm:presLayoutVars>
          <dgm:bulletEnabled val="1"/>
        </dgm:presLayoutVars>
      </dgm:prSet>
      <dgm:spPr/>
    </dgm:pt>
    <dgm:pt modelId="{560D3FFA-766D-4799-80E1-7029119310BB}" type="pres">
      <dgm:prSet presAssocID="{F69EAE84-61A1-4C2F-9788-6714941B216C}" presName="childTextBox" presStyleLbl="fgAccFollowNode1" presStyleIdx="3" presStyleCnt="4">
        <dgm:presLayoutVars>
          <dgm:bulletEnabled val="1"/>
        </dgm:presLayoutVars>
      </dgm:prSet>
      <dgm:spPr/>
    </dgm:pt>
    <dgm:pt modelId="{BA0EAA61-7F9C-402A-A24F-A637AFBBDB5A}" type="pres">
      <dgm:prSet presAssocID="{DF157C89-0149-4C64-961D-584D8BC6C3A7}" presName="sp" presStyleCnt="0"/>
      <dgm:spPr/>
    </dgm:pt>
    <dgm:pt modelId="{B950CF22-2EC7-4FCA-A36F-558FAC076796}" type="pres">
      <dgm:prSet presAssocID="{5193185B-D8A2-4782-80BD-0B74CB4BC368}" presName="arrowAndChildren" presStyleCnt="0"/>
      <dgm:spPr/>
    </dgm:pt>
    <dgm:pt modelId="{B999B863-FCAD-4F55-9902-D9C2A75E3DB9}" type="pres">
      <dgm:prSet presAssocID="{5193185B-D8A2-4782-80BD-0B74CB4BC368}" presName="parentTextArrow" presStyleLbl="node1" presStyleIdx="1" presStyleCnt="2"/>
      <dgm:spPr/>
    </dgm:pt>
  </dgm:ptLst>
  <dgm:cxnLst>
    <dgm:cxn modelId="{544D8107-E0DB-400D-A907-A850EBAE215B}" srcId="{3B197C09-140B-47A4-8223-E7EB5B98FB43}" destId="{5193185B-D8A2-4782-80BD-0B74CB4BC368}" srcOrd="0" destOrd="0" parTransId="{B7173305-28CA-4FF7-B9B0-18876153A13C}" sibTransId="{DF157C89-0149-4C64-961D-584D8BC6C3A7}"/>
    <dgm:cxn modelId="{5E4B7423-61AB-45EB-A6F7-329D5FB83320}" srcId="{BFDE302F-E64C-4968-B3FB-D78B3DD3B5C4}" destId="{E4425CA9-1369-41E4-AF08-5BC68F801DF1}" srcOrd="0" destOrd="0" parTransId="{60F045FA-8280-488F-A4EB-41CBA512D4B0}" sibTransId="{A2F0E83E-DEA1-4F42-8BEA-6571452FC39D}"/>
    <dgm:cxn modelId="{88ABCE3B-1B7A-48DC-B359-F99D3FAD120A}" type="presOf" srcId="{E4425CA9-1369-41E4-AF08-5BC68F801DF1}" destId="{E918EABE-98A5-488D-8D8A-98AD2AFE0B92}" srcOrd="0" destOrd="0" presId="urn:microsoft.com/office/officeart/2005/8/layout/process4"/>
    <dgm:cxn modelId="{6FC0FE62-D18C-4109-88FA-F3339327C154}" type="presOf" srcId="{BFDE302F-E64C-4968-B3FB-D78B3DD3B5C4}" destId="{265DAC1E-9DA7-40F0-8FDA-895F47C70BE1}" srcOrd="1" destOrd="0" presId="urn:microsoft.com/office/officeart/2005/8/layout/process4"/>
    <dgm:cxn modelId="{E6F26744-CEFB-4F97-998E-FA6F87970951}" type="presOf" srcId="{3B197C09-140B-47A4-8223-E7EB5B98FB43}" destId="{40641D1E-A39E-4D43-BFDA-3CDAB8A72B19}" srcOrd="0" destOrd="0" presId="urn:microsoft.com/office/officeart/2005/8/layout/process4"/>
    <dgm:cxn modelId="{8B910E57-8BD5-448B-8229-D153DE5D0DFC}" type="presOf" srcId="{7A1E174F-DB1F-46C9-9144-2C9581846EFF}" destId="{4DE826F1-7FC7-459A-84FD-58313BE61D36}" srcOrd="0" destOrd="0" presId="urn:microsoft.com/office/officeart/2005/8/layout/process4"/>
    <dgm:cxn modelId="{7B868A78-8D3E-4D43-AB85-1DD30061735D}" type="presOf" srcId="{5193185B-D8A2-4782-80BD-0B74CB4BC368}" destId="{B999B863-FCAD-4F55-9902-D9C2A75E3DB9}" srcOrd="0" destOrd="0" presId="urn:microsoft.com/office/officeart/2005/8/layout/process4"/>
    <dgm:cxn modelId="{BEB69C84-8D5B-4FCE-9F0D-2C1E46920D2B}" srcId="{BFDE302F-E64C-4968-B3FB-D78B3DD3B5C4}" destId="{7A1E174F-DB1F-46C9-9144-2C9581846EFF}" srcOrd="2" destOrd="0" parTransId="{BEF328FA-64E9-433C-8039-7F6992F31337}" sibTransId="{9FEFEB32-D606-4925-877E-199162434D3C}"/>
    <dgm:cxn modelId="{EDDD3286-8870-4C67-B68F-EDD407AED4ED}" type="presOf" srcId="{BEBCCE21-99B5-4360-961B-4DD10A068B79}" destId="{6E41C27B-97C1-4D23-A25A-237883CC9443}" srcOrd="0" destOrd="0" presId="urn:microsoft.com/office/officeart/2005/8/layout/process4"/>
    <dgm:cxn modelId="{8D72578E-8120-438F-9191-C951E657922A}" srcId="{BFDE302F-E64C-4968-B3FB-D78B3DD3B5C4}" destId="{F69EAE84-61A1-4C2F-9788-6714941B216C}" srcOrd="3" destOrd="0" parTransId="{3EFA36D7-656B-4B2D-873A-21C051F38EC2}" sibTransId="{7FEC5C52-6E89-4620-8599-1D820D458C19}"/>
    <dgm:cxn modelId="{1E036499-F365-424D-B219-713D20482AC4}" srcId="{3B197C09-140B-47A4-8223-E7EB5B98FB43}" destId="{BFDE302F-E64C-4968-B3FB-D78B3DD3B5C4}" srcOrd="1" destOrd="0" parTransId="{D5AA070E-DA3D-4E9F-9ECD-9F803BE6B3E6}" sibTransId="{8EF2EECF-F489-41BE-9835-3A8DA5FD97E2}"/>
    <dgm:cxn modelId="{ABB2CDC5-CCA9-456F-8D9C-4EC7001CDD0A}" type="presOf" srcId="{F69EAE84-61A1-4C2F-9788-6714941B216C}" destId="{560D3FFA-766D-4799-80E1-7029119310BB}" srcOrd="0" destOrd="0" presId="urn:microsoft.com/office/officeart/2005/8/layout/process4"/>
    <dgm:cxn modelId="{A99BD9DD-1391-42BB-9C33-2EF597EA9384}" srcId="{BFDE302F-E64C-4968-B3FB-D78B3DD3B5C4}" destId="{BEBCCE21-99B5-4360-961B-4DD10A068B79}" srcOrd="1" destOrd="0" parTransId="{DFABA83A-0992-4885-A1BC-45FEEB4CA4C0}" sibTransId="{EC86CCFE-DFD7-48D7-B98F-CCCC7A0E53F9}"/>
    <dgm:cxn modelId="{224911FD-032E-45A2-9E54-567FD84192BF}" type="presOf" srcId="{BFDE302F-E64C-4968-B3FB-D78B3DD3B5C4}" destId="{C799DCA9-8BF9-40B6-B618-989BC8E62669}" srcOrd="0" destOrd="0" presId="urn:microsoft.com/office/officeart/2005/8/layout/process4"/>
    <dgm:cxn modelId="{A771964A-A4EF-495C-BED8-C1A9D1D6D66D}" type="presParOf" srcId="{40641D1E-A39E-4D43-BFDA-3CDAB8A72B19}" destId="{B083C40C-3E22-43D4-8B40-D52B30E21751}" srcOrd="0" destOrd="0" presId="urn:microsoft.com/office/officeart/2005/8/layout/process4"/>
    <dgm:cxn modelId="{DFDC98CC-8F78-4806-8A91-162D63A2AD9E}" type="presParOf" srcId="{B083C40C-3E22-43D4-8B40-D52B30E21751}" destId="{C799DCA9-8BF9-40B6-B618-989BC8E62669}" srcOrd="0" destOrd="0" presId="urn:microsoft.com/office/officeart/2005/8/layout/process4"/>
    <dgm:cxn modelId="{7767ADF1-8247-478E-B580-0B3E860A2C98}" type="presParOf" srcId="{B083C40C-3E22-43D4-8B40-D52B30E21751}" destId="{265DAC1E-9DA7-40F0-8FDA-895F47C70BE1}" srcOrd="1" destOrd="0" presId="urn:microsoft.com/office/officeart/2005/8/layout/process4"/>
    <dgm:cxn modelId="{11145676-EE6B-4EC1-83B0-2A1046553E8F}" type="presParOf" srcId="{B083C40C-3E22-43D4-8B40-D52B30E21751}" destId="{B8C61AB4-2F69-4A76-B38C-53BC7155FA60}" srcOrd="2" destOrd="0" presId="urn:microsoft.com/office/officeart/2005/8/layout/process4"/>
    <dgm:cxn modelId="{AE2911FF-D221-405F-8F81-27979664FD05}" type="presParOf" srcId="{B8C61AB4-2F69-4A76-B38C-53BC7155FA60}" destId="{E918EABE-98A5-488D-8D8A-98AD2AFE0B92}" srcOrd="0" destOrd="0" presId="urn:microsoft.com/office/officeart/2005/8/layout/process4"/>
    <dgm:cxn modelId="{DE6E4B8D-1AC6-464D-88F4-323A4BDD3993}" type="presParOf" srcId="{B8C61AB4-2F69-4A76-B38C-53BC7155FA60}" destId="{6E41C27B-97C1-4D23-A25A-237883CC9443}" srcOrd="1" destOrd="0" presId="urn:microsoft.com/office/officeart/2005/8/layout/process4"/>
    <dgm:cxn modelId="{F39506EA-109C-4403-8436-9A7559767928}" type="presParOf" srcId="{B8C61AB4-2F69-4A76-B38C-53BC7155FA60}" destId="{4DE826F1-7FC7-459A-84FD-58313BE61D36}" srcOrd="2" destOrd="0" presId="urn:microsoft.com/office/officeart/2005/8/layout/process4"/>
    <dgm:cxn modelId="{D8301B80-F4D9-481E-814A-301A9C6AAA4A}" type="presParOf" srcId="{B8C61AB4-2F69-4A76-B38C-53BC7155FA60}" destId="{560D3FFA-766D-4799-80E1-7029119310BB}" srcOrd="3" destOrd="0" presId="urn:microsoft.com/office/officeart/2005/8/layout/process4"/>
    <dgm:cxn modelId="{F384AE26-CE33-4192-A1DB-CD7C079AB1E4}" type="presParOf" srcId="{40641D1E-A39E-4D43-BFDA-3CDAB8A72B19}" destId="{BA0EAA61-7F9C-402A-A24F-A637AFBBDB5A}" srcOrd="1" destOrd="0" presId="urn:microsoft.com/office/officeart/2005/8/layout/process4"/>
    <dgm:cxn modelId="{AEA53626-1FA9-4958-B220-CC3183CCD7AF}" type="presParOf" srcId="{40641D1E-A39E-4D43-BFDA-3CDAB8A72B19}" destId="{B950CF22-2EC7-4FCA-A36F-558FAC076796}" srcOrd="2" destOrd="0" presId="urn:microsoft.com/office/officeart/2005/8/layout/process4"/>
    <dgm:cxn modelId="{DE25D40D-CBAA-47F1-881D-8D00DA38B729}" type="presParOf" srcId="{B950CF22-2EC7-4FCA-A36F-558FAC076796}" destId="{B999B863-FCAD-4F55-9902-D9C2A75E3DB9}" srcOrd="0" destOrd="0" presId="urn:microsoft.com/office/officeart/2005/8/layout/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629B9B3-C946-41DE-BED7-8C5565F49E86}" type="doc">
      <dgm:prSet loTypeId="urn:microsoft.com/office/officeart/2018/2/layout/IconLabelDescriptionList" loCatId="icon" qsTypeId="urn:microsoft.com/office/officeart/2005/8/quickstyle/simple1" qsCatId="simple" csTypeId="urn:microsoft.com/office/officeart/2018/5/colors/Iconchunking_neutralbg_accent1_2" csCatId="accent1" phldr="1"/>
      <dgm:spPr/>
      <dgm:t>
        <a:bodyPr/>
        <a:lstStyle/>
        <a:p>
          <a:endParaRPr lang="en-US"/>
        </a:p>
      </dgm:t>
    </dgm:pt>
    <dgm:pt modelId="{ECAEE539-3DCE-42E8-A15C-097B6BB86FB6}">
      <dgm:prSet custT="1"/>
      <dgm:spPr/>
      <dgm:t>
        <a:bodyPr/>
        <a:lstStyle/>
        <a:p>
          <a:pPr>
            <a:defRPr b="1"/>
          </a:pPr>
          <a:r>
            <a:rPr lang="en-US" sz="2000" dirty="0"/>
            <a:t>Size of one’s </a:t>
          </a:r>
          <a:r>
            <a:rPr lang="en-US" sz="2000" i="1" dirty="0"/>
            <a:t>social network </a:t>
          </a:r>
          <a:r>
            <a:rPr lang="en-US" sz="2000" dirty="0"/>
            <a:t>(i.e., the number of people in one’s life) is related to greater levels of psychological well-being.</a:t>
          </a:r>
        </a:p>
      </dgm:t>
    </dgm:pt>
    <dgm:pt modelId="{DC01A48F-F3E2-4991-948B-BBDD501DDD42}" type="parTrans" cxnId="{E1549ECE-A273-4447-82A3-05532B96B744}">
      <dgm:prSet/>
      <dgm:spPr/>
      <dgm:t>
        <a:bodyPr/>
        <a:lstStyle/>
        <a:p>
          <a:endParaRPr lang="en-US"/>
        </a:p>
      </dgm:t>
    </dgm:pt>
    <dgm:pt modelId="{61D091BE-A9FD-421C-94CE-BE752734A696}" type="sibTrans" cxnId="{E1549ECE-A273-4447-82A3-05532B96B744}">
      <dgm:prSet/>
      <dgm:spPr/>
      <dgm:t>
        <a:bodyPr/>
        <a:lstStyle/>
        <a:p>
          <a:endParaRPr lang="en-US"/>
        </a:p>
      </dgm:t>
    </dgm:pt>
    <dgm:pt modelId="{7FF1465A-E0A6-4E08-A0D9-7F2E28CBBE35}">
      <dgm:prSet/>
      <dgm:spPr/>
      <dgm:t>
        <a:bodyPr/>
        <a:lstStyle/>
        <a:p>
          <a:pPr>
            <a:defRPr b="1"/>
          </a:pPr>
          <a:r>
            <a:rPr lang="en-US" dirty="0"/>
            <a:t>Important Study: Diener &amp; Seligman (2002)</a:t>
          </a:r>
        </a:p>
      </dgm:t>
    </dgm:pt>
    <dgm:pt modelId="{361615C0-4DDC-44E4-8190-DC7759C7E23B}" type="parTrans" cxnId="{BD3BB145-7FD7-4B10-B19A-2F4F48467B76}">
      <dgm:prSet/>
      <dgm:spPr/>
      <dgm:t>
        <a:bodyPr/>
        <a:lstStyle/>
        <a:p>
          <a:endParaRPr lang="en-US"/>
        </a:p>
      </dgm:t>
    </dgm:pt>
    <dgm:pt modelId="{F0B8F4B9-D2C8-4B9B-B814-4A1FC68646B1}" type="sibTrans" cxnId="{BD3BB145-7FD7-4B10-B19A-2F4F48467B76}">
      <dgm:prSet/>
      <dgm:spPr/>
      <dgm:t>
        <a:bodyPr/>
        <a:lstStyle/>
        <a:p>
          <a:endParaRPr lang="en-US"/>
        </a:p>
      </dgm:t>
    </dgm:pt>
    <dgm:pt modelId="{7CFC5452-DE0F-42EC-A538-7F2EDB760589}">
      <dgm:prSet/>
      <dgm:spPr/>
      <dgm:t>
        <a:bodyPr/>
        <a:lstStyle/>
        <a:p>
          <a:r>
            <a:rPr lang="en-US" dirty="0"/>
            <a:t>Tracked 222 undergraduates for a semester, administering surveys to participants and people who knew them. </a:t>
          </a:r>
        </a:p>
      </dgm:t>
    </dgm:pt>
    <dgm:pt modelId="{DF7DAA7B-A353-4E65-9935-44396C28521F}" type="parTrans" cxnId="{0CFB341A-D52A-47AA-BEE0-5D421A3E8B92}">
      <dgm:prSet/>
      <dgm:spPr/>
      <dgm:t>
        <a:bodyPr/>
        <a:lstStyle/>
        <a:p>
          <a:endParaRPr lang="en-US"/>
        </a:p>
      </dgm:t>
    </dgm:pt>
    <dgm:pt modelId="{6AC7796B-5512-421E-BDCC-1352610150A0}" type="sibTrans" cxnId="{0CFB341A-D52A-47AA-BEE0-5D421A3E8B92}">
      <dgm:prSet/>
      <dgm:spPr/>
      <dgm:t>
        <a:bodyPr/>
        <a:lstStyle/>
        <a:p>
          <a:endParaRPr lang="en-US"/>
        </a:p>
      </dgm:t>
    </dgm:pt>
    <dgm:pt modelId="{915A91A6-BE85-47AC-935B-BD1637D25D3E}">
      <dgm:prSet/>
      <dgm:spPr/>
      <dgm:t>
        <a:bodyPr/>
        <a:lstStyle/>
        <a:p>
          <a:r>
            <a:rPr lang="en-US" dirty="0"/>
            <a:t>Results: The happiest ten percent of participants spent less time alone than the least happy ten percent. Moreover, they were much more satisfied with their relationships than the unhappy participants, including their close friendships, family relationships, and romantic relationships.</a:t>
          </a:r>
        </a:p>
      </dgm:t>
    </dgm:pt>
    <dgm:pt modelId="{EB7FE3F4-AE10-43D5-8D72-F7D986C13006}" type="parTrans" cxnId="{A3389DFE-2484-4CAF-B3AA-EC9E92332C76}">
      <dgm:prSet/>
      <dgm:spPr/>
      <dgm:t>
        <a:bodyPr/>
        <a:lstStyle/>
        <a:p>
          <a:endParaRPr lang="en-US"/>
        </a:p>
      </dgm:t>
    </dgm:pt>
    <dgm:pt modelId="{AE6AC792-7AFE-4F42-86B2-259783A635FA}" type="sibTrans" cxnId="{A3389DFE-2484-4CAF-B3AA-EC9E92332C76}">
      <dgm:prSet/>
      <dgm:spPr/>
      <dgm:t>
        <a:bodyPr/>
        <a:lstStyle/>
        <a:p>
          <a:endParaRPr lang="en-US"/>
        </a:p>
      </dgm:t>
    </dgm:pt>
    <dgm:pt modelId="{027E2DD5-3075-4185-A651-9C2661758D2A}" type="pres">
      <dgm:prSet presAssocID="{4629B9B3-C946-41DE-BED7-8C5565F49E86}" presName="root" presStyleCnt="0">
        <dgm:presLayoutVars>
          <dgm:dir/>
          <dgm:resizeHandles val="exact"/>
        </dgm:presLayoutVars>
      </dgm:prSet>
      <dgm:spPr/>
    </dgm:pt>
    <dgm:pt modelId="{30848F6D-CEF2-48BE-85A5-905D977C36E9}" type="pres">
      <dgm:prSet presAssocID="{ECAEE539-3DCE-42E8-A15C-097B6BB86FB6}" presName="compNode" presStyleCnt="0"/>
      <dgm:spPr/>
    </dgm:pt>
    <dgm:pt modelId="{0FA979EE-6718-4678-8B2F-46A6C52E7687}" type="pres">
      <dgm:prSet presAssocID="{ECAEE539-3DCE-42E8-A15C-097B6BB86FB6}" presName="iconRect" presStyleLbl="node1" presStyleIdx="0" presStyleCnt="2" custLinFactNeighborX="8785" custLinFactNeighborY="-54117"/>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onnections"/>
        </a:ext>
      </dgm:extLst>
    </dgm:pt>
    <dgm:pt modelId="{3AF02F6A-6369-447F-8592-C5FF90ED3A4D}" type="pres">
      <dgm:prSet presAssocID="{ECAEE539-3DCE-42E8-A15C-097B6BB86FB6}" presName="iconSpace" presStyleCnt="0"/>
      <dgm:spPr/>
    </dgm:pt>
    <dgm:pt modelId="{623B45C4-C9E2-4B5C-B1EF-E4F198385386}" type="pres">
      <dgm:prSet presAssocID="{ECAEE539-3DCE-42E8-A15C-097B6BB86FB6}" presName="parTx" presStyleLbl="revTx" presStyleIdx="0" presStyleCnt="4" custScaleY="96109" custLinFactNeighborX="1118" custLinFactNeighborY="-64374">
        <dgm:presLayoutVars>
          <dgm:chMax val="0"/>
          <dgm:chPref val="0"/>
        </dgm:presLayoutVars>
      </dgm:prSet>
      <dgm:spPr/>
    </dgm:pt>
    <dgm:pt modelId="{9FDCFFB8-BE8C-40A7-A0B2-FF31B373C070}" type="pres">
      <dgm:prSet presAssocID="{ECAEE539-3DCE-42E8-A15C-097B6BB86FB6}" presName="txSpace" presStyleCnt="0"/>
      <dgm:spPr/>
    </dgm:pt>
    <dgm:pt modelId="{E9B13696-1F27-495B-A0B7-B5513DC4D88D}" type="pres">
      <dgm:prSet presAssocID="{ECAEE539-3DCE-42E8-A15C-097B6BB86FB6}" presName="desTx" presStyleLbl="revTx" presStyleIdx="1" presStyleCnt="4">
        <dgm:presLayoutVars/>
      </dgm:prSet>
      <dgm:spPr/>
    </dgm:pt>
    <dgm:pt modelId="{C400AA72-53F2-4714-A0F6-E95F385A5359}" type="pres">
      <dgm:prSet presAssocID="{61D091BE-A9FD-421C-94CE-BE752734A696}" presName="sibTrans" presStyleCnt="0"/>
      <dgm:spPr/>
    </dgm:pt>
    <dgm:pt modelId="{DFC46A42-16FB-4C83-A6C5-F7E616192F19}" type="pres">
      <dgm:prSet presAssocID="{7FF1465A-E0A6-4E08-A0D9-7F2E28CBBE35}" presName="compNode" presStyleCnt="0"/>
      <dgm:spPr/>
    </dgm:pt>
    <dgm:pt modelId="{34F8764A-D0F0-4F71-90CB-ACA46F0D9224}" type="pres">
      <dgm:prSet presAssocID="{7FF1465A-E0A6-4E08-A0D9-7F2E28CBBE35}" presName="iconRect" presStyleLbl="node1" presStyleIdx="1" presStyleCnt="2" custLinFactNeighborX="-90184" custLinFactNeighborY="-6186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Target Audience"/>
        </a:ext>
      </dgm:extLst>
    </dgm:pt>
    <dgm:pt modelId="{C1800B15-9A1F-4129-AC6A-9DE07BB092D2}" type="pres">
      <dgm:prSet presAssocID="{7FF1465A-E0A6-4E08-A0D9-7F2E28CBBE35}" presName="iconSpace" presStyleCnt="0"/>
      <dgm:spPr/>
    </dgm:pt>
    <dgm:pt modelId="{9F21FD0A-ACB0-4170-A890-74A234AD472C}" type="pres">
      <dgm:prSet presAssocID="{7FF1465A-E0A6-4E08-A0D9-7F2E28CBBE35}" presName="parTx" presStyleLbl="revTx" presStyleIdx="2" presStyleCnt="4" custScaleX="94541" custLinFactX="11862" custLinFactY="-100000" custLinFactNeighborX="100000" custLinFactNeighborY="-107275">
        <dgm:presLayoutVars>
          <dgm:chMax val="0"/>
          <dgm:chPref val="0"/>
        </dgm:presLayoutVars>
      </dgm:prSet>
      <dgm:spPr/>
    </dgm:pt>
    <dgm:pt modelId="{DA56448F-68D5-430C-8495-FD2F4B7018B8}" type="pres">
      <dgm:prSet presAssocID="{7FF1465A-E0A6-4E08-A0D9-7F2E28CBBE35}" presName="txSpace" presStyleCnt="0"/>
      <dgm:spPr/>
    </dgm:pt>
    <dgm:pt modelId="{C2AF6ACD-33CD-4CA6-9F18-4B801E1DF7AB}" type="pres">
      <dgm:prSet presAssocID="{7FF1465A-E0A6-4E08-A0D9-7F2E28CBBE35}" presName="desTx" presStyleLbl="revTx" presStyleIdx="3" presStyleCnt="4" custLinFactY="-3000000" custLinFactNeighborX="-8989" custLinFactNeighborY="-3025428">
        <dgm:presLayoutVars/>
      </dgm:prSet>
      <dgm:spPr/>
    </dgm:pt>
  </dgm:ptLst>
  <dgm:cxnLst>
    <dgm:cxn modelId="{7EBA370C-29BD-4E2F-AA34-05EF58E93F30}" type="presOf" srcId="{4629B9B3-C946-41DE-BED7-8C5565F49E86}" destId="{027E2DD5-3075-4185-A651-9C2661758D2A}" srcOrd="0" destOrd="0" presId="urn:microsoft.com/office/officeart/2018/2/layout/IconLabelDescriptionList"/>
    <dgm:cxn modelId="{0CFB341A-D52A-47AA-BEE0-5D421A3E8B92}" srcId="{7FF1465A-E0A6-4E08-A0D9-7F2E28CBBE35}" destId="{7CFC5452-DE0F-42EC-A538-7F2EDB760589}" srcOrd="0" destOrd="0" parTransId="{DF7DAA7B-A353-4E65-9935-44396C28521F}" sibTransId="{6AC7796B-5512-421E-BDCC-1352610150A0}"/>
    <dgm:cxn modelId="{C151BB60-38B1-4DDB-8436-4CB9D4225EC3}" type="presOf" srcId="{7CFC5452-DE0F-42EC-A538-7F2EDB760589}" destId="{C2AF6ACD-33CD-4CA6-9F18-4B801E1DF7AB}" srcOrd="0" destOrd="0" presId="urn:microsoft.com/office/officeart/2018/2/layout/IconLabelDescriptionList"/>
    <dgm:cxn modelId="{BD3BB145-7FD7-4B10-B19A-2F4F48467B76}" srcId="{4629B9B3-C946-41DE-BED7-8C5565F49E86}" destId="{7FF1465A-E0A6-4E08-A0D9-7F2E28CBBE35}" srcOrd="1" destOrd="0" parTransId="{361615C0-4DDC-44E4-8190-DC7759C7E23B}" sibTransId="{F0B8F4B9-D2C8-4B9B-B814-4A1FC68646B1}"/>
    <dgm:cxn modelId="{2845DDAA-4634-4A9A-A2FC-EECAFC9B4269}" type="presOf" srcId="{915A91A6-BE85-47AC-935B-BD1637D25D3E}" destId="{C2AF6ACD-33CD-4CA6-9F18-4B801E1DF7AB}" srcOrd="0" destOrd="1" presId="urn:microsoft.com/office/officeart/2018/2/layout/IconLabelDescriptionList"/>
    <dgm:cxn modelId="{FEC758C1-65B8-44C0-8908-1B8C6F23DEE8}" type="presOf" srcId="{7FF1465A-E0A6-4E08-A0D9-7F2E28CBBE35}" destId="{9F21FD0A-ACB0-4170-A890-74A234AD472C}" srcOrd="0" destOrd="0" presId="urn:microsoft.com/office/officeart/2018/2/layout/IconLabelDescriptionList"/>
    <dgm:cxn modelId="{4ACC46C5-5B61-4863-97F6-1D48CBF1618C}" type="presOf" srcId="{ECAEE539-3DCE-42E8-A15C-097B6BB86FB6}" destId="{623B45C4-C9E2-4B5C-B1EF-E4F198385386}" srcOrd="0" destOrd="0" presId="urn:microsoft.com/office/officeart/2018/2/layout/IconLabelDescriptionList"/>
    <dgm:cxn modelId="{E1549ECE-A273-4447-82A3-05532B96B744}" srcId="{4629B9B3-C946-41DE-BED7-8C5565F49E86}" destId="{ECAEE539-3DCE-42E8-A15C-097B6BB86FB6}" srcOrd="0" destOrd="0" parTransId="{DC01A48F-F3E2-4991-948B-BBDD501DDD42}" sibTransId="{61D091BE-A9FD-421C-94CE-BE752734A696}"/>
    <dgm:cxn modelId="{A3389DFE-2484-4CAF-B3AA-EC9E92332C76}" srcId="{7FF1465A-E0A6-4E08-A0D9-7F2E28CBBE35}" destId="{915A91A6-BE85-47AC-935B-BD1637D25D3E}" srcOrd="1" destOrd="0" parTransId="{EB7FE3F4-AE10-43D5-8D72-F7D986C13006}" sibTransId="{AE6AC792-7AFE-4F42-86B2-259783A635FA}"/>
    <dgm:cxn modelId="{FF976F63-72CD-4A75-8E43-260CEE3109EF}" type="presParOf" srcId="{027E2DD5-3075-4185-A651-9C2661758D2A}" destId="{30848F6D-CEF2-48BE-85A5-905D977C36E9}" srcOrd="0" destOrd="0" presId="urn:microsoft.com/office/officeart/2018/2/layout/IconLabelDescriptionList"/>
    <dgm:cxn modelId="{FF2F0E6F-D1A3-428D-88A0-6D4916C23A8F}" type="presParOf" srcId="{30848F6D-CEF2-48BE-85A5-905D977C36E9}" destId="{0FA979EE-6718-4678-8B2F-46A6C52E7687}" srcOrd="0" destOrd="0" presId="urn:microsoft.com/office/officeart/2018/2/layout/IconLabelDescriptionList"/>
    <dgm:cxn modelId="{6BCD4E63-021F-41A0-99D8-EDC4953C9FE6}" type="presParOf" srcId="{30848F6D-CEF2-48BE-85A5-905D977C36E9}" destId="{3AF02F6A-6369-447F-8592-C5FF90ED3A4D}" srcOrd="1" destOrd="0" presId="urn:microsoft.com/office/officeart/2018/2/layout/IconLabelDescriptionList"/>
    <dgm:cxn modelId="{CB9515D5-240F-498E-90BC-3470CDD20DD6}" type="presParOf" srcId="{30848F6D-CEF2-48BE-85A5-905D977C36E9}" destId="{623B45C4-C9E2-4B5C-B1EF-E4F198385386}" srcOrd="2" destOrd="0" presId="urn:microsoft.com/office/officeart/2018/2/layout/IconLabelDescriptionList"/>
    <dgm:cxn modelId="{F1C7A821-E4EB-4645-B12A-2596B5C5A924}" type="presParOf" srcId="{30848F6D-CEF2-48BE-85A5-905D977C36E9}" destId="{9FDCFFB8-BE8C-40A7-A0B2-FF31B373C070}" srcOrd="3" destOrd="0" presId="urn:microsoft.com/office/officeart/2018/2/layout/IconLabelDescriptionList"/>
    <dgm:cxn modelId="{BA3CEC57-6B22-411F-AB0B-A164F1F0E44C}" type="presParOf" srcId="{30848F6D-CEF2-48BE-85A5-905D977C36E9}" destId="{E9B13696-1F27-495B-A0B7-B5513DC4D88D}" srcOrd="4" destOrd="0" presId="urn:microsoft.com/office/officeart/2018/2/layout/IconLabelDescriptionList"/>
    <dgm:cxn modelId="{9F9DFACA-ECAA-4E62-BDE2-93E82025A9E5}" type="presParOf" srcId="{027E2DD5-3075-4185-A651-9C2661758D2A}" destId="{C400AA72-53F2-4714-A0F6-E95F385A5359}" srcOrd="1" destOrd="0" presId="urn:microsoft.com/office/officeart/2018/2/layout/IconLabelDescriptionList"/>
    <dgm:cxn modelId="{3271DC62-B2DE-47BF-AE3B-A9FF252CA8F2}" type="presParOf" srcId="{027E2DD5-3075-4185-A651-9C2661758D2A}" destId="{DFC46A42-16FB-4C83-A6C5-F7E616192F19}" srcOrd="2" destOrd="0" presId="urn:microsoft.com/office/officeart/2018/2/layout/IconLabelDescriptionList"/>
    <dgm:cxn modelId="{80B6F626-7217-465A-B032-B5F047F6B6E1}" type="presParOf" srcId="{DFC46A42-16FB-4C83-A6C5-F7E616192F19}" destId="{34F8764A-D0F0-4F71-90CB-ACA46F0D9224}" srcOrd="0" destOrd="0" presId="urn:microsoft.com/office/officeart/2018/2/layout/IconLabelDescriptionList"/>
    <dgm:cxn modelId="{9F69EBF9-A5C9-49B9-9610-38E181BA822E}" type="presParOf" srcId="{DFC46A42-16FB-4C83-A6C5-F7E616192F19}" destId="{C1800B15-9A1F-4129-AC6A-9DE07BB092D2}" srcOrd="1" destOrd="0" presId="urn:microsoft.com/office/officeart/2018/2/layout/IconLabelDescriptionList"/>
    <dgm:cxn modelId="{FD33F636-92A9-4E58-A19C-A23F53CC5F8B}" type="presParOf" srcId="{DFC46A42-16FB-4C83-A6C5-F7E616192F19}" destId="{9F21FD0A-ACB0-4170-A890-74A234AD472C}" srcOrd="2" destOrd="0" presId="urn:microsoft.com/office/officeart/2018/2/layout/IconLabelDescriptionList"/>
    <dgm:cxn modelId="{500EEABF-DB48-448C-97E5-3B303DF1B9CF}" type="presParOf" srcId="{DFC46A42-16FB-4C83-A6C5-F7E616192F19}" destId="{DA56448F-68D5-430C-8495-FD2F4B7018B8}" srcOrd="3" destOrd="0" presId="urn:microsoft.com/office/officeart/2018/2/layout/IconLabelDescriptionList"/>
    <dgm:cxn modelId="{6A333CB7-3449-4B87-8B37-DC80E0928F97}" type="presParOf" srcId="{DFC46A42-16FB-4C83-A6C5-F7E616192F19}" destId="{C2AF6ACD-33CD-4CA6-9F18-4B801E1DF7AB}" srcOrd="4" destOrd="0" presId="urn:microsoft.com/office/officeart/2018/2/layout/IconLabelDescrip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8E550EB0-641B-40B0-B22D-D077AA23ADEF}" type="doc">
      <dgm:prSet loTypeId="urn:microsoft.com/office/officeart/2005/8/layout/process4" loCatId="process" qsTypeId="urn:microsoft.com/office/officeart/2005/8/quickstyle/simple1" qsCatId="simple" csTypeId="urn:microsoft.com/office/officeart/2005/8/colors/colorful2" csCatId="colorful"/>
      <dgm:spPr/>
      <dgm:t>
        <a:bodyPr/>
        <a:lstStyle/>
        <a:p>
          <a:endParaRPr lang="en-US"/>
        </a:p>
      </dgm:t>
    </dgm:pt>
    <dgm:pt modelId="{ED3A99BC-28E3-4145-ACC1-FC17D5C9341E}">
      <dgm:prSet/>
      <dgm:spPr/>
      <dgm:t>
        <a:bodyPr/>
        <a:lstStyle/>
        <a:p>
          <a:r>
            <a:rPr lang="en-US"/>
            <a:t>In general, social exchange theories assert that decisions to engage in and remain in relationships, as well as relationship satisfaction, depend on weighing the costs (e.g., companionship, support, sex, material resources) and benefits (e.g., stress, arguments, time compromises). </a:t>
          </a:r>
        </a:p>
      </dgm:t>
    </dgm:pt>
    <dgm:pt modelId="{0E72C96D-34B8-443D-8330-F7703EA06080}" type="parTrans" cxnId="{537AF2E8-3EE3-4AE6-8805-6E3E9C30C5E3}">
      <dgm:prSet/>
      <dgm:spPr/>
      <dgm:t>
        <a:bodyPr/>
        <a:lstStyle/>
        <a:p>
          <a:endParaRPr lang="en-US"/>
        </a:p>
      </dgm:t>
    </dgm:pt>
    <dgm:pt modelId="{A6282622-5997-4458-B0A5-3350EB376169}" type="sibTrans" cxnId="{537AF2E8-3EE3-4AE6-8805-6E3E9C30C5E3}">
      <dgm:prSet/>
      <dgm:spPr/>
      <dgm:t>
        <a:bodyPr/>
        <a:lstStyle/>
        <a:p>
          <a:endParaRPr lang="en-US"/>
        </a:p>
      </dgm:t>
    </dgm:pt>
    <dgm:pt modelId="{2F079E5E-A9FE-4D51-8364-DF105BD7EAE3}">
      <dgm:prSet/>
      <dgm:spPr/>
      <dgm:t>
        <a:bodyPr/>
        <a:lstStyle/>
        <a:p>
          <a:r>
            <a:rPr lang="en-US"/>
            <a:t>Two prominent social exchange theories:</a:t>
          </a:r>
        </a:p>
      </dgm:t>
    </dgm:pt>
    <dgm:pt modelId="{A9F551BA-AC14-4F5A-8921-3BFC2C11EC8C}" type="parTrans" cxnId="{52C38A6E-CC07-4E38-A5BD-F33C1888BA27}">
      <dgm:prSet/>
      <dgm:spPr/>
      <dgm:t>
        <a:bodyPr/>
        <a:lstStyle/>
        <a:p>
          <a:endParaRPr lang="en-US"/>
        </a:p>
      </dgm:t>
    </dgm:pt>
    <dgm:pt modelId="{D9037B67-96FA-4F9C-B31A-9C7A52556B63}" type="sibTrans" cxnId="{52C38A6E-CC07-4E38-A5BD-F33C1888BA27}">
      <dgm:prSet/>
      <dgm:spPr/>
      <dgm:t>
        <a:bodyPr/>
        <a:lstStyle/>
        <a:p>
          <a:endParaRPr lang="en-US"/>
        </a:p>
      </dgm:t>
    </dgm:pt>
    <dgm:pt modelId="{7ECEDE27-2E5A-481D-9759-EF8D1CF2AA7C}">
      <dgm:prSet/>
      <dgm:spPr/>
      <dgm:t>
        <a:bodyPr/>
        <a:lstStyle/>
        <a:p>
          <a:r>
            <a:rPr lang="en-US"/>
            <a:t>Thibault and Kelley (1959)</a:t>
          </a:r>
        </a:p>
      </dgm:t>
    </dgm:pt>
    <dgm:pt modelId="{119A200B-9E32-4166-ABA1-CE831F6AB2DB}" type="parTrans" cxnId="{1AF75FA5-26E6-4D94-86CB-00B0DAC29EEA}">
      <dgm:prSet/>
      <dgm:spPr/>
      <dgm:t>
        <a:bodyPr/>
        <a:lstStyle/>
        <a:p>
          <a:endParaRPr lang="en-US"/>
        </a:p>
      </dgm:t>
    </dgm:pt>
    <dgm:pt modelId="{BA61B97A-0EE5-49A6-B47A-B475F3D11ED3}" type="sibTrans" cxnId="{1AF75FA5-26E6-4D94-86CB-00B0DAC29EEA}">
      <dgm:prSet/>
      <dgm:spPr/>
      <dgm:t>
        <a:bodyPr/>
        <a:lstStyle/>
        <a:p>
          <a:endParaRPr lang="en-US"/>
        </a:p>
      </dgm:t>
    </dgm:pt>
    <dgm:pt modelId="{604C17F3-F6C0-4C9D-8C84-2E984CFD1C56}">
      <dgm:prSet/>
      <dgm:spPr/>
      <dgm:t>
        <a:bodyPr/>
        <a:lstStyle/>
        <a:p>
          <a:r>
            <a:rPr lang="en-US"/>
            <a:t>Rusbult (1980)</a:t>
          </a:r>
        </a:p>
      </dgm:t>
    </dgm:pt>
    <dgm:pt modelId="{5D2A97E8-6A25-467A-BBBA-EA23437B3BAE}" type="parTrans" cxnId="{EF71244B-A3DC-46EB-B806-55DDE2D7138A}">
      <dgm:prSet/>
      <dgm:spPr/>
      <dgm:t>
        <a:bodyPr/>
        <a:lstStyle/>
        <a:p>
          <a:endParaRPr lang="en-US"/>
        </a:p>
      </dgm:t>
    </dgm:pt>
    <dgm:pt modelId="{9AE4632C-D281-464F-BB7E-C79B2971FB3D}" type="sibTrans" cxnId="{EF71244B-A3DC-46EB-B806-55DDE2D7138A}">
      <dgm:prSet/>
      <dgm:spPr/>
      <dgm:t>
        <a:bodyPr/>
        <a:lstStyle/>
        <a:p>
          <a:endParaRPr lang="en-US"/>
        </a:p>
      </dgm:t>
    </dgm:pt>
    <dgm:pt modelId="{0D243077-0E16-4D15-8253-0402159C6339}" type="pres">
      <dgm:prSet presAssocID="{8E550EB0-641B-40B0-B22D-D077AA23ADEF}" presName="Name0" presStyleCnt="0">
        <dgm:presLayoutVars>
          <dgm:dir/>
          <dgm:animLvl val="lvl"/>
          <dgm:resizeHandles val="exact"/>
        </dgm:presLayoutVars>
      </dgm:prSet>
      <dgm:spPr/>
    </dgm:pt>
    <dgm:pt modelId="{C7632C90-FF0D-4252-BF2A-9ABCF624C1C5}" type="pres">
      <dgm:prSet presAssocID="{2F079E5E-A9FE-4D51-8364-DF105BD7EAE3}" presName="boxAndChildren" presStyleCnt="0"/>
      <dgm:spPr/>
    </dgm:pt>
    <dgm:pt modelId="{AAF1403B-E488-4C2A-893D-AFD846B9A781}" type="pres">
      <dgm:prSet presAssocID="{2F079E5E-A9FE-4D51-8364-DF105BD7EAE3}" presName="parentTextBox" presStyleLbl="node1" presStyleIdx="0" presStyleCnt="2"/>
      <dgm:spPr/>
    </dgm:pt>
    <dgm:pt modelId="{F7D289BF-6160-4BD2-BBAB-273ABFEA3B66}" type="pres">
      <dgm:prSet presAssocID="{2F079E5E-A9FE-4D51-8364-DF105BD7EAE3}" presName="entireBox" presStyleLbl="node1" presStyleIdx="0" presStyleCnt="2"/>
      <dgm:spPr/>
    </dgm:pt>
    <dgm:pt modelId="{A283BFD0-BEF6-4734-B8E0-8509E5055A80}" type="pres">
      <dgm:prSet presAssocID="{2F079E5E-A9FE-4D51-8364-DF105BD7EAE3}" presName="descendantBox" presStyleCnt="0"/>
      <dgm:spPr/>
    </dgm:pt>
    <dgm:pt modelId="{D902561A-8A3E-4615-8749-FE6517209063}" type="pres">
      <dgm:prSet presAssocID="{7ECEDE27-2E5A-481D-9759-EF8D1CF2AA7C}" presName="childTextBox" presStyleLbl="fgAccFollowNode1" presStyleIdx="0" presStyleCnt="2">
        <dgm:presLayoutVars>
          <dgm:bulletEnabled val="1"/>
        </dgm:presLayoutVars>
      </dgm:prSet>
      <dgm:spPr/>
    </dgm:pt>
    <dgm:pt modelId="{4EFFF649-B886-4B5F-A6DD-B4618422D3E2}" type="pres">
      <dgm:prSet presAssocID="{604C17F3-F6C0-4C9D-8C84-2E984CFD1C56}" presName="childTextBox" presStyleLbl="fgAccFollowNode1" presStyleIdx="1" presStyleCnt="2">
        <dgm:presLayoutVars>
          <dgm:bulletEnabled val="1"/>
        </dgm:presLayoutVars>
      </dgm:prSet>
      <dgm:spPr/>
    </dgm:pt>
    <dgm:pt modelId="{080C4A5C-2CAE-4A37-B0FB-DC3C8DD7EB45}" type="pres">
      <dgm:prSet presAssocID="{A6282622-5997-4458-B0A5-3350EB376169}" presName="sp" presStyleCnt="0"/>
      <dgm:spPr/>
    </dgm:pt>
    <dgm:pt modelId="{0D5E72AB-A570-41A4-8909-3C501C3E23C0}" type="pres">
      <dgm:prSet presAssocID="{ED3A99BC-28E3-4145-ACC1-FC17D5C9341E}" presName="arrowAndChildren" presStyleCnt="0"/>
      <dgm:spPr/>
    </dgm:pt>
    <dgm:pt modelId="{8442C06F-213C-4885-AFEB-90EBE28A6EE3}" type="pres">
      <dgm:prSet presAssocID="{ED3A99BC-28E3-4145-ACC1-FC17D5C9341E}" presName="parentTextArrow" presStyleLbl="node1" presStyleIdx="1" presStyleCnt="2"/>
      <dgm:spPr/>
    </dgm:pt>
  </dgm:ptLst>
  <dgm:cxnLst>
    <dgm:cxn modelId="{52957F14-1ECF-4742-9C3A-06826EEDFCA6}" type="presOf" srcId="{2F079E5E-A9FE-4D51-8364-DF105BD7EAE3}" destId="{F7D289BF-6160-4BD2-BBAB-273ABFEA3B66}" srcOrd="1" destOrd="0" presId="urn:microsoft.com/office/officeart/2005/8/layout/process4"/>
    <dgm:cxn modelId="{CC11F333-7895-4709-A11D-E7E4FF52D8B3}" type="presOf" srcId="{7ECEDE27-2E5A-481D-9759-EF8D1CF2AA7C}" destId="{D902561A-8A3E-4615-8749-FE6517209063}" srcOrd="0" destOrd="0" presId="urn:microsoft.com/office/officeart/2005/8/layout/process4"/>
    <dgm:cxn modelId="{E454DA5C-76F1-442D-8468-651D7F80C1B3}" type="presOf" srcId="{ED3A99BC-28E3-4145-ACC1-FC17D5C9341E}" destId="{8442C06F-213C-4885-AFEB-90EBE28A6EE3}" srcOrd="0" destOrd="0" presId="urn:microsoft.com/office/officeart/2005/8/layout/process4"/>
    <dgm:cxn modelId="{7B5FAD66-F957-4268-BD0F-8AA1D745C0AC}" type="presOf" srcId="{604C17F3-F6C0-4C9D-8C84-2E984CFD1C56}" destId="{4EFFF649-B886-4B5F-A6DD-B4618422D3E2}" srcOrd="0" destOrd="0" presId="urn:microsoft.com/office/officeart/2005/8/layout/process4"/>
    <dgm:cxn modelId="{EF71244B-A3DC-46EB-B806-55DDE2D7138A}" srcId="{2F079E5E-A9FE-4D51-8364-DF105BD7EAE3}" destId="{604C17F3-F6C0-4C9D-8C84-2E984CFD1C56}" srcOrd="1" destOrd="0" parTransId="{5D2A97E8-6A25-467A-BBBA-EA23437B3BAE}" sibTransId="{9AE4632C-D281-464F-BB7E-C79B2971FB3D}"/>
    <dgm:cxn modelId="{52C38A6E-CC07-4E38-A5BD-F33C1888BA27}" srcId="{8E550EB0-641B-40B0-B22D-D077AA23ADEF}" destId="{2F079E5E-A9FE-4D51-8364-DF105BD7EAE3}" srcOrd="1" destOrd="0" parTransId="{A9F551BA-AC14-4F5A-8921-3BFC2C11EC8C}" sibTransId="{D9037B67-96FA-4F9C-B31A-9C7A52556B63}"/>
    <dgm:cxn modelId="{1C1AC376-8C4A-4C51-AAB3-F9019968BE90}" type="presOf" srcId="{8E550EB0-641B-40B0-B22D-D077AA23ADEF}" destId="{0D243077-0E16-4D15-8253-0402159C6339}" srcOrd="0" destOrd="0" presId="urn:microsoft.com/office/officeart/2005/8/layout/process4"/>
    <dgm:cxn modelId="{1AF75FA5-26E6-4D94-86CB-00B0DAC29EEA}" srcId="{2F079E5E-A9FE-4D51-8364-DF105BD7EAE3}" destId="{7ECEDE27-2E5A-481D-9759-EF8D1CF2AA7C}" srcOrd="0" destOrd="0" parTransId="{119A200B-9E32-4166-ABA1-CE831F6AB2DB}" sibTransId="{BA61B97A-0EE5-49A6-B47A-B475F3D11ED3}"/>
    <dgm:cxn modelId="{715F97DA-53E4-464D-BF81-B5D0466F46DF}" type="presOf" srcId="{2F079E5E-A9FE-4D51-8364-DF105BD7EAE3}" destId="{AAF1403B-E488-4C2A-893D-AFD846B9A781}" srcOrd="0" destOrd="0" presId="urn:microsoft.com/office/officeart/2005/8/layout/process4"/>
    <dgm:cxn modelId="{537AF2E8-3EE3-4AE6-8805-6E3E9C30C5E3}" srcId="{8E550EB0-641B-40B0-B22D-D077AA23ADEF}" destId="{ED3A99BC-28E3-4145-ACC1-FC17D5C9341E}" srcOrd="0" destOrd="0" parTransId="{0E72C96D-34B8-443D-8330-F7703EA06080}" sibTransId="{A6282622-5997-4458-B0A5-3350EB376169}"/>
    <dgm:cxn modelId="{7F2CE14D-5CD1-4C84-B013-BE5AE4FA6532}" type="presParOf" srcId="{0D243077-0E16-4D15-8253-0402159C6339}" destId="{C7632C90-FF0D-4252-BF2A-9ABCF624C1C5}" srcOrd="0" destOrd="0" presId="urn:microsoft.com/office/officeart/2005/8/layout/process4"/>
    <dgm:cxn modelId="{6657F191-BF11-4C74-A871-C7764E704BDC}" type="presParOf" srcId="{C7632C90-FF0D-4252-BF2A-9ABCF624C1C5}" destId="{AAF1403B-E488-4C2A-893D-AFD846B9A781}" srcOrd="0" destOrd="0" presId="urn:microsoft.com/office/officeart/2005/8/layout/process4"/>
    <dgm:cxn modelId="{D0428F2B-7825-4EB7-8855-D63056B83324}" type="presParOf" srcId="{C7632C90-FF0D-4252-BF2A-9ABCF624C1C5}" destId="{F7D289BF-6160-4BD2-BBAB-273ABFEA3B66}" srcOrd="1" destOrd="0" presId="urn:microsoft.com/office/officeart/2005/8/layout/process4"/>
    <dgm:cxn modelId="{8087B489-6316-4F97-A6DB-3823BCBEC3C5}" type="presParOf" srcId="{C7632C90-FF0D-4252-BF2A-9ABCF624C1C5}" destId="{A283BFD0-BEF6-4734-B8E0-8509E5055A80}" srcOrd="2" destOrd="0" presId="urn:microsoft.com/office/officeart/2005/8/layout/process4"/>
    <dgm:cxn modelId="{9477D133-6B82-4887-93E2-BEB541D59030}" type="presParOf" srcId="{A283BFD0-BEF6-4734-B8E0-8509E5055A80}" destId="{D902561A-8A3E-4615-8749-FE6517209063}" srcOrd="0" destOrd="0" presId="urn:microsoft.com/office/officeart/2005/8/layout/process4"/>
    <dgm:cxn modelId="{3BD274EF-1212-40EB-9439-138943720EA8}" type="presParOf" srcId="{A283BFD0-BEF6-4734-B8E0-8509E5055A80}" destId="{4EFFF649-B886-4B5F-A6DD-B4618422D3E2}" srcOrd="1" destOrd="0" presId="urn:microsoft.com/office/officeart/2005/8/layout/process4"/>
    <dgm:cxn modelId="{0758B638-E592-4494-BC40-D31A17A099C1}" type="presParOf" srcId="{0D243077-0E16-4D15-8253-0402159C6339}" destId="{080C4A5C-2CAE-4A37-B0FB-DC3C8DD7EB45}" srcOrd="1" destOrd="0" presId="urn:microsoft.com/office/officeart/2005/8/layout/process4"/>
    <dgm:cxn modelId="{11D14CD5-F4A1-4E28-8830-9B0125BF3C8A}" type="presParOf" srcId="{0D243077-0E16-4D15-8253-0402159C6339}" destId="{0D5E72AB-A570-41A4-8909-3C501C3E23C0}" srcOrd="2" destOrd="0" presId="urn:microsoft.com/office/officeart/2005/8/layout/process4"/>
    <dgm:cxn modelId="{35B4474E-C78B-4DD5-AA0D-8EBBC423ED6D}" type="presParOf" srcId="{0D5E72AB-A570-41A4-8909-3C501C3E23C0}" destId="{8442C06F-213C-4885-AFEB-90EBE28A6EE3}" srcOrd="0" destOrd="0" presId="urn:microsoft.com/office/officeart/2005/8/layout/process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0E661877-8CEA-424C-9FB6-B8859ED0B3C6}" type="doc">
      <dgm:prSet loTypeId="urn:microsoft.com/office/officeart/2016/7/layout/LinearArrowProcessNumbered" loCatId="process" qsTypeId="urn:microsoft.com/office/officeart/2005/8/quickstyle/simple5" qsCatId="simple" csTypeId="urn:microsoft.com/office/officeart/2005/8/colors/accent1_2" csCatId="accent1"/>
      <dgm:spPr/>
      <dgm:t>
        <a:bodyPr/>
        <a:lstStyle/>
        <a:p>
          <a:endParaRPr lang="en-US"/>
        </a:p>
      </dgm:t>
    </dgm:pt>
    <dgm:pt modelId="{7EE2E597-E059-4286-A2E2-ECEADB7A6BF9}">
      <dgm:prSet/>
      <dgm:spPr/>
      <dgm:t>
        <a:bodyPr/>
        <a:lstStyle/>
        <a:p>
          <a:r>
            <a:rPr lang="en-US"/>
            <a:t>Practice active listening</a:t>
          </a:r>
        </a:p>
      </dgm:t>
    </dgm:pt>
    <dgm:pt modelId="{A3FAA772-100E-4D10-8BC4-62BF5D26B95E}" type="parTrans" cxnId="{586AE526-76AC-4043-BC5F-159CFD817FE9}">
      <dgm:prSet/>
      <dgm:spPr/>
      <dgm:t>
        <a:bodyPr/>
        <a:lstStyle/>
        <a:p>
          <a:endParaRPr lang="en-US"/>
        </a:p>
      </dgm:t>
    </dgm:pt>
    <dgm:pt modelId="{480FCDDE-CAEF-4DBE-AD81-1095F0781600}" type="sibTrans" cxnId="{586AE526-76AC-4043-BC5F-159CFD817FE9}">
      <dgm:prSet phldrT="1" phldr="0"/>
      <dgm:spPr/>
      <dgm:t>
        <a:bodyPr/>
        <a:lstStyle/>
        <a:p>
          <a:r>
            <a:rPr lang="en-US"/>
            <a:t>1</a:t>
          </a:r>
        </a:p>
      </dgm:t>
    </dgm:pt>
    <dgm:pt modelId="{F4E178B2-A208-4851-AF65-4C9278984345}">
      <dgm:prSet/>
      <dgm:spPr/>
      <dgm:t>
        <a:bodyPr/>
        <a:lstStyle/>
        <a:p>
          <a:r>
            <a:rPr lang="en-US"/>
            <a:t>Show appreciation regularly</a:t>
          </a:r>
        </a:p>
      </dgm:t>
    </dgm:pt>
    <dgm:pt modelId="{77C78D91-4002-4C5A-8ADD-8D6559B37BBF}" type="parTrans" cxnId="{D3B86A2F-1836-4D4A-B414-87288D7C9B06}">
      <dgm:prSet/>
      <dgm:spPr/>
      <dgm:t>
        <a:bodyPr/>
        <a:lstStyle/>
        <a:p>
          <a:endParaRPr lang="en-US"/>
        </a:p>
      </dgm:t>
    </dgm:pt>
    <dgm:pt modelId="{C2E5565F-132F-4242-8D88-E2D3C12080FF}" type="sibTrans" cxnId="{D3B86A2F-1836-4D4A-B414-87288D7C9B06}">
      <dgm:prSet phldrT="2" phldr="0"/>
      <dgm:spPr/>
      <dgm:t>
        <a:bodyPr/>
        <a:lstStyle/>
        <a:p>
          <a:r>
            <a:rPr lang="en-US"/>
            <a:t>2</a:t>
          </a:r>
        </a:p>
      </dgm:t>
    </dgm:pt>
    <dgm:pt modelId="{64390BE3-A6B4-45B7-A2CB-A84CBEF41CDC}">
      <dgm:prSet/>
      <dgm:spPr/>
      <dgm:t>
        <a:bodyPr/>
        <a:lstStyle/>
        <a:p>
          <a:r>
            <a:rPr lang="en-US"/>
            <a:t>Be reliable and trustworthy</a:t>
          </a:r>
        </a:p>
      </dgm:t>
    </dgm:pt>
    <dgm:pt modelId="{3EA1EE1E-2E84-4B3A-BAA3-42FB77132A2C}" type="parTrans" cxnId="{9F2E1555-4964-4D90-8D1B-49769B5E281D}">
      <dgm:prSet/>
      <dgm:spPr/>
      <dgm:t>
        <a:bodyPr/>
        <a:lstStyle/>
        <a:p>
          <a:endParaRPr lang="en-US"/>
        </a:p>
      </dgm:t>
    </dgm:pt>
    <dgm:pt modelId="{688546A0-0A7E-43E8-A17B-5CDE85EA32EE}" type="sibTrans" cxnId="{9F2E1555-4964-4D90-8D1B-49769B5E281D}">
      <dgm:prSet phldrT="3" phldr="0"/>
      <dgm:spPr/>
      <dgm:t>
        <a:bodyPr/>
        <a:lstStyle/>
        <a:p>
          <a:r>
            <a:rPr lang="en-US"/>
            <a:t>3</a:t>
          </a:r>
        </a:p>
      </dgm:t>
    </dgm:pt>
    <dgm:pt modelId="{A9707033-E83A-4757-A8AA-AA65CB3EEB80}">
      <dgm:prSet/>
      <dgm:spPr/>
      <dgm:t>
        <a:bodyPr/>
        <a:lstStyle/>
        <a:p>
          <a:r>
            <a:rPr lang="en-US"/>
            <a:t>Invest time, even when busy</a:t>
          </a:r>
        </a:p>
      </dgm:t>
    </dgm:pt>
    <dgm:pt modelId="{52258FB1-E584-4D30-8EF4-2DB0BAF6B1C7}" type="parTrans" cxnId="{9A20D2F0-7043-4277-A7EE-C51BB1776CA1}">
      <dgm:prSet/>
      <dgm:spPr/>
      <dgm:t>
        <a:bodyPr/>
        <a:lstStyle/>
        <a:p>
          <a:endParaRPr lang="en-US"/>
        </a:p>
      </dgm:t>
    </dgm:pt>
    <dgm:pt modelId="{866601FB-D30F-4BB7-B559-CC2F8A2D6B6F}" type="sibTrans" cxnId="{9A20D2F0-7043-4277-A7EE-C51BB1776CA1}">
      <dgm:prSet phldrT="4" phldr="0"/>
      <dgm:spPr/>
      <dgm:t>
        <a:bodyPr/>
        <a:lstStyle/>
        <a:p>
          <a:r>
            <a:rPr lang="en-US"/>
            <a:t>4</a:t>
          </a:r>
        </a:p>
      </dgm:t>
    </dgm:pt>
    <dgm:pt modelId="{093396B8-3BB8-4FDC-ABC6-6758EB0CA0F5}">
      <dgm:prSet/>
      <dgm:spPr/>
      <dgm:t>
        <a:bodyPr/>
        <a:lstStyle/>
        <a:p>
          <a:r>
            <a:rPr lang="en-US"/>
            <a:t>Resolve conflicts constructively (e.g., use “I” feel, or “I” noticed etc)</a:t>
          </a:r>
        </a:p>
      </dgm:t>
    </dgm:pt>
    <dgm:pt modelId="{12221AB0-3E5C-481B-8BB5-9FA90CAA0FB2}" type="parTrans" cxnId="{B7195BF9-3DB5-4737-A9C6-88EB300DD984}">
      <dgm:prSet/>
      <dgm:spPr/>
      <dgm:t>
        <a:bodyPr/>
        <a:lstStyle/>
        <a:p>
          <a:endParaRPr lang="en-US"/>
        </a:p>
      </dgm:t>
    </dgm:pt>
    <dgm:pt modelId="{FBFA0B9C-FF8D-4F80-9033-BDCC88E80E0F}" type="sibTrans" cxnId="{B7195BF9-3DB5-4737-A9C6-88EB300DD984}">
      <dgm:prSet phldrT="5" phldr="0"/>
      <dgm:spPr/>
      <dgm:t>
        <a:bodyPr/>
        <a:lstStyle/>
        <a:p>
          <a:r>
            <a:rPr lang="en-US"/>
            <a:t>5</a:t>
          </a:r>
        </a:p>
      </dgm:t>
    </dgm:pt>
    <dgm:pt modelId="{96604FA7-1ABC-46F3-9E83-A63ECFAD808C}">
      <dgm:prSet/>
      <dgm:spPr/>
      <dgm:t>
        <a:bodyPr/>
        <a:lstStyle/>
        <a:p>
          <a:r>
            <a:rPr lang="en-US"/>
            <a:t>Celebrate good news together</a:t>
          </a:r>
        </a:p>
      </dgm:t>
    </dgm:pt>
    <dgm:pt modelId="{9B6A809E-C009-45B0-BECD-9D3EDC1827A3}" type="parTrans" cxnId="{8B88712A-E975-4870-89B0-0F885A6AC191}">
      <dgm:prSet/>
      <dgm:spPr/>
      <dgm:t>
        <a:bodyPr/>
        <a:lstStyle/>
        <a:p>
          <a:endParaRPr lang="en-US"/>
        </a:p>
      </dgm:t>
    </dgm:pt>
    <dgm:pt modelId="{D4DD07EE-3C45-427B-88E0-179CAD845F13}" type="sibTrans" cxnId="{8B88712A-E975-4870-89B0-0F885A6AC191}">
      <dgm:prSet phldrT="6" phldr="0"/>
      <dgm:spPr/>
      <dgm:t>
        <a:bodyPr/>
        <a:lstStyle/>
        <a:p>
          <a:r>
            <a:rPr lang="en-US"/>
            <a:t>6</a:t>
          </a:r>
        </a:p>
      </dgm:t>
    </dgm:pt>
    <dgm:pt modelId="{95A52B6E-57FF-4784-A3E2-31B59082C72D}">
      <dgm:prSet/>
      <dgm:spPr/>
      <dgm:t>
        <a:bodyPr/>
        <a:lstStyle/>
        <a:p>
          <a:r>
            <a:rPr lang="en-US"/>
            <a:t>Practice forgiveness</a:t>
          </a:r>
        </a:p>
      </dgm:t>
    </dgm:pt>
    <dgm:pt modelId="{E06B3B70-4522-441F-BCEC-07FC904CD94C}" type="parTrans" cxnId="{BD136539-6FB5-4266-A1A1-060FC074CCA6}">
      <dgm:prSet/>
      <dgm:spPr/>
      <dgm:t>
        <a:bodyPr/>
        <a:lstStyle/>
        <a:p>
          <a:endParaRPr lang="en-US"/>
        </a:p>
      </dgm:t>
    </dgm:pt>
    <dgm:pt modelId="{1235862E-E0E6-45A1-8EF1-FC66EF05F3EC}" type="sibTrans" cxnId="{BD136539-6FB5-4266-A1A1-060FC074CCA6}">
      <dgm:prSet phldrT="7" phldr="0"/>
      <dgm:spPr/>
      <dgm:t>
        <a:bodyPr/>
        <a:lstStyle/>
        <a:p>
          <a:r>
            <a:rPr lang="en-US"/>
            <a:t>7</a:t>
          </a:r>
        </a:p>
      </dgm:t>
    </dgm:pt>
    <dgm:pt modelId="{614AF7F2-AE6C-4E44-8DD5-ED7BAC0E98AB}">
      <dgm:prSet/>
      <dgm:spPr/>
      <dgm:t>
        <a:bodyPr/>
        <a:lstStyle/>
        <a:p>
          <a:r>
            <a:rPr lang="en-US"/>
            <a:t>Be emotionally available</a:t>
          </a:r>
        </a:p>
      </dgm:t>
    </dgm:pt>
    <dgm:pt modelId="{8AD4D001-C39F-4E1D-B3E5-A2ED93C172AD}" type="parTrans" cxnId="{DB293724-18BB-43D4-A3D7-F8E1DBC51850}">
      <dgm:prSet/>
      <dgm:spPr/>
      <dgm:t>
        <a:bodyPr/>
        <a:lstStyle/>
        <a:p>
          <a:endParaRPr lang="en-US"/>
        </a:p>
      </dgm:t>
    </dgm:pt>
    <dgm:pt modelId="{6A727954-9A81-4B32-9C17-B44FA2B79F81}" type="sibTrans" cxnId="{DB293724-18BB-43D4-A3D7-F8E1DBC51850}">
      <dgm:prSet phldrT="8" phldr="0"/>
      <dgm:spPr/>
      <dgm:t>
        <a:bodyPr/>
        <a:lstStyle/>
        <a:p>
          <a:r>
            <a:rPr lang="en-US"/>
            <a:t>8</a:t>
          </a:r>
        </a:p>
      </dgm:t>
    </dgm:pt>
    <dgm:pt modelId="{78435095-8D6C-45FD-A2E1-35563088D4E6}" type="pres">
      <dgm:prSet presAssocID="{0E661877-8CEA-424C-9FB6-B8859ED0B3C6}" presName="linearFlow" presStyleCnt="0">
        <dgm:presLayoutVars>
          <dgm:dir/>
          <dgm:animLvl val="lvl"/>
          <dgm:resizeHandles val="exact"/>
        </dgm:presLayoutVars>
      </dgm:prSet>
      <dgm:spPr/>
    </dgm:pt>
    <dgm:pt modelId="{4E319F59-3F4C-43D2-9E35-EE6AB6BD165C}" type="pres">
      <dgm:prSet presAssocID="{7EE2E597-E059-4286-A2E2-ECEADB7A6BF9}" presName="compositeNode" presStyleCnt="0"/>
      <dgm:spPr/>
    </dgm:pt>
    <dgm:pt modelId="{CCB51B17-2175-4F35-A734-0B6CC0F64AA3}" type="pres">
      <dgm:prSet presAssocID="{7EE2E597-E059-4286-A2E2-ECEADB7A6BF9}" presName="parTx" presStyleLbl="node1" presStyleIdx="0" presStyleCnt="0">
        <dgm:presLayoutVars>
          <dgm:chMax val="0"/>
          <dgm:chPref val="0"/>
          <dgm:bulletEnabled val="1"/>
        </dgm:presLayoutVars>
      </dgm:prSet>
      <dgm:spPr/>
    </dgm:pt>
    <dgm:pt modelId="{1E5ACFDD-EDA7-4174-9F95-0698428E8EBC}" type="pres">
      <dgm:prSet presAssocID="{7EE2E597-E059-4286-A2E2-ECEADB7A6BF9}" presName="parSh" presStyleCnt="0"/>
      <dgm:spPr/>
    </dgm:pt>
    <dgm:pt modelId="{1E2E3A90-BA8A-448B-845A-26539D0660C6}" type="pres">
      <dgm:prSet presAssocID="{7EE2E597-E059-4286-A2E2-ECEADB7A6BF9}" presName="lineNode" presStyleLbl="alignAccFollowNode1" presStyleIdx="0" presStyleCnt="24"/>
      <dgm:spPr/>
    </dgm:pt>
    <dgm:pt modelId="{FFC5E71D-5FE1-4C93-A230-AA8333393FFE}" type="pres">
      <dgm:prSet presAssocID="{7EE2E597-E059-4286-A2E2-ECEADB7A6BF9}" presName="lineArrowNode" presStyleLbl="alignAccFollowNode1" presStyleIdx="1" presStyleCnt="24"/>
      <dgm:spPr/>
    </dgm:pt>
    <dgm:pt modelId="{76DBBD99-0751-4D7D-B626-E7E86F2D4ECF}" type="pres">
      <dgm:prSet presAssocID="{480FCDDE-CAEF-4DBE-AD81-1095F0781600}" presName="sibTransNodeCircle" presStyleLbl="alignNode1" presStyleIdx="0" presStyleCnt="8">
        <dgm:presLayoutVars>
          <dgm:chMax val="0"/>
          <dgm:bulletEnabled/>
        </dgm:presLayoutVars>
      </dgm:prSet>
      <dgm:spPr/>
    </dgm:pt>
    <dgm:pt modelId="{AFFC5B32-B716-4F29-B5DB-4DF08B0AA7AD}" type="pres">
      <dgm:prSet presAssocID="{480FCDDE-CAEF-4DBE-AD81-1095F0781600}" presName="spacerBetweenCircleAndCallout" presStyleCnt="0">
        <dgm:presLayoutVars/>
      </dgm:prSet>
      <dgm:spPr/>
    </dgm:pt>
    <dgm:pt modelId="{5B462D6C-510A-413B-BFD1-F48D295CD0AB}" type="pres">
      <dgm:prSet presAssocID="{7EE2E597-E059-4286-A2E2-ECEADB7A6BF9}" presName="nodeText" presStyleLbl="alignAccFollowNode1" presStyleIdx="2" presStyleCnt="24">
        <dgm:presLayoutVars>
          <dgm:bulletEnabled val="1"/>
        </dgm:presLayoutVars>
      </dgm:prSet>
      <dgm:spPr/>
    </dgm:pt>
    <dgm:pt modelId="{8DF9A8E7-D203-409C-8A56-8D268BF84051}" type="pres">
      <dgm:prSet presAssocID="{480FCDDE-CAEF-4DBE-AD81-1095F0781600}" presName="sibTransComposite" presStyleCnt="0"/>
      <dgm:spPr/>
    </dgm:pt>
    <dgm:pt modelId="{020DDFD1-B51B-4C7C-BA0F-CB07D3738D99}" type="pres">
      <dgm:prSet presAssocID="{F4E178B2-A208-4851-AF65-4C9278984345}" presName="compositeNode" presStyleCnt="0"/>
      <dgm:spPr/>
    </dgm:pt>
    <dgm:pt modelId="{D76A62E2-056A-4D84-A2DC-50396D51D8CA}" type="pres">
      <dgm:prSet presAssocID="{F4E178B2-A208-4851-AF65-4C9278984345}" presName="parTx" presStyleLbl="node1" presStyleIdx="0" presStyleCnt="0">
        <dgm:presLayoutVars>
          <dgm:chMax val="0"/>
          <dgm:chPref val="0"/>
          <dgm:bulletEnabled val="1"/>
        </dgm:presLayoutVars>
      </dgm:prSet>
      <dgm:spPr/>
    </dgm:pt>
    <dgm:pt modelId="{B9EE67C0-171F-41EB-9016-7A8EF1C63362}" type="pres">
      <dgm:prSet presAssocID="{F4E178B2-A208-4851-AF65-4C9278984345}" presName="parSh" presStyleCnt="0"/>
      <dgm:spPr/>
    </dgm:pt>
    <dgm:pt modelId="{14A4FC4D-B9A9-49B5-A6AC-500E539EFD9F}" type="pres">
      <dgm:prSet presAssocID="{F4E178B2-A208-4851-AF65-4C9278984345}" presName="lineNode" presStyleLbl="alignAccFollowNode1" presStyleIdx="3" presStyleCnt="24"/>
      <dgm:spPr/>
    </dgm:pt>
    <dgm:pt modelId="{CAD24194-149A-4560-8021-1BFD06719638}" type="pres">
      <dgm:prSet presAssocID="{F4E178B2-A208-4851-AF65-4C9278984345}" presName="lineArrowNode" presStyleLbl="alignAccFollowNode1" presStyleIdx="4" presStyleCnt="24"/>
      <dgm:spPr/>
    </dgm:pt>
    <dgm:pt modelId="{ACE18346-D164-4A12-A9E7-95179EB0A667}" type="pres">
      <dgm:prSet presAssocID="{C2E5565F-132F-4242-8D88-E2D3C12080FF}" presName="sibTransNodeCircle" presStyleLbl="alignNode1" presStyleIdx="1" presStyleCnt="8">
        <dgm:presLayoutVars>
          <dgm:chMax val="0"/>
          <dgm:bulletEnabled/>
        </dgm:presLayoutVars>
      </dgm:prSet>
      <dgm:spPr/>
    </dgm:pt>
    <dgm:pt modelId="{85A7A6F9-267F-495B-82D6-0216C029D7BE}" type="pres">
      <dgm:prSet presAssocID="{C2E5565F-132F-4242-8D88-E2D3C12080FF}" presName="spacerBetweenCircleAndCallout" presStyleCnt="0">
        <dgm:presLayoutVars/>
      </dgm:prSet>
      <dgm:spPr/>
    </dgm:pt>
    <dgm:pt modelId="{246C02B6-D060-476A-A222-C2C9E89C8040}" type="pres">
      <dgm:prSet presAssocID="{F4E178B2-A208-4851-AF65-4C9278984345}" presName="nodeText" presStyleLbl="alignAccFollowNode1" presStyleIdx="5" presStyleCnt="24">
        <dgm:presLayoutVars>
          <dgm:bulletEnabled val="1"/>
        </dgm:presLayoutVars>
      </dgm:prSet>
      <dgm:spPr/>
    </dgm:pt>
    <dgm:pt modelId="{43BDB378-A729-49A3-B690-3993DABE03A9}" type="pres">
      <dgm:prSet presAssocID="{C2E5565F-132F-4242-8D88-E2D3C12080FF}" presName="sibTransComposite" presStyleCnt="0"/>
      <dgm:spPr/>
    </dgm:pt>
    <dgm:pt modelId="{62FC10BF-6D9A-4C73-9240-ACB5E4C15303}" type="pres">
      <dgm:prSet presAssocID="{64390BE3-A6B4-45B7-A2CB-A84CBEF41CDC}" presName="compositeNode" presStyleCnt="0"/>
      <dgm:spPr/>
    </dgm:pt>
    <dgm:pt modelId="{6C953500-B104-4480-9E8B-6BE53DB22BD7}" type="pres">
      <dgm:prSet presAssocID="{64390BE3-A6B4-45B7-A2CB-A84CBEF41CDC}" presName="parTx" presStyleLbl="node1" presStyleIdx="0" presStyleCnt="0">
        <dgm:presLayoutVars>
          <dgm:chMax val="0"/>
          <dgm:chPref val="0"/>
          <dgm:bulletEnabled val="1"/>
        </dgm:presLayoutVars>
      </dgm:prSet>
      <dgm:spPr/>
    </dgm:pt>
    <dgm:pt modelId="{A12A942B-2892-40E9-B8E7-0032AAA5AE77}" type="pres">
      <dgm:prSet presAssocID="{64390BE3-A6B4-45B7-A2CB-A84CBEF41CDC}" presName="parSh" presStyleCnt="0"/>
      <dgm:spPr/>
    </dgm:pt>
    <dgm:pt modelId="{22B98565-BBD2-42CF-AD90-4023ADB3C478}" type="pres">
      <dgm:prSet presAssocID="{64390BE3-A6B4-45B7-A2CB-A84CBEF41CDC}" presName="lineNode" presStyleLbl="alignAccFollowNode1" presStyleIdx="6" presStyleCnt="24"/>
      <dgm:spPr/>
    </dgm:pt>
    <dgm:pt modelId="{5EC242D1-365A-4B3F-8EF8-FF9611ED9CED}" type="pres">
      <dgm:prSet presAssocID="{64390BE3-A6B4-45B7-A2CB-A84CBEF41CDC}" presName="lineArrowNode" presStyleLbl="alignAccFollowNode1" presStyleIdx="7" presStyleCnt="24"/>
      <dgm:spPr/>
    </dgm:pt>
    <dgm:pt modelId="{A365A964-1948-46EE-8531-67A36E71C166}" type="pres">
      <dgm:prSet presAssocID="{688546A0-0A7E-43E8-A17B-5CDE85EA32EE}" presName="sibTransNodeCircle" presStyleLbl="alignNode1" presStyleIdx="2" presStyleCnt="8">
        <dgm:presLayoutVars>
          <dgm:chMax val="0"/>
          <dgm:bulletEnabled/>
        </dgm:presLayoutVars>
      </dgm:prSet>
      <dgm:spPr/>
    </dgm:pt>
    <dgm:pt modelId="{04BD54E1-375F-46DD-948B-8667878B6B0F}" type="pres">
      <dgm:prSet presAssocID="{688546A0-0A7E-43E8-A17B-5CDE85EA32EE}" presName="spacerBetweenCircleAndCallout" presStyleCnt="0">
        <dgm:presLayoutVars/>
      </dgm:prSet>
      <dgm:spPr/>
    </dgm:pt>
    <dgm:pt modelId="{D6AB9544-357A-4C32-9DD5-6899A58675A6}" type="pres">
      <dgm:prSet presAssocID="{64390BE3-A6B4-45B7-A2CB-A84CBEF41CDC}" presName="nodeText" presStyleLbl="alignAccFollowNode1" presStyleIdx="8" presStyleCnt="24">
        <dgm:presLayoutVars>
          <dgm:bulletEnabled val="1"/>
        </dgm:presLayoutVars>
      </dgm:prSet>
      <dgm:spPr/>
    </dgm:pt>
    <dgm:pt modelId="{9417B001-FE1A-4E34-8751-A5BEAF8EE4A8}" type="pres">
      <dgm:prSet presAssocID="{688546A0-0A7E-43E8-A17B-5CDE85EA32EE}" presName="sibTransComposite" presStyleCnt="0"/>
      <dgm:spPr/>
    </dgm:pt>
    <dgm:pt modelId="{B547DC23-6B6F-47DF-A4CD-01332597C6BA}" type="pres">
      <dgm:prSet presAssocID="{A9707033-E83A-4757-A8AA-AA65CB3EEB80}" presName="compositeNode" presStyleCnt="0"/>
      <dgm:spPr/>
    </dgm:pt>
    <dgm:pt modelId="{7BA303E6-7B2F-43F0-AEFD-23F85E94BC59}" type="pres">
      <dgm:prSet presAssocID="{A9707033-E83A-4757-A8AA-AA65CB3EEB80}" presName="parTx" presStyleLbl="node1" presStyleIdx="0" presStyleCnt="0">
        <dgm:presLayoutVars>
          <dgm:chMax val="0"/>
          <dgm:chPref val="0"/>
          <dgm:bulletEnabled val="1"/>
        </dgm:presLayoutVars>
      </dgm:prSet>
      <dgm:spPr/>
    </dgm:pt>
    <dgm:pt modelId="{F99287A3-0F5C-4F36-902D-1C318E790977}" type="pres">
      <dgm:prSet presAssocID="{A9707033-E83A-4757-A8AA-AA65CB3EEB80}" presName="parSh" presStyleCnt="0"/>
      <dgm:spPr/>
    </dgm:pt>
    <dgm:pt modelId="{A4FE55BD-AE3A-45A7-8B8E-AE4C13B23497}" type="pres">
      <dgm:prSet presAssocID="{A9707033-E83A-4757-A8AA-AA65CB3EEB80}" presName="lineNode" presStyleLbl="alignAccFollowNode1" presStyleIdx="9" presStyleCnt="24"/>
      <dgm:spPr/>
    </dgm:pt>
    <dgm:pt modelId="{403D2717-5CDB-4BF4-9E09-F3356A8971C9}" type="pres">
      <dgm:prSet presAssocID="{A9707033-E83A-4757-A8AA-AA65CB3EEB80}" presName="lineArrowNode" presStyleLbl="alignAccFollowNode1" presStyleIdx="10" presStyleCnt="24"/>
      <dgm:spPr/>
    </dgm:pt>
    <dgm:pt modelId="{75B6B584-6020-42C7-A000-0DF1E2D8FD58}" type="pres">
      <dgm:prSet presAssocID="{866601FB-D30F-4BB7-B559-CC2F8A2D6B6F}" presName="sibTransNodeCircle" presStyleLbl="alignNode1" presStyleIdx="3" presStyleCnt="8">
        <dgm:presLayoutVars>
          <dgm:chMax val="0"/>
          <dgm:bulletEnabled/>
        </dgm:presLayoutVars>
      </dgm:prSet>
      <dgm:spPr/>
    </dgm:pt>
    <dgm:pt modelId="{20D01F40-FCE1-4D14-BDC9-D3ECC1923187}" type="pres">
      <dgm:prSet presAssocID="{866601FB-D30F-4BB7-B559-CC2F8A2D6B6F}" presName="spacerBetweenCircleAndCallout" presStyleCnt="0">
        <dgm:presLayoutVars/>
      </dgm:prSet>
      <dgm:spPr/>
    </dgm:pt>
    <dgm:pt modelId="{D64DE5E3-6A61-47D1-AFF1-BC7CC4C08AC2}" type="pres">
      <dgm:prSet presAssocID="{A9707033-E83A-4757-A8AA-AA65CB3EEB80}" presName="nodeText" presStyleLbl="alignAccFollowNode1" presStyleIdx="11" presStyleCnt="24">
        <dgm:presLayoutVars>
          <dgm:bulletEnabled val="1"/>
        </dgm:presLayoutVars>
      </dgm:prSet>
      <dgm:spPr/>
    </dgm:pt>
    <dgm:pt modelId="{50F556D0-166C-4A6C-B093-9E2444B2ED7A}" type="pres">
      <dgm:prSet presAssocID="{866601FB-D30F-4BB7-B559-CC2F8A2D6B6F}" presName="sibTransComposite" presStyleCnt="0"/>
      <dgm:spPr/>
    </dgm:pt>
    <dgm:pt modelId="{AD0948DE-05BF-4FAB-A25E-7EE5F10D4506}" type="pres">
      <dgm:prSet presAssocID="{093396B8-3BB8-4FDC-ABC6-6758EB0CA0F5}" presName="compositeNode" presStyleCnt="0"/>
      <dgm:spPr/>
    </dgm:pt>
    <dgm:pt modelId="{08BDDE40-F4D9-48E7-ACB0-325BD1A9D773}" type="pres">
      <dgm:prSet presAssocID="{093396B8-3BB8-4FDC-ABC6-6758EB0CA0F5}" presName="parTx" presStyleLbl="node1" presStyleIdx="0" presStyleCnt="0">
        <dgm:presLayoutVars>
          <dgm:chMax val="0"/>
          <dgm:chPref val="0"/>
          <dgm:bulletEnabled val="1"/>
        </dgm:presLayoutVars>
      </dgm:prSet>
      <dgm:spPr/>
    </dgm:pt>
    <dgm:pt modelId="{9E299357-FCFB-4903-AD3C-EB2EFCB354E6}" type="pres">
      <dgm:prSet presAssocID="{093396B8-3BB8-4FDC-ABC6-6758EB0CA0F5}" presName="parSh" presStyleCnt="0"/>
      <dgm:spPr/>
    </dgm:pt>
    <dgm:pt modelId="{9131BEF3-D793-4229-A8CF-1349AB31B371}" type="pres">
      <dgm:prSet presAssocID="{093396B8-3BB8-4FDC-ABC6-6758EB0CA0F5}" presName="lineNode" presStyleLbl="alignAccFollowNode1" presStyleIdx="12" presStyleCnt="24"/>
      <dgm:spPr/>
    </dgm:pt>
    <dgm:pt modelId="{7911A2D6-7702-4A05-9382-86C5125308AB}" type="pres">
      <dgm:prSet presAssocID="{093396B8-3BB8-4FDC-ABC6-6758EB0CA0F5}" presName="lineArrowNode" presStyleLbl="alignAccFollowNode1" presStyleIdx="13" presStyleCnt="24"/>
      <dgm:spPr/>
    </dgm:pt>
    <dgm:pt modelId="{5EBEDC58-9C20-4252-A6FD-3669EEB0E1FC}" type="pres">
      <dgm:prSet presAssocID="{FBFA0B9C-FF8D-4F80-9033-BDCC88E80E0F}" presName="sibTransNodeCircle" presStyleLbl="alignNode1" presStyleIdx="4" presStyleCnt="8">
        <dgm:presLayoutVars>
          <dgm:chMax val="0"/>
          <dgm:bulletEnabled/>
        </dgm:presLayoutVars>
      </dgm:prSet>
      <dgm:spPr/>
    </dgm:pt>
    <dgm:pt modelId="{C516BEFC-EDEC-483F-8890-A218344BEFFC}" type="pres">
      <dgm:prSet presAssocID="{FBFA0B9C-FF8D-4F80-9033-BDCC88E80E0F}" presName="spacerBetweenCircleAndCallout" presStyleCnt="0">
        <dgm:presLayoutVars/>
      </dgm:prSet>
      <dgm:spPr/>
    </dgm:pt>
    <dgm:pt modelId="{01DFCFCF-1217-454E-B97A-1B21B421F645}" type="pres">
      <dgm:prSet presAssocID="{093396B8-3BB8-4FDC-ABC6-6758EB0CA0F5}" presName="nodeText" presStyleLbl="alignAccFollowNode1" presStyleIdx="14" presStyleCnt="24">
        <dgm:presLayoutVars>
          <dgm:bulletEnabled val="1"/>
        </dgm:presLayoutVars>
      </dgm:prSet>
      <dgm:spPr/>
    </dgm:pt>
    <dgm:pt modelId="{03209BED-33A3-4814-8A65-AE177E03EEFE}" type="pres">
      <dgm:prSet presAssocID="{FBFA0B9C-FF8D-4F80-9033-BDCC88E80E0F}" presName="sibTransComposite" presStyleCnt="0"/>
      <dgm:spPr/>
    </dgm:pt>
    <dgm:pt modelId="{EC1BF4B7-64D4-461B-86EB-94EAA5C72FF7}" type="pres">
      <dgm:prSet presAssocID="{96604FA7-1ABC-46F3-9E83-A63ECFAD808C}" presName="compositeNode" presStyleCnt="0"/>
      <dgm:spPr/>
    </dgm:pt>
    <dgm:pt modelId="{598B770E-CB36-4656-8B8D-CA6DDE0E2049}" type="pres">
      <dgm:prSet presAssocID="{96604FA7-1ABC-46F3-9E83-A63ECFAD808C}" presName="parTx" presStyleLbl="node1" presStyleIdx="0" presStyleCnt="0">
        <dgm:presLayoutVars>
          <dgm:chMax val="0"/>
          <dgm:chPref val="0"/>
          <dgm:bulletEnabled val="1"/>
        </dgm:presLayoutVars>
      </dgm:prSet>
      <dgm:spPr/>
    </dgm:pt>
    <dgm:pt modelId="{EA3EA577-0569-423F-B70F-BF04D8A10DBD}" type="pres">
      <dgm:prSet presAssocID="{96604FA7-1ABC-46F3-9E83-A63ECFAD808C}" presName="parSh" presStyleCnt="0"/>
      <dgm:spPr/>
    </dgm:pt>
    <dgm:pt modelId="{57F07EB6-FEE5-4A44-B22D-A2774F9072D6}" type="pres">
      <dgm:prSet presAssocID="{96604FA7-1ABC-46F3-9E83-A63ECFAD808C}" presName="lineNode" presStyleLbl="alignAccFollowNode1" presStyleIdx="15" presStyleCnt="24"/>
      <dgm:spPr/>
    </dgm:pt>
    <dgm:pt modelId="{7FE8F0F8-ED44-4119-947E-F35B9498CFA6}" type="pres">
      <dgm:prSet presAssocID="{96604FA7-1ABC-46F3-9E83-A63ECFAD808C}" presName="lineArrowNode" presStyleLbl="alignAccFollowNode1" presStyleIdx="16" presStyleCnt="24"/>
      <dgm:spPr/>
    </dgm:pt>
    <dgm:pt modelId="{CC78728F-B35E-48D8-8741-5FEB9F2D6417}" type="pres">
      <dgm:prSet presAssocID="{D4DD07EE-3C45-427B-88E0-179CAD845F13}" presName="sibTransNodeCircle" presStyleLbl="alignNode1" presStyleIdx="5" presStyleCnt="8">
        <dgm:presLayoutVars>
          <dgm:chMax val="0"/>
          <dgm:bulletEnabled/>
        </dgm:presLayoutVars>
      </dgm:prSet>
      <dgm:spPr/>
    </dgm:pt>
    <dgm:pt modelId="{9C7575F8-4810-4140-B668-FACD49E13735}" type="pres">
      <dgm:prSet presAssocID="{D4DD07EE-3C45-427B-88E0-179CAD845F13}" presName="spacerBetweenCircleAndCallout" presStyleCnt="0">
        <dgm:presLayoutVars/>
      </dgm:prSet>
      <dgm:spPr/>
    </dgm:pt>
    <dgm:pt modelId="{894C5F87-2FA9-4368-811A-946D1F087995}" type="pres">
      <dgm:prSet presAssocID="{96604FA7-1ABC-46F3-9E83-A63ECFAD808C}" presName="nodeText" presStyleLbl="alignAccFollowNode1" presStyleIdx="17" presStyleCnt="24">
        <dgm:presLayoutVars>
          <dgm:bulletEnabled val="1"/>
        </dgm:presLayoutVars>
      </dgm:prSet>
      <dgm:spPr/>
    </dgm:pt>
    <dgm:pt modelId="{1C54E4F4-09BF-4C77-B520-5BBC9C28CCFC}" type="pres">
      <dgm:prSet presAssocID="{D4DD07EE-3C45-427B-88E0-179CAD845F13}" presName="sibTransComposite" presStyleCnt="0"/>
      <dgm:spPr/>
    </dgm:pt>
    <dgm:pt modelId="{184D361F-3DA5-4623-80AD-8853019B9840}" type="pres">
      <dgm:prSet presAssocID="{95A52B6E-57FF-4784-A3E2-31B59082C72D}" presName="compositeNode" presStyleCnt="0"/>
      <dgm:spPr/>
    </dgm:pt>
    <dgm:pt modelId="{D1ADD15A-0786-4F3B-A957-61020AFCE518}" type="pres">
      <dgm:prSet presAssocID="{95A52B6E-57FF-4784-A3E2-31B59082C72D}" presName="parTx" presStyleLbl="node1" presStyleIdx="0" presStyleCnt="0">
        <dgm:presLayoutVars>
          <dgm:chMax val="0"/>
          <dgm:chPref val="0"/>
          <dgm:bulletEnabled val="1"/>
        </dgm:presLayoutVars>
      </dgm:prSet>
      <dgm:spPr/>
    </dgm:pt>
    <dgm:pt modelId="{7589CE56-9E8D-4AF6-8C95-9BFB8425C0F9}" type="pres">
      <dgm:prSet presAssocID="{95A52B6E-57FF-4784-A3E2-31B59082C72D}" presName="parSh" presStyleCnt="0"/>
      <dgm:spPr/>
    </dgm:pt>
    <dgm:pt modelId="{66E2CD75-059A-4DDB-A25D-948C93D210CA}" type="pres">
      <dgm:prSet presAssocID="{95A52B6E-57FF-4784-A3E2-31B59082C72D}" presName="lineNode" presStyleLbl="alignAccFollowNode1" presStyleIdx="18" presStyleCnt="24"/>
      <dgm:spPr/>
    </dgm:pt>
    <dgm:pt modelId="{2D59EDA3-D663-4B46-8971-A75987EAA25F}" type="pres">
      <dgm:prSet presAssocID="{95A52B6E-57FF-4784-A3E2-31B59082C72D}" presName="lineArrowNode" presStyleLbl="alignAccFollowNode1" presStyleIdx="19" presStyleCnt="24"/>
      <dgm:spPr/>
    </dgm:pt>
    <dgm:pt modelId="{D8988607-47C3-4D0F-8E84-D64E6A766057}" type="pres">
      <dgm:prSet presAssocID="{1235862E-E0E6-45A1-8EF1-FC66EF05F3EC}" presName="sibTransNodeCircle" presStyleLbl="alignNode1" presStyleIdx="6" presStyleCnt="8">
        <dgm:presLayoutVars>
          <dgm:chMax val="0"/>
          <dgm:bulletEnabled/>
        </dgm:presLayoutVars>
      </dgm:prSet>
      <dgm:spPr/>
    </dgm:pt>
    <dgm:pt modelId="{890250B6-C4B5-4D34-B2BB-65092870294A}" type="pres">
      <dgm:prSet presAssocID="{1235862E-E0E6-45A1-8EF1-FC66EF05F3EC}" presName="spacerBetweenCircleAndCallout" presStyleCnt="0">
        <dgm:presLayoutVars/>
      </dgm:prSet>
      <dgm:spPr/>
    </dgm:pt>
    <dgm:pt modelId="{264D4955-FC14-4B22-A6AE-9A04911166D3}" type="pres">
      <dgm:prSet presAssocID="{95A52B6E-57FF-4784-A3E2-31B59082C72D}" presName="nodeText" presStyleLbl="alignAccFollowNode1" presStyleIdx="20" presStyleCnt="24">
        <dgm:presLayoutVars>
          <dgm:bulletEnabled val="1"/>
        </dgm:presLayoutVars>
      </dgm:prSet>
      <dgm:spPr/>
    </dgm:pt>
    <dgm:pt modelId="{75E817EC-B0C0-4C8D-887C-4493F45FAE47}" type="pres">
      <dgm:prSet presAssocID="{1235862E-E0E6-45A1-8EF1-FC66EF05F3EC}" presName="sibTransComposite" presStyleCnt="0"/>
      <dgm:spPr/>
    </dgm:pt>
    <dgm:pt modelId="{759DC4E8-B163-4777-B7D1-546B1B54F0BE}" type="pres">
      <dgm:prSet presAssocID="{614AF7F2-AE6C-4E44-8DD5-ED7BAC0E98AB}" presName="compositeNode" presStyleCnt="0"/>
      <dgm:spPr/>
    </dgm:pt>
    <dgm:pt modelId="{0536BEB7-35EC-4B1A-A5DB-59A70DDC319A}" type="pres">
      <dgm:prSet presAssocID="{614AF7F2-AE6C-4E44-8DD5-ED7BAC0E98AB}" presName="parTx" presStyleLbl="node1" presStyleIdx="0" presStyleCnt="0">
        <dgm:presLayoutVars>
          <dgm:chMax val="0"/>
          <dgm:chPref val="0"/>
          <dgm:bulletEnabled val="1"/>
        </dgm:presLayoutVars>
      </dgm:prSet>
      <dgm:spPr/>
    </dgm:pt>
    <dgm:pt modelId="{19CC084C-34BA-4ABD-A9D9-F07329CCA615}" type="pres">
      <dgm:prSet presAssocID="{614AF7F2-AE6C-4E44-8DD5-ED7BAC0E98AB}" presName="parSh" presStyleCnt="0"/>
      <dgm:spPr/>
    </dgm:pt>
    <dgm:pt modelId="{34258755-CA08-4456-82A0-AE630624AD47}" type="pres">
      <dgm:prSet presAssocID="{614AF7F2-AE6C-4E44-8DD5-ED7BAC0E98AB}" presName="lineNode" presStyleLbl="alignAccFollowNode1" presStyleIdx="21" presStyleCnt="24"/>
      <dgm:spPr/>
    </dgm:pt>
    <dgm:pt modelId="{475C1E24-B25E-47E9-9ADF-037F2DE71F0E}" type="pres">
      <dgm:prSet presAssocID="{614AF7F2-AE6C-4E44-8DD5-ED7BAC0E98AB}" presName="lineArrowNode" presStyleLbl="alignAccFollowNode1" presStyleIdx="22" presStyleCnt="24"/>
      <dgm:spPr/>
    </dgm:pt>
    <dgm:pt modelId="{DB134DBF-69C1-4A8C-97D9-F799D8B7A4CB}" type="pres">
      <dgm:prSet presAssocID="{6A727954-9A81-4B32-9C17-B44FA2B79F81}" presName="sibTransNodeCircle" presStyleLbl="alignNode1" presStyleIdx="7" presStyleCnt="8">
        <dgm:presLayoutVars>
          <dgm:chMax val="0"/>
          <dgm:bulletEnabled/>
        </dgm:presLayoutVars>
      </dgm:prSet>
      <dgm:spPr/>
    </dgm:pt>
    <dgm:pt modelId="{73BF9E54-D013-45C6-945C-E6487F5FE284}" type="pres">
      <dgm:prSet presAssocID="{6A727954-9A81-4B32-9C17-B44FA2B79F81}" presName="spacerBetweenCircleAndCallout" presStyleCnt="0">
        <dgm:presLayoutVars/>
      </dgm:prSet>
      <dgm:spPr/>
    </dgm:pt>
    <dgm:pt modelId="{E60104AA-3881-4231-98B0-2E1492D24185}" type="pres">
      <dgm:prSet presAssocID="{614AF7F2-AE6C-4E44-8DD5-ED7BAC0E98AB}" presName="nodeText" presStyleLbl="alignAccFollowNode1" presStyleIdx="23" presStyleCnt="24">
        <dgm:presLayoutVars>
          <dgm:bulletEnabled val="1"/>
        </dgm:presLayoutVars>
      </dgm:prSet>
      <dgm:spPr/>
    </dgm:pt>
  </dgm:ptLst>
  <dgm:cxnLst>
    <dgm:cxn modelId="{1C96C601-6445-461A-B105-D6477ABD48AD}" type="presOf" srcId="{95A52B6E-57FF-4784-A3E2-31B59082C72D}" destId="{264D4955-FC14-4B22-A6AE-9A04911166D3}" srcOrd="0" destOrd="0" presId="urn:microsoft.com/office/officeart/2016/7/layout/LinearArrowProcessNumbered"/>
    <dgm:cxn modelId="{CC3FA106-7CDC-4840-B998-E29E08BCFAC5}" type="presOf" srcId="{480FCDDE-CAEF-4DBE-AD81-1095F0781600}" destId="{76DBBD99-0751-4D7D-B626-E7E86F2D4ECF}" srcOrd="0" destOrd="0" presId="urn:microsoft.com/office/officeart/2016/7/layout/LinearArrowProcessNumbered"/>
    <dgm:cxn modelId="{E4C3BF06-CF02-452A-81C5-684086EC0D56}" type="presOf" srcId="{093396B8-3BB8-4FDC-ABC6-6758EB0CA0F5}" destId="{01DFCFCF-1217-454E-B97A-1B21B421F645}" srcOrd="0" destOrd="0" presId="urn:microsoft.com/office/officeart/2016/7/layout/LinearArrowProcessNumbered"/>
    <dgm:cxn modelId="{F2B36F0B-6267-4917-A008-E99CFD8F0D19}" type="presOf" srcId="{64390BE3-A6B4-45B7-A2CB-A84CBEF41CDC}" destId="{D6AB9544-357A-4C32-9DD5-6899A58675A6}" srcOrd="0" destOrd="0" presId="urn:microsoft.com/office/officeart/2016/7/layout/LinearArrowProcessNumbered"/>
    <dgm:cxn modelId="{DB293724-18BB-43D4-A3D7-F8E1DBC51850}" srcId="{0E661877-8CEA-424C-9FB6-B8859ED0B3C6}" destId="{614AF7F2-AE6C-4E44-8DD5-ED7BAC0E98AB}" srcOrd="7" destOrd="0" parTransId="{8AD4D001-C39F-4E1D-B3E5-A2ED93C172AD}" sibTransId="{6A727954-9A81-4B32-9C17-B44FA2B79F81}"/>
    <dgm:cxn modelId="{586AE526-76AC-4043-BC5F-159CFD817FE9}" srcId="{0E661877-8CEA-424C-9FB6-B8859ED0B3C6}" destId="{7EE2E597-E059-4286-A2E2-ECEADB7A6BF9}" srcOrd="0" destOrd="0" parTransId="{A3FAA772-100E-4D10-8BC4-62BF5D26B95E}" sibTransId="{480FCDDE-CAEF-4DBE-AD81-1095F0781600}"/>
    <dgm:cxn modelId="{8B88712A-E975-4870-89B0-0F885A6AC191}" srcId="{0E661877-8CEA-424C-9FB6-B8859ED0B3C6}" destId="{96604FA7-1ABC-46F3-9E83-A63ECFAD808C}" srcOrd="5" destOrd="0" parTransId="{9B6A809E-C009-45B0-BECD-9D3EDC1827A3}" sibTransId="{D4DD07EE-3C45-427B-88E0-179CAD845F13}"/>
    <dgm:cxn modelId="{D3B86A2F-1836-4D4A-B414-87288D7C9B06}" srcId="{0E661877-8CEA-424C-9FB6-B8859ED0B3C6}" destId="{F4E178B2-A208-4851-AF65-4C9278984345}" srcOrd="1" destOrd="0" parTransId="{77C78D91-4002-4C5A-8ADD-8D6559B37BBF}" sibTransId="{C2E5565F-132F-4242-8D88-E2D3C12080FF}"/>
    <dgm:cxn modelId="{BD136539-6FB5-4266-A1A1-060FC074CCA6}" srcId="{0E661877-8CEA-424C-9FB6-B8859ED0B3C6}" destId="{95A52B6E-57FF-4784-A3E2-31B59082C72D}" srcOrd="6" destOrd="0" parTransId="{E06B3B70-4522-441F-BCEC-07FC904CD94C}" sibTransId="{1235862E-E0E6-45A1-8EF1-FC66EF05F3EC}"/>
    <dgm:cxn modelId="{DD49EE5D-E6FE-480D-8EC2-7DEA7FAE722F}" type="presOf" srcId="{A9707033-E83A-4757-A8AA-AA65CB3EEB80}" destId="{D64DE5E3-6A61-47D1-AFF1-BC7CC4C08AC2}" srcOrd="0" destOrd="0" presId="urn:microsoft.com/office/officeart/2016/7/layout/LinearArrowProcessNumbered"/>
    <dgm:cxn modelId="{FB35C141-F392-4616-A45E-17962C46B216}" type="presOf" srcId="{7EE2E597-E059-4286-A2E2-ECEADB7A6BF9}" destId="{5B462D6C-510A-413B-BFD1-F48D295CD0AB}" srcOrd="0" destOrd="0" presId="urn:microsoft.com/office/officeart/2016/7/layout/LinearArrowProcessNumbered"/>
    <dgm:cxn modelId="{6E8A1A54-A9B9-4BCA-B398-7373C5A00ECF}" type="presOf" srcId="{96604FA7-1ABC-46F3-9E83-A63ECFAD808C}" destId="{894C5F87-2FA9-4368-811A-946D1F087995}" srcOrd="0" destOrd="0" presId="urn:microsoft.com/office/officeart/2016/7/layout/LinearArrowProcessNumbered"/>
    <dgm:cxn modelId="{A0B6F554-9BF7-4275-B2E9-AA3A6FF075ED}" type="presOf" srcId="{614AF7F2-AE6C-4E44-8DD5-ED7BAC0E98AB}" destId="{E60104AA-3881-4231-98B0-2E1492D24185}" srcOrd="0" destOrd="0" presId="urn:microsoft.com/office/officeart/2016/7/layout/LinearArrowProcessNumbered"/>
    <dgm:cxn modelId="{9F2E1555-4964-4D90-8D1B-49769B5E281D}" srcId="{0E661877-8CEA-424C-9FB6-B8859ED0B3C6}" destId="{64390BE3-A6B4-45B7-A2CB-A84CBEF41CDC}" srcOrd="2" destOrd="0" parTransId="{3EA1EE1E-2E84-4B3A-BAA3-42FB77132A2C}" sibTransId="{688546A0-0A7E-43E8-A17B-5CDE85EA32EE}"/>
    <dgm:cxn modelId="{32E00C5A-2A3F-4744-A1E7-802CAFC9DF8E}" type="presOf" srcId="{688546A0-0A7E-43E8-A17B-5CDE85EA32EE}" destId="{A365A964-1948-46EE-8531-67A36E71C166}" srcOrd="0" destOrd="0" presId="urn:microsoft.com/office/officeart/2016/7/layout/LinearArrowProcessNumbered"/>
    <dgm:cxn modelId="{2576A184-450E-4394-8E7B-4E47E7829162}" type="presOf" srcId="{F4E178B2-A208-4851-AF65-4C9278984345}" destId="{246C02B6-D060-476A-A222-C2C9E89C8040}" srcOrd="0" destOrd="0" presId="urn:microsoft.com/office/officeart/2016/7/layout/LinearArrowProcessNumbered"/>
    <dgm:cxn modelId="{01E4CE9A-7186-4A4C-A00F-2CF3C5534B6B}" type="presOf" srcId="{866601FB-D30F-4BB7-B559-CC2F8A2D6B6F}" destId="{75B6B584-6020-42C7-A000-0DF1E2D8FD58}" srcOrd="0" destOrd="0" presId="urn:microsoft.com/office/officeart/2016/7/layout/LinearArrowProcessNumbered"/>
    <dgm:cxn modelId="{044101A8-F39F-4639-B955-083F72BDC990}" type="presOf" srcId="{FBFA0B9C-FF8D-4F80-9033-BDCC88E80E0F}" destId="{5EBEDC58-9C20-4252-A6FD-3669EEB0E1FC}" srcOrd="0" destOrd="0" presId="urn:microsoft.com/office/officeart/2016/7/layout/LinearArrowProcessNumbered"/>
    <dgm:cxn modelId="{63DF20B7-45EC-4A79-90D7-0A6E82B0AC19}" type="presOf" srcId="{0E661877-8CEA-424C-9FB6-B8859ED0B3C6}" destId="{78435095-8D6C-45FD-A2E1-35563088D4E6}" srcOrd="0" destOrd="0" presId="urn:microsoft.com/office/officeart/2016/7/layout/LinearArrowProcessNumbered"/>
    <dgm:cxn modelId="{C9F7E2D8-D5C9-4CFD-B33B-8685E8A7BABA}" type="presOf" srcId="{D4DD07EE-3C45-427B-88E0-179CAD845F13}" destId="{CC78728F-B35E-48D8-8741-5FEB9F2D6417}" srcOrd="0" destOrd="0" presId="urn:microsoft.com/office/officeart/2016/7/layout/LinearArrowProcessNumbered"/>
    <dgm:cxn modelId="{198B03DA-4081-4C4C-852A-71194E993F52}" type="presOf" srcId="{C2E5565F-132F-4242-8D88-E2D3C12080FF}" destId="{ACE18346-D164-4A12-A9E7-95179EB0A667}" srcOrd="0" destOrd="0" presId="urn:microsoft.com/office/officeart/2016/7/layout/LinearArrowProcessNumbered"/>
    <dgm:cxn modelId="{BABD37E6-743B-4835-AB94-336F3AA8F0A8}" type="presOf" srcId="{1235862E-E0E6-45A1-8EF1-FC66EF05F3EC}" destId="{D8988607-47C3-4D0F-8E84-D64E6A766057}" srcOrd="0" destOrd="0" presId="urn:microsoft.com/office/officeart/2016/7/layout/LinearArrowProcessNumbered"/>
    <dgm:cxn modelId="{9A20D2F0-7043-4277-A7EE-C51BB1776CA1}" srcId="{0E661877-8CEA-424C-9FB6-B8859ED0B3C6}" destId="{A9707033-E83A-4757-A8AA-AA65CB3EEB80}" srcOrd="3" destOrd="0" parTransId="{52258FB1-E584-4D30-8EF4-2DB0BAF6B1C7}" sibTransId="{866601FB-D30F-4BB7-B559-CC2F8A2D6B6F}"/>
    <dgm:cxn modelId="{FAA0D3F1-98E1-4C94-B0B4-D40C49031E73}" type="presOf" srcId="{6A727954-9A81-4B32-9C17-B44FA2B79F81}" destId="{DB134DBF-69C1-4A8C-97D9-F799D8B7A4CB}" srcOrd="0" destOrd="0" presId="urn:microsoft.com/office/officeart/2016/7/layout/LinearArrowProcessNumbered"/>
    <dgm:cxn modelId="{B7195BF9-3DB5-4737-A9C6-88EB300DD984}" srcId="{0E661877-8CEA-424C-9FB6-B8859ED0B3C6}" destId="{093396B8-3BB8-4FDC-ABC6-6758EB0CA0F5}" srcOrd="4" destOrd="0" parTransId="{12221AB0-3E5C-481B-8BB5-9FA90CAA0FB2}" sibTransId="{FBFA0B9C-FF8D-4F80-9033-BDCC88E80E0F}"/>
    <dgm:cxn modelId="{4BAECB48-68F0-4976-A4A8-D0975BB52209}" type="presParOf" srcId="{78435095-8D6C-45FD-A2E1-35563088D4E6}" destId="{4E319F59-3F4C-43D2-9E35-EE6AB6BD165C}" srcOrd="0" destOrd="0" presId="urn:microsoft.com/office/officeart/2016/7/layout/LinearArrowProcessNumbered"/>
    <dgm:cxn modelId="{45EFB038-2E96-41AE-83EF-87D8CD929327}" type="presParOf" srcId="{4E319F59-3F4C-43D2-9E35-EE6AB6BD165C}" destId="{CCB51B17-2175-4F35-A734-0B6CC0F64AA3}" srcOrd="0" destOrd="0" presId="urn:microsoft.com/office/officeart/2016/7/layout/LinearArrowProcessNumbered"/>
    <dgm:cxn modelId="{3EDEBF8E-BE06-43CF-BCCA-FD6708486D4C}" type="presParOf" srcId="{4E319F59-3F4C-43D2-9E35-EE6AB6BD165C}" destId="{1E5ACFDD-EDA7-4174-9F95-0698428E8EBC}" srcOrd="1" destOrd="0" presId="urn:microsoft.com/office/officeart/2016/7/layout/LinearArrowProcessNumbered"/>
    <dgm:cxn modelId="{43F313DF-1563-4F8C-95C5-96C8B83F2477}" type="presParOf" srcId="{1E5ACFDD-EDA7-4174-9F95-0698428E8EBC}" destId="{1E2E3A90-BA8A-448B-845A-26539D0660C6}" srcOrd="0" destOrd="0" presId="urn:microsoft.com/office/officeart/2016/7/layout/LinearArrowProcessNumbered"/>
    <dgm:cxn modelId="{7C2F77EA-9AF0-4CEF-AD4A-1B1DFCC0D2E2}" type="presParOf" srcId="{1E5ACFDD-EDA7-4174-9F95-0698428E8EBC}" destId="{FFC5E71D-5FE1-4C93-A230-AA8333393FFE}" srcOrd="1" destOrd="0" presId="urn:microsoft.com/office/officeart/2016/7/layout/LinearArrowProcessNumbered"/>
    <dgm:cxn modelId="{0CB91769-54A5-4B7C-BC49-FC5D71A9C69B}" type="presParOf" srcId="{1E5ACFDD-EDA7-4174-9F95-0698428E8EBC}" destId="{76DBBD99-0751-4D7D-B626-E7E86F2D4ECF}" srcOrd="2" destOrd="0" presId="urn:microsoft.com/office/officeart/2016/7/layout/LinearArrowProcessNumbered"/>
    <dgm:cxn modelId="{EE82FA7A-9013-4C14-9315-920DADBD6E2E}" type="presParOf" srcId="{1E5ACFDD-EDA7-4174-9F95-0698428E8EBC}" destId="{AFFC5B32-B716-4F29-B5DB-4DF08B0AA7AD}" srcOrd="3" destOrd="0" presId="urn:microsoft.com/office/officeart/2016/7/layout/LinearArrowProcessNumbered"/>
    <dgm:cxn modelId="{784176D6-EF1A-4B7A-9274-B2B7B94C6B0A}" type="presParOf" srcId="{4E319F59-3F4C-43D2-9E35-EE6AB6BD165C}" destId="{5B462D6C-510A-413B-BFD1-F48D295CD0AB}" srcOrd="2" destOrd="0" presId="urn:microsoft.com/office/officeart/2016/7/layout/LinearArrowProcessNumbered"/>
    <dgm:cxn modelId="{F02C4492-C436-4FE1-AE53-AFAE4611FA24}" type="presParOf" srcId="{78435095-8D6C-45FD-A2E1-35563088D4E6}" destId="{8DF9A8E7-D203-409C-8A56-8D268BF84051}" srcOrd="1" destOrd="0" presId="urn:microsoft.com/office/officeart/2016/7/layout/LinearArrowProcessNumbered"/>
    <dgm:cxn modelId="{57818684-C135-422E-9583-B5DBA3DDA174}" type="presParOf" srcId="{78435095-8D6C-45FD-A2E1-35563088D4E6}" destId="{020DDFD1-B51B-4C7C-BA0F-CB07D3738D99}" srcOrd="2" destOrd="0" presId="urn:microsoft.com/office/officeart/2016/7/layout/LinearArrowProcessNumbered"/>
    <dgm:cxn modelId="{3EA078D1-670D-443D-A2E1-A2473908961E}" type="presParOf" srcId="{020DDFD1-B51B-4C7C-BA0F-CB07D3738D99}" destId="{D76A62E2-056A-4D84-A2DC-50396D51D8CA}" srcOrd="0" destOrd="0" presId="urn:microsoft.com/office/officeart/2016/7/layout/LinearArrowProcessNumbered"/>
    <dgm:cxn modelId="{F7E7ECA4-3101-475D-8EDF-1817441F2CB5}" type="presParOf" srcId="{020DDFD1-B51B-4C7C-BA0F-CB07D3738D99}" destId="{B9EE67C0-171F-41EB-9016-7A8EF1C63362}" srcOrd="1" destOrd="0" presId="urn:microsoft.com/office/officeart/2016/7/layout/LinearArrowProcessNumbered"/>
    <dgm:cxn modelId="{6FA5D3AC-2FE6-46F4-958B-F7424E94AD3D}" type="presParOf" srcId="{B9EE67C0-171F-41EB-9016-7A8EF1C63362}" destId="{14A4FC4D-B9A9-49B5-A6AC-500E539EFD9F}" srcOrd="0" destOrd="0" presId="urn:microsoft.com/office/officeart/2016/7/layout/LinearArrowProcessNumbered"/>
    <dgm:cxn modelId="{8A4B24AF-7126-401B-9BC2-6019D511FF9A}" type="presParOf" srcId="{B9EE67C0-171F-41EB-9016-7A8EF1C63362}" destId="{CAD24194-149A-4560-8021-1BFD06719638}" srcOrd="1" destOrd="0" presId="urn:microsoft.com/office/officeart/2016/7/layout/LinearArrowProcessNumbered"/>
    <dgm:cxn modelId="{BB551F3F-BA09-4FB3-84B5-BB62DB8E8D07}" type="presParOf" srcId="{B9EE67C0-171F-41EB-9016-7A8EF1C63362}" destId="{ACE18346-D164-4A12-A9E7-95179EB0A667}" srcOrd="2" destOrd="0" presId="urn:microsoft.com/office/officeart/2016/7/layout/LinearArrowProcessNumbered"/>
    <dgm:cxn modelId="{65AC1876-09A6-4153-B285-7CD5DCE59A5F}" type="presParOf" srcId="{B9EE67C0-171F-41EB-9016-7A8EF1C63362}" destId="{85A7A6F9-267F-495B-82D6-0216C029D7BE}" srcOrd="3" destOrd="0" presId="urn:microsoft.com/office/officeart/2016/7/layout/LinearArrowProcessNumbered"/>
    <dgm:cxn modelId="{3B05941A-10F1-4818-B31A-7467FEF2C96E}" type="presParOf" srcId="{020DDFD1-B51B-4C7C-BA0F-CB07D3738D99}" destId="{246C02B6-D060-476A-A222-C2C9E89C8040}" srcOrd="2" destOrd="0" presId="urn:microsoft.com/office/officeart/2016/7/layout/LinearArrowProcessNumbered"/>
    <dgm:cxn modelId="{530048E3-8BBD-4F2F-80AB-586B1517C6B9}" type="presParOf" srcId="{78435095-8D6C-45FD-A2E1-35563088D4E6}" destId="{43BDB378-A729-49A3-B690-3993DABE03A9}" srcOrd="3" destOrd="0" presId="urn:microsoft.com/office/officeart/2016/7/layout/LinearArrowProcessNumbered"/>
    <dgm:cxn modelId="{B4775419-FA16-41CB-B93D-EC1C51882741}" type="presParOf" srcId="{78435095-8D6C-45FD-A2E1-35563088D4E6}" destId="{62FC10BF-6D9A-4C73-9240-ACB5E4C15303}" srcOrd="4" destOrd="0" presId="urn:microsoft.com/office/officeart/2016/7/layout/LinearArrowProcessNumbered"/>
    <dgm:cxn modelId="{5D22511C-649D-4A18-AFF6-B9B37A6DDA9F}" type="presParOf" srcId="{62FC10BF-6D9A-4C73-9240-ACB5E4C15303}" destId="{6C953500-B104-4480-9E8B-6BE53DB22BD7}" srcOrd="0" destOrd="0" presId="urn:microsoft.com/office/officeart/2016/7/layout/LinearArrowProcessNumbered"/>
    <dgm:cxn modelId="{C43ADB47-6596-4F2D-AA54-5A4EB5BBD437}" type="presParOf" srcId="{62FC10BF-6D9A-4C73-9240-ACB5E4C15303}" destId="{A12A942B-2892-40E9-B8E7-0032AAA5AE77}" srcOrd="1" destOrd="0" presId="urn:microsoft.com/office/officeart/2016/7/layout/LinearArrowProcessNumbered"/>
    <dgm:cxn modelId="{E6D00B20-8091-4041-8921-E1F55A3FC2C7}" type="presParOf" srcId="{A12A942B-2892-40E9-B8E7-0032AAA5AE77}" destId="{22B98565-BBD2-42CF-AD90-4023ADB3C478}" srcOrd="0" destOrd="0" presId="urn:microsoft.com/office/officeart/2016/7/layout/LinearArrowProcessNumbered"/>
    <dgm:cxn modelId="{E5F2F95C-0B2E-4673-ABCC-E79613B1CF88}" type="presParOf" srcId="{A12A942B-2892-40E9-B8E7-0032AAA5AE77}" destId="{5EC242D1-365A-4B3F-8EF8-FF9611ED9CED}" srcOrd="1" destOrd="0" presId="urn:microsoft.com/office/officeart/2016/7/layout/LinearArrowProcessNumbered"/>
    <dgm:cxn modelId="{4DAE6FD5-EF2C-465F-BEA8-544C7CD252F4}" type="presParOf" srcId="{A12A942B-2892-40E9-B8E7-0032AAA5AE77}" destId="{A365A964-1948-46EE-8531-67A36E71C166}" srcOrd="2" destOrd="0" presId="urn:microsoft.com/office/officeart/2016/7/layout/LinearArrowProcessNumbered"/>
    <dgm:cxn modelId="{AD74C74D-1798-4545-A4DC-333BD4B02149}" type="presParOf" srcId="{A12A942B-2892-40E9-B8E7-0032AAA5AE77}" destId="{04BD54E1-375F-46DD-948B-8667878B6B0F}" srcOrd="3" destOrd="0" presId="urn:microsoft.com/office/officeart/2016/7/layout/LinearArrowProcessNumbered"/>
    <dgm:cxn modelId="{3A26EC7B-0E66-407C-BA7E-0D56372C3DCB}" type="presParOf" srcId="{62FC10BF-6D9A-4C73-9240-ACB5E4C15303}" destId="{D6AB9544-357A-4C32-9DD5-6899A58675A6}" srcOrd="2" destOrd="0" presId="urn:microsoft.com/office/officeart/2016/7/layout/LinearArrowProcessNumbered"/>
    <dgm:cxn modelId="{3E0657ED-C8D9-4F58-B9EE-B844771A1705}" type="presParOf" srcId="{78435095-8D6C-45FD-A2E1-35563088D4E6}" destId="{9417B001-FE1A-4E34-8751-A5BEAF8EE4A8}" srcOrd="5" destOrd="0" presId="urn:microsoft.com/office/officeart/2016/7/layout/LinearArrowProcessNumbered"/>
    <dgm:cxn modelId="{2D338F6C-14E5-498C-8F7E-12929799B076}" type="presParOf" srcId="{78435095-8D6C-45FD-A2E1-35563088D4E6}" destId="{B547DC23-6B6F-47DF-A4CD-01332597C6BA}" srcOrd="6" destOrd="0" presId="urn:microsoft.com/office/officeart/2016/7/layout/LinearArrowProcessNumbered"/>
    <dgm:cxn modelId="{5AAE20AF-2D2C-4E50-A52C-0788F0FCE4CF}" type="presParOf" srcId="{B547DC23-6B6F-47DF-A4CD-01332597C6BA}" destId="{7BA303E6-7B2F-43F0-AEFD-23F85E94BC59}" srcOrd="0" destOrd="0" presId="urn:microsoft.com/office/officeart/2016/7/layout/LinearArrowProcessNumbered"/>
    <dgm:cxn modelId="{ADD69752-F2DF-4148-8C73-EF6D6CC56ED4}" type="presParOf" srcId="{B547DC23-6B6F-47DF-A4CD-01332597C6BA}" destId="{F99287A3-0F5C-4F36-902D-1C318E790977}" srcOrd="1" destOrd="0" presId="urn:microsoft.com/office/officeart/2016/7/layout/LinearArrowProcessNumbered"/>
    <dgm:cxn modelId="{2647B32B-4986-4B9C-A8ED-6661E57E6519}" type="presParOf" srcId="{F99287A3-0F5C-4F36-902D-1C318E790977}" destId="{A4FE55BD-AE3A-45A7-8B8E-AE4C13B23497}" srcOrd="0" destOrd="0" presId="urn:microsoft.com/office/officeart/2016/7/layout/LinearArrowProcessNumbered"/>
    <dgm:cxn modelId="{E7F067A1-8974-4452-A268-1BEDBE51FFBA}" type="presParOf" srcId="{F99287A3-0F5C-4F36-902D-1C318E790977}" destId="{403D2717-5CDB-4BF4-9E09-F3356A8971C9}" srcOrd="1" destOrd="0" presId="urn:microsoft.com/office/officeart/2016/7/layout/LinearArrowProcessNumbered"/>
    <dgm:cxn modelId="{7DCD94CE-E503-4D0D-B3E3-3D6464F9F420}" type="presParOf" srcId="{F99287A3-0F5C-4F36-902D-1C318E790977}" destId="{75B6B584-6020-42C7-A000-0DF1E2D8FD58}" srcOrd="2" destOrd="0" presId="urn:microsoft.com/office/officeart/2016/7/layout/LinearArrowProcessNumbered"/>
    <dgm:cxn modelId="{43D316ED-4F97-445D-8BC3-C1DC1B294714}" type="presParOf" srcId="{F99287A3-0F5C-4F36-902D-1C318E790977}" destId="{20D01F40-FCE1-4D14-BDC9-D3ECC1923187}" srcOrd="3" destOrd="0" presId="urn:microsoft.com/office/officeart/2016/7/layout/LinearArrowProcessNumbered"/>
    <dgm:cxn modelId="{4A138B6E-3EF7-41E8-B456-4A9E7002C623}" type="presParOf" srcId="{B547DC23-6B6F-47DF-A4CD-01332597C6BA}" destId="{D64DE5E3-6A61-47D1-AFF1-BC7CC4C08AC2}" srcOrd="2" destOrd="0" presId="urn:microsoft.com/office/officeart/2016/7/layout/LinearArrowProcessNumbered"/>
    <dgm:cxn modelId="{5AE85D16-F037-4FC3-ACAF-99D434EB6EB2}" type="presParOf" srcId="{78435095-8D6C-45FD-A2E1-35563088D4E6}" destId="{50F556D0-166C-4A6C-B093-9E2444B2ED7A}" srcOrd="7" destOrd="0" presId="urn:microsoft.com/office/officeart/2016/7/layout/LinearArrowProcessNumbered"/>
    <dgm:cxn modelId="{C1831F3D-7662-4307-8BD3-1C6EC1DB32A7}" type="presParOf" srcId="{78435095-8D6C-45FD-A2E1-35563088D4E6}" destId="{AD0948DE-05BF-4FAB-A25E-7EE5F10D4506}" srcOrd="8" destOrd="0" presId="urn:microsoft.com/office/officeart/2016/7/layout/LinearArrowProcessNumbered"/>
    <dgm:cxn modelId="{77880310-FABD-4D85-887E-0BFAFC3C73A3}" type="presParOf" srcId="{AD0948DE-05BF-4FAB-A25E-7EE5F10D4506}" destId="{08BDDE40-F4D9-48E7-ACB0-325BD1A9D773}" srcOrd="0" destOrd="0" presId="urn:microsoft.com/office/officeart/2016/7/layout/LinearArrowProcessNumbered"/>
    <dgm:cxn modelId="{185AABBD-988E-4623-B977-8C414E1690DE}" type="presParOf" srcId="{AD0948DE-05BF-4FAB-A25E-7EE5F10D4506}" destId="{9E299357-FCFB-4903-AD3C-EB2EFCB354E6}" srcOrd="1" destOrd="0" presId="urn:microsoft.com/office/officeart/2016/7/layout/LinearArrowProcessNumbered"/>
    <dgm:cxn modelId="{67E3289A-9525-4320-9B91-7656EA3955E8}" type="presParOf" srcId="{9E299357-FCFB-4903-AD3C-EB2EFCB354E6}" destId="{9131BEF3-D793-4229-A8CF-1349AB31B371}" srcOrd="0" destOrd="0" presId="urn:microsoft.com/office/officeart/2016/7/layout/LinearArrowProcessNumbered"/>
    <dgm:cxn modelId="{033EF746-69CD-4CA2-B2F5-B64351F05232}" type="presParOf" srcId="{9E299357-FCFB-4903-AD3C-EB2EFCB354E6}" destId="{7911A2D6-7702-4A05-9382-86C5125308AB}" srcOrd="1" destOrd="0" presId="urn:microsoft.com/office/officeart/2016/7/layout/LinearArrowProcessNumbered"/>
    <dgm:cxn modelId="{7739C922-550D-435B-9B9E-A986D4EE886C}" type="presParOf" srcId="{9E299357-FCFB-4903-AD3C-EB2EFCB354E6}" destId="{5EBEDC58-9C20-4252-A6FD-3669EEB0E1FC}" srcOrd="2" destOrd="0" presId="urn:microsoft.com/office/officeart/2016/7/layout/LinearArrowProcessNumbered"/>
    <dgm:cxn modelId="{ADF9399F-ECD8-4A85-909A-662E4C40DBED}" type="presParOf" srcId="{9E299357-FCFB-4903-AD3C-EB2EFCB354E6}" destId="{C516BEFC-EDEC-483F-8890-A218344BEFFC}" srcOrd="3" destOrd="0" presId="urn:microsoft.com/office/officeart/2016/7/layout/LinearArrowProcessNumbered"/>
    <dgm:cxn modelId="{1444919B-6725-411F-8FAF-B935212A5433}" type="presParOf" srcId="{AD0948DE-05BF-4FAB-A25E-7EE5F10D4506}" destId="{01DFCFCF-1217-454E-B97A-1B21B421F645}" srcOrd="2" destOrd="0" presId="urn:microsoft.com/office/officeart/2016/7/layout/LinearArrowProcessNumbered"/>
    <dgm:cxn modelId="{4C819FE5-71FD-487B-9E7C-E049BF826D2A}" type="presParOf" srcId="{78435095-8D6C-45FD-A2E1-35563088D4E6}" destId="{03209BED-33A3-4814-8A65-AE177E03EEFE}" srcOrd="9" destOrd="0" presId="urn:microsoft.com/office/officeart/2016/7/layout/LinearArrowProcessNumbered"/>
    <dgm:cxn modelId="{CEE0C0B3-38D0-4DF0-AFB7-17619F0D2118}" type="presParOf" srcId="{78435095-8D6C-45FD-A2E1-35563088D4E6}" destId="{EC1BF4B7-64D4-461B-86EB-94EAA5C72FF7}" srcOrd="10" destOrd="0" presId="urn:microsoft.com/office/officeart/2016/7/layout/LinearArrowProcessNumbered"/>
    <dgm:cxn modelId="{0CD840BF-D147-48E9-A58B-D9279D362E46}" type="presParOf" srcId="{EC1BF4B7-64D4-461B-86EB-94EAA5C72FF7}" destId="{598B770E-CB36-4656-8B8D-CA6DDE0E2049}" srcOrd="0" destOrd="0" presId="urn:microsoft.com/office/officeart/2016/7/layout/LinearArrowProcessNumbered"/>
    <dgm:cxn modelId="{F1C9A3C6-1208-4CE6-B625-E482FB441CB2}" type="presParOf" srcId="{EC1BF4B7-64D4-461B-86EB-94EAA5C72FF7}" destId="{EA3EA577-0569-423F-B70F-BF04D8A10DBD}" srcOrd="1" destOrd="0" presId="urn:microsoft.com/office/officeart/2016/7/layout/LinearArrowProcessNumbered"/>
    <dgm:cxn modelId="{14F135A4-7AA6-4DBB-A09A-CE8E5A8198FD}" type="presParOf" srcId="{EA3EA577-0569-423F-B70F-BF04D8A10DBD}" destId="{57F07EB6-FEE5-4A44-B22D-A2774F9072D6}" srcOrd="0" destOrd="0" presId="urn:microsoft.com/office/officeart/2016/7/layout/LinearArrowProcessNumbered"/>
    <dgm:cxn modelId="{672BB593-A0C8-402A-8353-9CA860045B1A}" type="presParOf" srcId="{EA3EA577-0569-423F-B70F-BF04D8A10DBD}" destId="{7FE8F0F8-ED44-4119-947E-F35B9498CFA6}" srcOrd="1" destOrd="0" presId="urn:microsoft.com/office/officeart/2016/7/layout/LinearArrowProcessNumbered"/>
    <dgm:cxn modelId="{27F430DD-D9B4-46A2-9377-0B82580DAACF}" type="presParOf" srcId="{EA3EA577-0569-423F-B70F-BF04D8A10DBD}" destId="{CC78728F-B35E-48D8-8741-5FEB9F2D6417}" srcOrd="2" destOrd="0" presId="urn:microsoft.com/office/officeart/2016/7/layout/LinearArrowProcessNumbered"/>
    <dgm:cxn modelId="{8D275A99-80A8-4159-8F26-43AA23E1468C}" type="presParOf" srcId="{EA3EA577-0569-423F-B70F-BF04D8A10DBD}" destId="{9C7575F8-4810-4140-B668-FACD49E13735}" srcOrd="3" destOrd="0" presId="urn:microsoft.com/office/officeart/2016/7/layout/LinearArrowProcessNumbered"/>
    <dgm:cxn modelId="{1B15C9DB-FFF3-428A-BE2F-1069C2F07991}" type="presParOf" srcId="{EC1BF4B7-64D4-461B-86EB-94EAA5C72FF7}" destId="{894C5F87-2FA9-4368-811A-946D1F087995}" srcOrd="2" destOrd="0" presId="urn:microsoft.com/office/officeart/2016/7/layout/LinearArrowProcessNumbered"/>
    <dgm:cxn modelId="{91E1026E-F787-4269-81D0-BB5AAEF04159}" type="presParOf" srcId="{78435095-8D6C-45FD-A2E1-35563088D4E6}" destId="{1C54E4F4-09BF-4C77-B520-5BBC9C28CCFC}" srcOrd="11" destOrd="0" presId="urn:microsoft.com/office/officeart/2016/7/layout/LinearArrowProcessNumbered"/>
    <dgm:cxn modelId="{0C55BEFA-407B-4780-85E0-B76CEDBCD3F6}" type="presParOf" srcId="{78435095-8D6C-45FD-A2E1-35563088D4E6}" destId="{184D361F-3DA5-4623-80AD-8853019B9840}" srcOrd="12" destOrd="0" presId="urn:microsoft.com/office/officeart/2016/7/layout/LinearArrowProcessNumbered"/>
    <dgm:cxn modelId="{C0995531-13E6-4E3A-B7F3-314944A0C44B}" type="presParOf" srcId="{184D361F-3DA5-4623-80AD-8853019B9840}" destId="{D1ADD15A-0786-4F3B-A957-61020AFCE518}" srcOrd="0" destOrd="0" presId="urn:microsoft.com/office/officeart/2016/7/layout/LinearArrowProcessNumbered"/>
    <dgm:cxn modelId="{58F466F7-60EC-418C-B562-8F03F6932CA3}" type="presParOf" srcId="{184D361F-3DA5-4623-80AD-8853019B9840}" destId="{7589CE56-9E8D-4AF6-8C95-9BFB8425C0F9}" srcOrd="1" destOrd="0" presId="urn:microsoft.com/office/officeart/2016/7/layout/LinearArrowProcessNumbered"/>
    <dgm:cxn modelId="{057C7D6A-9798-46C1-93B4-C08DF3425167}" type="presParOf" srcId="{7589CE56-9E8D-4AF6-8C95-9BFB8425C0F9}" destId="{66E2CD75-059A-4DDB-A25D-948C93D210CA}" srcOrd="0" destOrd="0" presId="urn:microsoft.com/office/officeart/2016/7/layout/LinearArrowProcessNumbered"/>
    <dgm:cxn modelId="{1B6F1F27-C517-4734-99DC-698BF69214B6}" type="presParOf" srcId="{7589CE56-9E8D-4AF6-8C95-9BFB8425C0F9}" destId="{2D59EDA3-D663-4B46-8971-A75987EAA25F}" srcOrd="1" destOrd="0" presId="urn:microsoft.com/office/officeart/2016/7/layout/LinearArrowProcessNumbered"/>
    <dgm:cxn modelId="{63D2DB90-F6C2-476E-8512-5230B4CFE003}" type="presParOf" srcId="{7589CE56-9E8D-4AF6-8C95-9BFB8425C0F9}" destId="{D8988607-47C3-4D0F-8E84-D64E6A766057}" srcOrd="2" destOrd="0" presId="urn:microsoft.com/office/officeart/2016/7/layout/LinearArrowProcessNumbered"/>
    <dgm:cxn modelId="{8F91788E-B5AB-49C1-8B84-D1C8AA3B7405}" type="presParOf" srcId="{7589CE56-9E8D-4AF6-8C95-9BFB8425C0F9}" destId="{890250B6-C4B5-4D34-B2BB-65092870294A}" srcOrd="3" destOrd="0" presId="urn:microsoft.com/office/officeart/2016/7/layout/LinearArrowProcessNumbered"/>
    <dgm:cxn modelId="{72768346-E7F1-4164-887D-85F913DB2668}" type="presParOf" srcId="{184D361F-3DA5-4623-80AD-8853019B9840}" destId="{264D4955-FC14-4B22-A6AE-9A04911166D3}" srcOrd="2" destOrd="0" presId="urn:microsoft.com/office/officeart/2016/7/layout/LinearArrowProcessNumbered"/>
    <dgm:cxn modelId="{87161459-5158-49A9-A047-4C8F0975A653}" type="presParOf" srcId="{78435095-8D6C-45FD-A2E1-35563088D4E6}" destId="{75E817EC-B0C0-4C8D-887C-4493F45FAE47}" srcOrd="13" destOrd="0" presId="urn:microsoft.com/office/officeart/2016/7/layout/LinearArrowProcessNumbered"/>
    <dgm:cxn modelId="{DFF9C69C-FB1C-4930-B512-FC8CEA65E481}" type="presParOf" srcId="{78435095-8D6C-45FD-A2E1-35563088D4E6}" destId="{759DC4E8-B163-4777-B7D1-546B1B54F0BE}" srcOrd="14" destOrd="0" presId="urn:microsoft.com/office/officeart/2016/7/layout/LinearArrowProcessNumbered"/>
    <dgm:cxn modelId="{DC04B665-F91E-41DE-AB78-12927F037CB5}" type="presParOf" srcId="{759DC4E8-B163-4777-B7D1-546B1B54F0BE}" destId="{0536BEB7-35EC-4B1A-A5DB-59A70DDC319A}" srcOrd="0" destOrd="0" presId="urn:microsoft.com/office/officeart/2016/7/layout/LinearArrowProcessNumbered"/>
    <dgm:cxn modelId="{4A7678ED-0819-4425-9D09-A9CB0A18F79B}" type="presParOf" srcId="{759DC4E8-B163-4777-B7D1-546B1B54F0BE}" destId="{19CC084C-34BA-4ABD-A9D9-F07329CCA615}" srcOrd="1" destOrd="0" presId="urn:microsoft.com/office/officeart/2016/7/layout/LinearArrowProcessNumbered"/>
    <dgm:cxn modelId="{CA5FF00D-DEE6-414C-9288-0D0162F253AB}" type="presParOf" srcId="{19CC084C-34BA-4ABD-A9D9-F07329CCA615}" destId="{34258755-CA08-4456-82A0-AE630624AD47}" srcOrd="0" destOrd="0" presId="urn:microsoft.com/office/officeart/2016/7/layout/LinearArrowProcessNumbered"/>
    <dgm:cxn modelId="{AB3A582C-A482-42CF-9895-8F57919A365F}" type="presParOf" srcId="{19CC084C-34BA-4ABD-A9D9-F07329CCA615}" destId="{475C1E24-B25E-47E9-9ADF-037F2DE71F0E}" srcOrd="1" destOrd="0" presId="urn:microsoft.com/office/officeart/2016/7/layout/LinearArrowProcessNumbered"/>
    <dgm:cxn modelId="{08A1B6C8-B5FD-4717-AE4B-5A34EA69A8BA}" type="presParOf" srcId="{19CC084C-34BA-4ABD-A9D9-F07329CCA615}" destId="{DB134DBF-69C1-4A8C-97D9-F799D8B7A4CB}" srcOrd="2" destOrd="0" presId="urn:microsoft.com/office/officeart/2016/7/layout/LinearArrowProcessNumbered"/>
    <dgm:cxn modelId="{0FC0E503-7672-4943-ACDB-61091436C57E}" type="presParOf" srcId="{19CC084C-34BA-4ABD-A9D9-F07329CCA615}" destId="{73BF9E54-D013-45C6-945C-E6487F5FE284}" srcOrd="3" destOrd="0" presId="urn:microsoft.com/office/officeart/2016/7/layout/LinearArrowProcessNumbered"/>
    <dgm:cxn modelId="{537FC23F-AD36-4BAF-9F5C-E92994B45323}" type="presParOf" srcId="{759DC4E8-B163-4777-B7D1-546B1B54F0BE}" destId="{E60104AA-3881-4231-98B0-2E1492D24185}" srcOrd="2" destOrd="0" presId="urn:microsoft.com/office/officeart/2016/7/layout/LinearArrowProcessNumbered"/>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65DAC1E-9DA7-40F0-8FDA-895F47C70BE1}">
      <dsp:nvSpPr>
        <dsp:cNvPr id="0" name=""/>
        <dsp:cNvSpPr/>
      </dsp:nvSpPr>
      <dsp:spPr>
        <a:xfrm>
          <a:off x="0" y="2626263"/>
          <a:ext cx="8120239" cy="1723112"/>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13360" tIns="213360" rIns="213360" bIns="213360" numCol="1" spcCol="1270" anchor="ctr" anchorCtr="0">
          <a:noAutofit/>
        </a:bodyPr>
        <a:lstStyle/>
        <a:p>
          <a:pPr marL="0" lvl="0" indent="0" algn="ctr" defTabSz="1333500">
            <a:lnSpc>
              <a:spcPct val="90000"/>
            </a:lnSpc>
            <a:spcBef>
              <a:spcPct val="0"/>
            </a:spcBef>
            <a:spcAft>
              <a:spcPct val="35000"/>
            </a:spcAft>
            <a:buNone/>
          </a:pPr>
          <a:r>
            <a:rPr lang="en-US" sz="3000" kern="1200"/>
            <a:t>We will cover four kinds of relationships:</a:t>
          </a:r>
        </a:p>
      </dsp:txBody>
      <dsp:txXfrm>
        <a:off x="0" y="2626263"/>
        <a:ext cx="8120239" cy="930480"/>
      </dsp:txXfrm>
    </dsp:sp>
    <dsp:sp modelId="{E918EABE-98A5-488D-8D8A-98AD2AFE0B92}">
      <dsp:nvSpPr>
        <dsp:cNvPr id="0" name=""/>
        <dsp:cNvSpPr/>
      </dsp:nvSpPr>
      <dsp:spPr>
        <a:xfrm>
          <a:off x="0" y="3522281"/>
          <a:ext cx="2030059" cy="792631"/>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0904" tIns="21590" rIns="120904" bIns="21590" numCol="1" spcCol="1270" anchor="ctr" anchorCtr="0">
          <a:noAutofit/>
        </a:bodyPr>
        <a:lstStyle/>
        <a:p>
          <a:pPr marL="0" lvl="0" indent="0" algn="ctr" defTabSz="755650">
            <a:lnSpc>
              <a:spcPct val="90000"/>
            </a:lnSpc>
            <a:spcBef>
              <a:spcPct val="0"/>
            </a:spcBef>
            <a:spcAft>
              <a:spcPct val="35000"/>
            </a:spcAft>
            <a:buNone/>
          </a:pPr>
          <a:r>
            <a:rPr lang="en-US" sz="1700" kern="1200"/>
            <a:t>Merely having people in one’s life</a:t>
          </a:r>
        </a:p>
      </dsp:txBody>
      <dsp:txXfrm>
        <a:off x="0" y="3522281"/>
        <a:ext cx="2030059" cy="792631"/>
      </dsp:txXfrm>
    </dsp:sp>
    <dsp:sp modelId="{6E41C27B-97C1-4D23-A25A-237883CC9443}">
      <dsp:nvSpPr>
        <dsp:cNvPr id="0" name=""/>
        <dsp:cNvSpPr/>
      </dsp:nvSpPr>
      <dsp:spPr>
        <a:xfrm>
          <a:off x="2030059" y="3522281"/>
          <a:ext cx="2030059" cy="792631"/>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0904" tIns="21590" rIns="120904" bIns="21590" numCol="1" spcCol="1270" anchor="ctr" anchorCtr="0">
          <a:noAutofit/>
        </a:bodyPr>
        <a:lstStyle/>
        <a:p>
          <a:pPr marL="0" lvl="0" indent="0" algn="ctr" defTabSz="755650">
            <a:lnSpc>
              <a:spcPct val="90000"/>
            </a:lnSpc>
            <a:spcBef>
              <a:spcPct val="0"/>
            </a:spcBef>
            <a:spcAft>
              <a:spcPct val="35000"/>
            </a:spcAft>
            <a:buNone/>
          </a:pPr>
          <a:r>
            <a:rPr lang="en-US" sz="1700" kern="1200"/>
            <a:t>Friendships</a:t>
          </a:r>
        </a:p>
      </dsp:txBody>
      <dsp:txXfrm>
        <a:off x="2030059" y="3522281"/>
        <a:ext cx="2030059" cy="792631"/>
      </dsp:txXfrm>
    </dsp:sp>
    <dsp:sp modelId="{4DE826F1-7FC7-459A-84FD-58313BE61D36}">
      <dsp:nvSpPr>
        <dsp:cNvPr id="0" name=""/>
        <dsp:cNvSpPr/>
      </dsp:nvSpPr>
      <dsp:spPr>
        <a:xfrm>
          <a:off x="4060119" y="3522281"/>
          <a:ext cx="2030059" cy="792631"/>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0904" tIns="21590" rIns="120904" bIns="21590" numCol="1" spcCol="1270" anchor="ctr" anchorCtr="0">
          <a:noAutofit/>
        </a:bodyPr>
        <a:lstStyle/>
        <a:p>
          <a:pPr marL="0" lvl="0" indent="0" algn="ctr" defTabSz="755650">
            <a:lnSpc>
              <a:spcPct val="90000"/>
            </a:lnSpc>
            <a:spcBef>
              <a:spcPct val="0"/>
            </a:spcBef>
            <a:spcAft>
              <a:spcPct val="35000"/>
            </a:spcAft>
            <a:buNone/>
          </a:pPr>
          <a:r>
            <a:rPr lang="en-US" sz="1700" kern="1200"/>
            <a:t>Online/social media relationships</a:t>
          </a:r>
        </a:p>
      </dsp:txBody>
      <dsp:txXfrm>
        <a:off x="4060119" y="3522281"/>
        <a:ext cx="2030059" cy="792631"/>
      </dsp:txXfrm>
    </dsp:sp>
    <dsp:sp modelId="{560D3FFA-766D-4799-80E1-7029119310BB}">
      <dsp:nvSpPr>
        <dsp:cNvPr id="0" name=""/>
        <dsp:cNvSpPr/>
      </dsp:nvSpPr>
      <dsp:spPr>
        <a:xfrm>
          <a:off x="6090179" y="3522281"/>
          <a:ext cx="2030059" cy="792631"/>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0904" tIns="21590" rIns="120904" bIns="21590" numCol="1" spcCol="1270" anchor="ctr" anchorCtr="0">
          <a:noAutofit/>
        </a:bodyPr>
        <a:lstStyle/>
        <a:p>
          <a:pPr marL="0" lvl="0" indent="0" algn="ctr" defTabSz="755650">
            <a:lnSpc>
              <a:spcPct val="90000"/>
            </a:lnSpc>
            <a:spcBef>
              <a:spcPct val="0"/>
            </a:spcBef>
            <a:spcAft>
              <a:spcPct val="35000"/>
            </a:spcAft>
            <a:buNone/>
          </a:pPr>
          <a:r>
            <a:rPr lang="en-US" sz="1700" kern="1200"/>
            <a:t>Marriage</a:t>
          </a:r>
        </a:p>
      </dsp:txBody>
      <dsp:txXfrm>
        <a:off x="6090179" y="3522281"/>
        <a:ext cx="2030059" cy="792631"/>
      </dsp:txXfrm>
    </dsp:sp>
    <dsp:sp modelId="{B999B863-FCAD-4F55-9902-D9C2A75E3DB9}">
      <dsp:nvSpPr>
        <dsp:cNvPr id="0" name=""/>
        <dsp:cNvSpPr/>
      </dsp:nvSpPr>
      <dsp:spPr>
        <a:xfrm rot="10800000">
          <a:off x="0" y="1962"/>
          <a:ext cx="8120239" cy="2650147"/>
        </a:xfrm>
        <a:prstGeom prst="upArrowCallou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13360" tIns="213360" rIns="213360" bIns="213360" numCol="1" spcCol="1270" anchor="ctr" anchorCtr="0">
          <a:noAutofit/>
        </a:bodyPr>
        <a:lstStyle/>
        <a:p>
          <a:pPr marL="0" lvl="0" indent="0" algn="ctr" defTabSz="1333500">
            <a:lnSpc>
              <a:spcPct val="90000"/>
            </a:lnSpc>
            <a:spcBef>
              <a:spcPct val="0"/>
            </a:spcBef>
            <a:spcAft>
              <a:spcPct val="35000"/>
            </a:spcAft>
            <a:buNone/>
          </a:pPr>
          <a:r>
            <a:rPr lang="en-US" sz="3000" kern="1200"/>
            <a:t>Relationships can be conceptualized and measured in various ways, all of which may have somewhat different associations with well-being.</a:t>
          </a:r>
        </a:p>
      </dsp:txBody>
      <dsp:txXfrm rot="10800000">
        <a:off x="0" y="1962"/>
        <a:ext cx="8120239" cy="172198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FA979EE-6718-4678-8B2F-46A6C52E7687}">
      <dsp:nvSpPr>
        <dsp:cNvPr id="0" name=""/>
        <dsp:cNvSpPr/>
      </dsp:nvSpPr>
      <dsp:spPr>
        <a:xfrm>
          <a:off x="124557" y="118398"/>
          <a:ext cx="1315996" cy="131599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23B45C4-C9E2-4B5C-B1EF-E4F198385386}">
      <dsp:nvSpPr>
        <dsp:cNvPr id="0" name=""/>
        <dsp:cNvSpPr/>
      </dsp:nvSpPr>
      <dsp:spPr>
        <a:xfrm>
          <a:off x="50983" y="1597284"/>
          <a:ext cx="3759989" cy="10132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889000">
            <a:lnSpc>
              <a:spcPct val="90000"/>
            </a:lnSpc>
            <a:spcBef>
              <a:spcPct val="0"/>
            </a:spcBef>
            <a:spcAft>
              <a:spcPct val="35000"/>
            </a:spcAft>
            <a:buNone/>
            <a:defRPr b="1"/>
          </a:pPr>
          <a:r>
            <a:rPr lang="en-US" sz="2000" kern="1200" dirty="0"/>
            <a:t>Size of one’s </a:t>
          </a:r>
          <a:r>
            <a:rPr lang="en-US" sz="2000" i="1" kern="1200" dirty="0"/>
            <a:t>social network </a:t>
          </a:r>
          <a:r>
            <a:rPr lang="en-US" sz="2000" kern="1200" dirty="0"/>
            <a:t>(i.e., the number of people in one’s life) is related to greater levels of psychological well-being.</a:t>
          </a:r>
        </a:p>
      </dsp:txBody>
      <dsp:txXfrm>
        <a:off x="50983" y="1597284"/>
        <a:ext cx="3759989" cy="1013225"/>
      </dsp:txXfrm>
    </dsp:sp>
    <dsp:sp modelId="{E9B13696-1F27-495B-A0B7-B5513DC4D88D}">
      <dsp:nvSpPr>
        <dsp:cNvPr id="0" name=""/>
        <dsp:cNvSpPr/>
      </dsp:nvSpPr>
      <dsp:spPr>
        <a:xfrm>
          <a:off x="8947" y="3360312"/>
          <a:ext cx="3759989" cy="1915"/>
        </a:xfrm>
        <a:prstGeom prst="rect">
          <a:avLst/>
        </a:prstGeom>
        <a:noFill/>
        <a:ln>
          <a:noFill/>
        </a:ln>
        <a:effectLst/>
      </dsp:spPr>
      <dsp:style>
        <a:lnRef idx="0">
          <a:scrgbClr r="0" g="0" b="0"/>
        </a:lnRef>
        <a:fillRef idx="0">
          <a:scrgbClr r="0" g="0" b="0"/>
        </a:fillRef>
        <a:effectRef idx="0">
          <a:scrgbClr r="0" g="0" b="0"/>
        </a:effectRef>
        <a:fontRef idx="minor"/>
      </dsp:style>
    </dsp:sp>
    <dsp:sp modelId="{34F8764A-D0F0-4F71-90CB-ACA46F0D9224}">
      <dsp:nvSpPr>
        <dsp:cNvPr id="0" name=""/>
        <dsp:cNvSpPr/>
      </dsp:nvSpPr>
      <dsp:spPr>
        <a:xfrm>
          <a:off x="3240116" y="424"/>
          <a:ext cx="1315996" cy="131599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F21FD0A-ACB0-4170-A890-74A234AD472C}">
      <dsp:nvSpPr>
        <dsp:cNvPr id="0" name=""/>
        <dsp:cNvSpPr/>
      </dsp:nvSpPr>
      <dsp:spPr>
        <a:xfrm>
          <a:off x="4831907" y="54235"/>
          <a:ext cx="3363963" cy="10542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022350">
            <a:lnSpc>
              <a:spcPct val="90000"/>
            </a:lnSpc>
            <a:spcBef>
              <a:spcPct val="0"/>
            </a:spcBef>
            <a:spcAft>
              <a:spcPct val="35000"/>
            </a:spcAft>
            <a:buNone/>
            <a:defRPr b="1"/>
          </a:pPr>
          <a:r>
            <a:rPr lang="en-US" sz="2300" kern="1200" dirty="0"/>
            <a:t>Important Study: Diener &amp; Seligman (2002)</a:t>
          </a:r>
        </a:p>
      </dsp:txBody>
      <dsp:txXfrm>
        <a:off x="4831907" y="54235"/>
        <a:ext cx="3363963" cy="1054245"/>
      </dsp:txXfrm>
    </dsp:sp>
    <dsp:sp modelId="{C2AF6ACD-33CD-4CA6-9F18-4B801E1DF7AB}">
      <dsp:nvSpPr>
        <dsp:cNvPr id="0" name=""/>
        <dsp:cNvSpPr/>
      </dsp:nvSpPr>
      <dsp:spPr>
        <a:xfrm>
          <a:off x="4088949" y="1299453"/>
          <a:ext cx="3759989" cy="339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55650">
            <a:lnSpc>
              <a:spcPct val="90000"/>
            </a:lnSpc>
            <a:spcBef>
              <a:spcPct val="0"/>
            </a:spcBef>
            <a:spcAft>
              <a:spcPct val="35000"/>
            </a:spcAft>
            <a:buNone/>
          </a:pPr>
          <a:r>
            <a:rPr lang="en-US" sz="1700" kern="1200" dirty="0"/>
            <a:t>Tracked 222 undergraduates for a semester, administering surveys to participants and people who knew them. </a:t>
          </a:r>
        </a:p>
        <a:p>
          <a:pPr marL="0" lvl="0" indent="0" algn="l" defTabSz="755650">
            <a:lnSpc>
              <a:spcPct val="90000"/>
            </a:lnSpc>
            <a:spcBef>
              <a:spcPct val="0"/>
            </a:spcBef>
            <a:spcAft>
              <a:spcPct val="35000"/>
            </a:spcAft>
            <a:buNone/>
          </a:pPr>
          <a:r>
            <a:rPr lang="en-US" sz="1700" kern="1200" dirty="0"/>
            <a:t>Results: The happiest ten percent of participants spent less time alone than the least happy ten percent. Moreover, they were much more satisfied with their relationships than the unhappy participants, including their close friendships, family relationships, and romantic relationships.</a:t>
          </a:r>
        </a:p>
      </dsp:txBody>
      <dsp:txXfrm>
        <a:off x="4088949" y="1299453"/>
        <a:ext cx="3759989" cy="3393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7D289BF-6160-4BD2-BBAB-273ABFEA3B66}">
      <dsp:nvSpPr>
        <dsp:cNvPr id="0" name=""/>
        <dsp:cNvSpPr/>
      </dsp:nvSpPr>
      <dsp:spPr>
        <a:xfrm>
          <a:off x="0" y="2530579"/>
          <a:ext cx="8195871" cy="1660334"/>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9352" tIns="149352" rIns="149352" bIns="149352" numCol="1" spcCol="1270" anchor="ctr" anchorCtr="0">
          <a:noAutofit/>
        </a:bodyPr>
        <a:lstStyle/>
        <a:p>
          <a:pPr marL="0" lvl="0" indent="0" algn="ctr" defTabSz="933450">
            <a:lnSpc>
              <a:spcPct val="90000"/>
            </a:lnSpc>
            <a:spcBef>
              <a:spcPct val="0"/>
            </a:spcBef>
            <a:spcAft>
              <a:spcPct val="35000"/>
            </a:spcAft>
            <a:buNone/>
          </a:pPr>
          <a:r>
            <a:rPr lang="en-US" sz="2100" kern="1200"/>
            <a:t>Two prominent social exchange theories:</a:t>
          </a:r>
        </a:p>
      </dsp:txBody>
      <dsp:txXfrm>
        <a:off x="0" y="2530579"/>
        <a:ext cx="8195871" cy="896580"/>
      </dsp:txXfrm>
    </dsp:sp>
    <dsp:sp modelId="{D902561A-8A3E-4615-8749-FE6517209063}">
      <dsp:nvSpPr>
        <dsp:cNvPr id="0" name=""/>
        <dsp:cNvSpPr/>
      </dsp:nvSpPr>
      <dsp:spPr>
        <a:xfrm>
          <a:off x="0" y="3393953"/>
          <a:ext cx="4097935" cy="763753"/>
        </a:xfrm>
        <a:prstGeom prst="rect">
          <a:avLst/>
        </a:prstGeom>
        <a:solidFill>
          <a:schemeClr val="accent2">
            <a:tint val="40000"/>
            <a:alpha val="90000"/>
            <a:hueOff val="0"/>
            <a:satOff val="0"/>
            <a:lumOff val="0"/>
            <a:alphaOff val="0"/>
          </a:schemeClr>
        </a:solidFill>
        <a:ln w="1270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2024" tIns="34290" rIns="192024" bIns="34290" numCol="1" spcCol="1270" anchor="ctr" anchorCtr="0">
          <a:noAutofit/>
        </a:bodyPr>
        <a:lstStyle/>
        <a:p>
          <a:pPr marL="0" lvl="0" indent="0" algn="ctr" defTabSz="1200150">
            <a:lnSpc>
              <a:spcPct val="90000"/>
            </a:lnSpc>
            <a:spcBef>
              <a:spcPct val="0"/>
            </a:spcBef>
            <a:spcAft>
              <a:spcPct val="35000"/>
            </a:spcAft>
            <a:buNone/>
          </a:pPr>
          <a:r>
            <a:rPr lang="en-US" sz="2700" kern="1200"/>
            <a:t>Thibault and Kelley (1959)</a:t>
          </a:r>
        </a:p>
      </dsp:txBody>
      <dsp:txXfrm>
        <a:off x="0" y="3393953"/>
        <a:ext cx="4097935" cy="763753"/>
      </dsp:txXfrm>
    </dsp:sp>
    <dsp:sp modelId="{4EFFF649-B886-4B5F-A6DD-B4618422D3E2}">
      <dsp:nvSpPr>
        <dsp:cNvPr id="0" name=""/>
        <dsp:cNvSpPr/>
      </dsp:nvSpPr>
      <dsp:spPr>
        <a:xfrm>
          <a:off x="4097935" y="3393953"/>
          <a:ext cx="4097935" cy="763753"/>
        </a:xfrm>
        <a:prstGeom prst="rect">
          <a:avLst/>
        </a:prstGeom>
        <a:solidFill>
          <a:schemeClr val="accent2">
            <a:tint val="40000"/>
            <a:alpha val="90000"/>
            <a:hueOff val="-849226"/>
            <a:satOff val="-75346"/>
            <a:lumOff val="-769"/>
            <a:alphaOff val="0"/>
          </a:schemeClr>
        </a:solidFill>
        <a:ln w="12700" cap="flat" cmpd="sng" algn="ctr">
          <a:solidFill>
            <a:schemeClr val="accent2">
              <a:tint val="40000"/>
              <a:alpha val="90000"/>
              <a:hueOff val="-849226"/>
              <a:satOff val="-75346"/>
              <a:lumOff val="-769"/>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2024" tIns="34290" rIns="192024" bIns="34290" numCol="1" spcCol="1270" anchor="ctr" anchorCtr="0">
          <a:noAutofit/>
        </a:bodyPr>
        <a:lstStyle/>
        <a:p>
          <a:pPr marL="0" lvl="0" indent="0" algn="ctr" defTabSz="1200150">
            <a:lnSpc>
              <a:spcPct val="90000"/>
            </a:lnSpc>
            <a:spcBef>
              <a:spcPct val="0"/>
            </a:spcBef>
            <a:spcAft>
              <a:spcPct val="35000"/>
            </a:spcAft>
            <a:buNone/>
          </a:pPr>
          <a:r>
            <a:rPr lang="en-US" sz="2700" kern="1200"/>
            <a:t>Rusbult (1980)</a:t>
          </a:r>
        </a:p>
      </dsp:txBody>
      <dsp:txXfrm>
        <a:off x="4097935" y="3393953"/>
        <a:ext cx="4097935" cy="763753"/>
      </dsp:txXfrm>
    </dsp:sp>
    <dsp:sp modelId="{8442C06F-213C-4885-AFEB-90EBE28A6EE3}">
      <dsp:nvSpPr>
        <dsp:cNvPr id="0" name=""/>
        <dsp:cNvSpPr/>
      </dsp:nvSpPr>
      <dsp:spPr>
        <a:xfrm rot="10800000">
          <a:off x="0" y="1890"/>
          <a:ext cx="8195871" cy="2553594"/>
        </a:xfrm>
        <a:prstGeom prst="upArrowCallout">
          <a:avLst/>
        </a:prstGeom>
        <a:solidFill>
          <a:schemeClr val="accent2">
            <a:hueOff val="-1455363"/>
            <a:satOff val="-83928"/>
            <a:lumOff val="862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9352" tIns="149352" rIns="149352" bIns="149352" numCol="1" spcCol="1270" anchor="ctr" anchorCtr="0">
          <a:noAutofit/>
        </a:bodyPr>
        <a:lstStyle/>
        <a:p>
          <a:pPr marL="0" lvl="0" indent="0" algn="ctr" defTabSz="933450">
            <a:lnSpc>
              <a:spcPct val="90000"/>
            </a:lnSpc>
            <a:spcBef>
              <a:spcPct val="0"/>
            </a:spcBef>
            <a:spcAft>
              <a:spcPct val="35000"/>
            </a:spcAft>
            <a:buNone/>
          </a:pPr>
          <a:r>
            <a:rPr lang="en-US" sz="2100" kern="1200"/>
            <a:t>In general, social exchange theories assert that decisions to engage in and remain in relationships, as well as relationship satisfaction, depend on weighing the costs (e.g., companionship, support, sex, material resources) and benefits (e.g., stress, arguments, time compromises). </a:t>
          </a:r>
        </a:p>
      </dsp:txBody>
      <dsp:txXfrm rot="10800000">
        <a:off x="0" y="1890"/>
        <a:ext cx="8195871" cy="1659249"/>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E2E3A90-BA8A-448B-845A-26539D0660C6}">
      <dsp:nvSpPr>
        <dsp:cNvPr id="0" name=""/>
        <dsp:cNvSpPr/>
      </dsp:nvSpPr>
      <dsp:spPr>
        <a:xfrm>
          <a:off x="499621" y="1110009"/>
          <a:ext cx="393565" cy="71"/>
        </a:xfrm>
        <a:prstGeom prst="rect">
          <a:avLst/>
        </a:prstGeom>
        <a:solidFill>
          <a:schemeClr val="accent1">
            <a:alpha val="90000"/>
            <a:tint val="40000"/>
            <a:hueOff val="0"/>
            <a:satOff val="0"/>
            <a:lumOff val="0"/>
            <a:alphaOff val="0"/>
          </a:schemeClr>
        </a:solidFill>
        <a:ln w="6350" cap="flat" cmpd="sng" algn="ctr">
          <a:solidFill>
            <a:schemeClr val="accent1">
              <a:alpha val="90000"/>
              <a:tint val="40000"/>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sp>
    <dsp:sp modelId="{FFC5E71D-5FE1-4C93-A230-AA8333393FFE}">
      <dsp:nvSpPr>
        <dsp:cNvPr id="0" name=""/>
        <dsp:cNvSpPr/>
      </dsp:nvSpPr>
      <dsp:spPr>
        <a:xfrm>
          <a:off x="916800" y="1076954"/>
          <a:ext cx="45259" cy="85080"/>
        </a:xfrm>
        <a:prstGeom prst="chevron">
          <a:avLst>
            <a:gd name="adj" fmla="val 90000"/>
          </a:avLst>
        </a:prstGeom>
        <a:solidFill>
          <a:schemeClr val="accent1">
            <a:alpha val="90000"/>
            <a:tint val="40000"/>
            <a:hueOff val="0"/>
            <a:satOff val="0"/>
            <a:lumOff val="0"/>
            <a:alphaOff val="0"/>
          </a:schemeClr>
        </a:solidFill>
        <a:ln w="6350" cap="flat" cmpd="sng" algn="ctr">
          <a:solidFill>
            <a:schemeClr val="accent1">
              <a:alpha val="90000"/>
              <a:tint val="40000"/>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sp>
    <dsp:sp modelId="{76DBBD99-0751-4D7D-B626-E7E86F2D4ECF}">
      <dsp:nvSpPr>
        <dsp:cNvPr id="0" name=""/>
        <dsp:cNvSpPr/>
      </dsp:nvSpPr>
      <dsp:spPr>
        <a:xfrm>
          <a:off x="296843" y="956463"/>
          <a:ext cx="307164" cy="307164"/>
        </a:xfrm>
        <a:prstGeom prst="ellipse">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11920" tIns="11920" rIns="11920" bIns="11920" numCol="1" spcCol="1270" anchor="ctr" anchorCtr="0">
          <a:noAutofit/>
        </a:bodyPr>
        <a:lstStyle/>
        <a:p>
          <a:pPr marL="0" lvl="0" indent="0" algn="ctr" defTabSz="622300">
            <a:lnSpc>
              <a:spcPct val="90000"/>
            </a:lnSpc>
            <a:spcBef>
              <a:spcPct val="0"/>
            </a:spcBef>
            <a:spcAft>
              <a:spcPct val="35000"/>
            </a:spcAft>
            <a:buNone/>
          </a:pPr>
          <a:r>
            <a:rPr lang="en-US" sz="1400" kern="1200"/>
            <a:t>1</a:t>
          </a:r>
        </a:p>
      </dsp:txBody>
      <dsp:txXfrm>
        <a:off x="341826" y="1001446"/>
        <a:ext cx="217198" cy="217198"/>
      </dsp:txXfrm>
    </dsp:sp>
    <dsp:sp modelId="{5B462D6C-510A-413B-BFD1-F48D295CD0AB}">
      <dsp:nvSpPr>
        <dsp:cNvPr id="0" name=""/>
        <dsp:cNvSpPr/>
      </dsp:nvSpPr>
      <dsp:spPr>
        <a:xfrm>
          <a:off x="7664" y="1429203"/>
          <a:ext cx="885521" cy="1965600"/>
        </a:xfrm>
        <a:prstGeom prst="upArrowCallout">
          <a:avLst>
            <a:gd name="adj1" fmla="val 50000"/>
            <a:gd name="adj2" fmla="val 20000"/>
            <a:gd name="adj3" fmla="val 20000"/>
            <a:gd name="adj4" fmla="val 100000"/>
          </a:avLst>
        </a:prstGeom>
        <a:solidFill>
          <a:schemeClr val="accent1">
            <a:alpha val="90000"/>
            <a:tint val="40000"/>
            <a:hueOff val="0"/>
            <a:satOff val="0"/>
            <a:lumOff val="0"/>
            <a:alphaOff val="0"/>
          </a:schemeClr>
        </a:solidFill>
        <a:ln w="6350" cap="flat" cmpd="sng" algn="ctr">
          <a:solidFill>
            <a:schemeClr val="accent1">
              <a:alpha val="90000"/>
              <a:tint val="40000"/>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69851" tIns="165100" rIns="69851" bIns="165100" numCol="1" spcCol="1270" anchor="t" anchorCtr="0">
          <a:noAutofit/>
        </a:bodyPr>
        <a:lstStyle/>
        <a:p>
          <a:pPr marL="0" lvl="0" indent="0" algn="l" defTabSz="488950">
            <a:lnSpc>
              <a:spcPct val="90000"/>
            </a:lnSpc>
            <a:spcBef>
              <a:spcPct val="0"/>
            </a:spcBef>
            <a:spcAft>
              <a:spcPct val="35000"/>
            </a:spcAft>
            <a:buNone/>
          </a:pPr>
          <a:r>
            <a:rPr lang="en-US" sz="1100" kern="1200"/>
            <a:t>Practice active listening</a:t>
          </a:r>
        </a:p>
      </dsp:txBody>
      <dsp:txXfrm>
        <a:off x="7664" y="1606307"/>
        <a:ext cx="885521" cy="1788496"/>
      </dsp:txXfrm>
    </dsp:sp>
    <dsp:sp modelId="{14A4FC4D-B9A9-49B5-A6AC-500E539EFD9F}">
      <dsp:nvSpPr>
        <dsp:cNvPr id="0" name=""/>
        <dsp:cNvSpPr/>
      </dsp:nvSpPr>
      <dsp:spPr>
        <a:xfrm>
          <a:off x="991577" y="1110032"/>
          <a:ext cx="885521" cy="72"/>
        </a:xfrm>
        <a:prstGeom prst="rect">
          <a:avLst/>
        </a:prstGeom>
        <a:solidFill>
          <a:schemeClr val="accent1">
            <a:alpha val="90000"/>
            <a:tint val="40000"/>
            <a:hueOff val="0"/>
            <a:satOff val="0"/>
            <a:lumOff val="0"/>
            <a:alphaOff val="0"/>
          </a:schemeClr>
        </a:solidFill>
        <a:ln w="6350" cap="flat" cmpd="sng" algn="ctr">
          <a:solidFill>
            <a:schemeClr val="accent1">
              <a:alpha val="90000"/>
              <a:tint val="40000"/>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sp>
    <dsp:sp modelId="{CAD24194-149A-4560-8021-1BFD06719638}">
      <dsp:nvSpPr>
        <dsp:cNvPr id="0" name=""/>
        <dsp:cNvSpPr/>
      </dsp:nvSpPr>
      <dsp:spPr>
        <a:xfrm>
          <a:off x="1900713" y="1076972"/>
          <a:ext cx="45259" cy="85105"/>
        </a:xfrm>
        <a:prstGeom prst="chevron">
          <a:avLst>
            <a:gd name="adj" fmla="val 90000"/>
          </a:avLst>
        </a:prstGeom>
        <a:solidFill>
          <a:schemeClr val="accent1">
            <a:alpha val="90000"/>
            <a:tint val="40000"/>
            <a:hueOff val="0"/>
            <a:satOff val="0"/>
            <a:lumOff val="0"/>
            <a:alphaOff val="0"/>
          </a:schemeClr>
        </a:solidFill>
        <a:ln w="6350" cap="flat" cmpd="sng" algn="ctr">
          <a:solidFill>
            <a:schemeClr val="accent1">
              <a:alpha val="90000"/>
              <a:tint val="40000"/>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sp>
    <dsp:sp modelId="{ACE18346-D164-4A12-A9E7-95179EB0A667}">
      <dsp:nvSpPr>
        <dsp:cNvPr id="0" name=""/>
        <dsp:cNvSpPr/>
      </dsp:nvSpPr>
      <dsp:spPr>
        <a:xfrm>
          <a:off x="1280756" y="956486"/>
          <a:ext cx="307164" cy="307164"/>
        </a:xfrm>
        <a:prstGeom prst="ellipse">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11920" tIns="11920" rIns="11920" bIns="11920" numCol="1" spcCol="1270" anchor="ctr" anchorCtr="0">
          <a:noAutofit/>
        </a:bodyPr>
        <a:lstStyle/>
        <a:p>
          <a:pPr marL="0" lvl="0" indent="0" algn="ctr" defTabSz="622300">
            <a:lnSpc>
              <a:spcPct val="90000"/>
            </a:lnSpc>
            <a:spcBef>
              <a:spcPct val="0"/>
            </a:spcBef>
            <a:spcAft>
              <a:spcPct val="35000"/>
            </a:spcAft>
            <a:buNone/>
          </a:pPr>
          <a:r>
            <a:rPr lang="en-US" sz="1400" kern="1200"/>
            <a:t>2</a:t>
          </a:r>
        </a:p>
      </dsp:txBody>
      <dsp:txXfrm>
        <a:off x="1325739" y="1001469"/>
        <a:ext cx="217198" cy="217198"/>
      </dsp:txXfrm>
    </dsp:sp>
    <dsp:sp modelId="{246C02B6-D060-476A-A222-C2C9E89C8040}">
      <dsp:nvSpPr>
        <dsp:cNvPr id="0" name=""/>
        <dsp:cNvSpPr/>
      </dsp:nvSpPr>
      <dsp:spPr>
        <a:xfrm>
          <a:off x="991577" y="1429274"/>
          <a:ext cx="885521" cy="1965600"/>
        </a:xfrm>
        <a:prstGeom prst="upArrowCallout">
          <a:avLst>
            <a:gd name="adj1" fmla="val 50000"/>
            <a:gd name="adj2" fmla="val 20000"/>
            <a:gd name="adj3" fmla="val 20000"/>
            <a:gd name="adj4" fmla="val 100000"/>
          </a:avLst>
        </a:prstGeom>
        <a:solidFill>
          <a:schemeClr val="accent1">
            <a:alpha val="90000"/>
            <a:tint val="40000"/>
            <a:hueOff val="0"/>
            <a:satOff val="0"/>
            <a:lumOff val="0"/>
            <a:alphaOff val="0"/>
          </a:schemeClr>
        </a:solidFill>
        <a:ln w="6350" cap="flat" cmpd="sng" algn="ctr">
          <a:solidFill>
            <a:schemeClr val="accent1">
              <a:alpha val="90000"/>
              <a:tint val="40000"/>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69851" tIns="165100" rIns="69851" bIns="165100" numCol="1" spcCol="1270" anchor="t" anchorCtr="0">
          <a:noAutofit/>
        </a:bodyPr>
        <a:lstStyle/>
        <a:p>
          <a:pPr marL="0" lvl="0" indent="0" algn="l" defTabSz="488950">
            <a:lnSpc>
              <a:spcPct val="90000"/>
            </a:lnSpc>
            <a:spcBef>
              <a:spcPct val="0"/>
            </a:spcBef>
            <a:spcAft>
              <a:spcPct val="35000"/>
            </a:spcAft>
            <a:buNone/>
          </a:pPr>
          <a:r>
            <a:rPr lang="en-US" sz="1100" kern="1200"/>
            <a:t>Show appreciation regularly</a:t>
          </a:r>
        </a:p>
      </dsp:txBody>
      <dsp:txXfrm>
        <a:off x="991577" y="1606378"/>
        <a:ext cx="885521" cy="1788496"/>
      </dsp:txXfrm>
    </dsp:sp>
    <dsp:sp modelId="{22B98565-BBD2-42CF-AD90-4023ADB3C478}">
      <dsp:nvSpPr>
        <dsp:cNvPr id="0" name=""/>
        <dsp:cNvSpPr/>
      </dsp:nvSpPr>
      <dsp:spPr>
        <a:xfrm>
          <a:off x="1975490" y="1110032"/>
          <a:ext cx="885521" cy="72"/>
        </a:xfrm>
        <a:prstGeom prst="rect">
          <a:avLst/>
        </a:prstGeom>
        <a:solidFill>
          <a:schemeClr val="accent1">
            <a:alpha val="90000"/>
            <a:tint val="40000"/>
            <a:hueOff val="0"/>
            <a:satOff val="0"/>
            <a:lumOff val="0"/>
            <a:alphaOff val="0"/>
          </a:schemeClr>
        </a:solidFill>
        <a:ln w="6350" cap="flat" cmpd="sng" algn="ctr">
          <a:solidFill>
            <a:schemeClr val="accent1">
              <a:alpha val="90000"/>
              <a:tint val="40000"/>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sp>
    <dsp:sp modelId="{5EC242D1-365A-4B3F-8EF8-FF9611ED9CED}">
      <dsp:nvSpPr>
        <dsp:cNvPr id="0" name=""/>
        <dsp:cNvSpPr/>
      </dsp:nvSpPr>
      <dsp:spPr>
        <a:xfrm>
          <a:off x="2884626" y="1076972"/>
          <a:ext cx="45259" cy="85105"/>
        </a:xfrm>
        <a:prstGeom prst="chevron">
          <a:avLst>
            <a:gd name="adj" fmla="val 90000"/>
          </a:avLst>
        </a:prstGeom>
        <a:solidFill>
          <a:schemeClr val="accent1">
            <a:alpha val="90000"/>
            <a:tint val="40000"/>
            <a:hueOff val="0"/>
            <a:satOff val="0"/>
            <a:lumOff val="0"/>
            <a:alphaOff val="0"/>
          </a:schemeClr>
        </a:solidFill>
        <a:ln w="6350" cap="flat" cmpd="sng" algn="ctr">
          <a:solidFill>
            <a:schemeClr val="accent1">
              <a:alpha val="90000"/>
              <a:tint val="40000"/>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sp>
    <dsp:sp modelId="{A365A964-1948-46EE-8531-67A36E71C166}">
      <dsp:nvSpPr>
        <dsp:cNvPr id="0" name=""/>
        <dsp:cNvSpPr/>
      </dsp:nvSpPr>
      <dsp:spPr>
        <a:xfrm>
          <a:off x="2264668" y="956486"/>
          <a:ext cx="307164" cy="307164"/>
        </a:xfrm>
        <a:prstGeom prst="ellipse">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11920" tIns="11920" rIns="11920" bIns="11920" numCol="1" spcCol="1270" anchor="ctr" anchorCtr="0">
          <a:noAutofit/>
        </a:bodyPr>
        <a:lstStyle/>
        <a:p>
          <a:pPr marL="0" lvl="0" indent="0" algn="ctr" defTabSz="622300">
            <a:lnSpc>
              <a:spcPct val="90000"/>
            </a:lnSpc>
            <a:spcBef>
              <a:spcPct val="0"/>
            </a:spcBef>
            <a:spcAft>
              <a:spcPct val="35000"/>
            </a:spcAft>
            <a:buNone/>
          </a:pPr>
          <a:r>
            <a:rPr lang="en-US" sz="1400" kern="1200"/>
            <a:t>3</a:t>
          </a:r>
        </a:p>
      </dsp:txBody>
      <dsp:txXfrm>
        <a:off x="2309651" y="1001469"/>
        <a:ext cx="217198" cy="217198"/>
      </dsp:txXfrm>
    </dsp:sp>
    <dsp:sp modelId="{D6AB9544-357A-4C32-9DD5-6899A58675A6}">
      <dsp:nvSpPr>
        <dsp:cNvPr id="0" name=""/>
        <dsp:cNvSpPr/>
      </dsp:nvSpPr>
      <dsp:spPr>
        <a:xfrm>
          <a:off x="1975490" y="1429274"/>
          <a:ext cx="885521" cy="1965600"/>
        </a:xfrm>
        <a:prstGeom prst="upArrowCallout">
          <a:avLst>
            <a:gd name="adj1" fmla="val 50000"/>
            <a:gd name="adj2" fmla="val 20000"/>
            <a:gd name="adj3" fmla="val 20000"/>
            <a:gd name="adj4" fmla="val 100000"/>
          </a:avLst>
        </a:prstGeom>
        <a:solidFill>
          <a:schemeClr val="accent1">
            <a:alpha val="90000"/>
            <a:tint val="40000"/>
            <a:hueOff val="0"/>
            <a:satOff val="0"/>
            <a:lumOff val="0"/>
            <a:alphaOff val="0"/>
          </a:schemeClr>
        </a:solidFill>
        <a:ln w="6350" cap="flat" cmpd="sng" algn="ctr">
          <a:solidFill>
            <a:schemeClr val="accent1">
              <a:alpha val="90000"/>
              <a:tint val="40000"/>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69851" tIns="165100" rIns="69851" bIns="165100" numCol="1" spcCol="1270" anchor="t" anchorCtr="0">
          <a:noAutofit/>
        </a:bodyPr>
        <a:lstStyle/>
        <a:p>
          <a:pPr marL="0" lvl="0" indent="0" algn="l" defTabSz="488950">
            <a:lnSpc>
              <a:spcPct val="90000"/>
            </a:lnSpc>
            <a:spcBef>
              <a:spcPct val="0"/>
            </a:spcBef>
            <a:spcAft>
              <a:spcPct val="35000"/>
            </a:spcAft>
            <a:buNone/>
          </a:pPr>
          <a:r>
            <a:rPr lang="en-US" sz="1100" kern="1200"/>
            <a:t>Be reliable and trustworthy</a:t>
          </a:r>
        </a:p>
      </dsp:txBody>
      <dsp:txXfrm>
        <a:off x="1975490" y="1606378"/>
        <a:ext cx="885521" cy="1788496"/>
      </dsp:txXfrm>
    </dsp:sp>
    <dsp:sp modelId="{A4FE55BD-AE3A-45A7-8B8E-AE4C13B23497}">
      <dsp:nvSpPr>
        <dsp:cNvPr id="0" name=""/>
        <dsp:cNvSpPr/>
      </dsp:nvSpPr>
      <dsp:spPr>
        <a:xfrm>
          <a:off x="2959403" y="1110032"/>
          <a:ext cx="885521" cy="72"/>
        </a:xfrm>
        <a:prstGeom prst="rect">
          <a:avLst/>
        </a:prstGeom>
        <a:solidFill>
          <a:schemeClr val="accent1">
            <a:alpha val="90000"/>
            <a:tint val="40000"/>
            <a:hueOff val="0"/>
            <a:satOff val="0"/>
            <a:lumOff val="0"/>
            <a:alphaOff val="0"/>
          </a:schemeClr>
        </a:solidFill>
        <a:ln w="6350" cap="flat" cmpd="sng" algn="ctr">
          <a:solidFill>
            <a:schemeClr val="accent1">
              <a:alpha val="90000"/>
              <a:tint val="40000"/>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sp>
    <dsp:sp modelId="{403D2717-5CDB-4BF4-9E09-F3356A8971C9}">
      <dsp:nvSpPr>
        <dsp:cNvPr id="0" name=""/>
        <dsp:cNvSpPr/>
      </dsp:nvSpPr>
      <dsp:spPr>
        <a:xfrm>
          <a:off x="3868539" y="1076972"/>
          <a:ext cx="45259" cy="85105"/>
        </a:xfrm>
        <a:prstGeom prst="chevron">
          <a:avLst>
            <a:gd name="adj" fmla="val 90000"/>
          </a:avLst>
        </a:prstGeom>
        <a:solidFill>
          <a:schemeClr val="accent1">
            <a:alpha val="90000"/>
            <a:tint val="40000"/>
            <a:hueOff val="0"/>
            <a:satOff val="0"/>
            <a:lumOff val="0"/>
            <a:alphaOff val="0"/>
          </a:schemeClr>
        </a:solidFill>
        <a:ln w="6350" cap="flat" cmpd="sng" algn="ctr">
          <a:solidFill>
            <a:schemeClr val="accent1">
              <a:alpha val="90000"/>
              <a:tint val="40000"/>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sp>
    <dsp:sp modelId="{75B6B584-6020-42C7-A000-0DF1E2D8FD58}">
      <dsp:nvSpPr>
        <dsp:cNvPr id="0" name=""/>
        <dsp:cNvSpPr/>
      </dsp:nvSpPr>
      <dsp:spPr>
        <a:xfrm>
          <a:off x="3248581" y="956486"/>
          <a:ext cx="307164" cy="307164"/>
        </a:xfrm>
        <a:prstGeom prst="ellipse">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11920" tIns="11920" rIns="11920" bIns="11920" numCol="1" spcCol="1270" anchor="ctr" anchorCtr="0">
          <a:noAutofit/>
        </a:bodyPr>
        <a:lstStyle/>
        <a:p>
          <a:pPr marL="0" lvl="0" indent="0" algn="ctr" defTabSz="622300">
            <a:lnSpc>
              <a:spcPct val="90000"/>
            </a:lnSpc>
            <a:spcBef>
              <a:spcPct val="0"/>
            </a:spcBef>
            <a:spcAft>
              <a:spcPct val="35000"/>
            </a:spcAft>
            <a:buNone/>
          </a:pPr>
          <a:r>
            <a:rPr lang="en-US" sz="1400" kern="1200"/>
            <a:t>4</a:t>
          </a:r>
        </a:p>
      </dsp:txBody>
      <dsp:txXfrm>
        <a:off x="3293564" y="1001469"/>
        <a:ext cx="217198" cy="217198"/>
      </dsp:txXfrm>
    </dsp:sp>
    <dsp:sp modelId="{D64DE5E3-6A61-47D1-AFF1-BC7CC4C08AC2}">
      <dsp:nvSpPr>
        <dsp:cNvPr id="0" name=""/>
        <dsp:cNvSpPr/>
      </dsp:nvSpPr>
      <dsp:spPr>
        <a:xfrm>
          <a:off x="2959403" y="1429274"/>
          <a:ext cx="885521" cy="1965600"/>
        </a:xfrm>
        <a:prstGeom prst="upArrowCallout">
          <a:avLst>
            <a:gd name="adj1" fmla="val 50000"/>
            <a:gd name="adj2" fmla="val 20000"/>
            <a:gd name="adj3" fmla="val 20000"/>
            <a:gd name="adj4" fmla="val 100000"/>
          </a:avLst>
        </a:prstGeom>
        <a:solidFill>
          <a:schemeClr val="accent1">
            <a:alpha val="90000"/>
            <a:tint val="40000"/>
            <a:hueOff val="0"/>
            <a:satOff val="0"/>
            <a:lumOff val="0"/>
            <a:alphaOff val="0"/>
          </a:schemeClr>
        </a:solidFill>
        <a:ln w="6350" cap="flat" cmpd="sng" algn="ctr">
          <a:solidFill>
            <a:schemeClr val="accent1">
              <a:alpha val="90000"/>
              <a:tint val="40000"/>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69851" tIns="165100" rIns="69851" bIns="165100" numCol="1" spcCol="1270" anchor="t" anchorCtr="0">
          <a:noAutofit/>
        </a:bodyPr>
        <a:lstStyle/>
        <a:p>
          <a:pPr marL="0" lvl="0" indent="0" algn="l" defTabSz="488950">
            <a:lnSpc>
              <a:spcPct val="90000"/>
            </a:lnSpc>
            <a:spcBef>
              <a:spcPct val="0"/>
            </a:spcBef>
            <a:spcAft>
              <a:spcPct val="35000"/>
            </a:spcAft>
            <a:buNone/>
          </a:pPr>
          <a:r>
            <a:rPr lang="en-US" sz="1100" kern="1200"/>
            <a:t>Invest time, even when busy</a:t>
          </a:r>
        </a:p>
      </dsp:txBody>
      <dsp:txXfrm>
        <a:off x="2959403" y="1606378"/>
        <a:ext cx="885521" cy="1788496"/>
      </dsp:txXfrm>
    </dsp:sp>
    <dsp:sp modelId="{9131BEF3-D793-4229-A8CF-1349AB31B371}">
      <dsp:nvSpPr>
        <dsp:cNvPr id="0" name=""/>
        <dsp:cNvSpPr/>
      </dsp:nvSpPr>
      <dsp:spPr>
        <a:xfrm>
          <a:off x="3943316" y="1110032"/>
          <a:ext cx="885521" cy="72"/>
        </a:xfrm>
        <a:prstGeom prst="rect">
          <a:avLst/>
        </a:prstGeom>
        <a:solidFill>
          <a:schemeClr val="accent1">
            <a:alpha val="90000"/>
            <a:tint val="40000"/>
            <a:hueOff val="0"/>
            <a:satOff val="0"/>
            <a:lumOff val="0"/>
            <a:alphaOff val="0"/>
          </a:schemeClr>
        </a:solidFill>
        <a:ln w="6350" cap="flat" cmpd="sng" algn="ctr">
          <a:solidFill>
            <a:schemeClr val="accent1">
              <a:alpha val="90000"/>
              <a:tint val="40000"/>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sp>
    <dsp:sp modelId="{7911A2D6-7702-4A05-9382-86C5125308AB}">
      <dsp:nvSpPr>
        <dsp:cNvPr id="0" name=""/>
        <dsp:cNvSpPr/>
      </dsp:nvSpPr>
      <dsp:spPr>
        <a:xfrm>
          <a:off x="4852452" y="1076972"/>
          <a:ext cx="45259" cy="85105"/>
        </a:xfrm>
        <a:prstGeom prst="chevron">
          <a:avLst>
            <a:gd name="adj" fmla="val 90000"/>
          </a:avLst>
        </a:prstGeom>
        <a:solidFill>
          <a:schemeClr val="accent1">
            <a:alpha val="90000"/>
            <a:tint val="40000"/>
            <a:hueOff val="0"/>
            <a:satOff val="0"/>
            <a:lumOff val="0"/>
            <a:alphaOff val="0"/>
          </a:schemeClr>
        </a:solidFill>
        <a:ln w="6350" cap="flat" cmpd="sng" algn="ctr">
          <a:solidFill>
            <a:schemeClr val="accent1">
              <a:alpha val="90000"/>
              <a:tint val="40000"/>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sp>
    <dsp:sp modelId="{5EBEDC58-9C20-4252-A6FD-3669EEB0E1FC}">
      <dsp:nvSpPr>
        <dsp:cNvPr id="0" name=""/>
        <dsp:cNvSpPr/>
      </dsp:nvSpPr>
      <dsp:spPr>
        <a:xfrm>
          <a:off x="4232494" y="956486"/>
          <a:ext cx="307164" cy="307164"/>
        </a:xfrm>
        <a:prstGeom prst="ellipse">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11920" tIns="11920" rIns="11920" bIns="11920" numCol="1" spcCol="1270" anchor="ctr" anchorCtr="0">
          <a:noAutofit/>
        </a:bodyPr>
        <a:lstStyle/>
        <a:p>
          <a:pPr marL="0" lvl="0" indent="0" algn="ctr" defTabSz="622300">
            <a:lnSpc>
              <a:spcPct val="90000"/>
            </a:lnSpc>
            <a:spcBef>
              <a:spcPct val="0"/>
            </a:spcBef>
            <a:spcAft>
              <a:spcPct val="35000"/>
            </a:spcAft>
            <a:buNone/>
          </a:pPr>
          <a:r>
            <a:rPr lang="en-US" sz="1400" kern="1200"/>
            <a:t>5</a:t>
          </a:r>
        </a:p>
      </dsp:txBody>
      <dsp:txXfrm>
        <a:off x="4277477" y="1001469"/>
        <a:ext cx="217198" cy="217198"/>
      </dsp:txXfrm>
    </dsp:sp>
    <dsp:sp modelId="{01DFCFCF-1217-454E-B97A-1B21B421F645}">
      <dsp:nvSpPr>
        <dsp:cNvPr id="0" name=""/>
        <dsp:cNvSpPr/>
      </dsp:nvSpPr>
      <dsp:spPr>
        <a:xfrm>
          <a:off x="3943316" y="1429274"/>
          <a:ext cx="885521" cy="1965600"/>
        </a:xfrm>
        <a:prstGeom prst="upArrowCallout">
          <a:avLst>
            <a:gd name="adj1" fmla="val 50000"/>
            <a:gd name="adj2" fmla="val 20000"/>
            <a:gd name="adj3" fmla="val 20000"/>
            <a:gd name="adj4" fmla="val 100000"/>
          </a:avLst>
        </a:prstGeom>
        <a:solidFill>
          <a:schemeClr val="accent1">
            <a:alpha val="90000"/>
            <a:tint val="40000"/>
            <a:hueOff val="0"/>
            <a:satOff val="0"/>
            <a:lumOff val="0"/>
            <a:alphaOff val="0"/>
          </a:schemeClr>
        </a:solidFill>
        <a:ln w="6350" cap="flat" cmpd="sng" algn="ctr">
          <a:solidFill>
            <a:schemeClr val="accent1">
              <a:alpha val="90000"/>
              <a:tint val="40000"/>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69851" tIns="165100" rIns="69851" bIns="165100" numCol="1" spcCol="1270" anchor="t" anchorCtr="0">
          <a:noAutofit/>
        </a:bodyPr>
        <a:lstStyle/>
        <a:p>
          <a:pPr marL="0" lvl="0" indent="0" algn="l" defTabSz="488950">
            <a:lnSpc>
              <a:spcPct val="90000"/>
            </a:lnSpc>
            <a:spcBef>
              <a:spcPct val="0"/>
            </a:spcBef>
            <a:spcAft>
              <a:spcPct val="35000"/>
            </a:spcAft>
            <a:buNone/>
          </a:pPr>
          <a:r>
            <a:rPr lang="en-US" sz="1100" kern="1200"/>
            <a:t>Resolve conflicts constructively (e.g., use “I” feel, or “I” noticed etc)</a:t>
          </a:r>
        </a:p>
      </dsp:txBody>
      <dsp:txXfrm>
        <a:off x="3943316" y="1606378"/>
        <a:ext cx="885521" cy="1788496"/>
      </dsp:txXfrm>
    </dsp:sp>
    <dsp:sp modelId="{57F07EB6-FEE5-4A44-B22D-A2774F9072D6}">
      <dsp:nvSpPr>
        <dsp:cNvPr id="0" name=""/>
        <dsp:cNvSpPr/>
      </dsp:nvSpPr>
      <dsp:spPr>
        <a:xfrm>
          <a:off x="4927229" y="1110032"/>
          <a:ext cx="885521" cy="72"/>
        </a:xfrm>
        <a:prstGeom prst="rect">
          <a:avLst/>
        </a:prstGeom>
        <a:solidFill>
          <a:schemeClr val="accent1">
            <a:alpha val="90000"/>
            <a:tint val="40000"/>
            <a:hueOff val="0"/>
            <a:satOff val="0"/>
            <a:lumOff val="0"/>
            <a:alphaOff val="0"/>
          </a:schemeClr>
        </a:solidFill>
        <a:ln w="6350" cap="flat" cmpd="sng" algn="ctr">
          <a:solidFill>
            <a:schemeClr val="accent1">
              <a:alpha val="90000"/>
              <a:tint val="40000"/>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sp>
    <dsp:sp modelId="{7FE8F0F8-ED44-4119-947E-F35B9498CFA6}">
      <dsp:nvSpPr>
        <dsp:cNvPr id="0" name=""/>
        <dsp:cNvSpPr/>
      </dsp:nvSpPr>
      <dsp:spPr>
        <a:xfrm>
          <a:off x="5836365" y="1076972"/>
          <a:ext cx="45259" cy="85105"/>
        </a:xfrm>
        <a:prstGeom prst="chevron">
          <a:avLst>
            <a:gd name="adj" fmla="val 90000"/>
          </a:avLst>
        </a:prstGeom>
        <a:solidFill>
          <a:schemeClr val="accent1">
            <a:alpha val="90000"/>
            <a:tint val="40000"/>
            <a:hueOff val="0"/>
            <a:satOff val="0"/>
            <a:lumOff val="0"/>
            <a:alphaOff val="0"/>
          </a:schemeClr>
        </a:solidFill>
        <a:ln w="6350" cap="flat" cmpd="sng" algn="ctr">
          <a:solidFill>
            <a:schemeClr val="accent1">
              <a:alpha val="90000"/>
              <a:tint val="40000"/>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sp>
    <dsp:sp modelId="{CC78728F-B35E-48D8-8741-5FEB9F2D6417}">
      <dsp:nvSpPr>
        <dsp:cNvPr id="0" name=""/>
        <dsp:cNvSpPr/>
      </dsp:nvSpPr>
      <dsp:spPr>
        <a:xfrm>
          <a:off x="5216407" y="956486"/>
          <a:ext cx="307164" cy="307164"/>
        </a:xfrm>
        <a:prstGeom prst="ellipse">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11920" tIns="11920" rIns="11920" bIns="11920" numCol="1" spcCol="1270" anchor="ctr" anchorCtr="0">
          <a:noAutofit/>
        </a:bodyPr>
        <a:lstStyle/>
        <a:p>
          <a:pPr marL="0" lvl="0" indent="0" algn="ctr" defTabSz="622300">
            <a:lnSpc>
              <a:spcPct val="90000"/>
            </a:lnSpc>
            <a:spcBef>
              <a:spcPct val="0"/>
            </a:spcBef>
            <a:spcAft>
              <a:spcPct val="35000"/>
            </a:spcAft>
            <a:buNone/>
          </a:pPr>
          <a:r>
            <a:rPr lang="en-US" sz="1400" kern="1200"/>
            <a:t>6</a:t>
          </a:r>
        </a:p>
      </dsp:txBody>
      <dsp:txXfrm>
        <a:off x="5261390" y="1001469"/>
        <a:ext cx="217198" cy="217198"/>
      </dsp:txXfrm>
    </dsp:sp>
    <dsp:sp modelId="{894C5F87-2FA9-4368-811A-946D1F087995}">
      <dsp:nvSpPr>
        <dsp:cNvPr id="0" name=""/>
        <dsp:cNvSpPr/>
      </dsp:nvSpPr>
      <dsp:spPr>
        <a:xfrm>
          <a:off x="4927229" y="1429274"/>
          <a:ext cx="885521" cy="1965600"/>
        </a:xfrm>
        <a:prstGeom prst="upArrowCallout">
          <a:avLst>
            <a:gd name="adj1" fmla="val 50000"/>
            <a:gd name="adj2" fmla="val 20000"/>
            <a:gd name="adj3" fmla="val 20000"/>
            <a:gd name="adj4" fmla="val 100000"/>
          </a:avLst>
        </a:prstGeom>
        <a:solidFill>
          <a:schemeClr val="accent1">
            <a:alpha val="90000"/>
            <a:tint val="40000"/>
            <a:hueOff val="0"/>
            <a:satOff val="0"/>
            <a:lumOff val="0"/>
            <a:alphaOff val="0"/>
          </a:schemeClr>
        </a:solidFill>
        <a:ln w="6350" cap="flat" cmpd="sng" algn="ctr">
          <a:solidFill>
            <a:schemeClr val="accent1">
              <a:alpha val="90000"/>
              <a:tint val="40000"/>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69851" tIns="165100" rIns="69851" bIns="165100" numCol="1" spcCol="1270" anchor="t" anchorCtr="0">
          <a:noAutofit/>
        </a:bodyPr>
        <a:lstStyle/>
        <a:p>
          <a:pPr marL="0" lvl="0" indent="0" algn="l" defTabSz="488950">
            <a:lnSpc>
              <a:spcPct val="90000"/>
            </a:lnSpc>
            <a:spcBef>
              <a:spcPct val="0"/>
            </a:spcBef>
            <a:spcAft>
              <a:spcPct val="35000"/>
            </a:spcAft>
            <a:buNone/>
          </a:pPr>
          <a:r>
            <a:rPr lang="en-US" sz="1100" kern="1200"/>
            <a:t>Celebrate good news together</a:t>
          </a:r>
        </a:p>
      </dsp:txBody>
      <dsp:txXfrm>
        <a:off x="4927229" y="1606378"/>
        <a:ext cx="885521" cy="1788496"/>
      </dsp:txXfrm>
    </dsp:sp>
    <dsp:sp modelId="{66E2CD75-059A-4DDB-A25D-948C93D210CA}">
      <dsp:nvSpPr>
        <dsp:cNvPr id="0" name=""/>
        <dsp:cNvSpPr/>
      </dsp:nvSpPr>
      <dsp:spPr>
        <a:xfrm>
          <a:off x="5911142" y="1110032"/>
          <a:ext cx="885582" cy="72"/>
        </a:xfrm>
        <a:prstGeom prst="rect">
          <a:avLst/>
        </a:prstGeom>
        <a:solidFill>
          <a:schemeClr val="accent1">
            <a:alpha val="90000"/>
            <a:tint val="40000"/>
            <a:hueOff val="0"/>
            <a:satOff val="0"/>
            <a:lumOff val="0"/>
            <a:alphaOff val="0"/>
          </a:schemeClr>
        </a:solidFill>
        <a:ln w="6350" cap="flat" cmpd="sng" algn="ctr">
          <a:solidFill>
            <a:schemeClr val="accent1">
              <a:alpha val="90000"/>
              <a:tint val="40000"/>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sp>
    <dsp:sp modelId="{2D59EDA3-D663-4B46-8971-A75987EAA25F}">
      <dsp:nvSpPr>
        <dsp:cNvPr id="0" name=""/>
        <dsp:cNvSpPr/>
      </dsp:nvSpPr>
      <dsp:spPr>
        <a:xfrm>
          <a:off x="6820339" y="1076972"/>
          <a:ext cx="45263" cy="85105"/>
        </a:xfrm>
        <a:prstGeom prst="chevron">
          <a:avLst>
            <a:gd name="adj" fmla="val 90000"/>
          </a:avLst>
        </a:prstGeom>
        <a:solidFill>
          <a:schemeClr val="accent1">
            <a:alpha val="90000"/>
            <a:tint val="40000"/>
            <a:hueOff val="0"/>
            <a:satOff val="0"/>
            <a:lumOff val="0"/>
            <a:alphaOff val="0"/>
          </a:schemeClr>
        </a:solidFill>
        <a:ln w="6350" cap="flat" cmpd="sng" algn="ctr">
          <a:solidFill>
            <a:schemeClr val="accent1">
              <a:alpha val="90000"/>
              <a:tint val="40000"/>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sp>
    <dsp:sp modelId="{D8988607-47C3-4D0F-8E84-D64E6A766057}">
      <dsp:nvSpPr>
        <dsp:cNvPr id="0" name=""/>
        <dsp:cNvSpPr/>
      </dsp:nvSpPr>
      <dsp:spPr>
        <a:xfrm>
          <a:off x="6200351" y="956486"/>
          <a:ext cx="307164" cy="307164"/>
        </a:xfrm>
        <a:prstGeom prst="ellipse">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11920" tIns="11920" rIns="11920" bIns="11920" numCol="1" spcCol="1270" anchor="ctr" anchorCtr="0">
          <a:noAutofit/>
        </a:bodyPr>
        <a:lstStyle/>
        <a:p>
          <a:pPr marL="0" lvl="0" indent="0" algn="ctr" defTabSz="622300">
            <a:lnSpc>
              <a:spcPct val="90000"/>
            </a:lnSpc>
            <a:spcBef>
              <a:spcPct val="0"/>
            </a:spcBef>
            <a:spcAft>
              <a:spcPct val="35000"/>
            </a:spcAft>
            <a:buNone/>
          </a:pPr>
          <a:r>
            <a:rPr lang="en-US" sz="1400" kern="1200"/>
            <a:t>7</a:t>
          </a:r>
        </a:p>
      </dsp:txBody>
      <dsp:txXfrm>
        <a:off x="6245334" y="1001469"/>
        <a:ext cx="217198" cy="217198"/>
      </dsp:txXfrm>
    </dsp:sp>
    <dsp:sp modelId="{264D4955-FC14-4B22-A6AE-9A04911166D3}">
      <dsp:nvSpPr>
        <dsp:cNvPr id="0" name=""/>
        <dsp:cNvSpPr/>
      </dsp:nvSpPr>
      <dsp:spPr>
        <a:xfrm>
          <a:off x="5911142" y="1429274"/>
          <a:ext cx="885582" cy="1965600"/>
        </a:xfrm>
        <a:prstGeom prst="upArrowCallout">
          <a:avLst>
            <a:gd name="adj1" fmla="val 50000"/>
            <a:gd name="adj2" fmla="val 20000"/>
            <a:gd name="adj3" fmla="val 20000"/>
            <a:gd name="adj4" fmla="val 100000"/>
          </a:avLst>
        </a:prstGeom>
        <a:solidFill>
          <a:schemeClr val="accent1">
            <a:alpha val="90000"/>
            <a:tint val="40000"/>
            <a:hueOff val="0"/>
            <a:satOff val="0"/>
            <a:lumOff val="0"/>
            <a:alphaOff val="0"/>
          </a:schemeClr>
        </a:solidFill>
        <a:ln w="6350" cap="flat" cmpd="sng" algn="ctr">
          <a:solidFill>
            <a:schemeClr val="accent1">
              <a:alpha val="90000"/>
              <a:tint val="40000"/>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69856" tIns="165100" rIns="69856" bIns="165100" numCol="1" spcCol="1270" anchor="t" anchorCtr="0">
          <a:noAutofit/>
        </a:bodyPr>
        <a:lstStyle/>
        <a:p>
          <a:pPr marL="0" lvl="0" indent="0" algn="l" defTabSz="488950">
            <a:lnSpc>
              <a:spcPct val="90000"/>
            </a:lnSpc>
            <a:spcBef>
              <a:spcPct val="0"/>
            </a:spcBef>
            <a:spcAft>
              <a:spcPct val="35000"/>
            </a:spcAft>
            <a:buNone/>
          </a:pPr>
          <a:r>
            <a:rPr lang="en-US" sz="1100" kern="1200"/>
            <a:t>Practice forgiveness</a:t>
          </a:r>
        </a:p>
      </dsp:txBody>
      <dsp:txXfrm>
        <a:off x="5911142" y="1606390"/>
        <a:ext cx="885582" cy="1788484"/>
      </dsp:txXfrm>
    </dsp:sp>
    <dsp:sp modelId="{34258755-CA08-4456-82A0-AE630624AD47}">
      <dsp:nvSpPr>
        <dsp:cNvPr id="0" name=""/>
        <dsp:cNvSpPr/>
      </dsp:nvSpPr>
      <dsp:spPr>
        <a:xfrm>
          <a:off x="6895122" y="1110032"/>
          <a:ext cx="442760" cy="72"/>
        </a:xfrm>
        <a:prstGeom prst="rect">
          <a:avLst/>
        </a:prstGeom>
        <a:solidFill>
          <a:schemeClr val="accent1">
            <a:alpha val="90000"/>
            <a:tint val="40000"/>
            <a:hueOff val="0"/>
            <a:satOff val="0"/>
            <a:lumOff val="0"/>
            <a:alphaOff val="0"/>
          </a:schemeClr>
        </a:solidFill>
        <a:ln w="6350" cap="flat" cmpd="sng" algn="ctr">
          <a:solidFill>
            <a:schemeClr val="accent1">
              <a:alpha val="90000"/>
              <a:tint val="40000"/>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sp>
    <dsp:sp modelId="{DB134DBF-69C1-4A8C-97D9-F799D8B7A4CB}">
      <dsp:nvSpPr>
        <dsp:cNvPr id="0" name=""/>
        <dsp:cNvSpPr/>
      </dsp:nvSpPr>
      <dsp:spPr>
        <a:xfrm>
          <a:off x="7184300" y="956486"/>
          <a:ext cx="307164" cy="307164"/>
        </a:xfrm>
        <a:prstGeom prst="ellipse">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11920" tIns="11920" rIns="11920" bIns="11920" numCol="1" spcCol="1270" anchor="ctr" anchorCtr="0">
          <a:noAutofit/>
        </a:bodyPr>
        <a:lstStyle/>
        <a:p>
          <a:pPr marL="0" lvl="0" indent="0" algn="ctr" defTabSz="622300">
            <a:lnSpc>
              <a:spcPct val="90000"/>
            </a:lnSpc>
            <a:spcBef>
              <a:spcPct val="0"/>
            </a:spcBef>
            <a:spcAft>
              <a:spcPct val="35000"/>
            </a:spcAft>
            <a:buNone/>
          </a:pPr>
          <a:r>
            <a:rPr lang="en-US" sz="1400" kern="1200"/>
            <a:t>8</a:t>
          </a:r>
        </a:p>
      </dsp:txBody>
      <dsp:txXfrm>
        <a:off x="7229283" y="1001469"/>
        <a:ext cx="217198" cy="217198"/>
      </dsp:txXfrm>
    </dsp:sp>
    <dsp:sp modelId="{E60104AA-3881-4231-98B0-2E1492D24185}">
      <dsp:nvSpPr>
        <dsp:cNvPr id="0" name=""/>
        <dsp:cNvSpPr/>
      </dsp:nvSpPr>
      <dsp:spPr>
        <a:xfrm>
          <a:off x="6895122" y="1429274"/>
          <a:ext cx="885521" cy="1965600"/>
        </a:xfrm>
        <a:prstGeom prst="upArrowCallout">
          <a:avLst>
            <a:gd name="adj1" fmla="val 50000"/>
            <a:gd name="adj2" fmla="val 20000"/>
            <a:gd name="adj3" fmla="val 20000"/>
            <a:gd name="adj4" fmla="val 100000"/>
          </a:avLst>
        </a:prstGeom>
        <a:solidFill>
          <a:schemeClr val="accent1">
            <a:alpha val="90000"/>
            <a:tint val="40000"/>
            <a:hueOff val="0"/>
            <a:satOff val="0"/>
            <a:lumOff val="0"/>
            <a:alphaOff val="0"/>
          </a:schemeClr>
        </a:solidFill>
        <a:ln w="6350" cap="flat" cmpd="sng" algn="ctr">
          <a:solidFill>
            <a:schemeClr val="accent1">
              <a:alpha val="90000"/>
              <a:tint val="40000"/>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69851" tIns="165100" rIns="69851" bIns="165100" numCol="1" spcCol="1270" anchor="t" anchorCtr="0">
          <a:noAutofit/>
        </a:bodyPr>
        <a:lstStyle/>
        <a:p>
          <a:pPr marL="0" lvl="0" indent="0" algn="l" defTabSz="488950">
            <a:lnSpc>
              <a:spcPct val="90000"/>
            </a:lnSpc>
            <a:spcBef>
              <a:spcPct val="0"/>
            </a:spcBef>
            <a:spcAft>
              <a:spcPct val="35000"/>
            </a:spcAft>
            <a:buNone/>
          </a:pPr>
          <a:r>
            <a:rPr lang="en-US" sz="1100" kern="1200"/>
            <a:t>Be emotionally available</a:t>
          </a:r>
        </a:p>
      </dsp:txBody>
      <dsp:txXfrm>
        <a:off x="6895122" y="1606378"/>
        <a:ext cx="885521" cy="1788496"/>
      </dsp:txXfrm>
    </dsp:sp>
  </dsp:spTree>
</dsp:drawing>
</file>

<file path=ppt/diagrams/layout1.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18/2/layout/IconLabelDescriptionList">
  <dgm:title val="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l" for="ch" forName="iconRect"/>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16/7/layout/LinearArrowProcessNumbered">
  <dgm:title val="Linear Arrow Process Numbered"/>
  <dgm:desc val="Used to show a progression; a timeline; sequential steps in a task, process, or workflow; or to emphasize movement or direction. Automatic numbers have been introduced to show the steps of the process which appears in a circle. Level 1 and Level 2 text appear in a shape called UpArrowCallout. Also the nodes are connected by an arrow like shape emphasizing the process natur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1</a:t>
              </a:r>
            </a:p>
          </dgm:t>
        </dgm:pt>
        <dgm:pt modelId="201" type="sibTrans" cxnId="5">
          <dgm:prSet phldrT="2"/>
          <dgm:t>
            <a:bodyPr/>
            <a:lstStyle/>
            <a:p>
              <a:r>
                <a:t>2</a:t>
              </a:r>
            </a:p>
          </dgm:t>
        </dgm:pt>
        <dgm:pt modelId="301" type="sibTrans" cxnId="6">
          <dgm:prSet phldrT="3"/>
          <dgm:t>
            <a:bodyPr/>
            <a:lstStyle/>
            <a:p>
              <a:r>
                <a:t>3</a:t>
              </a:r>
            </a:p>
          </dgm:t>
        </dgm:pt>
      </dgm:ptLst>
      <dgm:cxnLst>
        <dgm:cxn modelId="4" srcId="0" destId="1" srcOrd="0" destOrd="0" sibTransId="101"/>
        <dgm:cxn modelId="5" srcId="0" destId="2" srcOrd="1" destOrd="0" sibTransId="201"/>
        <dgm:cxn modelId="6" srcId="0" destId="3" srcOrd="3"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L"/>
      <dgm:param type="nodeVertAlign" val="t"/>
    </dgm:alg>
    <dgm:shape xmlns:r="http://schemas.openxmlformats.org/officeDocument/2006/relationships" r:blip="">
      <dgm:adjLst/>
    </dgm:shape>
    <dgm:presOf/>
    <dgm:constrLst>
      <dgm:constr type="w" for="ch" forName="compositeNode" refType="w"/>
      <dgm:constr type="h" for="ch" forName="compositeNode" op="equ"/>
      <dgm:constr type="w" for="ch" forName="sibTransComposite" refType="w" refFor="ch" refForName="compositeNode" fact="0"/>
      <dgm:constr type="w" for="des" forName="parTx"/>
      <dgm:constr type="h" for="des" forName="parTx" op="equ"/>
      <dgm:constr type="h" for="des" forName="parSh" op="equ"/>
      <dgm:constr type="w" for="des" forName="nodeText"/>
      <dgm:constr type="h" for="des" forName="nodeText" op="equ"/>
      <dgm:constr type="w" for="des" forName="parSh"/>
      <dgm:constr type="w" for="des" forName="parSh" op="equ"/>
      <dgm:constr type="primFontSz" for="des" forName="parTx" val="26"/>
      <dgm:constr type="primFontSz" for="des" forName="parTx" op="equ"/>
      <dgm:constr type="primFontSz" for="des" forName="parSh" op="equ"/>
      <dgm:constr type="primFontSz" for="des" forName="nodeText" op="equ"/>
      <dgm:constr type="secFontSz" for="des" forName="nodeText" op="equ"/>
      <dgm:constr type="primFontSz" for="des" forName="sibTransNodeCircle" op="equ"/>
      <dgm:constr type="h" for="des" forName="sibTransNodeCircle" op="equ"/>
      <dgm:constr type="w" for="des" forName="sibTransNodeCircle" op="equ"/>
      <dgm:constr type="h" for="des" forName="parTx" refType="primFontSz" refFor="des" refForName="parTx" fact="1.5"/>
      <dgm:constr type="h" for="ch" forName="compositeNode" refType="h"/>
      <dgm:constr type="h" for="des" forName="parSh" refType="w"/>
      <dgm:constr type="h" for="des" forName="nodeText" refType="primFontSz" refFor="des" refForName="parTx" fact="2.1"/>
      <dgm:constr type="h" for="des" forName="parSh" refType="h" refFor="des" refForName="parTx" op="lte" fact="1.2"/>
      <dgm:constr type="h" for="des" forName="parSh" refType="h" refFor="des" refForName="parTx" op="gte" fact="1.2"/>
    </dgm:constrLst>
    <dgm:ruleLst>
      <dgm:rule type="primFontSz" for="des" forName="parSh" val="5" fact="NaN" max="NaN"/>
    </dgm:ruleLst>
    <dgm:forEach name="Name3" axis="ch" ptType="node">
      <dgm:layoutNode name="compositeNode">
        <dgm:alg type="composite"/>
        <dgm:shape xmlns:r="http://schemas.openxmlformats.org/officeDocument/2006/relationships" r:blip="">
          <dgm:adjLst/>
        </dgm:shape>
        <dgm:presOf/>
        <dgm:choose name="Name004">
          <dgm:if name="Name5" axis="self" ptType="node" func="cnt" op="equ" val="0">
            <dgm:constrLst>
              <dgm:constr type="w" for="ch" forName="parTx" refType="w"/>
              <dgm:constr type="w" for="ch" forName="parSh" refType="w" refFor="ch" refForName="parTx"/>
              <dgm:constr type="w" for="ch" forName="nodeText" refType="w" refFor="ch" refForName="parTx"/>
              <dgm:constr type="t" for="ch" forName="nodeText" refType="b" refFor="ch" refForName="parSh"/>
            </dgm:constrLst>
          </dgm:if>
          <dgm:else name="Name6">
            <dgm:constrLst>
              <dgm:constr type="w" for="ch" forName="parTx" refType="w"/>
              <dgm:constr type="w" for="ch" forName="parSh" refType="w" refFor="ch" refForName="parTx"/>
              <dgm:constr type="w" for="ch" forName="nodeText" refType="w" refFor="ch" refForName="parTx" fact="0.9"/>
              <dgm:constr type="t" for="ch" forName="nodeText" refType="b" refFor="ch" refForName="parSh"/>
            </dgm:constrLst>
          </dgm:else>
        </dgm:choose>
        <dgm:ruleLst>
          <dgm:rule type="h" val="INF" fact="NaN" max="NaN"/>
        </dgm:ruleLst>
        <dgm:layoutNode name="parTx">
          <dgm:varLst>
            <dgm:chMax val="0"/>
            <dgm:chPref val="0"/>
            <dgm:bulletEnabled val="1"/>
          </dgm:varLst>
          <dgm:alg type="tx"/>
          <dgm:shape xmlns:r="http://schemas.openxmlformats.org/officeDocument/2006/relationships" type="rect" r:blip="" zOrderOff="1" hideGeom="1">
            <dgm:adjLst/>
          </dgm:shape>
          <dgm:presOf/>
          <dgm:constrLst>
            <dgm:constr type="h" refType="w" op="lte" fact="0.4"/>
            <dgm:constr type="h"/>
          </dgm:constrLst>
          <dgm:ruleLst>
            <dgm:rule type="h" val="INF" fact="NaN" max="NaN"/>
          </dgm:ruleLst>
        </dgm:layoutNode>
        <dgm:layoutNode name="parSh">
          <dgm:alg type="composite"/>
          <dgm:shape xmlns:r="http://schemas.openxmlformats.org/officeDocument/2006/relationships" r:blip="">
            <dgm:adjLst/>
          </dgm:shape>
          <dgm:presOf axis="self" ptType="node"/>
          <dgm:choose name="casesForFirstAndLastNode">
            <dgm:if name="ifFirstNode" axis="self" ptType="node" func="pos" op="equ" val="1">
              <dgm:choose name="removeLineWhenOnlyOneNode">
                <dgm:if name="ifOnlyOneNode" axis="followSib" ptType="node" func="cnt" op="equ" val="0">
                  <dgm:constrLst>
                    <dgm:constr type="h"/>
                    <dgm:constr type="h" for="ch" forName="lineNode" val="0.002"/>
                    <dgm:constr type="w" for="ch" forName="lineNode" refType="w" fact="0"/>
                    <dgm:constr type="w" for="ch" forName="lineArrowNode" refType="w" fact="0"/>
                    <dgm:constr type="h" for="ch" forName="lineArrowNode" refType="h" fact="0"/>
                    <dgm:constr type="ctrY" for="ch" forName="lineNode" refType="ctrY" refFor="ch" refForName="sibTransNodeCircle"/>
                    <dgm:constr type="h" for="ch" forName="sibTransNodeCircle" refType="h" fact="0.9"/>
                    <dgm:constr type="w" for="ch" forName="sibTransNodeCircle" refType="h" refFor="ch" refForName="sibTransNodeCircle"/>
                    <dgm:constr type="ctrX" for="ch" forName="sibTransNodeCircle" refType="w" fact="0.45"/>
                    <dgm:constr type="ctrY" for="ch" forName="sibTransNodeCircle" refType="h" fact="0.25"/>
                    <dgm:constr type="t" for="ch" forName="spacerBetweenCircleAndCallout" refType="b" refFor="ch" refForName="sibTransNodeCircle"/>
                    <dgm:constr type="h" for="ch" forName="spacerBetweenCircleAndCallout" val="4.6"/>
                  </dgm:constrLst>
                </dgm:if>
                <dgm:else name="ifMoreThanOneNode">
                  <dgm:constrLst>
                    <dgm:constr type="h"/>
                    <dgm:constr type="h" for="ch" forName="lineNode" val="0.002"/>
                    <dgm:constr type="w" for="ch" forName="lineNode" refType="w" fact="0.4"/>
                    <dgm:constr type="l" for="ch" forName="lineNode" refType="w" fact="0.5"/>
                    <dgm:constr type="w" for="ch" forName="lineArrowNode" refType="w" fact="0.046"/>
                    <dgm:constr type="h" for="ch" forName="lineArrowNode" refType="h" fact="0.18"/>
                    <dgm:constr type="l" for="ch" forName="lineArrowNode" refType="w" fact="0.924"/>
                    <dgm:constr type="t" for="ch" forName="lineArrowNode" refType="h" fact="0.18"/>
                    <dgm:constr type="ctrY" for="ch" forName="lineNode" refType="ctrY" refFor="ch" refForName="sibTransNodeCircle"/>
                    <dgm:constr type="h" for="ch" forName="sibTransNodeCircle" refType="h" fact="0.9"/>
                    <dgm:constr type="w" for="ch" forName="sibTransNodeCircle" refType="h" refFor="ch" refForName="sibTransNodeCircle"/>
                    <dgm:constr type="ctrX" for="ch" forName="sibTransNodeCircle" refType="w" fact="0.45"/>
                    <dgm:constr type="ctrY" for="ch" forName="sibTransNodeCircle" refType="h" fact="0.25"/>
                    <dgm:constr type="t" for="ch" forName="spacerBetweenCircleAndCallout" refType="b" refFor="ch" refForName="sibTransNodeCircle"/>
                    <dgm:constr type="h" for="ch" forName="spacerBetweenCircleAndCallout" val="4.6"/>
                  </dgm:constrLst>
                </dgm:else>
              </dgm:choose>
            </dgm:if>
            <dgm:if name="ifLastNode" axis="self" ptType="node" func="revPos" op="equ" val="1">
              <dgm:constrLst>
                <dgm:constr type="h"/>
                <dgm:constr type="h" for="ch" forName="lineNode" val="0.002"/>
                <dgm:constr type="w" for="ch" forName="lineNode" refType="w" fact="0.45"/>
                <dgm:constr type="w" for="ch" forName="lineArrowNode" refType="w" fact="0"/>
                <dgm:constr type="h" for="ch" forName="lineArrowNode" refType="h" fact="0"/>
                <dgm:constr type="ctrY" for="ch" forName="lineNode" refType="ctrY" refFor="ch" refForName="sibTransNodeCircle"/>
                <dgm:constr type="h" for="ch" forName="sibTransNodeCircle" refType="h"/>
                <dgm:constr type="w" for="ch" forName="sibTransNodeCircle" refType="h" refFor="ch" refForName="sibTransNodeCircle"/>
                <dgm:constr type="ctrX" for="ch" forName="sibTransNodeCircle" refType="w" fact="0.45"/>
                <dgm:constr type="ctrY" for="ch" forName="sibTransNodeCircle" refType="h" fact="0.25"/>
                <dgm:constr type="t" for="ch" forName="spacerBetweenCircleAndCallout" refType="b" refFor="ch" refForName="sibTransNodeCircle"/>
                <dgm:constr type="h" for="ch" forName="spacerBetweenCircleAndCallout" val="4.6"/>
              </dgm:constrLst>
            </dgm:if>
            <dgm:else name="allOtherNodes">
              <dgm:constrLst>
                <dgm:constr type="h"/>
                <dgm:constr type="h" for="ch" forName="lineNode" val="0.002"/>
                <dgm:constr type="w" for="ch" forName="lineNode" refType="w" fact="0.9"/>
                <dgm:constr type="w" for="ch" forName="lineArrowNode" refType="w" fact="0.046"/>
                <dgm:constr type="h" for="ch" forName="lineArrowNode" refType="h" fact="0.18"/>
                <dgm:constr type="l" for="ch" forName="lineArrowNode" refType="w" fact="0.924"/>
                <dgm:constr type="t" for="ch" forName="lineArrowNode" refType="h" fact="0.18"/>
                <dgm:constr type="ctrY" for="ch" forName="lineNode" refType="ctrY" refFor="ch" refForName="sibTransNodeCircle"/>
                <dgm:constr type="h" for="ch" forName="sibTransNodeCircle" refType="h" fact="0.9"/>
                <dgm:constr type="w" for="ch" forName="sibTransNodeCircle" refType="h" refFor="ch" refForName="sibTransNodeCircle"/>
                <dgm:constr type="ctrX" for="ch" forName="sibTransNodeCircle" refType="w" fact="0.45"/>
                <dgm:constr type="ctrY" for="ch" forName="sibTransNodeCircle" refType="h" fact="0.25"/>
                <dgm:constr type="t" for="ch" forName="spacerBetweenCircleAndCallout" refType="b" refFor="ch" refForName="sibTransNodeCircle"/>
                <dgm:constr type="h" for="ch" forName="spacerBetweenCircleAndCallout" val="4.6"/>
              </dgm:constrLst>
            </dgm:else>
          </dgm:choose>
          <dgm:layoutNode name="lineNode" styleLbl="alignAccFollowNode1">
            <dgm:alg type="sp"/>
            <dgm:shape xmlns:r="http://schemas.openxmlformats.org/officeDocument/2006/relationships" type="rect" r:blip="">
              <dgm:adjLst/>
            </dgm:shape>
            <dgm:presOf/>
            <dgm:constrLst/>
            <dgm:ruleLst/>
          </dgm:layoutNode>
          <dgm:layoutNode name="lineArrowNode" styleLbl="alignAccFollowNode1">
            <dgm:alg type="sp"/>
            <dgm:shape xmlns:r="http://schemas.openxmlformats.org/officeDocument/2006/relationships" type="chevron" r:blip="">
              <dgm:adjLst>
                <dgm:adj idx="1" val="0.9"/>
              </dgm:adjLst>
            </dgm:shape>
            <dgm:presOf/>
            <dgm:ruleLst/>
          </dgm:layoutNode>
          <dgm:forEach name="Name19" axis="followSib" ptType="sibTrans" hideLastTrans="0" cnt="1">
            <dgm:layoutNode name="sibTransNodeCircle" styleLbl="alignNode1">
              <dgm:varLst>
                <dgm:chMax val="0"/>
                <dgm:bulletEnabled/>
              </dgm:varLst>
              <dgm:presOf axis="self" ptType="sibTrans"/>
              <dgm:alg type="tx">
                <dgm:param type="txAnchorVert" val="mid"/>
                <dgm:param type="txAnchorHorzCh" val="ctr"/>
                <dgm:param type="parTxRTLAlign" val="l"/>
              </dgm:alg>
              <dgm:shape xmlns:r="http://schemas.openxmlformats.org/officeDocument/2006/relationships" type="ellipse" r:blip="">
                <dgm:adjLst/>
              </dgm:shape>
              <dgm:constrLst>
                <dgm:constr type="w" refType="h" op="equ"/>
                <dgm:constr type="primFontSz" val="60"/>
                <dgm:constr type="tMarg" refType="w" fact="0.11"/>
                <dgm:constr type="lMarg" refType="w" fact="0.11"/>
                <dgm:constr type="rMarg" refType="w" fact="0.11"/>
                <dgm:constr type="bMarg" refType="w" fact="0.11"/>
              </dgm:constrLst>
              <dgm:ruleLst>
                <dgm:rule type="primFontSz" val="14" fact="NaN" max="NaN"/>
              </dgm:ruleLst>
            </dgm:layoutNode>
            <dgm:layoutNode name="spacerBetweenCircleAndCallout">
              <dgm:varLst/>
              <dgm:presOf/>
              <dgm:alg type="sp"/>
              <dgm:shape xmlns:r="http://schemas.openxmlformats.org/officeDocument/2006/relationships" r:blip="">
                <dgm:adjLst/>
              </dgm:shape>
              <dgm:constrLst/>
              <dgm:ruleLst/>
            </dgm:layoutNode>
          </dgm:forEach>
          <dgm:presOf/>
          <dgm:ruleLst/>
        </dgm:layoutNode>
        <dgm:layoutNode name="nodeText" styleLbl="alignAccFollowNode1">
          <dgm:varLst>
            <dgm:bulletEnabled val="1"/>
          </dgm:varLst>
          <dgm:alg type="tx">
            <dgm:param type="parTxLTRAlign" val="l"/>
            <dgm:param type="parTxRTLAlign" val="r"/>
            <dgm:param type="txAnchorVert" val="t"/>
          </dgm:alg>
          <dgm:shape xmlns:r="http://schemas.openxmlformats.org/officeDocument/2006/relationships" type="upArrowCallout" r:blip="">
            <dgm:adjLst>
              <dgm:adj idx="1" val="0.5"/>
              <dgm:adj idx="2" val="0.2"/>
              <dgm:adj idx="3" val="0.2"/>
              <dgm:adj idx="4" val="1"/>
            </dgm:adjLst>
          </dgm:shape>
          <dgm:presOf axis="desOrSelf" ptType="node"/>
          <dgm:constrLst>
            <dgm:constr type="secFontSz" val="16"/>
            <dgm:constr type="primFontSz" val="26"/>
            <dgm:constr type="h"/>
            <dgm:constr type="tMarg" val="13"/>
            <dgm:constr type="lMarg" refType="w" fact="0.2236"/>
            <dgm:constr type="rMarg" refType="w" fact="0.2236"/>
            <dgm:constr type="bMarg" val="13"/>
          </dgm:constrLst>
          <dgm:ruleLst>
            <dgm:rule type="secFontSz" val="11" fact="NaN" max="NaN"/>
            <dgm:rule type="primFontSz" val="11" fact="NaN" max="NaN"/>
            <dgm:rule type="h" val="INF" fact="NaN" max="NaN"/>
          </dgm:ruleLst>
        </dgm:layoutNode>
      </dgm:layoutNode>
      <dgm:forEach name="sibTransForEach" axis="followSib" ptType="sibTrans" cnt="1">
        <dgm:layoutNode name="sibTransComposite" styleLbl="alignAccFollowNode1">
          <dgm:alg type="sp"/>
          <dgm:shape xmlns:r="http://schemas.openxmlformats.org/officeDocument/2006/relationships" r:blip="">
            <dgm:adjLst/>
          </dgm:shape>
          <dgm:ruleLst/>
        </dgm:layoutNode>
        <dgm:ruleLst>
          <dgm:rule type="h" val="INF" fact="NaN" max="NaN"/>
        </dgm:ruleLst>
      </dgm:forEach>
    </dgm:forEach>
  </dgm:layoutNode>
  <dgm:extLst>
    <a:ext uri="{4F341089-5ED1-44EC-B178-C955D00A3D55}">
      <dgm1611:autoBuNodeInfoLst xmlns:dgm1611="http://schemas.microsoft.com/office/drawing/2016/11/diagram">
        <dgm1611:autoBuNodeInfo lvl="1" ptType="sibTrans">
          <dgm1611:buPr prefix="" leadZeros="0">
            <a:buAutoNum type="arabicParenBoth"/>
          </dgm1611:buPr>
        </dgm1611:autoBuNodeInfo>
      </dgm1611:autoBuNodeInfoLst>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DF72A1B-196A-4155-8397-EF46A3A2FFBA}" type="datetimeFigureOut">
              <a:rPr lang="en-US" smtClean="0"/>
              <a:t>5/31/2025</a:t>
            </a:fld>
            <a:endParaRPr lang="en-US"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C5B57E6-BB92-47A0-B1B1-ED183A0B4C65}" type="slidenum">
              <a:rPr lang="en-US" smtClean="0"/>
              <a:t>‹#›</a:t>
            </a:fld>
            <a:endParaRPr lang="en-US" dirty="0"/>
          </a:p>
        </p:txBody>
      </p:sp>
    </p:spTree>
    <p:extLst>
      <p:ext uri="{BB962C8B-B14F-4D97-AF65-F5344CB8AC3E}">
        <p14:creationId xmlns:p14="http://schemas.microsoft.com/office/powerpoint/2010/main" val="35517942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1E69A6D-8697-4D2F-B6E0-21678FE988F9}" type="datetimeFigureOut">
              <a:rPr lang="en-US" smtClean="0"/>
              <a:t>5/31/2025</a:t>
            </a:fld>
            <a:endParaRPr lang="en-US" dirty="0"/>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BB5EBDA-FB43-46D3-ADD5-6E5F4CE48D99}" type="slidenum">
              <a:rPr lang="en-US" smtClean="0"/>
              <a:t>‹#›</a:t>
            </a:fld>
            <a:endParaRPr lang="en-US" dirty="0"/>
          </a:p>
        </p:txBody>
      </p:sp>
    </p:spTree>
    <p:extLst>
      <p:ext uri="{BB962C8B-B14F-4D97-AF65-F5344CB8AC3E}">
        <p14:creationId xmlns:p14="http://schemas.microsoft.com/office/powerpoint/2010/main" val="941370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Grateful people more likely to make positive interpretations of situations and more likely to remember events more positively. </a:t>
            </a:r>
          </a:p>
        </p:txBody>
      </p:sp>
      <p:sp>
        <p:nvSpPr>
          <p:cNvPr id="4" name="Slide Number Placeholder 3"/>
          <p:cNvSpPr>
            <a:spLocks noGrp="1"/>
          </p:cNvSpPr>
          <p:nvPr>
            <p:ph type="sldNum" sz="quarter" idx="5"/>
          </p:nvPr>
        </p:nvSpPr>
        <p:spPr/>
        <p:txBody>
          <a:bodyPr/>
          <a:lstStyle/>
          <a:p>
            <a:fld id="{1BB5EBDA-FB43-46D3-ADD5-6E5F4CE48D99}" type="slidenum">
              <a:rPr lang="en-US" smtClean="0"/>
              <a:t>6</a:t>
            </a:fld>
            <a:endParaRPr lang="en-US" dirty="0"/>
          </a:p>
        </p:txBody>
      </p:sp>
    </p:spTree>
    <p:extLst>
      <p:ext uri="{BB962C8B-B14F-4D97-AF65-F5344CB8AC3E}">
        <p14:creationId xmlns:p14="http://schemas.microsoft.com/office/powerpoint/2010/main" val="14756668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Grateful people more likely to make positive interpretations of situations and more likely to remember events more positively. </a:t>
            </a:r>
          </a:p>
        </p:txBody>
      </p:sp>
      <p:sp>
        <p:nvSpPr>
          <p:cNvPr id="4" name="Slide Number Placeholder 3"/>
          <p:cNvSpPr>
            <a:spLocks noGrp="1"/>
          </p:cNvSpPr>
          <p:nvPr>
            <p:ph type="sldNum" sz="quarter" idx="5"/>
          </p:nvPr>
        </p:nvSpPr>
        <p:spPr/>
        <p:txBody>
          <a:bodyPr/>
          <a:lstStyle/>
          <a:p>
            <a:fld id="{1BB5EBDA-FB43-46D3-ADD5-6E5F4CE48D99}" type="slidenum">
              <a:rPr lang="en-US" smtClean="0"/>
              <a:t>7</a:t>
            </a:fld>
            <a:endParaRPr lang="en-US" dirty="0"/>
          </a:p>
        </p:txBody>
      </p:sp>
    </p:spTree>
    <p:extLst>
      <p:ext uri="{BB962C8B-B14F-4D97-AF65-F5344CB8AC3E}">
        <p14:creationId xmlns:p14="http://schemas.microsoft.com/office/powerpoint/2010/main" val="39571166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Grateful people more likely to make positive interpretations of situations and more likely to remember events more positively. </a:t>
            </a:r>
          </a:p>
        </p:txBody>
      </p:sp>
      <p:sp>
        <p:nvSpPr>
          <p:cNvPr id="4" name="Slide Number Placeholder 3"/>
          <p:cNvSpPr>
            <a:spLocks noGrp="1"/>
          </p:cNvSpPr>
          <p:nvPr>
            <p:ph type="sldNum" sz="quarter" idx="5"/>
          </p:nvPr>
        </p:nvSpPr>
        <p:spPr/>
        <p:txBody>
          <a:bodyPr/>
          <a:lstStyle/>
          <a:p>
            <a:fld id="{1BB5EBDA-FB43-46D3-ADD5-6E5F4CE48D99}" type="slidenum">
              <a:rPr lang="en-US" smtClean="0"/>
              <a:t>8</a:t>
            </a:fld>
            <a:endParaRPr lang="en-US" dirty="0"/>
          </a:p>
        </p:txBody>
      </p:sp>
    </p:spTree>
    <p:extLst>
      <p:ext uri="{BB962C8B-B14F-4D97-AF65-F5344CB8AC3E}">
        <p14:creationId xmlns:p14="http://schemas.microsoft.com/office/powerpoint/2010/main" val="4971777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Grateful people more likely to make positive interpretations of situations and more likely to remember events more positively. </a:t>
            </a:r>
          </a:p>
        </p:txBody>
      </p:sp>
      <p:sp>
        <p:nvSpPr>
          <p:cNvPr id="4" name="Slide Number Placeholder 3"/>
          <p:cNvSpPr>
            <a:spLocks noGrp="1"/>
          </p:cNvSpPr>
          <p:nvPr>
            <p:ph type="sldNum" sz="quarter" idx="5"/>
          </p:nvPr>
        </p:nvSpPr>
        <p:spPr/>
        <p:txBody>
          <a:bodyPr/>
          <a:lstStyle/>
          <a:p>
            <a:fld id="{1BB5EBDA-FB43-46D3-ADD5-6E5F4CE48D99}" type="slidenum">
              <a:rPr lang="en-US" smtClean="0"/>
              <a:t>9</a:t>
            </a:fld>
            <a:endParaRPr lang="en-US" dirty="0"/>
          </a:p>
        </p:txBody>
      </p:sp>
    </p:spTree>
    <p:extLst>
      <p:ext uri="{BB962C8B-B14F-4D97-AF65-F5344CB8AC3E}">
        <p14:creationId xmlns:p14="http://schemas.microsoft.com/office/powerpoint/2010/main" val="205700540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Grateful people more likely to make positive interpretations of situations and more likely to remember events more positively. </a:t>
            </a:r>
          </a:p>
        </p:txBody>
      </p:sp>
      <p:sp>
        <p:nvSpPr>
          <p:cNvPr id="4" name="Slide Number Placeholder 3"/>
          <p:cNvSpPr>
            <a:spLocks noGrp="1"/>
          </p:cNvSpPr>
          <p:nvPr>
            <p:ph type="sldNum" sz="quarter" idx="5"/>
          </p:nvPr>
        </p:nvSpPr>
        <p:spPr/>
        <p:txBody>
          <a:bodyPr/>
          <a:lstStyle/>
          <a:p>
            <a:fld id="{1BB5EBDA-FB43-46D3-ADD5-6E5F4CE48D99}" type="slidenum">
              <a:rPr lang="en-US" smtClean="0"/>
              <a:t>10</a:t>
            </a:fld>
            <a:endParaRPr lang="en-US" dirty="0"/>
          </a:p>
        </p:txBody>
      </p:sp>
    </p:spTree>
    <p:extLst>
      <p:ext uri="{BB962C8B-B14F-4D97-AF65-F5344CB8AC3E}">
        <p14:creationId xmlns:p14="http://schemas.microsoft.com/office/powerpoint/2010/main" val="118419687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Grateful people more likely to make positive interpretations of situations and more likely to remember events more positively. </a:t>
            </a:r>
          </a:p>
        </p:txBody>
      </p:sp>
      <p:sp>
        <p:nvSpPr>
          <p:cNvPr id="4" name="Slide Number Placeholder 3"/>
          <p:cNvSpPr>
            <a:spLocks noGrp="1"/>
          </p:cNvSpPr>
          <p:nvPr>
            <p:ph type="sldNum" sz="quarter" idx="5"/>
          </p:nvPr>
        </p:nvSpPr>
        <p:spPr/>
        <p:txBody>
          <a:bodyPr/>
          <a:lstStyle/>
          <a:p>
            <a:fld id="{1BB5EBDA-FB43-46D3-ADD5-6E5F4CE48D99}" type="slidenum">
              <a:rPr lang="en-US" smtClean="0"/>
              <a:t>11</a:t>
            </a:fld>
            <a:endParaRPr lang="en-US" dirty="0"/>
          </a:p>
        </p:txBody>
      </p:sp>
    </p:spTree>
    <p:extLst>
      <p:ext uri="{BB962C8B-B14F-4D97-AF65-F5344CB8AC3E}">
        <p14:creationId xmlns:p14="http://schemas.microsoft.com/office/powerpoint/2010/main" val="42215272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Grateful people more likely to make positive interpretations of situations and more likely to remember events more positively. </a:t>
            </a:r>
          </a:p>
        </p:txBody>
      </p:sp>
      <p:sp>
        <p:nvSpPr>
          <p:cNvPr id="4" name="Slide Number Placeholder 3"/>
          <p:cNvSpPr>
            <a:spLocks noGrp="1"/>
          </p:cNvSpPr>
          <p:nvPr>
            <p:ph type="sldNum" sz="quarter" idx="5"/>
          </p:nvPr>
        </p:nvSpPr>
        <p:spPr/>
        <p:txBody>
          <a:bodyPr/>
          <a:lstStyle/>
          <a:p>
            <a:fld id="{1BB5EBDA-FB43-46D3-ADD5-6E5F4CE48D99}" type="slidenum">
              <a:rPr lang="en-US" smtClean="0"/>
              <a:t>12</a:t>
            </a:fld>
            <a:endParaRPr lang="en-US" dirty="0"/>
          </a:p>
        </p:txBody>
      </p:sp>
    </p:spTree>
    <p:extLst>
      <p:ext uri="{BB962C8B-B14F-4D97-AF65-F5344CB8AC3E}">
        <p14:creationId xmlns:p14="http://schemas.microsoft.com/office/powerpoint/2010/main" val="330756913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Grateful people more likely to make positive interpretations of situations and more likely to remember events more positively. </a:t>
            </a:r>
          </a:p>
        </p:txBody>
      </p:sp>
      <p:sp>
        <p:nvSpPr>
          <p:cNvPr id="4" name="Slide Number Placeholder 3"/>
          <p:cNvSpPr>
            <a:spLocks noGrp="1"/>
          </p:cNvSpPr>
          <p:nvPr>
            <p:ph type="sldNum" sz="quarter" idx="5"/>
          </p:nvPr>
        </p:nvSpPr>
        <p:spPr/>
        <p:txBody>
          <a:bodyPr/>
          <a:lstStyle/>
          <a:p>
            <a:fld id="{1BB5EBDA-FB43-46D3-ADD5-6E5F4CE48D99}" type="slidenum">
              <a:rPr lang="en-US" smtClean="0"/>
              <a:t>22</a:t>
            </a:fld>
            <a:endParaRPr lang="en-US" dirty="0"/>
          </a:p>
        </p:txBody>
      </p:sp>
    </p:spTree>
    <p:extLst>
      <p:ext uri="{BB962C8B-B14F-4D97-AF65-F5344CB8AC3E}">
        <p14:creationId xmlns:p14="http://schemas.microsoft.com/office/powerpoint/2010/main" val="126510611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Grateful people more likely to make positive interpretations of situations and more likely to remember events more positively. </a:t>
            </a:r>
          </a:p>
        </p:txBody>
      </p:sp>
      <p:sp>
        <p:nvSpPr>
          <p:cNvPr id="4" name="Slide Number Placeholder 3"/>
          <p:cNvSpPr>
            <a:spLocks noGrp="1"/>
          </p:cNvSpPr>
          <p:nvPr>
            <p:ph type="sldNum" sz="quarter" idx="5"/>
          </p:nvPr>
        </p:nvSpPr>
        <p:spPr/>
        <p:txBody>
          <a:bodyPr/>
          <a:lstStyle/>
          <a:p>
            <a:fld id="{1BB5EBDA-FB43-46D3-ADD5-6E5F4CE48D99}" type="slidenum">
              <a:rPr lang="en-US" smtClean="0"/>
              <a:t>23</a:t>
            </a:fld>
            <a:endParaRPr lang="en-US" dirty="0"/>
          </a:p>
        </p:txBody>
      </p:sp>
    </p:spTree>
    <p:extLst>
      <p:ext uri="{BB962C8B-B14F-4D97-AF65-F5344CB8AC3E}">
        <p14:creationId xmlns:p14="http://schemas.microsoft.com/office/powerpoint/2010/main" val="114561301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Grateful people more likely to make positive interpretations of situations and more likely to remember events more positively. </a:t>
            </a:r>
          </a:p>
        </p:txBody>
      </p:sp>
      <p:sp>
        <p:nvSpPr>
          <p:cNvPr id="4" name="Slide Number Placeholder 3"/>
          <p:cNvSpPr>
            <a:spLocks noGrp="1"/>
          </p:cNvSpPr>
          <p:nvPr>
            <p:ph type="sldNum" sz="quarter" idx="5"/>
          </p:nvPr>
        </p:nvSpPr>
        <p:spPr/>
        <p:txBody>
          <a:bodyPr/>
          <a:lstStyle/>
          <a:p>
            <a:fld id="{1BB5EBDA-FB43-46D3-ADD5-6E5F4CE48D99}" type="slidenum">
              <a:rPr lang="en-US" smtClean="0"/>
              <a:t>24</a:t>
            </a:fld>
            <a:endParaRPr lang="en-US" dirty="0"/>
          </a:p>
        </p:txBody>
      </p:sp>
    </p:spTree>
    <p:extLst>
      <p:ext uri="{BB962C8B-B14F-4D97-AF65-F5344CB8AC3E}">
        <p14:creationId xmlns:p14="http://schemas.microsoft.com/office/powerpoint/2010/main" val="366642729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3036438-DDFC-44CC-A913-176EBF7BCD03}" type="slidenum">
              <a:rPr lang="en-US"/>
              <a:pPr/>
              <a:t>25</a:t>
            </a:fld>
            <a:endParaRPr lang="en-US" dirty="0"/>
          </a:p>
        </p:txBody>
      </p:sp>
      <p:sp>
        <p:nvSpPr>
          <p:cNvPr id="23554" name="Rectangle 2"/>
          <p:cNvSpPr>
            <a:spLocks noGrp="1" noRot="1" noChangeAspect="1" noChangeArrowheads="1" noTextEdit="1"/>
          </p:cNvSpPr>
          <p:nvPr>
            <p:ph type="sldImg"/>
          </p:nvPr>
        </p:nvSpPr>
        <p:spPr>
          <a:ln/>
        </p:spPr>
      </p:sp>
      <p:sp>
        <p:nvSpPr>
          <p:cNvPr id="23555"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210048941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3036438-DDFC-44CC-A913-176EBF7BCD03}" type="slidenum">
              <a:rPr lang="en-US"/>
              <a:pPr/>
              <a:t>26</a:t>
            </a:fld>
            <a:endParaRPr lang="en-US" dirty="0"/>
          </a:p>
        </p:txBody>
      </p:sp>
      <p:sp>
        <p:nvSpPr>
          <p:cNvPr id="23554" name="Rectangle 2"/>
          <p:cNvSpPr>
            <a:spLocks noGrp="1" noRot="1" noChangeAspect="1" noChangeArrowheads="1" noTextEdit="1"/>
          </p:cNvSpPr>
          <p:nvPr>
            <p:ph type="sldImg"/>
          </p:nvPr>
        </p:nvSpPr>
        <p:spPr>
          <a:ln/>
        </p:spPr>
      </p:sp>
      <p:sp>
        <p:nvSpPr>
          <p:cNvPr id="23555"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379029645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3036438-DDFC-44CC-A913-176EBF7BCD03}" type="slidenum">
              <a:rPr lang="en-US"/>
              <a:pPr/>
              <a:t>27</a:t>
            </a:fld>
            <a:endParaRPr lang="en-US" dirty="0"/>
          </a:p>
        </p:txBody>
      </p:sp>
      <p:sp>
        <p:nvSpPr>
          <p:cNvPr id="23554" name="Rectangle 2"/>
          <p:cNvSpPr>
            <a:spLocks noGrp="1" noRot="1" noChangeAspect="1" noChangeArrowheads="1" noTextEdit="1"/>
          </p:cNvSpPr>
          <p:nvPr>
            <p:ph type="sldImg"/>
          </p:nvPr>
        </p:nvSpPr>
        <p:spPr>
          <a:ln/>
        </p:spPr>
      </p:sp>
      <p:sp>
        <p:nvSpPr>
          <p:cNvPr id="23555"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9506819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3036438-DDFC-44CC-A913-176EBF7BCD03}" type="slidenum">
              <a:rPr lang="en-US"/>
              <a:pPr/>
              <a:t>28</a:t>
            </a:fld>
            <a:endParaRPr lang="en-US" dirty="0"/>
          </a:p>
        </p:txBody>
      </p:sp>
      <p:sp>
        <p:nvSpPr>
          <p:cNvPr id="23554" name="Rectangle 2"/>
          <p:cNvSpPr>
            <a:spLocks noGrp="1" noRot="1" noChangeAspect="1" noChangeArrowheads="1" noTextEdit="1"/>
          </p:cNvSpPr>
          <p:nvPr>
            <p:ph type="sldImg"/>
          </p:nvPr>
        </p:nvSpPr>
        <p:spPr>
          <a:ln/>
        </p:spPr>
      </p:sp>
      <p:sp>
        <p:nvSpPr>
          <p:cNvPr id="23555"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4170906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3036438-DDFC-44CC-A913-176EBF7BCD03}" type="slidenum">
              <a:rPr lang="en-US"/>
              <a:pPr/>
              <a:t>29</a:t>
            </a:fld>
            <a:endParaRPr lang="en-US" dirty="0"/>
          </a:p>
        </p:txBody>
      </p:sp>
      <p:sp>
        <p:nvSpPr>
          <p:cNvPr id="23554" name="Rectangle 2"/>
          <p:cNvSpPr>
            <a:spLocks noGrp="1" noRot="1" noChangeAspect="1" noChangeArrowheads="1" noTextEdit="1"/>
          </p:cNvSpPr>
          <p:nvPr>
            <p:ph type="sldImg"/>
          </p:nvPr>
        </p:nvSpPr>
        <p:spPr>
          <a:ln/>
        </p:spPr>
      </p:sp>
      <p:sp>
        <p:nvSpPr>
          <p:cNvPr id="23555"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272677378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3036438-DDFC-44CC-A913-176EBF7BCD03}" type="slidenum">
              <a:rPr lang="en-US"/>
              <a:pPr/>
              <a:t>30</a:t>
            </a:fld>
            <a:endParaRPr lang="en-US" dirty="0"/>
          </a:p>
        </p:txBody>
      </p:sp>
      <p:sp>
        <p:nvSpPr>
          <p:cNvPr id="23554" name="Rectangle 2"/>
          <p:cNvSpPr>
            <a:spLocks noGrp="1" noRot="1" noChangeAspect="1" noChangeArrowheads="1" noTextEdit="1"/>
          </p:cNvSpPr>
          <p:nvPr>
            <p:ph type="sldImg"/>
          </p:nvPr>
        </p:nvSpPr>
        <p:spPr>
          <a:ln/>
        </p:spPr>
      </p:sp>
      <p:sp>
        <p:nvSpPr>
          <p:cNvPr id="23555"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266389981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9974C31-EB4A-4B21-8134-CB5741A1DC5F}" type="slidenum">
              <a:rPr lang="en-US" smtClean="0"/>
              <a:t>31</a:t>
            </a:fld>
            <a:endParaRPr lang="en-US"/>
          </a:p>
        </p:txBody>
      </p:sp>
    </p:spTree>
    <p:extLst>
      <p:ext uri="{BB962C8B-B14F-4D97-AF65-F5344CB8AC3E}">
        <p14:creationId xmlns:p14="http://schemas.microsoft.com/office/powerpoint/2010/main" val="374010300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hangingPunct="0"/>
            <a:r>
              <a:rPr lang="en-US" sz="1200" u="sng" kern="1200" dirty="0">
                <a:solidFill>
                  <a:schemeClr val="tx1"/>
                </a:solidFill>
                <a:effectLst/>
                <a:latin typeface="+mn-lt"/>
                <a:ea typeface="+mn-ea"/>
                <a:cs typeface="+mn-cs"/>
              </a:rPr>
              <a:t>Four-step pattern particularly destructive to relationships</a:t>
            </a:r>
            <a:r>
              <a:rPr lang="en-US" sz="1200" kern="1200" dirty="0">
                <a:solidFill>
                  <a:schemeClr val="tx1"/>
                </a:solidFill>
                <a:effectLst/>
                <a:latin typeface="+mn-lt"/>
                <a:ea typeface="+mn-ea"/>
                <a:cs typeface="+mn-cs"/>
              </a:rPr>
              <a:t>:</a:t>
            </a:r>
          </a:p>
          <a:p>
            <a:pPr lvl="0" hangingPunct="0"/>
            <a:r>
              <a:rPr lang="en-US" sz="1200" kern="1200" dirty="0">
                <a:solidFill>
                  <a:schemeClr val="tx1"/>
                </a:solidFill>
                <a:effectLst/>
                <a:latin typeface="+mn-lt"/>
                <a:ea typeface="+mn-ea"/>
                <a:cs typeface="+mn-cs"/>
              </a:rPr>
              <a:t>Criticism and complaining </a:t>
            </a:r>
          </a:p>
          <a:p>
            <a:pPr lvl="0" hangingPunct="0"/>
            <a:r>
              <a:rPr lang="en-US" sz="1200" kern="1200" dirty="0">
                <a:solidFill>
                  <a:schemeClr val="tx1"/>
                </a:solidFill>
                <a:effectLst/>
                <a:latin typeface="+mn-lt"/>
                <a:ea typeface="+mn-ea"/>
                <a:cs typeface="+mn-cs"/>
              </a:rPr>
              <a:t>A sense of contempt </a:t>
            </a:r>
          </a:p>
          <a:p>
            <a:pPr lvl="0" hangingPunct="0"/>
            <a:r>
              <a:rPr lang="en-US" sz="1200" kern="1200" dirty="0">
                <a:solidFill>
                  <a:schemeClr val="tx1"/>
                </a:solidFill>
                <a:effectLst/>
                <a:latin typeface="+mn-lt"/>
                <a:ea typeface="+mn-ea"/>
                <a:cs typeface="+mn-cs"/>
              </a:rPr>
              <a:t>Defensiveness </a:t>
            </a:r>
          </a:p>
          <a:p>
            <a:pPr lvl="0" hangingPunct="0"/>
            <a:r>
              <a:rPr lang="en-US" sz="1200" kern="1200" dirty="0">
                <a:solidFill>
                  <a:schemeClr val="tx1"/>
                </a:solidFill>
                <a:effectLst/>
                <a:latin typeface="+mn-lt"/>
                <a:ea typeface="+mn-ea"/>
                <a:cs typeface="+mn-cs"/>
              </a:rPr>
              <a:t>Withdrawal</a:t>
            </a:r>
          </a:p>
          <a:p>
            <a:pPr marL="0" marR="0" lvl="0" indent="0" algn="l" defTabSz="914400" rtl="0" eaLnBrk="1" fontAlgn="auto" latinLnBrk="0" hangingPunct="0">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39974C31-EB4A-4B21-8134-CB5741A1DC5F}" type="slidenum">
              <a:rPr lang="en-US" smtClean="0"/>
              <a:t>32</a:t>
            </a:fld>
            <a:endParaRPr lang="en-US"/>
          </a:p>
        </p:txBody>
      </p:sp>
    </p:spTree>
    <p:extLst>
      <p:ext uri="{BB962C8B-B14F-4D97-AF65-F5344CB8AC3E}">
        <p14:creationId xmlns:p14="http://schemas.microsoft.com/office/powerpoint/2010/main" val="100575218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Rot="1" noChangeAspect="1" noChangeArrowheads="1" noTextEdit="1"/>
          </p:cNvSpPr>
          <p:nvPr>
            <p:ph type="sldImg"/>
          </p:nvPr>
        </p:nvSpPr>
        <p:spPr>
          <a:ln/>
        </p:spPr>
      </p:sp>
      <p:sp>
        <p:nvSpPr>
          <p:cNvPr id="6041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The relationship undermining behaviors are definitely listed in the chapter, however the relationship enhancing  behaviors are not. Question of whether or not they should be left in, or whether this slide should be reformatted.</a:t>
            </a:r>
          </a:p>
        </p:txBody>
      </p:sp>
    </p:spTree>
    <p:extLst>
      <p:ext uri="{BB962C8B-B14F-4D97-AF65-F5344CB8AC3E}">
        <p14:creationId xmlns:p14="http://schemas.microsoft.com/office/powerpoint/2010/main" val="103972357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hangingPunct="0"/>
            <a:r>
              <a:rPr lang="en-US" sz="1200" u="sng" kern="1200" dirty="0">
                <a:solidFill>
                  <a:schemeClr val="tx1"/>
                </a:solidFill>
                <a:effectLst/>
                <a:latin typeface="+mn-lt"/>
                <a:ea typeface="+mn-ea"/>
                <a:cs typeface="+mn-cs"/>
              </a:rPr>
              <a:t>The Seven Principles for Making Marriage Work</a:t>
            </a:r>
          </a:p>
          <a:p>
            <a:pPr lvl="0" hangingPunct="0"/>
            <a:r>
              <a:rPr lang="en-US" sz="1200" kern="1200" dirty="0">
                <a:solidFill>
                  <a:schemeClr val="tx1"/>
                </a:solidFill>
                <a:effectLst/>
                <a:latin typeface="+mn-lt"/>
                <a:ea typeface="+mn-ea"/>
                <a:cs typeface="+mn-cs"/>
              </a:rPr>
              <a:t>Enhance your love maps</a:t>
            </a:r>
          </a:p>
          <a:p>
            <a:pPr lvl="0" hangingPunct="0"/>
            <a:r>
              <a:rPr lang="en-US" sz="1200" kern="1200" dirty="0">
                <a:solidFill>
                  <a:schemeClr val="tx1"/>
                </a:solidFill>
                <a:effectLst/>
                <a:latin typeface="+mn-lt"/>
                <a:ea typeface="+mn-ea"/>
                <a:cs typeface="+mn-cs"/>
              </a:rPr>
              <a:t>Nurture your fondness and admiration</a:t>
            </a:r>
          </a:p>
          <a:p>
            <a:pPr lvl="0" hangingPunct="0"/>
            <a:r>
              <a:rPr lang="en-US" sz="1200" kern="1200" dirty="0">
                <a:solidFill>
                  <a:schemeClr val="tx1"/>
                </a:solidFill>
                <a:effectLst/>
                <a:latin typeface="+mn-lt"/>
                <a:ea typeface="+mn-ea"/>
                <a:cs typeface="+mn-cs"/>
              </a:rPr>
              <a:t>Turn toward each other instead of away</a:t>
            </a:r>
          </a:p>
          <a:p>
            <a:pPr lvl="0" hangingPunct="0"/>
            <a:r>
              <a:rPr lang="en-US" sz="1200" kern="1200" dirty="0">
                <a:solidFill>
                  <a:schemeClr val="tx1"/>
                </a:solidFill>
                <a:effectLst/>
                <a:latin typeface="+mn-lt"/>
                <a:ea typeface="+mn-ea"/>
                <a:cs typeface="+mn-cs"/>
              </a:rPr>
              <a:t>Let your partner influence you</a:t>
            </a:r>
          </a:p>
          <a:p>
            <a:pPr lvl="0" hangingPunct="0"/>
            <a:r>
              <a:rPr lang="en-US" sz="1200" kern="1200" dirty="0">
                <a:solidFill>
                  <a:schemeClr val="tx1"/>
                </a:solidFill>
                <a:effectLst/>
                <a:latin typeface="+mn-lt"/>
                <a:ea typeface="+mn-ea"/>
                <a:cs typeface="+mn-cs"/>
              </a:rPr>
              <a:t>Solve your solvable problems</a:t>
            </a:r>
          </a:p>
          <a:p>
            <a:pPr lvl="0" hangingPunct="0"/>
            <a:r>
              <a:rPr lang="en-US" sz="1200" kern="1200" dirty="0">
                <a:solidFill>
                  <a:schemeClr val="tx1"/>
                </a:solidFill>
                <a:effectLst/>
                <a:latin typeface="+mn-lt"/>
                <a:ea typeface="+mn-ea"/>
                <a:cs typeface="+mn-cs"/>
              </a:rPr>
              <a:t>Overcome gridlock and move toward dialogue</a:t>
            </a:r>
          </a:p>
          <a:p>
            <a:pPr lvl="0" hangingPunct="0"/>
            <a:r>
              <a:rPr lang="en-US" sz="1200" kern="1200" dirty="0">
                <a:solidFill>
                  <a:schemeClr val="tx1"/>
                </a:solidFill>
                <a:effectLst/>
                <a:latin typeface="+mn-lt"/>
                <a:ea typeface="+mn-ea"/>
                <a:cs typeface="+mn-cs"/>
              </a:rPr>
              <a:t>Create shared meaning</a:t>
            </a:r>
          </a:p>
        </p:txBody>
      </p:sp>
      <p:sp>
        <p:nvSpPr>
          <p:cNvPr id="4" name="Slide Number Placeholder 3"/>
          <p:cNvSpPr>
            <a:spLocks noGrp="1"/>
          </p:cNvSpPr>
          <p:nvPr>
            <p:ph type="sldNum" sz="quarter" idx="10"/>
          </p:nvPr>
        </p:nvSpPr>
        <p:spPr/>
        <p:txBody>
          <a:bodyPr/>
          <a:lstStyle/>
          <a:p>
            <a:fld id="{39974C31-EB4A-4B21-8134-CB5741A1DC5F}" type="slidenum">
              <a:rPr lang="en-US" smtClean="0"/>
              <a:t>38</a:t>
            </a:fld>
            <a:endParaRPr lang="en-US"/>
          </a:p>
        </p:txBody>
      </p:sp>
    </p:spTree>
    <p:extLst>
      <p:ext uri="{BB962C8B-B14F-4D97-AF65-F5344CB8AC3E}">
        <p14:creationId xmlns:p14="http://schemas.microsoft.com/office/powerpoint/2010/main" val="22603605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734381"/>
            <a:ext cx="7886700" cy="2852737"/>
          </a:xfrm>
        </p:spPr>
        <p:txBody>
          <a:bodyPr anchor="ctr"/>
          <a:lstStyle>
            <a:lvl1pPr algn="ctr">
              <a:defRPr sz="6000"/>
            </a:lvl1pPr>
          </a:lstStyle>
          <a:p>
            <a:r>
              <a:rPr lang="en-US" dirty="0"/>
              <a:t>Click to edit Master title style</a:t>
            </a:r>
          </a:p>
        </p:txBody>
      </p:sp>
      <p:sp>
        <p:nvSpPr>
          <p:cNvPr id="3" name="Text Placeholder 2"/>
          <p:cNvSpPr>
            <a:spLocks noGrp="1"/>
          </p:cNvSpPr>
          <p:nvPr>
            <p:ph type="body" idx="1"/>
          </p:nvPr>
        </p:nvSpPr>
        <p:spPr>
          <a:xfrm>
            <a:off x="623888" y="3587118"/>
            <a:ext cx="7886700" cy="1500187"/>
          </a:xfrm>
        </p:spPr>
        <p:txBody>
          <a:bodyPr>
            <a:normAutofit/>
          </a:bodyPr>
          <a:lstStyle>
            <a:lvl1pPr marL="0" indent="0" algn="ctr">
              <a:buNone/>
              <a:defRPr sz="4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Edit Master text styles</a:t>
            </a:r>
          </a:p>
        </p:txBody>
      </p:sp>
      <p:sp>
        <p:nvSpPr>
          <p:cNvPr id="7" name="Footer Placeholder 6"/>
          <p:cNvSpPr>
            <a:spLocks noGrp="1"/>
          </p:cNvSpPr>
          <p:nvPr>
            <p:ph type="ftr" sz="quarter" idx="10"/>
          </p:nvPr>
        </p:nvSpPr>
        <p:spPr/>
        <p:txBody>
          <a:bodyPr/>
          <a:lstStyle/>
          <a:p>
            <a:r>
              <a:rPr lang="en-US" dirty="0"/>
              <a:t>The Science of Positive Psychology © Cambridge University Press 2021</a:t>
            </a:r>
          </a:p>
        </p:txBody>
      </p:sp>
    </p:spTree>
    <p:extLst>
      <p:ext uri="{BB962C8B-B14F-4D97-AF65-F5344CB8AC3E}">
        <p14:creationId xmlns:p14="http://schemas.microsoft.com/office/powerpoint/2010/main" val="41661008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7" name="Title 6"/>
          <p:cNvSpPr>
            <a:spLocks noGrp="1"/>
          </p:cNvSpPr>
          <p:nvPr>
            <p:ph type="title"/>
          </p:nvPr>
        </p:nvSpPr>
        <p:spPr/>
        <p:txBody>
          <a:bodyPr/>
          <a:lstStyle/>
          <a:p>
            <a:r>
              <a:rPr lang="en-US" dirty="0"/>
              <a:t>Click to edit Master title style</a:t>
            </a:r>
          </a:p>
        </p:txBody>
      </p:sp>
      <p:sp>
        <p:nvSpPr>
          <p:cNvPr id="5" name="Footer Placeholder 4"/>
          <p:cNvSpPr>
            <a:spLocks noGrp="1"/>
          </p:cNvSpPr>
          <p:nvPr>
            <p:ph type="ftr" sz="quarter" idx="11"/>
          </p:nvPr>
        </p:nvSpPr>
        <p:spPr>
          <a:xfrm>
            <a:off x="2002155" y="6451713"/>
            <a:ext cx="5139690" cy="276999"/>
          </a:xfrm>
        </p:spPr>
        <p:txBody>
          <a:bodyPr/>
          <a:lstStyle/>
          <a:p>
            <a:r>
              <a:rPr lang="en-US" dirty="0"/>
              <a:t>The Science of Positive Psychology © Cambridge University Press 2021</a:t>
            </a:r>
          </a:p>
        </p:txBody>
      </p:sp>
    </p:spTree>
    <p:extLst>
      <p:ext uri="{BB962C8B-B14F-4D97-AF65-F5344CB8AC3E}">
        <p14:creationId xmlns:p14="http://schemas.microsoft.com/office/powerpoint/2010/main" val="38360782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11"/>
          </p:nvPr>
        </p:nvSpPr>
        <p:spPr>
          <a:xfrm>
            <a:off x="2002155" y="6447131"/>
            <a:ext cx="5139690" cy="276999"/>
          </a:xfrm>
        </p:spPr>
        <p:txBody>
          <a:bodyPr/>
          <a:lstStyle/>
          <a:p>
            <a:r>
              <a:rPr lang="en-US" dirty="0"/>
              <a:t>The Science of Positive Psychology © Cambridge University Press 2021</a:t>
            </a:r>
          </a:p>
        </p:txBody>
      </p:sp>
    </p:spTree>
    <p:extLst>
      <p:ext uri="{BB962C8B-B14F-4D97-AF65-F5344CB8AC3E}">
        <p14:creationId xmlns:p14="http://schemas.microsoft.com/office/powerpoint/2010/main" val="37065662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028700" y="685800"/>
            <a:ext cx="7200900" cy="1485900"/>
          </a:xfrm>
        </p:spPr>
        <p:txBody>
          <a:bodyPr/>
          <a:lstStyle>
            <a:lvl1pPr>
              <a:defRPr>
                <a:solidFill>
                  <a:schemeClr val="tx2"/>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28700" y="2340230"/>
            <a:ext cx="3335840" cy="823912"/>
          </a:xfrm>
        </p:spPr>
        <p:txBody>
          <a:bodyPr anchor="b">
            <a:noAutofit/>
          </a:bodyPr>
          <a:lstStyle>
            <a:lvl1pPr marL="0" indent="0">
              <a:lnSpc>
                <a:spcPct val="84000"/>
              </a:lnSpc>
              <a:spcBef>
                <a:spcPts val="0"/>
              </a:spcBef>
              <a:spcAft>
                <a:spcPts val="0"/>
              </a:spcAft>
              <a:buNone/>
              <a:defRPr sz="2400" b="0" baseline="0">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4" name="Content Placeholder 3"/>
          <p:cNvSpPr>
            <a:spLocks noGrp="1"/>
          </p:cNvSpPr>
          <p:nvPr>
            <p:ph sz="half" idx="2"/>
          </p:nvPr>
        </p:nvSpPr>
        <p:spPr>
          <a:xfrm>
            <a:off x="1028700" y="3305208"/>
            <a:ext cx="3335839"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893760" y="2349754"/>
            <a:ext cx="3335840" cy="823912"/>
          </a:xfrm>
        </p:spPr>
        <p:txBody>
          <a:bodyPr anchor="b">
            <a:noAutofit/>
          </a:bodyPr>
          <a:lstStyle>
            <a:lvl1pPr marL="0" indent="0">
              <a:lnSpc>
                <a:spcPct val="84000"/>
              </a:lnSpc>
              <a:spcBef>
                <a:spcPts val="0"/>
              </a:spcBef>
              <a:spcAft>
                <a:spcPts val="0"/>
              </a:spcAft>
              <a:buNone/>
              <a:defRPr sz="2400" b="0" baseline="0">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6" name="Content Placeholder 5"/>
          <p:cNvSpPr>
            <a:spLocks noGrp="1"/>
          </p:cNvSpPr>
          <p:nvPr>
            <p:ph sz="quarter" idx="4"/>
          </p:nvPr>
        </p:nvSpPr>
        <p:spPr>
          <a:xfrm>
            <a:off x="4893760" y="3305208"/>
            <a:ext cx="3335840"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10F0019-B774-4815-887F-D392F44A24CD}" type="datetimeFigureOut">
              <a:rPr lang="en-US" smtClean="0"/>
              <a:t>5/31/2025</a:t>
            </a:fld>
            <a:endParaRPr lang="en-US"/>
          </a:p>
        </p:txBody>
      </p:sp>
      <p:sp>
        <p:nvSpPr>
          <p:cNvPr id="8" name="Footer Placeholder 7"/>
          <p:cNvSpPr>
            <a:spLocks noGrp="1"/>
          </p:cNvSpPr>
          <p:nvPr>
            <p:ph type="ftr" sz="quarter" idx="11"/>
          </p:nvPr>
        </p:nvSpPr>
        <p:spPr/>
        <p:txBody>
          <a:bodyPr/>
          <a:lstStyle/>
          <a:p>
            <a:r>
              <a:rPr lang="en-US" sz="1050">
                <a:solidFill>
                  <a:srgbClr val="7F7F7F"/>
                </a:solidFill>
                <a:effectLst/>
                <a:latin typeface="Arial" panose="020B0604020202020204" pitchFamily="34" charset="0"/>
                <a:ea typeface="Calibri" panose="020F0502020204030204" pitchFamily="34" charset="0"/>
              </a:rPr>
              <a:t>Compton, </a:t>
            </a:r>
            <a:r>
              <a:rPr lang="en-US" sz="1050" i="1">
                <a:solidFill>
                  <a:srgbClr val="7F7F7F"/>
                </a:solidFill>
                <a:effectLst/>
                <a:latin typeface="Arial" panose="020B0604020202020204" pitchFamily="34" charset="0"/>
                <a:ea typeface="Calibri" panose="020F0502020204030204" pitchFamily="34" charset="0"/>
              </a:rPr>
              <a:t>Positive Psychology, 3e</a:t>
            </a:r>
            <a:r>
              <a:rPr lang="en-US" sz="1050">
                <a:solidFill>
                  <a:srgbClr val="7F7F7F"/>
                </a:solidFill>
                <a:effectLst/>
                <a:latin typeface="Arial" panose="020B0604020202020204" pitchFamily="34" charset="0"/>
                <a:ea typeface="Calibri" panose="020F0502020204030204" pitchFamily="34" charset="0"/>
              </a:rPr>
              <a:t>.</a:t>
            </a:r>
            <a:r>
              <a:rPr lang="en-US" sz="1050" kern="1200">
                <a:solidFill>
                  <a:srgbClr val="7F7F7F"/>
                </a:solidFill>
                <a:effectLst/>
                <a:latin typeface="Arial" panose="020B0604020202020204" pitchFamily="34" charset="0"/>
                <a:ea typeface="Times New Roman" panose="02020603050405020304" pitchFamily="18" charset="0"/>
              </a:rPr>
              <a:t> </a:t>
            </a:r>
            <a:r>
              <a:rPr lang="en-US" sz="1050">
                <a:solidFill>
                  <a:srgbClr val="7F7F7F"/>
                </a:solidFill>
                <a:effectLst/>
                <a:latin typeface="Arial" panose="020B0604020202020204" pitchFamily="34" charset="0"/>
                <a:ea typeface="Times New Roman" panose="02020603050405020304" pitchFamily="18" charset="0"/>
              </a:rPr>
              <a:t>© SAGE Publications, 2020.</a:t>
            </a:r>
            <a:endParaRPr lang="en-US" dirty="0"/>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7769601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10F0019-B774-4815-887F-D392F44A24CD}" type="datetimeFigureOut">
              <a:rPr lang="en-US" smtClean="0"/>
              <a:t>5/31/2025</a:t>
            </a:fld>
            <a:endParaRPr lang="en-US"/>
          </a:p>
        </p:txBody>
      </p:sp>
      <p:sp>
        <p:nvSpPr>
          <p:cNvPr id="3" name="Footer Placeholder 2"/>
          <p:cNvSpPr>
            <a:spLocks noGrp="1"/>
          </p:cNvSpPr>
          <p:nvPr>
            <p:ph type="ftr" sz="quarter" idx="11"/>
          </p:nvPr>
        </p:nvSpPr>
        <p:spPr/>
        <p:txBody>
          <a:bodyPr/>
          <a:lstStyle/>
          <a:p>
            <a:r>
              <a:rPr lang="en-US" sz="1050">
                <a:solidFill>
                  <a:srgbClr val="7F7F7F"/>
                </a:solidFill>
                <a:effectLst/>
                <a:latin typeface="Arial" panose="020B0604020202020204" pitchFamily="34" charset="0"/>
                <a:ea typeface="Calibri" panose="020F0502020204030204" pitchFamily="34" charset="0"/>
              </a:rPr>
              <a:t>Compton, </a:t>
            </a:r>
            <a:r>
              <a:rPr lang="en-US" sz="1050" i="1">
                <a:solidFill>
                  <a:srgbClr val="7F7F7F"/>
                </a:solidFill>
                <a:effectLst/>
                <a:latin typeface="Arial" panose="020B0604020202020204" pitchFamily="34" charset="0"/>
                <a:ea typeface="Calibri" panose="020F0502020204030204" pitchFamily="34" charset="0"/>
              </a:rPr>
              <a:t>Positive Psychology, 3e</a:t>
            </a:r>
            <a:r>
              <a:rPr lang="en-US" sz="1050">
                <a:solidFill>
                  <a:srgbClr val="7F7F7F"/>
                </a:solidFill>
                <a:effectLst/>
                <a:latin typeface="Arial" panose="020B0604020202020204" pitchFamily="34" charset="0"/>
                <a:ea typeface="Calibri" panose="020F0502020204030204" pitchFamily="34" charset="0"/>
              </a:rPr>
              <a:t>.</a:t>
            </a:r>
            <a:r>
              <a:rPr lang="en-US" sz="1050" kern="1200">
                <a:solidFill>
                  <a:srgbClr val="7F7F7F"/>
                </a:solidFill>
                <a:effectLst/>
                <a:latin typeface="Arial" panose="020B0604020202020204" pitchFamily="34" charset="0"/>
                <a:ea typeface="Times New Roman" panose="02020603050405020304" pitchFamily="18" charset="0"/>
              </a:rPr>
              <a:t> </a:t>
            </a:r>
            <a:r>
              <a:rPr lang="en-US" sz="1050">
                <a:solidFill>
                  <a:srgbClr val="7F7F7F"/>
                </a:solidFill>
                <a:effectLst/>
                <a:latin typeface="Arial" panose="020B0604020202020204" pitchFamily="34" charset="0"/>
                <a:ea typeface="Times New Roman" panose="02020603050405020304" pitchFamily="18" charset="0"/>
              </a:rPr>
              <a:t>© SAGE Publications, 2020.</a:t>
            </a: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0875269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Picture 6"/>
          <p:cNvPicPr>
            <a:picLocks noChangeAspect="1"/>
          </p:cNvPicPr>
          <p:nvPr userDrawn="1"/>
        </p:nvPicPr>
        <p:blipFill rotWithShape="1">
          <a:blip r:embed="rId7" cstate="print">
            <a:extLst>
              <a:ext uri="{28A0092B-C50C-407E-A947-70E740481C1C}">
                <a14:useLocalDpi xmlns:a14="http://schemas.microsoft.com/office/drawing/2010/main" val="0"/>
              </a:ext>
            </a:extLst>
          </a:blip>
          <a:srcRect t="83837"/>
          <a:stretch/>
        </p:blipFill>
        <p:spPr>
          <a:xfrm>
            <a:off x="-12767" y="6322425"/>
            <a:ext cx="9156768" cy="535577"/>
          </a:xfrm>
          <a:prstGeom prst="rect">
            <a:avLst/>
          </a:prstGeom>
        </p:spPr>
      </p:pic>
      <p:sp>
        <p:nvSpPr>
          <p:cNvPr id="2" name="Title Placeholder 1"/>
          <p:cNvSpPr>
            <a:spLocks noGrp="1"/>
          </p:cNvSpPr>
          <p:nvPr>
            <p:ph type="title"/>
          </p:nvPr>
        </p:nvSpPr>
        <p:spPr>
          <a:xfrm>
            <a:off x="628650" y="365128"/>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3"/>
          </p:nvPr>
        </p:nvSpPr>
        <p:spPr>
          <a:xfrm>
            <a:off x="2002155" y="6451713"/>
            <a:ext cx="5139690" cy="276999"/>
          </a:xfrm>
          <a:prstGeom prst="rect">
            <a:avLst/>
          </a:prstGeom>
        </p:spPr>
        <p:txBody>
          <a:bodyPr vert="horz" lIns="91440" tIns="45720" rIns="91440" bIns="45720" rtlCol="0" anchor="ctr" anchorCtr="1">
            <a:spAutoFit/>
          </a:bodyPr>
          <a:lstStyle>
            <a:lvl1pPr algn="ctr">
              <a:defRPr sz="1200">
                <a:solidFill>
                  <a:schemeClr val="tx1">
                    <a:tint val="75000"/>
                  </a:schemeClr>
                </a:solidFill>
              </a:defRPr>
            </a:lvl1pPr>
          </a:lstStyle>
          <a:p>
            <a:r>
              <a:rPr lang="en-US" dirty="0"/>
              <a:t>The Science of Positive Psychology © Cambridge University Press 2021</a:t>
            </a:r>
          </a:p>
        </p:txBody>
      </p:sp>
      <p:pic>
        <p:nvPicPr>
          <p:cNvPr id="10" name="Picture 9"/>
          <p:cNvPicPr>
            <a:picLocks noChangeAspect="1"/>
          </p:cNvPicPr>
          <p:nvPr userDrawn="1"/>
        </p:nvPicPr>
        <p:blipFill>
          <a:blip r:embed="rId8" cstate="print">
            <a:extLst>
              <a:ext uri="{28A0092B-C50C-407E-A947-70E740481C1C}">
                <a14:useLocalDpi xmlns:a14="http://schemas.microsoft.com/office/drawing/2010/main" val="0"/>
              </a:ext>
            </a:extLst>
          </a:blip>
          <a:stretch>
            <a:fillRect/>
          </a:stretch>
        </p:blipFill>
        <p:spPr>
          <a:xfrm>
            <a:off x="69669" y="6403081"/>
            <a:ext cx="1932486" cy="400593"/>
          </a:xfrm>
          <a:prstGeom prst="rect">
            <a:avLst/>
          </a:prstGeom>
        </p:spPr>
      </p:pic>
    </p:spTree>
    <p:extLst>
      <p:ext uri="{BB962C8B-B14F-4D97-AF65-F5344CB8AC3E}">
        <p14:creationId xmlns:p14="http://schemas.microsoft.com/office/powerpoint/2010/main" val="3980212316"/>
      </p:ext>
    </p:extLst>
  </p:cSld>
  <p:clrMap bg1="lt1" tx1="dk1" bg2="lt2" tx2="dk2" accent1="accent1" accent2="accent2" accent3="accent3" accent4="accent4" accent5="accent5" accent6="accent6" hlink="hlink" folHlink="folHlink"/>
  <p:sldLayoutIdLst>
    <p:sldLayoutId id="2147483658" r:id="rId1"/>
    <p:sldLayoutId id="2147483656" r:id="rId2"/>
    <p:sldLayoutId id="2147483657" r:id="rId3"/>
    <p:sldLayoutId id="2147483659" r:id="rId4"/>
    <p:sldLayoutId id="2147483660" r:id="rId5"/>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3.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3.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0.xml"/><Relationship Id="rId1" Type="http://schemas.openxmlformats.org/officeDocument/2006/relationships/slideLayout" Target="../slideLayouts/slideLayout3.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3.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4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5A59F003-E00A-43F9-91DC-CC54E3B874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5" descr="Balloons that spell love">
            <a:extLst>
              <a:ext uri="{FF2B5EF4-FFF2-40B4-BE49-F238E27FC236}">
                <a16:creationId xmlns:a16="http://schemas.microsoft.com/office/drawing/2014/main" id="{BABAEDE6-D781-A358-AB38-ABFA010D2567}"/>
              </a:ext>
            </a:extLst>
          </p:cNvPr>
          <p:cNvPicPr>
            <a:picLocks noChangeAspect="1"/>
          </p:cNvPicPr>
          <p:nvPr/>
        </p:nvPicPr>
        <p:blipFill rotWithShape="1">
          <a:blip r:embed="rId2"/>
          <a:srcRect l="10133" t="9091" r="8958"/>
          <a:stretch/>
        </p:blipFill>
        <p:spPr>
          <a:xfrm>
            <a:off x="20" y="10"/>
            <a:ext cx="9143980" cy="6857990"/>
          </a:xfrm>
          <a:prstGeom prst="rect">
            <a:avLst/>
          </a:prstGeom>
        </p:spPr>
      </p:pic>
      <p:sp>
        <p:nvSpPr>
          <p:cNvPr id="24" name="Rectangle 23">
            <a:extLst>
              <a:ext uri="{FF2B5EF4-FFF2-40B4-BE49-F238E27FC236}">
                <a16:creationId xmlns:a16="http://schemas.microsoft.com/office/drawing/2014/main" id="{D74A4382-E3AD-430A-9A1F-DFA3E0E77A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2275867" y="-10136"/>
            <a:ext cx="4592270" cy="9144001"/>
          </a:xfrm>
          <a:prstGeom prst="rect">
            <a:avLst/>
          </a:prstGeom>
          <a:gradFill>
            <a:gsLst>
              <a:gs pos="35000">
                <a:schemeClr val="bg1">
                  <a:alpha val="46000"/>
                </a:schemeClr>
              </a:gs>
              <a:gs pos="21000">
                <a:schemeClr val="bg1">
                  <a:alpha val="30000"/>
                </a:schemeClr>
              </a:gs>
              <a:gs pos="0">
                <a:schemeClr val="bg1">
                  <a:alpha val="0"/>
                </a:schemeClr>
              </a:gs>
              <a:gs pos="100000">
                <a:schemeClr val="bg1">
                  <a:alpha val="9000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303414" y="3091928"/>
            <a:ext cx="6808922" cy="2387600"/>
          </a:xfrm>
        </p:spPr>
        <p:txBody>
          <a:bodyPr vert="horz" lIns="91440" tIns="45720" rIns="91440" bIns="45720" rtlCol="0" anchor="b">
            <a:normAutofit/>
          </a:bodyPr>
          <a:lstStyle/>
          <a:p>
            <a:pPr algn="l"/>
            <a:r>
              <a:rPr lang="en-US" sz="5700"/>
              <a:t>Chapter 10</a:t>
            </a:r>
          </a:p>
        </p:txBody>
      </p:sp>
      <p:sp>
        <p:nvSpPr>
          <p:cNvPr id="26" name="Rectangle: Rounded Corners 25">
            <a:extLst>
              <a:ext uri="{FF2B5EF4-FFF2-40B4-BE49-F238E27FC236}">
                <a16:creationId xmlns:a16="http://schemas.microsoft.com/office/drawing/2014/main" id="{79F40191-0F44-4FD1-82CC-ACB507C14B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575039"/>
            <a:ext cx="7339422" cy="685800"/>
          </a:xfrm>
          <a:prstGeom prst="roundRect">
            <a:avLst>
              <a:gd name="adj"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 Placeholder 2"/>
          <p:cNvSpPr>
            <a:spLocks noGrp="1"/>
          </p:cNvSpPr>
          <p:nvPr>
            <p:ph type="body" idx="1"/>
          </p:nvPr>
        </p:nvSpPr>
        <p:spPr>
          <a:xfrm>
            <a:off x="303414" y="5624945"/>
            <a:ext cx="6808922" cy="592975"/>
          </a:xfrm>
        </p:spPr>
        <p:txBody>
          <a:bodyPr vert="horz" lIns="91440" tIns="45720" rIns="91440" bIns="45720" rtlCol="0" anchor="ctr">
            <a:normAutofit/>
          </a:bodyPr>
          <a:lstStyle/>
          <a:p>
            <a:pPr algn="l"/>
            <a:r>
              <a:rPr lang="en-US" sz="2400"/>
              <a:t>Love and Relationships</a:t>
            </a:r>
          </a:p>
        </p:txBody>
      </p:sp>
      <p:sp>
        <p:nvSpPr>
          <p:cNvPr id="4" name="Footer Placeholder 3"/>
          <p:cNvSpPr>
            <a:spLocks noGrp="1"/>
          </p:cNvSpPr>
          <p:nvPr>
            <p:ph type="ftr" sz="quarter" idx="10"/>
          </p:nvPr>
        </p:nvSpPr>
        <p:spPr>
          <a:xfrm>
            <a:off x="3028950" y="6356350"/>
            <a:ext cx="3086100" cy="365125"/>
          </a:xfrm>
        </p:spPr>
        <p:txBody>
          <a:bodyPr vert="horz" lIns="91440" tIns="45720" rIns="91440" bIns="45720" rtlCol="0" anchor="ctr">
            <a:normAutofit/>
          </a:bodyPr>
          <a:lstStyle/>
          <a:p>
            <a:pPr defTabSz="914400">
              <a:lnSpc>
                <a:spcPct val="90000"/>
              </a:lnSpc>
              <a:spcAft>
                <a:spcPts val="600"/>
              </a:spcAft>
              <a:defRPr/>
            </a:pPr>
            <a:r>
              <a:rPr lang="en-US" sz="900" kern="1200">
                <a:solidFill>
                  <a:schemeClr val="tx1"/>
                </a:solidFill>
                <a:latin typeface="Calibri" panose="020F0502020204030204"/>
                <a:ea typeface="+mn-ea"/>
                <a:cs typeface="+mn-cs"/>
              </a:rPr>
              <a:t>The Science and Application of Positive Psychology © Cambridge University Press 2021</a:t>
            </a:r>
          </a:p>
        </p:txBody>
      </p:sp>
    </p:spTree>
    <p:extLst>
      <p:ext uri="{BB962C8B-B14F-4D97-AF65-F5344CB8AC3E}">
        <p14:creationId xmlns:p14="http://schemas.microsoft.com/office/powerpoint/2010/main" val="4177224445"/>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675747" y="803325"/>
            <a:ext cx="3985902" cy="1325563"/>
          </a:xfrm>
        </p:spPr>
        <p:txBody>
          <a:bodyPr>
            <a:normAutofit/>
          </a:bodyPr>
          <a:lstStyle/>
          <a:p>
            <a:r>
              <a:rPr lang="en-US"/>
              <a:t>What is love?</a:t>
            </a:r>
            <a:endParaRPr lang="en-US" dirty="0"/>
          </a:p>
        </p:txBody>
      </p:sp>
      <p:sp>
        <p:nvSpPr>
          <p:cNvPr id="14" name="Freeform: Shape 9">
            <a:extLst>
              <a:ext uri="{FF2B5EF4-FFF2-40B4-BE49-F238E27FC236}">
                <a16:creationId xmlns:a16="http://schemas.microsoft.com/office/drawing/2014/main" id="{CF62D2A7-8207-488C-9F46-316BA81A16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08"/>
            <a:ext cx="4206915" cy="5840278"/>
          </a:xfrm>
          <a:custGeom>
            <a:avLst/>
            <a:gdLst>
              <a:gd name="connsiteX0" fmla="*/ 0 w 5609220"/>
              <a:gd name="connsiteY0" fmla="*/ 0 h 5840278"/>
              <a:gd name="connsiteX1" fmla="*/ 4637091 w 5609220"/>
              <a:gd name="connsiteY1" fmla="*/ 0 h 5840278"/>
              <a:gd name="connsiteX2" fmla="*/ 4822569 w 5609220"/>
              <a:gd name="connsiteY2" fmla="*/ 204077 h 5840278"/>
              <a:gd name="connsiteX3" fmla="*/ 5609220 w 5609220"/>
              <a:gd name="connsiteY3" fmla="*/ 2395363 h 5840278"/>
              <a:gd name="connsiteX4" fmla="*/ 2164305 w 5609220"/>
              <a:gd name="connsiteY4" fmla="*/ 5840278 h 5840278"/>
              <a:gd name="connsiteX5" fmla="*/ 238220 w 5609220"/>
              <a:gd name="connsiteY5" fmla="*/ 5251941 h 5840278"/>
              <a:gd name="connsiteX6" fmla="*/ 0 w 5609220"/>
              <a:gd name="connsiteY6" fmla="*/ 5073803 h 58402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609220" h="5840278">
                <a:moveTo>
                  <a:pt x="0" y="0"/>
                </a:moveTo>
                <a:lnTo>
                  <a:pt x="4637091" y="0"/>
                </a:lnTo>
                <a:lnTo>
                  <a:pt x="4822569" y="204077"/>
                </a:lnTo>
                <a:cubicBezTo>
                  <a:pt x="5314007" y="799562"/>
                  <a:pt x="5609220" y="1562987"/>
                  <a:pt x="5609220" y="2395363"/>
                </a:cubicBezTo>
                <a:cubicBezTo>
                  <a:pt x="5609220" y="4297937"/>
                  <a:pt x="4066879" y="5840278"/>
                  <a:pt x="2164305" y="5840278"/>
                </a:cubicBezTo>
                <a:cubicBezTo>
                  <a:pt x="1450840" y="5840278"/>
                  <a:pt x="788032" y="5623387"/>
                  <a:pt x="238220" y="5251941"/>
                </a:cubicBezTo>
                <a:lnTo>
                  <a:pt x="0" y="5073803"/>
                </a:ln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5" name="Picture 5" descr="Close up of heart shaped pages of a book">
            <a:extLst>
              <a:ext uri="{FF2B5EF4-FFF2-40B4-BE49-F238E27FC236}">
                <a16:creationId xmlns:a16="http://schemas.microsoft.com/office/drawing/2014/main" id="{7E9303E5-3A60-B133-CA93-0594C3AD7BC4}"/>
              </a:ext>
            </a:extLst>
          </p:cNvPr>
          <p:cNvPicPr>
            <a:picLocks noChangeAspect="1"/>
          </p:cNvPicPr>
          <p:nvPr/>
        </p:nvPicPr>
        <p:blipFill rotWithShape="1">
          <a:blip r:embed="rId2"/>
          <a:srcRect l="26258" r="25567" b="2"/>
          <a:stretch/>
        </p:blipFill>
        <p:spPr>
          <a:xfrm>
            <a:off x="1" y="-2"/>
            <a:ext cx="4081394" cy="5654940"/>
          </a:xfrm>
          <a:custGeom>
            <a:avLst/>
            <a:gdLst/>
            <a:ahLst/>
            <a:cxnLst/>
            <a:rect l="l" t="t" r="r" b="b"/>
            <a:pathLst>
              <a:path w="5441859" h="5654940">
                <a:moveTo>
                  <a:pt x="0" y="0"/>
                </a:moveTo>
                <a:lnTo>
                  <a:pt x="4400491" y="0"/>
                </a:lnTo>
                <a:lnTo>
                  <a:pt x="4484766" y="76595"/>
                </a:lnTo>
                <a:cubicBezTo>
                  <a:pt x="5076107" y="667936"/>
                  <a:pt x="5441859" y="1484866"/>
                  <a:pt x="5441859" y="2387221"/>
                </a:cubicBezTo>
                <a:cubicBezTo>
                  <a:pt x="5441859" y="4191932"/>
                  <a:pt x="3978851" y="5654940"/>
                  <a:pt x="2174140" y="5654940"/>
                </a:cubicBezTo>
                <a:cubicBezTo>
                  <a:pt x="1412778" y="5654940"/>
                  <a:pt x="712231" y="5394557"/>
                  <a:pt x="156693" y="4957981"/>
                </a:cubicBezTo>
                <a:lnTo>
                  <a:pt x="0" y="4820612"/>
                </a:lnTo>
                <a:close/>
              </a:path>
            </a:pathLst>
          </a:custGeom>
        </p:spPr>
      </p:pic>
      <p:sp>
        <p:nvSpPr>
          <p:cNvPr id="3" name="Content Placeholder 2"/>
          <p:cNvSpPr>
            <a:spLocks noGrp="1"/>
          </p:cNvSpPr>
          <p:nvPr>
            <p:ph idx="1"/>
          </p:nvPr>
        </p:nvSpPr>
        <p:spPr>
          <a:xfrm>
            <a:off x="4675746" y="2279018"/>
            <a:ext cx="3985908" cy="3375920"/>
          </a:xfrm>
        </p:spPr>
        <p:txBody>
          <a:bodyPr anchor="t">
            <a:normAutofit/>
          </a:bodyPr>
          <a:lstStyle/>
          <a:p>
            <a:r>
              <a:rPr lang="en-US" sz="1600"/>
              <a:t>Psychologists have proposed several different definitions of love and its many varieties.</a:t>
            </a:r>
          </a:p>
          <a:p>
            <a:endParaRPr lang="en-US" sz="1600"/>
          </a:p>
          <a:p>
            <a:r>
              <a:rPr lang="en-US" sz="1600"/>
              <a:t>We will cover four:</a:t>
            </a:r>
          </a:p>
          <a:p>
            <a:pPr lvl="1"/>
            <a:r>
              <a:rPr lang="en-US" sz="1600"/>
              <a:t>Passionate and Companionate Love</a:t>
            </a:r>
          </a:p>
          <a:p>
            <a:pPr lvl="1"/>
            <a:r>
              <a:rPr lang="en-US" sz="1600"/>
              <a:t>Love Styles</a:t>
            </a:r>
          </a:p>
          <a:p>
            <a:pPr lvl="1"/>
            <a:r>
              <a:rPr lang="en-US" sz="1600"/>
              <a:t>The Triangular Theory of Love</a:t>
            </a:r>
          </a:p>
          <a:p>
            <a:pPr lvl="1"/>
            <a:r>
              <a:rPr lang="en-US" sz="1600"/>
              <a:t>Love 2.0</a:t>
            </a:r>
          </a:p>
        </p:txBody>
      </p:sp>
      <p:sp>
        <p:nvSpPr>
          <p:cNvPr id="4" name="Footer Placeholder 3"/>
          <p:cNvSpPr>
            <a:spLocks noGrp="1"/>
          </p:cNvSpPr>
          <p:nvPr>
            <p:ph type="ftr" sz="quarter" idx="11"/>
          </p:nvPr>
        </p:nvSpPr>
        <p:spPr>
          <a:xfrm>
            <a:off x="4540249" y="6199632"/>
            <a:ext cx="3602066" cy="365760"/>
          </a:xfrm>
        </p:spPr>
        <p:txBody>
          <a:bodyPr>
            <a:normAutofit/>
          </a:bodyPr>
          <a:lstStyle/>
          <a:p>
            <a:pPr algn="r">
              <a:lnSpc>
                <a:spcPct val="90000"/>
              </a:lnSpc>
              <a:spcAft>
                <a:spcPts val="600"/>
              </a:spcAft>
            </a:pPr>
            <a:r>
              <a:rPr lang="en-US" sz="1000">
                <a:solidFill>
                  <a:schemeClr val="tx1">
                    <a:alpha val="80000"/>
                  </a:schemeClr>
                </a:solidFill>
              </a:rPr>
              <a:t>The Science and Application of Positive Psychology © Cambridge University Press 2021</a:t>
            </a:r>
          </a:p>
        </p:txBody>
      </p:sp>
    </p:spTree>
    <p:extLst>
      <p:ext uri="{BB962C8B-B14F-4D97-AF65-F5344CB8AC3E}">
        <p14:creationId xmlns:p14="http://schemas.microsoft.com/office/powerpoint/2010/main" val="1519506944"/>
      </p:ext>
    </p:extLst>
  </p:cSld>
  <p:clrMapOvr>
    <a:overrideClrMapping bg1="dk1" tx1="lt1" bg2="dk2" tx2="lt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5BD1C87D-7B83-49A8-844E-433D32C4567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0" y="1024938"/>
            <a:ext cx="4809946" cy="5833063"/>
          </a:xfrm>
          <a:custGeom>
            <a:avLst/>
            <a:gdLst>
              <a:gd name="connsiteX0" fmla="*/ 343517 w 6413262"/>
              <a:gd name="connsiteY0" fmla="*/ 5832222 h 5833063"/>
              <a:gd name="connsiteX1" fmla="*/ 6335225 w 6413262"/>
              <a:gd name="connsiteY1" fmla="*/ 835839 h 5833063"/>
              <a:gd name="connsiteX2" fmla="*/ 6411127 w 6413262"/>
              <a:gd name="connsiteY2" fmla="*/ 123790 h 5833063"/>
              <a:gd name="connsiteX3" fmla="*/ 6413262 w 6413262"/>
              <a:gd name="connsiteY3" fmla="*/ 0 h 5833063"/>
              <a:gd name="connsiteX4" fmla="*/ 0 w 6413262"/>
              <a:gd name="connsiteY4" fmla="*/ 0 h 5833063"/>
              <a:gd name="connsiteX5" fmla="*/ 0 w 6413262"/>
              <a:gd name="connsiteY5" fmla="*/ 5815521 h 5833063"/>
              <a:gd name="connsiteX6" fmla="*/ 51379 w 6413262"/>
              <a:gd name="connsiteY6" fmla="*/ 5820166 h 5833063"/>
              <a:gd name="connsiteX7" fmla="*/ 343517 w 6413262"/>
              <a:gd name="connsiteY7" fmla="*/ 5832222 h 58330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413262" h="5833063">
                <a:moveTo>
                  <a:pt x="343517" y="5832222"/>
                </a:moveTo>
                <a:cubicBezTo>
                  <a:pt x="3254747" y="5881130"/>
                  <a:pt x="5841718" y="3794544"/>
                  <a:pt x="6335225" y="835839"/>
                </a:cubicBezTo>
                <a:cubicBezTo>
                  <a:pt x="6375023" y="597235"/>
                  <a:pt x="6400103" y="359575"/>
                  <a:pt x="6411127" y="123790"/>
                </a:cubicBezTo>
                <a:lnTo>
                  <a:pt x="6413262" y="0"/>
                </a:lnTo>
                <a:lnTo>
                  <a:pt x="0" y="0"/>
                </a:lnTo>
                <a:lnTo>
                  <a:pt x="0" y="5815521"/>
                </a:lnTo>
                <a:lnTo>
                  <a:pt x="51379" y="5820166"/>
                </a:lnTo>
                <a:cubicBezTo>
                  <a:pt x="149075" y="5826589"/>
                  <a:pt x="246476" y="5830592"/>
                  <a:pt x="343517" y="5832222"/>
                </a:cubicBezTo>
                <a:close/>
              </a:path>
            </a:pathLst>
          </a:custGeom>
          <a:solidFill>
            <a:schemeClr val="tx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3" name="Freeform: Shape 12">
            <a:extLst>
              <a:ext uri="{FF2B5EF4-FFF2-40B4-BE49-F238E27FC236}">
                <a16:creationId xmlns:a16="http://schemas.microsoft.com/office/drawing/2014/main" id="{1703047A-2C9B-4E2C-9A75-B67521B6D6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0" y="1324648"/>
            <a:ext cx="4582591" cy="5533351"/>
          </a:xfrm>
          <a:custGeom>
            <a:avLst/>
            <a:gdLst>
              <a:gd name="connsiteX0" fmla="*/ 324583 w 6110122"/>
              <a:gd name="connsiteY0" fmla="*/ 5532549 h 5533351"/>
              <a:gd name="connsiteX1" fmla="*/ 6035604 w 6110122"/>
              <a:gd name="connsiteY1" fmla="*/ 770225 h 5533351"/>
              <a:gd name="connsiteX2" fmla="*/ 6088871 w 6110122"/>
              <a:gd name="connsiteY2" fmla="*/ 362020 h 5533351"/>
              <a:gd name="connsiteX3" fmla="*/ 6110122 w 6110122"/>
              <a:gd name="connsiteY3" fmla="*/ 0 h 5533351"/>
              <a:gd name="connsiteX4" fmla="*/ 0 w 6110122"/>
              <a:gd name="connsiteY4" fmla="*/ 0 h 5533351"/>
              <a:gd name="connsiteX5" fmla="*/ 0 w 6110122"/>
              <a:gd name="connsiteY5" fmla="*/ 5516887 h 5533351"/>
              <a:gd name="connsiteX6" fmla="*/ 46130 w 6110122"/>
              <a:gd name="connsiteY6" fmla="*/ 5521057 h 5533351"/>
              <a:gd name="connsiteX7" fmla="*/ 324583 w 6110122"/>
              <a:gd name="connsiteY7" fmla="*/ 5532549 h 5533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110122" h="5533351">
                <a:moveTo>
                  <a:pt x="324583" y="5532549"/>
                </a:moveTo>
                <a:cubicBezTo>
                  <a:pt x="3099434" y="5579166"/>
                  <a:pt x="5565217" y="3590326"/>
                  <a:pt x="6035604" y="770225"/>
                </a:cubicBezTo>
                <a:cubicBezTo>
                  <a:pt x="6058365" y="633768"/>
                  <a:pt x="6076076" y="497636"/>
                  <a:pt x="6088871" y="362020"/>
                </a:cubicBezTo>
                <a:lnTo>
                  <a:pt x="6110122" y="0"/>
                </a:lnTo>
                <a:lnTo>
                  <a:pt x="0" y="0"/>
                </a:lnTo>
                <a:lnTo>
                  <a:pt x="0" y="5516887"/>
                </a:lnTo>
                <a:lnTo>
                  <a:pt x="46130" y="5521057"/>
                </a:lnTo>
                <a:cubicBezTo>
                  <a:pt x="139249" y="5527179"/>
                  <a:pt x="232088" y="5530995"/>
                  <a:pt x="324583" y="5532549"/>
                </a:cubicBezTo>
                <a:close/>
              </a:path>
            </a:pathLst>
          </a:custGeom>
          <a:solidFill>
            <a:schemeClr val="bg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p:cNvSpPr>
            <a:spLocks noGrp="1"/>
          </p:cNvSpPr>
          <p:nvPr>
            <p:ph type="title"/>
          </p:nvPr>
        </p:nvSpPr>
        <p:spPr>
          <a:xfrm>
            <a:off x="603503" y="2903393"/>
            <a:ext cx="2705881" cy="2625537"/>
          </a:xfrm>
        </p:spPr>
        <p:txBody>
          <a:bodyPr anchor="b">
            <a:normAutofit/>
          </a:bodyPr>
          <a:lstStyle/>
          <a:p>
            <a:r>
              <a:rPr lang="en-US" sz="3300"/>
              <a:t>Passionate and Companionate Love</a:t>
            </a:r>
          </a:p>
        </p:txBody>
      </p:sp>
      <p:sp>
        <p:nvSpPr>
          <p:cNvPr id="3" name="Content Placeholder 2"/>
          <p:cNvSpPr>
            <a:spLocks noGrp="1"/>
          </p:cNvSpPr>
          <p:nvPr>
            <p:ph idx="1"/>
          </p:nvPr>
        </p:nvSpPr>
        <p:spPr>
          <a:xfrm>
            <a:off x="4928190" y="600741"/>
            <a:ext cx="3719747" cy="4816548"/>
          </a:xfrm>
        </p:spPr>
        <p:txBody>
          <a:bodyPr anchor="ctr">
            <a:normAutofit/>
          </a:bodyPr>
          <a:lstStyle/>
          <a:p>
            <a:r>
              <a:rPr lang="en-US" sz="1800"/>
              <a:t>The simplest recognition of the varieties of love was offered by Berscheid and Hatfield-Walster (1969)</a:t>
            </a:r>
          </a:p>
          <a:p>
            <a:r>
              <a:rPr lang="en-US" sz="1800"/>
              <a:t>Two broad categories:</a:t>
            </a:r>
          </a:p>
          <a:p>
            <a:pPr lvl="1"/>
            <a:r>
              <a:rPr lang="en-US" sz="1800" i="1"/>
              <a:t>Passionate love</a:t>
            </a:r>
            <a:r>
              <a:rPr lang="en-US" sz="1800"/>
              <a:t>: Feelings of extreme absorption. People in passionate love often experience mood swings from ecstasy to anguish, and fear of losing one another.</a:t>
            </a:r>
          </a:p>
          <a:p>
            <a:pPr lvl="1"/>
            <a:r>
              <a:rPr lang="en-US" sz="1800" i="1"/>
              <a:t>Companionate love</a:t>
            </a:r>
            <a:r>
              <a:rPr lang="en-US" sz="1800"/>
              <a:t>: A calmer and perhaps deeper state of unshakable affection characterized by mutual self-disclosure, the intertwining of lives, and a sense of warmth or peace.</a:t>
            </a:r>
          </a:p>
        </p:txBody>
      </p:sp>
      <p:sp>
        <p:nvSpPr>
          <p:cNvPr id="6" name="Footer Placeholder 3">
            <a:extLst>
              <a:ext uri="{FF2B5EF4-FFF2-40B4-BE49-F238E27FC236}">
                <a16:creationId xmlns:a16="http://schemas.microsoft.com/office/drawing/2014/main" id="{51EC1A95-6DEE-654E-B0A3-66229026392C}"/>
              </a:ext>
            </a:extLst>
          </p:cNvPr>
          <p:cNvSpPr>
            <a:spLocks noGrp="1"/>
          </p:cNvSpPr>
          <p:nvPr>
            <p:ph type="ftr" sz="quarter" idx="11"/>
          </p:nvPr>
        </p:nvSpPr>
        <p:spPr>
          <a:xfrm>
            <a:off x="603503" y="6199632"/>
            <a:ext cx="3244153" cy="365125"/>
          </a:xfrm>
        </p:spPr>
        <p:txBody>
          <a:bodyPr>
            <a:normAutofit/>
          </a:bodyPr>
          <a:lstStyle/>
          <a:p>
            <a:pPr algn="l">
              <a:lnSpc>
                <a:spcPct val="90000"/>
              </a:lnSpc>
              <a:spcAft>
                <a:spcPts val="600"/>
              </a:spcAft>
            </a:pPr>
            <a:r>
              <a:rPr lang="en-US" sz="900">
                <a:solidFill>
                  <a:schemeClr val="tx1">
                    <a:alpha val="80000"/>
                  </a:schemeClr>
                </a:solidFill>
              </a:rPr>
              <a:t>The Science and Application of Positive Psychology © Cambridge University Press 2021</a:t>
            </a:r>
          </a:p>
        </p:txBody>
      </p:sp>
    </p:spTree>
    <p:extLst>
      <p:ext uri="{BB962C8B-B14F-4D97-AF65-F5344CB8AC3E}">
        <p14:creationId xmlns:p14="http://schemas.microsoft.com/office/powerpoint/2010/main" val="3362203551"/>
      </p:ext>
    </p:extLst>
  </p:cSld>
  <p:clrMapOvr>
    <a:overrideClrMapping bg1="dk1" tx1="lt1" bg2="dk2" tx2="lt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AD21898E-86C0-4C8A-A76C-DF33E844C8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59656" y="0"/>
            <a:ext cx="7824687" cy="6858000"/>
          </a:xfrm>
          <a:custGeom>
            <a:avLst/>
            <a:gdLst>
              <a:gd name="connsiteX0" fmla="*/ 1287962 w 10432916"/>
              <a:gd name="connsiteY0" fmla="*/ 0 h 6858000"/>
              <a:gd name="connsiteX1" fmla="*/ 9144956 w 10432916"/>
              <a:gd name="connsiteY1" fmla="*/ 0 h 6858000"/>
              <a:gd name="connsiteX2" fmla="*/ 9241731 w 10432916"/>
              <a:gd name="connsiteY2" fmla="*/ 111692 h 6858000"/>
              <a:gd name="connsiteX3" fmla="*/ 10432916 w 10432916"/>
              <a:gd name="connsiteY3" fmla="*/ 3429001 h 6858000"/>
              <a:gd name="connsiteX4" fmla="*/ 9241730 w 10432916"/>
              <a:gd name="connsiteY4" fmla="*/ 6746310 h 6858000"/>
              <a:gd name="connsiteX5" fmla="*/ 9144957 w 10432916"/>
              <a:gd name="connsiteY5" fmla="*/ 6858000 h 6858000"/>
              <a:gd name="connsiteX6" fmla="*/ 1287959 w 10432916"/>
              <a:gd name="connsiteY6" fmla="*/ 6858000 h 6858000"/>
              <a:gd name="connsiteX7" fmla="*/ 1191186 w 10432916"/>
              <a:gd name="connsiteY7" fmla="*/ 6746310 h 6858000"/>
              <a:gd name="connsiteX8" fmla="*/ 0 w 10432916"/>
              <a:gd name="connsiteY8" fmla="*/ 3429001 h 6858000"/>
              <a:gd name="connsiteX9" fmla="*/ 1191186 w 10432916"/>
              <a:gd name="connsiteY9" fmla="*/ 11169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432916" h="6858000">
                <a:moveTo>
                  <a:pt x="1287962" y="0"/>
                </a:moveTo>
                <a:lnTo>
                  <a:pt x="9144956" y="0"/>
                </a:lnTo>
                <a:lnTo>
                  <a:pt x="9241731" y="111692"/>
                </a:lnTo>
                <a:cubicBezTo>
                  <a:pt x="9985889" y="1013175"/>
                  <a:pt x="10432916" y="2168897"/>
                  <a:pt x="10432916" y="3429001"/>
                </a:cubicBezTo>
                <a:cubicBezTo>
                  <a:pt x="10432916" y="4689105"/>
                  <a:pt x="9985889" y="5844827"/>
                  <a:pt x="9241730" y="6746310"/>
                </a:cubicBezTo>
                <a:lnTo>
                  <a:pt x="9144957" y="6858000"/>
                </a:lnTo>
                <a:lnTo>
                  <a:pt x="1287959" y="6858000"/>
                </a:lnTo>
                <a:lnTo>
                  <a:pt x="1191186" y="6746310"/>
                </a:lnTo>
                <a:cubicBezTo>
                  <a:pt x="447027" y="5844827"/>
                  <a:pt x="0" y="4689105"/>
                  <a:pt x="0" y="3429001"/>
                </a:cubicBezTo>
                <a:cubicBezTo>
                  <a:pt x="0" y="2168897"/>
                  <a:pt x="447027" y="1013175"/>
                  <a:pt x="1191186" y="111692"/>
                </a:cubicBezTo>
                <a:close/>
              </a:path>
            </a:pathLst>
          </a:custGeom>
          <a:solidFill>
            <a:schemeClr val="tx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Shape 12">
            <a:extLst>
              <a:ext uri="{FF2B5EF4-FFF2-40B4-BE49-F238E27FC236}">
                <a16:creationId xmlns:a16="http://schemas.microsoft.com/office/drawing/2014/main" id="{5C8F04BD-D093-45D0-B54C-50FDB308B4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1206" y="0"/>
            <a:ext cx="7441587" cy="6858000"/>
          </a:xfrm>
          <a:custGeom>
            <a:avLst/>
            <a:gdLst>
              <a:gd name="connsiteX0" fmla="*/ 1378575 w 9922116"/>
              <a:gd name="connsiteY0" fmla="*/ 0 h 6858000"/>
              <a:gd name="connsiteX1" fmla="*/ 8543542 w 9922116"/>
              <a:gd name="connsiteY1" fmla="*/ 0 h 6858000"/>
              <a:gd name="connsiteX2" fmla="*/ 8633323 w 9922116"/>
              <a:gd name="connsiteY2" fmla="*/ 94145 h 6858000"/>
              <a:gd name="connsiteX3" fmla="*/ 9922116 w 9922116"/>
              <a:gd name="connsiteY3" fmla="*/ 3429001 h 6858000"/>
              <a:gd name="connsiteX4" fmla="*/ 8633323 w 9922116"/>
              <a:gd name="connsiteY4" fmla="*/ 6763858 h 6858000"/>
              <a:gd name="connsiteX5" fmla="*/ 8543544 w 9922116"/>
              <a:gd name="connsiteY5" fmla="*/ 6858000 h 6858000"/>
              <a:gd name="connsiteX6" fmla="*/ 1378573 w 9922116"/>
              <a:gd name="connsiteY6" fmla="*/ 6858000 h 6858000"/>
              <a:gd name="connsiteX7" fmla="*/ 1288793 w 9922116"/>
              <a:gd name="connsiteY7" fmla="*/ 6763858 h 6858000"/>
              <a:gd name="connsiteX8" fmla="*/ 0 w 9922116"/>
              <a:gd name="connsiteY8" fmla="*/ 3429001 h 6858000"/>
              <a:gd name="connsiteX9" fmla="*/ 1288793 w 9922116"/>
              <a:gd name="connsiteY9" fmla="*/ 9414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22116" h="6858000">
                <a:moveTo>
                  <a:pt x="1378575" y="0"/>
                </a:moveTo>
                <a:lnTo>
                  <a:pt x="8543542" y="0"/>
                </a:lnTo>
                <a:lnTo>
                  <a:pt x="8633323" y="94145"/>
                </a:lnTo>
                <a:cubicBezTo>
                  <a:pt x="9434072" y="974941"/>
                  <a:pt x="9922116" y="2144991"/>
                  <a:pt x="9922116" y="3429001"/>
                </a:cubicBezTo>
                <a:cubicBezTo>
                  <a:pt x="9922116" y="4713011"/>
                  <a:pt x="9434072" y="5883061"/>
                  <a:pt x="8633323" y="6763858"/>
                </a:cubicBezTo>
                <a:lnTo>
                  <a:pt x="8543544" y="6858000"/>
                </a:lnTo>
                <a:lnTo>
                  <a:pt x="1378573" y="6858000"/>
                </a:lnTo>
                <a:lnTo>
                  <a:pt x="1288793" y="6763858"/>
                </a:lnTo>
                <a:cubicBezTo>
                  <a:pt x="488044" y="5883061"/>
                  <a:pt x="0" y="4713011"/>
                  <a:pt x="0" y="3429001"/>
                </a:cubicBezTo>
                <a:cubicBezTo>
                  <a:pt x="0" y="2144991"/>
                  <a:pt x="488044" y="974941"/>
                  <a:pt x="1288793" y="94145"/>
                </a:cubicBezTo>
                <a:close/>
              </a:path>
            </a:pathLst>
          </a:custGeom>
          <a:solidFill>
            <a:schemeClr val="bg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1733360" y="365760"/>
            <a:ext cx="5677279" cy="1288238"/>
          </a:xfrm>
        </p:spPr>
        <p:txBody>
          <a:bodyPr anchor="ctr">
            <a:normAutofit/>
          </a:bodyPr>
          <a:lstStyle/>
          <a:p>
            <a:pPr algn="ctr"/>
            <a:r>
              <a:rPr lang="en-US" sz="4100" dirty="0"/>
              <a:t>Passionate Love</a:t>
            </a:r>
          </a:p>
        </p:txBody>
      </p:sp>
      <p:sp>
        <p:nvSpPr>
          <p:cNvPr id="3" name="Content Placeholder 2"/>
          <p:cNvSpPr>
            <a:spLocks noGrp="1"/>
          </p:cNvSpPr>
          <p:nvPr>
            <p:ph idx="1"/>
          </p:nvPr>
        </p:nvSpPr>
        <p:spPr>
          <a:xfrm>
            <a:off x="1345324" y="1345324"/>
            <a:ext cx="6453352" cy="4636376"/>
          </a:xfrm>
        </p:spPr>
        <p:txBody>
          <a:bodyPr anchor="t">
            <a:noAutofit/>
          </a:bodyPr>
          <a:lstStyle/>
          <a:p>
            <a:pPr hangingPunct="0"/>
            <a:r>
              <a:rPr lang="en-US" altLang="en-US" sz="2400" dirty="0"/>
              <a:t>The intense arousal that fuels a romantic union</a:t>
            </a:r>
          </a:p>
          <a:p>
            <a:pPr hangingPunct="0"/>
            <a:r>
              <a:rPr lang="en-US" altLang="en-US" sz="2400" dirty="0"/>
              <a:t>A state of intense longing for union with another</a:t>
            </a:r>
          </a:p>
          <a:p>
            <a:pPr hangingPunct="0"/>
            <a:r>
              <a:rPr lang="en-US" altLang="en-US" sz="2400" dirty="0"/>
              <a:t>It is a complex functional whole including appraisals or appreciations, subjective feelings, expressions, patterned physiological processes, action tendencies, and instrumental behaviors.</a:t>
            </a:r>
          </a:p>
          <a:p>
            <a:pPr hangingPunct="0"/>
            <a:r>
              <a:rPr lang="en-US" altLang="en-US" sz="2400" dirty="0"/>
              <a:t>Tend to fall passionately in love with people who are relatively good looking, personable, affectionate and similar to ourselves. </a:t>
            </a:r>
          </a:p>
          <a:p>
            <a:pPr hangingPunct="0"/>
            <a:r>
              <a:rPr lang="en-US" altLang="en-US" sz="2400" dirty="0"/>
              <a:t>Generally very fleeting</a:t>
            </a:r>
          </a:p>
        </p:txBody>
      </p:sp>
      <p:sp>
        <p:nvSpPr>
          <p:cNvPr id="6" name="Footer Placeholder 3">
            <a:extLst>
              <a:ext uri="{FF2B5EF4-FFF2-40B4-BE49-F238E27FC236}">
                <a16:creationId xmlns:a16="http://schemas.microsoft.com/office/drawing/2014/main" id="{51EC1A95-6DEE-654E-B0A3-66229026392C}"/>
              </a:ext>
            </a:extLst>
          </p:cNvPr>
          <p:cNvSpPr>
            <a:spLocks noGrp="1"/>
          </p:cNvSpPr>
          <p:nvPr>
            <p:ph type="ftr" sz="quarter" idx="11"/>
          </p:nvPr>
        </p:nvSpPr>
        <p:spPr>
          <a:xfrm>
            <a:off x="3063240" y="6199632"/>
            <a:ext cx="3017520" cy="365125"/>
          </a:xfrm>
        </p:spPr>
        <p:txBody>
          <a:bodyPr>
            <a:normAutofit/>
          </a:bodyPr>
          <a:lstStyle/>
          <a:p>
            <a:pPr>
              <a:lnSpc>
                <a:spcPct val="90000"/>
              </a:lnSpc>
              <a:spcAft>
                <a:spcPts val="600"/>
              </a:spcAft>
            </a:pPr>
            <a:r>
              <a:rPr lang="en-US" sz="900">
                <a:solidFill>
                  <a:schemeClr val="tx1">
                    <a:alpha val="80000"/>
                  </a:schemeClr>
                </a:solidFill>
              </a:rPr>
              <a:t>The Science and Application of Positive Psychology © Cambridge University Press 2021</a:t>
            </a:r>
          </a:p>
        </p:txBody>
      </p:sp>
    </p:spTree>
    <p:extLst>
      <p:ext uri="{BB962C8B-B14F-4D97-AF65-F5344CB8AC3E}">
        <p14:creationId xmlns:p14="http://schemas.microsoft.com/office/powerpoint/2010/main" val="1556937187"/>
      </p:ext>
    </p:extLst>
  </p:cSld>
  <p:clrMapOvr>
    <a:overrideClrMapping bg1="dk1" tx1="lt1" bg2="dk2" tx2="lt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AD21898E-86C0-4C8A-A76C-DF33E844C8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59656" y="0"/>
            <a:ext cx="7824687" cy="6858000"/>
          </a:xfrm>
          <a:custGeom>
            <a:avLst/>
            <a:gdLst>
              <a:gd name="connsiteX0" fmla="*/ 1287962 w 10432916"/>
              <a:gd name="connsiteY0" fmla="*/ 0 h 6858000"/>
              <a:gd name="connsiteX1" fmla="*/ 9144956 w 10432916"/>
              <a:gd name="connsiteY1" fmla="*/ 0 h 6858000"/>
              <a:gd name="connsiteX2" fmla="*/ 9241731 w 10432916"/>
              <a:gd name="connsiteY2" fmla="*/ 111692 h 6858000"/>
              <a:gd name="connsiteX3" fmla="*/ 10432916 w 10432916"/>
              <a:gd name="connsiteY3" fmla="*/ 3429001 h 6858000"/>
              <a:gd name="connsiteX4" fmla="*/ 9241730 w 10432916"/>
              <a:gd name="connsiteY4" fmla="*/ 6746310 h 6858000"/>
              <a:gd name="connsiteX5" fmla="*/ 9144957 w 10432916"/>
              <a:gd name="connsiteY5" fmla="*/ 6858000 h 6858000"/>
              <a:gd name="connsiteX6" fmla="*/ 1287959 w 10432916"/>
              <a:gd name="connsiteY6" fmla="*/ 6858000 h 6858000"/>
              <a:gd name="connsiteX7" fmla="*/ 1191186 w 10432916"/>
              <a:gd name="connsiteY7" fmla="*/ 6746310 h 6858000"/>
              <a:gd name="connsiteX8" fmla="*/ 0 w 10432916"/>
              <a:gd name="connsiteY8" fmla="*/ 3429001 h 6858000"/>
              <a:gd name="connsiteX9" fmla="*/ 1191186 w 10432916"/>
              <a:gd name="connsiteY9" fmla="*/ 11169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432916" h="6858000">
                <a:moveTo>
                  <a:pt x="1287962" y="0"/>
                </a:moveTo>
                <a:lnTo>
                  <a:pt x="9144956" y="0"/>
                </a:lnTo>
                <a:lnTo>
                  <a:pt x="9241731" y="111692"/>
                </a:lnTo>
                <a:cubicBezTo>
                  <a:pt x="9985889" y="1013175"/>
                  <a:pt x="10432916" y="2168897"/>
                  <a:pt x="10432916" y="3429001"/>
                </a:cubicBezTo>
                <a:cubicBezTo>
                  <a:pt x="10432916" y="4689105"/>
                  <a:pt x="9985889" y="5844827"/>
                  <a:pt x="9241730" y="6746310"/>
                </a:cubicBezTo>
                <a:lnTo>
                  <a:pt x="9144957" y="6858000"/>
                </a:lnTo>
                <a:lnTo>
                  <a:pt x="1287959" y="6858000"/>
                </a:lnTo>
                <a:lnTo>
                  <a:pt x="1191186" y="6746310"/>
                </a:lnTo>
                <a:cubicBezTo>
                  <a:pt x="447027" y="5844827"/>
                  <a:pt x="0" y="4689105"/>
                  <a:pt x="0" y="3429001"/>
                </a:cubicBezTo>
                <a:cubicBezTo>
                  <a:pt x="0" y="2168897"/>
                  <a:pt x="447027" y="1013175"/>
                  <a:pt x="1191186" y="111692"/>
                </a:cubicBezTo>
                <a:close/>
              </a:path>
            </a:pathLst>
          </a:custGeom>
          <a:solidFill>
            <a:schemeClr val="tx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Shape 12">
            <a:extLst>
              <a:ext uri="{FF2B5EF4-FFF2-40B4-BE49-F238E27FC236}">
                <a16:creationId xmlns:a16="http://schemas.microsoft.com/office/drawing/2014/main" id="{5C8F04BD-D093-45D0-B54C-50FDB308B4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1206" y="0"/>
            <a:ext cx="7441587" cy="6858000"/>
          </a:xfrm>
          <a:custGeom>
            <a:avLst/>
            <a:gdLst>
              <a:gd name="connsiteX0" fmla="*/ 1378575 w 9922116"/>
              <a:gd name="connsiteY0" fmla="*/ 0 h 6858000"/>
              <a:gd name="connsiteX1" fmla="*/ 8543542 w 9922116"/>
              <a:gd name="connsiteY1" fmla="*/ 0 h 6858000"/>
              <a:gd name="connsiteX2" fmla="*/ 8633323 w 9922116"/>
              <a:gd name="connsiteY2" fmla="*/ 94145 h 6858000"/>
              <a:gd name="connsiteX3" fmla="*/ 9922116 w 9922116"/>
              <a:gd name="connsiteY3" fmla="*/ 3429001 h 6858000"/>
              <a:gd name="connsiteX4" fmla="*/ 8633323 w 9922116"/>
              <a:gd name="connsiteY4" fmla="*/ 6763858 h 6858000"/>
              <a:gd name="connsiteX5" fmla="*/ 8543544 w 9922116"/>
              <a:gd name="connsiteY5" fmla="*/ 6858000 h 6858000"/>
              <a:gd name="connsiteX6" fmla="*/ 1378573 w 9922116"/>
              <a:gd name="connsiteY6" fmla="*/ 6858000 h 6858000"/>
              <a:gd name="connsiteX7" fmla="*/ 1288793 w 9922116"/>
              <a:gd name="connsiteY7" fmla="*/ 6763858 h 6858000"/>
              <a:gd name="connsiteX8" fmla="*/ 0 w 9922116"/>
              <a:gd name="connsiteY8" fmla="*/ 3429001 h 6858000"/>
              <a:gd name="connsiteX9" fmla="*/ 1288793 w 9922116"/>
              <a:gd name="connsiteY9" fmla="*/ 9414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22116" h="6858000">
                <a:moveTo>
                  <a:pt x="1378575" y="0"/>
                </a:moveTo>
                <a:lnTo>
                  <a:pt x="8543542" y="0"/>
                </a:lnTo>
                <a:lnTo>
                  <a:pt x="8633323" y="94145"/>
                </a:lnTo>
                <a:cubicBezTo>
                  <a:pt x="9434072" y="974941"/>
                  <a:pt x="9922116" y="2144991"/>
                  <a:pt x="9922116" y="3429001"/>
                </a:cubicBezTo>
                <a:cubicBezTo>
                  <a:pt x="9922116" y="4713011"/>
                  <a:pt x="9434072" y="5883061"/>
                  <a:pt x="8633323" y="6763858"/>
                </a:cubicBezTo>
                <a:lnTo>
                  <a:pt x="8543544" y="6858000"/>
                </a:lnTo>
                <a:lnTo>
                  <a:pt x="1378573" y="6858000"/>
                </a:lnTo>
                <a:lnTo>
                  <a:pt x="1288793" y="6763858"/>
                </a:lnTo>
                <a:cubicBezTo>
                  <a:pt x="488044" y="5883061"/>
                  <a:pt x="0" y="4713011"/>
                  <a:pt x="0" y="3429001"/>
                </a:cubicBezTo>
                <a:cubicBezTo>
                  <a:pt x="0" y="2144991"/>
                  <a:pt x="488044" y="974941"/>
                  <a:pt x="1288793" y="94145"/>
                </a:cubicBezTo>
                <a:close/>
              </a:path>
            </a:pathLst>
          </a:custGeom>
          <a:solidFill>
            <a:schemeClr val="bg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1733360" y="365760"/>
            <a:ext cx="5677279" cy="1288238"/>
          </a:xfrm>
        </p:spPr>
        <p:txBody>
          <a:bodyPr anchor="ctr">
            <a:normAutofit/>
          </a:bodyPr>
          <a:lstStyle/>
          <a:p>
            <a:pPr algn="ctr"/>
            <a:r>
              <a:rPr lang="en-US"/>
              <a:t>Companionate Love</a:t>
            </a:r>
          </a:p>
        </p:txBody>
      </p:sp>
      <p:sp>
        <p:nvSpPr>
          <p:cNvPr id="3" name="Content Placeholder 2"/>
          <p:cNvSpPr>
            <a:spLocks noGrp="1"/>
          </p:cNvSpPr>
          <p:nvPr>
            <p:ph idx="1"/>
          </p:nvPr>
        </p:nvSpPr>
        <p:spPr>
          <a:xfrm>
            <a:off x="1624176" y="1956816"/>
            <a:ext cx="5895648" cy="4024884"/>
          </a:xfrm>
        </p:spPr>
        <p:txBody>
          <a:bodyPr anchor="t">
            <a:normAutofit/>
          </a:bodyPr>
          <a:lstStyle/>
          <a:p>
            <a:r>
              <a:rPr lang="en-US" altLang="en-US" dirty="0"/>
              <a:t>The soothing, steady warmth that sustains a relationship</a:t>
            </a:r>
          </a:p>
          <a:p>
            <a:r>
              <a:rPr lang="en-US" altLang="en-US" dirty="0"/>
              <a:t>Involves feelings of mutual respect, trust and affection, while passionate love involves intense feelings and sexual attraction.</a:t>
            </a:r>
          </a:p>
          <a:p>
            <a:r>
              <a:rPr lang="en-US" altLang="en-US" dirty="0"/>
              <a:t>Manifested in a strong bond and intertwining of lives that brings about feelings of comfort and peace</a:t>
            </a:r>
          </a:p>
        </p:txBody>
      </p:sp>
      <p:sp>
        <p:nvSpPr>
          <p:cNvPr id="6" name="Footer Placeholder 3">
            <a:extLst>
              <a:ext uri="{FF2B5EF4-FFF2-40B4-BE49-F238E27FC236}">
                <a16:creationId xmlns:a16="http://schemas.microsoft.com/office/drawing/2014/main" id="{51EC1A95-6DEE-654E-B0A3-66229026392C}"/>
              </a:ext>
            </a:extLst>
          </p:cNvPr>
          <p:cNvSpPr>
            <a:spLocks noGrp="1"/>
          </p:cNvSpPr>
          <p:nvPr>
            <p:ph type="ftr" sz="quarter" idx="11"/>
          </p:nvPr>
        </p:nvSpPr>
        <p:spPr>
          <a:xfrm>
            <a:off x="3063240" y="6199632"/>
            <a:ext cx="3017520" cy="365125"/>
          </a:xfrm>
        </p:spPr>
        <p:txBody>
          <a:bodyPr>
            <a:normAutofit/>
          </a:bodyPr>
          <a:lstStyle/>
          <a:p>
            <a:pPr>
              <a:lnSpc>
                <a:spcPct val="90000"/>
              </a:lnSpc>
              <a:spcAft>
                <a:spcPts val="600"/>
              </a:spcAft>
            </a:pPr>
            <a:r>
              <a:rPr lang="en-US" sz="900">
                <a:solidFill>
                  <a:schemeClr val="tx1">
                    <a:alpha val="80000"/>
                  </a:schemeClr>
                </a:solidFill>
              </a:rPr>
              <a:t>The Science and Application of Positive Psychology © Cambridge University Press 2021</a:t>
            </a:r>
          </a:p>
        </p:txBody>
      </p:sp>
    </p:spTree>
    <p:extLst>
      <p:ext uri="{BB962C8B-B14F-4D97-AF65-F5344CB8AC3E}">
        <p14:creationId xmlns:p14="http://schemas.microsoft.com/office/powerpoint/2010/main" val="61689334"/>
      </p:ext>
    </p:extLst>
  </p:cSld>
  <p:clrMapOvr>
    <a:overrideClrMapping bg1="dk1" tx1="lt1" bg2="dk2" tx2="lt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CFB886-2CA2-4E2E-833C-0D512964D1E6}"/>
              </a:ext>
            </a:extLst>
          </p:cNvPr>
          <p:cNvSpPr>
            <a:spLocks noGrp="1"/>
          </p:cNvSpPr>
          <p:nvPr>
            <p:ph type="title"/>
          </p:nvPr>
        </p:nvSpPr>
        <p:spPr>
          <a:xfrm>
            <a:off x="603504" y="1445494"/>
            <a:ext cx="2712642" cy="4376572"/>
          </a:xfrm>
        </p:spPr>
        <p:txBody>
          <a:bodyPr anchor="ctr">
            <a:normAutofit/>
          </a:bodyPr>
          <a:lstStyle/>
          <a:p>
            <a:r>
              <a:rPr lang="en-US" sz="4200"/>
              <a:t>Love Styles</a:t>
            </a:r>
          </a:p>
        </p:txBody>
      </p:sp>
      <p:sp>
        <p:nvSpPr>
          <p:cNvPr id="12" name="Freeform: Shape 11">
            <a:extLst>
              <a:ext uri="{FF2B5EF4-FFF2-40B4-BE49-F238E27FC236}">
                <a16:creationId xmlns:a16="http://schemas.microsoft.com/office/drawing/2014/main" id="{DFF2AC85-FAA0-4844-813F-83C04D7382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680727" y="0"/>
            <a:ext cx="5460987" cy="6858000"/>
          </a:xfrm>
          <a:custGeom>
            <a:avLst/>
            <a:gdLst>
              <a:gd name="connsiteX0" fmla="*/ 361354 w 7281316"/>
              <a:gd name="connsiteY0" fmla="*/ 0 h 6858000"/>
              <a:gd name="connsiteX1" fmla="*/ 7281316 w 7281316"/>
              <a:gd name="connsiteY1" fmla="*/ 0 h 6858000"/>
              <a:gd name="connsiteX2" fmla="*/ 7281316 w 7281316"/>
              <a:gd name="connsiteY2" fmla="*/ 6858000 h 6858000"/>
              <a:gd name="connsiteX3" fmla="*/ 696735 w 7281316"/>
              <a:gd name="connsiteY3" fmla="*/ 6858000 h 6858000"/>
              <a:gd name="connsiteX4" fmla="*/ 690849 w 7281316"/>
              <a:gd name="connsiteY4" fmla="*/ 6842426 h 6858000"/>
              <a:gd name="connsiteX5" fmla="*/ 335637 w 7281316"/>
              <a:gd name="connsiteY5" fmla="*/ 9472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281316" h="6858000">
                <a:moveTo>
                  <a:pt x="361354" y="0"/>
                </a:moveTo>
                <a:lnTo>
                  <a:pt x="7281316" y="0"/>
                </a:lnTo>
                <a:lnTo>
                  <a:pt x="7281316" y="6858000"/>
                </a:lnTo>
                <a:lnTo>
                  <a:pt x="696735" y="6858000"/>
                </a:lnTo>
                <a:lnTo>
                  <a:pt x="690849" y="6842426"/>
                </a:lnTo>
                <a:cubicBezTo>
                  <a:pt x="-65870" y="4704140"/>
                  <a:pt x="-226206" y="2374054"/>
                  <a:pt x="335637" y="94722"/>
                </a:cubicBezTo>
                <a:close/>
              </a:path>
            </a:pathLst>
          </a:custGeom>
          <a:solidFill>
            <a:schemeClr val="tx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89CC0F1E-BAA2-47B1-8F83-7ECB9FD9E0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92168" y="0"/>
            <a:ext cx="5249546" cy="6858000"/>
          </a:xfrm>
          <a:custGeom>
            <a:avLst/>
            <a:gdLst>
              <a:gd name="connsiteX0" fmla="*/ 6999394 w 6999394"/>
              <a:gd name="connsiteY0" fmla="*/ 0 h 6858000"/>
              <a:gd name="connsiteX1" fmla="*/ 6999394 w 6999394"/>
              <a:gd name="connsiteY1" fmla="*/ 6858000 h 6858000"/>
              <a:gd name="connsiteX2" fmla="*/ 717029 w 6999394"/>
              <a:gd name="connsiteY2" fmla="*/ 6858000 h 6858000"/>
              <a:gd name="connsiteX3" fmla="*/ 623642 w 6999394"/>
              <a:gd name="connsiteY3" fmla="*/ 6599363 h 6858000"/>
              <a:gd name="connsiteX4" fmla="*/ 319533 w 6999394"/>
              <a:gd name="connsiteY4" fmla="*/ 193787 h 6858000"/>
              <a:gd name="connsiteX5" fmla="*/ 371685 w 6999394"/>
              <a:gd name="connsiteY5" fmla="*/ 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999394" h="6858000">
                <a:moveTo>
                  <a:pt x="6999394" y="0"/>
                </a:moveTo>
                <a:lnTo>
                  <a:pt x="6999394" y="6858000"/>
                </a:lnTo>
                <a:lnTo>
                  <a:pt x="717029" y="6858000"/>
                </a:lnTo>
                <a:lnTo>
                  <a:pt x="623642" y="6599363"/>
                </a:lnTo>
                <a:cubicBezTo>
                  <a:pt x="-67685" y="4563346"/>
                  <a:pt x="-206622" y="2355719"/>
                  <a:pt x="319533" y="193787"/>
                </a:cubicBezTo>
                <a:lnTo>
                  <a:pt x="371685" y="1"/>
                </a:lnTo>
                <a:close/>
              </a:path>
            </a:pathLst>
          </a:custGeom>
          <a:solidFill>
            <a:schemeClr val="tx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ontent Placeholder 6">
            <a:extLst>
              <a:ext uri="{FF2B5EF4-FFF2-40B4-BE49-F238E27FC236}">
                <a16:creationId xmlns:a16="http://schemas.microsoft.com/office/drawing/2014/main" id="{6DFC006A-6D09-4DF3-BCEB-FEA5F16BE4F3}"/>
              </a:ext>
            </a:extLst>
          </p:cNvPr>
          <p:cNvSpPr>
            <a:spLocks noGrp="1"/>
          </p:cNvSpPr>
          <p:nvPr>
            <p:ph idx="1"/>
          </p:nvPr>
        </p:nvSpPr>
        <p:spPr>
          <a:xfrm>
            <a:off x="4572000" y="546538"/>
            <a:ext cx="4126375" cy="5370372"/>
          </a:xfrm>
        </p:spPr>
        <p:txBody>
          <a:bodyPr anchor="ctr">
            <a:noAutofit/>
          </a:bodyPr>
          <a:lstStyle/>
          <a:p>
            <a:pPr marL="0" indent="0">
              <a:buNone/>
            </a:pPr>
            <a:r>
              <a:rPr lang="en-US" sz="2000" dirty="0">
                <a:solidFill>
                  <a:schemeClr val="bg1"/>
                </a:solidFill>
              </a:rPr>
              <a:t>Susan and Clyde Hendrick (1986) propose a more complex taxonomy of love, comprising six </a:t>
            </a:r>
            <a:r>
              <a:rPr lang="en-US" sz="2000" i="1" dirty="0">
                <a:solidFill>
                  <a:schemeClr val="bg1"/>
                </a:solidFill>
              </a:rPr>
              <a:t>love styles:</a:t>
            </a:r>
          </a:p>
          <a:p>
            <a:pPr lvl="1"/>
            <a:r>
              <a:rPr lang="en-US" sz="2000" i="1" dirty="0">
                <a:solidFill>
                  <a:schemeClr val="bg1"/>
                </a:solidFill>
              </a:rPr>
              <a:t>Eros</a:t>
            </a:r>
            <a:r>
              <a:rPr lang="en-US" sz="2000" dirty="0">
                <a:solidFill>
                  <a:schemeClr val="bg1"/>
                </a:solidFill>
              </a:rPr>
              <a:t>: passionate love, intense emotions of desire and sometimes obsessive thoughts.</a:t>
            </a:r>
          </a:p>
          <a:p>
            <a:pPr lvl="1"/>
            <a:r>
              <a:rPr lang="en-US" sz="2000" i="1" dirty="0">
                <a:solidFill>
                  <a:schemeClr val="bg1"/>
                </a:solidFill>
              </a:rPr>
              <a:t>Ludus</a:t>
            </a:r>
            <a:r>
              <a:rPr lang="en-US" sz="2000" dirty="0">
                <a:solidFill>
                  <a:schemeClr val="bg1"/>
                </a:solidFill>
              </a:rPr>
              <a:t>: “Game-playing” or flirtatious love, attraction or affection without commitment.</a:t>
            </a:r>
          </a:p>
          <a:p>
            <a:pPr lvl="1"/>
            <a:r>
              <a:rPr lang="en-US" sz="2000" dirty="0">
                <a:solidFill>
                  <a:schemeClr val="bg1"/>
                </a:solidFill>
              </a:rPr>
              <a:t>Storge: Committed love, warmth and affection.</a:t>
            </a:r>
          </a:p>
          <a:p>
            <a:pPr lvl="1"/>
            <a:r>
              <a:rPr lang="en-US" sz="2000" i="1" dirty="0">
                <a:solidFill>
                  <a:schemeClr val="bg1"/>
                </a:solidFill>
              </a:rPr>
              <a:t>Pragma</a:t>
            </a:r>
            <a:r>
              <a:rPr lang="en-US" sz="2000" dirty="0">
                <a:solidFill>
                  <a:schemeClr val="bg1"/>
                </a:solidFill>
              </a:rPr>
              <a:t>: Practical love, pragmatic reasons to be together.</a:t>
            </a:r>
          </a:p>
          <a:p>
            <a:pPr lvl="1"/>
            <a:r>
              <a:rPr lang="en-US" sz="2000" i="1" dirty="0">
                <a:solidFill>
                  <a:schemeClr val="bg1"/>
                </a:solidFill>
              </a:rPr>
              <a:t>Mania</a:t>
            </a:r>
            <a:r>
              <a:rPr lang="en-US" sz="2000" dirty="0">
                <a:solidFill>
                  <a:schemeClr val="bg1"/>
                </a:solidFill>
              </a:rPr>
              <a:t>: Painful love, sense of jealousy or dependence.</a:t>
            </a:r>
          </a:p>
          <a:p>
            <a:pPr lvl="1"/>
            <a:r>
              <a:rPr lang="en-US" sz="2000" i="1" dirty="0">
                <a:solidFill>
                  <a:schemeClr val="bg1"/>
                </a:solidFill>
              </a:rPr>
              <a:t>Agape</a:t>
            </a:r>
            <a:r>
              <a:rPr lang="en-US" sz="2000" dirty="0">
                <a:solidFill>
                  <a:schemeClr val="bg1"/>
                </a:solidFill>
              </a:rPr>
              <a:t>: Selfless love, orientation toward giving rather than receiving. </a:t>
            </a:r>
          </a:p>
        </p:txBody>
      </p:sp>
      <p:sp>
        <p:nvSpPr>
          <p:cNvPr id="5" name="Footer Placeholder 3">
            <a:extLst>
              <a:ext uri="{FF2B5EF4-FFF2-40B4-BE49-F238E27FC236}">
                <a16:creationId xmlns:a16="http://schemas.microsoft.com/office/drawing/2014/main" id="{89766491-8488-5D43-B5D4-EAAF34BE76F5}"/>
              </a:ext>
            </a:extLst>
          </p:cNvPr>
          <p:cNvSpPr>
            <a:spLocks noGrp="1"/>
          </p:cNvSpPr>
          <p:nvPr>
            <p:ph type="ftr" sz="quarter" idx="11"/>
          </p:nvPr>
        </p:nvSpPr>
        <p:spPr>
          <a:xfrm>
            <a:off x="603502" y="6199632"/>
            <a:ext cx="3758184" cy="365125"/>
          </a:xfrm>
        </p:spPr>
        <p:txBody>
          <a:bodyPr>
            <a:normAutofit/>
          </a:bodyPr>
          <a:lstStyle/>
          <a:p>
            <a:pPr algn="l">
              <a:lnSpc>
                <a:spcPct val="90000"/>
              </a:lnSpc>
              <a:spcAft>
                <a:spcPts val="600"/>
              </a:spcAft>
            </a:pPr>
            <a:r>
              <a:rPr lang="en-US" sz="900">
                <a:solidFill>
                  <a:schemeClr val="tx1">
                    <a:alpha val="80000"/>
                  </a:schemeClr>
                </a:solidFill>
              </a:rPr>
              <a:t>The Science and Application of Positive Psychology © Cambridge University Press 2021</a:t>
            </a:r>
          </a:p>
        </p:txBody>
      </p:sp>
    </p:spTree>
    <p:extLst>
      <p:ext uri="{BB962C8B-B14F-4D97-AF65-F5344CB8AC3E}">
        <p14:creationId xmlns:p14="http://schemas.microsoft.com/office/powerpoint/2010/main" val="2424255848"/>
      </p:ext>
    </p:extLst>
  </p:cSld>
  <p:clrMapOvr>
    <a:overrideClrMapping bg1="dk1" tx1="lt1" bg2="dk2" tx2="lt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CFB886-2CA2-4E2E-833C-0D512964D1E6}"/>
              </a:ext>
            </a:extLst>
          </p:cNvPr>
          <p:cNvSpPr>
            <a:spLocks noGrp="1"/>
          </p:cNvSpPr>
          <p:nvPr>
            <p:ph type="title"/>
          </p:nvPr>
        </p:nvSpPr>
        <p:spPr>
          <a:xfrm>
            <a:off x="603504" y="1445494"/>
            <a:ext cx="2712642" cy="4376572"/>
          </a:xfrm>
        </p:spPr>
        <p:txBody>
          <a:bodyPr anchor="ctr">
            <a:normAutofit/>
          </a:bodyPr>
          <a:lstStyle/>
          <a:p>
            <a:r>
              <a:rPr lang="en-US" sz="4200"/>
              <a:t>Love Styles</a:t>
            </a:r>
          </a:p>
        </p:txBody>
      </p:sp>
      <p:sp>
        <p:nvSpPr>
          <p:cNvPr id="12" name="Freeform: Shape 11">
            <a:extLst>
              <a:ext uri="{FF2B5EF4-FFF2-40B4-BE49-F238E27FC236}">
                <a16:creationId xmlns:a16="http://schemas.microsoft.com/office/drawing/2014/main" id="{DFF2AC85-FAA0-4844-813F-83C04D7382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680727" y="0"/>
            <a:ext cx="5460987" cy="6858000"/>
          </a:xfrm>
          <a:custGeom>
            <a:avLst/>
            <a:gdLst>
              <a:gd name="connsiteX0" fmla="*/ 361354 w 7281316"/>
              <a:gd name="connsiteY0" fmla="*/ 0 h 6858000"/>
              <a:gd name="connsiteX1" fmla="*/ 7281316 w 7281316"/>
              <a:gd name="connsiteY1" fmla="*/ 0 h 6858000"/>
              <a:gd name="connsiteX2" fmla="*/ 7281316 w 7281316"/>
              <a:gd name="connsiteY2" fmla="*/ 6858000 h 6858000"/>
              <a:gd name="connsiteX3" fmla="*/ 696735 w 7281316"/>
              <a:gd name="connsiteY3" fmla="*/ 6858000 h 6858000"/>
              <a:gd name="connsiteX4" fmla="*/ 690849 w 7281316"/>
              <a:gd name="connsiteY4" fmla="*/ 6842426 h 6858000"/>
              <a:gd name="connsiteX5" fmla="*/ 335637 w 7281316"/>
              <a:gd name="connsiteY5" fmla="*/ 9472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281316" h="6858000">
                <a:moveTo>
                  <a:pt x="361354" y="0"/>
                </a:moveTo>
                <a:lnTo>
                  <a:pt x="7281316" y="0"/>
                </a:lnTo>
                <a:lnTo>
                  <a:pt x="7281316" y="6858000"/>
                </a:lnTo>
                <a:lnTo>
                  <a:pt x="696735" y="6858000"/>
                </a:lnTo>
                <a:lnTo>
                  <a:pt x="690849" y="6842426"/>
                </a:lnTo>
                <a:cubicBezTo>
                  <a:pt x="-65870" y="4704140"/>
                  <a:pt x="-226206" y="2374054"/>
                  <a:pt x="335637" y="94722"/>
                </a:cubicBezTo>
                <a:close/>
              </a:path>
            </a:pathLst>
          </a:custGeom>
          <a:solidFill>
            <a:schemeClr val="tx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89CC0F1E-BAA2-47B1-8F83-7ECB9FD9E0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92168" y="0"/>
            <a:ext cx="5249546" cy="6858000"/>
          </a:xfrm>
          <a:custGeom>
            <a:avLst/>
            <a:gdLst>
              <a:gd name="connsiteX0" fmla="*/ 6999394 w 6999394"/>
              <a:gd name="connsiteY0" fmla="*/ 0 h 6858000"/>
              <a:gd name="connsiteX1" fmla="*/ 6999394 w 6999394"/>
              <a:gd name="connsiteY1" fmla="*/ 6858000 h 6858000"/>
              <a:gd name="connsiteX2" fmla="*/ 717029 w 6999394"/>
              <a:gd name="connsiteY2" fmla="*/ 6858000 h 6858000"/>
              <a:gd name="connsiteX3" fmla="*/ 623642 w 6999394"/>
              <a:gd name="connsiteY3" fmla="*/ 6599363 h 6858000"/>
              <a:gd name="connsiteX4" fmla="*/ 319533 w 6999394"/>
              <a:gd name="connsiteY4" fmla="*/ 193787 h 6858000"/>
              <a:gd name="connsiteX5" fmla="*/ 371685 w 6999394"/>
              <a:gd name="connsiteY5" fmla="*/ 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999394" h="6858000">
                <a:moveTo>
                  <a:pt x="6999394" y="0"/>
                </a:moveTo>
                <a:lnTo>
                  <a:pt x="6999394" y="6858000"/>
                </a:lnTo>
                <a:lnTo>
                  <a:pt x="717029" y="6858000"/>
                </a:lnTo>
                <a:lnTo>
                  <a:pt x="623642" y="6599363"/>
                </a:lnTo>
                <a:cubicBezTo>
                  <a:pt x="-67685" y="4563346"/>
                  <a:pt x="-206622" y="2355719"/>
                  <a:pt x="319533" y="193787"/>
                </a:cubicBezTo>
                <a:lnTo>
                  <a:pt x="371685" y="1"/>
                </a:lnTo>
                <a:close/>
              </a:path>
            </a:pathLst>
          </a:custGeom>
          <a:solidFill>
            <a:schemeClr val="tx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ontent Placeholder 6">
            <a:extLst>
              <a:ext uri="{FF2B5EF4-FFF2-40B4-BE49-F238E27FC236}">
                <a16:creationId xmlns:a16="http://schemas.microsoft.com/office/drawing/2014/main" id="{6DFC006A-6D09-4DF3-BCEB-FEA5F16BE4F3}"/>
              </a:ext>
            </a:extLst>
          </p:cNvPr>
          <p:cNvSpPr>
            <a:spLocks noGrp="1"/>
          </p:cNvSpPr>
          <p:nvPr>
            <p:ph idx="1"/>
          </p:nvPr>
        </p:nvSpPr>
        <p:spPr>
          <a:xfrm>
            <a:off x="4361686" y="546537"/>
            <a:ext cx="4488024" cy="6190593"/>
          </a:xfrm>
        </p:spPr>
        <p:txBody>
          <a:bodyPr anchor="ctr">
            <a:noAutofit/>
          </a:bodyPr>
          <a:lstStyle/>
          <a:p>
            <a:pPr marL="0" lvl="0" indent="0" algn="ctr">
              <a:buNone/>
            </a:pPr>
            <a:r>
              <a:rPr lang="en-US" sz="2000" dirty="0">
                <a:solidFill>
                  <a:schemeClr val="bg1"/>
                </a:solidFill>
              </a:rPr>
              <a:t>Henrick study on dating couples</a:t>
            </a:r>
          </a:p>
          <a:p>
            <a:pPr marL="0" lvl="0" indent="0">
              <a:buNone/>
            </a:pPr>
            <a:r>
              <a:rPr lang="en-US" sz="2000" dirty="0">
                <a:solidFill>
                  <a:schemeClr val="bg1"/>
                </a:solidFill>
              </a:rPr>
              <a:t>Happy couples showed similar love styles</a:t>
            </a:r>
          </a:p>
          <a:p>
            <a:pPr marL="0" lvl="0" indent="0">
              <a:buNone/>
            </a:pPr>
            <a:r>
              <a:rPr lang="en-US" sz="2000" dirty="0">
                <a:solidFill>
                  <a:schemeClr val="bg1"/>
                </a:solidFill>
              </a:rPr>
              <a:t>Higher scores on eros—higher relationship satisfaction</a:t>
            </a:r>
          </a:p>
          <a:p>
            <a:pPr marL="0" lvl="0" indent="0">
              <a:buNone/>
            </a:pPr>
            <a:r>
              <a:rPr lang="en-US" sz="2000" dirty="0">
                <a:solidFill>
                  <a:schemeClr val="bg1"/>
                </a:solidFill>
              </a:rPr>
              <a:t>Male are more satisfied with the relationship when women are passionate and altruistic</a:t>
            </a:r>
          </a:p>
          <a:p>
            <a:pPr marL="0" lvl="0" indent="0" hangingPunct="0">
              <a:buNone/>
            </a:pPr>
            <a:r>
              <a:rPr lang="en-US" sz="2000" kern="1200" dirty="0">
                <a:solidFill>
                  <a:schemeClr val="bg1"/>
                </a:solidFill>
                <a:effectLst/>
                <a:latin typeface="+mn-lt"/>
                <a:ea typeface="+mn-ea"/>
                <a:cs typeface="+mn-cs"/>
              </a:rPr>
              <a:t>Eros, storage, </a:t>
            </a:r>
            <a:r>
              <a:rPr lang="en-US" sz="2000" kern="1200" dirty="0" err="1">
                <a:solidFill>
                  <a:schemeClr val="bg1"/>
                </a:solidFill>
                <a:effectLst/>
                <a:latin typeface="+mn-lt"/>
                <a:ea typeface="+mn-ea"/>
                <a:cs typeface="+mn-cs"/>
              </a:rPr>
              <a:t>ludus</a:t>
            </a:r>
            <a:r>
              <a:rPr lang="en-US" sz="2000" kern="1200" dirty="0">
                <a:solidFill>
                  <a:schemeClr val="bg1"/>
                </a:solidFill>
                <a:effectLst/>
                <a:latin typeface="+mn-lt"/>
                <a:ea typeface="+mn-ea"/>
                <a:cs typeface="+mn-cs"/>
              </a:rPr>
              <a:t>, pragma, mania, agape. </a:t>
            </a:r>
          </a:p>
          <a:p>
            <a:pPr marL="0" lvl="0" indent="0" hangingPunct="0">
              <a:buNone/>
            </a:pPr>
            <a:r>
              <a:rPr lang="en-US" sz="2000" kern="1200" dirty="0">
                <a:solidFill>
                  <a:schemeClr val="bg1"/>
                </a:solidFill>
                <a:effectLst/>
                <a:latin typeface="+mn-lt"/>
                <a:ea typeface="+mn-ea"/>
                <a:cs typeface="+mn-cs"/>
              </a:rPr>
              <a:t>People who scored high on the eros style tended to be paired with partners who also scored high on it. </a:t>
            </a:r>
          </a:p>
          <a:p>
            <a:pPr marL="0" lvl="0" indent="0" hangingPunct="0">
              <a:buNone/>
            </a:pPr>
            <a:r>
              <a:rPr lang="en-US" sz="2000" kern="1200" dirty="0">
                <a:solidFill>
                  <a:schemeClr val="bg1"/>
                </a:solidFill>
                <a:effectLst/>
                <a:latin typeface="+mn-lt"/>
                <a:ea typeface="+mn-ea"/>
                <a:cs typeface="+mn-cs"/>
              </a:rPr>
              <a:t>Ludus style, in women, significantly decreased satisfaction for their male partners. </a:t>
            </a:r>
          </a:p>
          <a:p>
            <a:pPr marL="0" lvl="0" indent="0" hangingPunct="0">
              <a:buNone/>
            </a:pPr>
            <a:r>
              <a:rPr lang="en-US" sz="2000" kern="1200" dirty="0">
                <a:solidFill>
                  <a:schemeClr val="bg1"/>
                </a:solidFill>
                <a:effectLst/>
                <a:latin typeface="+mn-lt"/>
                <a:ea typeface="+mn-ea"/>
                <a:cs typeface="+mn-cs"/>
              </a:rPr>
              <a:t>Mania style in men decreased satisfaction for their female partners.</a:t>
            </a:r>
          </a:p>
          <a:p>
            <a:pPr lvl="1"/>
            <a:endParaRPr lang="en-US" dirty="0">
              <a:solidFill>
                <a:schemeClr val="bg1"/>
              </a:solidFill>
            </a:endParaRPr>
          </a:p>
          <a:p>
            <a:pPr marL="0" indent="0">
              <a:buNone/>
            </a:pPr>
            <a:endParaRPr lang="en-US" sz="2000" dirty="0">
              <a:solidFill>
                <a:schemeClr val="bg1"/>
              </a:solidFill>
            </a:endParaRPr>
          </a:p>
        </p:txBody>
      </p:sp>
      <p:sp>
        <p:nvSpPr>
          <p:cNvPr id="5" name="Footer Placeholder 3">
            <a:extLst>
              <a:ext uri="{FF2B5EF4-FFF2-40B4-BE49-F238E27FC236}">
                <a16:creationId xmlns:a16="http://schemas.microsoft.com/office/drawing/2014/main" id="{89766491-8488-5D43-B5D4-EAAF34BE76F5}"/>
              </a:ext>
            </a:extLst>
          </p:cNvPr>
          <p:cNvSpPr>
            <a:spLocks noGrp="1"/>
          </p:cNvSpPr>
          <p:nvPr>
            <p:ph type="ftr" sz="quarter" idx="11"/>
          </p:nvPr>
        </p:nvSpPr>
        <p:spPr>
          <a:xfrm>
            <a:off x="603502" y="6199632"/>
            <a:ext cx="3758184" cy="365125"/>
          </a:xfrm>
        </p:spPr>
        <p:txBody>
          <a:bodyPr>
            <a:normAutofit/>
          </a:bodyPr>
          <a:lstStyle/>
          <a:p>
            <a:pPr algn="l">
              <a:lnSpc>
                <a:spcPct val="90000"/>
              </a:lnSpc>
              <a:spcAft>
                <a:spcPts val="600"/>
              </a:spcAft>
            </a:pPr>
            <a:r>
              <a:rPr lang="en-US" sz="900">
                <a:solidFill>
                  <a:schemeClr val="tx1">
                    <a:alpha val="80000"/>
                  </a:schemeClr>
                </a:solidFill>
              </a:rPr>
              <a:t>The Science and Application of Positive Psychology © Cambridge University Press 2021</a:t>
            </a:r>
          </a:p>
        </p:txBody>
      </p:sp>
    </p:spTree>
    <p:extLst>
      <p:ext uri="{BB962C8B-B14F-4D97-AF65-F5344CB8AC3E}">
        <p14:creationId xmlns:p14="http://schemas.microsoft.com/office/powerpoint/2010/main" val="3228942920"/>
      </p:ext>
    </p:extLst>
  </p:cSld>
  <p:clrMapOvr>
    <a:overrideClrMapping bg1="dk1" tx1="lt1" bg2="dk2" tx2="lt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76EFD3D9-44F0-4267-BCC1-1613E79D82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6">
            <a:extLst>
              <a:ext uri="{FF2B5EF4-FFF2-40B4-BE49-F238E27FC236}">
                <a16:creationId xmlns:a16="http://schemas.microsoft.com/office/drawing/2014/main" id="{A779A851-95D6-41AF-937A-B0E4B7F6FA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106623" y="900814"/>
            <a:ext cx="569713" cy="5710965"/>
          </a:xfrm>
          <a:custGeom>
            <a:avLst/>
            <a:gdLst>
              <a:gd name="T0" fmla="*/ 414 w 414"/>
              <a:gd name="T1" fmla="*/ 2447 h 2447"/>
              <a:gd name="T2" fmla="*/ 0 w 414"/>
              <a:gd name="T3" fmla="*/ 2247 h 2447"/>
              <a:gd name="T4" fmla="*/ 0 w 414"/>
              <a:gd name="T5" fmla="*/ 0 h 2447"/>
              <a:gd name="T6" fmla="*/ 414 w 414"/>
              <a:gd name="T7" fmla="*/ 200 h 2447"/>
              <a:gd name="T8" fmla="*/ 414 w 414"/>
              <a:gd name="T9" fmla="*/ 2447 h 2447"/>
            </a:gdLst>
            <a:ahLst/>
            <a:cxnLst>
              <a:cxn ang="0">
                <a:pos x="T0" y="T1"/>
              </a:cxn>
              <a:cxn ang="0">
                <a:pos x="T2" y="T3"/>
              </a:cxn>
              <a:cxn ang="0">
                <a:pos x="T4" y="T5"/>
              </a:cxn>
              <a:cxn ang="0">
                <a:pos x="T6" y="T7"/>
              </a:cxn>
              <a:cxn ang="0">
                <a:pos x="T8" y="T9"/>
              </a:cxn>
            </a:cxnLst>
            <a:rect l="0" t="0" r="r" b="b"/>
            <a:pathLst>
              <a:path w="414" h="2447">
                <a:moveTo>
                  <a:pt x="414" y="2447"/>
                </a:moveTo>
                <a:lnTo>
                  <a:pt x="0" y="2247"/>
                </a:lnTo>
                <a:lnTo>
                  <a:pt x="0" y="0"/>
                </a:lnTo>
                <a:lnTo>
                  <a:pt x="414" y="200"/>
                </a:lnTo>
                <a:lnTo>
                  <a:pt x="414" y="244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6" name="Freeform 7">
            <a:extLst>
              <a:ext uri="{FF2B5EF4-FFF2-40B4-BE49-F238E27FC236}">
                <a16:creationId xmlns:a16="http://schemas.microsoft.com/office/drawing/2014/main" id="{953FB2E7-B6CB-429C-81EB-D9516D6D5C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108327" y="633165"/>
            <a:ext cx="361991" cy="5521414"/>
          </a:xfrm>
          <a:custGeom>
            <a:avLst/>
            <a:gdLst>
              <a:gd name="T0" fmla="*/ 209 w 209"/>
              <a:gd name="T1" fmla="*/ 2246 h 2358"/>
              <a:gd name="T2" fmla="*/ 0 w 209"/>
              <a:gd name="T3" fmla="*/ 2358 h 2358"/>
              <a:gd name="T4" fmla="*/ 0 w 209"/>
              <a:gd name="T5" fmla="*/ 111 h 2358"/>
              <a:gd name="T6" fmla="*/ 209 w 209"/>
              <a:gd name="T7" fmla="*/ 0 h 2358"/>
              <a:gd name="T8" fmla="*/ 209 w 209"/>
              <a:gd name="T9" fmla="*/ 2246 h 2358"/>
            </a:gdLst>
            <a:ahLst/>
            <a:cxnLst>
              <a:cxn ang="0">
                <a:pos x="T0" y="T1"/>
              </a:cxn>
              <a:cxn ang="0">
                <a:pos x="T2" y="T3"/>
              </a:cxn>
              <a:cxn ang="0">
                <a:pos x="T4" y="T5"/>
              </a:cxn>
              <a:cxn ang="0">
                <a:pos x="T6" y="T7"/>
              </a:cxn>
              <a:cxn ang="0">
                <a:pos x="T8" y="T9"/>
              </a:cxn>
            </a:cxnLst>
            <a:rect l="0" t="0" r="r" b="b"/>
            <a:pathLst>
              <a:path w="209" h="2358">
                <a:moveTo>
                  <a:pt x="209" y="2246"/>
                </a:moveTo>
                <a:lnTo>
                  <a:pt x="0" y="2358"/>
                </a:lnTo>
                <a:lnTo>
                  <a:pt x="0" y="111"/>
                </a:lnTo>
                <a:lnTo>
                  <a:pt x="209" y="0"/>
                </a:lnTo>
                <a:lnTo>
                  <a:pt x="209" y="2246"/>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8" name="Freeform: Shape 17">
            <a:extLst>
              <a:ext uri="{FF2B5EF4-FFF2-40B4-BE49-F238E27FC236}">
                <a16:creationId xmlns:a16="http://schemas.microsoft.com/office/drawing/2014/main" id="{2EC40DB1-B719-4A13-9A4D-0966B4B278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5965" y="636723"/>
            <a:ext cx="3000047" cy="5257799"/>
          </a:xfrm>
          <a:custGeom>
            <a:avLst/>
            <a:gdLst>
              <a:gd name="connsiteX0" fmla="*/ 0 w 4634682"/>
              <a:gd name="connsiteY0" fmla="*/ 0 h 5257799"/>
              <a:gd name="connsiteX1" fmla="*/ 4634682 w 4634682"/>
              <a:gd name="connsiteY1" fmla="*/ 0 h 5257799"/>
              <a:gd name="connsiteX2" fmla="*/ 4634682 w 4634682"/>
              <a:gd name="connsiteY2" fmla="*/ 5257799 h 5257799"/>
              <a:gd name="connsiteX3" fmla="*/ 0 w 4634682"/>
              <a:gd name="connsiteY3" fmla="*/ 5257799 h 5257799"/>
            </a:gdLst>
            <a:ahLst/>
            <a:cxnLst>
              <a:cxn ang="0">
                <a:pos x="connsiteX0" y="connsiteY0"/>
              </a:cxn>
              <a:cxn ang="0">
                <a:pos x="connsiteX1" y="connsiteY1"/>
              </a:cxn>
              <a:cxn ang="0">
                <a:pos x="connsiteX2" y="connsiteY2"/>
              </a:cxn>
              <a:cxn ang="0">
                <a:pos x="connsiteX3" y="connsiteY3"/>
              </a:cxn>
            </a:cxnLst>
            <a:rect l="l" t="t" r="r" b="b"/>
            <a:pathLst>
              <a:path w="4634682" h="5257799">
                <a:moveTo>
                  <a:pt x="0" y="0"/>
                </a:moveTo>
                <a:lnTo>
                  <a:pt x="4634682" y="0"/>
                </a:lnTo>
                <a:lnTo>
                  <a:pt x="4634682" y="5257799"/>
                </a:lnTo>
                <a:lnTo>
                  <a:pt x="0" y="5257799"/>
                </a:lnTo>
                <a:close/>
              </a:path>
            </a:pathLst>
          </a:cu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C9CFB886-2CA2-4E2E-833C-0D512964D1E6}"/>
              </a:ext>
            </a:extLst>
          </p:cNvPr>
          <p:cNvSpPr>
            <a:spLocks noGrp="1"/>
          </p:cNvSpPr>
          <p:nvPr>
            <p:ph type="title"/>
          </p:nvPr>
        </p:nvSpPr>
        <p:spPr>
          <a:xfrm>
            <a:off x="701154" y="982272"/>
            <a:ext cx="2541314" cy="4560970"/>
          </a:xfrm>
        </p:spPr>
        <p:txBody>
          <a:bodyPr>
            <a:normAutofit/>
          </a:bodyPr>
          <a:lstStyle/>
          <a:p>
            <a:r>
              <a:rPr lang="en-US" sz="3500">
                <a:solidFill>
                  <a:srgbClr val="FFFFFF"/>
                </a:solidFill>
              </a:rPr>
              <a:t>Triangular Theory of Love</a:t>
            </a:r>
          </a:p>
        </p:txBody>
      </p:sp>
      <p:sp>
        <p:nvSpPr>
          <p:cNvPr id="20" name="Rectangle 8">
            <a:extLst>
              <a:ext uri="{FF2B5EF4-FFF2-40B4-BE49-F238E27FC236}">
                <a16:creationId xmlns:a16="http://schemas.microsoft.com/office/drawing/2014/main" id="{82211336-CFF3-412D-868A-6679C1004C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676336" y="1352302"/>
            <a:ext cx="4991698" cy="5251646"/>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7" name="Content Placeholder 6">
            <a:extLst>
              <a:ext uri="{FF2B5EF4-FFF2-40B4-BE49-F238E27FC236}">
                <a16:creationId xmlns:a16="http://schemas.microsoft.com/office/drawing/2014/main" id="{6DFC006A-6D09-4DF3-BCEB-FEA5F16BE4F3}"/>
              </a:ext>
            </a:extLst>
          </p:cNvPr>
          <p:cNvSpPr>
            <a:spLocks noGrp="1"/>
          </p:cNvSpPr>
          <p:nvPr>
            <p:ph idx="1"/>
          </p:nvPr>
        </p:nvSpPr>
        <p:spPr>
          <a:xfrm>
            <a:off x="3916396" y="1719618"/>
            <a:ext cx="4461623" cy="4334629"/>
          </a:xfrm>
        </p:spPr>
        <p:txBody>
          <a:bodyPr anchor="ctr">
            <a:normAutofit/>
          </a:bodyPr>
          <a:lstStyle/>
          <a:p>
            <a:r>
              <a:rPr lang="en-US" sz="1900" dirty="0">
                <a:solidFill>
                  <a:srgbClr val="FEFFFF"/>
                </a:solidFill>
              </a:rPr>
              <a:t>Developed by Robert Sternberg (1996).</a:t>
            </a:r>
          </a:p>
          <a:p>
            <a:r>
              <a:rPr lang="en-US" sz="1900" dirty="0">
                <a:solidFill>
                  <a:srgbClr val="FEFFFF"/>
                </a:solidFill>
              </a:rPr>
              <a:t>Places various types of love along three dimensions: </a:t>
            </a:r>
          </a:p>
          <a:p>
            <a:pPr lvl="1"/>
            <a:r>
              <a:rPr lang="en-US" sz="1900" dirty="0">
                <a:solidFill>
                  <a:srgbClr val="FEFFFF"/>
                </a:solidFill>
              </a:rPr>
              <a:t>Intimacy or liking (warmth, closeness)</a:t>
            </a:r>
          </a:p>
          <a:p>
            <a:pPr lvl="1"/>
            <a:r>
              <a:rPr lang="en-US" sz="1900" dirty="0">
                <a:solidFill>
                  <a:srgbClr val="FEFFFF"/>
                </a:solidFill>
              </a:rPr>
              <a:t>Passion (intense emotional response)</a:t>
            </a:r>
          </a:p>
          <a:p>
            <a:pPr lvl="1"/>
            <a:r>
              <a:rPr lang="en-US" sz="1900" dirty="0">
                <a:solidFill>
                  <a:srgbClr val="FEFFFF"/>
                </a:solidFill>
              </a:rPr>
              <a:t>Commitment (decision to maintain relationship)</a:t>
            </a:r>
          </a:p>
          <a:p>
            <a:r>
              <a:rPr lang="en-US" sz="1900" dirty="0">
                <a:solidFill>
                  <a:srgbClr val="FEFFFF"/>
                </a:solidFill>
              </a:rPr>
              <a:t>Different types of love are characterized by different levels of each of these dimensions. For instance, ”romantic love” involves high levels of both intimacy and passion.</a:t>
            </a:r>
          </a:p>
          <a:p>
            <a:endParaRPr lang="en-US" sz="1900" dirty="0">
              <a:solidFill>
                <a:srgbClr val="FEFFFF"/>
              </a:solidFill>
            </a:endParaRPr>
          </a:p>
        </p:txBody>
      </p:sp>
      <p:sp>
        <p:nvSpPr>
          <p:cNvPr id="5" name="Footer Placeholder 3">
            <a:extLst>
              <a:ext uri="{FF2B5EF4-FFF2-40B4-BE49-F238E27FC236}">
                <a16:creationId xmlns:a16="http://schemas.microsoft.com/office/drawing/2014/main" id="{AC11EE6B-78D5-294E-A94D-8DE488D6C117}"/>
              </a:ext>
            </a:extLst>
          </p:cNvPr>
          <p:cNvSpPr>
            <a:spLocks noGrp="1"/>
          </p:cNvSpPr>
          <p:nvPr>
            <p:ph type="ftr" sz="quarter" idx="11"/>
          </p:nvPr>
        </p:nvSpPr>
        <p:spPr>
          <a:xfrm>
            <a:off x="596646" y="6382512"/>
            <a:ext cx="5068062" cy="320040"/>
          </a:xfrm>
        </p:spPr>
        <p:txBody>
          <a:bodyPr>
            <a:normAutofit/>
          </a:bodyPr>
          <a:lstStyle/>
          <a:p>
            <a:pPr algn="l">
              <a:spcAft>
                <a:spcPts val="600"/>
              </a:spcAft>
            </a:pPr>
            <a:r>
              <a:rPr lang="en-US" sz="900"/>
              <a:t>The Science and Application of Positive Psychology © Cambridge University Press 2021</a:t>
            </a:r>
          </a:p>
        </p:txBody>
      </p:sp>
    </p:spTree>
    <p:extLst>
      <p:ext uri="{BB962C8B-B14F-4D97-AF65-F5344CB8AC3E}">
        <p14:creationId xmlns:p14="http://schemas.microsoft.com/office/powerpoint/2010/main" val="25529248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3" name="Straight Connector 12">
            <a:extLst>
              <a:ext uri="{FF2B5EF4-FFF2-40B4-BE49-F238E27FC236}">
                <a16:creationId xmlns:a16="http://schemas.microsoft.com/office/drawing/2014/main" id="{D2E961F1-4A28-4A5F-BBD4-6E400E5E6C7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bwMode="white">
          <a:xfrm>
            <a:off x="0" y="272357"/>
            <a:ext cx="9141618" cy="0"/>
          </a:xfrm>
          <a:prstGeom prst="line">
            <a:avLst/>
          </a:prstGeom>
          <a:ln w="508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15" name="Rectangle 14">
            <a:extLst>
              <a:ext uri="{FF2B5EF4-FFF2-40B4-BE49-F238E27FC236}">
                <a16:creationId xmlns:a16="http://schemas.microsoft.com/office/drawing/2014/main" id="{7F57BEA8-497D-4AA8-8A18-BDCD696B25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68596"/>
            <a:ext cx="9144000" cy="1735555"/>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9CFB886-2CA2-4E2E-833C-0D512964D1E6}"/>
              </a:ext>
            </a:extLst>
          </p:cNvPr>
          <p:cNvSpPr>
            <a:spLocks noGrp="1"/>
          </p:cNvSpPr>
          <p:nvPr>
            <p:ph type="title"/>
          </p:nvPr>
        </p:nvSpPr>
        <p:spPr>
          <a:xfrm>
            <a:off x="394554" y="489439"/>
            <a:ext cx="8354891" cy="930447"/>
          </a:xfrm>
        </p:spPr>
        <p:txBody>
          <a:bodyPr vert="horz" lIns="91440" tIns="45720" rIns="91440" bIns="45720" rtlCol="0" anchor="b">
            <a:normAutofit/>
          </a:bodyPr>
          <a:lstStyle/>
          <a:p>
            <a:pPr algn="ctr"/>
            <a:r>
              <a:rPr lang="en-US" sz="4700" kern="1200">
                <a:solidFill>
                  <a:schemeClr val="bg1"/>
                </a:solidFill>
                <a:latin typeface="+mj-lt"/>
                <a:ea typeface="+mj-ea"/>
                <a:cs typeface="+mj-cs"/>
              </a:rPr>
              <a:t>Triangular Theory of Love</a:t>
            </a:r>
          </a:p>
        </p:txBody>
      </p:sp>
      <p:cxnSp>
        <p:nvCxnSpPr>
          <p:cNvPr id="17" name="Straight Connector 16">
            <a:extLst>
              <a:ext uri="{FF2B5EF4-FFF2-40B4-BE49-F238E27FC236}">
                <a16:creationId xmlns:a16="http://schemas.microsoft.com/office/drawing/2014/main" id="{A82415D3-DDE5-4D63-8CB3-23A5EC581B2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543300" y="1479733"/>
            <a:ext cx="2057400" cy="0"/>
          </a:xfrm>
          <a:prstGeom prst="line">
            <a:avLst/>
          </a:prstGeom>
          <a:ln w="19050">
            <a:solidFill>
              <a:schemeClr val="bg1">
                <a:alpha val="75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AD7193FB-6AE6-4B3B-8F89-56B55DD63B4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bwMode="white">
          <a:xfrm>
            <a:off x="0" y="2201402"/>
            <a:ext cx="9141618" cy="0"/>
          </a:xfrm>
          <a:prstGeom prst="line">
            <a:avLst/>
          </a:prstGeom>
          <a:ln w="508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pic>
        <p:nvPicPr>
          <p:cNvPr id="8" name="Picture 7" descr="Diagram&#10;&#10;Description automatically generated">
            <a:extLst>
              <a:ext uri="{FF2B5EF4-FFF2-40B4-BE49-F238E27FC236}">
                <a16:creationId xmlns:a16="http://schemas.microsoft.com/office/drawing/2014/main" id="{CCC2B2EE-4CB8-AB41-BE0A-BCC7920DA6D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7882" y="2427541"/>
            <a:ext cx="7106910" cy="3997637"/>
          </a:xfrm>
          <a:prstGeom prst="rect">
            <a:avLst/>
          </a:prstGeom>
        </p:spPr>
      </p:pic>
      <p:sp>
        <p:nvSpPr>
          <p:cNvPr id="5" name="Footer Placeholder 3">
            <a:extLst>
              <a:ext uri="{FF2B5EF4-FFF2-40B4-BE49-F238E27FC236}">
                <a16:creationId xmlns:a16="http://schemas.microsoft.com/office/drawing/2014/main" id="{45C87444-CDCB-1545-82C5-0B443A1DFFBE}"/>
              </a:ext>
            </a:extLst>
          </p:cNvPr>
          <p:cNvSpPr>
            <a:spLocks noGrp="1"/>
          </p:cNvSpPr>
          <p:nvPr>
            <p:ph type="ftr" sz="quarter" idx="11"/>
          </p:nvPr>
        </p:nvSpPr>
        <p:spPr>
          <a:xfrm>
            <a:off x="3028950" y="6522430"/>
            <a:ext cx="3086100" cy="347472"/>
          </a:xfrm>
        </p:spPr>
        <p:txBody>
          <a:bodyPr vert="horz" lIns="91440" tIns="45720" rIns="91440" bIns="45720" rtlCol="0" anchor="ctr">
            <a:normAutofit/>
          </a:bodyPr>
          <a:lstStyle/>
          <a:p>
            <a:pPr defTabSz="914400">
              <a:lnSpc>
                <a:spcPct val="90000"/>
              </a:lnSpc>
              <a:spcAft>
                <a:spcPts val="600"/>
              </a:spcAft>
            </a:pPr>
            <a:r>
              <a:rPr lang="en-US" sz="900" kern="1200">
                <a:solidFill>
                  <a:srgbClr val="898989"/>
                </a:solidFill>
                <a:latin typeface="+mn-lt"/>
                <a:ea typeface="+mn-ea"/>
                <a:cs typeface="+mn-cs"/>
              </a:rPr>
              <a:t>The Science and Application of Positive Psychology © Cambridge University Press 2021</a:t>
            </a:r>
          </a:p>
        </p:txBody>
      </p:sp>
    </p:spTree>
    <p:extLst>
      <p:ext uri="{BB962C8B-B14F-4D97-AF65-F5344CB8AC3E}">
        <p14:creationId xmlns:p14="http://schemas.microsoft.com/office/powerpoint/2010/main" val="26403723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CFB886-2CA2-4E2E-833C-0D512964D1E6}"/>
              </a:ext>
            </a:extLst>
          </p:cNvPr>
          <p:cNvSpPr>
            <a:spLocks noGrp="1"/>
          </p:cNvSpPr>
          <p:nvPr>
            <p:ph type="title"/>
          </p:nvPr>
        </p:nvSpPr>
        <p:spPr>
          <a:xfrm>
            <a:off x="4659273" y="299530"/>
            <a:ext cx="3985902" cy="1325563"/>
          </a:xfrm>
        </p:spPr>
        <p:txBody>
          <a:bodyPr>
            <a:normAutofit/>
          </a:bodyPr>
          <a:lstStyle/>
          <a:p>
            <a:r>
              <a:rPr lang="en-US" dirty="0"/>
              <a:t>Love 2.0</a:t>
            </a:r>
          </a:p>
        </p:txBody>
      </p:sp>
      <p:sp>
        <p:nvSpPr>
          <p:cNvPr id="13" name="Freeform: Shape 12">
            <a:extLst>
              <a:ext uri="{FF2B5EF4-FFF2-40B4-BE49-F238E27FC236}">
                <a16:creationId xmlns:a16="http://schemas.microsoft.com/office/drawing/2014/main" id="{CF62D2A7-8207-488C-9F46-316BA81A16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08"/>
            <a:ext cx="4206915" cy="5840278"/>
          </a:xfrm>
          <a:custGeom>
            <a:avLst/>
            <a:gdLst>
              <a:gd name="connsiteX0" fmla="*/ 0 w 5609220"/>
              <a:gd name="connsiteY0" fmla="*/ 0 h 5840278"/>
              <a:gd name="connsiteX1" fmla="*/ 4637091 w 5609220"/>
              <a:gd name="connsiteY1" fmla="*/ 0 h 5840278"/>
              <a:gd name="connsiteX2" fmla="*/ 4822569 w 5609220"/>
              <a:gd name="connsiteY2" fmla="*/ 204077 h 5840278"/>
              <a:gd name="connsiteX3" fmla="*/ 5609220 w 5609220"/>
              <a:gd name="connsiteY3" fmla="*/ 2395363 h 5840278"/>
              <a:gd name="connsiteX4" fmla="*/ 2164305 w 5609220"/>
              <a:gd name="connsiteY4" fmla="*/ 5840278 h 5840278"/>
              <a:gd name="connsiteX5" fmla="*/ 238220 w 5609220"/>
              <a:gd name="connsiteY5" fmla="*/ 5251941 h 5840278"/>
              <a:gd name="connsiteX6" fmla="*/ 0 w 5609220"/>
              <a:gd name="connsiteY6" fmla="*/ 5073803 h 58402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609220" h="5840278">
                <a:moveTo>
                  <a:pt x="0" y="0"/>
                </a:moveTo>
                <a:lnTo>
                  <a:pt x="4637091" y="0"/>
                </a:lnTo>
                <a:lnTo>
                  <a:pt x="4822569" y="204077"/>
                </a:lnTo>
                <a:cubicBezTo>
                  <a:pt x="5314007" y="799562"/>
                  <a:pt x="5609220" y="1562987"/>
                  <a:pt x="5609220" y="2395363"/>
                </a:cubicBezTo>
                <a:cubicBezTo>
                  <a:pt x="5609220" y="4297937"/>
                  <a:pt x="4066879" y="5840278"/>
                  <a:pt x="2164305" y="5840278"/>
                </a:cubicBezTo>
                <a:cubicBezTo>
                  <a:pt x="1450840" y="5840278"/>
                  <a:pt x="788032" y="5623387"/>
                  <a:pt x="238220" y="5251941"/>
                </a:cubicBezTo>
                <a:lnTo>
                  <a:pt x="0" y="5073803"/>
                </a:ln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9" name="Picture 8" descr="Two people holding hands">
            <a:extLst>
              <a:ext uri="{FF2B5EF4-FFF2-40B4-BE49-F238E27FC236}">
                <a16:creationId xmlns:a16="http://schemas.microsoft.com/office/drawing/2014/main" id="{1B7F75CE-2519-691B-52ED-89BEBACEE854}"/>
              </a:ext>
            </a:extLst>
          </p:cNvPr>
          <p:cNvPicPr>
            <a:picLocks noChangeAspect="1"/>
          </p:cNvPicPr>
          <p:nvPr/>
        </p:nvPicPr>
        <p:blipFill rotWithShape="1">
          <a:blip r:embed="rId3"/>
          <a:srcRect l="24369" r="27635" b="-1"/>
          <a:stretch/>
        </p:blipFill>
        <p:spPr>
          <a:xfrm>
            <a:off x="1" y="-2"/>
            <a:ext cx="4081394" cy="5654940"/>
          </a:xfrm>
          <a:custGeom>
            <a:avLst/>
            <a:gdLst/>
            <a:ahLst/>
            <a:cxnLst/>
            <a:rect l="l" t="t" r="r" b="b"/>
            <a:pathLst>
              <a:path w="5441859" h="5654940">
                <a:moveTo>
                  <a:pt x="0" y="0"/>
                </a:moveTo>
                <a:lnTo>
                  <a:pt x="4400491" y="0"/>
                </a:lnTo>
                <a:lnTo>
                  <a:pt x="4484766" y="76595"/>
                </a:lnTo>
                <a:cubicBezTo>
                  <a:pt x="5076107" y="667936"/>
                  <a:pt x="5441859" y="1484866"/>
                  <a:pt x="5441859" y="2387221"/>
                </a:cubicBezTo>
                <a:cubicBezTo>
                  <a:pt x="5441859" y="4191932"/>
                  <a:pt x="3978851" y="5654940"/>
                  <a:pt x="2174140" y="5654940"/>
                </a:cubicBezTo>
                <a:cubicBezTo>
                  <a:pt x="1412778" y="5654940"/>
                  <a:pt x="712231" y="5394557"/>
                  <a:pt x="156693" y="4957981"/>
                </a:cubicBezTo>
                <a:lnTo>
                  <a:pt x="0" y="4820612"/>
                </a:lnTo>
                <a:close/>
              </a:path>
            </a:pathLst>
          </a:custGeom>
        </p:spPr>
      </p:pic>
      <p:sp>
        <p:nvSpPr>
          <p:cNvPr id="7" name="Content Placeholder 6">
            <a:extLst>
              <a:ext uri="{FF2B5EF4-FFF2-40B4-BE49-F238E27FC236}">
                <a16:creationId xmlns:a16="http://schemas.microsoft.com/office/drawing/2014/main" id="{6DFC006A-6D09-4DF3-BCEB-FEA5F16BE4F3}"/>
              </a:ext>
            </a:extLst>
          </p:cNvPr>
          <p:cNvSpPr>
            <a:spLocks noGrp="1"/>
          </p:cNvSpPr>
          <p:nvPr>
            <p:ph idx="1"/>
          </p:nvPr>
        </p:nvSpPr>
        <p:spPr>
          <a:xfrm>
            <a:off x="4454739" y="1418897"/>
            <a:ext cx="4394971" cy="4419373"/>
          </a:xfrm>
        </p:spPr>
        <p:txBody>
          <a:bodyPr anchor="t">
            <a:normAutofit/>
          </a:bodyPr>
          <a:lstStyle/>
          <a:p>
            <a:r>
              <a:rPr lang="en-US" sz="2000" dirty="0"/>
              <a:t>Developed by Barbara Fredrickson (2013).</a:t>
            </a:r>
          </a:p>
          <a:p>
            <a:r>
              <a:rPr lang="en-US" sz="2000" dirty="0"/>
              <a:t>Argues that love isn’t passion, commitment, loyalty, trust, family connection, or romance. These can accompany love, but they aren’t love</a:t>
            </a:r>
            <a:r>
              <a:rPr lang="en-US" sz="2000" i="1" dirty="0"/>
              <a:t> </a:t>
            </a:r>
            <a:r>
              <a:rPr lang="en-US" sz="2000" dirty="0"/>
              <a:t>itself.</a:t>
            </a:r>
          </a:p>
          <a:p>
            <a:r>
              <a:rPr lang="en-US" sz="2000" dirty="0"/>
              <a:t>Love is a moment-to-moment emotional experience characterized by warm and mutual caring, something called “shared positivity.” </a:t>
            </a:r>
          </a:p>
          <a:p>
            <a:r>
              <a:rPr lang="en-US" sz="2000" dirty="0"/>
              <a:t>A moment of love occurs anytime two people connect over a shared positive emotion, even between strangers.</a:t>
            </a:r>
          </a:p>
          <a:p>
            <a:endParaRPr lang="en-US" sz="1600" dirty="0"/>
          </a:p>
        </p:txBody>
      </p:sp>
      <p:sp>
        <p:nvSpPr>
          <p:cNvPr id="5" name="Footer Placeholder 3">
            <a:extLst>
              <a:ext uri="{FF2B5EF4-FFF2-40B4-BE49-F238E27FC236}">
                <a16:creationId xmlns:a16="http://schemas.microsoft.com/office/drawing/2014/main" id="{C915030A-CF80-364D-B03D-27F78ADB2FB0}"/>
              </a:ext>
            </a:extLst>
          </p:cNvPr>
          <p:cNvSpPr>
            <a:spLocks noGrp="1"/>
          </p:cNvSpPr>
          <p:nvPr>
            <p:ph type="ftr" sz="quarter" idx="11"/>
          </p:nvPr>
        </p:nvSpPr>
        <p:spPr>
          <a:xfrm>
            <a:off x="4540249" y="6199632"/>
            <a:ext cx="3602066" cy="365760"/>
          </a:xfrm>
        </p:spPr>
        <p:txBody>
          <a:bodyPr>
            <a:normAutofit/>
          </a:bodyPr>
          <a:lstStyle/>
          <a:p>
            <a:pPr algn="r">
              <a:lnSpc>
                <a:spcPct val="90000"/>
              </a:lnSpc>
              <a:spcAft>
                <a:spcPts val="600"/>
              </a:spcAft>
            </a:pPr>
            <a:r>
              <a:rPr lang="en-US" sz="1000">
                <a:solidFill>
                  <a:schemeClr val="tx1">
                    <a:alpha val="80000"/>
                  </a:schemeClr>
                </a:solidFill>
              </a:rPr>
              <a:t>The Science and Application of Positive Psychology © Cambridge University Press 2021</a:t>
            </a:r>
          </a:p>
        </p:txBody>
      </p:sp>
    </p:spTree>
    <p:extLst>
      <p:ext uri="{BB962C8B-B14F-4D97-AF65-F5344CB8AC3E}">
        <p14:creationId xmlns:p14="http://schemas.microsoft.com/office/powerpoint/2010/main" val="2943679180"/>
      </p:ext>
    </p:extLst>
  </p:cSld>
  <p:clrMapOvr>
    <a:overrideClrMapping bg1="dk1" tx1="lt1" bg2="dk2" tx2="lt2" accent1="accent1" accent2="accent2" accent3="accent3" accent4="accent4" accent5="accent5" accent6="accent6" hlink="hlink" folHlink="folHlink"/>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02D886F1-CB4A-4FC1-AAA7-9402B0D0DD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510167" cy="6858000"/>
          </a:xfrm>
          <a:prstGeom prst="rect">
            <a:avLst/>
          </a:prstGeom>
          <a:solidFill>
            <a:srgbClr val="7F7F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Rectangle 13">
            <a:extLst>
              <a:ext uri="{FF2B5EF4-FFF2-40B4-BE49-F238E27FC236}">
                <a16:creationId xmlns:a16="http://schemas.microsoft.com/office/drawing/2014/main" id="{762B7B97-C3EE-4AEE-A61F-AFA873FE2F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510167" y="0"/>
            <a:ext cx="7633833" cy="685800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C9CFB886-2CA2-4E2E-833C-0D512964D1E6}"/>
              </a:ext>
            </a:extLst>
          </p:cNvPr>
          <p:cNvSpPr>
            <a:spLocks noGrp="1"/>
          </p:cNvSpPr>
          <p:nvPr>
            <p:ph type="title"/>
          </p:nvPr>
        </p:nvSpPr>
        <p:spPr>
          <a:xfrm>
            <a:off x="467840" y="1635358"/>
            <a:ext cx="2064258" cy="2706624"/>
          </a:xfrm>
          <a:prstGeom prst="ellipse">
            <a:avLst/>
          </a:prstGeom>
          <a:solidFill>
            <a:schemeClr val="bg1"/>
          </a:solidFill>
          <a:ln w="174625" cmpd="thinThick">
            <a:solidFill>
              <a:schemeClr val="bg1"/>
            </a:solidFill>
          </a:ln>
        </p:spPr>
        <p:txBody>
          <a:bodyPr>
            <a:normAutofit/>
          </a:bodyPr>
          <a:lstStyle/>
          <a:p>
            <a:pPr algn="ctr"/>
            <a:r>
              <a:rPr lang="en-US" sz="2300"/>
              <a:t>Love 2.0</a:t>
            </a:r>
          </a:p>
        </p:txBody>
      </p:sp>
      <p:sp>
        <p:nvSpPr>
          <p:cNvPr id="7" name="Content Placeholder 6">
            <a:extLst>
              <a:ext uri="{FF2B5EF4-FFF2-40B4-BE49-F238E27FC236}">
                <a16:creationId xmlns:a16="http://schemas.microsoft.com/office/drawing/2014/main" id="{6DFC006A-6D09-4DF3-BCEB-FEA5F16BE4F3}"/>
              </a:ext>
            </a:extLst>
          </p:cNvPr>
          <p:cNvSpPr>
            <a:spLocks noGrp="1"/>
          </p:cNvSpPr>
          <p:nvPr>
            <p:ph idx="1"/>
          </p:nvPr>
        </p:nvSpPr>
        <p:spPr>
          <a:xfrm>
            <a:off x="2333298" y="1088137"/>
            <a:ext cx="6579474" cy="5131688"/>
          </a:xfrm>
        </p:spPr>
        <p:txBody>
          <a:bodyPr anchor="ctr">
            <a:noAutofit/>
          </a:bodyPr>
          <a:lstStyle/>
          <a:p>
            <a:r>
              <a:rPr lang="en-US" sz="2000" dirty="0">
                <a:solidFill>
                  <a:schemeClr val="bg1"/>
                </a:solidFill>
              </a:rPr>
              <a:t>Positivity resonance:</a:t>
            </a:r>
          </a:p>
          <a:p>
            <a:pPr lvl="1"/>
            <a:r>
              <a:rPr lang="en-US" sz="2000" dirty="0">
                <a:solidFill>
                  <a:schemeClr val="bg1"/>
                </a:solidFill>
              </a:rPr>
              <a:t>When we experience shared positivity, our brains and behaviors “sync up,” called </a:t>
            </a:r>
            <a:r>
              <a:rPr lang="en-US" sz="2000" i="1" dirty="0">
                <a:solidFill>
                  <a:schemeClr val="bg1"/>
                </a:solidFill>
              </a:rPr>
              <a:t>positivity resonance</a:t>
            </a:r>
            <a:r>
              <a:rPr lang="en-US" sz="2000" dirty="0">
                <a:solidFill>
                  <a:schemeClr val="bg1"/>
                </a:solidFill>
              </a:rPr>
              <a:t>. People may mirror each other’s posture or vocal tone, nod along with each another, make eye contact, or smile. </a:t>
            </a:r>
          </a:p>
          <a:p>
            <a:pPr lvl="1"/>
            <a:r>
              <a:rPr lang="en-US" sz="2000" dirty="0">
                <a:solidFill>
                  <a:schemeClr val="bg1"/>
                </a:solidFill>
              </a:rPr>
              <a:t>Important study: Liu et al. (2017)</a:t>
            </a:r>
          </a:p>
          <a:p>
            <a:pPr lvl="2"/>
            <a:r>
              <a:rPr lang="en-US" dirty="0">
                <a:solidFill>
                  <a:schemeClr val="bg1"/>
                </a:solidFill>
              </a:rPr>
              <a:t>Positivity resonance can be reflected in the brain. </a:t>
            </a:r>
          </a:p>
          <a:p>
            <a:pPr lvl="2"/>
            <a:r>
              <a:rPr lang="en-US" dirty="0">
                <a:solidFill>
                  <a:schemeClr val="bg1"/>
                </a:solidFill>
              </a:rPr>
              <a:t>Researchers recorded a native English speaker and two native Turkish speakers telling real-life stories while wearing a brain imaging device known as functional near infrared spectroscopy (</a:t>
            </a:r>
            <a:r>
              <a:rPr lang="en-US" dirty="0" err="1">
                <a:solidFill>
                  <a:schemeClr val="bg1"/>
                </a:solidFill>
              </a:rPr>
              <a:t>fNIRS</a:t>
            </a:r>
            <a:r>
              <a:rPr lang="en-US" dirty="0">
                <a:solidFill>
                  <a:schemeClr val="bg1"/>
                </a:solidFill>
              </a:rPr>
              <a:t>).</a:t>
            </a:r>
          </a:p>
          <a:p>
            <a:pPr lvl="2"/>
            <a:r>
              <a:rPr lang="en-US" dirty="0">
                <a:solidFill>
                  <a:schemeClr val="bg1"/>
                </a:solidFill>
              </a:rPr>
              <a:t>Later, they played these stories for study participants—all of whom were English speakers—while they also wore </a:t>
            </a:r>
            <a:r>
              <a:rPr lang="en-US" dirty="0" err="1">
                <a:solidFill>
                  <a:schemeClr val="bg1"/>
                </a:solidFill>
              </a:rPr>
              <a:t>fNIRS</a:t>
            </a:r>
            <a:r>
              <a:rPr lang="en-US" dirty="0">
                <a:solidFill>
                  <a:schemeClr val="bg1"/>
                </a:solidFill>
              </a:rPr>
              <a:t> equipment. </a:t>
            </a:r>
          </a:p>
          <a:p>
            <a:pPr lvl="2"/>
            <a:r>
              <a:rPr lang="en-US" dirty="0">
                <a:solidFill>
                  <a:schemeClr val="bg1"/>
                </a:solidFill>
              </a:rPr>
              <a:t>Results showed that listeners’ brain activity was correlated with the story-teller’s brain activity; but this was only the case when they listened to the English speakers. </a:t>
            </a:r>
          </a:p>
        </p:txBody>
      </p:sp>
      <p:sp>
        <p:nvSpPr>
          <p:cNvPr id="5" name="Footer Placeholder 3">
            <a:extLst>
              <a:ext uri="{FF2B5EF4-FFF2-40B4-BE49-F238E27FC236}">
                <a16:creationId xmlns:a16="http://schemas.microsoft.com/office/drawing/2014/main" id="{DA8993CC-E37D-7D45-8B7F-E1CF44CB0A3E}"/>
              </a:ext>
            </a:extLst>
          </p:cNvPr>
          <p:cNvSpPr>
            <a:spLocks noGrp="1"/>
          </p:cNvSpPr>
          <p:nvPr>
            <p:ph type="ftr" sz="quarter" idx="11"/>
          </p:nvPr>
        </p:nvSpPr>
        <p:spPr>
          <a:xfrm>
            <a:off x="3192517" y="6356350"/>
            <a:ext cx="2922533" cy="365125"/>
          </a:xfrm>
        </p:spPr>
        <p:txBody>
          <a:bodyPr>
            <a:normAutofit/>
          </a:bodyPr>
          <a:lstStyle/>
          <a:p>
            <a:pPr algn="l">
              <a:lnSpc>
                <a:spcPct val="90000"/>
              </a:lnSpc>
              <a:spcAft>
                <a:spcPts val="600"/>
              </a:spcAft>
            </a:pPr>
            <a:r>
              <a:rPr lang="en-US" sz="900">
                <a:solidFill>
                  <a:schemeClr val="bg1"/>
                </a:solidFill>
              </a:rPr>
              <a:t>The Science and Application of Positive Psychology © Cambridge University Press 2021</a:t>
            </a:r>
          </a:p>
        </p:txBody>
      </p:sp>
    </p:spTree>
    <p:extLst>
      <p:ext uri="{BB962C8B-B14F-4D97-AF65-F5344CB8AC3E}">
        <p14:creationId xmlns:p14="http://schemas.microsoft.com/office/powerpoint/2010/main" val="39114120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CFB886-2CA2-4E2E-833C-0D512964D1E6}"/>
              </a:ext>
            </a:extLst>
          </p:cNvPr>
          <p:cNvSpPr>
            <a:spLocks noGrp="1"/>
          </p:cNvSpPr>
          <p:nvPr>
            <p:ph type="title"/>
          </p:nvPr>
        </p:nvSpPr>
        <p:spPr>
          <a:xfrm>
            <a:off x="1240022" y="365760"/>
            <a:ext cx="7025402" cy="1188720"/>
          </a:xfrm>
        </p:spPr>
        <p:txBody>
          <a:bodyPr>
            <a:normAutofit/>
          </a:bodyPr>
          <a:lstStyle/>
          <a:p>
            <a:r>
              <a:rPr lang="en-US" dirty="0"/>
              <a:t>Love 2.0</a:t>
            </a:r>
          </a:p>
        </p:txBody>
      </p:sp>
      <p:sp>
        <p:nvSpPr>
          <p:cNvPr id="12" name="Freeform: Shape 11">
            <a:extLst>
              <a:ext uri="{FF2B5EF4-FFF2-40B4-BE49-F238E27FC236}">
                <a16:creationId xmlns:a16="http://schemas.microsoft.com/office/drawing/2014/main" id="{7CB4857B-ED7C-444D-9F04-2F885114A1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323075" cy="1558212"/>
          </a:xfrm>
          <a:custGeom>
            <a:avLst/>
            <a:gdLst>
              <a:gd name="connsiteX0" fmla="*/ 0 w 1764099"/>
              <a:gd name="connsiteY0" fmla="*/ 0 h 1558212"/>
              <a:gd name="connsiteX1" fmla="*/ 1764099 w 1764099"/>
              <a:gd name="connsiteY1" fmla="*/ 0 h 1558212"/>
              <a:gd name="connsiteX2" fmla="*/ 1042087 w 1764099"/>
              <a:gd name="connsiteY2" fmla="*/ 1558212 h 1558212"/>
              <a:gd name="connsiteX3" fmla="*/ 0 w 1764099"/>
              <a:gd name="connsiteY3" fmla="*/ 1558212 h 1558212"/>
            </a:gdLst>
            <a:ahLst/>
            <a:cxnLst>
              <a:cxn ang="0">
                <a:pos x="connsiteX0" y="connsiteY0"/>
              </a:cxn>
              <a:cxn ang="0">
                <a:pos x="connsiteX1" y="connsiteY1"/>
              </a:cxn>
              <a:cxn ang="0">
                <a:pos x="connsiteX2" y="connsiteY2"/>
              </a:cxn>
              <a:cxn ang="0">
                <a:pos x="connsiteX3" y="connsiteY3"/>
              </a:cxn>
            </a:cxnLst>
            <a:rect l="l" t="t" r="r" b="b"/>
            <a:pathLst>
              <a:path w="1764099" h="1558212">
                <a:moveTo>
                  <a:pt x="0" y="0"/>
                </a:moveTo>
                <a:lnTo>
                  <a:pt x="1764099" y="0"/>
                </a:lnTo>
                <a:lnTo>
                  <a:pt x="1042087" y="1558212"/>
                </a:lnTo>
                <a:lnTo>
                  <a:pt x="0" y="1558212"/>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D18046FB-44EA-4FD8-A585-EA09A319B2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91640"/>
            <a:ext cx="9144000" cy="5166360"/>
          </a:xfrm>
          <a:custGeom>
            <a:avLst/>
            <a:gdLst>
              <a:gd name="connsiteX0" fmla="*/ 0 w 12191999"/>
              <a:gd name="connsiteY0" fmla="*/ 0 h 5166360"/>
              <a:gd name="connsiteX1" fmla="*/ 1822388 w 12191999"/>
              <a:gd name="connsiteY1" fmla="*/ 0 h 5166360"/>
              <a:gd name="connsiteX2" fmla="*/ 6468290 w 12191999"/>
              <a:gd name="connsiteY2" fmla="*/ 0 h 5166360"/>
              <a:gd name="connsiteX3" fmla="*/ 7796394 w 12191999"/>
              <a:gd name="connsiteY3" fmla="*/ 0 h 5166360"/>
              <a:gd name="connsiteX4" fmla="*/ 8376834 w 12191999"/>
              <a:gd name="connsiteY4" fmla="*/ 0 h 5166360"/>
              <a:gd name="connsiteX5" fmla="*/ 9704938 w 12191999"/>
              <a:gd name="connsiteY5" fmla="*/ 0 h 5166360"/>
              <a:gd name="connsiteX6" fmla="*/ 9704938 w 12191999"/>
              <a:gd name="connsiteY6" fmla="*/ 2 h 5166360"/>
              <a:gd name="connsiteX7" fmla="*/ 10283456 w 12191999"/>
              <a:gd name="connsiteY7" fmla="*/ 2 h 5166360"/>
              <a:gd name="connsiteX8" fmla="*/ 10863897 w 12191999"/>
              <a:gd name="connsiteY8" fmla="*/ 2 h 5166360"/>
              <a:gd name="connsiteX9" fmla="*/ 12191999 w 12191999"/>
              <a:gd name="connsiteY9" fmla="*/ 2 h 5166360"/>
              <a:gd name="connsiteX10" fmla="*/ 12191999 w 12191999"/>
              <a:gd name="connsiteY10" fmla="*/ 5166360 h 5166360"/>
              <a:gd name="connsiteX11" fmla="*/ 0 w 12191999"/>
              <a:gd name="connsiteY11" fmla="*/ 5166360 h 5166360"/>
              <a:gd name="connsiteX12" fmla="*/ 0 w 12191999"/>
              <a:gd name="connsiteY12" fmla="*/ 2604436 h 5166360"/>
              <a:gd name="connsiteX13" fmla="*/ 862341 w 12191999"/>
              <a:gd name="connsiteY13" fmla="*/ 743371 h 5166360"/>
              <a:gd name="connsiteX14" fmla="*/ 0 w 12191999"/>
              <a:gd name="connsiteY14" fmla="*/ 743371 h 5166360"/>
              <a:gd name="connsiteX15" fmla="*/ 0 w 12191999"/>
              <a:gd name="connsiteY15" fmla="*/ 742508 h 5166360"/>
              <a:gd name="connsiteX16" fmla="*/ 92826 w 12191999"/>
              <a:gd name="connsiteY16" fmla="*/ 742508 h 5166360"/>
              <a:gd name="connsiteX17" fmla="*/ 406486 w 12191999"/>
              <a:gd name="connsiteY17" fmla="*/ 742508 h 5166360"/>
              <a:gd name="connsiteX18" fmla="*/ 406486 w 12191999"/>
              <a:gd name="connsiteY18" fmla="*/ 742507 h 5166360"/>
              <a:gd name="connsiteX19" fmla="*/ 862741 w 12191999"/>
              <a:gd name="connsiteY19" fmla="*/ 742507 h 5166360"/>
              <a:gd name="connsiteX20" fmla="*/ 1206388 w 12191999"/>
              <a:gd name="connsiteY20" fmla="*/ 864 h 5166360"/>
              <a:gd name="connsiteX21" fmla="*/ 748500 w 12191999"/>
              <a:gd name="connsiteY21" fmla="*/ 864 h 5166360"/>
              <a:gd name="connsiteX22" fmla="*/ 0 w 12191999"/>
              <a:gd name="connsiteY22" fmla="*/ 864 h 5166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2191999" h="5166360">
                <a:moveTo>
                  <a:pt x="0" y="0"/>
                </a:moveTo>
                <a:lnTo>
                  <a:pt x="1822388" y="0"/>
                </a:lnTo>
                <a:lnTo>
                  <a:pt x="6468290" y="0"/>
                </a:lnTo>
                <a:lnTo>
                  <a:pt x="7796394" y="0"/>
                </a:lnTo>
                <a:lnTo>
                  <a:pt x="8376834" y="0"/>
                </a:lnTo>
                <a:lnTo>
                  <a:pt x="9704938" y="0"/>
                </a:lnTo>
                <a:lnTo>
                  <a:pt x="9704938" y="2"/>
                </a:lnTo>
                <a:lnTo>
                  <a:pt x="10283456" y="2"/>
                </a:lnTo>
                <a:lnTo>
                  <a:pt x="10863897" y="2"/>
                </a:lnTo>
                <a:lnTo>
                  <a:pt x="12191999" y="2"/>
                </a:lnTo>
                <a:lnTo>
                  <a:pt x="12191999" y="5166360"/>
                </a:lnTo>
                <a:lnTo>
                  <a:pt x="0" y="5166360"/>
                </a:lnTo>
                <a:lnTo>
                  <a:pt x="0" y="2604436"/>
                </a:lnTo>
                <a:lnTo>
                  <a:pt x="862341" y="743371"/>
                </a:lnTo>
                <a:lnTo>
                  <a:pt x="0" y="743371"/>
                </a:lnTo>
                <a:lnTo>
                  <a:pt x="0" y="742508"/>
                </a:lnTo>
                <a:lnTo>
                  <a:pt x="92826" y="742508"/>
                </a:lnTo>
                <a:lnTo>
                  <a:pt x="406486" y="742508"/>
                </a:lnTo>
                <a:lnTo>
                  <a:pt x="406486" y="742507"/>
                </a:lnTo>
                <a:lnTo>
                  <a:pt x="862741" y="742507"/>
                </a:lnTo>
                <a:lnTo>
                  <a:pt x="1206388" y="864"/>
                </a:lnTo>
                <a:lnTo>
                  <a:pt x="748500" y="864"/>
                </a:lnTo>
                <a:lnTo>
                  <a:pt x="0" y="864"/>
                </a:lnTo>
                <a:close/>
              </a:path>
            </a:pathLst>
          </a:custGeom>
          <a:solidFill>
            <a:srgbClr val="A6A6A6">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Shape 15">
            <a:extLst>
              <a:ext uri="{FF2B5EF4-FFF2-40B4-BE49-F238E27FC236}">
                <a16:creationId xmlns:a16="http://schemas.microsoft.com/office/drawing/2014/main" id="{479F5F2B-8B58-4140-AE6A-51F6C67B18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91641"/>
            <a:ext cx="728740" cy="2096979"/>
          </a:xfrm>
          <a:custGeom>
            <a:avLst/>
            <a:gdLst>
              <a:gd name="connsiteX0" fmla="*/ 0 w 971654"/>
              <a:gd name="connsiteY0" fmla="*/ 0 h 2096979"/>
              <a:gd name="connsiteX1" fmla="*/ 971654 w 971654"/>
              <a:gd name="connsiteY1" fmla="*/ 0 h 2096979"/>
              <a:gd name="connsiteX2" fmla="*/ 0 w 971654"/>
              <a:gd name="connsiteY2" fmla="*/ 2096979 h 2096979"/>
            </a:gdLst>
            <a:ahLst/>
            <a:cxnLst>
              <a:cxn ang="0">
                <a:pos x="connsiteX0" y="connsiteY0"/>
              </a:cxn>
              <a:cxn ang="0">
                <a:pos x="connsiteX1" y="connsiteY1"/>
              </a:cxn>
              <a:cxn ang="0">
                <a:pos x="connsiteX2" y="connsiteY2"/>
              </a:cxn>
            </a:cxnLst>
            <a:rect l="l" t="t" r="r" b="b"/>
            <a:pathLst>
              <a:path w="971654" h="2096979">
                <a:moveTo>
                  <a:pt x="0" y="0"/>
                </a:moveTo>
                <a:lnTo>
                  <a:pt x="971654" y="0"/>
                </a:lnTo>
                <a:lnTo>
                  <a:pt x="0" y="2096979"/>
                </a:lnTo>
                <a:close/>
              </a:path>
            </a:pathLst>
          </a:cu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 name="Content Placeholder 6">
            <a:extLst>
              <a:ext uri="{FF2B5EF4-FFF2-40B4-BE49-F238E27FC236}">
                <a16:creationId xmlns:a16="http://schemas.microsoft.com/office/drawing/2014/main" id="{6DFC006A-6D09-4DF3-BCEB-FEA5F16BE4F3}"/>
              </a:ext>
            </a:extLst>
          </p:cNvPr>
          <p:cNvSpPr>
            <a:spLocks noGrp="1"/>
          </p:cNvSpPr>
          <p:nvPr>
            <p:ph idx="1"/>
          </p:nvPr>
        </p:nvSpPr>
        <p:spPr>
          <a:xfrm>
            <a:off x="924910" y="1920240"/>
            <a:ext cx="7851228" cy="4297680"/>
          </a:xfrm>
        </p:spPr>
        <p:txBody>
          <a:bodyPr anchor="t">
            <a:noAutofit/>
          </a:bodyPr>
          <a:lstStyle/>
          <a:p>
            <a:r>
              <a:rPr lang="en-US" sz="2200" dirty="0"/>
              <a:t>Two additional biological mechanisms are hypothesized to play a role in love, as Fredrickson defines it: </a:t>
            </a:r>
          </a:p>
          <a:p>
            <a:pPr lvl="1"/>
            <a:r>
              <a:rPr lang="en-US" sz="2200" i="1" dirty="0"/>
              <a:t>Oxytocin</a:t>
            </a:r>
            <a:r>
              <a:rPr lang="en-US" sz="2200" dirty="0"/>
              <a:t>: Often called the “tend and befriend” hormone. Higher levels of oxytocin may help people read social cues as well as be more generous and altruistic.</a:t>
            </a:r>
          </a:p>
          <a:p>
            <a:pPr lvl="1"/>
            <a:r>
              <a:rPr lang="en-US" sz="2200" i="1" dirty="0" err="1"/>
              <a:t>Vagus</a:t>
            </a:r>
            <a:r>
              <a:rPr lang="en-US" sz="2200" i="1" dirty="0"/>
              <a:t> nerve</a:t>
            </a:r>
            <a:r>
              <a:rPr lang="en-US" sz="2200" dirty="0"/>
              <a:t>: Extends from the brain to various parts of the body, including the heart, lungs, and digestive tract. Lower “vagal tone” (functioning of the </a:t>
            </a:r>
            <a:r>
              <a:rPr lang="en-US" sz="2200" dirty="0" err="1"/>
              <a:t>vagus</a:t>
            </a:r>
            <a:r>
              <a:rPr lang="en-US" sz="2200" dirty="0"/>
              <a:t> nerve) is associated with lower emotional regulation (</a:t>
            </a:r>
            <a:r>
              <a:rPr lang="en-US" sz="2200" dirty="0" err="1"/>
              <a:t>Beauchaine</a:t>
            </a:r>
            <a:r>
              <a:rPr lang="en-US" sz="2200" dirty="0"/>
              <a:t>, 2001; Thayer et al., 2012). This is important because people who are better able to regulate their emotions tend to act more </a:t>
            </a:r>
            <a:r>
              <a:rPr lang="en-US" sz="2200" dirty="0" err="1"/>
              <a:t>prosocially</a:t>
            </a:r>
            <a:r>
              <a:rPr lang="en-US" sz="2200" dirty="0"/>
              <a:t> toward others. </a:t>
            </a:r>
          </a:p>
        </p:txBody>
      </p:sp>
      <p:sp>
        <p:nvSpPr>
          <p:cNvPr id="5" name="Footer Placeholder 3">
            <a:extLst>
              <a:ext uri="{FF2B5EF4-FFF2-40B4-BE49-F238E27FC236}">
                <a16:creationId xmlns:a16="http://schemas.microsoft.com/office/drawing/2014/main" id="{63D63859-8217-D44C-805B-2E657BEBADFD}"/>
              </a:ext>
            </a:extLst>
          </p:cNvPr>
          <p:cNvSpPr>
            <a:spLocks noGrp="1"/>
          </p:cNvSpPr>
          <p:nvPr>
            <p:ph type="ftr" sz="quarter" idx="11"/>
          </p:nvPr>
        </p:nvSpPr>
        <p:spPr>
          <a:xfrm>
            <a:off x="3208025" y="6356350"/>
            <a:ext cx="3086100" cy="365125"/>
          </a:xfrm>
        </p:spPr>
        <p:txBody>
          <a:bodyPr>
            <a:normAutofit/>
          </a:bodyPr>
          <a:lstStyle/>
          <a:p>
            <a:pPr>
              <a:lnSpc>
                <a:spcPct val="90000"/>
              </a:lnSpc>
              <a:spcAft>
                <a:spcPts val="600"/>
              </a:spcAft>
            </a:pPr>
            <a:r>
              <a:rPr lang="en-US" sz="900">
                <a:solidFill>
                  <a:schemeClr val="tx1">
                    <a:alpha val="80000"/>
                  </a:schemeClr>
                </a:solidFill>
              </a:rPr>
              <a:t>The Science and Application of Positive Psychology © Cambridge University Press 2021</a:t>
            </a:r>
          </a:p>
        </p:txBody>
      </p:sp>
    </p:spTree>
    <p:extLst>
      <p:ext uri="{BB962C8B-B14F-4D97-AF65-F5344CB8AC3E}">
        <p14:creationId xmlns:p14="http://schemas.microsoft.com/office/powerpoint/2010/main" val="36472776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5A59F003-E00A-43F9-91DC-CC54E3B874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descr="Couple holding hands">
            <a:extLst>
              <a:ext uri="{FF2B5EF4-FFF2-40B4-BE49-F238E27FC236}">
                <a16:creationId xmlns:a16="http://schemas.microsoft.com/office/drawing/2014/main" id="{7D3F584C-3414-3C5C-CF9C-27387BE62C91}"/>
              </a:ext>
            </a:extLst>
          </p:cNvPr>
          <p:cNvPicPr>
            <a:picLocks noChangeAspect="1"/>
          </p:cNvPicPr>
          <p:nvPr/>
        </p:nvPicPr>
        <p:blipFill rotWithShape="1">
          <a:blip r:embed="rId2"/>
          <a:srcRect t="7121"/>
          <a:stretch/>
        </p:blipFill>
        <p:spPr>
          <a:xfrm>
            <a:off x="20" y="10"/>
            <a:ext cx="9143980" cy="6857990"/>
          </a:xfrm>
          <a:prstGeom prst="rect">
            <a:avLst/>
          </a:prstGeom>
        </p:spPr>
      </p:pic>
      <p:sp>
        <p:nvSpPr>
          <p:cNvPr id="16" name="Rectangle 15">
            <a:extLst>
              <a:ext uri="{FF2B5EF4-FFF2-40B4-BE49-F238E27FC236}">
                <a16:creationId xmlns:a16="http://schemas.microsoft.com/office/drawing/2014/main" id="{D74A4382-E3AD-430A-9A1F-DFA3E0E77A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2275867" y="-10136"/>
            <a:ext cx="4592270" cy="9144001"/>
          </a:xfrm>
          <a:prstGeom prst="rect">
            <a:avLst/>
          </a:prstGeom>
          <a:gradFill>
            <a:gsLst>
              <a:gs pos="35000">
                <a:schemeClr val="bg1">
                  <a:alpha val="46000"/>
                </a:schemeClr>
              </a:gs>
              <a:gs pos="21000">
                <a:schemeClr val="bg1">
                  <a:alpha val="30000"/>
                </a:schemeClr>
              </a:gs>
              <a:gs pos="0">
                <a:schemeClr val="bg1">
                  <a:alpha val="0"/>
                </a:schemeClr>
              </a:gs>
              <a:gs pos="100000">
                <a:schemeClr val="bg1">
                  <a:alpha val="9000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011F734-8170-4D33-9F89-B8487E92A73F}"/>
              </a:ext>
            </a:extLst>
          </p:cNvPr>
          <p:cNvSpPr>
            <a:spLocks noGrp="1"/>
          </p:cNvSpPr>
          <p:nvPr>
            <p:ph type="title"/>
          </p:nvPr>
        </p:nvSpPr>
        <p:spPr>
          <a:xfrm>
            <a:off x="303414" y="3091928"/>
            <a:ext cx="6808922" cy="2387600"/>
          </a:xfrm>
        </p:spPr>
        <p:txBody>
          <a:bodyPr vert="horz" lIns="91440" tIns="45720" rIns="91440" bIns="45720" rtlCol="0" anchor="b">
            <a:normAutofit/>
          </a:bodyPr>
          <a:lstStyle/>
          <a:p>
            <a:pPr algn="l"/>
            <a:r>
              <a:rPr lang="en-US" sz="5700"/>
              <a:t>Relationships </a:t>
            </a:r>
            <a:br>
              <a:rPr lang="en-US" sz="5700"/>
            </a:br>
            <a:r>
              <a:rPr lang="en-US" sz="5700"/>
              <a:t>and Well-Being</a:t>
            </a:r>
          </a:p>
        </p:txBody>
      </p:sp>
      <p:sp>
        <p:nvSpPr>
          <p:cNvPr id="18" name="Rectangle: Rounded Corners 17">
            <a:extLst>
              <a:ext uri="{FF2B5EF4-FFF2-40B4-BE49-F238E27FC236}">
                <a16:creationId xmlns:a16="http://schemas.microsoft.com/office/drawing/2014/main" id="{79F40191-0F44-4FD1-82CC-ACB507C14B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575039"/>
            <a:ext cx="7339422" cy="685800"/>
          </a:xfrm>
          <a:prstGeom prst="roundRect">
            <a:avLst>
              <a:gd name="adj"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ooter Placeholder 3">
            <a:extLst>
              <a:ext uri="{FF2B5EF4-FFF2-40B4-BE49-F238E27FC236}">
                <a16:creationId xmlns:a16="http://schemas.microsoft.com/office/drawing/2014/main" id="{D8308684-8AE9-514E-8894-7EB73D733C7E}"/>
              </a:ext>
            </a:extLst>
          </p:cNvPr>
          <p:cNvSpPr>
            <a:spLocks noGrp="1"/>
          </p:cNvSpPr>
          <p:nvPr>
            <p:ph type="ftr" sz="quarter" idx="10"/>
          </p:nvPr>
        </p:nvSpPr>
        <p:spPr>
          <a:xfrm>
            <a:off x="3028950" y="6356350"/>
            <a:ext cx="3086100" cy="365125"/>
          </a:xfrm>
        </p:spPr>
        <p:txBody>
          <a:bodyPr vert="horz" lIns="91440" tIns="45720" rIns="91440" bIns="45720" rtlCol="0" anchor="ctr">
            <a:normAutofit/>
          </a:bodyPr>
          <a:lstStyle/>
          <a:p>
            <a:pPr defTabSz="914400">
              <a:lnSpc>
                <a:spcPct val="90000"/>
              </a:lnSpc>
              <a:spcAft>
                <a:spcPts val="600"/>
              </a:spcAft>
              <a:defRPr/>
            </a:pPr>
            <a:r>
              <a:rPr lang="en-US" sz="900" kern="1200">
                <a:solidFill>
                  <a:schemeClr val="tx1"/>
                </a:solidFill>
                <a:latin typeface="Calibri" panose="020F0502020204030204"/>
                <a:ea typeface="+mn-ea"/>
                <a:cs typeface="+mn-cs"/>
              </a:rPr>
              <a:t>The Science and Application of Positive Psychology © Cambridge University Press 2021</a:t>
            </a:r>
          </a:p>
        </p:txBody>
      </p:sp>
    </p:spTree>
    <p:extLst>
      <p:ext uri="{BB962C8B-B14F-4D97-AF65-F5344CB8AC3E}">
        <p14:creationId xmlns:p14="http://schemas.microsoft.com/office/powerpoint/2010/main" val="1827647045"/>
      </p:ext>
    </p:extLst>
  </p:cSld>
  <p:clrMapOvr>
    <a:overrideClrMapping bg1="dk1" tx1="lt1" bg2="dk2" tx2="lt2" accent1="accent1" accent2="accent2" accent3="accent3" accent4="accent4" accent5="accent5" accent6="accent6" hlink="hlink" folHlink="folHlink"/>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217DF9-ECB2-4D0E-B741-01F32EC5F1EF}"/>
              </a:ext>
            </a:extLst>
          </p:cNvPr>
          <p:cNvSpPr>
            <a:spLocks noGrp="1"/>
          </p:cNvSpPr>
          <p:nvPr>
            <p:ph type="title"/>
          </p:nvPr>
        </p:nvSpPr>
        <p:spPr/>
        <p:txBody>
          <a:bodyPr/>
          <a:lstStyle/>
          <a:p>
            <a:pPr algn="ctr"/>
            <a:r>
              <a:rPr lang="en-US" dirty="0"/>
              <a:t>Different Kinds of Relationships</a:t>
            </a:r>
          </a:p>
        </p:txBody>
      </p:sp>
      <p:graphicFrame>
        <p:nvGraphicFramePr>
          <p:cNvPr id="13" name="Content Placeholder 2">
            <a:extLst>
              <a:ext uri="{FF2B5EF4-FFF2-40B4-BE49-F238E27FC236}">
                <a16:creationId xmlns:a16="http://schemas.microsoft.com/office/drawing/2014/main" id="{57EA0B40-4FD5-713B-906F-DD67A32FC4E3}"/>
              </a:ext>
            </a:extLst>
          </p:cNvPr>
          <p:cNvGraphicFramePr>
            <a:graphicFrameLocks noGrp="1"/>
          </p:cNvGraphicFramePr>
          <p:nvPr>
            <p:ph idx="1"/>
          </p:nvPr>
        </p:nvGraphicFramePr>
        <p:xfrm>
          <a:off x="628649" y="1825625"/>
          <a:ext cx="8120239"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Footer Placeholder 3">
            <a:extLst>
              <a:ext uri="{FF2B5EF4-FFF2-40B4-BE49-F238E27FC236}">
                <a16:creationId xmlns:a16="http://schemas.microsoft.com/office/drawing/2014/main" id="{65AC3A2D-1F6E-4841-A6B6-3D3F5C2FDA7C}"/>
              </a:ext>
            </a:extLst>
          </p:cNvPr>
          <p:cNvSpPr>
            <a:spLocks noGrp="1"/>
          </p:cNvSpPr>
          <p:nvPr>
            <p:ph type="ftr" sz="quarter" idx="11"/>
          </p:nvPr>
        </p:nvSpPr>
        <p:spPr>
          <a:xfrm>
            <a:off x="2002155" y="6354798"/>
            <a:ext cx="5730734" cy="461665"/>
          </a:xfrm>
        </p:spPr>
        <p:txBody>
          <a:bodyPr/>
          <a:lstStyle/>
          <a:p>
            <a:r>
              <a:rPr lang="en-US"/>
              <a:t>The Science and Application of Positive Psychology © Cambridge University Press 2021</a:t>
            </a:r>
            <a:endParaRPr lang="en-US" dirty="0"/>
          </a:p>
        </p:txBody>
      </p:sp>
    </p:spTree>
    <p:extLst>
      <p:ext uri="{BB962C8B-B14F-4D97-AF65-F5344CB8AC3E}">
        <p14:creationId xmlns:p14="http://schemas.microsoft.com/office/powerpoint/2010/main" val="5979235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9143999"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096642" y="0"/>
            <a:ext cx="3047358"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783777" y="-3783778"/>
            <a:ext cx="1576446" cy="9144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14217DF9-ECB2-4D0E-B741-01F32EC5F1EF}"/>
              </a:ext>
            </a:extLst>
          </p:cNvPr>
          <p:cNvSpPr>
            <a:spLocks noGrp="1"/>
          </p:cNvSpPr>
          <p:nvPr>
            <p:ph type="title"/>
          </p:nvPr>
        </p:nvSpPr>
        <p:spPr>
          <a:xfrm>
            <a:off x="1028697" y="348865"/>
            <a:ext cx="7533018" cy="877729"/>
          </a:xfrm>
        </p:spPr>
        <p:txBody>
          <a:bodyPr anchor="ctr">
            <a:normAutofit/>
          </a:bodyPr>
          <a:lstStyle/>
          <a:p>
            <a:r>
              <a:rPr lang="en-US" sz="3500">
                <a:solidFill>
                  <a:srgbClr val="FFFFFF"/>
                </a:solidFill>
              </a:rPr>
              <a:t>Having People in One’s Life</a:t>
            </a:r>
          </a:p>
        </p:txBody>
      </p:sp>
      <p:sp>
        <p:nvSpPr>
          <p:cNvPr id="5" name="Footer Placeholder 3">
            <a:extLst>
              <a:ext uri="{FF2B5EF4-FFF2-40B4-BE49-F238E27FC236}">
                <a16:creationId xmlns:a16="http://schemas.microsoft.com/office/drawing/2014/main" id="{E7C01503-E7A5-DA43-9AA7-E019A4E8C337}"/>
              </a:ext>
            </a:extLst>
          </p:cNvPr>
          <p:cNvSpPr>
            <a:spLocks noGrp="1"/>
          </p:cNvSpPr>
          <p:nvPr>
            <p:ph type="ftr" sz="quarter" idx="11"/>
          </p:nvPr>
        </p:nvSpPr>
        <p:spPr>
          <a:xfrm rot="5400000">
            <a:off x="-1371600" y="1984248"/>
            <a:ext cx="3086100" cy="365125"/>
          </a:xfrm>
        </p:spPr>
        <p:txBody>
          <a:bodyPr>
            <a:normAutofit/>
          </a:bodyPr>
          <a:lstStyle/>
          <a:p>
            <a:pPr algn="l">
              <a:lnSpc>
                <a:spcPct val="90000"/>
              </a:lnSpc>
              <a:spcAft>
                <a:spcPts val="600"/>
              </a:spcAft>
            </a:pPr>
            <a:r>
              <a:rPr lang="en-US" sz="900">
                <a:solidFill>
                  <a:srgbClr val="FFFFFF"/>
                </a:solidFill>
              </a:rPr>
              <a:t>The Science and Application of Positive Psychology © Cambridge University Press 2021</a:t>
            </a:r>
          </a:p>
        </p:txBody>
      </p:sp>
      <p:graphicFrame>
        <p:nvGraphicFramePr>
          <p:cNvPr id="7" name="Content Placeholder 2">
            <a:extLst>
              <a:ext uri="{FF2B5EF4-FFF2-40B4-BE49-F238E27FC236}">
                <a16:creationId xmlns:a16="http://schemas.microsoft.com/office/drawing/2014/main" id="{EBF2327E-F736-283A-B7D7-438DB602D956}"/>
              </a:ext>
            </a:extLst>
          </p:cNvPr>
          <p:cNvGraphicFramePr>
            <a:graphicFrameLocks noGrp="1"/>
          </p:cNvGraphicFramePr>
          <p:nvPr>
            <p:ph idx="1"/>
            <p:extLst>
              <p:ext uri="{D42A27DB-BD31-4B8C-83A1-F6EECF244321}">
                <p14:modId xmlns:p14="http://schemas.microsoft.com/office/powerpoint/2010/main" val="3426994282"/>
              </p:ext>
            </p:extLst>
          </p:nvPr>
        </p:nvGraphicFramePr>
        <p:xfrm>
          <a:off x="483042" y="2112579"/>
          <a:ext cx="8195871"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3241083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9">
            <a:extLst>
              <a:ext uri="{FF2B5EF4-FFF2-40B4-BE49-F238E27FC236}">
                <a16:creationId xmlns:a16="http://schemas.microsoft.com/office/drawing/2014/main" id="{F13C74B1-5B17-4795-BED0-7140497B44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5898E1E-1770-4742-A306-4D262F1E396F}"/>
              </a:ext>
            </a:extLst>
          </p:cNvPr>
          <p:cNvSpPr>
            <a:spLocks noGrp="1"/>
          </p:cNvSpPr>
          <p:nvPr>
            <p:ph type="title"/>
          </p:nvPr>
        </p:nvSpPr>
        <p:spPr>
          <a:xfrm>
            <a:off x="480060" y="325369"/>
            <a:ext cx="3276451" cy="1956841"/>
          </a:xfrm>
        </p:spPr>
        <p:txBody>
          <a:bodyPr anchor="b">
            <a:normAutofit/>
          </a:bodyPr>
          <a:lstStyle/>
          <a:p>
            <a:r>
              <a:rPr lang="en-US" sz="4300"/>
              <a:t>What Attracts Us to Another?</a:t>
            </a:r>
          </a:p>
        </p:txBody>
      </p:sp>
      <p:sp>
        <p:nvSpPr>
          <p:cNvPr id="12" name="sketchy line">
            <a:extLst>
              <a:ext uri="{FF2B5EF4-FFF2-40B4-BE49-F238E27FC236}">
                <a16:creationId xmlns:a16="http://schemas.microsoft.com/office/drawing/2014/main" id="{D4974D33-8DC5-464E-8C6D-BE58F0669C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0060" y="2586994"/>
            <a:ext cx="2606040" cy="18288"/>
          </a:xfrm>
          <a:custGeom>
            <a:avLst/>
            <a:gdLst>
              <a:gd name="connsiteX0" fmla="*/ 0 w 2606040"/>
              <a:gd name="connsiteY0" fmla="*/ 0 h 18288"/>
              <a:gd name="connsiteX1" fmla="*/ 625450 w 2606040"/>
              <a:gd name="connsiteY1" fmla="*/ 0 h 18288"/>
              <a:gd name="connsiteX2" fmla="*/ 1224839 w 2606040"/>
              <a:gd name="connsiteY2" fmla="*/ 0 h 18288"/>
              <a:gd name="connsiteX3" fmla="*/ 1824228 w 2606040"/>
              <a:gd name="connsiteY3" fmla="*/ 0 h 18288"/>
              <a:gd name="connsiteX4" fmla="*/ 2606040 w 2606040"/>
              <a:gd name="connsiteY4" fmla="*/ 0 h 18288"/>
              <a:gd name="connsiteX5" fmla="*/ 2606040 w 2606040"/>
              <a:gd name="connsiteY5" fmla="*/ 18288 h 18288"/>
              <a:gd name="connsiteX6" fmla="*/ 1902409 w 2606040"/>
              <a:gd name="connsiteY6" fmla="*/ 18288 h 18288"/>
              <a:gd name="connsiteX7" fmla="*/ 1276960 w 2606040"/>
              <a:gd name="connsiteY7" fmla="*/ 18288 h 18288"/>
              <a:gd name="connsiteX8" fmla="*/ 677570 w 2606040"/>
              <a:gd name="connsiteY8" fmla="*/ 18288 h 18288"/>
              <a:gd name="connsiteX9" fmla="*/ 0 w 2606040"/>
              <a:gd name="connsiteY9" fmla="*/ 18288 h 18288"/>
              <a:gd name="connsiteX10" fmla="*/ 0 w 2606040"/>
              <a:gd name="connsiteY10" fmla="*/ 0 h 18288"/>
              <a:gd name="connsiteX0" fmla="*/ 0 w 2606040"/>
              <a:gd name="connsiteY0" fmla="*/ 0 h 18288"/>
              <a:gd name="connsiteX1" fmla="*/ 599389 w 2606040"/>
              <a:gd name="connsiteY1" fmla="*/ 0 h 18288"/>
              <a:gd name="connsiteX2" fmla="*/ 1303020 w 2606040"/>
              <a:gd name="connsiteY2" fmla="*/ 0 h 18288"/>
              <a:gd name="connsiteX3" fmla="*/ 1876349 w 2606040"/>
              <a:gd name="connsiteY3" fmla="*/ 0 h 18288"/>
              <a:gd name="connsiteX4" fmla="*/ 2606040 w 2606040"/>
              <a:gd name="connsiteY4" fmla="*/ 0 h 18288"/>
              <a:gd name="connsiteX5" fmla="*/ 2606040 w 2606040"/>
              <a:gd name="connsiteY5" fmla="*/ 18288 h 18288"/>
              <a:gd name="connsiteX6" fmla="*/ 1980590 w 2606040"/>
              <a:gd name="connsiteY6" fmla="*/ 18288 h 18288"/>
              <a:gd name="connsiteX7" fmla="*/ 1276960 w 2606040"/>
              <a:gd name="connsiteY7" fmla="*/ 18288 h 18288"/>
              <a:gd name="connsiteX8" fmla="*/ 651510 w 2606040"/>
              <a:gd name="connsiteY8" fmla="*/ 18288 h 18288"/>
              <a:gd name="connsiteX9" fmla="*/ 0 w 2606040"/>
              <a:gd name="connsiteY9" fmla="*/ 18288 h 18288"/>
              <a:gd name="connsiteX10" fmla="*/ 0 w 2606040"/>
              <a:gd name="connsiteY10"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606040" h="18288" fill="none" extrusionOk="0">
                <a:moveTo>
                  <a:pt x="0" y="0"/>
                </a:moveTo>
                <a:cubicBezTo>
                  <a:pt x="211079" y="-22080"/>
                  <a:pt x="479378" y="-26537"/>
                  <a:pt x="625450" y="0"/>
                </a:cubicBezTo>
                <a:cubicBezTo>
                  <a:pt x="925937" y="-4758"/>
                  <a:pt x="973176" y="15739"/>
                  <a:pt x="1224839" y="0"/>
                </a:cubicBezTo>
                <a:cubicBezTo>
                  <a:pt x="1479663" y="-11328"/>
                  <a:pt x="1566636" y="18697"/>
                  <a:pt x="1824228" y="0"/>
                </a:cubicBezTo>
                <a:cubicBezTo>
                  <a:pt x="2086799" y="-72665"/>
                  <a:pt x="2306223" y="-891"/>
                  <a:pt x="2606040" y="0"/>
                </a:cubicBezTo>
                <a:cubicBezTo>
                  <a:pt x="2606645" y="4461"/>
                  <a:pt x="2607031" y="13181"/>
                  <a:pt x="2606040" y="18288"/>
                </a:cubicBezTo>
                <a:cubicBezTo>
                  <a:pt x="2260204" y="29342"/>
                  <a:pt x="2175708" y="5614"/>
                  <a:pt x="1902409" y="18288"/>
                </a:cubicBezTo>
                <a:cubicBezTo>
                  <a:pt x="1638502" y="41064"/>
                  <a:pt x="1460923" y="-16269"/>
                  <a:pt x="1276960" y="18288"/>
                </a:cubicBezTo>
                <a:cubicBezTo>
                  <a:pt x="1057717" y="14361"/>
                  <a:pt x="867956" y="2320"/>
                  <a:pt x="677570" y="18288"/>
                </a:cubicBezTo>
                <a:cubicBezTo>
                  <a:pt x="457951" y="33373"/>
                  <a:pt x="189752" y="55388"/>
                  <a:pt x="0" y="18288"/>
                </a:cubicBezTo>
                <a:cubicBezTo>
                  <a:pt x="1586" y="13022"/>
                  <a:pt x="-95" y="4569"/>
                  <a:pt x="0" y="0"/>
                </a:cubicBezTo>
                <a:close/>
              </a:path>
              <a:path w="2606040" h="18288" stroke="0" extrusionOk="0">
                <a:moveTo>
                  <a:pt x="0" y="0"/>
                </a:moveTo>
                <a:cubicBezTo>
                  <a:pt x="172759" y="3236"/>
                  <a:pt x="361166" y="-13413"/>
                  <a:pt x="599389" y="0"/>
                </a:cubicBezTo>
                <a:cubicBezTo>
                  <a:pt x="841226" y="37042"/>
                  <a:pt x="968991" y="14587"/>
                  <a:pt x="1303020" y="0"/>
                </a:cubicBezTo>
                <a:cubicBezTo>
                  <a:pt x="1643101" y="-7120"/>
                  <a:pt x="1717813" y="7213"/>
                  <a:pt x="1876349" y="0"/>
                </a:cubicBezTo>
                <a:cubicBezTo>
                  <a:pt x="2036762" y="-14138"/>
                  <a:pt x="2426397" y="-4451"/>
                  <a:pt x="2606040" y="0"/>
                </a:cubicBezTo>
                <a:cubicBezTo>
                  <a:pt x="2606314" y="8448"/>
                  <a:pt x="2606550" y="14527"/>
                  <a:pt x="2606040" y="18288"/>
                </a:cubicBezTo>
                <a:cubicBezTo>
                  <a:pt x="2344840" y="2643"/>
                  <a:pt x="2192043" y="7399"/>
                  <a:pt x="1980590" y="18288"/>
                </a:cubicBezTo>
                <a:cubicBezTo>
                  <a:pt x="1783984" y="-9745"/>
                  <a:pt x="1487673" y="45908"/>
                  <a:pt x="1276960" y="18288"/>
                </a:cubicBezTo>
                <a:cubicBezTo>
                  <a:pt x="1088134" y="-41257"/>
                  <a:pt x="877974" y="49968"/>
                  <a:pt x="651510" y="18288"/>
                </a:cubicBezTo>
                <a:cubicBezTo>
                  <a:pt x="430798" y="-27764"/>
                  <a:pt x="132889" y="-33467"/>
                  <a:pt x="0" y="18288"/>
                </a:cubicBezTo>
                <a:cubicBezTo>
                  <a:pt x="212" y="10845"/>
                  <a:pt x="-833" y="6193"/>
                  <a:pt x="0" y="0"/>
                </a:cubicBezTo>
                <a:close/>
              </a:path>
              <a:path w="2606040" h="18288" fill="none" stroke="0" extrusionOk="0">
                <a:moveTo>
                  <a:pt x="0" y="0"/>
                </a:moveTo>
                <a:cubicBezTo>
                  <a:pt x="202328" y="-14716"/>
                  <a:pt x="332722" y="-11499"/>
                  <a:pt x="625450" y="0"/>
                </a:cubicBezTo>
                <a:cubicBezTo>
                  <a:pt x="927712" y="6878"/>
                  <a:pt x="971143" y="7084"/>
                  <a:pt x="1224839" y="0"/>
                </a:cubicBezTo>
                <a:cubicBezTo>
                  <a:pt x="1477775" y="-16815"/>
                  <a:pt x="1569904" y="19146"/>
                  <a:pt x="1824228" y="0"/>
                </a:cubicBezTo>
                <a:cubicBezTo>
                  <a:pt x="2055206" y="24867"/>
                  <a:pt x="2317192" y="-62872"/>
                  <a:pt x="2606040" y="0"/>
                </a:cubicBezTo>
                <a:cubicBezTo>
                  <a:pt x="2606166" y="3680"/>
                  <a:pt x="2606905" y="11461"/>
                  <a:pt x="2606040" y="18288"/>
                </a:cubicBezTo>
                <a:cubicBezTo>
                  <a:pt x="2234648" y="26976"/>
                  <a:pt x="2180202" y="-10361"/>
                  <a:pt x="1902409" y="18288"/>
                </a:cubicBezTo>
                <a:cubicBezTo>
                  <a:pt x="1635562" y="47194"/>
                  <a:pt x="1477339" y="4794"/>
                  <a:pt x="1276960" y="18288"/>
                </a:cubicBezTo>
                <a:cubicBezTo>
                  <a:pt x="1058094" y="66922"/>
                  <a:pt x="904206" y="-20636"/>
                  <a:pt x="677570" y="18288"/>
                </a:cubicBezTo>
                <a:cubicBezTo>
                  <a:pt x="485746" y="14713"/>
                  <a:pt x="195925" y="33005"/>
                  <a:pt x="0" y="18288"/>
                </a:cubicBezTo>
                <a:cubicBezTo>
                  <a:pt x="1168" y="12774"/>
                  <a:pt x="-229" y="3745"/>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custGeom>
                    <a:avLst/>
                    <a:gdLst>
                      <a:gd name="connsiteX0" fmla="*/ 0 w 2606040"/>
                      <a:gd name="connsiteY0" fmla="*/ 0 h 18288"/>
                      <a:gd name="connsiteX1" fmla="*/ 625450 w 2606040"/>
                      <a:gd name="connsiteY1" fmla="*/ 0 h 18288"/>
                      <a:gd name="connsiteX2" fmla="*/ 1224839 w 2606040"/>
                      <a:gd name="connsiteY2" fmla="*/ 0 h 18288"/>
                      <a:gd name="connsiteX3" fmla="*/ 1824228 w 2606040"/>
                      <a:gd name="connsiteY3" fmla="*/ 0 h 18288"/>
                      <a:gd name="connsiteX4" fmla="*/ 2606040 w 2606040"/>
                      <a:gd name="connsiteY4" fmla="*/ 0 h 18288"/>
                      <a:gd name="connsiteX5" fmla="*/ 2606040 w 2606040"/>
                      <a:gd name="connsiteY5" fmla="*/ 18288 h 18288"/>
                      <a:gd name="connsiteX6" fmla="*/ 1902409 w 2606040"/>
                      <a:gd name="connsiteY6" fmla="*/ 18288 h 18288"/>
                      <a:gd name="connsiteX7" fmla="*/ 1276960 w 2606040"/>
                      <a:gd name="connsiteY7" fmla="*/ 18288 h 18288"/>
                      <a:gd name="connsiteX8" fmla="*/ 677570 w 2606040"/>
                      <a:gd name="connsiteY8" fmla="*/ 18288 h 18288"/>
                      <a:gd name="connsiteX9" fmla="*/ 0 w 2606040"/>
                      <a:gd name="connsiteY9" fmla="*/ 18288 h 18288"/>
                      <a:gd name="connsiteX10" fmla="*/ 0 w 2606040"/>
                      <a:gd name="connsiteY10"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606040" h="18288" fill="none" extrusionOk="0">
                        <a:moveTo>
                          <a:pt x="0" y="0"/>
                        </a:moveTo>
                        <a:cubicBezTo>
                          <a:pt x="266776" y="-600"/>
                          <a:pt x="322756" y="3201"/>
                          <a:pt x="625450" y="0"/>
                        </a:cubicBezTo>
                        <a:cubicBezTo>
                          <a:pt x="928144" y="-3201"/>
                          <a:pt x="968141" y="9269"/>
                          <a:pt x="1224839" y="0"/>
                        </a:cubicBezTo>
                        <a:cubicBezTo>
                          <a:pt x="1481537" y="-9269"/>
                          <a:pt x="1569059" y="21947"/>
                          <a:pt x="1824228" y="0"/>
                        </a:cubicBezTo>
                        <a:cubicBezTo>
                          <a:pt x="2079397" y="-21947"/>
                          <a:pt x="2326053" y="-10194"/>
                          <a:pt x="2606040" y="0"/>
                        </a:cubicBezTo>
                        <a:cubicBezTo>
                          <a:pt x="2605462" y="4771"/>
                          <a:pt x="2606793" y="12323"/>
                          <a:pt x="2606040" y="18288"/>
                        </a:cubicBezTo>
                        <a:cubicBezTo>
                          <a:pt x="2256758" y="31410"/>
                          <a:pt x="2173673" y="-12878"/>
                          <a:pt x="1902409" y="18288"/>
                        </a:cubicBezTo>
                        <a:cubicBezTo>
                          <a:pt x="1631145" y="49454"/>
                          <a:pt x="1461378" y="5466"/>
                          <a:pt x="1276960" y="18288"/>
                        </a:cubicBezTo>
                        <a:cubicBezTo>
                          <a:pt x="1092542" y="31110"/>
                          <a:pt x="890442" y="13213"/>
                          <a:pt x="677570" y="18288"/>
                        </a:cubicBezTo>
                        <a:cubicBezTo>
                          <a:pt x="464698" y="23364"/>
                          <a:pt x="187648" y="35837"/>
                          <a:pt x="0" y="18288"/>
                        </a:cubicBezTo>
                        <a:cubicBezTo>
                          <a:pt x="841" y="12879"/>
                          <a:pt x="-726" y="3977"/>
                          <a:pt x="0" y="0"/>
                        </a:cubicBezTo>
                        <a:close/>
                      </a:path>
                      <a:path w="2606040" h="18288" stroke="0" extrusionOk="0">
                        <a:moveTo>
                          <a:pt x="0" y="0"/>
                        </a:moveTo>
                        <a:cubicBezTo>
                          <a:pt x="197231" y="3803"/>
                          <a:pt x="358914" y="-9291"/>
                          <a:pt x="599389" y="0"/>
                        </a:cubicBezTo>
                        <a:cubicBezTo>
                          <a:pt x="839864" y="9291"/>
                          <a:pt x="979371" y="8509"/>
                          <a:pt x="1303020" y="0"/>
                        </a:cubicBezTo>
                        <a:cubicBezTo>
                          <a:pt x="1626669" y="-8509"/>
                          <a:pt x="1726300" y="7440"/>
                          <a:pt x="1876349" y="0"/>
                        </a:cubicBezTo>
                        <a:cubicBezTo>
                          <a:pt x="2026398" y="-7440"/>
                          <a:pt x="2430712" y="17957"/>
                          <a:pt x="2606040" y="0"/>
                        </a:cubicBezTo>
                        <a:cubicBezTo>
                          <a:pt x="2605426" y="8857"/>
                          <a:pt x="2606544" y="13619"/>
                          <a:pt x="2606040" y="18288"/>
                        </a:cubicBezTo>
                        <a:cubicBezTo>
                          <a:pt x="2393024" y="2241"/>
                          <a:pt x="2191161" y="39259"/>
                          <a:pt x="1980590" y="18288"/>
                        </a:cubicBezTo>
                        <a:cubicBezTo>
                          <a:pt x="1770019" y="-2683"/>
                          <a:pt x="1476440" y="36114"/>
                          <a:pt x="1276960" y="18288"/>
                        </a:cubicBezTo>
                        <a:cubicBezTo>
                          <a:pt x="1077480" y="463"/>
                          <a:pt x="880988" y="42125"/>
                          <a:pt x="651510" y="18288"/>
                        </a:cubicBezTo>
                        <a:cubicBezTo>
                          <a:pt x="422032" y="-5549"/>
                          <a:pt x="130744" y="-1947"/>
                          <a:pt x="0" y="18288"/>
                        </a:cubicBezTo>
                        <a:cubicBezTo>
                          <a:pt x="-487" y="10816"/>
                          <a:pt x="-839" y="6058"/>
                          <a:pt x="0" y="0"/>
                        </a:cubicBezTo>
                        <a:close/>
                      </a:path>
                    </a:pathLst>
                  </a:cu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0ACCCDD9-77AF-4BAE-8FE1-F549A2BAB5F2}"/>
              </a:ext>
            </a:extLst>
          </p:cNvPr>
          <p:cNvSpPr>
            <a:spLocks noGrp="1"/>
          </p:cNvSpPr>
          <p:nvPr>
            <p:ph idx="1"/>
          </p:nvPr>
        </p:nvSpPr>
        <p:spPr>
          <a:xfrm>
            <a:off x="480060" y="2872899"/>
            <a:ext cx="3182691" cy="3320668"/>
          </a:xfrm>
        </p:spPr>
        <p:txBody>
          <a:bodyPr>
            <a:normAutofit/>
          </a:bodyPr>
          <a:lstStyle/>
          <a:p>
            <a:r>
              <a:rPr lang="en-US" sz="1800"/>
              <a:t>Proximity, physical attractiveness, attitude similarity, reciprocity</a:t>
            </a:r>
          </a:p>
          <a:p>
            <a:r>
              <a:rPr lang="en-US" sz="1800"/>
              <a:t>Physical allure</a:t>
            </a:r>
          </a:p>
          <a:p>
            <a:r>
              <a:rPr lang="en-US" sz="1800"/>
              <a:t>The color red</a:t>
            </a:r>
          </a:p>
          <a:p>
            <a:r>
              <a:rPr lang="en-US" sz="1800"/>
              <a:t>Ideals of attractiveness differ among cultures</a:t>
            </a:r>
          </a:p>
          <a:p>
            <a:r>
              <a:rPr lang="en-US" sz="1800"/>
              <a:t>Similarity of attitudes and values—see high similarity with happily married couples</a:t>
            </a:r>
          </a:p>
        </p:txBody>
      </p:sp>
      <p:pic>
        <p:nvPicPr>
          <p:cNvPr id="5" name="Picture 4">
            <a:extLst>
              <a:ext uri="{FF2B5EF4-FFF2-40B4-BE49-F238E27FC236}">
                <a16:creationId xmlns:a16="http://schemas.microsoft.com/office/drawing/2014/main" id="{2CC8DBF2-1F0E-404F-ADCA-B5D31DAD1106}"/>
              </a:ext>
            </a:extLst>
          </p:cNvPr>
          <p:cNvPicPr>
            <a:picLocks noChangeAspect="1"/>
          </p:cNvPicPr>
          <p:nvPr/>
        </p:nvPicPr>
        <p:blipFill rotWithShape="1">
          <a:blip r:embed="rId2"/>
          <a:srcRect t="391" r="2" b="2"/>
          <a:stretch/>
        </p:blipFill>
        <p:spPr>
          <a:xfrm>
            <a:off x="3983776" y="10"/>
            <a:ext cx="5159081"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
        <p:nvSpPr>
          <p:cNvPr id="4" name="Footer Placeholder 3">
            <a:extLst>
              <a:ext uri="{FF2B5EF4-FFF2-40B4-BE49-F238E27FC236}">
                <a16:creationId xmlns:a16="http://schemas.microsoft.com/office/drawing/2014/main" id="{FAC40DAA-C52A-4B77-8849-85D889CFFA8F}"/>
              </a:ext>
            </a:extLst>
          </p:cNvPr>
          <p:cNvSpPr>
            <a:spLocks noGrp="1"/>
          </p:cNvSpPr>
          <p:nvPr>
            <p:ph type="ftr" sz="quarter" idx="11"/>
          </p:nvPr>
        </p:nvSpPr>
        <p:spPr>
          <a:xfrm>
            <a:off x="4686300" y="6356350"/>
            <a:ext cx="3086100" cy="365125"/>
          </a:xfrm>
        </p:spPr>
        <p:txBody>
          <a:bodyPr>
            <a:normAutofit/>
          </a:bodyPr>
          <a:lstStyle/>
          <a:p>
            <a:pPr algn="l">
              <a:lnSpc>
                <a:spcPct val="90000"/>
              </a:lnSpc>
              <a:spcAft>
                <a:spcPts val="600"/>
              </a:spcAft>
            </a:pPr>
            <a:r>
              <a:rPr lang="en-US" sz="900">
                <a:solidFill>
                  <a:srgbClr val="FFFFFF"/>
                </a:solidFill>
              </a:rPr>
              <a:t>The Science of Positive Psychology © Cambridge University Press 2021</a:t>
            </a:r>
          </a:p>
        </p:txBody>
      </p:sp>
    </p:spTree>
    <p:extLst>
      <p:ext uri="{BB962C8B-B14F-4D97-AF65-F5344CB8AC3E}">
        <p14:creationId xmlns:p14="http://schemas.microsoft.com/office/powerpoint/2010/main" val="32496633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217DF9-ECB2-4D0E-B741-01F32EC5F1EF}"/>
              </a:ext>
            </a:extLst>
          </p:cNvPr>
          <p:cNvSpPr>
            <a:spLocks noGrp="1"/>
          </p:cNvSpPr>
          <p:nvPr>
            <p:ph type="title"/>
          </p:nvPr>
        </p:nvSpPr>
        <p:spPr>
          <a:xfrm>
            <a:off x="1240022" y="365760"/>
            <a:ext cx="7025402" cy="1188720"/>
          </a:xfrm>
        </p:spPr>
        <p:txBody>
          <a:bodyPr>
            <a:normAutofit/>
          </a:bodyPr>
          <a:lstStyle/>
          <a:p>
            <a:r>
              <a:rPr lang="en-US" dirty="0"/>
              <a:t>Friendships</a:t>
            </a:r>
          </a:p>
        </p:txBody>
      </p:sp>
      <p:sp>
        <p:nvSpPr>
          <p:cNvPr id="10" name="Freeform: Shape 9">
            <a:extLst>
              <a:ext uri="{FF2B5EF4-FFF2-40B4-BE49-F238E27FC236}">
                <a16:creationId xmlns:a16="http://schemas.microsoft.com/office/drawing/2014/main" id="{7CB4857B-ED7C-444D-9F04-2F885114A1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323075" cy="1558212"/>
          </a:xfrm>
          <a:custGeom>
            <a:avLst/>
            <a:gdLst>
              <a:gd name="connsiteX0" fmla="*/ 0 w 1764099"/>
              <a:gd name="connsiteY0" fmla="*/ 0 h 1558212"/>
              <a:gd name="connsiteX1" fmla="*/ 1764099 w 1764099"/>
              <a:gd name="connsiteY1" fmla="*/ 0 h 1558212"/>
              <a:gd name="connsiteX2" fmla="*/ 1042087 w 1764099"/>
              <a:gd name="connsiteY2" fmla="*/ 1558212 h 1558212"/>
              <a:gd name="connsiteX3" fmla="*/ 0 w 1764099"/>
              <a:gd name="connsiteY3" fmla="*/ 1558212 h 1558212"/>
            </a:gdLst>
            <a:ahLst/>
            <a:cxnLst>
              <a:cxn ang="0">
                <a:pos x="connsiteX0" y="connsiteY0"/>
              </a:cxn>
              <a:cxn ang="0">
                <a:pos x="connsiteX1" y="connsiteY1"/>
              </a:cxn>
              <a:cxn ang="0">
                <a:pos x="connsiteX2" y="connsiteY2"/>
              </a:cxn>
              <a:cxn ang="0">
                <a:pos x="connsiteX3" y="connsiteY3"/>
              </a:cxn>
            </a:cxnLst>
            <a:rect l="l" t="t" r="r" b="b"/>
            <a:pathLst>
              <a:path w="1764099" h="1558212">
                <a:moveTo>
                  <a:pt x="0" y="0"/>
                </a:moveTo>
                <a:lnTo>
                  <a:pt x="1764099" y="0"/>
                </a:lnTo>
                <a:lnTo>
                  <a:pt x="1042087" y="1558212"/>
                </a:lnTo>
                <a:lnTo>
                  <a:pt x="0" y="1558212"/>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Freeform: Shape 11">
            <a:extLst>
              <a:ext uri="{FF2B5EF4-FFF2-40B4-BE49-F238E27FC236}">
                <a16:creationId xmlns:a16="http://schemas.microsoft.com/office/drawing/2014/main" id="{D18046FB-44EA-4FD8-A585-EA09A319B2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91640"/>
            <a:ext cx="9144000" cy="5166360"/>
          </a:xfrm>
          <a:custGeom>
            <a:avLst/>
            <a:gdLst>
              <a:gd name="connsiteX0" fmla="*/ 0 w 12191999"/>
              <a:gd name="connsiteY0" fmla="*/ 0 h 5166360"/>
              <a:gd name="connsiteX1" fmla="*/ 1822388 w 12191999"/>
              <a:gd name="connsiteY1" fmla="*/ 0 h 5166360"/>
              <a:gd name="connsiteX2" fmla="*/ 6468290 w 12191999"/>
              <a:gd name="connsiteY2" fmla="*/ 0 h 5166360"/>
              <a:gd name="connsiteX3" fmla="*/ 7796394 w 12191999"/>
              <a:gd name="connsiteY3" fmla="*/ 0 h 5166360"/>
              <a:gd name="connsiteX4" fmla="*/ 8376834 w 12191999"/>
              <a:gd name="connsiteY4" fmla="*/ 0 h 5166360"/>
              <a:gd name="connsiteX5" fmla="*/ 9704938 w 12191999"/>
              <a:gd name="connsiteY5" fmla="*/ 0 h 5166360"/>
              <a:gd name="connsiteX6" fmla="*/ 9704938 w 12191999"/>
              <a:gd name="connsiteY6" fmla="*/ 2 h 5166360"/>
              <a:gd name="connsiteX7" fmla="*/ 10283456 w 12191999"/>
              <a:gd name="connsiteY7" fmla="*/ 2 h 5166360"/>
              <a:gd name="connsiteX8" fmla="*/ 10863897 w 12191999"/>
              <a:gd name="connsiteY8" fmla="*/ 2 h 5166360"/>
              <a:gd name="connsiteX9" fmla="*/ 12191999 w 12191999"/>
              <a:gd name="connsiteY9" fmla="*/ 2 h 5166360"/>
              <a:gd name="connsiteX10" fmla="*/ 12191999 w 12191999"/>
              <a:gd name="connsiteY10" fmla="*/ 5166360 h 5166360"/>
              <a:gd name="connsiteX11" fmla="*/ 0 w 12191999"/>
              <a:gd name="connsiteY11" fmla="*/ 5166360 h 5166360"/>
              <a:gd name="connsiteX12" fmla="*/ 0 w 12191999"/>
              <a:gd name="connsiteY12" fmla="*/ 2604436 h 5166360"/>
              <a:gd name="connsiteX13" fmla="*/ 862341 w 12191999"/>
              <a:gd name="connsiteY13" fmla="*/ 743371 h 5166360"/>
              <a:gd name="connsiteX14" fmla="*/ 0 w 12191999"/>
              <a:gd name="connsiteY14" fmla="*/ 743371 h 5166360"/>
              <a:gd name="connsiteX15" fmla="*/ 0 w 12191999"/>
              <a:gd name="connsiteY15" fmla="*/ 742508 h 5166360"/>
              <a:gd name="connsiteX16" fmla="*/ 92826 w 12191999"/>
              <a:gd name="connsiteY16" fmla="*/ 742508 h 5166360"/>
              <a:gd name="connsiteX17" fmla="*/ 406486 w 12191999"/>
              <a:gd name="connsiteY17" fmla="*/ 742508 h 5166360"/>
              <a:gd name="connsiteX18" fmla="*/ 406486 w 12191999"/>
              <a:gd name="connsiteY18" fmla="*/ 742507 h 5166360"/>
              <a:gd name="connsiteX19" fmla="*/ 862741 w 12191999"/>
              <a:gd name="connsiteY19" fmla="*/ 742507 h 5166360"/>
              <a:gd name="connsiteX20" fmla="*/ 1206388 w 12191999"/>
              <a:gd name="connsiteY20" fmla="*/ 864 h 5166360"/>
              <a:gd name="connsiteX21" fmla="*/ 748500 w 12191999"/>
              <a:gd name="connsiteY21" fmla="*/ 864 h 5166360"/>
              <a:gd name="connsiteX22" fmla="*/ 0 w 12191999"/>
              <a:gd name="connsiteY22" fmla="*/ 864 h 5166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2191999" h="5166360">
                <a:moveTo>
                  <a:pt x="0" y="0"/>
                </a:moveTo>
                <a:lnTo>
                  <a:pt x="1822388" y="0"/>
                </a:lnTo>
                <a:lnTo>
                  <a:pt x="6468290" y="0"/>
                </a:lnTo>
                <a:lnTo>
                  <a:pt x="7796394" y="0"/>
                </a:lnTo>
                <a:lnTo>
                  <a:pt x="8376834" y="0"/>
                </a:lnTo>
                <a:lnTo>
                  <a:pt x="9704938" y="0"/>
                </a:lnTo>
                <a:lnTo>
                  <a:pt x="9704938" y="2"/>
                </a:lnTo>
                <a:lnTo>
                  <a:pt x="10283456" y="2"/>
                </a:lnTo>
                <a:lnTo>
                  <a:pt x="10863897" y="2"/>
                </a:lnTo>
                <a:lnTo>
                  <a:pt x="12191999" y="2"/>
                </a:lnTo>
                <a:lnTo>
                  <a:pt x="12191999" y="5166360"/>
                </a:lnTo>
                <a:lnTo>
                  <a:pt x="0" y="5166360"/>
                </a:lnTo>
                <a:lnTo>
                  <a:pt x="0" y="2604436"/>
                </a:lnTo>
                <a:lnTo>
                  <a:pt x="862341" y="743371"/>
                </a:lnTo>
                <a:lnTo>
                  <a:pt x="0" y="743371"/>
                </a:lnTo>
                <a:lnTo>
                  <a:pt x="0" y="742508"/>
                </a:lnTo>
                <a:lnTo>
                  <a:pt x="92826" y="742508"/>
                </a:lnTo>
                <a:lnTo>
                  <a:pt x="406486" y="742508"/>
                </a:lnTo>
                <a:lnTo>
                  <a:pt x="406486" y="742507"/>
                </a:lnTo>
                <a:lnTo>
                  <a:pt x="862741" y="742507"/>
                </a:lnTo>
                <a:lnTo>
                  <a:pt x="1206388" y="864"/>
                </a:lnTo>
                <a:lnTo>
                  <a:pt x="748500" y="864"/>
                </a:lnTo>
                <a:lnTo>
                  <a:pt x="0" y="864"/>
                </a:lnTo>
                <a:close/>
              </a:path>
            </a:pathLst>
          </a:custGeom>
          <a:solidFill>
            <a:srgbClr val="A6A6A6">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479F5F2B-8B58-4140-AE6A-51F6C67B18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91641"/>
            <a:ext cx="728740" cy="2096979"/>
          </a:xfrm>
          <a:custGeom>
            <a:avLst/>
            <a:gdLst>
              <a:gd name="connsiteX0" fmla="*/ 0 w 971654"/>
              <a:gd name="connsiteY0" fmla="*/ 0 h 2096979"/>
              <a:gd name="connsiteX1" fmla="*/ 971654 w 971654"/>
              <a:gd name="connsiteY1" fmla="*/ 0 h 2096979"/>
              <a:gd name="connsiteX2" fmla="*/ 0 w 971654"/>
              <a:gd name="connsiteY2" fmla="*/ 2096979 h 2096979"/>
            </a:gdLst>
            <a:ahLst/>
            <a:cxnLst>
              <a:cxn ang="0">
                <a:pos x="connsiteX0" y="connsiteY0"/>
              </a:cxn>
              <a:cxn ang="0">
                <a:pos x="connsiteX1" y="connsiteY1"/>
              </a:cxn>
              <a:cxn ang="0">
                <a:pos x="connsiteX2" y="connsiteY2"/>
              </a:cxn>
            </a:cxnLst>
            <a:rect l="l" t="t" r="r" b="b"/>
            <a:pathLst>
              <a:path w="971654" h="2096979">
                <a:moveTo>
                  <a:pt x="0" y="0"/>
                </a:moveTo>
                <a:lnTo>
                  <a:pt x="971654" y="0"/>
                </a:lnTo>
                <a:lnTo>
                  <a:pt x="0" y="2096979"/>
                </a:lnTo>
                <a:close/>
              </a:path>
            </a:pathLst>
          </a:cu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Content Placeholder 2">
            <a:extLst>
              <a:ext uri="{FF2B5EF4-FFF2-40B4-BE49-F238E27FC236}">
                <a16:creationId xmlns:a16="http://schemas.microsoft.com/office/drawing/2014/main" id="{DB0882FA-7159-46CF-8CC1-9A314191F25E}"/>
              </a:ext>
            </a:extLst>
          </p:cNvPr>
          <p:cNvSpPr>
            <a:spLocks noGrp="1"/>
          </p:cNvSpPr>
          <p:nvPr>
            <p:ph idx="1"/>
          </p:nvPr>
        </p:nvSpPr>
        <p:spPr>
          <a:xfrm>
            <a:off x="1240022" y="1695372"/>
            <a:ext cx="7025403" cy="4522548"/>
          </a:xfrm>
        </p:spPr>
        <p:txBody>
          <a:bodyPr anchor="t">
            <a:noAutofit/>
          </a:bodyPr>
          <a:lstStyle/>
          <a:p>
            <a:r>
              <a:rPr lang="en-US" sz="1800" i="1" dirty="0"/>
              <a:t>Friendship</a:t>
            </a:r>
            <a:r>
              <a:rPr lang="en-US" sz="1800" dirty="0"/>
              <a:t>: A voluntary interdependence between two people that includes the satisfaction of interpersonal needs or desires such as intimacy, support, or self-validation.</a:t>
            </a:r>
          </a:p>
          <a:p>
            <a:r>
              <a:rPr lang="en-US" sz="1800" dirty="0"/>
              <a:t>Both quantity and quality of friendships are associated with happiness, but quality matters more.</a:t>
            </a:r>
          </a:p>
          <a:p>
            <a:pPr lvl="1"/>
            <a:r>
              <a:rPr lang="en-US" sz="1800" dirty="0"/>
              <a:t>Quantity: Although studies have shown positive associations between quantity of friends and psychological well-being (e.g., Berry &amp; Hansen, 1996; Demir &amp; </a:t>
            </a:r>
            <a:r>
              <a:rPr lang="en-US" sz="1800" dirty="0" err="1"/>
              <a:t>Weitkamp</a:t>
            </a:r>
            <a:r>
              <a:rPr lang="en-US" sz="1800" dirty="0"/>
              <a:t>, 2007), correlations are typically below 0.20. </a:t>
            </a:r>
          </a:p>
          <a:p>
            <a:pPr lvl="1"/>
            <a:r>
              <a:rPr lang="en-US" sz="1800" dirty="0"/>
              <a:t>Quality: Correlations for friendship quality with psychological well-being are generally in the range of 0.20–0.60 (e.g., Brannon et al., 2013; Demir et al., 2015). </a:t>
            </a:r>
          </a:p>
          <a:p>
            <a:pPr lvl="1"/>
            <a:r>
              <a:rPr lang="en-US" sz="1800" dirty="0"/>
              <a:t>The relationship between friendship quality and well-being appears to depend on the closeness of the friendship. That is, the quality of close friendships—including best friendships—are associated with well-being to a greater degree than the quality of less-close friendships (Demir et al., 2015).</a:t>
            </a:r>
          </a:p>
        </p:txBody>
      </p:sp>
      <p:sp>
        <p:nvSpPr>
          <p:cNvPr id="5" name="Footer Placeholder 3">
            <a:extLst>
              <a:ext uri="{FF2B5EF4-FFF2-40B4-BE49-F238E27FC236}">
                <a16:creationId xmlns:a16="http://schemas.microsoft.com/office/drawing/2014/main" id="{0A6A3B5C-CECE-0346-8846-E159EAC9990B}"/>
              </a:ext>
            </a:extLst>
          </p:cNvPr>
          <p:cNvSpPr>
            <a:spLocks noGrp="1"/>
          </p:cNvSpPr>
          <p:nvPr>
            <p:ph type="ftr" sz="quarter" idx="11"/>
          </p:nvPr>
        </p:nvSpPr>
        <p:spPr>
          <a:xfrm>
            <a:off x="3208025" y="6356350"/>
            <a:ext cx="3086100" cy="365125"/>
          </a:xfrm>
        </p:spPr>
        <p:txBody>
          <a:bodyPr>
            <a:normAutofit/>
          </a:bodyPr>
          <a:lstStyle/>
          <a:p>
            <a:pPr>
              <a:lnSpc>
                <a:spcPct val="90000"/>
              </a:lnSpc>
              <a:spcAft>
                <a:spcPts val="600"/>
              </a:spcAft>
            </a:pPr>
            <a:r>
              <a:rPr lang="en-US" sz="900">
                <a:solidFill>
                  <a:schemeClr val="tx1">
                    <a:alpha val="80000"/>
                  </a:schemeClr>
                </a:solidFill>
              </a:rPr>
              <a:t>The Science and Application of Positive Psychology © Cambridge University Press 2021</a:t>
            </a:r>
          </a:p>
        </p:txBody>
      </p:sp>
    </p:spTree>
    <p:extLst>
      <p:ext uri="{BB962C8B-B14F-4D97-AF65-F5344CB8AC3E}">
        <p14:creationId xmlns:p14="http://schemas.microsoft.com/office/powerpoint/2010/main" val="35591075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429917F3-0560-4C6F-B265-458B218C4B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9144000" cy="68579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4217DF9-ECB2-4D0E-B741-01F32EC5F1EF}"/>
              </a:ext>
            </a:extLst>
          </p:cNvPr>
          <p:cNvSpPr>
            <a:spLocks noGrp="1"/>
          </p:cNvSpPr>
          <p:nvPr>
            <p:ph type="title"/>
          </p:nvPr>
        </p:nvSpPr>
        <p:spPr>
          <a:xfrm>
            <a:off x="953691" y="662400"/>
            <a:ext cx="7541790" cy="1325563"/>
          </a:xfrm>
        </p:spPr>
        <p:txBody>
          <a:bodyPr anchor="t">
            <a:normAutofit/>
          </a:bodyPr>
          <a:lstStyle/>
          <a:p>
            <a:r>
              <a:rPr lang="en-US" dirty="0"/>
              <a:t>Social Media</a:t>
            </a:r>
          </a:p>
        </p:txBody>
      </p:sp>
      <p:grpSp>
        <p:nvGrpSpPr>
          <p:cNvPr id="12" name="Group 11">
            <a:extLst>
              <a:ext uri="{FF2B5EF4-FFF2-40B4-BE49-F238E27FC236}">
                <a16:creationId xmlns:a16="http://schemas.microsoft.com/office/drawing/2014/main" id="{AA39BAE7-7EB8-4E22-BCBB-F00F514DB7E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664368" cy="6858000"/>
            <a:chOff x="0" y="0"/>
            <a:chExt cx="885825" cy="6858000"/>
          </a:xfrm>
        </p:grpSpPr>
        <p:sp>
          <p:nvSpPr>
            <p:cNvPr id="15" name="Freeform 6">
              <a:extLst>
                <a:ext uri="{FF2B5EF4-FFF2-40B4-BE49-F238E27FC236}">
                  <a16:creationId xmlns:a16="http://schemas.microsoft.com/office/drawing/2014/main" id="{CE476A00-9FF6-4B98-9E5C-7A22D8F59C4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0"/>
              <a:ext cx="885825" cy="6858000"/>
            </a:xfrm>
            <a:custGeom>
              <a:avLst/>
              <a:gdLst/>
              <a:ahLst/>
              <a:cxnLst/>
              <a:rect l="0" t="0" r="r" b="b"/>
              <a:pathLst>
                <a:path w="558" h="4320">
                  <a:moveTo>
                    <a:pt x="0" y="0"/>
                  </a:moveTo>
                  <a:lnTo>
                    <a:pt x="447" y="0"/>
                  </a:lnTo>
                  <a:lnTo>
                    <a:pt x="448" y="43"/>
                  </a:lnTo>
                  <a:lnTo>
                    <a:pt x="453" y="81"/>
                  </a:lnTo>
                  <a:lnTo>
                    <a:pt x="460" y="114"/>
                  </a:lnTo>
                  <a:lnTo>
                    <a:pt x="469" y="143"/>
                  </a:lnTo>
                  <a:lnTo>
                    <a:pt x="479" y="169"/>
                  </a:lnTo>
                  <a:lnTo>
                    <a:pt x="491" y="192"/>
                  </a:lnTo>
                  <a:lnTo>
                    <a:pt x="503" y="216"/>
                  </a:lnTo>
                  <a:lnTo>
                    <a:pt x="515" y="240"/>
                  </a:lnTo>
                  <a:lnTo>
                    <a:pt x="525" y="263"/>
                  </a:lnTo>
                  <a:lnTo>
                    <a:pt x="535" y="289"/>
                  </a:lnTo>
                  <a:lnTo>
                    <a:pt x="545" y="318"/>
                  </a:lnTo>
                  <a:lnTo>
                    <a:pt x="552" y="351"/>
                  </a:lnTo>
                  <a:lnTo>
                    <a:pt x="556" y="389"/>
                  </a:lnTo>
                  <a:lnTo>
                    <a:pt x="558" y="432"/>
                  </a:lnTo>
                  <a:lnTo>
                    <a:pt x="556" y="475"/>
                  </a:lnTo>
                  <a:lnTo>
                    <a:pt x="552" y="513"/>
                  </a:lnTo>
                  <a:lnTo>
                    <a:pt x="545" y="546"/>
                  </a:lnTo>
                  <a:lnTo>
                    <a:pt x="535" y="575"/>
                  </a:lnTo>
                  <a:lnTo>
                    <a:pt x="525" y="601"/>
                  </a:lnTo>
                  <a:lnTo>
                    <a:pt x="515" y="624"/>
                  </a:lnTo>
                  <a:lnTo>
                    <a:pt x="503" y="648"/>
                  </a:lnTo>
                  <a:lnTo>
                    <a:pt x="491" y="672"/>
                  </a:lnTo>
                  <a:lnTo>
                    <a:pt x="479" y="695"/>
                  </a:lnTo>
                  <a:lnTo>
                    <a:pt x="469" y="721"/>
                  </a:lnTo>
                  <a:lnTo>
                    <a:pt x="460" y="750"/>
                  </a:lnTo>
                  <a:lnTo>
                    <a:pt x="453" y="783"/>
                  </a:lnTo>
                  <a:lnTo>
                    <a:pt x="448" y="821"/>
                  </a:lnTo>
                  <a:lnTo>
                    <a:pt x="447" y="864"/>
                  </a:lnTo>
                  <a:lnTo>
                    <a:pt x="448" y="907"/>
                  </a:lnTo>
                  <a:lnTo>
                    <a:pt x="453" y="945"/>
                  </a:lnTo>
                  <a:lnTo>
                    <a:pt x="460" y="978"/>
                  </a:lnTo>
                  <a:lnTo>
                    <a:pt x="469" y="1007"/>
                  </a:lnTo>
                  <a:lnTo>
                    <a:pt x="479" y="1033"/>
                  </a:lnTo>
                  <a:lnTo>
                    <a:pt x="491" y="1056"/>
                  </a:lnTo>
                  <a:lnTo>
                    <a:pt x="503" y="1080"/>
                  </a:lnTo>
                  <a:lnTo>
                    <a:pt x="515" y="1104"/>
                  </a:lnTo>
                  <a:lnTo>
                    <a:pt x="525" y="1127"/>
                  </a:lnTo>
                  <a:lnTo>
                    <a:pt x="535" y="1153"/>
                  </a:lnTo>
                  <a:lnTo>
                    <a:pt x="545" y="1182"/>
                  </a:lnTo>
                  <a:lnTo>
                    <a:pt x="552" y="1215"/>
                  </a:lnTo>
                  <a:lnTo>
                    <a:pt x="556" y="1253"/>
                  </a:lnTo>
                  <a:lnTo>
                    <a:pt x="558" y="1296"/>
                  </a:lnTo>
                  <a:lnTo>
                    <a:pt x="556" y="1339"/>
                  </a:lnTo>
                  <a:lnTo>
                    <a:pt x="552" y="1377"/>
                  </a:lnTo>
                  <a:lnTo>
                    <a:pt x="545" y="1410"/>
                  </a:lnTo>
                  <a:lnTo>
                    <a:pt x="535" y="1439"/>
                  </a:lnTo>
                  <a:lnTo>
                    <a:pt x="525" y="1465"/>
                  </a:lnTo>
                  <a:lnTo>
                    <a:pt x="515" y="1488"/>
                  </a:lnTo>
                  <a:lnTo>
                    <a:pt x="503" y="1512"/>
                  </a:lnTo>
                  <a:lnTo>
                    <a:pt x="491" y="1536"/>
                  </a:lnTo>
                  <a:lnTo>
                    <a:pt x="479" y="1559"/>
                  </a:lnTo>
                  <a:lnTo>
                    <a:pt x="469" y="1585"/>
                  </a:lnTo>
                  <a:lnTo>
                    <a:pt x="460" y="1614"/>
                  </a:lnTo>
                  <a:lnTo>
                    <a:pt x="453" y="1647"/>
                  </a:lnTo>
                  <a:lnTo>
                    <a:pt x="448" y="1685"/>
                  </a:lnTo>
                  <a:lnTo>
                    <a:pt x="447" y="1728"/>
                  </a:lnTo>
                  <a:lnTo>
                    <a:pt x="448" y="1771"/>
                  </a:lnTo>
                  <a:lnTo>
                    <a:pt x="453" y="1809"/>
                  </a:lnTo>
                  <a:lnTo>
                    <a:pt x="460" y="1842"/>
                  </a:lnTo>
                  <a:lnTo>
                    <a:pt x="469" y="1871"/>
                  </a:lnTo>
                  <a:lnTo>
                    <a:pt x="479" y="1897"/>
                  </a:lnTo>
                  <a:lnTo>
                    <a:pt x="491" y="1920"/>
                  </a:lnTo>
                  <a:lnTo>
                    <a:pt x="503" y="1944"/>
                  </a:lnTo>
                  <a:lnTo>
                    <a:pt x="515" y="1968"/>
                  </a:lnTo>
                  <a:lnTo>
                    <a:pt x="525" y="1991"/>
                  </a:lnTo>
                  <a:lnTo>
                    <a:pt x="535" y="2017"/>
                  </a:lnTo>
                  <a:lnTo>
                    <a:pt x="545" y="2046"/>
                  </a:lnTo>
                  <a:lnTo>
                    <a:pt x="552" y="2079"/>
                  </a:lnTo>
                  <a:lnTo>
                    <a:pt x="556" y="2117"/>
                  </a:lnTo>
                  <a:lnTo>
                    <a:pt x="558" y="2159"/>
                  </a:lnTo>
                  <a:lnTo>
                    <a:pt x="556" y="2203"/>
                  </a:lnTo>
                  <a:lnTo>
                    <a:pt x="552" y="2241"/>
                  </a:lnTo>
                  <a:lnTo>
                    <a:pt x="545" y="2274"/>
                  </a:lnTo>
                  <a:lnTo>
                    <a:pt x="535" y="2303"/>
                  </a:lnTo>
                  <a:lnTo>
                    <a:pt x="525" y="2329"/>
                  </a:lnTo>
                  <a:lnTo>
                    <a:pt x="515" y="2352"/>
                  </a:lnTo>
                  <a:lnTo>
                    <a:pt x="503" y="2376"/>
                  </a:lnTo>
                  <a:lnTo>
                    <a:pt x="491" y="2400"/>
                  </a:lnTo>
                  <a:lnTo>
                    <a:pt x="479" y="2423"/>
                  </a:lnTo>
                  <a:lnTo>
                    <a:pt x="469" y="2449"/>
                  </a:lnTo>
                  <a:lnTo>
                    <a:pt x="460" y="2478"/>
                  </a:lnTo>
                  <a:lnTo>
                    <a:pt x="453" y="2511"/>
                  </a:lnTo>
                  <a:lnTo>
                    <a:pt x="448" y="2549"/>
                  </a:lnTo>
                  <a:lnTo>
                    <a:pt x="447" y="2592"/>
                  </a:lnTo>
                  <a:lnTo>
                    <a:pt x="448" y="2635"/>
                  </a:lnTo>
                  <a:lnTo>
                    <a:pt x="453" y="2673"/>
                  </a:lnTo>
                  <a:lnTo>
                    <a:pt x="460" y="2706"/>
                  </a:lnTo>
                  <a:lnTo>
                    <a:pt x="469" y="2735"/>
                  </a:lnTo>
                  <a:lnTo>
                    <a:pt x="479" y="2761"/>
                  </a:lnTo>
                  <a:lnTo>
                    <a:pt x="491" y="2784"/>
                  </a:lnTo>
                  <a:lnTo>
                    <a:pt x="515" y="2832"/>
                  </a:lnTo>
                  <a:lnTo>
                    <a:pt x="525" y="2855"/>
                  </a:lnTo>
                  <a:lnTo>
                    <a:pt x="535" y="2881"/>
                  </a:lnTo>
                  <a:lnTo>
                    <a:pt x="545" y="2910"/>
                  </a:lnTo>
                  <a:lnTo>
                    <a:pt x="552" y="2943"/>
                  </a:lnTo>
                  <a:lnTo>
                    <a:pt x="556" y="2981"/>
                  </a:lnTo>
                  <a:lnTo>
                    <a:pt x="558" y="3024"/>
                  </a:lnTo>
                  <a:lnTo>
                    <a:pt x="556" y="3067"/>
                  </a:lnTo>
                  <a:lnTo>
                    <a:pt x="552" y="3105"/>
                  </a:lnTo>
                  <a:lnTo>
                    <a:pt x="545" y="3138"/>
                  </a:lnTo>
                  <a:lnTo>
                    <a:pt x="535" y="3167"/>
                  </a:lnTo>
                  <a:lnTo>
                    <a:pt x="525" y="3193"/>
                  </a:lnTo>
                  <a:lnTo>
                    <a:pt x="515" y="3216"/>
                  </a:lnTo>
                  <a:lnTo>
                    <a:pt x="503" y="3240"/>
                  </a:lnTo>
                  <a:lnTo>
                    <a:pt x="491" y="3264"/>
                  </a:lnTo>
                  <a:lnTo>
                    <a:pt x="479" y="3287"/>
                  </a:lnTo>
                  <a:lnTo>
                    <a:pt x="469" y="3313"/>
                  </a:lnTo>
                  <a:lnTo>
                    <a:pt x="460" y="3342"/>
                  </a:lnTo>
                  <a:lnTo>
                    <a:pt x="453" y="3375"/>
                  </a:lnTo>
                  <a:lnTo>
                    <a:pt x="448" y="3413"/>
                  </a:lnTo>
                  <a:lnTo>
                    <a:pt x="447" y="3456"/>
                  </a:lnTo>
                  <a:lnTo>
                    <a:pt x="448" y="3499"/>
                  </a:lnTo>
                  <a:lnTo>
                    <a:pt x="453" y="3537"/>
                  </a:lnTo>
                  <a:lnTo>
                    <a:pt x="460" y="3570"/>
                  </a:lnTo>
                  <a:lnTo>
                    <a:pt x="469" y="3599"/>
                  </a:lnTo>
                  <a:lnTo>
                    <a:pt x="479" y="3625"/>
                  </a:lnTo>
                  <a:lnTo>
                    <a:pt x="491" y="3648"/>
                  </a:lnTo>
                  <a:lnTo>
                    <a:pt x="503" y="3672"/>
                  </a:lnTo>
                  <a:lnTo>
                    <a:pt x="515" y="3696"/>
                  </a:lnTo>
                  <a:lnTo>
                    <a:pt x="525" y="3719"/>
                  </a:lnTo>
                  <a:lnTo>
                    <a:pt x="535" y="3745"/>
                  </a:lnTo>
                  <a:lnTo>
                    <a:pt x="545" y="3774"/>
                  </a:lnTo>
                  <a:lnTo>
                    <a:pt x="552" y="3807"/>
                  </a:lnTo>
                  <a:lnTo>
                    <a:pt x="556" y="3845"/>
                  </a:lnTo>
                  <a:lnTo>
                    <a:pt x="558" y="3888"/>
                  </a:lnTo>
                  <a:lnTo>
                    <a:pt x="556" y="3931"/>
                  </a:lnTo>
                  <a:lnTo>
                    <a:pt x="552" y="3969"/>
                  </a:lnTo>
                  <a:lnTo>
                    <a:pt x="545" y="4002"/>
                  </a:lnTo>
                  <a:lnTo>
                    <a:pt x="535" y="4031"/>
                  </a:lnTo>
                  <a:lnTo>
                    <a:pt x="525" y="4057"/>
                  </a:lnTo>
                  <a:lnTo>
                    <a:pt x="515" y="4080"/>
                  </a:lnTo>
                  <a:lnTo>
                    <a:pt x="503" y="4104"/>
                  </a:lnTo>
                  <a:lnTo>
                    <a:pt x="491" y="4128"/>
                  </a:lnTo>
                  <a:lnTo>
                    <a:pt x="479" y="4151"/>
                  </a:lnTo>
                  <a:lnTo>
                    <a:pt x="469" y="4177"/>
                  </a:lnTo>
                  <a:lnTo>
                    <a:pt x="460" y="4206"/>
                  </a:lnTo>
                  <a:lnTo>
                    <a:pt x="453" y="4239"/>
                  </a:lnTo>
                  <a:lnTo>
                    <a:pt x="448" y="4277"/>
                  </a:lnTo>
                  <a:lnTo>
                    <a:pt x="447" y="4320"/>
                  </a:lnTo>
                  <a:lnTo>
                    <a:pt x="0" y="4320"/>
                  </a:lnTo>
                  <a:lnTo>
                    <a:pt x="0" y="0"/>
                  </a:lnTo>
                  <a:close/>
                </a:path>
              </a:pathLst>
            </a:custGeom>
            <a:solidFill>
              <a:srgbClr val="FFFFFF"/>
            </a:solidFill>
            <a:ln w="0">
              <a:noFill/>
              <a:prstDash val="solid"/>
              <a:round/>
              <a:headEnd/>
              <a:tailEnd/>
            </a:ln>
          </p:spPr>
          <p:txBody>
            <a:bodyPr/>
            <a:lstStyle/>
            <a:p>
              <a:endParaRPr lang="en-US"/>
            </a:p>
          </p:txBody>
        </p:sp>
        <p:sp>
          <p:nvSpPr>
            <p:cNvPr id="14" name="Freeform 6">
              <a:extLst>
                <a:ext uri="{FF2B5EF4-FFF2-40B4-BE49-F238E27FC236}">
                  <a16:creationId xmlns:a16="http://schemas.microsoft.com/office/drawing/2014/main" id="{8F0632CB-5E59-4727-9C88-4537512D56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0"/>
              <a:ext cx="885825" cy="6858000"/>
            </a:xfrm>
            <a:custGeom>
              <a:avLst/>
              <a:gdLst/>
              <a:ahLst/>
              <a:cxnLst/>
              <a:rect l="0" t="0" r="r" b="b"/>
              <a:pathLst>
                <a:path w="558" h="4320">
                  <a:moveTo>
                    <a:pt x="0" y="0"/>
                  </a:moveTo>
                  <a:lnTo>
                    <a:pt x="447" y="0"/>
                  </a:lnTo>
                  <a:lnTo>
                    <a:pt x="448" y="43"/>
                  </a:lnTo>
                  <a:lnTo>
                    <a:pt x="453" y="81"/>
                  </a:lnTo>
                  <a:lnTo>
                    <a:pt x="460" y="114"/>
                  </a:lnTo>
                  <a:lnTo>
                    <a:pt x="469" y="143"/>
                  </a:lnTo>
                  <a:lnTo>
                    <a:pt x="479" y="169"/>
                  </a:lnTo>
                  <a:lnTo>
                    <a:pt x="491" y="192"/>
                  </a:lnTo>
                  <a:lnTo>
                    <a:pt x="503" y="216"/>
                  </a:lnTo>
                  <a:lnTo>
                    <a:pt x="515" y="240"/>
                  </a:lnTo>
                  <a:lnTo>
                    <a:pt x="525" y="263"/>
                  </a:lnTo>
                  <a:lnTo>
                    <a:pt x="535" y="289"/>
                  </a:lnTo>
                  <a:lnTo>
                    <a:pt x="545" y="318"/>
                  </a:lnTo>
                  <a:lnTo>
                    <a:pt x="552" y="351"/>
                  </a:lnTo>
                  <a:lnTo>
                    <a:pt x="556" y="389"/>
                  </a:lnTo>
                  <a:lnTo>
                    <a:pt x="558" y="432"/>
                  </a:lnTo>
                  <a:lnTo>
                    <a:pt x="556" y="475"/>
                  </a:lnTo>
                  <a:lnTo>
                    <a:pt x="552" y="513"/>
                  </a:lnTo>
                  <a:lnTo>
                    <a:pt x="545" y="546"/>
                  </a:lnTo>
                  <a:lnTo>
                    <a:pt x="535" y="575"/>
                  </a:lnTo>
                  <a:lnTo>
                    <a:pt x="525" y="601"/>
                  </a:lnTo>
                  <a:lnTo>
                    <a:pt x="515" y="624"/>
                  </a:lnTo>
                  <a:lnTo>
                    <a:pt x="503" y="648"/>
                  </a:lnTo>
                  <a:lnTo>
                    <a:pt x="491" y="672"/>
                  </a:lnTo>
                  <a:lnTo>
                    <a:pt x="479" y="695"/>
                  </a:lnTo>
                  <a:lnTo>
                    <a:pt x="469" y="721"/>
                  </a:lnTo>
                  <a:lnTo>
                    <a:pt x="460" y="750"/>
                  </a:lnTo>
                  <a:lnTo>
                    <a:pt x="453" y="783"/>
                  </a:lnTo>
                  <a:lnTo>
                    <a:pt x="448" y="821"/>
                  </a:lnTo>
                  <a:lnTo>
                    <a:pt x="447" y="864"/>
                  </a:lnTo>
                  <a:lnTo>
                    <a:pt x="448" y="907"/>
                  </a:lnTo>
                  <a:lnTo>
                    <a:pt x="453" y="945"/>
                  </a:lnTo>
                  <a:lnTo>
                    <a:pt x="460" y="978"/>
                  </a:lnTo>
                  <a:lnTo>
                    <a:pt x="469" y="1007"/>
                  </a:lnTo>
                  <a:lnTo>
                    <a:pt x="479" y="1033"/>
                  </a:lnTo>
                  <a:lnTo>
                    <a:pt x="491" y="1056"/>
                  </a:lnTo>
                  <a:lnTo>
                    <a:pt x="503" y="1080"/>
                  </a:lnTo>
                  <a:lnTo>
                    <a:pt x="515" y="1104"/>
                  </a:lnTo>
                  <a:lnTo>
                    <a:pt x="525" y="1127"/>
                  </a:lnTo>
                  <a:lnTo>
                    <a:pt x="535" y="1153"/>
                  </a:lnTo>
                  <a:lnTo>
                    <a:pt x="545" y="1182"/>
                  </a:lnTo>
                  <a:lnTo>
                    <a:pt x="552" y="1215"/>
                  </a:lnTo>
                  <a:lnTo>
                    <a:pt x="556" y="1253"/>
                  </a:lnTo>
                  <a:lnTo>
                    <a:pt x="558" y="1296"/>
                  </a:lnTo>
                  <a:lnTo>
                    <a:pt x="556" y="1339"/>
                  </a:lnTo>
                  <a:lnTo>
                    <a:pt x="552" y="1377"/>
                  </a:lnTo>
                  <a:lnTo>
                    <a:pt x="545" y="1410"/>
                  </a:lnTo>
                  <a:lnTo>
                    <a:pt x="535" y="1439"/>
                  </a:lnTo>
                  <a:lnTo>
                    <a:pt x="525" y="1465"/>
                  </a:lnTo>
                  <a:lnTo>
                    <a:pt x="515" y="1488"/>
                  </a:lnTo>
                  <a:lnTo>
                    <a:pt x="503" y="1512"/>
                  </a:lnTo>
                  <a:lnTo>
                    <a:pt x="491" y="1536"/>
                  </a:lnTo>
                  <a:lnTo>
                    <a:pt x="479" y="1559"/>
                  </a:lnTo>
                  <a:lnTo>
                    <a:pt x="469" y="1585"/>
                  </a:lnTo>
                  <a:lnTo>
                    <a:pt x="460" y="1614"/>
                  </a:lnTo>
                  <a:lnTo>
                    <a:pt x="453" y="1647"/>
                  </a:lnTo>
                  <a:lnTo>
                    <a:pt x="448" y="1685"/>
                  </a:lnTo>
                  <a:lnTo>
                    <a:pt x="447" y="1728"/>
                  </a:lnTo>
                  <a:lnTo>
                    <a:pt x="448" y="1771"/>
                  </a:lnTo>
                  <a:lnTo>
                    <a:pt x="453" y="1809"/>
                  </a:lnTo>
                  <a:lnTo>
                    <a:pt x="460" y="1842"/>
                  </a:lnTo>
                  <a:lnTo>
                    <a:pt x="469" y="1871"/>
                  </a:lnTo>
                  <a:lnTo>
                    <a:pt x="479" y="1897"/>
                  </a:lnTo>
                  <a:lnTo>
                    <a:pt x="491" y="1920"/>
                  </a:lnTo>
                  <a:lnTo>
                    <a:pt x="503" y="1944"/>
                  </a:lnTo>
                  <a:lnTo>
                    <a:pt x="515" y="1968"/>
                  </a:lnTo>
                  <a:lnTo>
                    <a:pt x="525" y="1991"/>
                  </a:lnTo>
                  <a:lnTo>
                    <a:pt x="535" y="2017"/>
                  </a:lnTo>
                  <a:lnTo>
                    <a:pt x="545" y="2046"/>
                  </a:lnTo>
                  <a:lnTo>
                    <a:pt x="552" y="2079"/>
                  </a:lnTo>
                  <a:lnTo>
                    <a:pt x="556" y="2117"/>
                  </a:lnTo>
                  <a:lnTo>
                    <a:pt x="558" y="2159"/>
                  </a:lnTo>
                  <a:lnTo>
                    <a:pt x="556" y="2203"/>
                  </a:lnTo>
                  <a:lnTo>
                    <a:pt x="552" y="2241"/>
                  </a:lnTo>
                  <a:lnTo>
                    <a:pt x="545" y="2274"/>
                  </a:lnTo>
                  <a:lnTo>
                    <a:pt x="535" y="2303"/>
                  </a:lnTo>
                  <a:lnTo>
                    <a:pt x="525" y="2329"/>
                  </a:lnTo>
                  <a:lnTo>
                    <a:pt x="515" y="2352"/>
                  </a:lnTo>
                  <a:lnTo>
                    <a:pt x="503" y="2376"/>
                  </a:lnTo>
                  <a:lnTo>
                    <a:pt x="491" y="2400"/>
                  </a:lnTo>
                  <a:lnTo>
                    <a:pt x="479" y="2423"/>
                  </a:lnTo>
                  <a:lnTo>
                    <a:pt x="469" y="2449"/>
                  </a:lnTo>
                  <a:lnTo>
                    <a:pt x="460" y="2478"/>
                  </a:lnTo>
                  <a:lnTo>
                    <a:pt x="453" y="2511"/>
                  </a:lnTo>
                  <a:lnTo>
                    <a:pt x="448" y="2549"/>
                  </a:lnTo>
                  <a:lnTo>
                    <a:pt x="447" y="2592"/>
                  </a:lnTo>
                  <a:lnTo>
                    <a:pt x="448" y="2635"/>
                  </a:lnTo>
                  <a:lnTo>
                    <a:pt x="453" y="2673"/>
                  </a:lnTo>
                  <a:lnTo>
                    <a:pt x="460" y="2706"/>
                  </a:lnTo>
                  <a:lnTo>
                    <a:pt x="469" y="2735"/>
                  </a:lnTo>
                  <a:lnTo>
                    <a:pt x="479" y="2761"/>
                  </a:lnTo>
                  <a:lnTo>
                    <a:pt x="491" y="2784"/>
                  </a:lnTo>
                  <a:lnTo>
                    <a:pt x="515" y="2832"/>
                  </a:lnTo>
                  <a:lnTo>
                    <a:pt x="525" y="2855"/>
                  </a:lnTo>
                  <a:lnTo>
                    <a:pt x="535" y="2881"/>
                  </a:lnTo>
                  <a:lnTo>
                    <a:pt x="545" y="2910"/>
                  </a:lnTo>
                  <a:lnTo>
                    <a:pt x="552" y="2943"/>
                  </a:lnTo>
                  <a:lnTo>
                    <a:pt x="556" y="2981"/>
                  </a:lnTo>
                  <a:lnTo>
                    <a:pt x="558" y="3024"/>
                  </a:lnTo>
                  <a:lnTo>
                    <a:pt x="556" y="3067"/>
                  </a:lnTo>
                  <a:lnTo>
                    <a:pt x="552" y="3105"/>
                  </a:lnTo>
                  <a:lnTo>
                    <a:pt x="545" y="3138"/>
                  </a:lnTo>
                  <a:lnTo>
                    <a:pt x="535" y="3167"/>
                  </a:lnTo>
                  <a:lnTo>
                    <a:pt x="525" y="3193"/>
                  </a:lnTo>
                  <a:lnTo>
                    <a:pt x="515" y="3216"/>
                  </a:lnTo>
                  <a:lnTo>
                    <a:pt x="503" y="3240"/>
                  </a:lnTo>
                  <a:lnTo>
                    <a:pt x="491" y="3264"/>
                  </a:lnTo>
                  <a:lnTo>
                    <a:pt x="479" y="3287"/>
                  </a:lnTo>
                  <a:lnTo>
                    <a:pt x="469" y="3313"/>
                  </a:lnTo>
                  <a:lnTo>
                    <a:pt x="460" y="3342"/>
                  </a:lnTo>
                  <a:lnTo>
                    <a:pt x="453" y="3375"/>
                  </a:lnTo>
                  <a:lnTo>
                    <a:pt x="448" y="3413"/>
                  </a:lnTo>
                  <a:lnTo>
                    <a:pt x="447" y="3456"/>
                  </a:lnTo>
                  <a:lnTo>
                    <a:pt x="448" y="3499"/>
                  </a:lnTo>
                  <a:lnTo>
                    <a:pt x="453" y="3537"/>
                  </a:lnTo>
                  <a:lnTo>
                    <a:pt x="460" y="3570"/>
                  </a:lnTo>
                  <a:lnTo>
                    <a:pt x="469" y="3599"/>
                  </a:lnTo>
                  <a:lnTo>
                    <a:pt x="479" y="3625"/>
                  </a:lnTo>
                  <a:lnTo>
                    <a:pt x="491" y="3648"/>
                  </a:lnTo>
                  <a:lnTo>
                    <a:pt x="503" y="3672"/>
                  </a:lnTo>
                  <a:lnTo>
                    <a:pt x="515" y="3696"/>
                  </a:lnTo>
                  <a:lnTo>
                    <a:pt x="525" y="3719"/>
                  </a:lnTo>
                  <a:lnTo>
                    <a:pt x="535" y="3745"/>
                  </a:lnTo>
                  <a:lnTo>
                    <a:pt x="545" y="3774"/>
                  </a:lnTo>
                  <a:lnTo>
                    <a:pt x="552" y="3807"/>
                  </a:lnTo>
                  <a:lnTo>
                    <a:pt x="556" y="3845"/>
                  </a:lnTo>
                  <a:lnTo>
                    <a:pt x="558" y="3888"/>
                  </a:lnTo>
                  <a:lnTo>
                    <a:pt x="556" y="3931"/>
                  </a:lnTo>
                  <a:lnTo>
                    <a:pt x="552" y="3969"/>
                  </a:lnTo>
                  <a:lnTo>
                    <a:pt x="545" y="4002"/>
                  </a:lnTo>
                  <a:lnTo>
                    <a:pt x="535" y="4031"/>
                  </a:lnTo>
                  <a:lnTo>
                    <a:pt x="525" y="4057"/>
                  </a:lnTo>
                  <a:lnTo>
                    <a:pt x="515" y="4080"/>
                  </a:lnTo>
                  <a:lnTo>
                    <a:pt x="503" y="4104"/>
                  </a:lnTo>
                  <a:lnTo>
                    <a:pt x="491" y="4128"/>
                  </a:lnTo>
                  <a:lnTo>
                    <a:pt x="479" y="4151"/>
                  </a:lnTo>
                  <a:lnTo>
                    <a:pt x="469" y="4177"/>
                  </a:lnTo>
                  <a:lnTo>
                    <a:pt x="460" y="4206"/>
                  </a:lnTo>
                  <a:lnTo>
                    <a:pt x="453" y="4239"/>
                  </a:lnTo>
                  <a:lnTo>
                    <a:pt x="448" y="4277"/>
                  </a:lnTo>
                  <a:lnTo>
                    <a:pt x="447" y="4320"/>
                  </a:lnTo>
                  <a:lnTo>
                    <a:pt x="0" y="4320"/>
                  </a:lnTo>
                  <a:lnTo>
                    <a:pt x="0" y="0"/>
                  </a:lnTo>
                  <a:close/>
                </a:path>
              </a:pathLst>
            </a:custGeom>
            <a:solidFill>
              <a:schemeClr val="accent1">
                <a:lumMod val="50000"/>
                <a:alpha val="25000"/>
              </a:schemeClr>
            </a:solidFill>
            <a:ln w="0">
              <a:noFill/>
              <a:prstDash val="solid"/>
              <a:round/>
              <a:headEnd/>
              <a:tailEnd/>
            </a:ln>
          </p:spPr>
          <p:txBody>
            <a:bodyPr/>
            <a:lstStyle/>
            <a:p>
              <a:endParaRPr lang="en-US"/>
            </a:p>
          </p:txBody>
        </p:sp>
      </p:grpSp>
      <p:sp>
        <p:nvSpPr>
          <p:cNvPr id="3" name="Content Placeholder 2">
            <a:extLst>
              <a:ext uri="{FF2B5EF4-FFF2-40B4-BE49-F238E27FC236}">
                <a16:creationId xmlns:a16="http://schemas.microsoft.com/office/drawing/2014/main" id="{DB0882FA-7159-46CF-8CC1-9A314191F25E}"/>
              </a:ext>
            </a:extLst>
          </p:cNvPr>
          <p:cNvSpPr>
            <a:spLocks noGrp="1"/>
          </p:cNvSpPr>
          <p:nvPr>
            <p:ph idx="1"/>
          </p:nvPr>
        </p:nvSpPr>
        <p:spPr>
          <a:xfrm>
            <a:off x="938758" y="2286001"/>
            <a:ext cx="7566834" cy="3909599"/>
          </a:xfrm>
        </p:spPr>
        <p:txBody>
          <a:bodyPr>
            <a:normAutofit/>
          </a:bodyPr>
          <a:lstStyle/>
          <a:p>
            <a:r>
              <a:rPr lang="en-US" sz="2000" dirty="0">
                <a:solidFill>
                  <a:schemeClr val="tx1">
                    <a:alpha val="60000"/>
                  </a:schemeClr>
                </a:solidFill>
              </a:rPr>
              <a:t>In the twenty-first century, the word “friends”</a:t>
            </a:r>
            <a:r>
              <a:rPr lang="en-US" sz="2000" i="1" dirty="0">
                <a:solidFill>
                  <a:schemeClr val="tx1">
                    <a:alpha val="60000"/>
                  </a:schemeClr>
                </a:solidFill>
              </a:rPr>
              <a:t> </a:t>
            </a:r>
            <a:r>
              <a:rPr lang="en-US" sz="2000" dirty="0">
                <a:solidFill>
                  <a:schemeClr val="tx1">
                    <a:alpha val="60000"/>
                  </a:schemeClr>
                </a:solidFill>
              </a:rPr>
              <a:t>can mean people we’ve never met. </a:t>
            </a:r>
          </a:p>
          <a:p>
            <a:r>
              <a:rPr lang="en-US" sz="2000" dirty="0">
                <a:solidFill>
                  <a:schemeClr val="tx1">
                    <a:alpha val="60000"/>
                  </a:schemeClr>
                </a:solidFill>
              </a:rPr>
              <a:t>Some studies show positive associations between social media use and well-being; others show the opposite. Overall, the research is slightly more weighted toward the negative side (</a:t>
            </a:r>
            <a:r>
              <a:rPr lang="en-US" sz="2000" dirty="0" err="1">
                <a:solidFill>
                  <a:schemeClr val="tx1">
                    <a:alpha val="60000"/>
                  </a:schemeClr>
                </a:solidFill>
              </a:rPr>
              <a:t>Orben</a:t>
            </a:r>
            <a:r>
              <a:rPr lang="en-US" sz="2000" dirty="0">
                <a:solidFill>
                  <a:schemeClr val="tx1">
                    <a:alpha val="60000"/>
                  </a:schemeClr>
                </a:solidFill>
              </a:rPr>
              <a:t>, 2020).</a:t>
            </a:r>
          </a:p>
          <a:p>
            <a:r>
              <a:rPr lang="en-US" sz="2000" dirty="0">
                <a:solidFill>
                  <a:schemeClr val="tx1">
                    <a:alpha val="60000"/>
                  </a:schemeClr>
                </a:solidFill>
              </a:rPr>
              <a:t>How people use social media matters (</a:t>
            </a:r>
            <a:r>
              <a:rPr lang="en-US" sz="2000" dirty="0" err="1">
                <a:solidFill>
                  <a:schemeClr val="tx1">
                    <a:alpha val="60000"/>
                  </a:schemeClr>
                </a:solidFill>
              </a:rPr>
              <a:t>Varduyn</a:t>
            </a:r>
            <a:r>
              <a:rPr lang="en-US" sz="2000" dirty="0">
                <a:solidFill>
                  <a:schemeClr val="tx1">
                    <a:alpha val="60000"/>
                  </a:schemeClr>
                </a:solidFill>
              </a:rPr>
              <a:t> et al., 2017):</a:t>
            </a:r>
          </a:p>
          <a:p>
            <a:pPr lvl="1"/>
            <a:r>
              <a:rPr lang="en-US" sz="2000" i="1" dirty="0">
                <a:solidFill>
                  <a:schemeClr val="tx1">
                    <a:alpha val="60000"/>
                  </a:schemeClr>
                </a:solidFill>
              </a:rPr>
              <a:t>Passive use</a:t>
            </a:r>
            <a:r>
              <a:rPr lang="en-US" sz="2000" dirty="0">
                <a:solidFill>
                  <a:schemeClr val="tx1">
                    <a:alpha val="60000"/>
                  </a:schemeClr>
                </a:solidFill>
              </a:rPr>
              <a:t> (scrolling through posts) is associated with greater social comparison, insecurity, and envy. </a:t>
            </a:r>
          </a:p>
          <a:p>
            <a:pPr lvl="1"/>
            <a:r>
              <a:rPr lang="en-US" sz="2000" i="1" dirty="0">
                <a:solidFill>
                  <a:schemeClr val="tx1">
                    <a:alpha val="60000"/>
                  </a:schemeClr>
                </a:solidFill>
              </a:rPr>
              <a:t>Active use</a:t>
            </a:r>
            <a:r>
              <a:rPr lang="en-US" sz="2000" dirty="0">
                <a:solidFill>
                  <a:schemeClr val="tx1">
                    <a:alpha val="60000"/>
                  </a:schemeClr>
                </a:solidFill>
              </a:rPr>
              <a:t> (posting, messaging, etc.) is associated with greater well-being and feelings of social connectedness.</a:t>
            </a:r>
          </a:p>
          <a:p>
            <a:endParaRPr lang="en-US" sz="1700" dirty="0">
              <a:solidFill>
                <a:schemeClr val="tx1">
                  <a:alpha val="60000"/>
                </a:schemeClr>
              </a:solidFill>
            </a:endParaRPr>
          </a:p>
        </p:txBody>
      </p:sp>
      <p:sp>
        <p:nvSpPr>
          <p:cNvPr id="5" name="Footer Placeholder 3">
            <a:extLst>
              <a:ext uri="{FF2B5EF4-FFF2-40B4-BE49-F238E27FC236}">
                <a16:creationId xmlns:a16="http://schemas.microsoft.com/office/drawing/2014/main" id="{095A31C3-EC90-A047-9F93-2CE6D58B33F3}"/>
              </a:ext>
            </a:extLst>
          </p:cNvPr>
          <p:cNvSpPr>
            <a:spLocks noGrp="1"/>
          </p:cNvSpPr>
          <p:nvPr>
            <p:ph type="ftr" sz="quarter" idx="11"/>
          </p:nvPr>
        </p:nvSpPr>
        <p:spPr>
          <a:xfrm>
            <a:off x="3027704" y="6375679"/>
            <a:ext cx="3086100" cy="345796"/>
          </a:xfrm>
        </p:spPr>
        <p:txBody>
          <a:bodyPr>
            <a:normAutofit/>
          </a:bodyPr>
          <a:lstStyle/>
          <a:p>
            <a:pPr>
              <a:lnSpc>
                <a:spcPct val="90000"/>
              </a:lnSpc>
              <a:spcAft>
                <a:spcPts val="600"/>
              </a:spcAft>
            </a:pPr>
            <a:r>
              <a:rPr lang="en-US" sz="900">
                <a:solidFill>
                  <a:schemeClr val="tx1">
                    <a:alpha val="60000"/>
                  </a:schemeClr>
                </a:solidFill>
              </a:rPr>
              <a:t>The Science and Application of Positive Psychology © Cambridge University Press 2021</a:t>
            </a:r>
          </a:p>
        </p:txBody>
      </p:sp>
    </p:spTree>
    <p:extLst>
      <p:ext uri="{BB962C8B-B14F-4D97-AF65-F5344CB8AC3E}">
        <p14:creationId xmlns:p14="http://schemas.microsoft.com/office/powerpoint/2010/main" val="344306535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2" name="Rectangle 11">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3" y="1914812"/>
            <a:ext cx="6858000" cy="3028377"/>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4" y="1924949"/>
            <a:ext cx="6857999" cy="302837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3195" y="4092815"/>
            <a:ext cx="2501979" cy="302838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Freeform: Shape 19">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376302" y="969718"/>
            <a:ext cx="292526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2" name="Rectangle 21">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20" y="1904672"/>
            <a:ext cx="6858003" cy="3028376"/>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4217DF9-ECB2-4D0E-B741-01F32EC5F1EF}"/>
              </a:ext>
            </a:extLst>
          </p:cNvPr>
          <p:cNvSpPr>
            <a:spLocks noGrp="1"/>
          </p:cNvSpPr>
          <p:nvPr>
            <p:ph type="title"/>
          </p:nvPr>
        </p:nvSpPr>
        <p:spPr>
          <a:xfrm>
            <a:off x="350041" y="586855"/>
            <a:ext cx="2401025" cy="3387497"/>
          </a:xfrm>
        </p:spPr>
        <p:txBody>
          <a:bodyPr anchor="b">
            <a:normAutofit/>
          </a:bodyPr>
          <a:lstStyle/>
          <a:p>
            <a:pPr algn="r"/>
            <a:r>
              <a:rPr lang="en-US" sz="3500">
                <a:solidFill>
                  <a:srgbClr val="FFFFFF"/>
                </a:solidFill>
              </a:rPr>
              <a:t>Marriage</a:t>
            </a:r>
          </a:p>
        </p:txBody>
      </p:sp>
      <p:sp>
        <p:nvSpPr>
          <p:cNvPr id="5" name="Footer Placeholder 3">
            <a:extLst>
              <a:ext uri="{FF2B5EF4-FFF2-40B4-BE49-F238E27FC236}">
                <a16:creationId xmlns:a16="http://schemas.microsoft.com/office/drawing/2014/main" id="{07563DB1-6ADC-0F46-A4A4-1045786DB892}"/>
              </a:ext>
            </a:extLst>
          </p:cNvPr>
          <p:cNvSpPr>
            <a:spLocks noGrp="1"/>
          </p:cNvSpPr>
          <p:nvPr>
            <p:ph type="ftr" sz="quarter" idx="11"/>
          </p:nvPr>
        </p:nvSpPr>
        <p:spPr>
          <a:xfrm rot="5400000">
            <a:off x="-1371600" y="1984248"/>
            <a:ext cx="3086100" cy="365125"/>
          </a:xfrm>
        </p:spPr>
        <p:txBody>
          <a:bodyPr>
            <a:normAutofit/>
          </a:bodyPr>
          <a:lstStyle/>
          <a:p>
            <a:pPr algn="l">
              <a:lnSpc>
                <a:spcPct val="90000"/>
              </a:lnSpc>
              <a:spcAft>
                <a:spcPts val="600"/>
              </a:spcAft>
            </a:pPr>
            <a:r>
              <a:rPr lang="en-US" sz="900">
                <a:solidFill>
                  <a:srgbClr val="FFFFFF"/>
                </a:solidFill>
              </a:rPr>
              <a:t>The Science and Application of Positive Psychology © Cambridge University Press 2021</a:t>
            </a:r>
          </a:p>
        </p:txBody>
      </p:sp>
      <p:sp>
        <p:nvSpPr>
          <p:cNvPr id="3" name="Content Placeholder 2">
            <a:extLst>
              <a:ext uri="{FF2B5EF4-FFF2-40B4-BE49-F238E27FC236}">
                <a16:creationId xmlns:a16="http://schemas.microsoft.com/office/drawing/2014/main" id="{DB0882FA-7159-46CF-8CC1-9A314191F25E}"/>
              </a:ext>
            </a:extLst>
          </p:cNvPr>
          <p:cNvSpPr>
            <a:spLocks noGrp="1"/>
          </p:cNvSpPr>
          <p:nvPr>
            <p:ph idx="1"/>
          </p:nvPr>
        </p:nvSpPr>
        <p:spPr>
          <a:xfrm>
            <a:off x="3607694" y="649480"/>
            <a:ext cx="4916510" cy="5546047"/>
          </a:xfrm>
        </p:spPr>
        <p:txBody>
          <a:bodyPr anchor="ctr">
            <a:normAutofit/>
          </a:bodyPr>
          <a:lstStyle/>
          <a:p>
            <a:r>
              <a:rPr lang="en-US" sz="2000" dirty="0"/>
              <a:t>Marriage:</a:t>
            </a:r>
          </a:p>
          <a:p>
            <a:pPr lvl="1"/>
            <a:r>
              <a:rPr lang="en-US" sz="2000" dirty="0"/>
              <a:t>Generally, being married is associated with higher psychological well-being than not being married (Becker et al., 2019; Dush &amp; Amato, 2005; Williams, 2003).</a:t>
            </a:r>
          </a:p>
          <a:p>
            <a:pPr lvl="1"/>
            <a:r>
              <a:rPr lang="en-US" sz="2000" dirty="0"/>
              <a:t>However, the size of the association is relatively weak (Haring-</a:t>
            </a:r>
            <a:r>
              <a:rPr lang="en-US" sz="2000" dirty="0" err="1"/>
              <a:t>Hidore</a:t>
            </a:r>
            <a:r>
              <a:rPr lang="en-US" sz="2000" dirty="0"/>
              <a:t> et al., 1985). </a:t>
            </a:r>
          </a:p>
          <a:p>
            <a:r>
              <a:rPr lang="en-US" sz="2000" dirty="0"/>
              <a:t>Divorce:</a:t>
            </a:r>
          </a:p>
          <a:p>
            <a:pPr lvl="1"/>
            <a:r>
              <a:rPr lang="en-US" sz="2000" dirty="0"/>
              <a:t>About 40 to 50 percent of marriages end in divorce (CDC, 2018). </a:t>
            </a:r>
          </a:p>
          <a:p>
            <a:pPr lvl="1"/>
            <a:r>
              <a:rPr lang="en-US" sz="2000" dirty="0"/>
              <a:t>The end of a marriage—whether through divorce or death—typically leads to lowered well-being, and this decrease in well-being appears to be stronger than the positive effects of being married (Lucas, 2005).</a:t>
            </a:r>
          </a:p>
          <a:p>
            <a:endParaRPr lang="en-US" sz="1700" dirty="0"/>
          </a:p>
        </p:txBody>
      </p:sp>
    </p:spTree>
    <p:extLst>
      <p:ext uri="{BB962C8B-B14F-4D97-AF65-F5344CB8AC3E}">
        <p14:creationId xmlns:p14="http://schemas.microsoft.com/office/powerpoint/2010/main" val="111650448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9">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4217DF9-ECB2-4D0E-B741-01F32EC5F1EF}"/>
              </a:ext>
            </a:extLst>
          </p:cNvPr>
          <p:cNvSpPr>
            <a:spLocks noGrp="1"/>
          </p:cNvSpPr>
          <p:nvPr>
            <p:ph type="title"/>
          </p:nvPr>
        </p:nvSpPr>
        <p:spPr>
          <a:xfrm>
            <a:off x="628650" y="365125"/>
            <a:ext cx="7886700" cy="1325563"/>
          </a:xfrm>
        </p:spPr>
        <p:txBody>
          <a:bodyPr>
            <a:normAutofit/>
          </a:bodyPr>
          <a:lstStyle/>
          <a:p>
            <a:r>
              <a:rPr lang="en-US" sz="4700"/>
              <a:t>Marriage</a:t>
            </a:r>
          </a:p>
        </p:txBody>
      </p:sp>
      <p:sp>
        <p:nvSpPr>
          <p:cNvPr id="21"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1777" y="1677373"/>
            <a:ext cx="8140446" cy="18288"/>
          </a:xfrm>
          <a:custGeom>
            <a:avLst/>
            <a:gdLst>
              <a:gd name="connsiteX0" fmla="*/ 0 w 8140446"/>
              <a:gd name="connsiteY0" fmla="*/ 0 h 18288"/>
              <a:gd name="connsiteX1" fmla="*/ 434157 w 8140446"/>
              <a:gd name="connsiteY1" fmla="*/ 0 h 18288"/>
              <a:gd name="connsiteX2" fmla="*/ 1193932 w 8140446"/>
              <a:gd name="connsiteY2" fmla="*/ 0 h 18288"/>
              <a:gd name="connsiteX3" fmla="*/ 1628089 w 8140446"/>
              <a:gd name="connsiteY3" fmla="*/ 0 h 18288"/>
              <a:gd name="connsiteX4" fmla="*/ 2225055 w 8140446"/>
              <a:gd name="connsiteY4" fmla="*/ 0 h 18288"/>
              <a:gd name="connsiteX5" fmla="*/ 3066235 w 8140446"/>
              <a:gd name="connsiteY5" fmla="*/ 0 h 18288"/>
              <a:gd name="connsiteX6" fmla="*/ 3744605 w 8140446"/>
              <a:gd name="connsiteY6" fmla="*/ 0 h 18288"/>
              <a:gd name="connsiteX7" fmla="*/ 4504380 w 8140446"/>
              <a:gd name="connsiteY7" fmla="*/ 0 h 18288"/>
              <a:gd name="connsiteX8" fmla="*/ 5101346 w 8140446"/>
              <a:gd name="connsiteY8" fmla="*/ 0 h 18288"/>
              <a:gd name="connsiteX9" fmla="*/ 5779717 w 8140446"/>
              <a:gd name="connsiteY9" fmla="*/ 0 h 18288"/>
              <a:gd name="connsiteX10" fmla="*/ 6620896 w 8140446"/>
              <a:gd name="connsiteY10" fmla="*/ 0 h 18288"/>
              <a:gd name="connsiteX11" fmla="*/ 7136458 w 8140446"/>
              <a:gd name="connsiteY11" fmla="*/ 0 h 18288"/>
              <a:gd name="connsiteX12" fmla="*/ 8140446 w 8140446"/>
              <a:gd name="connsiteY12" fmla="*/ 0 h 18288"/>
              <a:gd name="connsiteX13" fmla="*/ 8140446 w 8140446"/>
              <a:gd name="connsiteY13" fmla="*/ 18288 h 18288"/>
              <a:gd name="connsiteX14" fmla="*/ 7543480 w 8140446"/>
              <a:gd name="connsiteY14" fmla="*/ 18288 h 18288"/>
              <a:gd name="connsiteX15" fmla="*/ 7109323 w 8140446"/>
              <a:gd name="connsiteY15" fmla="*/ 18288 h 18288"/>
              <a:gd name="connsiteX16" fmla="*/ 6430952 w 8140446"/>
              <a:gd name="connsiteY16" fmla="*/ 18288 h 18288"/>
              <a:gd name="connsiteX17" fmla="*/ 5915391 w 8140446"/>
              <a:gd name="connsiteY17" fmla="*/ 18288 h 18288"/>
              <a:gd name="connsiteX18" fmla="*/ 5237020 w 8140446"/>
              <a:gd name="connsiteY18" fmla="*/ 18288 h 18288"/>
              <a:gd name="connsiteX19" fmla="*/ 4558650 w 8140446"/>
              <a:gd name="connsiteY19" fmla="*/ 18288 h 18288"/>
              <a:gd name="connsiteX20" fmla="*/ 3880279 w 8140446"/>
              <a:gd name="connsiteY20" fmla="*/ 18288 h 18288"/>
              <a:gd name="connsiteX21" fmla="*/ 3201909 w 8140446"/>
              <a:gd name="connsiteY21" fmla="*/ 18288 h 18288"/>
              <a:gd name="connsiteX22" fmla="*/ 2604943 w 8140446"/>
              <a:gd name="connsiteY22" fmla="*/ 18288 h 18288"/>
              <a:gd name="connsiteX23" fmla="*/ 1845168 w 8140446"/>
              <a:gd name="connsiteY23" fmla="*/ 18288 h 18288"/>
              <a:gd name="connsiteX24" fmla="*/ 1166797 w 8140446"/>
              <a:gd name="connsiteY24" fmla="*/ 18288 h 18288"/>
              <a:gd name="connsiteX25" fmla="*/ 0 w 8140446"/>
              <a:gd name="connsiteY25" fmla="*/ 18288 h 18288"/>
              <a:gd name="connsiteX26" fmla="*/ 0 w 8140446"/>
              <a:gd name="connsiteY26" fmla="*/ 0 h 18288"/>
              <a:gd name="connsiteX0" fmla="*/ 0 w 8140446"/>
              <a:gd name="connsiteY0" fmla="*/ 0 h 18288"/>
              <a:gd name="connsiteX1" fmla="*/ 596966 w 8140446"/>
              <a:gd name="connsiteY1" fmla="*/ 0 h 18288"/>
              <a:gd name="connsiteX2" fmla="*/ 1031123 w 8140446"/>
              <a:gd name="connsiteY2" fmla="*/ 0 h 18288"/>
              <a:gd name="connsiteX3" fmla="*/ 1872303 w 8140446"/>
              <a:gd name="connsiteY3" fmla="*/ 0 h 18288"/>
              <a:gd name="connsiteX4" fmla="*/ 2469269 w 8140446"/>
              <a:gd name="connsiteY4" fmla="*/ 0 h 18288"/>
              <a:gd name="connsiteX5" fmla="*/ 3066235 w 8140446"/>
              <a:gd name="connsiteY5" fmla="*/ 0 h 18288"/>
              <a:gd name="connsiteX6" fmla="*/ 3907414 w 8140446"/>
              <a:gd name="connsiteY6" fmla="*/ 0 h 18288"/>
              <a:gd name="connsiteX7" fmla="*/ 4422976 w 8140446"/>
              <a:gd name="connsiteY7" fmla="*/ 0 h 18288"/>
              <a:gd name="connsiteX8" fmla="*/ 5264155 w 8140446"/>
              <a:gd name="connsiteY8" fmla="*/ 0 h 18288"/>
              <a:gd name="connsiteX9" fmla="*/ 6105335 w 8140446"/>
              <a:gd name="connsiteY9" fmla="*/ 0 h 18288"/>
              <a:gd name="connsiteX10" fmla="*/ 6783705 w 8140446"/>
              <a:gd name="connsiteY10" fmla="*/ 0 h 18288"/>
              <a:gd name="connsiteX11" fmla="*/ 8140446 w 8140446"/>
              <a:gd name="connsiteY11" fmla="*/ 0 h 18288"/>
              <a:gd name="connsiteX12" fmla="*/ 8140446 w 8140446"/>
              <a:gd name="connsiteY12" fmla="*/ 18288 h 18288"/>
              <a:gd name="connsiteX13" fmla="*/ 7706289 w 8140446"/>
              <a:gd name="connsiteY13" fmla="*/ 18288 h 18288"/>
              <a:gd name="connsiteX14" fmla="*/ 6865109 w 8140446"/>
              <a:gd name="connsiteY14" fmla="*/ 18288 h 18288"/>
              <a:gd name="connsiteX15" fmla="*/ 6349548 w 8140446"/>
              <a:gd name="connsiteY15" fmla="*/ 18288 h 18288"/>
              <a:gd name="connsiteX16" fmla="*/ 5671177 w 8140446"/>
              <a:gd name="connsiteY16" fmla="*/ 18288 h 18288"/>
              <a:gd name="connsiteX17" fmla="*/ 4829998 w 8140446"/>
              <a:gd name="connsiteY17" fmla="*/ 18288 h 18288"/>
              <a:gd name="connsiteX18" fmla="*/ 4151627 w 8140446"/>
              <a:gd name="connsiteY18" fmla="*/ 18288 h 18288"/>
              <a:gd name="connsiteX19" fmla="*/ 3717470 w 8140446"/>
              <a:gd name="connsiteY19" fmla="*/ 18288 h 18288"/>
              <a:gd name="connsiteX20" fmla="*/ 3201909 w 8140446"/>
              <a:gd name="connsiteY20" fmla="*/ 18288 h 18288"/>
              <a:gd name="connsiteX21" fmla="*/ 2360729 w 8140446"/>
              <a:gd name="connsiteY21" fmla="*/ 18288 h 18288"/>
              <a:gd name="connsiteX22" fmla="*/ 1682359 w 8140446"/>
              <a:gd name="connsiteY22" fmla="*/ 18288 h 18288"/>
              <a:gd name="connsiteX23" fmla="*/ 1166797 w 8140446"/>
              <a:gd name="connsiteY23" fmla="*/ 18288 h 18288"/>
              <a:gd name="connsiteX24" fmla="*/ 0 w 8140446"/>
              <a:gd name="connsiteY24" fmla="*/ 18288 h 18288"/>
              <a:gd name="connsiteX25" fmla="*/ 0 w 8140446"/>
              <a:gd name="connsiteY2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8140446" h="18288" fill="none" extrusionOk="0">
                <a:moveTo>
                  <a:pt x="0" y="0"/>
                </a:moveTo>
                <a:cubicBezTo>
                  <a:pt x="87427" y="6231"/>
                  <a:pt x="309612" y="-26324"/>
                  <a:pt x="434157" y="0"/>
                </a:cubicBezTo>
                <a:cubicBezTo>
                  <a:pt x="536972" y="29330"/>
                  <a:pt x="959392" y="28619"/>
                  <a:pt x="1193932" y="0"/>
                </a:cubicBezTo>
                <a:cubicBezTo>
                  <a:pt x="1446097" y="13819"/>
                  <a:pt x="1471680" y="7203"/>
                  <a:pt x="1628089" y="0"/>
                </a:cubicBezTo>
                <a:cubicBezTo>
                  <a:pt x="1817415" y="4047"/>
                  <a:pt x="1949536" y="-59324"/>
                  <a:pt x="2225055" y="0"/>
                </a:cubicBezTo>
                <a:cubicBezTo>
                  <a:pt x="2520490" y="18365"/>
                  <a:pt x="2717469" y="18707"/>
                  <a:pt x="3066235" y="0"/>
                </a:cubicBezTo>
                <a:cubicBezTo>
                  <a:pt x="3437075" y="3751"/>
                  <a:pt x="3408347" y="31644"/>
                  <a:pt x="3744605" y="0"/>
                </a:cubicBezTo>
                <a:cubicBezTo>
                  <a:pt x="4097249" y="-11527"/>
                  <a:pt x="4249699" y="-32555"/>
                  <a:pt x="4504380" y="0"/>
                </a:cubicBezTo>
                <a:cubicBezTo>
                  <a:pt x="4737570" y="17980"/>
                  <a:pt x="4877497" y="1006"/>
                  <a:pt x="5101346" y="0"/>
                </a:cubicBezTo>
                <a:cubicBezTo>
                  <a:pt x="5359305" y="-15330"/>
                  <a:pt x="5447195" y="7257"/>
                  <a:pt x="5779717" y="0"/>
                </a:cubicBezTo>
                <a:cubicBezTo>
                  <a:pt x="6090019" y="-17621"/>
                  <a:pt x="6273151" y="4279"/>
                  <a:pt x="6620896" y="0"/>
                </a:cubicBezTo>
                <a:cubicBezTo>
                  <a:pt x="6968586" y="34056"/>
                  <a:pt x="6990073" y="23587"/>
                  <a:pt x="7136458" y="0"/>
                </a:cubicBezTo>
                <a:cubicBezTo>
                  <a:pt x="7320575" y="20480"/>
                  <a:pt x="7847401" y="-6173"/>
                  <a:pt x="8140446" y="0"/>
                </a:cubicBezTo>
                <a:cubicBezTo>
                  <a:pt x="8139878" y="7862"/>
                  <a:pt x="8140227" y="13269"/>
                  <a:pt x="8140446" y="18288"/>
                </a:cubicBezTo>
                <a:cubicBezTo>
                  <a:pt x="7908069" y="-20636"/>
                  <a:pt x="7683037" y="21977"/>
                  <a:pt x="7543480" y="18288"/>
                </a:cubicBezTo>
                <a:cubicBezTo>
                  <a:pt x="7393752" y="10050"/>
                  <a:pt x="7221032" y="-3229"/>
                  <a:pt x="7109323" y="18288"/>
                </a:cubicBezTo>
                <a:cubicBezTo>
                  <a:pt x="7015297" y="22483"/>
                  <a:pt x="6599332" y="40899"/>
                  <a:pt x="6430952" y="18288"/>
                </a:cubicBezTo>
                <a:cubicBezTo>
                  <a:pt x="6292915" y="-34150"/>
                  <a:pt x="6142305" y="21507"/>
                  <a:pt x="5915391" y="18288"/>
                </a:cubicBezTo>
                <a:cubicBezTo>
                  <a:pt x="5682725" y="47843"/>
                  <a:pt x="5440566" y="31420"/>
                  <a:pt x="5237020" y="18288"/>
                </a:cubicBezTo>
                <a:cubicBezTo>
                  <a:pt x="5046456" y="10577"/>
                  <a:pt x="4706449" y="51976"/>
                  <a:pt x="4558650" y="18288"/>
                </a:cubicBezTo>
                <a:cubicBezTo>
                  <a:pt x="4361396" y="-987"/>
                  <a:pt x="4145362" y="-22303"/>
                  <a:pt x="3880279" y="18288"/>
                </a:cubicBezTo>
                <a:cubicBezTo>
                  <a:pt x="3610716" y="25411"/>
                  <a:pt x="3472690" y="4008"/>
                  <a:pt x="3201909" y="18288"/>
                </a:cubicBezTo>
                <a:cubicBezTo>
                  <a:pt x="2913595" y="35097"/>
                  <a:pt x="2753317" y="-1149"/>
                  <a:pt x="2604943" y="18288"/>
                </a:cubicBezTo>
                <a:cubicBezTo>
                  <a:pt x="2450130" y="36989"/>
                  <a:pt x="1974183" y="40159"/>
                  <a:pt x="1845168" y="18288"/>
                </a:cubicBezTo>
                <a:cubicBezTo>
                  <a:pt x="1677929" y="220"/>
                  <a:pt x="1378098" y="-772"/>
                  <a:pt x="1166797" y="18288"/>
                </a:cubicBezTo>
                <a:cubicBezTo>
                  <a:pt x="921150" y="53277"/>
                  <a:pt x="327457" y="47297"/>
                  <a:pt x="0" y="18288"/>
                </a:cubicBezTo>
                <a:cubicBezTo>
                  <a:pt x="-589" y="13471"/>
                  <a:pt x="-474" y="7409"/>
                  <a:pt x="0" y="0"/>
                </a:cubicBezTo>
                <a:close/>
              </a:path>
              <a:path w="8140446" h="18288" stroke="0" extrusionOk="0">
                <a:moveTo>
                  <a:pt x="0" y="0"/>
                </a:moveTo>
                <a:cubicBezTo>
                  <a:pt x="136968" y="-25482"/>
                  <a:pt x="379786" y="11224"/>
                  <a:pt x="596966" y="0"/>
                </a:cubicBezTo>
                <a:cubicBezTo>
                  <a:pt x="815878" y="-21223"/>
                  <a:pt x="832062" y="11868"/>
                  <a:pt x="1031123" y="0"/>
                </a:cubicBezTo>
                <a:cubicBezTo>
                  <a:pt x="1256800" y="-30738"/>
                  <a:pt x="1658090" y="-20345"/>
                  <a:pt x="1872303" y="0"/>
                </a:cubicBezTo>
                <a:cubicBezTo>
                  <a:pt x="2115604" y="28431"/>
                  <a:pt x="2277865" y="-40642"/>
                  <a:pt x="2469269" y="0"/>
                </a:cubicBezTo>
                <a:cubicBezTo>
                  <a:pt x="2679731" y="25919"/>
                  <a:pt x="2788602" y="-6498"/>
                  <a:pt x="3066235" y="0"/>
                </a:cubicBezTo>
                <a:cubicBezTo>
                  <a:pt x="3325663" y="-14487"/>
                  <a:pt x="3706561" y="67517"/>
                  <a:pt x="3907414" y="0"/>
                </a:cubicBezTo>
                <a:cubicBezTo>
                  <a:pt x="4127229" y="-37113"/>
                  <a:pt x="4179037" y="-8167"/>
                  <a:pt x="4422976" y="0"/>
                </a:cubicBezTo>
                <a:cubicBezTo>
                  <a:pt x="4683575" y="-28486"/>
                  <a:pt x="5055803" y="-13799"/>
                  <a:pt x="5264155" y="0"/>
                </a:cubicBezTo>
                <a:cubicBezTo>
                  <a:pt x="5513566" y="14315"/>
                  <a:pt x="5735215" y="2768"/>
                  <a:pt x="6105335" y="0"/>
                </a:cubicBezTo>
                <a:cubicBezTo>
                  <a:pt x="6510913" y="-12587"/>
                  <a:pt x="6456171" y="3247"/>
                  <a:pt x="6783705" y="0"/>
                </a:cubicBezTo>
                <a:cubicBezTo>
                  <a:pt x="7057099" y="-15461"/>
                  <a:pt x="7592067" y="5384"/>
                  <a:pt x="8140446" y="0"/>
                </a:cubicBezTo>
                <a:cubicBezTo>
                  <a:pt x="8140452" y="8597"/>
                  <a:pt x="8141122" y="9732"/>
                  <a:pt x="8140446" y="18288"/>
                </a:cubicBezTo>
                <a:cubicBezTo>
                  <a:pt x="7961834" y="8406"/>
                  <a:pt x="7874097" y="10350"/>
                  <a:pt x="7706289" y="18288"/>
                </a:cubicBezTo>
                <a:cubicBezTo>
                  <a:pt x="7582508" y="-14920"/>
                  <a:pt x="7179551" y="-33111"/>
                  <a:pt x="6865109" y="18288"/>
                </a:cubicBezTo>
                <a:cubicBezTo>
                  <a:pt x="6583382" y="24117"/>
                  <a:pt x="6525821" y="36696"/>
                  <a:pt x="6349548" y="18288"/>
                </a:cubicBezTo>
                <a:cubicBezTo>
                  <a:pt x="6209953" y="10881"/>
                  <a:pt x="5959707" y="-47828"/>
                  <a:pt x="5671177" y="18288"/>
                </a:cubicBezTo>
                <a:cubicBezTo>
                  <a:pt x="5387744" y="29809"/>
                  <a:pt x="5228514" y="101507"/>
                  <a:pt x="4829998" y="18288"/>
                </a:cubicBezTo>
                <a:cubicBezTo>
                  <a:pt x="4415646" y="-28596"/>
                  <a:pt x="4343809" y="28954"/>
                  <a:pt x="4151627" y="18288"/>
                </a:cubicBezTo>
                <a:cubicBezTo>
                  <a:pt x="3950673" y="-9796"/>
                  <a:pt x="3879947" y="41143"/>
                  <a:pt x="3717470" y="18288"/>
                </a:cubicBezTo>
                <a:cubicBezTo>
                  <a:pt x="3558660" y="10110"/>
                  <a:pt x="3468854" y="29375"/>
                  <a:pt x="3201909" y="18288"/>
                </a:cubicBezTo>
                <a:cubicBezTo>
                  <a:pt x="2965673" y="10505"/>
                  <a:pt x="2568327" y="22116"/>
                  <a:pt x="2360729" y="18288"/>
                </a:cubicBezTo>
                <a:cubicBezTo>
                  <a:pt x="2171885" y="49144"/>
                  <a:pt x="1923258" y="16020"/>
                  <a:pt x="1682359" y="18288"/>
                </a:cubicBezTo>
                <a:cubicBezTo>
                  <a:pt x="1430698" y="-2378"/>
                  <a:pt x="1324229" y="-1751"/>
                  <a:pt x="1166797" y="18288"/>
                </a:cubicBezTo>
                <a:cubicBezTo>
                  <a:pt x="1001390" y="41795"/>
                  <a:pt x="324313" y="57964"/>
                  <a:pt x="0" y="18288"/>
                </a:cubicBezTo>
                <a:cubicBezTo>
                  <a:pt x="285" y="13135"/>
                  <a:pt x="532" y="5956"/>
                  <a:pt x="0" y="0"/>
                </a:cubicBezTo>
                <a:close/>
              </a:path>
              <a:path w="8140446" h="18288" fill="none" stroke="0" extrusionOk="0">
                <a:moveTo>
                  <a:pt x="0" y="0"/>
                </a:moveTo>
                <a:cubicBezTo>
                  <a:pt x="69532" y="-6557"/>
                  <a:pt x="264219" y="3919"/>
                  <a:pt x="434157" y="0"/>
                </a:cubicBezTo>
                <a:cubicBezTo>
                  <a:pt x="600013" y="9090"/>
                  <a:pt x="921449" y="-13478"/>
                  <a:pt x="1193932" y="0"/>
                </a:cubicBezTo>
                <a:cubicBezTo>
                  <a:pt x="1443592" y="14844"/>
                  <a:pt x="1471188" y="10722"/>
                  <a:pt x="1628089" y="0"/>
                </a:cubicBezTo>
                <a:cubicBezTo>
                  <a:pt x="1750006" y="-24149"/>
                  <a:pt x="1967480" y="-14904"/>
                  <a:pt x="2225055" y="0"/>
                </a:cubicBezTo>
                <a:cubicBezTo>
                  <a:pt x="2503918" y="19247"/>
                  <a:pt x="2709263" y="-16351"/>
                  <a:pt x="3066235" y="0"/>
                </a:cubicBezTo>
                <a:cubicBezTo>
                  <a:pt x="3429723" y="-1627"/>
                  <a:pt x="3399401" y="30976"/>
                  <a:pt x="3744605" y="0"/>
                </a:cubicBezTo>
                <a:cubicBezTo>
                  <a:pt x="4081920" y="-40602"/>
                  <a:pt x="4258272" y="-2441"/>
                  <a:pt x="4504380" y="0"/>
                </a:cubicBezTo>
                <a:cubicBezTo>
                  <a:pt x="4760039" y="21121"/>
                  <a:pt x="4866555" y="-1351"/>
                  <a:pt x="5101346" y="0"/>
                </a:cubicBezTo>
                <a:cubicBezTo>
                  <a:pt x="5336279" y="1859"/>
                  <a:pt x="5465100" y="30801"/>
                  <a:pt x="5779717" y="0"/>
                </a:cubicBezTo>
                <a:cubicBezTo>
                  <a:pt x="6117018" y="-2879"/>
                  <a:pt x="6273497" y="-5002"/>
                  <a:pt x="6620896" y="0"/>
                </a:cubicBezTo>
                <a:cubicBezTo>
                  <a:pt x="6972306" y="38666"/>
                  <a:pt x="6992056" y="28334"/>
                  <a:pt x="7136458" y="0"/>
                </a:cubicBezTo>
                <a:cubicBezTo>
                  <a:pt x="7325567" y="-61201"/>
                  <a:pt x="7766555" y="-88399"/>
                  <a:pt x="8140446" y="0"/>
                </a:cubicBezTo>
                <a:cubicBezTo>
                  <a:pt x="8140031" y="7748"/>
                  <a:pt x="8139515" y="13015"/>
                  <a:pt x="8140446" y="18288"/>
                </a:cubicBezTo>
                <a:cubicBezTo>
                  <a:pt x="7892673" y="-4012"/>
                  <a:pt x="7668025" y="650"/>
                  <a:pt x="7543480" y="18288"/>
                </a:cubicBezTo>
                <a:cubicBezTo>
                  <a:pt x="7406710" y="-3467"/>
                  <a:pt x="7207646" y="8893"/>
                  <a:pt x="7109323" y="18288"/>
                </a:cubicBezTo>
                <a:cubicBezTo>
                  <a:pt x="6993037" y="49011"/>
                  <a:pt x="6598723" y="59405"/>
                  <a:pt x="6430952" y="18288"/>
                </a:cubicBezTo>
                <a:cubicBezTo>
                  <a:pt x="6284771" y="15315"/>
                  <a:pt x="6162730" y="20350"/>
                  <a:pt x="5915391" y="18288"/>
                </a:cubicBezTo>
                <a:cubicBezTo>
                  <a:pt x="5684668" y="13603"/>
                  <a:pt x="5422852" y="53618"/>
                  <a:pt x="5237020" y="18288"/>
                </a:cubicBezTo>
                <a:cubicBezTo>
                  <a:pt x="5035482" y="26296"/>
                  <a:pt x="4719808" y="55145"/>
                  <a:pt x="4558650" y="18288"/>
                </a:cubicBezTo>
                <a:cubicBezTo>
                  <a:pt x="4375169" y="-35587"/>
                  <a:pt x="4137553" y="12086"/>
                  <a:pt x="3880279" y="18288"/>
                </a:cubicBezTo>
                <a:cubicBezTo>
                  <a:pt x="3624533" y="32648"/>
                  <a:pt x="3467387" y="6480"/>
                  <a:pt x="3201909" y="18288"/>
                </a:cubicBezTo>
                <a:cubicBezTo>
                  <a:pt x="2918126" y="73342"/>
                  <a:pt x="2717830" y="-17156"/>
                  <a:pt x="2604943" y="18288"/>
                </a:cubicBezTo>
                <a:cubicBezTo>
                  <a:pt x="2496133" y="44525"/>
                  <a:pt x="2003915" y="18254"/>
                  <a:pt x="1845168" y="18288"/>
                </a:cubicBezTo>
                <a:cubicBezTo>
                  <a:pt x="1694518" y="14989"/>
                  <a:pt x="1344959" y="44188"/>
                  <a:pt x="1166797" y="18288"/>
                </a:cubicBezTo>
                <a:cubicBezTo>
                  <a:pt x="935925" y="69451"/>
                  <a:pt x="319712" y="-63972"/>
                  <a:pt x="0" y="18288"/>
                </a:cubicBezTo>
                <a:cubicBezTo>
                  <a:pt x="1307" y="12414"/>
                  <a:pt x="-32" y="574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custGeom>
                    <a:avLst/>
                    <a:gdLst>
                      <a:gd name="connsiteX0" fmla="*/ 0 w 8140446"/>
                      <a:gd name="connsiteY0" fmla="*/ 0 h 18288"/>
                      <a:gd name="connsiteX1" fmla="*/ 434157 w 8140446"/>
                      <a:gd name="connsiteY1" fmla="*/ 0 h 18288"/>
                      <a:gd name="connsiteX2" fmla="*/ 1193932 w 8140446"/>
                      <a:gd name="connsiteY2" fmla="*/ 0 h 18288"/>
                      <a:gd name="connsiteX3" fmla="*/ 1628089 w 8140446"/>
                      <a:gd name="connsiteY3" fmla="*/ 0 h 18288"/>
                      <a:gd name="connsiteX4" fmla="*/ 2225055 w 8140446"/>
                      <a:gd name="connsiteY4" fmla="*/ 0 h 18288"/>
                      <a:gd name="connsiteX5" fmla="*/ 3066235 w 8140446"/>
                      <a:gd name="connsiteY5" fmla="*/ 0 h 18288"/>
                      <a:gd name="connsiteX6" fmla="*/ 3744605 w 8140446"/>
                      <a:gd name="connsiteY6" fmla="*/ 0 h 18288"/>
                      <a:gd name="connsiteX7" fmla="*/ 4504380 w 8140446"/>
                      <a:gd name="connsiteY7" fmla="*/ 0 h 18288"/>
                      <a:gd name="connsiteX8" fmla="*/ 5101346 w 8140446"/>
                      <a:gd name="connsiteY8" fmla="*/ 0 h 18288"/>
                      <a:gd name="connsiteX9" fmla="*/ 5779717 w 8140446"/>
                      <a:gd name="connsiteY9" fmla="*/ 0 h 18288"/>
                      <a:gd name="connsiteX10" fmla="*/ 6620896 w 8140446"/>
                      <a:gd name="connsiteY10" fmla="*/ 0 h 18288"/>
                      <a:gd name="connsiteX11" fmla="*/ 7136458 w 8140446"/>
                      <a:gd name="connsiteY11" fmla="*/ 0 h 18288"/>
                      <a:gd name="connsiteX12" fmla="*/ 8140446 w 8140446"/>
                      <a:gd name="connsiteY12" fmla="*/ 0 h 18288"/>
                      <a:gd name="connsiteX13" fmla="*/ 8140446 w 8140446"/>
                      <a:gd name="connsiteY13" fmla="*/ 18288 h 18288"/>
                      <a:gd name="connsiteX14" fmla="*/ 7543480 w 8140446"/>
                      <a:gd name="connsiteY14" fmla="*/ 18288 h 18288"/>
                      <a:gd name="connsiteX15" fmla="*/ 7109323 w 8140446"/>
                      <a:gd name="connsiteY15" fmla="*/ 18288 h 18288"/>
                      <a:gd name="connsiteX16" fmla="*/ 6430952 w 8140446"/>
                      <a:gd name="connsiteY16" fmla="*/ 18288 h 18288"/>
                      <a:gd name="connsiteX17" fmla="*/ 5915391 w 8140446"/>
                      <a:gd name="connsiteY17" fmla="*/ 18288 h 18288"/>
                      <a:gd name="connsiteX18" fmla="*/ 5237020 w 8140446"/>
                      <a:gd name="connsiteY18" fmla="*/ 18288 h 18288"/>
                      <a:gd name="connsiteX19" fmla="*/ 4558650 w 8140446"/>
                      <a:gd name="connsiteY19" fmla="*/ 18288 h 18288"/>
                      <a:gd name="connsiteX20" fmla="*/ 3880279 w 8140446"/>
                      <a:gd name="connsiteY20" fmla="*/ 18288 h 18288"/>
                      <a:gd name="connsiteX21" fmla="*/ 3201909 w 8140446"/>
                      <a:gd name="connsiteY21" fmla="*/ 18288 h 18288"/>
                      <a:gd name="connsiteX22" fmla="*/ 2604943 w 8140446"/>
                      <a:gd name="connsiteY22" fmla="*/ 18288 h 18288"/>
                      <a:gd name="connsiteX23" fmla="*/ 1845168 w 8140446"/>
                      <a:gd name="connsiteY23" fmla="*/ 18288 h 18288"/>
                      <a:gd name="connsiteX24" fmla="*/ 1166797 w 8140446"/>
                      <a:gd name="connsiteY24" fmla="*/ 18288 h 18288"/>
                      <a:gd name="connsiteX25" fmla="*/ 0 w 8140446"/>
                      <a:gd name="connsiteY25" fmla="*/ 18288 h 18288"/>
                      <a:gd name="connsiteX26" fmla="*/ 0 w 8140446"/>
                      <a:gd name="connsiteY2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8140446" h="18288" fill="none" extrusionOk="0">
                        <a:moveTo>
                          <a:pt x="0" y="0"/>
                        </a:moveTo>
                        <a:cubicBezTo>
                          <a:pt x="94920" y="9103"/>
                          <a:pt x="287892" y="-4966"/>
                          <a:pt x="434157" y="0"/>
                        </a:cubicBezTo>
                        <a:cubicBezTo>
                          <a:pt x="580422" y="4966"/>
                          <a:pt x="943595" y="-14182"/>
                          <a:pt x="1193932" y="0"/>
                        </a:cubicBezTo>
                        <a:cubicBezTo>
                          <a:pt x="1444270" y="14182"/>
                          <a:pt x="1472129" y="5523"/>
                          <a:pt x="1628089" y="0"/>
                        </a:cubicBezTo>
                        <a:cubicBezTo>
                          <a:pt x="1784049" y="-5523"/>
                          <a:pt x="1962419" y="-17322"/>
                          <a:pt x="2225055" y="0"/>
                        </a:cubicBezTo>
                        <a:cubicBezTo>
                          <a:pt x="2487691" y="17322"/>
                          <a:pt x="2700681" y="1311"/>
                          <a:pt x="3066235" y="0"/>
                        </a:cubicBezTo>
                        <a:cubicBezTo>
                          <a:pt x="3431789" y="-1311"/>
                          <a:pt x="3405662" y="25081"/>
                          <a:pt x="3744605" y="0"/>
                        </a:cubicBezTo>
                        <a:cubicBezTo>
                          <a:pt x="4083548" y="-25081"/>
                          <a:pt x="4265111" y="-11945"/>
                          <a:pt x="4504380" y="0"/>
                        </a:cubicBezTo>
                        <a:cubicBezTo>
                          <a:pt x="4743649" y="11945"/>
                          <a:pt x="4860394" y="-2832"/>
                          <a:pt x="5101346" y="0"/>
                        </a:cubicBezTo>
                        <a:cubicBezTo>
                          <a:pt x="5342298" y="2832"/>
                          <a:pt x="5456387" y="23676"/>
                          <a:pt x="5779717" y="0"/>
                        </a:cubicBezTo>
                        <a:cubicBezTo>
                          <a:pt x="6103047" y="-23676"/>
                          <a:pt x="6270379" y="-37291"/>
                          <a:pt x="6620896" y="0"/>
                        </a:cubicBezTo>
                        <a:cubicBezTo>
                          <a:pt x="6971413" y="37291"/>
                          <a:pt x="6989068" y="24674"/>
                          <a:pt x="7136458" y="0"/>
                        </a:cubicBezTo>
                        <a:cubicBezTo>
                          <a:pt x="7283848" y="-24674"/>
                          <a:pt x="7752532" y="-22436"/>
                          <a:pt x="8140446" y="0"/>
                        </a:cubicBezTo>
                        <a:cubicBezTo>
                          <a:pt x="8140314" y="7702"/>
                          <a:pt x="8140234" y="13511"/>
                          <a:pt x="8140446" y="18288"/>
                        </a:cubicBezTo>
                        <a:cubicBezTo>
                          <a:pt x="7906329" y="-3043"/>
                          <a:pt x="7681180" y="27465"/>
                          <a:pt x="7543480" y="18288"/>
                        </a:cubicBezTo>
                        <a:cubicBezTo>
                          <a:pt x="7405780" y="9111"/>
                          <a:pt x="7216607" y="3660"/>
                          <a:pt x="7109323" y="18288"/>
                        </a:cubicBezTo>
                        <a:cubicBezTo>
                          <a:pt x="7002039" y="32916"/>
                          <a:pt x="6576231" y="42692"/>
                          <a:pt x="6430952" y="18288"/>
                        </a:cubicBezTo>
                        <a:cubicBezTo>
                          <a:pt x="6285673" y="-6116"/>
                          <a:pt x="6138840" y="34521"/>
                          <a:pt x="5915391" y="18288"/>
                        </a:cubicBezTo>
                        <a:cubicBezTo>
                          <a:pt x="5691942" y="2055"/>
                          <a:pt x="5459460" y="51666"/>
                          <a:pt x="5237020" y="18288"/>
                        </a:cubicBezTo>
                        <a:cubicBezTo>
                          <a:pt x="5014580" y="-15090"/>
                          <a:pt x="4747677" y="40449"/>
                          <a:pt x="4558650" y="18288"/>
                        </a:cubicBezTo>
                        <a:cubicBezTo>
                          <a:pt x="4369623" y="-3873"/>
                          <a:pt x="4146061" y="12568"/>
                          <a:pt x="3880279" y="18288"/>
                        </a:cubicBezTo>
                        <a:cubicBezTo>
                          <a:pt x="3614497" y="24008"/>
                          <a:pt x="3473808" y="-12908"/>
                          <a:pt x="3201909" y="18288"/>
                        </a:cubicBezTo>
                        <a:cubicBezTo>
                          <a:pt x="2930010" y="49484"/>
                          <a:pt x="2728175" y="-3430"/>
                          <a:pt x="2604943" y="18288"/>
                        </a:cubicBezTo>
                        <a:cubicBezTo>
                          <a:pt x="2481711" y="40006"/>
                          <a:pt x="2004334" y="26952"/>
                          <a:pt x="1845168" y="18288"/>
                        </a:cubicBezTo>
                        <a:cubicBezTo>
                          <a:pt x="1686003" y="9624"/>
                          <a:pt x="1375070" y="37580"/>
                          <a:pt x="1166797" y="18288"/>
                        </a:cubicBezTo>
                        <a:cubicBezTo>
                          <a:pt x="958524" y="-1004"/>
                          <a:pt x="342846" y="8880"/>
                          <a:pt x="0" y="18288"/>
                        </a:cubicBezTo>
                        <a:cubicBezTo>
                          <a:pt x="129" y="13298"/>
                          <a:pt x="-675" y="6857"/>
                          <a:pt x="0" y="0"/>
                        </a:cubicBezTo>
                        <a:close/>
                      </a:path>
                      <a:path w="8140446" h="18288" stroke="0" extrusionOk="0">
                        <a:moveTo>
                          <a:pt x="0" y="0"/>
                        </a:moveTo>
                        <a:cubicBezTo>
                          <a:pt x="142435" y="-24533"/>
                          <a:pt x="380026" y="17447"/>
                          <a:pt x="596966" y="0"/>
                        </a:cubicBezTo>
                        <a:cubicBezTo>
                          <a:pt x="813906" y="-17447"/>
                          <a:pt x="830530" y="13462"/>
                          <a:pt x="1031123" y="0"/>
                        </a:cubicBezTo>
                        <a:cubicBezTo>
                          <a:pt x="1231716" y="-13462"/>
                          <a:pt x="1634038" y="0"/>
                          <a:pt x="1872303" y="0"/>
                        </a:cubicBezTo>
                        <a:cubicBezTo>
                          <a:pt x="2110568" y="0"/>
                          <a:pt x="2261934" y="-25727"/>
                          <a:pt x="2469269" y="0"/>
                        </a:cubicBezTo>
                        <a:cubicBezTo>
                          <a:pt x="2676604" y="25727"/>
                          <a:pt x="2790440" y="16284"/>
                          <a:pt x="3066235" y="0"/>
                        </a:cubicBezTo>
                        <a:cubicBezTo>
                          <a:pt x="3342030" y="-16284"/>
                          <a:pt x="3685603" y="41976"/>
                          <a:pt x="3907414" y="0"/>
                        </a:cubicBezTo>
                        <a:cubicBezTo>
                          <a:pt x="4129225" y="-41976"/>
                          <a:pt x="4177416" y="-7598"/>
                          <a:pt x="4422976" y="0"/>
                        </a:cubicBezTo>
                        <a:cubicBezTo>
                          <a:pt x="4668536" y="7598"/>
                          <a:pt x="5023499" y="-28058"/>
                          <a:pt x="5264155" y="0"/>
                        </a:cubicBezTo>
                        <a:cubicBezTo>
                          <a:pt x="5504811" y="28058"/>
                          <a:pt x="5703675" y="13288"/>
                          <a:pt x="6105335" y="0"/>
                        </a:cubicBezTo>
                        <a:cubicBezTo>
                          <a:pt x="6506995" y="-13288"/>
                          <a:pt x="6455516" y="-5124"/>
                          <a:pt x="6783705" y="0"/>
                        </a:cubicBezTo>
                        <a:cubicBezTo>
                          <a:pt x="7111894" y="5124"/>
                          <a:pt x="7512856" y="10604"/>
                          <a:pt x="8140446" y="0"/>
                        </a:cubicBezTo>
                        <a:cubicBezTo>
                          <a:pt x="8140458" y="8833"/>
                          <a:pt x="8140986" y="9830"/>
                          <a:pt x="8140446" y="18288"/>
                        </a:cubicBezTo>
                        <a:cubicBezTo>
                          <a:pt x="7959314" y="3345"/>
                          <a:pt x="7870113" y="10437"/>
                          <a:pt x="7706289" y="18288"/>
                        </a:cubicBezTo>
                        <a:cubicBezTo>
                          <a:pt x="7542465" y="26139"/>
                          <a:pt x="7157940" y="17482"/>
                          <a:pt x="6865109" y="18288"/>
                        </a:cubicBezTo>
                        <a:cubicBezTo>
                          <a:pt x="6572278" y="19094"/>
                          <a:pt x="6524256" y="38051"/>
                          <a:pt x="6349548" y="18288"/>
                        </a:cubicBezTo>
                        <a:cubicBezTo>
                          <a:pt x="6174840" y="-1475"/>
                          <a:pt x="5951624" y="174"/>
                          <a:pt x="5671177" y="18288"/>
                        </a:cubicBezTo>
                        <a:cubicBezTo>
                          <a:pt x="5390730" y="36402"/>
                          <a:pt x="5222992" y="60058"/>
                          <a:pt x="4829998" y="18288"/>
                        </a:cubicBezTo>
                        <a:cubicBezTo>
                          <a:pt x="4437004" y="-23482"/>
                          <a:pt x="4344181" y="39087"/>
                          <a:pt x="4151627" y="18288"/>
                        </a:cubicBezTo>
                        <a:cubicBezTo>
                          <a:pt x="3959073" y="-2511"/>
                          <a:pt x="3886970" y="32875"/>
                          <a:pt x="3717470" y="18288"/>
                        </a:cubicBezTo>
                        <a:cubicBezTo>
                          <a:pt x="3547970" y="3701"/>
                          <a:pt x="3451521" y="31872"/>
                          <a:pt x="3201909" y="18288"/>
                        </a:cubicBezTo>
                        <a:cubicBezTo>
                          <a:pt x="2952297" y="4704"/>
                          <a:pt x="2543413" y="6029"/>
                          <a:pt x="2360729" y="18288"/>
                        </a:cubicBezTo>
                        <a:cubicBezTo>
                          <a:pt x="2178045" y="30547"/>
                          <a:pt x="1906056" y="25847"/>
                          <a:pt x="1682359" y="18288"/>
                        </a:cubicBezTo>
                        <a:cubicBezTo>
                          <a:pt x="1458662" y="10730"/>
                          <a:pt x="1330405" y="8046"/>
                          <a:pt x="1166797" y="18288"/>
                        </a:cubicBezTo>
                        <a:cubicBezTo>
                          <a:pt x="1003189" y="28530"/>
                          <a:pt x="278098" y="19533"/>
                          <a:pt x="0" y="18288"/>
                        </a:cubicBezTo>
                        <a:cubicBezTo>
                          <a:pt x="74" y="14054"/>
                          <a:pt x="-46" y="6997"/>
                          <a:pt x="0" y="0"/>
                        </a:cubicBezTo>
                        <a:close/>
                      </a:path>
                    </a:pathLst>
                  </a:cu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DB0882FA-7159-46CF-8CC1-9A314191F25E}"/>
              </a:ext>
            </a:extLst>
          </p:cNvPr>
          <p:cNvSpPr>
            <a:spLocks noGrp="1"/>
          </p:cNvSpPr>
          <p:nvPr>
            <p:ph idx="1"/>
          </p:nvPr>
        </p:nvSpPr>
        <p:spPr>
          <a:xfrm>
            <a:off x="628650" y="1929384"/>
            <a:ext cx="7886700" cy="4251960"/>
          </a:xfrm>
        </p:spPr>
        <p:txBody>
          <a:bodyPr>
            <a:normAutofit/>
          </a:bodyPr>
          <a:lstStyle/>
          <a:p>
            <a:r>
              <a:rPr lang="en-US" sz="1600"/>
              <a:t>Most research has included only heterosexual couples. </a:t>
            </a:r>
          </a:p>
          <a:p>
            <a:r>
              <a:rPr lang="en-US" sz="1600"/>
              <a:t>Studies of same-sex couples generally confirm that marriage is associated with greater well-being, with a caveat: It matters if marriage is legally recognized. </a:t>
            </a:r>
          </a:p>
          <a:p>
            <a:r>
              <a:rPr lang="en-US" sz="1600"/>
              <a:t>Important Study: Wight et al. (2013)</a:t>
            </a:r>
          </a:p>
          <a:p>
            <a:pPr lvl="1"/>
            <a:r>
              <a:rPr lang="en-US" sz="1600"/>
              <a:t>Years prior to federal recognition of same-sex marriage in the U.S., same-sex marriage was legalized in California for a brief five-month period in 2008. Marriages during this period remained legal, even after same-sex marriage was again prohibited. </a:t>
            </a:r>
          </a:p>
          <a:p>
            <a:pPr lvl="1"/>
            <a:r>
              <a:rPr lang="en-US" sz="1600"/>
              <a:t>Following this period, researchers accessed data from a statewide survey, which included 1,166 lesbian, gay, or bisexual (LGB) individuals.</a:t>
            </a:r>
          </a:p>
          <a:p>
            <a:pPr lvl="1"/>
            <a:r>
              <a:rPr lang="en-US" sz="1600"/>
              <a:t>Although the survey didn’t measure well-being, it did measure degree of general psychological distress.</a:t>
            </a:r>
          </a:p>
          <a:p>
            <a:pPr lvl="1"/>
            <a:r>
              <a:rPr lang="en-US" sz="1600"/>
              <a:t>According to the results, LGB persons in legally recognized marriages were significantly less distressed than both LGB people in registered domestic partnerships (which remained legal in California) and LGB people not in legally recognized relationships. </a:t>
            </a:r>
          </a:p>
        </p:txBody>
      </p:sp>
      <p:sp>
        <p:nvSpPr>
          <p:cNvPr id="5" name="Footer Placeholder 3">
            <a:extLst>
              <a:ext uri="{FF2B5EF4-FFF2-40B4-BE49-F238E27FC236}">
                <a16:creationId xmlns:a16="http://schemas.microsoft.com/office/drawing/2014/main" id="{D357DA4F-F5A3-3D41-B3F0-05A63515C265}"/>
              </a:ext>
            </a:extLst>
          </p:cNvPr>
          <p:cNvSpPr>
            <a:spLocks noGrp="1"/>
          </p:cNvSpPr>
          <p:nvPr>
            <p:ph type="ftr" sz="quarter" idx="11"/>
          </p:nvPr>
        </p:nvSpPr>
        <p:spPr>
          <a:xfrm>
            <a:off x="3028950" y="6356350"/>
            <a:ext cx="3086100" cy="365125"/>
          </a:xfrm>
        </p:spPr>
        <p:txBody>
          <a:bodyPr>
            <a:normAutofit/>
          </a:bodyPr>
          <a:lstStyle/>
          <a:p>
            <a:pPr>
              <a:lnSpc>
                <a:spcPct val="90000"/>
              </a:lnSpc>
              <a:spcAft>
                <a:spcPts val="600"/>
              </a:spcAft>
            </a:pPr>
            <a:r>
              <a:rPr lang="en-US" sz="900"/>
              <a:t>The Science and Application of Positive Psychology © Cambridge University Press 2021</a:t>
            </a:r>
          </a:p>
        </p:txBody>
      </p:sp>
    </p:spTree>
    <p:extLst>
      <p:ext uri="{BB962C8B-B14F-4D97-AF65-F5344CB8AC3E}">
        <p14:creationId xmlns:p14="http://schemas.microsoft.com/office/powerpoint/2010/main" val="44135799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9B7AD9F6-8CE7-4299-8FC6-328F4DCD3F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011F734-8170-4D33-9F89-B8487E92A73F}"/>
              </a:ext>
            </a:extLst>
          </p:cNvPr>
          <p:cNvSpPr>
            <a:spLocks noGrp="1"/>
          </p:cNvSpPr>
          <p:nvPr>
            <p:ph type="title"/>
          </p:nvPr>
        </p:nvSpPr>
        <p:spPr>
          <a:xfrm>
            <a:off x="667753" y="640080"/>
            <a:ext cx="2800511" cy="3566160"/>
          </a:xfrm>
        </p:spPr>
        <p:txBody>
          <a:bodyPr vert="horz" lIns="91440" tIns="45720" rIns="91440" bIns="45720" rtlCol="0" anchor="b">
            <a:normAutofit/>
          </a:bodyPr>
          <a:lstStyle/>
          <a:p>
            <a:pPr algn="l"/>
            <a:r>
              <a:rPr lang="en-US" sz="3600"/>
              <a:t>Theoretical Models of Good Relationships</a:t>
            </a:r>
          </a:p>
        </p:txBody>
      </p:sp>
      <p:sp>
        <p:nvSpPr>
          <p:cNvPr id="14" name="sketchy line">
            <a:extLst>
              <a:ext uri="{FF2B5EF4-FFF2-40B4-BE49-F238E27FC236}">
                <a16:creationId xmlns:a16="http://schemas.microsoft.com/office/drawing/2014/main" id="{F49775AF-8896-43EE-92C6-83497D6DC5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7753" y="4409267"/>
            <a:ext cx="2606040" cy="18288"/>
          </a:xfrm>
          <a:custGeom>
            <a:avLst/>
            <a:gdLst>
              <a:gd name="connsiteX0" fmla="*/ 0 w 2606040"/>
              <a:gd name="connsiteY0" fmla="*/ 0 h 18288"/>
              <a:gd name="connsiteX1" fmla="*/ 625450 w 2606040"/>
              <a:gd name="connsiteY1" fmla="*/ 0 h 18288"/>
              <a:gd name="connsiteX2" fmla="*/ 1224839 w 2606040"/>
              <a:gd name="connsiteY2" fmla="*/ 0 h 18288"/>
              <a:gd name="connsiteX3" fmla="*/ 1824228 w 2606040"/>
              <a:gd name="connsiteY3" fmla="*/ 0 h 18288"/>
              <a:gd name="connsiteX4" fmla="*/ 2606040 w 2606040"/>
              <a:gd name="connsiteY4" fmla="*/ 0 h 18288"/>
              <a:gd name="connsiteX5" fmla="*/ 2606040 w 2606040"/>
              <a:gd name="connsiteY5" fmla="*/ 18288 h 18288"/>
              <a:gd name="connsiteX6" fmla="*/ 1902409 w 2606040"/>
              <a:gd name="connsiteY6" fmla="*/ 18288 h 18288"/>
              <a:gd name="connsiteX7" fmla="*/ 1276960 w 2606040"/>
              <a:gd name="connsiteY7" fmla="*/ 18288 h 18288"/>
              <a:gd name="connsiteX8" fmla="*/ 677570 w 2606040"/>
              <a:gd name="connsiteY8" fmla="*/ 18288 h 18288"/>
              <a:gd name="connsiteX9" fmla="*/ 0 w 2606040"/>
              <a:gd name="connsiteY9" fmla="*/ 18288 h 18288"/>
              <a:gd name="connsiteX10" fmla="*/ 0 w 2606040"/>
              <a:gd name="connsiteY10" fmla="*/ 0 h 18288"/>
              <a:gd name="connsiteX0" fmla="*/ 0 w 2606040"/>
              <a:gd name="connsiteY0" fmla="*/ 0 h 18288"/>
              <a:gd name="connsiteX1" fmla="*/ 599389 w 2606040"/>
              <a:gd name="connsiteY1" fmla="*/ 0 h 18288"/>
              <a:gd name="connsiteX2" fmla="*/ 1303020 w 2606040"/>
              <a:gd name="connsiteY2" fmla="*/ 0 h 18288"/>
              <a:gd name="connsiteX3" fmla="*/ 1876349 w 2606040"/>
              <a:gd name="connsiteY3" fmla="*/ 0 h 18288"/>
              <a:gd name="connsiteX4" fmla="*/ 2606040 w 2606040"/>
              <a:gd name="connsiteY4" fmla="*/ 0 h 18288"/>
              <a:gd name="connsiteX5" fmla="*/ 2606040 w 2606040"/>
              <a:gd name="connsiteY5" fmla="*/ 18288 h 18288"/>
              <a:gd name="connsiteX6" fmla="*/ 1980590 w 2606040"/>
              <a:gd name="connsiteY6" fmla="*/ 18288 h 18288"/>
              <a:gd name="connsiteX7" fmla="*/ 1276960 w 2606040"/>
              <a:gd name="connsiteY7" fmla="*/ 18288 h 18288"/>
              <a:gd name="connsiteX8" fmla="*/ 651510 w 2606040"/>
              <a:gd name="connsiteY8" fmla="*/ 18288 h 18288"/>
              <a:gd name="connsiteX9" fmla="*/ 0 w 2606040"/>
              <a:gd name="connsiteY9" fmla="*/ 18288 h 18288"/>
              <a:gd name="connsiteX10" fmla="*/ 0 w 2606040"/>
              <a:gd name="connsiteY10"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606040" h="18288" fill="none" extrusionOk="0">
                <a:moveTo>
                  <a:pt x="0" y="0"/>
                </a:moveTo>
                <a:cubicBezTo>
                  <a:pt x="211079" y="-22080"/>
                  <a:pt x="479378" y="-26537"/>
                  <a:pt x="625450" y="0"/>
                </a:cubicBezTo>
                <a:cubicBezTo>
                  <a:pt x="925937" y="-4758"/>
                  <a:pt x="973176" y="15739"/>
                  <a:pt x="1224839" y="0"/>
                </a:cubicBezTo>
                <a:cubicBezTo>
                  <a:pt x="1479663" y="-11328"/>
                  <a:pt x="1566636" y="18697"/>
                  <a:pt x="1824228" y="0"/>
                </a:cubicBezTo>
                <a:cubicBezTo>
                  <a:pt x="2086799" y="-72665"/>
                  <a:pt x="2306223" y="-891"/>
                  <a:pt x="2606040" y="0"/>
                </a:cubicBezTo>
                <a:cubicBezTo>
                  <a:pt x="2606645" y="4461"/>
                  <a:pt x="2607031" y="13181"/>
                  <a:pt x="2606040" y="18288"/>
                </a:cubicBezTo>
                <a:cubicBezTo>
                  <a:pt x="2260204" y="29342"/>
                  <a:pt x="2175708" y="5614"/>
                  <a:pt x="1902409" y="18288"/>
                </a:cubicBezTo>
                <a:cubicBezTo>
                  <a:pt x="1638502" y="41064"/>
                  <a:pt x="1460923" y="-16269"/>
                  <a:pt x="1276960" y="18288"/>
                </a:cubicBezTo>
                <a:cubicBezTo>
                  <a:pt x="1057717" y="14361"/>
                  <a:pt x="867956" y="2320"/>
                  <a:pt x="677570" y="18288"/>
                </a:cubicBezTo>
                <a:cubicBezTo>
                  <a:pt x="457951" y="33373"/>
                  <a:pt x="189752" y="55388"/>
                  <a:pt x="0" y="18288"/>
                </a:cubicBezTo>
                <a:cubicBezTo>
                  <a:pt x="1586" y="13022"/>
                  <a:pt x="-95" y="4569"/>
                  <a:pt x="0" y="0"/>
                </a:cubicBezTo>
                <a:close/>
              </a:path>
              <a:path w="2606040" h="18288" stroke="0" extrusionOk="0">
                <a:moveTo>
                  <a:pt x="0" y="0"/>
                </a:moveTo>
                <a:cubicBezTo>
                  <a:pt x="172759" y="3236"/>
                  <a:pt x="361166" y="-13413"/>
                  <a:pt x="599389" y="0"/>
                </a:cubicBezTo>
                <a:cubicBezTo>
                  <a:pt x="841226" y="37042"/>
                  <a:pt x="968991" y="14587"/>
                  <a:pt x="1303020" y="0"/>
                </a:cubicBezTo>
                <a:cubicBezTo>
                  <a:pt x="1643101" y="-7120"/>
                  <a:pt x="1717813" y="7213"/>
                  <a:pt x="1876349" y="0"/>
                </a:cubicBezTo>
                <a:cubicBezTo>
                  <a:pt x="2036762" y="-14138"/>
                  <a:pt x="2426397" y="-4451"/>
                  <a:pt x="2606040" y="0"/>
                </a:cubicBezTo>
                <a:cubicBezTo>
                  <a:pt x="2606314" y="8448"/>
                  <a:pt x="2606550" y="14527"/>
                  <a:pt x="2606040" y="18288"/>
                </a:cubicBezTo>
                <a:cubicBezTo>
                  <a:pt x="2344840" y="2643"/>
                  <a:pt x="2192043" y="7399"/>
                  <a:pt x="1980590" y="18288"/>
                </a:cubicBezTo>
                <a:cubicBezTo>
                  <a:pt x="1783984" y="-9745"/>
                  <a:pt x="1487673" y="45908"/>
                  <a:pt x="1276960" y="18288"/>
                </a:cubicBezTo>
                <a:cubicBezTo>
                  <a:pt x="1088134" y="-41257"/>
                  <a:pt x="877974" y="49968"/>
                  <a:pt x="651510" y="18288"/>
                </a:cubicBezTo>
                <a:cubicBezTo>
                  <a:pt x="430798" y="-27764"/>
                  <a:pt x="132889" y="-33467"/>
                  <a:pt x="0" y="18288"/>
                </a:cubicBezTo>
                <a:cubicBezTo>
                  <a:pt x="212" y="10845"/>
                  <a:pt x="-833" y="6193"/>
                  <a:pt x="0" y="0"/>
                </a:cubicBezTo>
                <a:close/>
              </a:path>
              <a:path w="2606040" h="18288" fill="none" stroke="0" extrusionOk="0">
                <a:moveTo>
                  <a:pt x="0" y="0"/>
                </a:moveTo>
                <a:cubicBezTo>
                  <a:pt x="202328" y="-14716"/>
                  <a:pt x="332722" y="-11499"/>
                  <a:pt x="625450" y="0"/>
                </a:cubicBezTo>
                <a:cubicBezTo>
                  <a:pt x="927712" y="6878"/>
                  <a:pt x="971143" y="7084"/>
                  <a:pt x="1224839" y="0"/>
                </a:cubicBezTo>
                <a:cubicBezTo>
                  <a:pt x="1477775" y="-16815"/>
                  <a:pt x="1569904" y="19146"/>
                  <a:pt x="1824228" y="0"/>
                </a:cubicBezTo>
                <a:cubicBezTo>
                  <a:pt x="2055206" y="24867"/>
                  <a:pt x="2317192" y="-62872"/>
                  <a:pt x="2606040" y="0"/>
                </a:cubicBezTo>
                <a:cubicBezTo>
                  <a:pt x="2606166" y="3680"/>
                  <a:pt x="2606905" y="11461"/>
                  <a:pt x="2606040" y="18288"/>
                </a:cubicBezTo>
                <a:cubicBezTo>
                  <a:pt x="2234648" y="26976"/>
                  <a:pt x="2180202" y="-10361"/>
                  <a:pt x="1902409" y="18288"/>
                </a:cubicBezTo>
                <a:cubicBezTo>
                  <a:pt x="1635562" y="47194"/>
                  <a:pt x="1477339" y="4794"/>
                  <a:pt x="1276960" y="18288"/>
                </a:cubicBezTo>
                <a:cubicBezTo>
                  <a:pt x="1058094" y="66922"/>
                  <a:pt x="904206" y="-20636"/>
                  <a:pt x="677570" y="18288"/>
                </a:cubicBezTo>
                <a:cubicBezTo>
                  <a:pt x="485746" y="14713"/>
                  <a:pt x="195925" y="33005"/>
                  <a:pt x="0" y="18288"/>
                </a:cubicBezTo>
                <a:cubicBezTo>
                  <a:pt x="1168" y="12774"/>
                  <a:pt x="-229" y="3745"/>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custGeom>
                    <a:avLst/>
                    <a:gdLst>
                      <a:gd name="connsiteX0" fmla="*/ 0 w 2606040"/>
                      <a:gd name="connsiteY0" fmla="*/ 0 h 18288"/>
                      <a:gd name="connsiteX1" fmla="*/ 625450 w 2606040"/>
                      <a:gd name="connsiteY1" fmla="*/ 0 h 18288"/>
                      <a:gd name="connsiteX2" fmla="*/ 1224839 w 2606040"/>
                      <a:gd name="connsiteY2" fmla="*/ 0 h 18288"/>
                      <a:gd name="connsiteX3" fmla="*/ 1824228 w 2606040"/>
                      <a:gd name="connsiteY3" fmla="*/ 0 h 18288"/>
                      <a:gd name="connsiteX4" fmla="*/ 2606040 w 2606040"/>
                      <a:gd name="connsiteY4" fmla="*/ 0 h 18288"/>
                      <a:gd name="connsiteX5" fmla="*/ 2606040 w 2606040"/>
                      <a:gd name="connsiteY5" fmla="*/ 18288 h 18288"/>
                      <a:gd name="connsiteX6" fmla="*/ 1902409 w 2606040"/>
                      <a:gd name="connsiteY6" fmla="*/ 18288 h 18288"/>
                      <a:gd name="connsiteX7" fmla="*/ 1276960 w 2606040"/>
                      <a:gd name="connsiteY7" fmla="*/ 18288 h 18288"/>
                      <a:gd name="connsiteX8" fmla="*/ 677570 w 2606040"/>
                      <a:gd name="connsiteY8" fmla="*/ 18288 h 18288"/>
                      <a:gd name="connsiteX9" fmla="*/ 0 w 2606040"/>
                      <a:gd name="connsiteY9" fmla="*/ 18288 h 18288"/>
                      <a:gd name="connsiteX10" fmla="*/ 0 w 2606040"/>
                      <a:gd name="connsiteY10"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606040" h="18288" fill="none" extrusionOk="0">
                        <a:moveTo>
                          <a:pt x="0" y="0"/>
                        </a:moveTo>
                        <a:cubicBezTo>
                          <a:pt x="266776" y="-600"/>
                          <a:pt x="322756" y="3201"/>
                          <a:pt x="625450" y="0"/>
                        </a:cubicBezTo>
                        <a:cubicBezTo>
                          <a:pt x="928144" y="-3201"/>
                          <a:pt x="968141" y="9269"/>
                          <a:pt x="1224839" y="0"/>
                        </a:cubicBezTo>
                        <a:cubicBezTo>
                          <a:pt x="1481537" y="-9269"/>
                          <a:pt x="1569059" y="21947"/>
                          <a:pt x="1824228" y="0"/>
                        </a:cubicBezTo>
                        <a:cubicBezTo>
                          <a:pt x="2079397" y="-21947"/>
                          <a:pt x="2326053" y="-10194"/>
                          <a:pt x="2606040" y="0"/>
                        </a:cubicBezTo>
                        <a:cubicBezTo>
                          <a:pt x="2605462" y="4771"/>
                          <a:pt x="2606793" y="12323"/>
                          <a:pt x="2606040" y="18288"/>
                        </a:cubicBezTo>
                        <a:cubicBezTo>
                          <a:pt x="2256758" y="31410"/>
                          <a:pt x="2173673" y="-12878"/>
                          <a:pt x="1902409" y="18288"/>
                        </a:cubicBezTo>
                        <a:cubicBezTo>
                          <a:pt x="1631145" y="49454"/>
                          <a:pt x="1461378" y="5466"/>
                          <a:pt x="1276960" y="18288"/>
                        </a:cubicBezTo>
                        <a:cubicBezTo>
                          <a:pt x="1092542" y="31110"/>
                          <a:pt x="890442" y="13213"/>
                          <a:pt x="677570" y="18288"/>
                        </a:cubicBezTo>
                        <a:cubicBezTo>
                          <a:pt x="464698" y="23364"/>
                          <a:pt x="187648" y="35837"/>
                          <a:pt x="0" y="18288"/>
                        </a:cubicBezTo>
                        <a:cubicBezTo>
                          <a:pt x="841" y="12879"/>
                          <a:pt x="-726" y="3977"/>
                          <a:pt x="0" y="0"/>
                        </a:cubicBezTo>
                        <a:close/>
                      </a:path>
                      <a:path w="2606040" h="18288" stroke="0" extrusionOk="0">
                        <a:moveTo>
                          <a:pt x="0" y="0"/>
                        </a:moveTo>
                        <a:cubicBezTo>
                          <a:pt x="197231" y="3803"/>
                          <a:pt x="358914" y="-9291"/>
                          <a:pt x="599389" y="0"/>
                        </a:cubicBezTo>
                        <a:cubicBezTo>
                          <a:pt x="839864" y="9291"/>
                          <a:pt x="979371" y="8509"/>
                          <a:pt x="1303020" y="0"/>
                        </a:cubicBezTo>
                        <a:cubicBezTo>
                          <a:pt x="1626669" y="-8509"/>
                          <a:pt x="1726300" y="7440"/>
                          <a:pt x="1876349" y="0"/>
                        </a:cubicBezTo>
                        <a:cubicBezTo>
                          <a:pt x="2026398" y="-7440"/>
                          <a:pt x="2430712" y="17957"/>
                          <a:pt x="2606040" y="0"/>
                        </a:cubicBezTo>
                        <a:cubicBezTo>
                          <a:pt x="2605426" y="8857"/>
                          <a:pt x="2606544" y="13619"/>
                          <a:pt x="2606040" y="18288"/>
                        </a:cubicBezTo>
                        <a:cubicBezTo>
                          <a:pt x="2393024" y="2241"/>
                          <a:pt x="2191161" y="39259"/>
                          <a:pt x="1980590" y="18288"/>
                        </a:cubicBezTo>
                        <a:cubicBezTo>
                          <a:pt x="1770019" y="-2683"/>
                          <a:pt x="1476440" y="36114"/>
                          <a:pt x="1276960" y="18288"/>
                        </a:cubicBezTo>
                        <a:cubicBezTo>
                          <a:pt x="1077480" y="463"/>
                          <a:pt x="880988" y="42125"/>
                          <a:pt x="651510" y="18288"/>
                        </a:cubicBezTo>
                        <a:cubicBezTo>
                          <a:pt x="422032" y="-5549"/>
                          <a:pt x="130744" y="-1947"/>
                          <a:pt x="0" y="18288"/>
                        </a:cubicBezTo>
                        <a:cubicBezTo>
                          <a:pt x="-487" y="10816"/>
                          <a:pt x="-839" y="6058"/>
                          <a:pt x="0" y="0"/>
                        </a:cubicBezTo>
                        <a:close/>
                      </a:path>
                    </a:pathLst>
                  </a:cu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descr="Colourful carved figures of humans">
            <a:extLst>
              <a:ext uri="{FF2B5EF4-FFF2-40B4-BE49-F238E27FC236}">
                <a16:creationId xmlns:a16="http://schemas.microsoft.com/office/drawing/2014/main" id="{7AE76A8D-CBE3-1460-BEA5-F743759589C2}"/>
              </a:ext>
            </a:extLst>
          </p:cNvPr>
          <p:cNvPicPr>
            <a:picLocks noChangeAspect="1"/>
          </p:cNvPicPr>
          <p:nvPr/>
        </p:nvPicPr>
        <p:blipFill rotWithShape="1">
          <a:blip r:embed="rId2"/>
          <a:srcRect l="23316" r="23084" b="-1"/>
          <a:stretch/>
        </p:blipFill>
        <p:spPr>
          <a:xfrm>
            <a:off x="3983776" y="10"/>
            <a:ext cx="5159081"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
        <p:nvSpPr>
          <p:cNvPr id="6" name="Footer Placeholder 3">
            <a:extLst>
              <a:ext uri="{FF2B5EF4-FFF2-40B4-BE49-F238E27FC236}">
                <a16:creationId xmlns:a16="http://schemas.microsoft.com/office/drawing/2014/main" id="{B89A9DDB-4764-FD4F-8BB5-3380FCD93125}"/>
              </a:ext>
            </a:extLst>
          </p:cNvPr>
          <p:cNvSpPr>
            <a:spLocks noGrp="1"/>
          </p:cNvSpPr>
          <p:nvPr>
            <p:ph type="ftr" sz="quarter" idx="10"/>
          </p:nvPr>
        </p:nvSpPr>
        <p:spPr>
          <a:xfrm>
            <a:off x="4578958" y="6356350"/>
            <a:ext cx="3086100" cy="365125"/>
          </a:xfrm>
        </p:spPr>
        <p:txBody>
          <a:bodyPr vert="horz" lIns="91440" tIns="45720" rIns="91440" bIns="45720" rtlCol="0" anchor="ctr">
            <a:normAutofit/>
          </a:bodyPr>
          <a:lstStyle/>
          <a:p>
            <a:pPr algn="l" defTabSz="914400">
              <a:lnSpc>
                <a:spcPct val="90000"/>
              </a:lnSpc>
              <a:spcAft>
                <a:spcPts val="600"/>
              </a:spcAft>
              <a:defRPr/>
            </a:pPr>
            <a:r>
              <a:rPr lang="en-US" sz="900" kern="1200">
                <a:solidFill>
                  <a:srgbClr val="FFFFFF"/>
                </a:solidFill>
                <a:latin typeface="Calibri" panose="020F0502020204030204"/>
                <a:ea typeface="+mn-ea"/>
                <a:cs typeface="+mn-cs"/>
              </a:rPr>
              <a:t>The Science and Application of Positive Psychology © Cambridge University Press 2021</a:t>
            </a:r>
          </a:p>
        </p:txBody>
      </p:sp>
    </p:spTree>
    <p:extLst>
      <p:ext uri="{BB962C8B-B14F-4D97-AF65-F5344CB8AC3E}">
        <p14:creationId xmlns:p14="http://schemas.microsoft.com/office/powerpoint/2010/main" val="200331507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F13C74B1-5B17-4795-BED0-7140497B44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9CFB886-2CA2-4E2E-833C-0D512964D1E6}"/>
              </a:ext>
            </a:extLst>
          </p:cNvPr>
          <p:cNvSpPr>
            <a:spLocks noGrp="1"/>
          </p:cNvSpPr>
          <p:nvPr>
            <p:ph type="title"/>
          </p:nvPr>
        </p:nvSpPr>
        <p:spPr>
          <a:xfrm>
            <a:off x="480060" y="325369"/>
            <a:ext cx="3276451" cy="1956841"/>
          </a:xfrm>
        </p:spPr>
        <p:txBody>
          <a:bodyPr anchor="b">
            <a:normAutofit/>
          </a:bodyPr>
          <a:lstStyle/>
          <a:p>
            <a:r>
              <a:rPr lang="en-US" sz="4700" dirty="0"/>
              <a:t>Attachment Theory</a:t>
            </a:r>
          </a:p>
        </p:txBody>
      </p:sp>
      <p:sp>
        <p:nvSpPr>
          <p:cNvPr id="14" name="sketchy line">
            <a:extLst>
              <a:ext uri="{FF2B5EF4-FFF2-40B4-BE49-F238E27FC236}">
                <a16:creationId xmlns:a16="http://schemas.microsoft.com/office/drawing/2014/main" id="{D4974D33-8DC5-464E-8C6D-BE58F0669C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0060" y="2586994"/>
            <a:ext cx="2606040" cy="18288"/>
          </a:xfrm>
          <a:custGeom>
            <a:avLst/>
            <a:gdLst>
              <a:gd name="connsiteX0" fmla="*/ 0 w 2606040"/>
              <a:gd name="connsiteY0" fmla="*/ 0 h 18288"/>
              <a:gd name="connsiteX1" fmla="*/ 625450 w 2606040"/>
              <a:gd name="connsiteY1" fmla="*/ 0 h 18288"/>
              <a:gd name="connsiteX2" fmla="*/ 1224839 w 2606040"/>
              <a:gd name="connsiteY2" fmla="*/ 0 h 18288"/>
              <a:gd name="connsiteX3" fmla="*/ 1824228 w 2606040"/>
              <a:gd name="connsiteY3" fmla="*/ 0 h 18288"/>
              <a:gd name="connsiteX4" fmla="*/ 2606040 w 2606040"/>
              <a:gd name="connsiteY4" fmla="*/ 0 h 18288"/>
              <a:gd name="connsiteX5" fmla="*/ 2606040 w 2606040"/>
              <a:gd name="connsiteY5" fmla="*/ 18288 h 18288"/>
              <a:gd name="connsiteX6" fmla="*/ 1902409 w 2606040"/>
              <a:gd name="connsiteY6" fmla="*/ 18288 h 18288"/>
              <a:gd name="connsiteX7" fmla="*/ 1276960 w 2606040"/>
              <a:gd name="connsiteY7" fmla="*/ 18288 h 18288"/>
              <a:gd name="connsiteX8" fmla="*/ 677570 w 2606040"/>
              <a:gd name="connsiteY8" fmla="*/ 18288 h 18288"/>
              <a:gd name="connsiteX9" fmla="*/ 0 w 2606040"/>
              <a:gd name="connsiteY9" fmla="*/ 18288 h 18288"/>
              <a:gd name="connsiteX10" fmla="*/ 0 w 2606040"/>
              <a:gd name="connsiteY10" fmla="*/ 0 h 18288"/>
              <a:gd name="connsiteX0" fmla="*/ 0 w 2606040"/>
              <a:gd name="connsiteY0" fmla="*/ 0 h 18288"/>
              <a:gd name="connsiteX1" fmla="*/ 599389 w 2606040"/>
              <a:gd name="connsiteY1" fmla="*/ 0 h 18288"/>
              <a:gd name="connsiteX2" fmla="*/ 1303020 w 2606040"/>
              <a:gd name="connsiteY2" fmla="*/ 0 h 18288"/>
              <a:gd name="connsiteX3" fmla="*/ 1876349 w 2606040"/>
              <a:gd name="connsiteY3" fmla="*/ 0 h 18288"/>
              <a:gd name="connsiteX4" fmla="*/ 2606040 w 2606040"/>
              <a:gd name="connsiteY4" fmla="*/ 0 h 18288"/>
              <a:gd name="connsiteX5" fmla="*/ 2606040 w 2606040"/>
              <a:gd name="connsiteY5" fmla="*/ 18288 h 18288"/>
              <a:gd name="connsiteX6" fmla="*/ 1980590 w 2606040"/>
              <a:gd name="connsiteY6" fmla="*/ 18288 h 18288"/>
              <a:gd name="connsiteX7" fmla="*/ 1276960 w 2606040"/>
              <a:gd name="connsiteY7" fmla="*/ 18288 h 18288"/>
              <a:gd name="connsiteX8" fmla="*/ 651510 w 2606040"/>
              <a:gd name="connsiteY8" fmla="*/ 18288 h 18288"/>
              <a:gd name="connsiteX9" fmla="*/ 0 w 2606040"/>
              <a:gd name="connsiteY9" fmla="*/ 18288 h 18288"/>
              <a:gd name="connsiteX10" fmla="*/ 0 w 2606040"/>
              <a:gd name="connsiteY10"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606040" h="18288" fill="none" extrusionOk="0">
                <a:moveTo>
                  <a:pt x="0" y="0"/>
                </a:moveTo>
                <a:cubicBezTo>
                  <a:pt x="211079" y="-22080"/>
                  <a:pt x="479378" y="-26537"/>
                  <a:pt x="625450" y="0"/>
                </a:cubicBezTo>
                <a:cubicBezTo>
                  <a:pt x="925937" y="-4758"/>
                  <a:pt x="973176" y="15739"/>
                  <a:pt x="1224839" y="0"/>
                </a:cubicBezTo>
                <a:cubicBezTo>
                  <a:pt x="1479663" y="-11328"/>
                  <a:pt x="1566636" y="18697"/>
                  <a:pt x="1824228" y="0"/>
                </a:cubicBezTo>
                <a:cubicBezTo>
                  <a:pt x="2086799" y="-72665"/>
                  <a:pt x="2306223" y="-891"/>
                  <a:pt x="2606040" y="0"/>
                </a:cubicBezTo>
                <a:cubicBezTo>
                  <a:pt x="2606645" y="4461"/>
                  <a:pt x="2607031" y="13181"/>
                  <a:pt x="2606040" y="18288"/>
                </a:cubicBezTo>
                <a:cubicBezTo>
                  <a:pt x="2260204" y="29342"/>
                  <a:pt x="2175708" y="5614"/>
                  <a:pt x="1902409" y="18288"/>
                </a:cubicBezTo>
                <a:cubicBezTo>
                  <a:pt x="1638502" y="41064"/>
                  <a:pt x="1460923" y="-16269"/>
                  <a:pt x="1276960" y="18288"/>
                </a:cubicBezTo>
                <a:cubicBezTo>
                  <a:pt x="1057717" y="14361"/>
                  <a:pt x="867956" y="2320"/>
                  <a:pt x="677570" y="18288"/>
                </a:cubicBezTo>
                <a:cubicBezTo>
                  <a:pt x="457951" y="33373"/>
                  <a:pt x="189752" y="55388"/>
                  <a:pt x="0" y="18288"/>
                </a:cubicBezTo>
                <a:cubicBezTo>
                  <a:pt x="1586" y="13022"/>
                  <a:pt x="-95" y="4569"/>
                  <a:pt x="0" y="0"/>
                </a:cubicBezTo>
                <a:close/>
              </a:path>
              <a:path w="2606040" h="18288" stroke="0" extrusionOk="0">
                <a:moveTo>
                  <a:pt x="0" y="0"/>
                </a:moveTo>
                <a:cubicBezTo>
                  <a:pt x="172759" y="3236"/>
                  <a:pt x="361166" y="-13413"/>
                  <a:pt x="599389" y="0"/>
                </a:cubicBezTo>
                <a:cubicBezTo>
                  <a:pt x="841226" y="37042"/>
                  <a:pt x="968991" y="14587"/>
                  <a:pt x="1303020" y="0"/>
                </a:cubicBezTo>
                <a:cubicBezTo>
                  <a:pt x="1643101" y="-7120"/>
                  <a:pt x="1717813" y="7213"/>
                  <a:pt x="1876349" y="0"/>
                </a:cubicBezTo>
                <a:cubicBezTo>
                  <a:pt x="2036762" y="-14138"/>
                  <a:pt x="2426397" y="-4451"/>
                  <a:pt x="2606040" y="0"/>
                </a:cubicBezTo>
                <a:cubicBezTo>
                  <a:pt x="2606314" y="8448"/>
                  <a:pt x="2606550" y="14527"/>
                  <a:pt x="2606040" y="18288"/>
                </a:cubicBezTo>
                <a:cubicBezTo>
                  <a:pt x="2344840" y="2643"/>
                  <a:pt x="2192043" y="7399"/>
                  <a:pt x="1980590" y="18288"/>
                </a:cubicBezTo>
                <a:cubicBezTo>
                  <a:pt x="1783984" y="-9745"/>
                  <a:pt x="1487673" y="45908"/>
                  <a:pt x="1276960" y="18288"/>
                </a:cubicBezTo>
                <a:cubicBezTo>
                  <a:pt x="1088134" y="-41257"/>
                  <a:pt x="877974" y="49968"/>
                  <a:pt x="651510" y="18288"/>
                </a:cubicBezTo>
                <a:cubicBezTo>
                  <a:pt x="430798" y="-27764"/>
                  <a:pt x="132889" y="-33467"/>
                  <a:pt x="0" y="18288"/>
                </a:cubicBezTo>
                <a:cubicBezTo>
                  <a:pt x="212" y="10845"/>
                  <a:pt x="-833" y="6193"/>
                  <a:pt x="0" y="0"/>
                </a:cubicBezTo>
                <a:close/>
              </a:path>
              <a:path w="2606040" h="18288" fill="none" stroke="0" extrusionOk="0">
                <a:moveTo>
                  <a:pt x="0" y="0"/>
                </a:moveTo>
                <a:cubicBezTo>
                  <a:pt x="202328" y="-14716"/>
                  <a:pt x="332722" y="-11499"/>
                  <a:pt x="625450" y="0"/>
                </a:cubicBezTo>
                <a:cubicBezTo>
                  <a:pt x="927712" y="6878"/>
                  <a:pt x="971143" y="7084"/>
                  <a:pt x="1224839" y="0"/>
                </a:cubicBezTo>
                <a:cubicBezTo>
                  <a:pt x="1477775" y="-16815"/>
                  <a:pt x="1569904" y="19146"/>
                  <a:pt x="1824228" y="0"/>
                </a:cubicBezTo>
                <a:cubicBezTo>
                  <a:pt x="2055206" y="24867"/>
                  <a:pt x="2317192" y="-62872"/>
                  <a:pt x="2606040" y="0"/>
                </a:cubicBezTo>
                <a:cubicBezTo>
                  <a:pt x="2606166" y="3680"/>
                  <a:pt x="2606905" y="11461"/>
                  <a:pt x="2606040" y="18288"/>
                </a:cubicBezTo>
                <a:cubicBezTo>
                  <a:pt x="2234648" y="26976"/>
                  <a:pt x="2180202" y="-10361"/>
                  <a:pt x="1902409" y="18288"/>
                </a:cubicBezTo>
                <a:cubicBezTo>
                  <a:pt x="1635562" y="47194"/>
                  <a:pt x="1477339" y="4794"/>
                  <a:pt x="1276960" y="18288"/>
                </a:cubicBezTo>
                <a:cubicBezTo>
                  <a:pt x="1058094" y="66922"/>
                  <a:pt x="904206" y="-20636"/>
                  <a:pt x="677570" y="18288"/>
                </a:cubicBezTo>
                <a:cubicBezTo>
                  <a:pt x="485746" y="14713"/>
                  <a:pt x="195925" y="33005"/>
                  <a:pt x="0" y="18288"/>
                </a:cubicBezTo>
                <a:cubicBezTo>
                  <a:pt x="1168" y="12774"/>
                  <a:pt x="-229" y="3745"/>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custGeom>
                    <a:avLst/>
                    <a:gdLst>
                      <a:gd name="connsiteX0" fmla="*/ 0 w 2606040"/>
                      <a:gd name="connsiteY0" fmla="*/ 0 h 18288"/>
                      <a:gd name="connsiteX1" fmla="*/ 625450 w 2606040"/>
                      <a:gd name="connsiteY1" fmla="*/ 0 h 18288"/>
                      <a:gd name="connsiteX2" fmla="*/ 1224839 w 2606040"/>
                      <a:gd name="connsiteY2" fmla="*/ 0 h 18288"/>
                      <a:gd name="connsiteX3" fmla="*/ 1824228 w 2606040"/>
                      <a:gd name="connsiteY3" fmla="*/ 0 h 18288"/>
                      <a:gd name="connsiteX4" fmla="*/ 2606040 w 2606040"/>
                      <a:gd name="connsiteY4" fmla="*/ 0 h 18288"/>
                      <a:gd name="connsiteX5" fmla="*/ 2606040 w 2606040"/>
                      <a:gd name="connsiteY5" fmla="*/ 18288 h 18288"/>
                      <a:gd name="connsiteX6" fmla="*/ 1902409 w 2606040"/>
                      <a:gd name="connsiteY6" fmla="*/ 18288 h 18288"/>
                      <a:gd name="connsiteX7" fmla="*/ 1276960 w 2606040"/>
                      <a:gd name="connsiteY7" fmla="*/ 18288 h 18288"/>
                      <a:gd name="connsiteX8" fmla="*/ 677570 w 2606040"/>
                      <a:gd name="connsiteY8" fmla="*/ 18288 h 18288"/>
                      <a:gd name="connsiteX9" fmla="*/ 0 w 2606040"/>
                      <a:gd name="connsiteY9" fmla="*/ 18288 h 18288"/>
                      <a:gd name="connsiteX10" fmla="*/ 0 w 2606040"/>
                      <a:gd name="connsiteY10"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606040" h="18288" fill="none" extrusionOk="0">
                        <a:moveTo>
                          <a:pt x="0" y="0"/>
                        </a:moveTo>
                        <a:cubicBezTo>
                          <a:pt x="266776" y="-600"/>
                          <a:pt x="322756" y="3201"/>
                          <a:pt x="625450" y="0"/>
                        </a:cubicBezTo>
                        <a:cubicBezTo>
                          <a:pt x="928144" y="-3201"/>
                          <a:pt x="968141" y="9269"/>
                          <a:pt x="1224839" y="0"/>
                        </a:cubicBezTo>
                        <a:cubicBezTo>
                          <a:pt x="1481537" y="-9269"/>
                          <a:pt x="1569059" y="21947"/>
                          <a:pt x="1824228" y="0"/>
                        </a:cubicBezTo>
                        <a:cubicBezTo>
                          <a:pt x="2079397" y="-21947"/>
                          <a:pt x="2326053" y="-10194"/>
                          <a:pt x="2606040" y="0"/>
                        </a:cubicBezTo>
                        <a:cubicBezTo>
                          <a:pt x="2605462" y="4771"/>
                          <a:pt x="2606793" y="12323"/>
                          <a:pt x="2606040" y="18288"/>
                        </a:cubicBezTo>
                        <a:cubicBezTo>
                          <a:pt x="2256758" y="31410"/>
                          <a:pt x="2173673" y="-12878"/>
                          <a:pt x="1902409" y="18288"/>
                        </a:cubicBezTo>
                        <a:cubicBezTo>
                          <a:pt x="1631145" y="49454"/>
                          <a:pt x="1461378" y="5466"/>
                          <a:pt x="1276960" y="18288"/>
                        </a:cubicBezTo>
                        <a:cubicBezTo>
                          <a:pt x="1092542" y="31110"/>
                          <a:pt x="890442" y="13213"/>
                          <a:pt x="677570" y="18288"/>
                        </a:cubicBezTo>
                        <a:cubicBezTo>
                          <a:pt x="464698" y="23364"/>
                          <a:pt x="187648" y="35837"/>
                          <a:pt x="0" y="18288"/>
                        </a:cubicBezTo>
                        <a:cubicBezTo>
                          <a:pt x="841" y="12879"/>
                          <a:pt x="-726" y="3977"/>
                          <a:pt x="0" y="0"/>
                        </a:cubicBezTo>
                        <a:close/>
                      </a:path>
                      <a:path w="2606040" h="18288" stroke="0" extrusionOk="0">
                        <a:moveTo>
                          <a:pt x="0" y="0"/>
                        </a:moveTo>
                        <a:cubicBezTo>
                          <a:pt x="197231" y="3803"/>
                          <a:pt x="358914" y="-9291"/>
                          <a:pt x="599389" y="0"/>
                        </a:cubicBezTo>
                        <a:cubicBezTo>
                          <a:pt x="839864" y="9291"/>
                          <a:pt x="979371" y="8509"/>
                          <a:pt x="1303020" y="0"/>
                        </a:cubicBezTo>
                        <a:cubicBezTo>
                          <a:pt x="1626669" y="-8509"/>
                          <a:pt x="1726300" y="7440"/>
                          <a:pt x="1876349" y="0"/>
                        </a:cubicBezTo>
                        <a:cubicBezTo>
                          <a:pt x="2026398" y="-7440"/>
                          <a:pt x="2430712" y="17957"/>
                          <a:pt x="2606040" y="0"/>
                        </a:cubicBezTo>
                        <a:cubicBezTo>
                          <a:pt x="2605426" y="8857"/>
                          <a:pt x="2606544" y="13619"/>
                          <a:pt x="2606040" y="18288"/>
                        </a:cubicBezTo>
                        <a:cubicBezTo>
                          <a:pt x="2393024" y="2241"/>
                          <a:pt x="2191161" y="39259"/>
                          <a:pt x="1980590" y="18288"/>
                        </a:cubicBezTo>
                        <a:cubicBezTo>
                          <a:pt x="1770019" y="-2683"/>
                          <a:pt x="1476440" y="36114"/>
                          <a:pt x="1276960" y="18288"/>
                        </a:cubicBezTo>
                        <a:cubicBezTo>
                          <a:pt x="1077480" y="463"/>
                          <a:pt x="880988" y="42125"/>
                          <a:pt x="651510" y="18288"/>
                        </a:cubicBezTo>
                        <a:cubicBezTo>
                          <a:pt x="422032" y="-5549"/>
                          <a:pt x="130744" y="-1947"/>
                          <a:pt x="0" y="18288"/>
                        </a:cubicBezTo>
                        <a:cubicBezTo>
                          <a:pt x="-487" y="10816"/>
                          <a:pt x="-839" y="6058"/>
                          <a:pt x="0" y="0"/>
                        </a:cubicBezTo>
                        <a:close/>
                      </a:path>
                    </a:pathLst>
                  </a:cu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Content Placeholder 5">
            <a:extLst>
              <a:ext uri="{FF2B5EF4-FFF2-40B4-BE49-F238E27FC236}">
                <a16:creationId xmlns:a16="http://schemas.microsoft.com/office/drawing/2014/main" id="{40913660-0F5F-4D1F-84CB-4AA60CFBA583}"/>
              </a:ext>
            </a:extLst>
          </p:cNvPr>
          <p:cNvSpPr>
            <a:spLocks noGrp="1"/>
          </p:cNvSpPr>
          <p:nvPr>
            <p:ph idx="1"/>
          </p:nvPr>
        </p:nvSpPr>
        <p:spPr>
          <a:xfrm>
            <a:off x="231228" y="2758755"/>
            <a:ext cx="4455072" cy="3434812"/>
          </a:xfrm>
        </p:spPr>
        <p:txBody>
          <a:bodyPr>
            <a:noAutofit/>
          </a:bodyPr>
          <a:lstStyle/>
          <a:p>
            <a:r>
              <a:rPr lang="en-US" sz="1800" dirty="0"/>
              <a:t>Attachment theory was originally developed by John Bowlby (1969) and later expanded by Mary Ainsworth (Ainsworth et al., 1978). </a:t>
            </a:r>
          </a:p>
          <a:p>
            <a:r>
              <a:rPr lang="en-US" sz="1800" dirty="0"/>
              <a:t>Major assertions of attachment theory:</a:t>
            </a:r>
          </a:p>
          <a:p>
            <a:pPr lvl="1"/>
            <a:r>
              <a:rPr lang="en-US" sz="1800" dirty="0"/>
              <a:t>Parents and other early caregivers who are dependable and responsive to a child’s needs help that child develop a sense of trust and security, known as a </a:t>
            </a:r>
            <a:r>
              <a:rPr lang="en-US" sz="1800" i="1" dirty="0"/>
              <a:t>secure attachment style</a:t>
            </a:r>
            <a:r>
              <a:rPr lang="en-US" sz="1800" dirty="0"/>
              <a:t>,</a:t>
            </a:r>
            <a:r>
              <a:rPr lang="en-US" sz="1800" i="1" dirty="0"/>
              <a:t> </a:t>
            </a:r>
            <a:r>
              <a:rPr lang="en-US" sz="1800" dirty="0"/>
              <a:t>which children carry into adulthood.</a:t>
            </a:r>
          </a:p>
          <a:p>
            <a:pPr lvl="1"/>
            <a:r>
              <a:rPr lang="en-US" sz="1800" dirty="0"/>
              <a:t>Adults with a secure attachment style have more stable and satisfying relationships than adults who have </a:t>
            </a:r>
            <a:r>
              <a:rPr lang="en-US" sz="1800" i="1" dirty="0"/>
              <a:t>insecure attachment styles</a:t>
            </a:r>
            <a:r>
              <a:rPr lang="en-US" sz="1800" dirty="0"/>
              <a:t>.</a:t>
            </a:r>
          </a:p>
        </p:txBody>
      </p:sp>
      <p:pic>
        <p:nvPicPr>
          <p:cNvPr id="8" name="Picture 7" descr="A hand of two adults and a kid on top of each other">
            <a:extLst>
              <a:ext uri="{FF2B5EF4-FFF2-40B4-BE49-F238E27FC236}">
                <a16:creationId xmlns:a16="http://schemas.microsoft.com/office/drawing/2014/main" id="{5E6AAB17-F369-543B-496F-109EFB960D2F}"/>
              </a:ext>
            </a:extLst>
          </p:cNvPr>
          <p:cNvPicPr>
            <a:picLocks noChangeAspect="1"/>
          </p:cNvPicPr>
          <p:nvPr/>
        </p:nvPicPr>
        <p:blipFill rotWithShape="1">
          <a:blip r:embed="rId3"/>
          <a:srcRect l="28495" r="21290" b="-1"/>
          <a:stretch/>
        </p:blipFill>
        <p:spPr>
          <a:xfrm>
            <a:off x="4912009" y="990285"/>
            <a:ext cx="4230848" cy="5867715"/>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
        <p:nvSpPr>
          <p:cNvPr id="5" name="Footer Placeholder 3">
            <a:extLst>
              <a:ext uri="{FF2B5EF4-FFF2-40B4-BE49-F238E27FC236}">
                <a16:creationId xmlns:a16="http://schemas.microsoft.com/office/drawing/2014/main" id="{44AF089D-9B1A-F242-94FB-DFBE80FD196B}"/>
              </a:ext>
            </a:extLst>
          </p:cNvPr>
          <p:cNvSpPr>
            <a:spLocks noGrp="1"/>
          </p:cNvSpPr>
          <p:nvPr>
            <p:ph type="ftr" sz="quarter" idx="11"/>
          </p:nvPr>
        </p:nvSpPr>
        <p:spPr>
          <a:xfrm>
            <a:off x="4686300" y="6356350"/>
            <a:ext cx="3086100" cy="365125"/>
          </a:xfrm>
        </p:spPr>
        <p:txBody>
          <a:bodyPr>
            <a:normAutofit/>
          </a:bodyPr>
          <a:lstStyle/>
          <a:p>
            <a:pPr algn="l">
              <a:lnSpc>
                <a:spcPct val="90000"/>
              </a:lnSpc>
              <a:spcAft>
                <a:spcPts val="600"/>
              </a:spcAft>
            </a:pPr>
            <a:r>
              <a:rPr lang="en-US" sz="900">
                <a:solidFill>
                  <a:srgbClr val="FFFFFF"/>
                </a:solidFill>
              </a:rPr>
              <a:t>The Science and Application of Positive Psychology © Cambridge University Press 2021</a:t>
            </a:r>
          </a:p>
        </p:txBody>
      </p:sp>
    </p:spTree>
    <p:extLst>
      <p:ext uri="{BB962C8B-B14F-4D97-AF65-F5344CB8AC3E}">
        <p14:creationId xmlns:p14="http://schemas.microsoft.com/office/powerpoint/2010/main" val="135954094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1"/>
            <a:ext cx="9143997"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6086479"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86474" y="-1"/>
            <a:ext cx="3057523"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4512" y="-1"/>
            <a:ext cx="8799485"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9CFB886-2CA2-4E2E-833C-0D512964D1E6}"/>
              </a:ext>
            </a:extLst>
          </p:cNvPr>
          <p:cNvSpPr>
            <a:spLocks noGrp="1"/>
          </p:cNvSpPr>
          <p:nvPr>
            <p:ph type="title"/>
          </p:nvPr>
        </p:nvSpPr>
        <p:spPr>
          <a:xfrm>
            <a:off x="1028699" y="294538"/>
            <a:ext cx="7421963" cy="1033669"/>
          </a:xfrm>
        </p:spPr>
        <p:txBody>
          <a:bodyPr>
            <a:normAutofit/>
          </a:bodyPr>
          <a:lstStyle/>
          <a:p>
            <a:r>
              <a:rPr lang="en-US" sz="3500">
                <a:solidFill>
                  <a:srgbClr val="FFFFFF"/>
                </a:solidFill>
              </a:rPr>
              <a:t>Attachment Theory</a:t>
            </a:r>
          </a:p>
        </p:txBody>
      </p:sp>
      <p:sp>
        <p:nvSpPr>
          <p:cNvPr id="5" name="Footer Placeholder 3">
            <a:extLst>
              <a:ext uri="{FF2B5EF4-FFF2-40B4-BE49-F238E27FC236}">
                <a16:creationId xmlns:a16="http://schemas.microsoft.com/office/drawing/2014/main" id="{5856D78A-87FB-8A4D-A0CB-38ED90EFD53A}"/>
              </a:ext>
            </a:extLst>
          </p:cNvPr>
          <p:cNvSpPr>
            <a:spLocks noGrp="1"/>
          </p:cNvSpPr>
          <p:nvPr>
            <p:ph type="ftr" sz="quarter" idx="11"/>
          </p:nvPr>
        </p:nvSpPr>
        <p:spPr>
          <a:xfrm rot="5400000">
            <a:off x="-1370793" y="1984248"/>
            <a:ext cx="3086099" cy="365125"/>
          </a:xfrm>
        </p:spPr>
        <p:txBody>
          <a:bodyPr>
            <a:normAutofit/>
          </a:bodyPr>
          <a:lstStyle/>
          <a:p>
            <a:pPr algn="l">
              <a:lnSpc>
                <a:spcPct val="90000"/>
              </a:lnSpc>
              <a:spcAft>
                <a:spcPts val="600"/>
              </a:spcAft>
            </a:pPr>
            <a:r>
              <a:rPr lang="en-US" sz="900">
                <a:solidFill>
                  <a:srgbClr val="FFFFFF"/>
                </a:solidFill>
              </a:rPr>
              <a:t>The Science and Application of Positive Psychology © Cambridge University Press 2021</a:t>
            </a:r>
          </a:p>
        </p:txBody>
      </p:sp>
      <p:sp>
        <p:nvSpPr>
          <p:cNvPr id="6" name="Content Placeholder 5">
            <a:extLst>
              <a:ext uri="{FF2B5EF4-FFF2-40B4-BE49-F238E27FC236}">
                <a16:creationId xmlns:a16="http://schemas.microsoft.com/office/drawing/2014/main" id="{40913660-0F5F-4D1F-84CB-4AA60CFBA583}"/>
              </a:ext>
            </a:extLst>
          </p:cNvPr>
          <p:cNvSpPr>
            <a:spLocks noGrp="1"/>
          </p:cNvSpPr>
          <p:nvPr>
            <p:ph idx="1"/>
          </p:nvPr>
        </p:nvSpPr>
        <p:spPr>
          <a:xfrm>
            <a:off x="1028699" y="1885279"/>
            <a:ext cx="7293023" cy="4862362"/>
          </a:xfrm>
        </p:spPr>
        <p:txBody>
          <a:bodyPr anchor="ctr">
            <a:normAutofit fontScale="92500" lnSpcReduction="20000"/>
          </a:bodyPr>
          <a:lstStyle/>
          <a:p>
            <a:r>
              <a:rPr lang="en-US" sz="2000" dirty="0"/>
              <a:t>Research supports the second assertion of attachment theory more than the first.</a:t>
            </a:r>
          </a:p>
          <a:p>
            <a:pPr lvl="1"/>
            <a:r>
              <a:rPr lang="en-US" sz="2000" dirty="0"/>
              <a:t>Adults with a secure attachment style enjoy higher levels of satisfaction and stability in romantic relationships than adults with insecure attachment styles.</a:t>
            </a:r>
          </a:p>
          <a:p>
            <a:pPr lvl="1"/>
            <a:r>
              <a:rPr lang="en-US" sz="2000" dirty="0"/>
              <a:t>Although studies show that early parent-child relationships predict quality of other relationships in adulthood, the effect isn’t very strong. </a:t>
            </a:r>
          </a:p>
          <a:p>
            <a:r>
              <a:rPr lang="en-US" sz="2000" dirty="0"/>
              <a:t>Important Study: Dinero et al. (2008)</a:t>
            </a:r>
          </a:p>
          <a:p>
            <a:pPr lvl="1"/>
            <a:r>
              <a:rPr lang="en-US" sz="2000" dirty="0"/>
              <a:t>Interviewed 269 individuals when they were 15-16 years old together with their parents, then again in their mid-20s together with their romantic partners.</a:t>
            </a:r>
          </a:p>
          <a:p>
            <a:pPr lvl="1"/>
            <a:r>
              <a:rPr lang="en-US" sz="2000" dirty="0"/>
              <a:t>Used a behavioral coding system to assess various different aspects of the relationships participants had with their parents (as children) and romantic partners (as adults).</a:t>
            </a:r>
          </a:p>
          <a:p>
            <a:pPr lvl="1"/>
            <a:r>
              <a:rPr lang="en-US" sz="2000" dirty="0"/>
              <a:t>Correlations between the various ways the individuals and their families interacted when they were teenagers and the ways they interacted with their partners a decade later were statistically significant, but only small to moderate, ranging from 0.17 to 0.41.</a:t>
            </a:r>
          </a:p>
          <a:p>
            <a:endParaRPr lang="en-US" sz="1400" dirty="0"/>
          </a:p>
        </p:txBody>
      </p:sp>
    </p:spTree>
    <p:extLst>
      <p:ext uri="{BB962C8B-B14F-4D97-AF65-F5344CB8AC3E}">
        <p14:creationId xmlns:p14="http://schemas.microsoft.com/office/powerpoint/2010/main" val="333261402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9143999"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096642" y="0"/>
            <a:ext cx="3047358"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783777" y="-3783778"/>
            <a:ext cx="1576446" cy="9144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C9CFB886-2CA2-4E2E-833C-0D512964D1E6}"/>
              </a:ext>
            </a:extLst>
          </p:cNvPr>
          <p:cNvSpPr>
            <a:spLocks noGrp="1"/>
          </p:cNvSpPr>
          <p:nvPr>
            <p:ph type="title"/>
          </p:nvPr>
        </p:nvSpPr>
        <p:spPr>
          <a:xfrm>
            <a:off x="1028697" y="348865"/>
            <a:ext cx="7533018" cy="877729"/>
          </a:xfrm>
        </p:spPr>
        <p:txBody>
          <a:bodyPr anchor="ctr">
            <a:normAutofit/>
          </a:bodyPr>
          <a:lstStyle/>
          <a:p>
            <a:r>
              <a:rPr lang="en-US" sz="3500">
                <a:solidFill>
                  <a:srgbClr val="FFFFFF"/>
                </a:solidFill>
              </a:rPr>
              <a:t>Social Exchange Theories</a:t>
            </a:r>
          </a:p>
        </p:txBody>
      </p:sp>
      <p:sp>
        <p:nvSpPr>
          <p:cNvPr id="5" name="Footer Placeholder 3">
            <a:extLst>
              <a:ext uri="{FF2B5EF4-FFF2-40B4-BE49-F238E27FC236}">
                <a16:creationId xmlns:a16="http://schemas.microsoft.com/office/drawing/2014/main" id="{3D5BDF61-90D2-4047-8445-7264696EC784}"/>
              </a:ext>
            </a:extLst>
          </p:cNvPr>
          <p:cNvSpPr>
            <a:spLocks noGrp="1"/>
          </p:cNvSpPr>
          <p:nvPr>
            <p:ph type="ftr" sz="quarter" idx="11"/>
          </p:nvPr>
        </p:nvSpPr>
        <p:spPr>
          <a:xfrm rot="5400000">
            <a:off x="-1371600" y="1984248"/>
            <a:ext cx="3086100" cy="365125"/>
          </a:xfrm>
        </p:spPr>
        <p:txBody>
          <a:bodyPr>
            <a:normAutofit/>
          </a:bodyPr>
          <a:lstStyle/>
          <a:p>
            <a:pPr algn="l">
              <a:lnSpc>
                <a:spcPct val="90000"/>
              </a:lnSpc>
              <a:spcAft>
                <a:spcPts val="600"/>
              </a:spcAft>
            </a:pPr>
            <a:r>
              <a:rPr lang="en-US" sz="900">
                <a:solidFill>
                  <a:srgbClr val="FFFFFF"/>
                </a:solidFill>
              </a:rPr>
              <a:t>The Science and Application of Positive Psychology © Cambridge University Press 2021</a:t>
            </a:r>
          </a:p>
        </p:txBody>
      </p:sp>
      <p:graphicFrame>
        <p:nvGraphicFramePr>
          <p:cNvPr id="8" name="Content Placeholder 5">
            <a:extLst>
              <a:ext uri="{FF2B5EF4-FFF2-40B4-BE49-F238E27FC236}">
                <a16:creationId xmlns:a16="http://schemas.microsoft.com/office/drawing/2014/main" id="{4D6B2045-F31A-9EA1-C01F-0721D82D2DC9}"/>
              </a:ext>
            </a:extLst>
          </p:cNvPr>
          <p:cNvGraphicFramePr>
            <a:graphicFrameLocks noGrp="1"/>
          </p:cNvGraphicFramePr>
          <p:nvPr>
            <p:ph idx="1"/>
            <p:extLst>
              <p:ext uri="{D42A27DB-BD31-4B8C-83A1-F6EECF244321}">
                <p14:modId xmlns:p14="http://schemas.microsoft.com/office/powerpoint/2010/main" val="725186540"/>
              </p:ext>
            </p:extLst>
          </p:nvPr>
        </p:nvGraphicFramePr>
        <p:xfrm>
          <a:off x="483042" y="2112579"/>
          <a:ext cx="8195871" cy="41928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81119542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537" name="Rectangle 22536">
            <a:extLst>
              <a:ext uri="{FF2B5EF4-FFF2-40B4-BE49-F238E27FC236}">
                <a16:creationId xmlns:a16="http://schemas.microsoft.com/office/drawing/2014/main" id="{2C61293E-6EBE-43EF-A52C-9BEBFD7679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530" name="Rectangle 2"/>
          <p:cNvSpPr>
            <a:spLocks noGrp="1" noChangeArrowheads="1"/>
          </p:cNvSpPr>
          <p:nvPr>
            <p:ph type="title"/>
          </p:nvPr>
        </p:nvSpPr>
        <p:spPr>
          <a:xfrm>
            <a:off x="3973321" y="329184"/>
            <a:ext cx="4688333" cy="1783080"/>
          </a:xfrm>
        </p:spPr>
        <p:txBody>
          <a:bodyPr anchor="b">
            <a:normAutofit/>
          </a:bodyPr>
          <a:lstStyle/>
          <a:p>
            <a:r>
              <a:rPr lang="en-US" sz="4700"/>
              <a:t>Social Exchange Theories</a:t>
            </a:r>
          </a:p>
        </p:txBody>
      </p:sp>
      <p:pic>
        <p:nvPicPr>
          <p:cNvPr id="22533" name="Picture 22532" descr="A group of yellow figures and a red figure on the other side">
            <a:extLst>
              <a:ext uri="{FF2B5EF4-FFF2-40B4-BE49-F238E27FC236}">
                <a16:creationId xmlns:a16="http://schemas.microsoft.com/office/drawing/2014/main" id="{F10E2A0C-E73E-3A3D-C601-920D00C09C24}"/>
              </a:ext>
            </a:extLst>
          </p:cNvPr>
          <p:cNvPicPr>
            <a:picLocks noChangeAspect="1"/>
          </p:cNvPicPr>
          <p:nvPr/>
        </p:nvPicPr>
        <p:blipFill rotWithShape="1">
          <a:blip r:embed="rId3"/>
          <a:srcRect l="51312" r="14690" b="-1"/>
          <a:stretch/>
        </p:blipFill>
        <p:spPr>
          <a:xfrm>
            <a:off x="20" y="10"/>
            <a:ext cx="3492988" cy="6857990"/>
          </a:xfrm>
          <a:custGeom>
            <a:avLst/>
            <a:gdLst/>
            <a:ahLst/>
            <a:cxnLst/>
            <a:rect l="l" t="t" r="r" b="b"/>
            <a:pathLst>
              <a:path w="4657344" h="6858000">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p:spPr>
      </p:pic>
      <p:sp>
        <p:nvSpPr>
          <p:cNvPr id="22539" name="sketchy line">
            <a:extLst>
              <a:ext uri="{FF2B5EF4-FFF2-40B4-BE49-F238E27FC236}">
                <a16:creationId xmlns:a16="http://schemas.microsoft.com/office/drawing/2014/main" id="{21540236-BFD5-4A9D-8840-4703E7F768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73321" y="2374947"/>
            <a:ext cx="3182692" cy="18288"/>
          </a:xfrm>
          <a:custGeom>
            <a:avLst/>
            <a:gdLst>
              <a:gd name="connsiteX0" fmla="*/ 0 w 3182692"/>
              <a:gd name="connsiteY0" fmla="*/ 0 h 18288"/>
              <a:gd name="connsiteX1" fmla="*/ 636538 w 3182692"/>
              <a:gd name="connsiteY1" fmla="*/ 0 h 18288"/>
              <a:gd name="connsiteX2" fmla="*/ 1273077 w 3182692"/>
              <a:gd name="connsiteY2" fmla="*/ 0 h 18288"/>
              <a:gd name="connsiteX3" fmla="*/ 1909615 w 3182692"/>
              <a:gd name="connsiteY3" fmla="*/ 0 h 18288"/>
              <a:gd name="connsiteX4" fmla="*/ 2482500 w 3182692"/>
              <a:gd name="connsiteY4" fmla="*/ 0 h 18288"/>
              <a:gd name="connsiteX5" fmla="*/ 3182692 w 3182692"/>
              <a:gd name="connsiteY5" fmla="*/ 0 h 18288"/>
              <a:gd name="connsiteX6" fmla="*/ 3182692 w 3182692"/>
              <a:gd name="connsiteY6" fmla="*/ 18288 h 18288"/>
              <a:gd name="connsiteX7" fmla="*/ 2609807 w 3182692"/>
              <a:gd name="connsiteY7" fmla="*/ 18288 h 18288"/>
              <a:gd name="connsiteX8" fmla="*/ 2068750 w 3182692"/>
              <a:gd name="connsiteY8" fmla="*/ 18288 h 18288"/>
              <a:gd name="connsiteX9" fmla="*/ 1432211 w 3182692"/>
              <a:gd name="connsiteY9" fmla="*/ 18288 h 18288"/>
              <a:gd name="connsiteX10" fmla="*/ 859327 w 3182692"/>
              <a:gd name="connsiteY10" fmla="*/ 18288 h 18288"/>
              <a:gd name="connsiteX11" fmla="*/ 0 w 3182692"/>
              <a:gd name="connsiteY11" fmla="*/ 18288 h 18288"/>
              <a:gd name="connsiteX12" fmla="*/ 0 w 3182692"/>
              <a:gd name="connsiteY12" fmla="*/ 0 h 18288"/>
              <a:gd name="connsiteX0" fmla="*/ 0 w 3182692"/>
              <a:gd name="connsiteY0" fmla="*/ 0 h 18288"/>
              <a:gd name="connsiteX1" fmla="*/ 572885 w 3182692"/>
              <a:gd name="connsiteY1" fmla="*/ 0 h 18288"/>
              <a:gd name="connsiteX2" fmla="*/ 1113942 w 3182692"/>
              <a:gd name="connsiteY2" fmla="*/ 0 h 18288"/>
              <a:gd name="connsiteX3" fmla="*/ 1686827 w 3182692"/>
              <a:gd name="connsiteY3" fmla="*/ 0 h 18288"/>
              <a:gd name="connsiteX4" fmla="*/ 2323365 w 3182692"/>
              <a:gd name="connsiteY4" fmla="*/ 0 h 18288"/>
              <a:gd name="connsiteX5" fmla="*/ 3182692 w 3182692"/>
              <a:gd name="connsiteY5" fmla="*/ 0 h 18288"/>
              <a:gd name="connsiteX6" fmla="*/ 3182692 w 3182692"/>
              <a:gd name="connsiteY6" fmla="*/ 18288 h 18288"/>
              <a:gd name="connsiteX7" fmla="*/ 2546154 w 3182692"/>
              <a:gd name="connsiteY7" fmla="*/ 18288 h 18288"/>
              <a:gd name="connsiteX8" fmla="*/ 1845961 w 3182692"/>
              <a:gd name="connsiteY8" fmla="*/ 18288 h 18288"/>
              <a:gd name="connsiteX9" fmla="*/ 1304904 w 3182692"/>
              <a:gd name="connsiteY9" fmla="*/ 18288 h 18288"/>
              <a:gd name="connsiteX10" fmla="*/ 604711 w 3182692"/>
              <a:gd name="connsiteY10" fmla="*/ 18288 h 18288"/>
              <a:gd name="connsiteX11" fmla="*/ 0 w 3182692"/>
              <a:gd name="connsiteY11" fmla="*/ 18288 h 18288"/>
              <a:gd name="connsiteX12" fmla="*/ 0 w 3182692"/>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182692" h="18288" fill="none" extrusionOk="0">
                <a:moveTo>
                  <a:pt x="0" y="0"/>
                </a:moveTo>
                <a:cubicBezTo>
                  <a:pt x="225870" y="33585"/>
                  <a:pt x="418138" y="17639"/>
                  <a:pt x="636538" y="0"/>
                </a:cubicBezTo>
                <a:cubicBezTo>
                  <a:pt x="865372" y="-3887"/>
                  <a:pt x="1010746" y="-18166"/>
                  <a:pt x="1273077" y="0"/>
                </a:cubicBezTo>
                <a:cubicBezTo>
                  <a:pt x="1527846" y="-24408"/>
                  <a:pt x="1703704" y="-36055"/>
                  <a:pt x="1909615" y="0"/>
                </a:cubicBezTo>
                <a:cubicBezTo>
                  <a:pt x="2119487" y="1667"/>
                  <a:pt x="2200543" y="-19343"/>
                  <a:pt x="2482500" y="0"/>
                </a:cubicBezTo>
                <a:cubicBezTo>
                  <a:pt x="2736775" y="57438"/>
                  <a:pt x="2997998" y="-48885"/>
                  <a:pt x="3182692" y="0"/>
                </a:cubicBezTo>
                <a:cubicBezTo>
                  <a:pt x="3182658" y="4844"/>
                  <a:pt x="3182282" y="11009"/>
                  <a:pt x="3182692" y="18288"/>
                </a:cubicBezTo>
                <a:cubicBezTo>
                  <a:pt x="2944477" y="15825"/>
                  <a:pt x="2868931" y="12370"/>
                  <a:pt x="2609807" y="18288"/>
                </a:cubicBezTo>
                <a:cubicBezTo>
                  <a:pt x="2341556" y="6193"/>
                  <a:pt x="2324113" y="22706"/>
                  <a:pt x="2068750" y="18288"/>
                </a:cubicBezTo>
                <a:cubicBezTo>
                  <a:pt x="1817163" y="7852"/>
                  <a:pt x="1716254" y="25979"/>
                  <a:pt x="1432211" y="18288"/>
                </a:cubicBezTo>
                <a:cubicBezTo>
                  <a:pt x="1164747" y="-28137"/>
                  <a:pt x="993140" y="27575"/>
                  <a:pt x="859327" y="18288"/>
                </a:cubicBezTo>
                <a:cubicBezTo>
                  <a:pt x="750703" y="-24974"/>
                  <a:pt x="236193" y="38731"/>
                  <a:pt x="0" y="18288"/>
                </a:cubicBezTo>
                <a:cubicBezTo>
                  <a:pt x="-649" y="11698"/>
                  <a:pt x="663" y="5413"/>
                  <a:pt x="0" y="0"/>
                </a:cubicBezTo>
                <a:close/>
              </a:path>
              <a:path w="3182692" h="18288" stroke="0" extrusionOk="0">
                <a:moveTo>
                  <a:pt x="0" y="0"/>
                </a:moveTo>
                <a:cubicBezTo>
                  <a:pt x="224421" y="-39331"/>
                  <a:pt x="418777" y="11439"/>
                  <a:pt x="572885" y="0"/>
                </a:cubicBezTo>
                <a:cubicBezTo>
                  <a:pt x="750333" y="-6388"/>
                  <a:pt x="940592" y="15806"/>
                  <a:pt x="1113942" y="0"/>
                </a:cubicBezTo>
                <a:cubicBezTo>
                  <a:pt x="1322785" y="-1777"/>
                  <a:pt x="1505363" y="28230"/>
                  <a:pt x="1686827" y="0"/>
                </a:cubicBezTo>
                <a:cubicBezTo>
                  <a:pt x="1853304" y="1595"/>
                  <a:pt x="2194652" y="-1232"/>
                  <a:pt x="2323365" y="0"/>
                </a:cubicBezTo>
                <a:cubicBezTo>
                  <a:pt x="2488732" y="36406"/>
                  <a:pt x="2902093" y="-40336"/>
                  <a:pt x="3182692" y="0"/>
                </a:cubicBezTo>
                <a:cubicBezTo>
                  <a:pt x="3182167" y="5049"/>
                  <a:pt x="3182885" y="12044"/>
                  <a:pt x="3182692" y="18288"/>
                </a:cubicBezTo>
                <a:cubicBezTo>
                  <a:pt x="3012563" y="-37820"/>
                  <a:pt x="2765409" y="35618"/>
                  <a:pt x="2546154" y="18288"/>
                </a:cubicBezTo>
                <a:cubicBezTo>
                  <a:pt x="2333381" y="13914"/>
                  <a:pt x="2154438" y="9838"/>
                  <a:pt x="1845961" y="18288"/>
                </a:cubicBezTo>
                <a:cubicBezTo>
                  <a:pt x="1531509" y="33812"/>
                  <a:pt x="1456631" y="-6606"/>
                  <a:pt x="1304904" y="18288"/>
                </a:cubicBezTo>
                <a:cubicBezTo>
                  <a:pt x="1168344" y="36351"/>
                  <a:pt x="928499" y="15047"/>
                  <a:pt x="604711" y="18288"/>
                </a:cubicBezTo>
                <a:cubicBezTo>
                  <a:pt x="285438" y="38007"/>
                  <a:pt x="116029" y="-22204"/>
                  <a:pt x="0" y="18288"/>
                </a:cubicBezTo>
                <a:cubicBezTo>
                  <a:pt x="-39" y="12511"/>
                  <a:pt x="-381" y="8039"/>
                  <a:pt x="0" y="0"/>
                </a:cubicBezTo>
                <a:close/>
              </a:path>
              <a:path w="3182692" h="18288" fill="none" stroke="0" extrusionOk="0">
                <a:moveTo>
                  <a:pt x="0" y="0"/>
                </a:moveTo>
                <a:cubicBezTo>
                  <a:pt x="245832" y="29445"/>
                  <a:pt x="388924" y="-28919"/>
                  <a:pt x="636538" y="0"/>
                </a:cubicBezTo>
                <a:cubicBezTo>
                  <a:pt x="854919" y="4634"/>
                  <a:pt x="991654" y="8864"/>
                  <a:pt x="1273077" y="0"/>
                </a:cubicBezTo>
                <a:cubicBezTo>
                  <a:pt x="1566644" y="-14667"/>
                  <a:pt x="1666526" y="3717"/>
                  <a:pt x="1909615" y="0"/>
                </a:cubicBezTo>
                <a:cubicBezTo>
                  <a:pt x="2138795" y="27220"/>
                  <a:pt x="2225506" y="-13892"/>
                  <a:pt x="2482500" y="0"/>
                </a:cubicBezTo>
                <a:cubicBezTo>
                  <a:pt x="2775583" y="32183"/>
                  <a:pt x="3003218" y="-43687"/>
                  <a:pt x="3182692" y="0"/>
                </a:cubicBezTo>
                <a:cubicBezTo>
                  <a:pt x="3183006" y="4158"/>
                  <a:pt x="3181713" y="12539"/>
                  <a:pt x="3182692" y="18288"/>
                </a:cubicBezTo>
                <a:cubicBezTo>
                  <a:pt x="2959845" y="25574"/>
                  <a:pt x="2868929" y="24980"/>
                  <a:pt x="2609807" y="18288"/>
                </a:cubicBezTo>
                <a:cubicBezTo>
                  <a:pt x="2341405" y="5992"/>
                  <a:pt x="2328488" y="20436"/>
                  <a:pt x="2068750" y="18288"/>
                </a:cubicBezTo>
                <a:cubicBezTo>
                  <a:pt x="1816113" y="2395"/>
                  <a:pt x="1699345" y="36855"/>
                  <a:pt x="1432211" y="18288"/>
                </a:cubicBezTo>
                <a:cubicBezTo>
                  <a:pt x="1148381" y="-28184"/>
                  <a:pt x="987622" y="2403"/>
                  <a:pt x="859327" y="18288"/>
                </a:cubicBezTo>
                <a:cubicBezTo>
                  <a:pt x="743387" y="37422"/>
                  <a:pt x="194182" y="18789"/>
                  <a:pt x="0" y="18288"/>
                </a:cubicBezTo>
                <a:cubicBezTo>
                  <a:pt x="20" y="11469"/>
                  <a:pt x="-29" y="5154"/>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727557108">
                  <a:custGeom>
                    <a:avLst/>
                    <a:gdLst>
                      <a:gd name="connsiteX0" fmla="*/ 0 w 3182692"/>
                      <a:gd name="connsiteY0" fmla="*/ 0 h 18288"/>
                      <a:gd name="connsiteX1" fmla="*/ 636538 w 3182692"/>
                      <a:gd name="connsiteY1" fmla="*/ 0 h 18288"/>
                      <a:gd name="connsiteX2" fmla="*/ 1273077 w 3182692"/>
                      <a:gd name="connsiteY2" fmla="*/ 0 h 18288"/>
                      <a:gd name="connsiteX3" fmla="*/ 1909615 w 3182692"/>
                      <a:gd name="connsiteY3" fmla="*/ 0 h 18288"/>
                      <a:gd name="connsiteX4" fmla="*/ 2482500 w 3182692"/>
                      <a:gd name="connsiteY4" fmla="*/ 0 h 18288"/>
                      <a:gd name="connsiteX5" fmla="*/ 3182692 w 3182692"/>
                      <a:gd name="connsiteY5" fmla="*/ 0 h 18288"/>
                      <a:gd name="connsiteX6" fmla="*/ 3182692 w 3182692"/>
                      <a:gd name="connsiteY6" fmla="*/ 18288 h 18288"/>
                      <a:gd name="connsiteX7" fmla="*/ 2609807 w 3182692"/>
                      <a:gd name="connsiteY7" fmla="*/ 18288 h 18288"/>
                      <a:gd name="connsiteX8" fmla="*/ 2068750 w 3182692"/>
                      <a:gd name="connsiteY8" fmla="*/ 18288 h 18288"/>
                      <a:gd name="connsiteX9" fmla="*/ 1432211 w 3182692"/>
                      <a:gd name="connsiteY9" fmla="*/ 18288 h 18288"/>
                      <a:gd name="connsiteX10" fmla="*/ 859327 w 3182692"/>
                      <a:gd name="connsiteY10" fmla="*/ 18288 h 18288"/>
                      <a:gd name="connsiteX11" fmla="*/ 0 w 3182692"/>
                      <a:gd name="connsiteY11" fmla="*/ 18288 h 18288"/>
                      <a:gd name="connsiteX12" fmla="*/ 0 w 3182692"/>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182692" h="18288" fill="none" extrusionOk="0">
                        <a:moveTo>
                          <a:pt x="0" y="0"/>
                        </a:moveTo>
                        <a:cubicBezTo>
                          <a:pt x="253588" y="25878"/>
                          <a:pt x="409323" y="-5359"/>
                          <a:pt x="636538" y="0"/>
                        </a:cubicBezTo>
                        <a:cubicBezTo>
                          <a:pt x="863753" y="5359"/>
                          <a:pt x="1007727" y="-28"/>
                          <a:pt x="1273077" y="0"/>
                        </a:cubicBezTo>
                        <a:cubicBezTo>
                          <a:pt x="1538427" y="28"/>
                          <a:pt x="1698640" y="-12775"/>
                          <a:pt x="1909615" y="0"/>
                        </a:cubicBezTo>
                        <a:cubicBezTo>
                          <a:pt x="2120590" y="12775"/>
                          <a:pt x="2210293" y="-21823"/>
                          <a:pt x="2482500" y="0"/>
                        </a:cubicBezTo>
                        <a:cubicBezTo>
                          <a:pt x="2754708" y="21823"/>
                          <a:pt x="3004133" y="-28750"/>
                          <a:pt x="3182692" y="0"/>
                        </a:cubicBezTo>
                        <a:cubicBezTo>
                          <a:pt x="3183134" y="4516"/>
                          <a:pt x="3181865" y="12266"/>
                          <a:pt x="3182692" y="18288"/>
                        </a:cubicBezTo>
                        <a:cubicBezTo>
                          <a:pt x="2947402" y="22440"/>
                          <a:pt x="2876226" y="27191"/>
                          <a:pt x="2609807" y="18288"/>
                        </a:cubicBezTo>
                        <a:cubicBezTo>
                          <a:pt x="2343389" y="9385"/>
                          <a:pt x="2326689" y="25579"/>
                          <a:pt x="2068750" y="18288"/>
                        </a:cubicBezTo>
                        <a:cubicBezTo>
                          <a:pt x="1810811" y="10997"/>
                          <a:pt x="1713836" y="48219"/>
                          <a:pt x="1432211" y="18288"/>
                        </a:cubicBezTo>
                        <a:cubicBezTo>
                          <a:pt x="1150586" y="-11643"/>
                          <a:pt x="982765" y="3747"/>
                          <a:pt x="859327" y="18288"/>
                        </a:cubicBezTo>
                        <a:cubicBezTo>
                          <a:pt x="735889" y="32829"/>
                          <a:pt x="254183" y="35231"/>
                          <a:pt x="0" y="18288"/>
                        </a:cubicBezTo>
                        <a:cubicBezTo>
                          <a:pt x="-306" y="11477"/>
                          <a:pt x="485" y="4355"/>
                          <a:pt x="0" y="0"/>
                        </a:cubicBezTo>
                        <a:close/>
                      </a:path>
                      <a:path w="3182692" h="18288" stroke="0" extrusionOk="0">
                        <a:moveTo>
                          <a:pt x="0" y="0"/>
                        </a:moveTo>
                        <a:cubicBezTo>
                          <a:pt x="243108" y="-22426"/>
                          <a:pt x="387854" y="22949"/>
                          <a:pt x="572885" y="0"/>
                        </a:cubicBezTo>
                        <a:cubicBezTo>
                          <a:pt x="757916" y="-22949"/>
                          <a:pt x="923707" y="6797"/>
                          <a:pt x="1113942" y="0"/>
                        </a:cubicBezTo>
                        <a:cubicBezTo>
                          <a:pt x="1304177" y="-6797"/>
                          <a:pt x="1495991" y="20627"/>
                          <a:pt x="1686827" y="0"/>
                        </a:cubicBezTo>
                        <a:cubicBezTo>
                          <a:pt x="1877663" y="-20627"/>
                          <a:pt x="2170182" y="-20672"/>
                          <a:pt x="2323365" y="0"/>
                        </a:cubicBezTo>
                        <a:cubicBezTo>
                          <a:pt x="2476548" y="20672"/>
                          <a:pt x="2919164" y="6097"/>
                          <a:pt x="3182692" y="0"/>
                        </a:cubicBezTo>
                        <a:cubicBezTo>
                          <a:pt x="3183269" y="4624"/>
                          <a:pt x="3183511" y="11191"/>
                          <a:pt x="3182692" y="18288"/>
                        </a:cubicBezTo>
                        <a:cubicBezTo>
                          <a:pt x="3026065" y="-10849"/>
                          <a:pt x="2775006" y="23067"/>
                          <a:pt x="2546154" y="18288"/>
                        </a:cubicBezTo>
                        <a:cubicBezTo>
                          <a:pt x="2317302" y="13509"/>
                          <a:pt x="2168173" y="-8513"/>
                          <a:pt x="1845961" y="18288"/>
                        </a:cubicBezTo>
                        <a:cubicBezTo>
                          <a:pt x="1523749" y="45089"/>
                          <a:pt x="1450078" y="-844"/>
                          <a:pt x="1304904" y="18288"/>
                        </a:cubicBezTo>
                        <a:cubicBezTo>
                          <a:pt x="1159730" y="37420"/>
                          <a:pt x="942635" y="-10021"/>
                          <a:pt x="604711" y="18288"/>
                        </a:cubicBezTo>
                        <a:cubicBezTo>
                          <a:pt x="266787" y="46597"/>
                          <a:pt x="141927" y="-8395"/>
                          <a:pt x="0" y="18288"/>
                        </a:cubicBezTo>
                        <a:cubicBezTo>
                          <a:pt x="-171" y="12755"/>
                          <a:pt x="-690" y="7930"/>
                          <a:pt x="0" y="0"/>
                        </a:cubicBezTo>
                        <a:close/>
                      </a:path>
                    </a:pathLst>
                  </a:cu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531" name="Rectangle 3"/>
          <p:cNvSpPr>
            <a:spLocks noGrp="1" noChangeArrowheads="1"/>
          </p:cNvSpPr>
          <p:nvPr>
            <p:ph sz="quarter" idx="1"/>
          </p:nvPr>
        </p:nvSpPr>
        <p:spPr>
          <a:xfrm>
            <a:off x="3973321" y="2706624"/>
            <a:ext cx="4688333" cy="3483864"/>
          </a:xfrm>
        </p:spPr>
        <p:txBody>
          <a:bodyPr>
            <a:normAutofit/>
          </a:bodyPr>
          <a:lstStyle/>
          <a:p>
            <a:r>
              <a:rPr lang="en-US" sz="1900"/>
              <a:t>Thibault and Kelley (1959) proposed that people use two factors when making relationship decisions:</a:t>
            </a:r>
          </a:p>
          <a:p>
            <a:pPr lvl="1"/>
            <a:r>
              <a:rPr lang="en-US" sz="1900" i="1"/>
              <a:t>Comparison level</a:t>
            </a:r>
            <a:r>
              <a:rPr lang="en-US" sz="1900"/>
              <a:t>: Evaluation of how attractive the relationship is based on the cost-benefit analysis.</a:t>
            </a:r>
          </a:p>
          <a:p>
            <a:pPr lvl="1"/>
            <a:r>
              <a:rPr lang="en-US" sz="1900" i="1"/>
              <a:t>Comparison level for alternatives</a:t>
            </a:r>
            <a:r>
              <a:rPr lang="en-US" sz="1900"/>
              <a:t>: Evaluation of whether other potential relationships would be more rewarding or less costly than the current one.</a:t>
            </a:r>
          </a:p>
        </p:txBody>
      </p:sp>
      <p:sp>
        <p:nvSpPr>
          <p:cNvPr id="4" name="Footer Placeholder 3">
            <a:extLst>
              <a:ext uri="{FF2B5EF4-FFF2-40B4-BE49-F238E27FC236}">
                <a16:creationId xmlns:a16="http://schemas.microsoft.com/office/drawing/2014/main" id="{D1D69A56-D1B1-1F48-906E-5A92F58BAA80}"/>
              </a:ext>
            </a:extLst>
          </p:cNvPr>
          <p:cNvSpPr>
            <a:spLocks noGrp="1"/>
          </p:cNvSpPr>
          <p:nvPr>
            <p:ph type="ftr" sz="quarter" idx="11"/>
          </p:nvPr>
        </p:nvSpPr>
        <p:spPr>
          <a:xfrm>
            <a:off x="3973321" y="6356350"/>
            <a:ext cx="3086100" cy="365125"/>
          </a:xfrm>
        </p:spPr>
        <p:txBody>
          <a:bodyPr>
            <a:normAutofit/>
          </a:bodyPr>
          <a:lstStyle/>
          <a:p>
            <a:pPr algn="l">
              <a:lnSpc>
                <a:spcPct val="90000"/>
              </a:lnSpc>
              <a:spcAft>
                <a:spcPts val="600"/>
              </a:spcAft>
            </a:pPr>
            <a:r>
              <a:rPr lang="en-US" sz="900"/>
              <a:t>The Science and Application of Positive Psychology © Cambridge University Press 2021</a:t>
            </a:r>
          </a:p>
        </p:txBody>
      </p:sp>
    </p:spTree>
    <p:extLst>
      <p:ext uri="{BB962C8B-B14F-4D97-AF65-F5344CB8AC3E}">
        <p14:creationId xmlns:p14="http://schemas.microsoft.com/office/powerpoint/2010/main" val="239000671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537" name="Rectangle 22536">
            <a:extLst>
              <a:ext uri="{FF2B5EF4-FFF2-40B4-BE49-F238E27FC236}">
                <a16:creationId xmlns:a16="http://schemas.microsoft.com/office/drawing/2014/main" id="{2C61293E-6EBE-43EF-A52C-9BEBFD7679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530" name="Rectangle 2"/>
          <p:cNvSpPr>
            <a:spLocks noGrp="1" noChangeArrowheads="1"/>
          </p:cNvSpPr>
          <p:nvPr>
            <p:ph type="title"/>
          </p:nvPr>
        </p:nvSpPr>
        <p:spPr>
          <a:xfrm>
            <a:off x="3973321" y="329184"/>
            <a:ext cx="4688333" cy="1783080"/>
          </a:xfrm>
        </p:spPr>
        <p:txBody>
          <a:bodyPr anchor="b">
            <a:normAutofit/>
          </a:bodyPr>
          <a:lstStyle/>
          <a:p>
            <a:r>
              <a:rPr lang="en-US" sz="4700"/>
              <a:t>Social Exchange Theories</a:t>
            </a:r>
          </a:p>
        </p:txBody>
      </p:sp>
      <p:pic>
        <p:nvPicPr>
          <p:cNvPr id="22533" name="Picture 22532" descr="Magnifying glass showing decling performance">
            <a:extLst>
              <a:ext uri="{FF2B5EF4-FFF2-40B4-BE49-F238E27FC236}">
                <a16:creationId xmlns:a16="http://schemas.microsoft.com/office/drawing/2014/main" id="{3EEECCE9-F4D1-C7AB-B6C8-BFCE3583D22D}"/>
              </a:ext>
            </a:extLst>
          </p:cNvPr>
          <p:cNvPicPr>
            <a:picLocks noChangeAspect="1"/>
          </p:cNvPicPr>
          <p:nvPr/>
        </p:nvPicPr>
        <p:blipFill rotWithShape="1">
          <a:blip r:embed="rId3"/>
          <a:srcRect l="17719" r="48282" b="-1"/>
          <a:stretch/>
        </p:blipFill>
        <p:spPr>
          <a:xfrm>
            <a:off x="20" y="10"/>
            <a:ext cx="3492988" cy="6857990"/>
          </a:xfrm>
          <a:custGeom>
            <a:avLst/>
            <a:gdLst/>
            <a:ahLst/>
            <a:cxnLst/>
            <a:rect l="l" t="t" r="r" b="b"/>
            <a:pathLst>
              <a:path w="4657344" h="6858000">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p:spPr>
      </p:pic>
      <p:sp>
        <p:nvSpPr>
          <p:cNvPr id="22539" name="sketchy line">
            <a:extLst>
              <a:ext uri="{FF2B5EF4-FFF2-40B4-BE49-F238E27FC236}">
                <a16:creationId xmlns:a16="http://schemas.microsoft.com/office/drawing/2014/main" id="{21540236-BFD5-4A9D-8840-4703E7F768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73321" y="2374947"/>
            <a:ext cx="3182692" cy="18288"/>
          </a:xfrm>
          <a:custGeom>
            <a:avLst/>
            <a:gdLst>
              <a:gd name="connsiteX0" fmla="*/ 0 w 3182692"/>
              <a:gd name="connsiteY0" fmla="*/ 0 h 18288"/>
              <a:gd name="connsiteX1" fmla="*/ 636538 w 3182692"/>
              <a:gd name="connsiteY1" fmla="*/ 0 h 18288"/>
              <a:gd name="connsiteX2" fmla="*/ 1273077 w 3182692"/>
              <a:gd name="connsiteY2" fmla="*/ 0 h 18288"/>
              <a:gd name="connsiteX3" fmla="*/ 1909615 w 3182692"/>
              <a:gd name="connsiteY3" fmla="*/ 0 h 18288"/>
              <a:gd name="connsiteX4" fmla="*/ 2482500 w 3182692"/>
              <a:gd name="connsiteY4" fmla="*/ 0 h 18288"/>
              <a:gd name="connsiteX5" fmla="*/ 3182692 w 3182692"/>
              <a:gd name="connsiteY5" fmla="*/ 0 h 18288"/>
              <a:gd name="connsiteX6" fmla="*/ 3182692 w 3182692"/>
              <a:gd name="connsiteY6" fmla="*/ 18288 h 18288"/>
              <a:gd name="connsiteX7" fmla="*/ 2609807 w 3182692"/>
              <a:gd name="connsiteY7" fmla="*/ 18288 h 18288"/>
              <a:gd name="connsiteX8" fmla="*/ 2068750 w 3182692"/>
              <a:gd name="connsiteY8" fmla="*/ 18288 h 18288"/>
              <a:gd name="connsiteX9" fmla="*/ 1432211 w 3182692"/>
              <a:gd name="connsiteY9" fmla="*/ 18288 h 18288"/>
              <a:gd name="connsiteX10" fmla="*/ 859327 w 3182692"/>
              <a:gd name="connsiteY10" fmla="*/ 18288 h 18288"/>
              <a:gd name="connsiteX11" fmla="*/ 0 w 3182692"/>
              <a:gd name="connsiteY11" fmla="*/ 18288 h 18288"/>
              <a:gd name="connsiteX12" fmla="*/ 0 w 3182692"/>
              <a:gd name="connsiteY12" fmla="*/ 0 h 18288"/>
              <a:gd name="connsiteX0" fmla="*/ 0 w 3182692"/>
              <a:gd name="connsiteY0" fmla="*/ 0 h 18288"/>
              <a:gd name="connsiteX1" fmla="*/ 572885 w 3182692"/>
              <a:gd name="connsiteY1" fmla="*/ 0 h 18288"/>
              <a:gd name="connsiteX2" fmla="*/ 1113942 w 3182692"/>
              <a:gd name="connsiteY2" fmla="*/ 0 h 18288"/>
              <a:gd name="connsiteX3" fmla="*/ 1686827 w 3182692"/>
              <a:gd name="connsiteY3" fmla="*/ 0 h 18288"/>
              <a:gd name="connsiteX4" fmla="*/ 2323365 w 3182692"/>
              <a:gd name="connsiteY4" fmla="*/ 0 h 18288"/>
              <a:gd name="connsiteX5" fmla="*/ 3182692 w 3182692"/>
              <a:gd name="connsiteY5" fmla="*/ 0 h 18288"/>
              <a:gd name="connsiteX6" fmla="*/ 3182692 w 3182692"/>
              <a:gd name="connsiteY6" fmla="*/ 18288 h 18288"/>
              <a:gd name="connsiteX7" fmla="*/ 2546154 w 3182692"/>
              <a:gd name="connsiteY7" fmla="*/ 18288 h 18288"/>
              <a:gd name="connsiteX8" fmla="*/ 1845961 w 3182692"/>
              <a:gd name="connsiteY8" fmla="*/ 18288 h 18288"/>
              <a:gd name="connsiteX9" fmla="*/ 1304904 w 3182692"/>
              <a:gd name="connsiteY9" fmla="*/ 18288 h 18288"/>
              <a:gd name="connsiteX10" fmla="*/ 604711 w 3182692"/>
              <a:gd name="connsiteY10" fmla="*/ 18288 h 18288"/>
              <a:gd name="connsiteX11" fmla="*/ 0 w 3182692"/>
              <a:gd name="connsiteY11" fmla="*/ 18288 h 18288"/>
              <a:gd name="connsiteX12" fmla="*/ 0 w 3182692"/>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182692" h="18288" fill="none" extrusionOk="0">
                <a:moveTo>
                  <a:pt x="0" y="0"/>
                </a:moveTo>
                <a:cubicBezTo>
                  <a:pt x="225870" y="33585"/>
                  <a:pt x="418138" y="17639"/>
                  <a:pt x="636538" y="0"/>
                </a:cubicBezTo>
                <a:cubicBezTo>
                  <a:pt x="865372" y="-3887"/>
                  <a:pt x="1010746" y="-18166"/>
                  <a:pt x="1273077" y="0"/>
                </a:cubicBezTo>
                <a:cubicBezTo>
                  <a:pt x="1527846" y="-24408"/>
                  <a:pt x="1703704" y="-36055"/>
                  <a:pt x="1909615" y="0"/>
                </a:cubicBezTo>
                <a:cubicBezTo>
                  <a:pt x="2119487" y="1667"/>
                  <a:pt x="2200543" y="-19343"/>
                  <a:pt x="2482500" y="0"/>
                </a:cubicBezTo>
                <a:cubicBezTo>
                  <a:pt x="2736775" y="57438"/>
                  <a:pt x="2997998" y="-48885"/>
                  <a:pt x="3182692" y="0"/>
                </a:cubicBezTo>
                <a:cubicBezTo>
                  <a:pt x="3182658" y="4844"/>
                  <a:pt x="3182282" y="11009"/>
                  <a:pt x="3182692" y="18288"/>
                </a:cubicBezTo>
                <a:cubicBezTo>
                  <a:pt x="2944477" y="15825"/>
                  <a:pt x="2868931" y="12370"/>
                  <a:pt x="2609807" y="18288"/>
                </a:cubicBezTo>
                <a:cubicBezTo>
                  <a:pt x="2341556" y="6193"/>
                  <a:pt x="2324113" y="22706"/>
                  <a:pt x="2068750" y="18288"/>
                </a:cubicBezTo>
                <a:cubicBezTo>
                  <a:pt x="1817163" y="7852"/>
                  <a:pt x="1716254" y="25979"/>
                  <a:pt x="1432211" y="18288"/>
                </a:cubicBezTo>
                <a:cubicBezTo>
                  <a:pt x="1164747" y="-28137"/>
                  <a:pt x="993140" y="27575"/>
                  <a:pt x="859327" y="18288"/>
                </a:cubicBezTo>
                <a:cubicBezTo>
                  <a:pt x="750703" y="-24974"/>
                  <a:pt x="236193" y="38731"/>
                  <a:pt x="0" y="18288"/>
                </a:cubicBezTo>
                <a:cubicBezTo>
                  <a:pt x="-649" y="11698"/>
                  <a:pt x="663" y="5413"/>
                  <a:pt x="0" y="0"/>
                </a:cubicBezTo>
                <a:close/>
              </a:path>
              <a:path w="3182692" h="18288" stroke="0" extrusionOk="0">
                <a:moveTo>
                  <a:pt x="0" y="0"/>
                </a:moveTo>
                <a:cubicBezTo>
                  <a:pt x="224421" y="-39331"/>
                  <a:pt x="418777" y="11439"/>
                  <a:pt x="572885" y="0"/>
                </a:cubicBezTo>
                <a:cubicBezTo>
                  <a:pt x="750333" y="-6388"/>
                  <a:pt x="940592" y="15806"/>
                  <a:pt x="1113942" y="0"/>
                </a:cubicBezTo>
                <a:cubicBezTo>
                  <a:pt x="1322785" y="-1777"/>
                  <a:pt x="1505363" y="28230"/>
                  <a:pt x="1686827" y="0"/>
                </a:cubicBezTo>
                <a:cubicBezTo>
                  <a:pt x="1853304" y="1595"/>
                  <a:pt x="2194652" y="-1232"/>
                  <a:pt x="2323365" y="0"/>
                </a:cubicBezTo>
                <a:cubicBezTo>
                  <a:pt x="2488732" y="36406"/>
                  <a:pt x="2902093" y="-40336"/>
                  <a:pt x="3182692" y="0"/>
                </a:cubicBezTo>
                <a:cubicBezTo>
                  <a:pt x="3182167" y="5049"/>
                  <a:pt x="3182885" y="12044"/>
                  <a:pt x="3182692" y="18288"/>
                </a:cubicBezTo>
                <a:cubicBezTo>
                  <a:pt x="3012563" y="-37820"/>
                  <a:pt x="2765409" y="35618"/>
                  <a:pt x="2546154" y="18288"/>
                </a:cubicBezTo>
                <a:cubicBezTo>
                  <a:pt x="2333381" y="13914"/>
                  <a:pt x="2154438" y="9838"/>
                  <a:pt x="1845961" y="18288"/>
                </a:cubicBezTo>
                <a:cubicBezTo>
                  <a:pt x="1531509" y="33812"/>
                  <a:pt x="1456631" y="-6606"/>
                  <a:pt x="1304904" y="18288"/>
                </a:cubicBezTo>
                <a:cubicBezTo>
                  <a:pt x="1168344" y="36351"/>
                  <a:pt x="928499" y="15047"/>
                  <a:pt x="604711" y="18288"/>
                </a:cubicBezTo>
                <a:cubicBezTo>
                  <a:pt x="285438" y="38007"/>
                  <a:pt x="116029" y="-22204"/>
                  <a:pt x="0" y="18288"/>
                </a:cubicBezTo>
                <a:cubicBezTo>
                  <a:pt x="-39" y="12511"/>
                  <a:pt x="-381" y="8039"/>
                  <a:pt x="0" y="0"/>
                </a:cubicBezTo>
                <a:close/>
              </a:path>
              <a:path w="3182692" h="18288" fill="none" stroke="0" extrusionOk="0">
                <a:moveTo>
                  <a:pt x="0" y="0"/>
                </a:moveTo>
                <a:cubicBezTo>
                  <a:pt x="245832" y="29445"/>
                  <a:pt x="388924" y="-28919"/>
                  <a:pt x="636538" y="0"/>
                </a:cubicBezTo>
                <a:cubicBezTo>
                  <a:pt x="854919" y="4634"/>
                  <a:pt x="991654" y="8864"/>
                  <a:pt x="1273077" y="0"/>
                </a:cubicBezTo>
                <a:cubicBezTo>
                  <a:pt x="1566644" y="-14667"/>
                  <a:pt x="1666526" y="3717"/>
                  <a:pt x="1909615" y="0"/>
                </a:cubicBezTo>
                <a:cubicBezTo>
                  <a:pt x="2138795" y="27220"/>
                  <a:pt x="2225506" y="-13892"/>
                  <a:pt x="2482500" y="0"/>
                </a:cubicBezTo>
                <a:cubicBezTo>
                  <a:pt x="2775583" y="32183"/>
                  <a:pt x="3003218" y="-43687"/>
                  <a:pt x="3182692" y="0"/>
                </a:cubicBezTo>
                <a:cubicBezTo>
                  <a:pt x="3183006" y="4158"/>
                  <a:pt x="3181713" y="12539"/>
                  <a:pt x="3182692" y="18288"/>
                </a:cubicBezTo>
                <a:cubicBezTo>
                  <a:pt x="2959845" y="25574"/>
                  <a:pt x="2868929" y="24980"/>
                  <a:pt x="2609807" y="18288"/>
                </a:cubicBezTo>
                <a:cubicBezTo>
                  <a:pt x="2341405" y="5992"/>
                  <a:pt x="2328488" y="20436"/>
                  <a:pt x="2068750" y="18288"/>
                </a:cubicBezTo>
                <a:cubicBezTo>
                  <a:pt x="1816113" y="2395"/>
                  <a:pt x="1699345" y="36855"/>
                  <a:pt x="1432211" y="18288"/>
                </a:cubicBezTo>
                <a:cubicBezTo>
                  <a:pt x="1148381" y="-28184"/>
                  <a:pt x="987622" y="2403"/>
                  <a:pt x="859327" y="18288"/>
                </a:cubicBezTo>
                <a:cubicBezTo>
                  <a:pt x="743387" y="37422"/>
                  <a:pt x="194182" y="18789"/>
                  <a:pt x="0" y="18288"/>
                </a:cubicBezTo>
                <a:cubicBezTo>
                  <a:pt x="20" y="11469"/>
                  <a:pt x="-29" y="5154"/>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727557108">
                  <a:custGeom>
                    <a:avLst/>
                    <a:gdLst>
                      <a:gd name="connsiteX0" fmla="*/ 0 w 3182692"/>
                      <a:gd name="connsiteY0" fmla="*/ 0 h 18288"/>
                      <a:gd name="connsiteX1" fmla="*/ 636538 w 3182692"/>
                      <a:gd name="connsiteY1" fmla="*/ 0 h 18288"/>
                      <a:gd name="connsiteX2" fmla="*/ 1273077 w 3182692"/>
                      <a:gd name="connsiteY2" fmla="*/ 0 h 18288"/>
                      <a:gd name="connsiteX3" fmla="*/ 1909615 w 3182692"/>
                      <a:gd name="connsiteY3" fmla="*/ 0 h 18288"/>
                      <a:gd name="connsiteX4" fmla="*/ 2482500 w 3182692"/>
                      <a:gd name="connsiteY4" fmla="*/ 0 h 18288"/>
                      <a:gd name="connsiteX5" fmla="*/ 3182692 w 3182692"/>
                      <a:gd name="connsiteY5" fmla="*/ 0 h 18288"/>
                      <a:gd name="connsiteX6" fmla="*/ 3182692 w 3182692"/>
                      <a:gd name="connsiteY6" fmla="*/ 18288 h 18288"/>
                      <a:gd name="connsiteX7" fmla="*/ 2609807 w 3182692"/>
                      <a:gd name="connsiteY7" fmla="*/ 18288 h 18288"/>
                      <a:gd name="connsiteX8" fmla="*/ 2068750 w 3182692"/>
                      <a:gd name="connsiteY8" fmla="*/ 18288 h 18288"/>
                      <a:gd name="connsiteX9" fmla="*/ 1432211 w 3182692"/>
                      <a:gd name="connsiteY9" fmla="*/ 18288 h 18288"/>
                      <a:gd name="connsiteX10" fmla="*/ 859327 w 3182692"/>
                      <a:gd name="connsiteY10" fmla="*/ 18288 h 18288"/>
                      <a:gd name="connsiteX11" fmla="*/ 0 w 3182692"/>
                      <a:gd name="connsiteY11" fmla="*/ 18288 h 18288"/>
                      <a:gd name="connsiteX12" fmla="*/ 0 w 3182692"/>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182692" h="18288" fill="none" extrusionOk="0">
                        <a:moveTo>
                          <a:pt x="0" y="0"/>
                        </a:moveTo>
                        <a:cubicBezTo>
                          <a:pt x="253588" y="25878"/>
                          <a:pt x="409323" y="-5359"/>
                          <a:pt x="636538" y="0"/>
                        </a:cubicBezTo>
                        <a:cubicBezTo>
                          <a:pt x="863753" y="5359"/>
                          <a:pt x="1007727" y="-28"/>
                          <a:pt x="1273077" y="0"/>
                        </a:cubicBezTo>
                        <a:cubicBezTo>
                          <a:pt x="1538427" y="28"/>
                          <a:pt x="1698640" y="-12775"/>
                          <a:pt x="1909615" y="0"/>
                        </a:cubicBezTo>
                        <a:cubicBezTo>
                          <a:pt x="2120590" y="12775"/>
                          <a:pt x="2210293" y="-21823"/>
                          <a:pt x="2482500" y="0"/>
                        </a:cubicBezTo>
                        <a:cubicBezTo>
                          <a:pt x="2754708" y="21823"/>
                          <a:pt x="3004133" y="-28750"/>
                          <a:pt x="3182692" y="0"/>
                        </a:cubicBezTo>
                        <a:cubicBezTo>
                          <a:pt x="3183134" y="4516"/>
                          <a:pt x="3181865" y="12266"/>
                          <a:pt x="3182692" y="18288"/>
                        </a:cubicBezTo>
                        <a:cubicBezTo>
                          <a:pt x="2947402" y="22440"/>
                          <a:pt x="2876226" y="27191"/>
                          <a:pt x="2609807" y="18288"/>
                        </a:cubicBezTo>
                        <a:cubicBezTo>
                          <a:pt x="2343389" y="9385"/>
                          <a:pt x="2326689" y="25579"/>
                          <a:pt x="2068750" y="18288"/>
                        </a:cubicBezTo>
                        <a:cubicBezTo>
                          <a:pt x="1810811" y="10997"/>
                          <a:pt x="1713836" y="48219"/>
                          <a:pt x="1432211" y="18288"/>
                        </a:cubicBezTo>
                        <a:cubicBezTo>
                          <a:pt x="1150586" y="-11643"/>
                          <a:pt x="982765" y="3747"/>
                          <a:pt x="859327" y="18288"/>
                        </a:cubicBezTo>
                        <a:cubicBezTo>
                          <a:pt x="735889" y="32829"/>
                          <a:pt x="254183" y="35231"/>
                          <a:pt x="0" y="18288"/>
                        </a:cubicBezTo>
                        <a:cubicBezTo>
                          <a:pt x="-306" y="11477"/>
                          <a:pt x="485" y="4355"/>
                          <a:pt x="0" y="0"/>
                        </a:cubicBezTo>
                        <a:close/>
                      </a:path>
                      <a:path w="3182692" h="18288" stroke="0" extrusionOk="0">
                        <a:moveTo>
                          <a:pt x="0" y="0"/>
                        </a:moveTo>
                        <a:cubicBezTo>
                          <a:pt x="243108" y="-22426"/>
                          <a:pt x="387854" y="22949"/>
                          <a:pt x="572885" y="0"/>
                        </a:cubicBezTo>
                        <a:cubicBezTo>
                          <a:pt x="757916" y="-22949"/>
                          <a:pt x="923707" y="6797"/>
                          <a:pt x="1113942" y="0"/>
                        </a:cubicBezTo>
                        <a:cubicBezTo>
                          <a:pt x="1304177" y="-6797"/>
                          <a:pt x="1495991" y="20627"/>
                          <a:pt x="1686827" y="0"/>
                        </a:cubicBezTo>
                        <a:cubicBezTo>
                          <a:pt x="1877663" y="-20627"/>
                          <a:pt x="2170182" y="-20672"/>
                          <a:pt x="2323365" y="0"/>
                        </a:cubicBezTo>
                        <a:cubicBezTo>
                          <a:pt x="2476548" y="20672"/>
                          <a:pt x="2919164" y="6097"/>
                          <a:pt x="3182692" y="0"/>
                        </a:cubicBezTo>
                        <a:cubicBezTo>
                          <a:pt x="3183269" y="4624"/>
                          <a:pt x="3183511" y="11191"/>
                          <a:pt x="3182692" y="18288"/>
                        </a:cubicBezTo>
                        <a:cubicBezTo>
                          <a:pt x="3026065" y="-10849"/>
                          <a:pt x="2775006" y="23067"/>
                          <a:pt x="2546154" y="18288"/>
                        </a:cubicBezTo>
                        <a:cubicBezTo>
                          <a:pt x="2317302" y="13509"/>
                          <a:pt x="2168173" y="-8513"/>
                          <a:pt x="1845961" y="18288"/>
                        </a:cubicBezTo>
                        <a:cubicBezTo>
                          <a:pt x="1523749" y="45089"/>
                          <a:pt x="1450078" y="-844"/>
                          <a:pt x="1304904" y="18288"/>
                        </a:cubicBezTo>
                        <a:cubicBezTo>
                          <a:pt x="1159730" y="37420"/>
                          <a:pt x="942635" y="-10021"/>
                          <a:pt x="604711" y="18288"/>
                        </a:cubicBezTo>
                        <a:cubicBezTo>
                          <a:pt x="266787" y="46597"/>
                          <a:pt x="141927" y="-8395"/>
                          <a:pt x="0" y="18288"/>
                        </a:cubicBezTo>
                        <a:cubicBezTo>
                          <a:pt x="-171" y="12755"/>
                          <a:pt x="-690" y="7930"/>
                          <a:pt x="0" y="0"/>
                        </a:cubicBezTo>
                        <a:close/>
                      </a:path>
                    </a:pathLst>
                  </a:cu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531" name="Rectangle 3"/>
          <p:cNvSpPr>
            <a:spLocks noGrp="1" noChangeArrowheads="1"/>
          </p:cNvSpPr>
          <p:nvPr>
            <p:ph sz="quarter" idx="1"/>
          </p:nvPr>
        </p:nvSpPr>
        <p:spPr>
          <a:xfrm>
            <a:off x="3973321" y="2706624"/>
            <a:ext cx="4688333" cy="3483864"/>
          </a:xfrm>
        </p:spPr>
        <p:txBody>
          <a:bodyPr>
            <a:normAutofit/>
          </a:bodyPr>
          <a:lstStyle/>
          <a:p>
            <a:r>
              <a:rPr lang="en-US" sz="1600"/>
              <a:t>Rusbult’s (1980) </a:t>
            </a:r>
            <a:r>
              <a:rPr lang="en-US" sz="1600" i="1"/>
              <a:t>investment theory of commitment</a:t>
            </a:r>
            <a:r>
              <a:rPr lang="en-US" sz="1600"/>
              <a:t> asserts that three factors combine to predict relationship commitment: </a:t>
            </a:r>
          </a:p>
          <a:p>
            <a:pPr lvl="1"/>
            <a:r>
              <a:rPr lang="en-US" sz="1600" i="1"/>
              <a:t>Satisfaction level</a:t>
            </a:r>
            <a:r>
              <a:rPr lang="en-US" sz="1600"/>
              <a:t>: Similar to “comparison level” in Thibault and Kelley’s theory.</a:t>
            </a:r>
          </a:p>
          <a:p>
            <a:pPr lvl="1"/>
            <a:r>
              <a:rPr lang="en-US" sz="1600" i="1"/>
              <a:t>Quality of alternatives</a:t>
            </a:r>
            <a:r>
              <a:rPr lang="en-US" sz="1600"/>
              <a:t>: Similar to “comparison level for alternatives” in Thibault and Kelley’s theory.</a:t>
            </a:r>
          </a:p>
          <a:p>
            <a:pPr lvl="1"/>
            <a:r>
              <a:rPr lang="en-US" sz="1600" i="1"/>
              <a:t>Investment size</a:t>
            </a:r>
            <a:r>
              <a:rPr lang="en-US" sz="1600"/>
              <a:t>: Amount of resources put into a relationship (e.g., money, effort, trust, shared memories).</a:t>
            </a:r>
          </a:p>
          <a:p>
            <a:r>
              <a:rPr lang="en-US" sz="1600"/>
              <a:t>The more someone invests in a relationship, the more likely they are to remain committed, even if the relationship falls short on the other two factors. </a:t>
            </a:r>
          </a:p>
        </p:txBody>
      </p:sp>
      <p:sp>
        <p:nvSpPr>
          <p:cNvPr id="4" name="Footer Placeholder 3">
            <a:extLst>
              <a:ext uri="{FF2B5EF4-FFF2-40B4-BE49-F238E27FC236}">
                <a16:creationId xmlns:a16="http://schemas.microsoft.com/office/drawing/2014/main" id="{EAEF45A4-F3E6-1D42-820E-ED2C82B86C0A}"/>
              </a:ext>
            </a:extLst>
          </p:cNvPr>
          <p:cNvSpPr>
            <a:spLocks noGrp="1"/>
          </p:cNvSpPr>
          <p:nvPr>
            <p:ph type="ftr" sz="quarter" idx="11"/>
          </p:nvPr>
        </p:nvSpPr>
        <p:spPr>
          <a:xfrm>
            <a:off x="3973321" y="6356350"/>
            <a:ext cx="3086100" cy="365125"/>
          </a:xfrm>
        </p:spPr>
        <p:txBody>
          <a:bodyPr>
            <a:normAutofit/>
          </a:bodyPr>
          <a:lstStyle/>
          <a:p>
            <a:pPr algn="l">
              <a:lnSpc>
                <a:spcPct val="90000"/>
              </a:lnSpc>
              <a:spcAft>
                <a:spcPts val="600"/>
              </a:spcAft>
            </a:pPr>
            <a:r>
              <a:rPr lang="en-US" sz="900"/>
              <a:t>The Science and Application of Positive Psychology © Cambridge University Press 2021</a:t>
            </a:r>
          </a:p>
        </p:txBody>
      </p:sp>
    </p:spTree>
    <p:extLst>
      <p:ext uri="{BB962C8B-B14F-4D97-AF65-F5344CB8AC3E}">
        <p14:creationId xmlns:p14="http://schemas.microsoft.com/office/powerpoint/2010/main" val="55620383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536" name="Rectangle 22535">
            <a:extLst>
              <a:ext uri="{FF2B5EF4-FFF2-40B4-BE49-F238E27FC236}">
                <a16:creationId xmlns:a16="http://schemas.microsoft.com/office/drawing/2014/main" id="{C2554CA6-288E-4202-BC52-2E5A8F0C0A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538" name="Oval 22537">
            <a:extLst>
              <a:ext uri="{FF2B5EF4-FFF2-40B4-BE49-F238E27FC236}">
                <a16:creationId xmlns:a16="http://schemas.microsoft.com/office/drawing/2014/main" id="{B10BB131-AC8E-4A8E-A5D1-36260F720C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66891" y="1119031"/>
            <a:ext cx="3464954" cy="461993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530" name="Rectangle 2"/>
          <p:cNvSpPr>
            <a:spLocks noGrp="1" noChangeArrowheads="1"/>
          </p:cNvSpPr>
          <p:nvPr>
            <p:ph type="title"/>
          </p:nvPr>
        </p:nvSpPr>
        <p:spPr>
          <a:xfrm>
            <a:off x="878305" y="1396686"/>
            <a:ext cx="2430380" cy="4064628"/>
          </a:xfrm>
        </p:spPr>
        <p:txBody>
          <a:bodyPr>
            <a:normAutofit/>
          </a:bodyPr>
          <a:lstStyle/>
          <a:p>
            <a:r>
              <a:rPr lang="en-US" sz="3100" dirty="0">
                <a:solidFill>
                  <a:srgbClr val="FFFFFF"/>
                </a:solidFill>
              </a:rPr>
              <a:t>Balance Theory of Relationships</a:t>
            </a:r>
          </a:p>
        </p:txBody>
      </p:sp>
      <p:sp>
        <p:nvSpPr>
          <p:cNvPr id="22540" name="Arc 22539">
            <a:extLst>
              <a:ext uri="{FF2B5EF4-FFF2-40B4-BE49-F238E27FC236}">
                <a16:creationId xmlns:a16="http://schemas.microsoft.com/office/drawing/2014/main" id="{5B7778FC-632E-4DCA-A7CB-0D7731CCF9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9809111">
            <a:off x="6512790" y="941148"/>
            <a:ext cx="2240924" cy="2987899"/>
          </a:xfrm>
          <a:prstGeom prst="arc">
            <a:avLst>
              <a:gd name="adj1" fmla="val 15817365"/>
              <a:gd name="adj2" fmla="val 178138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2542" name="Oval 22541">
            <a:extLst>
              <a:ext uri="{FF2B5EF4-FFF2-40B4-BE49-F238E27FC236}">
                <a16:creationId xmlns:a16="http://schemas.microsoft.com/office/drawing/2014/main" id="{FA23A907-97FB-4A8F-880A-DD77401C42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2536" y="4780992"/>
            <a:ext cx="409575" cy="5461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22531" name="Rectangle 3"/>
          <p:cNvSpPr>
            <a:spLocks noGrp="1" noChangeArrowheads="1"/>
          </p:cNvSpPr>
          <p:nvPr>
            <p:ph sz="quarter" idx="1"/>
          </p:nvPr>
        </p:nvSpPr>
        <p:spPr>
          <a:xfrm>
            <a:off x="4027614" y="1526033"/>
            <a:ext cx="4152298" cy="3935281"/>
          </a:xfrm>
        </p:spPr>
        <p:txBody>
          <a:bodyPr>
            <a:normAutofit/>
          </a:bodyPr>
          <a:lstStyle/>
          <a:p>
            <a:r>
              <a:rPr lang="en-US" sz="2000"/>
              <a:t>Developed principally by John Gottman (1993).</a:t>
            </a:r>
          </a:p>
          <a:p>
            <a:r>
              <a:rPr lang="en-US" sz="2000"/>
              <a:t>Asserts that the stability and degree of satisfaction in a relationship depend on achieving a balance between negative and positive interactions. </a:t>
            </a:r>
          </a:p>
          <a:p>
            <a:r>
              <a:rPr lang="en-US" sz="2000"/>
              <a:t>Based on his research, Gottman suggested a 5:1 ratio of positive to negative interactions is necessary for a relationship to be stable. </a:t>
            </a:r>
          </a:p>
        </p:txBody>
      </p:sp>
      <p:sp>
        <p:nvSpPr>
          <p:cNvPr id="4" name="Footer Placeholder 3">
            <a:extLst>
              <a:ext uri="{FF2B5EF4-FFF2-40B4-BE49-F238E27FC236}">
                <a16:creationId xmlns:a16="http://schemas.microsoft.com/office/drawing/2014/main" id="{089FE12C-74D2-974B-AC7A-FD4FDA463654}"/>
              </a:ext>
            </a:extLst>
          </p:cNvPr>
          <p:cNvSpPr>
            <a:spLocks noGrp="1"/>
          </p:cNvSpPr>
          <p:nvPr>
            <p:ph type="ftr" sz="quarter" idx="11"/>
          </p:nvPr>
        </p:nvSpPr>
        <p:spPr>
          <a:xfrm>
            <a:off x="3028950" y="6356350"/>
            <a:ext cx="3086100" cy="365125"/>
          </a:xfrm>
        </p:spPr>
        <p:txBody>
          <a:bodyPr>
            <a:normAutofit/>
          </a:bodyPr>
          <a:lstStyle/>
          <a:p>
            <a:pPr>
              <a:lnSpc>
                <a:spcPct val="90000"/>
              </a:lnSpc>
              <a:spcAft>
                <a:spcPts val="600"/>
              </a:spcAft>
            </a:pPr>
            <a:r>
              <a:rPr lang="en-US" sz="900"/>
              <a:t>The Science and Application of Positive Psychology © Cambridge University Press 2021</a:t>
            </a:r>
          </a:p>
        </p:txBody>
      </p:sp>
    </p:spTree>
    <p:extLst>
      <p:ext uri="{BB962C8B-B14F-4D97-AF65-F5344CB8AC3E}">
        <p14:creationId xmlns:p14="http://schemas.microsoft.com/office/powerpoint/2010/main" val="322925032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536" name="Rectangle 22535">
            <a:extLst>
              <a:ext uri="{FF2B5EF4-FFF2-40B4-BE49-F238E27FC236}">
                <a16:creationId xmlns:a16="http://schemas.microsoft.com/office/drawing/2014/main" id="{C2554CA6-288E-4202-BC52-2E5A8F0C0A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538" name="Oval 22537">
            <a:extLst>
              <a:ext uri="{FF2B5EF4-FFF2-40B4-BE49-F238E27FC236}">
                <a16:creationId xmlns:a16="http://schemas.microsoft.com/office/drawing/2014/main" id="{B10BB131-AC8E-4A8E-A5D1-36260F720C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66891" y="1119031"/>
            <a:ext cx="3464954" cy="461993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530" name="Rectangle 2"/>
          <p:cNvSpPr>
            <a:spLocks noGrp="1" noChangeArrowheads="1"/>
          </p:cNvSpPr>
          <p:nvPr>
            <p:ph type="title"/>
          </p:nvPr>
        </p:nvSpPr>
        <p:spPr>
          <a:xfrm>
            <a:off x="878305" y="1396686"/>
            <a:ext cx="2430380" cy="4064628"/>
          </a:xfrm>
        </p:spPr>
        <p:txBody>
          <a:bodyPr>
            <a:normAutofit/>
          </a:bodyPr>
          <a:lstStyle/>
          <a:p>
            <a:r>
              <a:rPr lang="en-US" sz="3100">
                <a:solidFill>
                  <a:srgbClr val="FFFFFF"/>
                </a:solidFill>
              </a:rPr>
              <a:t>Balance Theory of Relationships</a:t>
            </a:r>
          </a:p>
        </p:txBody>
      </p:sp>
      <p:sp>
        <p:nvSpPr>
          <p:cNvPr id="22540" name="Arc 22539">
            <a:extLst>
              <a:ext uri="{FF2B5EF4-FFF2-40B4-BE49-F238E27FC236}">
                <a16:creationId xmlns:a16="http://schemas.microsoft.com/office/drawing/2014/main" id="{5B7778FC-632E-4DCA-A7CB-0D7731CCF9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9809111">
            <a:off x="6512790" y="941148"/>
            <a:ext cx="2240924" cy="2987899"/>
          </a:xfrm>
          <a:prstGeom prst="arc">
            <a:avLst>
              <a:gd name="adj1" fmla="val 15817365"/>
              <a:gd name="adj2" fmla="val 178138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2542" name="Oval 22541">
            <a:extLst>
              <a:ext uri="{FF2B5EF4-FFF2-40B4-BE49-F238E27FC236}">
                <a16:creationId xmlns:a16="http://schemas.microsoft.com/office/drawing/2014/main" id="{FA23A907-97FB-4A8F-880A-DD77401C42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2536" y="4780992"/>
            <a:ext cx="409575" cy="5461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22531" name="Rectangle 3"/>
          <p:cNvSpPr>
            <a:spLocks noGrp="1" noChangeArrowheads="1"/>
          </p:cNvSpPr>
          <p:nvPr>
            <p:ph sz="quarter" idx="1"/>
          </p:nvPr>
        </p:nvSpPr>
        <p:spPr>
          <a:xfrm>
            <a:off x="4027614" y="1526033"/>
            <a:ext cx="4152298" cy="4830317"/>
          </a:xfrm>
        </p:spPr>
        <p:txBody>
          <a:bodyPr>
            <a:normAutofit/>
          </a:bodyPr>
          <a:lstStyle/>
          <a:p>
            <a:r>
              <a:rPr lang="en-US" sz="1800" dirty="0"/>
              <a:t>A couple is </a:t>
            </a:r>
            <a:r>
              <a:rPr lang="en-US" sz="1800" i="1" dirty="0"/>
              <a:t>regulated </a:t>
            </a:r>
            <a:r>
              <a:rPr lang="en-US" sz="1800" dirty="0"/>
              <a:t>if they have a stable balance of positive and negative interactions, and </a:t>
            </a:r>
            <a:r>
              <a:rPr lang="en-US" sz="1800" i="1" dirty="0"/>
              <a:t>unregulated </a:t>
            </a:r>
            <a:r>
              <a:rPr lang="en-US" sz="1800" dirty="0"/>
              <a:t>if not.</a:t>
            </a:r>
          </a:p>
          <a:p>
            <a:r>
              <a:rPr lang="en-US" sz="1800" dirty="0"/>
              <a:t> Three types of regulated couples: </a:t>
            </a:r>
          </a:p>
          <a:p>
            <a:pPr lvl="1"/>
            <a:r>
              <a:rPr lang="en-US" sz="1800" i="1" dirty="0"/>
              <a:t>Validating couples </a:t>
            </a:r>
            <a:r>
              <a:rPr lang="en-US" sz="1800" dirty="0"/>
              <a:t>are</a:t>
            </a:r>
            <a:r>
              <a:rPr lang="en-US" sz="1800" i="1" dirty="0"/>
              <a:t> </a:t>
            </a:r>
            <a:r>
              <a:rPr lang="en-US" sz="1800" dirty="0"/>
              <a:t>calm and have an easy-going.</a:t>
            </a:r>
          </a:p>
          <a:p>
            <a:pPr lvl="1"/>
            <a:r>
              <a:rPr lang="en-US" sz="1800" i="1" dirty="0"/>
              <a:t>Volatile couples </a:t>
            </a:r>
            <a:r>
              <a:rPr lang="en-US" sz="1800" dirty="0"/>
              <a:t>experience a wide array of ups and downs emotionally, but tend to eventually work things out.</a:t>
            </a:r>
          </a:p>
          <a:p>
            <a:pPr lvl="1"/>
            <a:r>
              <a:rPr lang="en-US" sz="1800" i="1" dirty="0"/>
              <a:t>Conflict minimizing couples </a:t>
            </a:r>
            <a:r>
              <a:rPr lang="en-US" sz="1800" dirty="0"/>
              <a:t>try hard to avoid or ignore disagreements. </a:t>
            </a:r>
          </a:p>
          <a:p>
            <a:r>
              <a:rPr lang="en-US" sz="1800" dirty="0"/>
              <a:t>Although the last two styles may seem problematic, they are considered regulated because they tend to last. </a:t>
            </a:r>
          </a:p>
          <a:p>
            <a:endParaRPr lang="en-US" sz="1100" dirty="0"/>
          </a:p>
        </p:txBody>
      </p:sp>
      <p:sp>
        <p:nvSpPr>
          <p:cNvPr id="4" name="Footer Placeholder 3">
            <a:extLst>
              <a:ext uri="{FF2B5EF4-FFF2-40B4-BE49-F238E27FC236}">
                <a16:creationId xmlns:a16="http://schemas.microsoft.com/office/drawing/2014/main" id="{ECF0B544-25B0-4C4E-A1BC-40AC04C3465E}"/>
              </a:ext>
            </a:extLst>
          </p:cNvPr>
          <p:cNvSpPr>
            <a:spLocks noGrp="1"/>
          </p:cNvSpPr>
          <p:nvPr>
            <p:ph type="ftr" sz="quarter" idx="11"/>
          </p:nvPr>
        </p:nvSpPr>
        <p:spPr>
          <a:xfrm>
            <a:off x="3028950" y="6356350"/>
            <a:ext cx="3086100" cy="365125"/>
          </a:xfrm>
        </p:spPr>
        <p:txBody>
          <a:bodyPr>
            <a:normAutofit/>
          </a:bodyPr>
          <a:lstStyle/>
          <a:p>
            <a:pPr>
              <a:lnSpc>
                <a:spcPct val="90000"/>
              </a:lnSpc>
              <a:spcAft>
                <a:spcPts val="600"/>
              </a:spcAft>
            </a:pPr>
            <a:r>
              <a:rPr lang="en-US" sz="900"/>
              <a:t>The Science and Application of Positive Psychology © Cambridge University Press 2021</a:t>
            </a:r>
          </a:p>
        </p:txBody>
      </p:sp>
    </p:spTree>
    <p:extLst>
      <p:ext uri="{BB962C8B-B14F-4D97-AF65-F5344CB8AC3E}">
        <p14:creationId xmlns:p14="http://schemas.microsoft.com/office/powerpoint/2010/main" val="359677165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536" name="Rectangle 22535">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538" name="Freeform: Shape 22537">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530" name="Rectangle 2"/>
          <p:cNvSpPr>
            <a:spLocks noGrp="1" noChangeArrowheads="1"/>
          </p:cNvSpPr>
          <p:nvPr>
            <p:ph type="title"/>
          </p:nvPr>
        </p:nvSpPr>
        <p:spPr>
          <a:xfrm>
            <a:off x="515125" y="1153572"/>
            <a:ext cx="2400300" cy="4461163"/>
          </a:xfrm>
        </p:spPr>
        <p:txBody>
          <a:bodyPr>
            <a:normAutofit/>
          </a:bodyPr>
          <a:lstStyle/>
          <a:p>
            <a:r>
              <a:rPr lang="en-US">
                <a:solidFill>
                  <a:srgbClr val="FFFFFF"/>
                </a:solidFill>
              </a:rPr>
              <a:t>Culture, Love, and Marriage</a:t>
            </a:r>
          </a:p>
        </p:txBody>
      </p:sp>
      <p:sp>
        <p:nvSpPr>
          <p:cNvPr id="22540" name="Arc 22539">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22531" name="Rectangle 3"/>
          <p:cNvSpPr>
            <a:spLocks noGrp="1" noChangeArrowheads="1"/>
          </p:cNvSpPr>
          <p:nvPr>
            <p:ph sz="quarter" idx="1"/>
          </p:nvPr>
        </p:nvSpPr>
        <p:spPr>
          <a:xfrm>
            <a:off x="3335481" y="591344"/>
            <a:ext cx="5179868" cy="5585619"/>
          </a:xfrm>
        </p:spPr>
        <p:txBody>
          <a:bodyPr anchor="ctr">
            <a:normAutofit/>
          </a:bodyPr>
          <a:lstStyle/>
          <a:p>
            <a:r>
              <a:rPr lang="en-US" sz="2000" dirty="0"/>
              <a:t>Culture influences how people practice marriage:</a:t>
            </a:r>
          </a:p>
          <a:p>
            <a:pPr lvl="1"/>
            <a:r>
              <a:rPr lang="en-US" sz="2000" dirty="0"/>
              <a:t>Marriage rates, although declining in most places in the world, differ from culture to culture (Ortiz-Ospina &amp; </a:t>
            </a:r>
            <a:r>
              <a:rPr lang="en-US" sz="2000" dirty="0" err="1"/>
              <a:t>Roser</a:t>
            </a:r>
            <a:r>
              <a:rPr lang="en-US" sz="2000" dirty="0"/>
              <a:t>, 2020).</a:t>
            </a:r>
          </a:p>
          <a:p>
            <a:pPr lvl="1"/>
            <a:r>
              <a:rPr lang="en-US" sz="2000" dirty="0"/>
              <a:t>Culture may influence the degree to which people marry for love vs. other, pragmatic reasons (Levine et al., 2004).</a:t>
            </a:r>
          </a:p>
          <a:p>
            <a:pPr lvl="1"/>
            <a:r>
              <a:rPr lang="en-US" sz="2000" dirty="0"/>
              <a:t>Arranged marriages are relatively common in certain parts of the world, including India, South Asia, and sub-Saharan Africa, among others (Hatfield et al., 2015). </a:t>
            </a:r>
          </a:p>
          <a:p>
            <a:pPr lvl="1"/>
            <a:r>
              <a:rPr lang="en-US" sz="2000" dirty="0"/>
              <a:t>Attitudes toward same-sex relationships and marriage also differ from culture to culture.</a:t>
            </a:r>
          </a:p>
        </p:txBody>
      </p:sp>
      <p:sp>
        <p:nvSpPr>
          <p:cNvPr id="4" name="Footer Placeholder 3">
            <a:extLst>
              <a:ext uri="{FF2B5EF4-FFF2-40B4-BE49-F238E27FC236}">
                <a16:creationId xmlns:a16="http://schemas.microsoft.com/office/drawing/2014/main" id="{99F956F2-9316-CB40-971F-F4DCAC498B5C}"/>
              </a:ext>
            </a:extLst>
          </p:cNvPr>
          <p:cNvSpPr>
            <a:spLocks noGrp="1"/>
          </p:cNvSpPr>
          <p:nvPr>
            <p:ph type="ftr" sz="quarter" idx="11"/>
          </p:nvPr>
        </p:nvSpPr>
        <p:spPr>
          <a:xfrm>
            <a:off x="3028950" y="6356350"/>
            <a:ext cx="3938380" cy="365125"/>
          </a:xfrm>
        </p:spPr>
        <p:txBody>
          <a:bodyPr>
            <a:normAutofit/>
          </a:bodyPr>
          <a:lstStyle/>
          <a:p>
            <a:pPr>
              <a:lnSpc>
                <a:spcPct val="90000"/>
              </a:lnSpc>
              <a:spcAft>
                <a:spcPts val="600"/>
              </a:spcAft>
            </a:pPr>
            <a:r>
              <a:rPr lang="en-US" sz="900"/>
              <a:t>The Science and Application of Positive Psychology © Cambridge University Press 2021</a:t>
            </a:r>
          </a:p>
        </p:txBody>
      </p:sp>
    </p:spTree>
    <p:extLst>
      <p:ext uri="{BB962C8B-B14F-4D97-AF65-F5344CB8AC3E}">
        <p14:creationId xmlns:p14="http://schemas.microsoft.com/office/powerpoint/2010/main" val="373252226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r>
              <a:rPr lang="en-US" dirty="0"/>
              <a:t>Culture, Love, and Marriage</a:t>
            </a:r>
            <a:endParaRPr lang="en-US" sz="4000" dirty="0"/>
          </a:p>
        </p:txBody>
      </p:sp>
      <p:pic>
        <p:nvPicPr>
          <p:cNvPr id="7" name="Picture 6" descr="Chart, line chart&#10;&#10;Description automatically generated">
            <a:extLst>
              <a:ext uri="{FF2B5EF4-FFF2-40B4-BE49-F238E27FC236}">
                <a16:creationId xmlns:a16="http://schemas.microsoft.com/office/drawing/2014/main" id="{E588B3F1-C346-9143-8023-49168CA541B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14398" y="2240740"/>
            <a:ext cx="7172324" cy="3746519"/>
          </a:xfrm>
          <a:prstGeom prst="rect">
            <a:avLst/>
          </a:prstGeom>
        </p:spPr>
      </p:pic>
      <p:sp>
        <p:nvSpPr>
          <p:cNvPr id="8" name="TextBox 7">
            <a:extLst>
              <a:ext uri="{FF2B5EF4-FFF2-40B4-BE49-F238E27FC236}">
                <a16:creationId xmlns:a16="http://schemas.microsoft.com/office/drawing/2014/main" id="{637359DE-D8F3-8F45-A303-AF83B778F1A4}"/>
              </a:ext>
            </a:extLst>
          </p:cNvPr>
          <p:cNvSpPr txBox="1"/>
          <p:nvPr/>
        </p:nvSpPr>
        <p:spPr>
          <a:xfrm>
            <a:off x="985833" y="1797930"/>
            <a:ext cx="5241628" cy="584775"/>
          </a:xfrm>
          <a:prstGeom prst="rect">
            <a:avLst/>
          </a:prstGeom>
          <a:noFill/>
        </p:spPr>
        <p:txBody>
          <a:bodyPr wrap="none" rtlCol="0">
            <a:spAutoFit/>
          </a:bodyPr>
          <a:lstStyle/>
          <a:p>
            <a:r>
              <a:rPr lang="en-US" b="1" dirty="0"/>
              <a:t>Marriages per 1,000 People</a:t>
            </a:r>
          </a:p>
          <a:p>
            <a:r>
              <a:rPr lang="en-US" sz="1400" dirty="0"/>
              <a:t>Number of marriages in each year per 1,000 people in the population</a:t>
            </a:r>
          </a:p>
        </p:txBody>
      </p:sp>
      <p:sp>
        <p:nvSpPr>
          <p:cNvPr id="5" name="Footer Placeholder 3">
            <a:extLst>
              <a:ext uri="{FF2B5EF4-FFF2-40B4-BE49-F238E27FC236}">
                <a16:creationId xmlns:a16="http://schemas.microsoft.com/office/drawing/2014/main" id="{154CAA50-0EFB-5D42-B94C-A70D9A181B63}"/>
              </a:ext>
            </a:extLst>
          </p:cNvPr>
          <p:cNvSpPr>
            <a:spLocks noGrp="1"/>
          </p:cNvSpPr>
          <p:nvPr>
            <p:ph type="ftr" sz="quarter" idx="11"/>
          </p:nvPr>
        </p:nvSpPr>
        <p:spPr>
          <a:xfrm>
            <a:off x="2002155" y="6354798"/>
            <a:ext cx="5730734" cy="461665"/>
          </a:xfrm>
        </p:spPr>
        <p:txBody>
          <a:bodyPr/>
          <a:lstStyle/>
          <a:p>
            <a:r>
              <a:rPr lang="en-US" dirty="0"/>
              <a:t>The Science and Application of Positive Psychology © Cambridge University Press 2021</a:t>
            </a:r>
          </a:p>
        </p:txBody>
      </p:sp>
    </p:spTree>
    <p:extLst>
      <p:ext uri="{BB962C8B-B14F-4D97-AF65-F5344CB8AC3E}">
        <p14:creationId xmlns:p14="http://schemas.microsoft.com/office/powerpoint/2010/main" val="168408855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F13C74B1-5B17-4795-BED0-7140497B44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2"/>
          <p:cNvSpPr>
            <a:spLocks noGrp="1"/>
          </p:cNvSpPr>
          <p:nvPr>
            <p:ph type="title"/>
          </p:nvPr>
        </p:nvSpPr>
        <p:spPr>
          <a:xfrm>
            <a:off x="480060" y="325369"/>
            <a:ext cx="3276451" cy="1956841"/>
          </a:xfrm>
        </p:spPr>
        <p:txBody>
          <a:bodyPr anchor="b">
            <a:normAutofit/>
          </a:bodyPr>
          <a:lstStyle/>
          <a:p>
            <a:r>
              <a:rPr lang="en-US" sz="4000"/>
              <a:t>What Hurts Relationships?</a:t>
            </a:r>
          </a:p>
        </p:txBody>
      </p:sp>
      <p:sp>
        <p:nvSpPr>
          <p:cNvPr id="14" name="sketchy line">
            <a:extLst>
              <a:ext uri="{FF2B5EF4-FFF2-40B4-BE49-F238E27FC236}">
                <a16:creationId xmlns:a16="http://schemas.microsoft.com/office/drawing/2014/main" id="{D4974D33-8DC5-464E-8C6D-BE58F0669C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0060" y="2586994"/>
            <a:ext cx="2606040" cy="18288"/>
          </a:xfrm>
          <a:custGeom>
            <a:avLst/>
            <a:gdLst>
              <a:gd name="connsiteX0" fmla="*/ 0 w 2606040"/>
              <a:gd name="connsiteY0" fmla="*/ 0 h 18288"/>
              <a:gd name="connsiteX1" fmla="*/ 625450 w 2606040"/>
              <a:gd name="connsiteY1" fmla="*/ 0 h 18288"/>
              <a:gd name="connsiteX2" fmla="*/ 1224839 w 2606040"/>
              <a:gd name="connsiteY2" fmla="*/ 0 h 18288"/>
              <a:gd name="connsiteX3" fmla="*/ 1824228 w 2606040"/>
              <a:gd name="connsiteY3" fmla="*/ 0 h 18288"/>
              <a:gd name="connsiteX4" fmla="*/ 2606040 w 2606040"/>
              <a:gd name="connsiteY4" fmla="*/ 0 h 18288"/>
              <a:gd name="connsiteX5" fmla="*/ 2606040 w 2606040"/>
              <a:gd name="connsiteY5" fmla="*/ 18288 h 18288"/>
              <a:gd name="connsiteX6" fmla="*/ 1902409 w 2606040"/>
              <a:gd name="connsiteY6" fmla="*/ 18288 h 18288"/>
              <a:gd name="connsiteX7" fmla="*/ 1276960 w 2606040"/>
              <a:gd name="connsiteY7" fmla="*/ 18288 h 18288"/>
              <a:gd name="connsiteX8" fmla="*/ 677570 w 2606040"/>
              <a:gd name="connsiteY8" fmla="*/ 18288 h 18288"/>
              <a:gd name="connsiteX9" fmla="*/ 0 w 2606040"/>
              <a:gd name="connsiteY9" fmla="*/ 18288 h 18288"/>
              <a:gd name="connsiteX10" fmla="*/ 0 w 2606040"/>
              <a:gd name="connsiteY10" fmla="*/ 0 h 18288"/>
              <a:gd name="connsiteX0" fmla="*/ 0 w 2606040"/>
              <a:gd name="connsiteY0" fmla="*/ 0 h 18288"/>
              <a:gd name="connsiteX1" fmla="*/ 599389 w 2606040"/>
              <a:gd name="connsiteY1" fmla="*/ 0 h 18288"/>
              <a:gd name="connsiteX2" fmla="*/ 1303020 w 2606040"/>
              <a:gd name="connsiteY2" fmla="*/ 0 h 18288"/>
              <a:gd name="connsiteX3" fmla="*/ 1876349 w 2606040"/>
              <a:gd name="connsiteY3" fmla="*/ 0 h 18288"/>
              <a:gd name="connsiteX4" fmla="*/ 2606040 w 2606040"/>
              <a:gd name="connsiteY4" fmla="*/ 0 h 18288"/>
              <a:gd name="connsiteX5" fmla="*/ 2606040 w 2606040"/>
              <a:gd name="connsiteY5" fmla="*/ 18288 h 18288"/>
              <a:gd name="connsiteX6" fmla="*/ 1980590 w 2606040"/>
              <a:gd name="connsiteY6" fmla="*/ 18288 h 18288"/>
              <a:gd name="connsiteX7" fmla="*/ 1276960 w 2606040"/>
              <a:gd name="connsiteY7" fmla="*/ 18288 h 18288"/>
              <a:gd name="connsiteX8" fmla="*/ 651510 w 2606040"/>
              <a:gd name="connsiteY8" fmla="*/ 18288 h 18288"/>
              <a:gd name="connsiteX9" fmla="*/ 0 w 2606040"/>
              <a:gd name="connsiteY9" fmla="*/ 18288 h 18288"/>
              <a:gd name="connsiteX10" fmla="*/ 0 w 2606040"/>
              <a:gd name="connsiteY10"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606040" h="18288" fill="none" extrusionOk="0">
                <a:moveTo>
                  <a:pt x="0" y="0"/>
                </a:moveTo>
                <a:cubicBezTo>
                  <a:pt x="211079" y="-22080"/>
                  <a:pt x="479378" y="-26537"/>
                  <a:pt x="625450" y="0"/>
                </a:cubicBezTo>
                <a:cubicBezTo>
                  <a:pt x="925937" y="-4758"/>
                  <a:pt x="973176" y="15739"/>
                  <a:pt x="1224839" y="0"/>
                </a:cubicBezTo>
                <a:cubicBezTo>
                  <a:pt x="1479663" y="-11328"/>
                  <a:pt x="1566636" y="18697"/>
                  <a:pt x="1824228" y="0"/>
                </a:cubicBezTo>
                <a:cubicBezTo>
                  <a:pt x="2086799" y="-72665"/>
                  <a:pt x="2306223" y="-891"/>
                  <a:pt x="2606040" y="0"/>
                </a:cubicBezTo>
                <a:cubicBezTo>
                  <a:pt x="2606645" y="4461"/>
                  <a:pt x="2607031" y="13181"/>
                  <a:pt x="2606040" y="18288"/>
                </a:cubicBezTo>
                <a:cubicBezTo>
                  <a:pt x="2260204" y="29342"/>
                  <a:pt x="2175708" y="5614"/>
                  <a:pt x="1902409" y="18288"/>
                </a:cubicBezTo>
                <a:cubicBezTo>
                  <a:pt x="1638502" y="41064"/>
                  <a:pt x="1460923" y="-16269"/>
                  <a:pt x="1276960" y="18288"/>
                </a:cubicBezTo>
                <a:cubicBezTo>
                  <a:pt x="1057717" y="14361"/>
                  <a:pt x="867956" y="2320"/>
                  <a:pt x="677570" y="18288"/>
                </a:cubicBezTo>
                <a:cubicBezTo>
                  <a:pt x="457951" y="33373"/>
                  <a:pt x="189752" y="55388"/>
                  <a:pt x="0" y="18288"/>
                </a:cubicBezTo>
                <a:cubicBezTo>
                  <a:pt x="1586" y="13022"/>
                  <a:pt x="-95" y="4569"/>
                  <a:pt x="0" y="0"/>
                </a:cubicBezTo>
                <a:close/>
              </a:path>
              <a:path w="2606040" h="18288" stroke="0" extrusionOk="0">
                <a:moveTo>
                  <a:pt x="0" y="0"/>
                </a:moveTo>
                <a:cubicBezTo>
                  <a:pt x="172759" y="3236"/>
                  <a:pt x="361166" y="-13413"/>
                  <a:pt x="599389" y="0"/>
                </a:cubicBezTo>
                <a:cubicBezTo>
                  <a:pt x="841226" y="37042"/>
                  <a:pt x="968991" y="14587"/>
                  <a:pt x="1303020" y="0"/>
                </a:cubicBezTo>
                <a:cubicBezTo>
                  <a:pt x="1643101" y="-7120"/>
                  <a:pt x="1717813" y="7213"/>
                  <a:pt x="1876349" y="0"/>
                </a:cubicBezTo>
                <a:cubicBezTo>
                  <a:pt x="2036762" y="-14138"/>
                  <a:pt x="2426397" y="-4451"/>
                  <a:pt x="2606040" y="0"/>
                </a:cubicBezTo>
                <a:cubicBezTo>
                  <a:pt x="2606314" y="8448"/>
                  <a:pt x="2606550" y="14527"/>
                  <a:pt x="2606040" y="18288"/>
                </a:cubicBezTo>
                <a:cubicBezTo>
                  <a:pt x="2344840" y="2643"/>
                  <a:pt x="2192043" y="7399"/>
                  <a:pt x="1980590" y="18288"/>
                </a:cubicBezTo>
                <a:cubicBezTo>
                  <a:pt x="1783984" y="-9745"/>
                  <a:pt x="1487673" y="45908"/>
                  <a:pt x="1276960" y="18288"/>
                </a:cubicBezTo>
                <a:cubicBezTo>
                  <a:pt x="1088134" y="-41257"/>
                  <a:pt x="877974" y="49968"/>
                  <a:pt x="651510" y="18288"/>
                </a:cubicBezTo>
                <a:cubicBezTo>
                  <a:pt x="430798" y="-27764"/>
                  <a:pt x="132889" y="-33467"/>
                  <a:pt x="0" y="18288"/>
                </a:cubicBezTo>
                <a:cubicBezTo>
                  <a:pt x="212" y="10845"/>
                  <a:pt x="-833" y="6193"/>
                  <a:pt x="0" y="0"/>
                </a:cubicBezTo>
                <a:close/>
              </a:path>
              <a:path w="2606040" h="18288" fill="none" stroke="0" extrusionOk="0">
                <a:moveTo>
                  <a:pt x="0" y="0"/>
                </a:moveTo>
                <a:cubicBezTo>
                  <a:pt x="202328" y="-14716"/>
                  <a:pt x="332722" y="-11499"/>
                  <a:pt x="625450" y="0"/>
                </a:cubicBezTo>
                <a:cubicBezTo>
                  <a:pt x="927712" y="6878"/>
                  <a:pt x="971143" y="7084"/>
                  <a:pt x="1224839" y="0"/>
                </a:cubicBezTo>
                <a:cubicBezTo>
                  <a:pt x="1477775" y="-16815"/>
                  <a:pt x="1569904" y="19146"/>
                  <a:pt x="1824228" y="0"/>
                </a:cubicBezTo>
                <a:cubicBezTo>
                  <a:pt x="2055206" y="24867"/>
                  <a:pt x="2317192" y="-62872"/>
                  <a:pt x="2606040" y="0"/>
                </a:cubicBezTo>
                <a:cubicBezTo>
                  <a:pt x="2606166" y="3680"/>
                  <a:pt x="2606905" y="11461"/>
                  <a:pt x="2606040" y="18288"/>
                </a:cubicBezTo>
                <a:cubicBezTo>
                  <a:pt x="2234648" y="26976"/>
                  <a:pt x="2180202" y="-10361"/>
                  <a:pt x="1902409" y="18288"/>
                </a:cubicBezTo>
                <a:cubicBezTo>
                  <a:pt x="1635562" y="47194"/>
                  <a:pt x="1477339" y="4794"/>
                  <a:pt x="1276960" y="18288"/>
                </a:cubicBezTo>
                <a:cubicBezTo>
                  <a:pt x="1058094" y="66922"/>
                  <a:pt x="904206" y="-20636"/>
                  <a:pt x="677570" y="18288"/>
                </a:cubicBezTo>
                <a:cubicBezTo>
                  <a:pt x="485746" y="14713"/>
                  <a:pt x="195925" y="33005"/>
                  <a:pt x="0" y="18288"/>
                </a:cubicBezTo>
                <a:cubicBezTo>
                  <a:pt x="1168" y="12774"/>
                  <a:pt x="-229" y="3745"/>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custGeom>
                    <a:avLst/>
                    <a:gdLst>
                      <a:gd name="connsiteX0" fmla="*/ 0 w 2606040"/>
                      <a:gd name="connsiteY0" fmla="*/ 0 h 18288"/>
                      <a:gd name="connsiteX1" fmla="*/ 625450 w 2606040"/>
                      <a:gd name="connsiteY1" fmla="*/ 0 h 18288"/>
                      <a:gd name="connsiteX2" fmla="*/ 1224839 w 2606040"/>
                      <a:gd name="connsiteY2" fmla="*/ 0 h 18288"/>
                      <a:gd name="connsiteX3" fmla="*/ 1824228 w 2606040"/>
                      <a:gd name="connsiteY3" fmla="*/ 0 h 18288"/>
                      <a:gd name="connsiteX4" fmla="*/ 2606040 w 2606040"/>
                      <a:gd name="connsiteY4" fmla="*/ 0 h 18288"/>
                      <a:gd name="connsiteX5" fmla="*/ 2606040 w 2606040"/>
                      <a:gd name="connsiteY5" fmla="*/ 18288 h 18288"/>
                      <a:gd name="connsiteX6" fmla="*/ 1902409 w 2606040"/>
                      <a:gd name="connsiteY6" fmla="*/ 18288 h 18288"/>
                      <a:gd name="connsiteX7" fmla="*/ 1276960 w 2606040"/>
                      <a:gd name="connsiteY7" fmla="*/ 18288 h 18288"/>
                      <a:gd name="connsiteX8" fmla="*/ 677570 w 2606040"/>
                      <a:gd name="connsiteY8" fmla="*/ 18288 h 18288"/>
                      <a:gd name="connsiteX9" fmla="*/ 0 w 2606040"/>
                      <a:gd name="connsiteY9" fmla="*/ 18288 h 18288"/>
                      <a:gd name="connsiteX10" fmla="*/ 0 w 2606040"/>
                      <a:gd name="connsiteY10"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606040" h="18288" fill="none" extrusionOk="0">
                        <a:moveTo>
                          <a:pt x="0" y="0"/>
                        </a:moveTo>
                        <a:cubicBezTo>
                          <a:pt x="266776" y="-600"/>
                          <a:pt x="322756" y="3201"/>
                          <a:pt x="625450" y="0"/>
                        </a:cubicBezTo>
                        <a:cubicBezTo>
                          <a:pt x="928144" y="-3201"/>
                          <a:pt x="968141" y="9269"/>
                          <a:pt x="1224839" y="0"/>
                        </a:cubicBezTo>
                        <a:cubicBezTo>
                          <a:pt x="1481537" y="-9269"/>
                          <a:pt x="1569059" y="21947"/>
                          <a:pt x="1824228" y="0"/>
                        </a:cubicBezTo>
                        <a:cubicBezTo>
                          <a:pt x="2079397" y="-21947"/>
                          <a:pt x="2326053" y="-10194"/>
                          <a:pt x="2606040" y="0"/>
                        </a:cubicBezTo>
                        <a:cubicBezTo>
                          <a:pt x="2605462" y="4771"/>
                          <a:pt x="2606793" y="12323"/>
                          <a:pt x="2606040" y="18288"/>
                        </a:cubicBezTo>
                        <a:cubicBezTo>
                          <a:pt x="2256758" y="31410"/>
                          <a:pt x="2173673" y="-12878"/>
                          <a:pt x="1902409" y="18288"/>
                        </a:cubicBezTo>
                        <a:cubicBezTo>
                          <a:pt x="1631145" y="49454"/>
                          <a:pt x="1461378" y="5466"/>
                          <a:pt x="1276960" y="18288"/>
                        </a:cubicBezTo>
                        <a:cubicBezTo>
                          <a:pt x="1092542" y="31110"/>
                          <a:pt x="890442" y="13213"/>
                          <a:pt x="677570" y="18288"/>
                        </a:cubicBezTo>
                        <a:cubicBezTo>
                          <a:pt x="464698" y="23364"/>
                          <a:pt x="187648" y="35837"/>
                          <a:pt x="0" y="18288"/>
                        </a:cubicBezTo>
                        <a:cubicBezTo>
                          <a:pt x="841" y="12879"/>
                          <a:pt x="-726" y="3977"/>
                          <a:pt x="0" y="0"/>
                        </a:cubicBezTo>
                        <a:close/>
                      </a:path>
                      <a:path w="2606040" h="18288" stroke="0" extrusionOk="0">
                        <a:moveTo>
                          <a:pt x="0" y="0"/>
                        </a:moveTo>
                        <a:cubicBezTo>
                          <a:pt x="197231" y="3803"/>
                          <a:pt x="358914" y="-9291"/>
                          <a:pt x="599389" y="0"/>
                        </a:cubicBezTo>
                        <a:cubicBezTo>
                          <a:pt x="839864" y="9291"/>
                          <a:pt x="979371" y="8509"/>
                          <a:pt x="1303020" y="0"/>
                        </a:cubicBezTo>
                        <a:cubicBezTo>
                          <a:pt x="1626669" y="-8509"/>
                          <a:pt x="1726300" y="7440"/>
                          <a:pt x="1876349" y="0"/>
                        </a:cubicBezTo>
                        <a:cubicBezTo>
                          <a:pt x="2026398" y="-7440"/>
                          <a:pt x="2430712" y="17957"/>
                          <a:pt x="2606040" y="0"/>
                        </a:cubicBezTo>
                        <a:cubicBezTo>
                          <a:pt x="2605426" y="8857"/>
                          <a:pt x="2606544" y="13619"/>
                          <a:pt x="2606040" y="18288"/>
                        </a:cubicBezTo>
                        <a:cubicBezTo>
                          <a:pt x="2393024" y="2241"/>
                          <a:pt x="2191161" y="39259"/>
                          <a:pt x="1980590" y="18288"/>
                        </a:cubicBezTo>
                        <a:cubicBezTo>
                          <a:pt x="1770019" y="-2683"/>
                          <a:pt x="1476440" y="36114"/>
                          <a:pt x="1276960" y="18288"/>
                        </a:cubicBezTo>
                        <a:cubicBezTo>
                          <a:pt x="1077480" y="463"/>
                          <a:pt x="880988" y="42125"/>
                          <a:pt x="651510" y="18288"/>
                        </a:cubicBezTo>
                        <a:cubicBezTo>
                          <a:pt x="422032" y="-5549"/>
                          <a:pt x="130744" y="-1947"/>
                          <a:pt x="0" y="18288"/>
                        </a:cubicBezTo>
                        <a:cubicBezTo>
                          <a:pt x="-487" y="10816"/>
                          <a:pt x="-839" y="6058"/>
                          <a:pt x="0" y="0"/>
                        </a:cubicBezTo>
                        <a:close/>
                      </a:path>
                    </a:pathLst>
                  </a:cu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Content Placeholder 3"/>
          <p:cNvSpPr>
            <a:spLocks noGrp="1"/>
          </p:cNvSpPr>
          <p:nvPr>
            <p:ph idx="1"/>
          </p:nvPr>
        </p:nvSpPr>
        <p:spPr>
          <a:xfrm>
            <a:off x="480060" y="2872899"/>
            <a:ext cx="3182691" cy="3320668"/>
          </a:xfrm>
        </p:spPr>
        <p:txBody>
          <a:bodyPr>
            <a:normAutofit/>
          </a:bodyPr>
          <a:lstStyle/>
          <a:p>
            <a:pPr marL="0" indent="0">
              <a:buNone/>
            </a:pPr>
            <a:r>
              <a:rPr lang="en-US" sz="1900"/>
              <a:t>Conflict</a:t>
            </a:r>
          </a:p>
          <a:p>
            <a:r>
              <a:rPr lang="en-US" sz="1900"/>
              <a:t>Primary cause of marital dissolution</a:t>
            </a:r>
          </a:p>
          <a:p>
            <a:r>
              <a:rPr lang="en-US" sz="1900"/>
              <a:t>Communication problems are the chief reason given for getting divorced</a:t>
            </a:r>
          </a:p>
          <a:p>
            <a:pPr lvl="0"/>
            <a:endParaRPr lang="en-US" sz="1900"/>
          </a:p>
          <a:p>
            <a:endParaRPr lang="en-US" sz="1900"/>
          </a:p>
          <a:p>
            <a:pPr marL="0" indent="0">
              <a:buNone/>
            </a:pPr>
            <a:endParaRPr lang="en-US" sz="1900"/>
          </a:p>
        </p:txBody>
      </p:sp>
      <p:pic>
        <p:nvPicPr>
          <p:cNvPr id="8" name="Picture 7" descr="A group of yellow figures and a red figure on the other side">
            <a:extLst>
              <a:ext uri="{FF2B5EF4-FFF2-40B4-BE49-F238E27FC236}">
                <a16:creationId xmlns:a16="http://schemas.microsoft.com/office/drawing/2014/main" id="{1597DA6C-A9DA-5462-CE82-1CD3722A74ED}"/>
              </a:ext>
            </a:extLst>
          </p:cNvPr>
          <p:cNvPicPr>
            <a:picLocks noChangeAspect="1"/>
          </p:cNvPicPr>
          <p:nvPr/>
        </p:nvPicPr>
        <p:blipFill rotWithShape="1">
          <a:blip r:embed="rId3"/>
          <a:srcRect l="43204" r="6581" b="-1"/>
          <a:stretch/>
        </p:blipFill>
        <p:spPr>
          <a:xfrm>
            <a:off x="3983776" y="10"/>
            <a:ext cx="5159081"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
        <p:nvSpPr>
          <p:cNvPr id="6" name="Footer Placeholder 5"/>
          <p:cNvSpPr>
            <a:spLocks noGrp="1"/>
          </p:cNvSpPr>
          <p:nvPr>
            <p:ph type="ftr" sz="quarter" idx="11"/>
          </p:nvPr>
        </p:nvSpPr>
        <p:spPr>
          <a:xfrm>
            <a:off x="4686300" y="6356350"/>
            <a:ext cx="3086100" cy="365125"/>
          </a:xfrm>
        </p:spPr>
        <p:txBody>
          <a:bodyPr>
            <a:normAutofit/>
          </a:bodyPr>
          <a:lstStyle/>
          <a:p>
            <a:pPr algn="l">
              <a:lnSpc>
                <a:spcPct val="90000"/>
              </a:lnSpc>
              <a:spcAft>
                <a:spcPts val="600"/>
              </a:spcAft>
            </a:pPr>
            <a:r>
              <a:rPr lang="en-US" sz="900">
                <a:solidFill>
                  <a:srgbClr val="FFFFFF"/>
                </a:solidFill>
                <a:effectLst/>
                <a:latin typeface="Arial" panose="020B0604020202020204" pitchFamily="34" charset="0"/>
                <a:ea typeface="Calibri" panose="020F0502020204030204" pitchFamily="34" charset="0"/>
              </a:rPr>
              <a:t>Compton, </a:t>
            </a:r>
            <a:r>
              <a:rPr lang="en-US" sz="900" i="1">
                <a:solidFill>
                  <a:srgbClr val="FFFFFF"/>
                </a:solidFill>
                <a:effectLst/>
                <a:latin typeface="Arial" panose="020B0604020202020204" pitchFamily="34" charset="0"/>
                <a:ea typeface="Calibri" panose="020F0502020204030204" pitchFamily="34" charset="0"/>
              </a:rPr>
              <a:t>Positive Psychology, 3e</a:t>
            </a:r>
            <a:r>
              <a:rPr lang="en-US" sz="900">
                <a:solidFill>
                  <a:srgbClr val="FFFFFF"/>
                </a:solidFill>
                <a:effectLst/>
                <a:latin typeface="Arial" panose="020B0604020202020204" pitchFamily="34" charset="0"/>
                <a:ea typeface="Calibri" panose="020F0502020204030204" pitchFamily="34" charset="0"/>
              </a:rPr>
              <a:t>.</a:t>
            </a:r>
            <a:r>
              <a:rPr lang="en-US" sz="900" kern="1200">
                <a:solidFill>
                  <a:srgbClr val="FFFFFF"/>
                </a:solidFill>
                <a:effectLst/>
                <a:latin typeface="Arial" panose="020B0604020202020204" pitchFamily="34" charset="0"/>
                <a:ea typeface="Times New Roman" panose="02020603050405020304" pitchFamily="18" charset="0"/>
              </a:rPr>
              <a:t> </a:t>
            </a:r>
            <a:r>
              <a:rPr lang="en-US" sz="900">
                <a:solidFill>
                  <a:srgbClr val="FFFFFF"/>
                </a:solidFill>
                <a:effectLst/>
                <a:latin typeface="Arial" panose="020B0604020202020204" pitchFamily="34" charset="0"/>
                <a:ea typeface="Times New Roman" panose="02020603050405020304" pitchFamily="18" charset="0"/>
              </a:rPr>
              <a:t>© SAGE Publications, 2020.</a:t>
            </a:r>
            <a:endParaRPr lang="en-US" sz="900">
              <a:solidFill>
                <a:srgbClr val="FFFFFF"/>
              </a:solidFill>
            </a:endParaRPr>
          </a:p>
        </p:txBody>
      </p:sp>
      <p:sp>
        <p:nvSpPr>
          <p:cNvPr id="5" name="Slide Number Placeholder 4"/>
          <p:cNvSpPr>
            <a:spLocks noGrp="1"/>
          </p:cNvSpPr>
          <p:nvPr>
            <p:ph type="sldNum" sz="quarter" idx="12"/>
          </p:nvPr>
        </p:nvSpPr>
        <p:spPr>
          <a:xfrm>
            <a:off x="7829550" y="6356350"/>
            <a:ext cx="685800" cy="365125"/>
          </a:xfrm>
          <a:prstGeom prst="rect">
            <a:avLst/>
          </a:prstGeom>
        </p:spPr>
        <p:txBody>
          <a:bodyPr vert="horz" lIns="91440" tIns="45720" rIns="91440" bIns="45720" rtlCol="0">
            <a:normAutofit/>
          </a:bodyPr>
          <a:lstStyle>
            <a:defPPr>
              <a:defRPr lang="en-US"/>
            </a:defPPr>
            <a:lvl1pPr marL="0" algn="r" defTabSz="914400" rtl="0" eaLnBrk="1" latinLnBrk="0" hangingPunct="1">
              <a:defRPr sz="1000" kern="1200" baseline="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600"/>
              </a:spcAft>
            </a:pPr>
            <a:fld id="{B6F15528-21DE-4FAA-801E-634DDDAF4B2B}" type="slidenum">
              <a:rPr lang="en-US">
                <a:solidFill>
                  <a:srgbClr val="FFFFFF"/>
                </a:solidFill>
              </a:rPr>
              <a:pPr>
                <a:spcAft>
                  <a:spcPts val="600"/>
                </a:spcAft>
              </a:pPr>
              <a:t>31</a:t>
            </a:fld>
            <a:endParaRPr lang="en-US">
              <a:solidFill>
                <a:srgbClr val="FFFFFF"/>
              </a:solidFill>
            </a:endParaRPr>
          </a:p>
        </p:txBody>
      </p:sp>
    </p:spTree>
    <p:extLst>
      <p:ext uri="{BB962C8B-B14F-4D97-AF65-F5344CB8AC3E}">
        <p14:creationId xmlns:p14="http://schemas.microsoft.com/office/powerpoint/2010/main" val="243756960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2C61293E-6EBE-43EF-A52C-9BEBFD7679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2"/>
          <p:cNvSpPr>
            <a:spLocks noGrp="1"/>
          </p:cNvSpPr>
          <p:nvPr>
            <p:ph type="title"/>
          </p:nvPr>
        </p:nvSpPr>
        <p:spPr>
          <a:xfrm>
            <a:off x="3490722" y="329184"/>
            <a:ext cx="5170932" cy="1783080"/>
          </a:xfrm>
        </p:spPr>
        <p:txBody>
          <a:bodyPr anchor="b">
            <a:normAutofit/>
          </a:bodyPr>
          <a:lstStyle/>
          <a:p>
            <a:r>
              <a:rPr lang="en-US" sz="4700"/>
              <a:t>What Hurts Relationships?</a:t>
            </a:r>
          </a:p>
        </p:txBody>
      </p:sp>
      <p:pic>
        <p:nvPicPr>
          <p:cNvPr id="8" name="Picture 7" descr="Top view of a circular staircase">
            <a:extLst>
              <a:ext uri="{FF2B5EF4-FFF2-40B4-BE49-F238E27FC236}">
                <a16:creationId xmlns:a16="http://schemas.microsoft.com/office/drawing/2014/main" id="{39695A42-EA17-EBA2-CFB9-A19688263240}"/>
              </a:ext>
            </a:extLst>
          </p:cNvPr>
          <p:cNvPicPr>
            <a:picLocks noChangeAspect="1"/>
          </p:cNvPicPr>
          <p:nvPr/>
        </p:nvPicPr>
        <p:blipFill rotWithShape="1">
          <a:blip r:embed="rId3"/>
          <a:srcRect l="11066" r="59351" b="-2"/>
          <a:stretch/>
        </p:blipFill>
        <p:spPr>
          <a:xfrm>
            <a:off x="20" y="1"/>
            <a:ext cx="3039386" cy="6858000"/>
          </a:xfrm>
          <a:custGeom>
            <a:avLst/>
            <a:gdLst/>
            <a:ahLst/>
            <a:cxnLst/>
            <a:rect l="l" t="t" r="r" b="b"/>
            <a:pathLst>
              <a:path w="4052542" h="6858000">
                <a:moveTo>
                  <a:pt x="0" y="0"/>
                </a:moveTo>
                <a:lnTo>
                  <a:pt x="4020923" y="0"/>
                </a:lnTo>
                <a:lnTo>
                  <a:pt x="4022656" y="14697"/>
                </a:lnTo>
                <a:cubicBezTo>
                  <a:pt x="4037606" y="98462"/>
                  <a:pt x="4035072" y="183369"/>
                  <a:pt x="4039126" y="267642"/>
                </a:cubicBezTo>
                <a:cubicBezTo>
                  <a:pt x="4043941" y="370699"/>
                  <a:pt x="4037860" y="474136"/>
                  <a:pt x="4035579" y="577446"/>
                </a:cubicBezTo>
                <a:cubicBezTo>
                  <a:pt x="4033805" y="665399"/>
                  <a:pt x="4025063" y="753226"/>
                  <a:pt x="4027724" y="841306"/>
                </a:cubicBezTo>
                <a:cubicBezTo>
                  <a:pt x="4027914" y="844352"/>
                  <a:pt x="4027914" y="847398"/>
                  <a:pt x="4027724" y="850444"/>
                </a:cubicBezTo>
                <a:cubicBezTo>
                  <a:pt x="4019615" y="947281"/>
                  <a:pt x="4019615" y="1044626"/>
                  <a:pt x="4027724" y="1141464"/>
                </a:cubicBezTo>
                <a:cubicBezTo>
                  <a:pt x="4030296" y="1181772"/>
                  <a:pt x="4029574" y="1222221"/>
                  <a:pt x="4025570" y="1262415"/>
                </a:cubicBezTo>
                <a:cubicBezTo>
                  <a:pt x="4021769" y="1313563"/>
                  <a:pt x="4009606" y="1365472"/>
                  <a:pt x="4018348" y="1416238"/>
                </a:cubicBezTo>
                <a:cubicBezTo>
                  <a:pt x="4024037" y="1458058"/>
                  <a:pt x="4027166" y="1500194"/>
                  <a:pt x="4027724" y="1542394"/>
                </a:cubicBezTo>
                <a:cubicBezTo>
                  <a:pt x="4032158" y="1636820"/>
                  <a:pt x="4027977" y="1731753"/>
                  <a:pt x="4026330" y="1826433"/>
                </a:cubicBezTo>
                <a:cubicBezTo>
                  <a:pt x="4024556" y="1936724"/>
                  <a:pt x="4027344" y="2047015"/>
                  <a:pt x="4018475" y="2157432"/>
                </a:cubicBezTo>
                <a:cubicBezTo>
                  <a:pt x="4013597" y="2246629"/>
                  <a:pt x="4013597" y="2336029"/>
                  <a:pt x="4018475" y="2425226"/>
                </a:cubicBezTo>
                <a:cubicBezTo>
                  <a:pt x="4020882" y="2506961"/>
                  <a:pt x="4033172" y="2587934"/>
                  <a:pt x="4031145" y="2670557"/>
                </a:cubicBezTo>
                <a:cubicBezTo>
                  <a:pt x="4028737" y="2766886"/>
                  <a:pt x="4017335" y="2862962"/>
                  <a:pt x="4020882" y="2959546"/>
                </a:cubicBezTo>
                <a:cubicBezTo>
                  <a:pt x="4022529" y="3005617"/>
                  <a:pt x="4022656" y="3051688"/>
                  <a:pt x="4023543" y="3097758"/>
                </a:cubicBezTo>
                <a:cubicBezTo>
                  <a:pt x="4024683" y="3153221"/>
                  <a:pt x="4034692" y="3208556"/>
                  <a:pt x="4029117" y="3263892"/>
                </a:cubicBezTo>
                <a:cubicBezTo>
                  <a:pt x="4019869" y="3356161"/>
                  <a:pt x="3995923" y="3446906"/>
                  <a:pt x="4010873" y="3541459"/>
                </a:cubicBezTo>
                <a:cubicBezTo>
                  <a:pt x="4019108" y="3593495"/>
                  <a:pt x="4028357" y="3645658"/>
                  <a:pt x="4033172" y="3698201"/>
                </a:cubicBezTo>
                <a:cubicBezTo>
                  <a:pt x="4037353" y="3745160"/>
                  <a:pt x="4047868" y="3792881"/>
                  <a:pt x="4039886" y="3839586"/>
                </a:cubicBezTo>
                <a:cubicBezTo>
                  <a:pt x="4033045" y="3879565"/>
                  <a:pt x="4036592" y="3919544"/>
                  <a:pt x="4031271" y="3959523"/>
                </a:cubicBezTo>
                <a:cubicBezTo>
                  <a:pt x="4024303" y="4011939"/>
                  <a:pt x="4020629" y="4065244"/>
                  <a:pt x="4015308" y="4118042"/>
                </a:cubicBezTo>
                <a:cubicBezTo>
                  <a:pt x="4010620" y="4165889"/>
                  <a:pt x="4006946" y="4213610"/>
                  <a:pt x="4019615" y="4258539"/>
                </a:cubicBezTo>
                <a:cubicBezTo>
                  <a:pt x="4050656" y="4371622"/>
                  <a:pt x="4033679" y="4484070"/>
                  <a:pt x="4022023" y="4596391"/>
                </a:cubicBezTo>
                <a:cubicBezTo>
                  <a:pt x="4016321" y="4650965"/>
                  <a:pt x="4007959" y="4708712"/>
                  <a:pt x="4020629" y="4758718"/>
                </a:cubicBezTo>
                <a:cubicBezTo>
                  <a:pt x="4043941" y="4847432"/>
                  <a:pt x="4025697" y="4931705"/>
                  <a:pt x="4015561" y="5016866"/>
                </a:cubicBezTo>
                <a:cubicBezTo>
                  <a:pt x="4003335" y="5100174"/>
                  <a:pt x="4005096" y="5184929"/>
                  <a:pt x="4020756" y="5267654"/>
                </a:cubicBezTo>
                <a:cubicBezTo>
                  <a:pt x="4033172" y="5326035"/>
                  <a:pt x="4033172" y="5385432"/>
                  <a:pt x="4034692" y="5444194"/>
                </a:cubicBezTo>
                <a:cubicBezTo>
                  <a:pt x="4035579" y="5481001"/>
                  <a:pt x="4022023" y="5518441"/>
                  <a:pt x="4013027" y="5555120"/>
                </a:cubicBezTo>
                <a:cubicBezTo>
                  <a:pt x="3996937" y="5621371"/>
                  <a:pt x="3991109" y="5688636"/>
                  <a:pt x="4013027" y="5753237"/>
                </a:cubicBezTo>
                <a:cubicBezTo>
                  <a:pt x="4043561" y="5842713"/>
                  <a:pt x="4061045" y="5932189"/>
                  <a:pt x="4048375" y="6026870"/>
                </a:cubicBezTo>
                <a:cubicBezTo>
                  <a:pt x="4041027" y="6085251"/>
                  <a:pt x="4039380" y="6144902"/>
                  <a:pt x="4028357" y="6202522"/>
                </a:cubicBezTo>
                <a:cubicBezTo>
                  <a:pt x="4010240" y="6298091"/>
                  <a:pt x="4016701" y="6393024"/>
                  <a:pt x="4031145" y="6487196"/>
                </a:cubicBezTo>
                <a:cubicBezTo>
                  <a:pt x="4041293" y="6565885"/>
                  <a:pt x="4042395" y="6645474"/>
                  <a:pt x="4034439" y="6724403"/>
                </a:cubicBezTo>
                <a:lnTo>
                  <a:pt x="4025206" y="6858000"/>
                </a:lnTo>
                <a:lnTo>
                  <a:pt x="0" y="6858000"/>
                </a:lnTo>
                <a:close/>
              </a:path>
            </a:pathLst>
          </a:custGeom>
        </p:spPr>
      </p:pic>
      <p:sp>
        <p:nvSpPr>
          <p:cNvPr id="14" name="sketchy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90722" y="2395728"/>
            <a:ext cx="3182691" cy="18288"/>
          </a:xfrm>
          <a:custGeom>
            <a:avLst/>
            <a:gdLst>
              <a:gd name="connsiteX0" fmla="*/ 0 w 3182691"/>
              <a:gd name="connsiteY0" fmla="*/ 0 h 18288"/>
              <a:gd name="connsiteX1" fmla="*/ 636538 w 3182691"/>
              <a:gd name="connsiteY1" fmla="*/ 0 h 18288"/>
              <a:gd name="connsiteX2" fmla="*/ 1273076 w 3182691"/>
              <a:gd name="connsiteY2" fmla="*/ 0 h 18288"/>
              <a:gd name="connsiteX3" fmla="*/ 1909615 w 3182691"/>
              <a:gd name="connsiteY3" fmla="*/ 0 h 18288"/>
              <a:gd name="connsiteX4" fmla="*/ 2482499 w 3182691"/>
              <a:gd name="connsiteY4" fmla="*/ 0 h 18288"/>
              <a:gd name="connsiteX5" fmla="*/ 3182691 w 3182691"/>
              <a:gd name="connsiteY5" fmla="*/ 0 h 18288"/>
              <a:gd name="connsiteX6" fmla="*/ 3182691 w 3182691"/>
              <a:gd name="connsiteY6" fmla="*/ 18288 h 18288"/>
              <a:gd name="connsiteX7" fmla="*/ 2609807 w 3182691"/>
              <a:gd name="connsiteY7" fmla="*/ 18288 h 18288"/>
              <a:gd name="connsiteX8" fmla="*/ 2068749 w 3182691"/>
              <a:gd name="connsiteY8" fmla="*/ 18288 h 18288"/>
              <a:gd name="connsiteX9" fmla="*/ 1432211 w 3182691"/>
              <a:gd name="connsiteY9" fmla="*/ 18288 h 18288"/>
              <a:gd name="connsiteX10" fmla="*/ 859327 w 3182691"/>
              <a:gd name="connsiteY10" fmla="*/ 18288 h 18288"/>
              <a:gd name="connsiteX11" fmla="*/ 0 w 3182691"/>
              <a:gd name="connsiteY11" fmla="*/ 18288 h 18288"/>
              <a:gd name="connsiteX12" fmla="*/ 0 w 3182691"/>
              <a:gd name="connsiteY12" fmla="*/ 0 h 18288"/>
              <a:gd name="connsiteX0" fmla="*/ 0 w 3182691"/>
              <a:gd name="connsiteY0" fmla="*/ 0 h 18288"/>
              <a:gd name="connsiteX1" fmla="*/ 572884 w 3182691"/>
              <a:gd name="connsiteY1" fmla="*/ 0 h 18288"/>
              <a:gd name="connsiteX2" fmla="*/ 1113942 w 3182691"/>
              <a:gd name="connsiteY2" fmla="*/ 0 h 18288"/>
              <a:gd name="connsiteX3" fmla="*/ 1686826 w 3182691"/>
              <a:gd name="connsiteY3" fmla="*/ 0 h 18288"/>
              <a:gd name="connsiteX4" fmla="*/ 2323364 w 3182691"/>
              <a:gd name="connsiteY4" fmla="*/ 0 h 18288"/>
              <a:gd name="connsiteX5" fmla="*/ 3182691 w 3182691"/>
              <a:gd name="connsiteY5" fmla="*/ 0 h 18288"/>
              <a:gd name="connsiteX6" fmla="*/ 3182691 w 3182691"/>
              <a:gd name="connsiteY6" fmla="*/ 18288 h 18288"/>
              <a:gd name="connsiteX7" fmla="*/ 2546153 w 3182691"/>
              <a:gd name="connsiteY7" fmla="*/ 18288 h 18288"/>
              <a:gd name="connsiteX8" fmla="*/ 1845961 w 3182691"/>
              <a:gd name="connsiteY8" fmla="*/ 18288 h 18288"/>
              <a:gd name="connsiteX9" fmla="*/ 1304903 w 3182691"/>
              <a:gd name="connsiteY9" fmla="*/ 18288 h 18288"/>
              <a:gd name="connsiteX10" fmla="*/ 604711 w 3182691"/>
              <a:gd name="connsiteY10" fmla="*/ 18288 h 18288"/>
              <a:gd name="connsiteX11" fmla="*/ 0 w 3182691"/>
              <a:gd name="connsiteY11" fmla="*/ 18288 h 18288"/>
              <a:gd name="connsiteX12" fmla="*/ 0 w 3182691"/>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182691" h="18288" fill="none" extrusionOk="0">
                <a:moveTo>
                  <a:pt x="0" y="0"/>
                </a:moveTo>
                <a:cubicBezTo>
                  <a:pt x="225870" y="33585"/>
                  <a:pt x="418138" y="17639"/>
                  <a:pt x="636538" y="0"/>
                </a:cubicBezTo>
                <a:cubicBezTo>
                  <a:pt x="866402" y="-9774"/>
                  <a:pt x="1016900" y="-17532"/>
                  <a:pt x="1273076" y="0"/>
                </a:cubicBezTo>
                <a:cubicBezTo>
                  <a:pt x="1519343" y="-34410"/>
                  <a:pt x="1705438" y="-53754"/>
                  <a:pt x="1909615" y="0"/>
                </a:cubicBezTo>
                <a:cubicBezTo>
                  <a:pt x="2120433" y="2855"/>
                  <a:pt x="2209200" y="-17463"/>
                  <a:pt x="2482499" y="0"/>
                </a:cubicBezTo>
                <a:cubicBezTo>
                  <a:pt x="2733571" y="54170"/>
                  <a:pt x="2997997" y="-48885"/>
                  <a:pt x="3182691" y="0"/>
                </a:cubicBezTo>
                <a:cubicBezTo>
                  <a:pt x="3182657" y="4844"/>
                  <a:pt x="3182281" y="11009"/>
                  <a:pt x="3182691" y="18288"/>
                </a:cubicBezTo>
                <a:cubicBezTo>
                  <a:pt x="2941063" y="3169"/>
                  <a:pt x="2872422" y="16194"/>
                  <a:pt x="2609807" y="18288"/>
                </a:cubicBezTo>
                <a:cubicBezTo>
                  <a:pt x="2341801" y="10032"/>
                  <a:pt x="2328606" y="28832"/>
                  <a:pt x="2068749" y="18288"/>
                </a:cubicBezTo>
                <a:cubicBezTo>
                  <a:pt x="1813820" y="1121"/>
                  <a:pt x="1714804" y="37605"/>
                  <a:pt x="1432211" y="18288"/>
                </a:cubicBezTo>
                <a:cubicBezTo>
                  <a:pt x="1164810" y="-27006"/>
                  <a:pt x="993140" y="27575"/>
                  <a:pt x="859327" y="18288"/>
                </a:cubicBezTo>
                <a:cubicBezTo>
                  <a:pt x="750703" y="-24974"/>
                  <a:pt x="236193" y="38731"/>
                  <a:pt x="0" y="18288"/>
                </a:cubicBezTo>
                <a:cubicBezTo>
                  <a:pt x="-649" y="11698"/>
                  <a:pt x="663" y="5413"/>
                  <a:pt x="0" y="0"/>
                </a:cubicBezTo>
                <a:close/>
              </a:path>
              <a:path w="3182691" h="18288" stroke="0" extrusionOk="0">
                <a:moveTo>
                  <a:pt x="0" y="0"/>
                </a:moveTo>
                <a:cubicBezTo>
                  <a:pt x="243084" y="-23531"/>
                  <a:pt x="399010" y="-30989"/>
                  <a:pt x="572884" y="0"/>
                </a:cubicBezTo>
                <a:cubicBezTo>
                  <a:pt x="745196" y="46048"/>
                  <a:pt x="956262" y="22379"/>
                  <a:pt x="1113942" y="0"/>
                </a:cubicBezTo>
                <a:cubicBezTo>
                  <a:pt x="1345494" y="6575"/>
                  <a:pt x="1537971" y="57434"/>
                  <a:pt x="1686826" y="0"/>
                </a:cubicBezTo>
                <a:cubicBezTo>
                  <a:pt x="1847487" y="-5870"/>
                  <a:pt x="2194651" y="-1232"/>
                  <a:pt x="2323364" y="0"/>
                </a:cubicBezTo>
                <a:cubicBezTo>
                  <a:pt x="2488731" y="36406"/>
                  <a:pt x="2902092" y="-40336"/>
                  <a:pt x="3182691" y="0"/>
                </a:cubicBezTo>
                <a:cubicBezTo>
                  <a:pt x="3182166" y="5049"/>
                  <a:pt x="3182884" y="12044"/>
                  <a:pt x="3182691" y="18288"/>
                </a:cubicBezTo>
                <a:cubicBezTo>
                  <a:pt x="3012562" y="-37820"/>
                  <a:pt x="2765408" y="35618"/>
                  <a:pt x="2546153" y="18288"/>
                </a:cubicBezTo>
                <a:cubicBezTo>
                  <a:pt x="2331952" y="13878"/>
                  <a:pt x="2142129" y="19805"/>
                  <a:pt x="1845961" y="18288"/>
                </a:cubicBezTo>
                <a:cubicBezTo>
                  <a:pt x="1537526" y="31994"/>
                  <a:pt x="1468653" y="-6175"/>
                  <a:pt x="1304903" y="18288"/>
                </a:cubicBezTo>
                <a:cubicBezTo>
                  <a:pt x="1191987" y="26138"/>
                  <a:pt x="927061" y="14626"/>
                  <a:pt x="604711" y="18288"/>
                </a:cubicBezTo>
                <a:cubicBezTo>
                  <a:pt x="273947" y="45577"/>
                  <a:pt x="111622" y="-24554"/>
                  <a:pt x="0" y="18288"/>
                </a:cubicBezTo>
                <a:cubicBezTo>
                  <a:pt x="-39" y="12511"/>
                  <a:pt x="-381" y="8039"/>
                  <a:pt x="0" y="0"/>
                </a:cubicBezTo>
                <a:close/>
              </a:path>
              <a:path w="3182691" h="18288" fill="none" stroke="0" extrusionOk="0">
                <a:moveTo>
                  <a:pt x="0" y="0"/>
                </a:moveTo>
                <a:cubicBezTo>
                  <a:pt x="245832" y="29445"/>
                  <a:pt x="388924" y="-28919"/>
                  <a:pt x="636538" y="0"/>
                </a:cubicBezTo>
                <a:cubicBezTo>
                  <a:pt x="838014" y="3247"/>
                  <a:pt x="1005059" y="8075"/>
                  <a:pt x="1273076" y="0"/>
                </a:cubicBezTo>
                <a:cubicBezTo>
                  <a:pt x="1555121" y="-15110"/>
                  <a:pt x="1674116" y="-4878"/>
                  <a:pt x="1909615" y="0"/>
                </a:cubicBezTo>
                <a:cubicBezTo>
                  <a:pt x="2127874" y="21642"/>
                  <a:pt x="2229467" y="-10228"/>
                  <a:pt x="2482499" y="0"/>
                </a:cubicBezTo>
                <a:cubicBezTo>
                  <a:pt x="2772379" y="28915"/>
                  <a:pt x="3003217" y="-43687"/>
                  <a:pt x="3182691" y="0"/>
                </a:cubicBezTo>
                <a:cubicBezTo>
                  <a:pt x="3183005" y="4158"/>
                  <a:pt x="3181712" y="12539"/>
                  <a:pt x="3182691" y="18288"/>
                </a:cubicBezTo>
                <a:cubicBezTo>
                  <a:pt x="2948637" y="17089"/>
                  <a:pt x="2873728" y="22327"/>
                  <a:pt x="2609807" y="18288"/>
                </a:cubicBezTo>
                <a:cubicBezTo>
                  <a:pt x="2342839" y="11870"/>
                  <a:pt x="2331621" y="30535"/>
                  <a:pt x="2068749" y="18288"/>
                </a:cubicBezTo>
                <a:cubicBezTo>
                  <a:pt x="1813814" y="-7352"/>
                  <a:pt x="1700576" y="36739"/>
                  <a:pt x="1432211" y="18288"/>
                </a:cubicBezTo>
                <a:cubicBezTo>
                  <a:pt x="1148444" y="-27053"/>
                  <a:pt x="987622" y="2403"/>
                  <a:pt x="859327" y="18288"/>
                </a:cubicBezTo>
                <a:cubicBezTo>
                  <a:pt x="743387" y="37422"/>
                  <a:pt x="194182" y="18789"/>
                  <a:pt x="0" y="18288"/>
                </a:cubicBezTo>
                <a:cubicBezTo>
                  <a:pt x="20" y="11469"/>
                  <a:pt x="-29" y="5154"/>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727557108">
                  <a:custGeom>
                    <a:avLst/>
                    <a:gdLst>
                      <a:gd name="connsiteX0" fmla="*/ 0 w 3182691"/>
                      <a:gd name="connsiteY0" fmla="*/ 0 h 18288"/>
                      <a:gd name="connsiteX1" fmla="*/ 636538 w 3182691"/>
                      <a:gd name="connsiteY1" fmla="*/ 0 h 18288"/>
                      <a:gd name="connsiteX2" fmla="*/ 1273076 w 3182691"/>
                      <a:gd name="connsiteY2" fmla="*/ 0 h 18288"/>
                      <a:gd name="connsiteX3" fmla="*/ 1909615 w 3182691"/>
                      <a:gd name="connsiteY3" fmla="*/ 0 h 18288"/>
                      <a:gd name="connsiteX4" fmla="*/ 2482499 w 3182691"/>
                      <a:gd name="connsiteY4" fmla="*/ 0 h 18288"/>
                      <a:gd name="connsiteX5" fmla="*/ 3182691 w 3182691"/>
                      <a:gd name="connsiteY5" fmla="*/ 0 h 18288"/>
                      <a:gd name="connsiteX6" fmla="*/ 3182691 w 3182691"/>
                      <a:gd name="connsiteY6" fmla="*/ 18288 h 18288"/>
                      <a:gd name="connsiteX7" fmla="*/ 2609807 w 3182691"/>
                      <a:gd name="connsiteY7" fmla="*/ 18288 h 18288"/>
                      <a:gd name="connsiteX8" fmla="*/ 2068749 w 3182691"/>
                      <a:gd name="connsiteY8" fmla="*/ 18288 h 18288"/>
                      <a:gd name="connsiteX9" fmla="*/ 1432211 w 3182691"/>
                      <a:gd name="connsiteY9" fmla="*/ 18288 h 18288"/>
                      <a:gd name="connsiteX10" fmla="*/ 859327 w 3182691"/>
                      <a:gd name="connsiteY10" fmla="*/ 18288 h 18288"/>
                      <a:gd name="connsiteX11" fmla="*/ 0 w 3182691"/>
                      <a:gd name="connsiteY11" fmla="*/ 18288 h 18288"/>
                      <a:gd name="connsiteX12" fmla="*/ 0 w 3182691"/>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182691" h="18288" fill="none" extrusionOk="0">
                        <a:moveTo>
                          <a:pt x="0" y="0"/>
                        </a:moveTo>
                        <a:cubicBezTo>
                          <a:pt x="253588" y="25878"/>
                          <a:pt x="409323" y="-5359"/>
                          <a:pt x="636538" y="0"/>
                        </a:cubicBezTo>
                        <a:cubicBezTo>
                          <a:pt x="863753" y="5359"/>
                          <a:pt x="1013406" y="3458"/>
                          <a:pt x="1273076" y="0"/>
                        </a:cubicBezTo>
                        <a:cubicBezTo>
                          <a:pt x="1532746" y="-3458"/>
                          <a:pt x="1697408" y="-16840"/>
                          <a:pt x="1909615" y="0"/>
                        </a:cubicBezTo>
                        <a:cubicBezTo>
                          <a:pt x="2121822" y="16840"/>
                          <a:pt x="2213494" y="-18555"/>
                          <a:pt x="2482499" y="0"/>
                        </a:cubicBezTo>
                        <a:cubicBezTo>
                          <a:pt x="2751504" y="18555"/>
                          <a:pt x="3004132" y="-28750"/>
                          <a:pt x="3182691" y="0"/>
                        </a:cubicBezTo>
                        <a:cubicBezTo>
                          <a:pt x="3183133" y="4516"/>
                          <a:pt x="3181864" y="12266"/>
                          <a:pt x="3182691" y="18288"/>
                        </a:cubicBezTo>
                        <a:cubicBezTo>
                          <a:pt x="2947041" y="16687"/>
                          <a:pt x="2875741" y="22937"/>
                          <a:pt x="2609807" y="18288"/>
                        </a:cubicBezTo>
                        <a:cubicBezTo>
                          <a:pt x="2343873" y="13639"/>
                          <a:pt x="2331203" y="31729"/>
                          <a:pt x="2068749" y="18288"/>
                        </a:cubicBezTo>
                        <a:cubicBezTo>
                          <a:pt x="1806295" y="4847"/>
                          <a:pt x="1713773" y="47088"/>
                          <a:pt x="1432211" y="18288"/>
                        </a:cubicBezTo>
                        <a:cubicBezTo>
                          <a:pt x="1150649" y="-10512"/>
                          <a:pt x="982765" y="3747"/>
                          <a:pt x="859327" y="18288"/>
                        </a:cubicBezTo>
                        <a:cubicBezTo>
                          <a:pt x="735889" y="32829"/>
                          <a:pt x="254183" y="35231"/>
                          <a:pt x="0" y="18288"/>
                        </a:cubicBezTo>
                        <a:cubicBezTo>
                          <a:pt x="-306" y="11477"/>
                          <a:pt x="485" y="4355"/>
                          <a:pt x="0" y="0"/>
                        </a:cubicBezTo>
                        <a:close/>
                      </a:path>
                      <a:path w="3182691" h="18288" stroke="0" extrusionOk="0">
                        <a:moveTo>
                          <a:pt x="0" y="0"/>
                        </a:moveTo>
                        <a:cubicBezTo>
                          <a:pt x="247695" y="-19360"/>
                          <a:pt x="392581" y="-28596"/>
                          <a:pt x="572884" y="0"/>
                        </a:cubicBezTo>
                        <a:cubicBezTo>
                          <a:pt x="753187" y="28596"/>
                          <a:pt x="922042" y="4121"/>
                          <a:pt x="1113942" y="0"/>
                        </a:cubicBezTo>
                        <a:cubicBezTo>
                          <a:pt x="1305842" y="-4121"/>
                          <a:pt x="1501806" y="28092"/>
                          <a:pt x="1686826" y="0"/>
                        </a:cubicBezTo>
                        <a:cubicBezTo>
                          <a:pt x="1871846" y="-28092"/>
                          <a:pt x="2170181" y="-20672"/>
                          <a:pt x="2323364" y="0"/>
                        </a:cubicBezTo>
                        <a:cubicBezTo>
                          <a:pt x="2476547" y="20672"/>
                          <a:pt x="2919163" y="6097"/>
                          <a:pt x="3182691" y="0"/>
                        </a:cubicBezTo>
                        <a:cubicBezTo>
                          <a:pt x="3183268" y="4624"/>
                          <a:pt x="3183510" y="11191"/>
                          <a:pt x="3182691" y="18288"/>
                        </a:cubicBezTo>
                        <a:cubicBezTo>
                          <a:pt x="3026064" y="-10849"/>
                          <a:pt x="2775005" y="23067"/>
                          <a:pt x="2546153" y="18288"/>
                        </a:cubicBezTo>
                        <a:cubicBezTo>
                          <a:pt x="2317301" y="13509"/>
                          <a:pt x="2164351" y="-9884"/>
                          <a:pt x="1845961" y="18288"/>
                        </a:cubicBezTo>
                        <a:cubicBezTo>
                          <a:pt x="1527571" y="46460"/>
                          <a:pt x="1455006" y="5824"/>
                          <a:pt x="1304903" y="18288"/>
                        </a:cubicBezTo>
                        <a:cubicBezTo>
                          <a:pt x="1154800" y="30752"/>
                          <a:pt x="942107" y="-12056"/>
                          <a:pt x="604711" y="18288"/>
                        </a:cubicBezTo>
                        <a:cubicBezTo>
                          <a:pt x="267315" y="48632"/>
                          <a:pt x="141927" y="-8395"/>
                          <a:pt x="0" y="18288"/>
                        </a:cubicBezTo>
                        <a:cubicBezTo>
                          <a:pt x="-171" y="12755"/>
                          <a:pt x="-690" y="7930"/>
                          <a:pt x="0" y="0"/>
                        </a:cubicBezTo>
                        <a:close/>
                      </a:path>
                    </a:pathLst>
                  </a:cu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Content Placeholder 3"/>
          <p:cNvSpPr>
            <a:spLocks noGrp="1"/>
          </p:cNvSpPr>
          <p:nvPr>
            <p:ph idx="1"/>
          </p:nvPr>
        </p:nvSpPr>
        <p:spPr>
          <a:xfrm>
            <a:off x="3490722" y="2706624"/>
            <a:ext cx="5170932" cy="3483864"/>
          </a:xfrm>
        </p:spPr>
        <p:txBody>
          <a:bodyPr>
            <a:normAutofit/>
          </a:bodyPr>
          <a:lstStyle/>
          <a:p>
            <a:pPr marL="0" indent="0">
              <a:buNone/>
            </a:pPr>
            <a:r>
              <a:rPr lang="en-US" sz="1900"/>
              <a:t>The Demand-Withdraw Pattern and Stonewalling </a:t>
            </a:r>
          </a:p>
          <a:p>
            <a:r>
              <a:rPr lang="en-US" sz="1900"/>
              <a:t>Four-step pattern particularly destructive to relationships</a:t>
            </a:r>
          </a:p>
          <a:p>
            <a:r>
              <a:rPr lang="en-US" sz="1900"/>
              <a:t>Stonewalling: A passive-aggressive attempt to punish the other person</a:t>
            </a:r>
          </a:p>
          <a:p>
            <a:r>
              <a:rPr lang="en-US" sz="1900"/>
              <a:t>Demand-withdrawal pattern of marital communication </a:t>
            </a:r>
          </a:p>
        </p:txBody>
      </p:sp>
      <p:sp>
        <p:nvSpPr>
          <p:cNvPr id="6" name="Footer Placeholder 5"/>
          <p:cNvSpPr>
            <a:spLocks noGrp="1"/>
          </p:cNvSpPr>
          <p:nvPr>
            <p:ph type="ftr" sz="quarter" idx="11"/>
          </p:nvPr>
        </p:nvSpPr>
        <p:spPr>
          <a:xfrm>
            <a:off x="3490722" y="6356350"/>
            <a:ext cx="3086100" cy="365125"/>
          </a:xfrm>
        </p:spPr>
        <p:txBody>
          <a:bodyPr>
            <a:normAutofit/>
          </a:bodyPr>
          <a:lstStyle/>
          <a:p>
            <a:pPr algn="l">
              <a:lnSpc>
                <a:spcPct val="90000"/>
              </a:lnSpc>
              <a:spcAft>
                <a:spcPts val="600"/>
              </a:spcAft>
            </a:pPr>
            <a:r>
              <a:rPr lang="en-US" sz="900">
                <a:effectLst/>
                <a:latin typeface="Arial" panose="020B0604020202020204" pitchFamily="34" charset="0"/>
                <a:ea typeface="Calibri" panose="020F0502020204030204" pitchFamily="34" charset="0"/>
              </a:rPr>
              <a:t>Compton, </a:t>
            </a:r>
            <a:r>
              <a:rPr lang="en-US" sz="900" i="1">
                <a:effectLst/>
                <a:latin typeface="Arial" panose="020B0604020202020204" pitchFamily="34" charset="0"/>
                <a:ea typeface="Calibri" panose="020F0502020204030204" pitchFamily="34" charset="0"/>
              </a:rPr>
              <a:t>Positive Psychology, 3e</a:t>
            </a:r>
            <a:r>
              <a:rPr lang="en-US" sz="900">
                <a:effectLst/>
                <a:latin typeface="Arial" panose="020B0604020202020204" pitchFamily="34" charset="0"/>
                <a:ea typeface="Calibri" panose="020F0502020204030204" pitchFamily="34" charset="0"/>
              </a:rPr>
              <a:t>.</a:t>
            </a:r>
            <a:r>
              <a:rPr lang="en-US" sz="900" kern="1200">
                <a:effectLst/>
                <a:latin typeface="Arial" panose="020B0604020202020204" pitchFamily="34" charset="0"/>
                <a:ea typeface="Times New Roman" panose="02020603050405020304" pitchFamily="18" charset="0"/>
              </a:rPr>
              <a:t> </a:t>
            </a:r>
            <a:r>
              <a:rPr lang="en-US" sz="900">
                <a:effectLst/>
                <a:latin typeface="Arial" panose="020B0604020202020204" pitchFamily="34" charset="0"/>
                <a:ea typeface="Times New Roman" panose="02020603050405020304" pitchFamily="18" charset="0"/>
              </a:rPr>
              <a:t>© SAGE Publications, 2020.</a:t>
            </a:r>
            <a:endParaRPr lang="en-US" sz="900"/>
          </a:p>
        </p:txBody>
      </p:sp>
      <p:sp>
        <p:nvSpPr>
          <p:cNvPr id="5" name="Slide Number Placeholder 4"/>
          <p:cNvSpPr>
            <a:spLocks noGrp="1"/>
          </p:cNvSpPr>
          <p:nvPr>
            <p:ph type="sldNum" sz="quarter" idx="12"/>
          </p:nvPr>
        </p:nvSpPr>
        <p:spPr>
          <a:xfrm>
            <a:off x="6457950" y="6356350"/>
            <a:ext cx="2057400" cy="365125"/>
          </a:xfrm>
          <a:prstGeom prst="rect">
            <a:avLst/>
          </a:prstGeom>
        </p:spPr>
        <p:txBody>
          <a:bodyPr vert="horz" lIns="91440" tIns="45720" rIns="91440" bIns="45720" rtlCol="0">
            <a:normAutofit/>
          </a:bodyPr>
          <a:lstStyle>
            <a:defPPr>
              <a:defRPr lang="en-US"/>
            </a:defPPr>
            <a:lvl1pPr marL="0" algn="r" defTabSz="914400" rtl="0" eaLnBrk="1" latinLnBrk="0" hangingPunct="1">
              <a:defRPr sz="1000" kern="1200" baseline="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600"/>
              </a:spcAft>
            </a:pPr>
            <a:fld id="{B6F15528-21DE-4FAA-801E-634DDDAF4B2B}" type="slidenum">
              <a:rPr lang="en-US" smtClean="0"/>
              <a:pPr>
                <a:spcAft>
                  <a:spcPts val="600"/>
                </a:spcAft>
              </a:pPr>
              <a:t>32</a:t>
            </a:fld>
            <a:endParaRPr lang="en-US"/>
          </a:p>
        </p:txBody>
      </p:sp>
    </p:spTree>
    <p:extLst>
      <p:ext uri="{BB962C8B-B14F-4D97-AF65-F5344CB8AC3E}">
        <p14:creationId xmlns:p14="http://schemas.microsoft.com/office/powerpoint/2010/main" val="213255812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Title 1"/>
          <p:cNvSpPr>
            <a:spLocks noGrp="1"/>
          </p:cNvSpPr>
          <p:nvPr>
            <p:ph type="title"/>
          </p:nvPr>
        </p:nvSpPr>
        <p:spPr>
          <a:xfrm>
            <a:off x="423231" y="750095"/>
            <a:ext cx="8229600" cy="1143000"/>
          </a:xfrm>
        </p:spPr>
        <p:txBody>
          <a:bodyPr>
            <a:normAutofit fontScale="90000"/>
          </a:bodyPr>
          <a:lstStyle/>
          <a:p>
            <a:pPr algn="ctr"/>
            <a:r>
              <a:rPr lang="en-US" altLang="en-US" dirty="0" err="1"/>
              <a:t>Gottman’s</a:t>
            </a:r>
            <a:r>
              <a:rPr lang="en-US" altLang="en-US" dirty="0"/>
              <a:t> </a:t>
            </a:r>
            <a:r>
              <a:rPr lang="en-US" altLang="en-US" sz="4000" dirty="0"/>
              <a:t>Multidimensional </a:t>
            </a:r>
            <a:br>
              <a:rPr lang="en-US" altLang="en-US" sz="4000" dirty="0"/>
            </a:br>
            <a:r>
              <a:rPr lang="en-US" altLang="en-US" sz="4000" dirty="0"/>
              <a:t>Therapy Approach</a:t>
            </a:r>
            <a:endParaRPr lang="en-US" altLang="en-US" dirty="0"/>
          </a:p>
        </p:txBody>
      </p:sp>
      <p:sp>
        <p:nvSpPr>
          <p:cNvPr id="59395" name="Text Placeholder 2"/>
          <p:cNvSpPr>
            <a:spLocks noGrp="1"/>
          </p:cNvSpPr>
          <p:nvPr>
            <p:ph type="body" idx="1"/>
          </p:nvPr>
        </p:nvSpPr>
        <p:spPr>
          <a:xfrm>
            <a:off x="457200" y="2514600"/>
            <a:ext cx="4040188" cy="639763"/>
          </a:xfrm>
        </p:spPr>
        <p:txBody>
          <a:bodyPr/>
          <a:lstStyle/>
          <a:p>
            <a:pPr algn="ctr"/>
            <a:r>
              <a:rPr lang="en-US" altLang="en-US"/>
              <a:t>Relationship </a:t>
            </a:r>
          </a:p>
          <a:p>
            <a:pPr algn="ctr"/>
            <a:r>
              <a:rPr lang="en-US" altLang="en-US"/>
              <a:t>Undermining Behaviors</a:t>
            </a:r>
          </a:p>
        </p:txBody>
      </p:sp>
      <p:sp>
        <p:nvSpPr>
          <p:cNvPr id="59396" name="Content Placeholder 3"/>
          <p:cNvSpPr>
            <a:spLocks noGrp="1"/>
          </p:cNvSpPr>
          <p:nvPr>
            <p:ph sz="half" idx="2"/>
          </p:nvPr>
        </p:nvSpPr>
        <p:spPr>
          <a:xfrm>
            <a:off x="886858" y="3440111"/>
            <a:ext cx="3657600" cy="3951287"/>
          </a:xfrm>
        </p:spPr>
        <p:txBody>
          <a:bodyPr/>
          <a:lstStyle/>
          <a:p>
            <a:pPr marL="457200" indent="-457200">
              <a:buFont typeface="Wingdings" panose="05000000000000000000" pitchFamily="2" charset="2"/>
              <a:buAutoNum type="arabicPeriod"/>
            </a:pPr>
            <a:r>
              <a:rPr lang="en-US" altLang="en-US" sz="3200" dirty="0"/>
              <a:t>Criticism</a:t>
            </a:r>
          </a:p>
          <a:p>
            <a:pPr marL="457200" indent="-457200">
              <a:buFont typeface="Wingdings" panose="05000000000000000000" pitchFamily="2" charset="2"/>
              <a:buAutoNum type="arabicPeriod"/>
            </a:pPr>
            <a:r>
              <a:rPr lang="en-US" altLang="en-US" sz="3200" dirty="0"/>
              <a:t>Contempt</a:t>
            </a:r>
          </a:p>
          <a:p>
            <a:pPr marL="457200" indent="-457200">
              <a:buFont typeface="Wingdings" panose="05000000000000000000" pitchFamily="2" charset="2"/>
              <a:buAutoNum type="arabicPeriod"/>
            </a:pPr>
            <a:r>
              <a:rPr lang="en-US" altLang="en-US" sz="3200" dirty="0"/>
              <a:t>Defensiveness</a:t>
            </a:r>
          </a:p>
          <a:p>
            <a:pPr marL="457200" indent="-457200">
              <a:buFont typeface="Wingdings" panose="05000000000000000000" pitchFamily="2" charset="2"/>
              <a:buAutoNum type="arabicPeriod"/>
            </a:pPr>
            <a:r>
              <a:rPr lang="en-US" altLang="en-US" sz="3200" dirty="0"/>
              <a:t>Stonewalling</a:t>
            </a:r>
          </a:p>
        </p:txBody>
      </p:sp>
      <p:sp>
        <p:nvSpPr>
          <p:cNvPr id="59397" name="Text Placeholder 4"/>
          <p:cNvSpPr>
            <a:spLocks noGrp="1"/>
          </p:cNvSpPr>
          <p:nvPr>
            <p:ph type="body" sz="quarter" idx="3"/>
          </p:nvPr>
        </p:nvSpPr>
        <p:spPr>
          <a:xfrm>
            <a:off x="4645025" y="2514600"/>
            <a:ext cx="4041775" cy="639763"/>
          </a:xfrm>
        </p:spPr>
        <p:txBody>
          <a:bodyPr/>
          <a:lstStyle/>
          <a:p>
            <a:pPr algn="ctr"/>
            <a:r>
              <a:rPr lang="en-US" altLang="en-US"/>
              <a:t>Replace With Relationship Enhancing Behaviors</a:t>
            </a:r>
          </a:p>
        </p:txBody>
      </p:sp>
      <p:sp>
        <p:nvSpPr>
          <p:cNvPr id="59398" name="Content Placeholder 5"/>
          <p:cNvSpPr>
            <a:spLocks noGrp="1"/>
          </p:cNvSpPr>
          <p:nvPr>
            <p:ph sz="quarter" idx="4"/>
          </p:nvPr>
        </p:nvSpPr>
        <p:spPr>
          <a:xfrm>
            <a:off x="5111407" y="3440112"/>
            <a:ext cx="3422994" cy="3951287"/>
          </a:xfrm>
        </p:spPr>
        <p:txBody>
          <a:bodyPr/>
          <a:lstStyle/>
          <a:p>
            <a:pPr marL="457200" indent="-457200">
              <a:buFont typeface="Wingdings" panose="05000000000000000000" pitchFamily="2" charset="2"/>
              <a:buAutoNum type="arabicPeriod"/>
            </a:pPr>
            <a:r>
              <a:rPr lang="en-US" altLang="en-US" sz="3200" dirty="0"/>
              <a:t>Complaint</a:t>
            </a:r>
          </a:p>
          <a:p>
            <a:pPr marL="457200" indent="-457200">
              <a:buFont typeface="Wingdings" panose="05000000000000000000" pitchFamily="2" charset="2"/>
              <a:buAutoNum type="arabicPeriod"/>
            </a:pPr>
            <a:r>
              <a:rPr lang="en-US" altLang="en-US" sz="3200" dirty="0"/>
              <a:t>Appreciation</a:t>
            </a:r>
          </a:p>
          <a:p>
            <a:pPr marL="457200" indent="-457200">
              <a:buFont typeface="Wingdings" panose="05000000000000000000" pitchFamily="2" charset="2"/>
              <a:buAutoNum type="arabicPeriod"/>
            </a:pPr>
            <a:r>
              <a:rPr lang="en-US" altLang="en-US" sz="3200" dirty="0"/>
              <a:t>Responsibility</a:t>
            </a:r>
          </a:p>
          <a:p>
            <a:pPr marL="457200" indent="-457200">
              <a:buFont typeface="Wingdings" panose="05000000000000000000" pitchFamily="2" charset="2"/>
              <a:buAutoNum type="arabicPeriod"/>
            </a:pPr>
            <a:r>
              <a:rPr lang="en-US" altLang="en-US" sz="3200" dirty="0"/>
              <a:t>Self-soothing</a:t>
            </a:r>
          </a:p>
        </p:txBody>
      </p:sp>
      <p:sp>
        <p:nvSpPr>
          <p:cNvPr id="7" name="Footer Placeholder 6"/>
          <p:cNvSpPr>
            <a:spLocks noGrp="1"/>
          </p:cNvSpPr>
          <p:nvPr>
            <p:ph type="ftr" sz="quarter" idx="11"/>
          </p:nvPr>
        </p:nvSpPr>
        <p:spPr>
          <a:xfrm>
            <a:off x="2819400" y="6248400"/>
            <a:ext cx="3200400" cy="457200"/>
          </a:xfrm>
        </p:spPr>
        <p:txBody>
          <a:bodyPr/>
          <a:lstStyle/>
          <a:p>
            <a:pPr>
              <a:defRPr/>
            </a:pPr>
            <a:r>
              <a:rPr lang="en-US" altLang="en-US"/>
              <a:t>Positive Psychology: The Scientific and Practical Explorations of Human Strengths © 2014 SAGE</a:t>
            </a:r>
          </a:p>
        </p:txBody>
      </p:sp>
    </p:spTree>
    <p:extLst>
      <p:ext uri="{BB962C8B-B14F-4D97-AF65-F5344CB8AC3E}">
        <p14:creationId xmlns:p14="http://schemas.microsoft.com/office/powerpoint/2010/main" val="165647552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1454" name="Rectangle 61448">
            <a:extLst>
              <a:ext uri="{FF2B5EF4-FFF2-40B4-BE49-F238E27FC236}">
                <a16:creationId xmlns:a16="http://schemas.microsoft.com/office/drawing/2014/main" id="{12609869-9E80-471B-A487-A53288E0E7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442" name="Title 1"/>
          <p:cNvSpPr>
            <a:spLocks noGrp="1"/>
          </p:cNvSpPr>
          <p:nvPr>
            <p:ph type="title"/>
          </p:nvPr>
        </p:nvSpPr>
        <p:spPr>
          <a:xfrm>
            <a:off x="852297" y="502020"/>
            <a:ext cx="4350324" cy="1169125"/>
          </a:xfrm>
        </p:spPr>
        <p:txBody>
          <a:bodyPr anchor="b">
            <a:normAutofit/>
          </a:bodyPr>
          <a:lstStyle/>
          <a:p>
            <a:r>
              <a:rPr lang="en-US" altLang="en-US" sz="3500" dirty="0"/>
              <a:t>Gottman 4 Horsemen of Apocalypse</a:t>
            </a:r>
          </a:p>
        </p:txBody>
      </p:sp>
      <p:sp>
        <p:nvSpPr>
          <p:cNvPr id="3" name="Content Placeholder 2"/>
          <p:cNvSpPr>
            <a:spLocks noGrp="1"/>
          </p:cNvSpPr>
          <p:nvPr>
            <p:ph idx="1"/>
          </p:nvPr>
        </p:nvSpPr>
        <p:spPr>
          <a:xfrm>
            <a:off x="858692" y="1860331"/>
            <a:ext cx="4186274" cy="4540035"/>
          </a:xfrm>
        </p:spPr>
        <p:txBody>
          <a:bodyPr anchor="t">
            <a:normAutofit lnSpcReduction="10000"/>
          </a:bodyPr>
          <a:lstStyle/>
          <a:p>
            <a:pPr>
              <a:defRPr/>
            </a:pPr>
            <a:r>
              <a:rPr lang="en-US" sz="2000" dirty="0"/>
              <a:t>Criticism</a:t>
            </a:r>
          </a:p>
          <a:p>
            <a:pPr lvl="1">
              <a:defRPr/>
            </a:pPr>
            <a:r>
              <a:rPr lang="en-US" sz="2000" dirty="0"/>
              <a:t>Complaint vs. criticism</a:t>
            </a:r>
          </a:p>
          <a:p>
            <a:pPr lvl="1">
              <a:defRPr/>
            </a:pPr>
            <a:r>
              <a:rPr lang="en-US" sz="2000" dirty="0"/>
              <a:t>Complaining is normal and focuses on behavior</a:t>
            </a:r>
          </a:p>
          <a:p>
            <a:pPr lvl="1">
              <a:defRPr/>
            </a:pPr>
            <a:r>
              <a:rPr lang="en-US" sz="2000" dirty="0"/>
              <a:t>Criticism attacks the character of the person</a:t>
            </a:r>
          </a:p>
          <a:p>
            <a:pPr>
              <a:defRPr/>
            </a:pPr>
            <a:r>
              <a:rPr lang="en-US" sz="2000" dirty="0"/>
              <a:t>Complaint: "You should have told me earlier that you're too tired to make love. I'm disappointed, and I feel embarrassed." </a:t>
            </a:r>
          </a:p>
          <a:p>
            <a:pPr>
              <a:defRPr/>
            </a:pPr>
            <a:r>
              <a:rPr lang="en-US" sz="2000" dirty="0"/>
              <a:t>Criticism: "Why are you so selfish? It was really nasty of you to lead me on. You should have told me earlier that you were too tired to make love." </a:t>
            </a:r>
          </a:p>
          <a:p>
            <a:pPr marL="344487" lvl="1" indent="0">
              <a:buFont typeface="Wingdings" panose="05000000000000000000" pitchFamily="2" charset="2"/>
              <a:buNone/>
              <a:defRPr/>
            </a:pPr>
            <a:endParaRPr lang="en-US" sz="1600" dirty="0"/>
          </a:p>
        </p:txBody>
      </p:sp>
      <p:sp>
        <p:nvSpPr>
          <p:cNvPr id="61456" name="Rectangle 61450">
            <a:extLst>
              <a:ext uri="{FF2B5EF4-FFF2-40B4-BE49-F238E27FC236}">
                <a16:creationId xmlns:a16="http://schemas.microsoft.com/office/drawing/2014/main" id="{7004738A-9D34-43E8-97D2-CA0EED4F8B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092499" y="-5"/>
            <a:ext cx="3069391" cy="6858000"/>
          </a:xfrm>
          <a:prstGeom prst="rect">
            <a:avLst/>
          </a:prstGeom>
          <a:gradFill>
            <a:gsLst>
              <a:gs pos="8000">
                <a:srgbClr val="000000">
                  <a:alpha val="94000"/>
                </a:srgbClr>
              </a:gs>
              <a:gs pos="100000">
                <a:schemeClr val="accent1"/>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453" name="Rectangle 61452">
            <a:extLst>
              <a:ext uri="{FF2B5EF4-FFF2-40B4-BE49-F238E27FC236}">
                <a16:creationId xmlns:a16="http://schemas.microsoft.com/office/drawing/2014/main" id="{B8B8D07F-F13E-443E-BA68-2D26672D76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092499" y="-2"/>
            <a:ext cx="3069391" cy="6400369"/>
          </a:xfrm>
          <a:prstGeom prst="rect">
            <a:avLst/>
          </a:prstGeom>
          <a:gradFill>
            <a:gsLst>
              <a:gs pos="31000">
                <a:schemeClr val="accent1">
                  <a:lumMod val="50000"/>
                  <a:alpha val="0"/>
                </a:schemeClr>
              </a:gs>
              <a:gs pos="100000">
                <a:schemeClr val="accent1">
                  <a:lumMod val="50000"/>
                  <a:alpha val="26000"/>
                </a:scheme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1455" name="Rectangle 61454">
            <a:extLst>
              <a:ext uri="{FF2B5EF4-FFF2-40B4-BE49-F238E27FC236}">
                <a16:creationId xmlns:a16="http://schemas.microsoft.com/office/drawing/2014/main" id="{2813A4FA-24A5-41ED-A534-3807D1B2F3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092499" y="-22"/>
            <a:ext cx="3051501" cy="6400389"/>
          </a:xfrm>
          <a:prstGeom prst="rect">
            <a:avLst/>
          </a:prstGeom>
          <a:gradFill>
            <a:gsLst>
              <a:gs pos="0">
                <a:schemeClr val="accent1">
                  <a:alpha val="0"/>
                </a:schemeClr>
              </a:gs>
              <a:gs pos="72000">
                <a:srgbClr val="000000">
                  <a:alpha val="21000"/>
                </a:srgb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1457" name="Rectangle 61456">
            <a:extLst>
              <a:ext uri="{FF2B5EF4-FFF2-40B4-BE49-F238E27FC236}">
                <a16:creationId xmlns:a16="http://schemas.microsoft.com/office/drawing/2014/main" id="{C3944F27-CA70-4E84-A51A-E6BF895589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092499" y="-10"/>
            <a:ext cx="2708601" cy="6857997"/>
          </a:xfrm>
          <a:prstGeom prst="rect">
            <a:avLst/>
          </a:prstGeom>
          <a:gradFill>
            <a:gsLst>
              <a:gs pos="0">
                <a:schemeClr val="accent1">
                  <a:alpha val="0"/>
                </a:schemeClr>
              </a:gs>
              <a:gs pos="93000">
                <a:srgbClr val="000000">
                  <a:alpha val="29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1444" name="Picture 2" descr="Criticism, Part V: Receiving constructive criticism"/>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5306975" y="2438806"/>
            <a:ext cx="3127897" cy="201228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633342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2473" name="Rectangle 62472">
            <a:extLst>
              <a:ext uri="{FF2B5EF4-FFF2-40B4-BE49-F238E27FC236}">
                <a16:creationId xmlns:a16="http://schemas.microsoft.com/office/drawing/2014/main" id="{12609869-9E80-471B-A487-A53288E0E7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466" name="Title 1"/>
          <p:cNvSpPr>
            <a:spLocks noGrp="1"/>
          </p:cNvSpPr>
          <p:nvPr>
            <p:ph type="title"/>
          </p:nvPr>
        </p:nvSpPr>
        <p:spPr>
          <a:xfrm>
            <a:off x="852297" y="502020"/>
            <a:ext cx="3992787" cy="1642970"/>
          </a:xfrm>
        </p:spPr>
        <p:txBody>
          <a:bodyPr anchor="b">
            <a:normAutofit/>
          </a:bodyPr>
          <a:lstStyle/>
          <a:p>
            <a:r>
              <a:rPr lang="en-US" altLang="en-US" sz="3500"/>
              <a:t>Gottman 4 Horsemen of Apocalypse</a:t>
            </a:r>
          </a:p>
        </p:txBody>
      </p:sp>
      <p:sp>
        <p:nvSpPr>
          <p:cNvPr id="3" name="Content Placeholder 2"/>
          <p:cNvSpPr>
            <a:spLocks noGrp="1"/>
          </p:cNvSpPr>
          <p:nvPr>
            <p:ph idx="1"/>
          </p:nvPr>
        </p:nvSpPr>
        <p:spPr>
          <a:xfrm>
            <a:off x="858692" y="2405894"/>
            <a:ext cx="3986392" cy="3535083"/>
          </a:xfrm>
        </p:spPr>
        <p:txBody>
          <a:bodyPr anchor="t">
            <a:normAutofit/>
          </a:bodyPr>
          <a:lstStyle/>
          <a:p>
            <a:pPr>
              <a:defRPr/>
            </a:pPr>
            <a:r>
              <a:rPr lang="en-US" sz="2000" dirty="0"/>
              <a:t>Contempt</a:t>
            </a:r>
          </a:p>
          <a:p>
            <a:pPr lvl="1">
              <a:defRPr/>
            </a:pPr>
            <a:r>
              <a:rPr lang="en-US" sz="2000" dirty="0"/>
              <a:t>Often follows criticism</a:t>
            </a:r>
          </a:p>
          <a:p>
            <a:pPr lvl="1">
              <a:defRPr/>
            </a:pPr>
            <a:r>
              <a:rPr lang="en-US" sz="2000" dirty="0"/>
              <a:t>Person uses "sarcasm, cynicism, name-calling, eye-rolling, sneering, mockery, and hostile humor</a:t>
            </a:r>
          </a:p>
          <a:p>
            <a:pPr>
              <a:defRPr/>
            </a:pPr>
            <a:r>
              <a:rPr lang="en-US" sz="2000" dirty="0"/>
              <a:t>Worst of the 4 because it communicates disgust to the person it is directed toward, which escalates conflict</a:t>
            </a:r>
          </a:p>
          <a:p>
            <a:pPr lvl="1">
              <a:defRPr/>
            </a:pPr>
            <a:endParaRPr lang="en-US" sz="1700" dirty="0"/>
          </a:p>
          <a:p>
            <a:pPr marL="0" indent="0">
              <a:buFont typeface="Wingdings" panose="05000000000000000000" pitchFamily="2" charset="2"/>
              <a:buNone/>
              <a:defRPr/>
            </a:pPr>
            <a:endParaRPr lang="en-US" sz="1700" dirty="0"/>
          </a:p>
        </p:txBody>
      </p:sp>
      <p:sp>
        <p:nvSpPr>
          <p:cNvPr id="62475" name="Rectangle 62474">
            <a:extLst>
              <a:ext uri="{FF2B5EF4-FFF2-40B4-BE49-F238E27FC236}">
                <a16:creationId xmlns:a16="http://schemas.microsoft.com/office/drawing/2014/main" id="{7004738A-9D34-43E8-97D2-CA0EED4F8B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092499" y="-5"/>
            <a:ext cx="3069391" cy="6858000"/>
          </a:xfrm>
          <a:prstGeom prst="rect">
            <a:avLst/>
          </a:prstGeom>
          <a:gradFill>
            <a:gsLst>
              <a:gs pos="8000">
                <a:srgbClr val="000000">
                  <a:alpha val="94000"/>
                </a:srgbClr>
              </a:gs>
              <a:gs pos="100000">
                <a:schemeClr val="accent1"/>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477" name="Rectangle 62476">
            <a:extLst>
              <a:ext uri="{FF2B5EF4-FFF2-40B4-BE49-F238E27FC236}">
                <a16:creationId xmlns:a16="http://schemas.microsoft.com/office/drawing/2014/main" id="{B8B8D07F-F13E-443E-BA68-2D26672D76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092499" y="-2"/>
            <a:ext cx="3069391" cy="6400369"/>
          </a:xfrm>
          <a:prstGeom prst="rect">
            <a:avLst/>
          </a:prstGeom>
          <a:gradFill>
            <a:gsLst>
              <a:gs pos="31000">
                <a:schemeClr val="accent1">
                  <a:lumMod val="50000"/>
                  <a:alpha val="0"/>
                </a:schemeClr>
              </a:gs>
              <a:gs pos="100000">
                <a:schemeClr val="accent1">
                  <a:lumMod val="50000"/>
                  <a:alpha val="26000"/>
                </a:scheme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2479" name="Rectangle 62478">
            <a:extLst>
              <a:ext uri="{FF2B5EF4-FFF2-40B4-BE49-F238E27FC236}">
                <a16:creationId xmlns:a16="http://schemas.microsoft.com/office/drawing/2014/main" id="{2813A4FA-24A5-41ED-A534-3807D1B2F3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092499" y="-22"/>
            <a:ext cx="3051501" cy="6400389"/>
          </a:xfrm>
          <a:prstGeom prst="rect">
            <a:avLst/>
          </a:prstGeom>
          <a:gradFill>
            <a:gsLst>
              <a:gs pos="0">
                <a:schemeClr val="accent1">
                  <a:alpha val="0"/>
                </a:schemeClr>
              </a:gs>
              <a:gs pos="72000">
                <a:srgbClr val="000000">
                  <a:alpha val="21000"/>
                </a:srgb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2481" name="Rectangle 62480">
            <a:extLst>
              <a:ext uri="{FF2B5EF4-FFF2-40B4-BE49-F238E27FC236}">
                <a16:creationId xmlns:a16="http://schemas.microsoft.com/office/drawing/2014/main" id="{C3944F27-CA70-4E84-A51A-E6BF895589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092499" y="-10"/>
            <a:ext cx="2708601" cy="6857997"/>
          </a:xfrm>
          <a:prstGeom prst="rect">
            <a:avLst/>
          </a:prstGeom>
          <a:gradFill>
            <a:gsLst>
              <a:gs pos="0">
                <a:schemeClr val="accent1">
                  <a:alpha val="0"/>
                </a:schemeClr>
              </a:gs>
              <a:gs pos="93000">
                <a:srgbClr val="000000">
                  <a:alpha val="29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2468" name="Picture 4" descr="https://sp.yimg.com/ib/th?id=HN.608036995909291792&amp;pid=15.1&amp;P=0"/>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5306975" y="1912277"/>
            <a:ext cx="3127897" cy="3065339"/>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7242910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3495" name="Rectangle 63494">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497" name="Rectangle 63496">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1"/>
            <a:ext cx="9143997"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499" name="Rectangle 63498">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6086479"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501" name="Rectangle 63500">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86474" y="-1"/>
            <a:ext cx="3057523"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503" name="Rectangle 63502">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4512" y="-1"/>
            <a:ext cx="8799485"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490" name="Title 1"/>
          <p:cNvSpPr>
            <a:spLocks noGrp="1"/>
          </p:cNvSpPr>
          <p:nvPr>
            <p:ph type="title"/>
          </p:nvPr>
        </p:nvSpPr>
        <p:spPr>
          <a:xfrm>
            <a:off x="1028699" y="294538"/>
            <a:ext cx="7421963" cy="1033669"/>
          </a:xfrm>
        </p:spPr>
        <p:txBody>
          <a:bodyPr>
            <a:normAutofit/>
          </a:bodyPr>
          <a:lstStyle/>
          <a:p>
            <a:r>
              <a:rPr lang="en-US" altLang="en-US" sz="3500">
                <a:solidFill>
                  <a:srgbClr val="FFFFFF"/>
                </a:solidFill>
              </a:rPr>
              <a:t>Gottman 4 Horsemen of Apocalypse</a:t>
            </a:r>
          </a:p>
        </p:txBody>
      </p:sp>
      <p:sp>
        <p:nvSpPr>
          <p:cNvPr id="3" name="Content Placeholder 2"/>
          <p:cNvSpPr>
            <a:spLocks noGrp="1"/>
          </p:cNvSpPr>
          <p:nvPr>
            <p:ph idx="1"/>
          </p:nvPr>
        </p:nvSpPr>
        <p:spPr>
          <a:xfrm>
            <a:off x="1028699" y="2318197"/>
            <a:ext cx="7293023" cy="3683358"/>
          </a:xfrm>
        </p:spPr>
        <p:txBody>
          <a:bodyPr anchor="ctr">
            <a:normAutofit/>
          </a:bodyPr>
          <a:lstStyle/>
          <a:p>
            <a:pPr>
              <a:defRPr/>
            </a:pPr>
            <a:r>
              <a:rPr lang="en-US" sz="1700"/>
              <a:t>Defensiveness</a:t>
            </a:r>
          </a:p>
          <a:p>
            <a:pPr lvl="1">
              <a:defRPr/>
            </a:pPr>
            <a:r>
              <a:rPr lang="en-US" sz="1700"/>
              <a:t>When one partner uses contempt, the other typically becomes defensive</a:t>
            </a:r>
          </a:p>
          <a:p>
            <a:pPr marL="344487" lvl="1" indent="0">
              <a:buFont typeface="Wingdings" panose="05000000000000000000" pitchFamily="2" charset="2"/>
              <a:buNone/>
              <a:defRPr/>
            </a:pPr>
            <a:endParaRPr lang="en-US" sz="1700"/>
          </a:p>
          <a:p>
            <a:pPr>
              <a:defRPr/>
            </a:pPr>
            <a:r>
              <a:rPr lang="en-US" sz="1700"/>
              <a:t>Stonewalling</a:t>
            </a:r>
          </a:p>
          <a:p>
            <a:pPr lvl="1">
              <a:defRPr/>
            </a:pPr>
            <a:r>
              <a:rPr lang="en-US" sz="1700"/>
              <a:t>One partner tunes out the other</a:t>
            </a:r>
          </a:p>
          <a:p>
            <a:pPr lvl="1">
              <a:defRPr/>
            </a:pPr>
            <a:r>
              <a:rPr lang="en-US" sz="1700"/>
              <a:t>More common in men than women</a:t>
            </a:r>
          </a:p>
          <a:p>
            <a:pPr lvl="1">
              <a:defRPr/>
            </a:pPr>
            <a:endParaRPr lang="en-US" sz="1700"/>
          </a:p>
          <a:p>
            <a:pPr>
              <a:defRPr/>
            </a:pPr>
            <a:endParaRPr lang="en-US" sz="1700"/>
          </a:p>
        </p:txBody>
      </p:sp>
    </p:spTree>
    <p:extLst>
      <p:ext uri="{BB962C8B-B14F-4D97-AF65-F5344CB8AC3E}">
        <p14:creationId xmlns:p14="http://schemas.microsoft.com/office/powerpoint/2010/main" val="130856910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sz="1050">
                <a:solidFill>
                  <a:srgbClr val="7F7F7F"/>
                </a:solidFill>
                <a:effectLst/>
                <a:latin typeface="Arial" panose="020B0604020202020204" pitchFamily="34" charset="0"/>
                <a:ea typeface="Calibri" panose="020F0502020204030204" pitchFamily="34" charset="0"/>
              </a:rPr>
              <a:t>Compton, </a:t>
            </a:r>
            <a:r>
              <a:rPr lang="en-US" sz="1050" i="1">
                <a:solidFill>
                  <a:srgbClr val="7F7F7F"/>
                </a:solidFill>
                <a:effectLst/>
                <a:latin typeface="Arial" panose="020B0604020202020204" pitchFamily="34" charset="0"/>
                <a:ea typeface="Calibri" panose="020F0502020204030204" pitchFamily="34" charset="0"/>
              </a:rPr>
              <a:t>Positive Psychology, 3e</a:t>
            </a:r>
            <a:r>
              <a:rPr lang="en-US" sz="1050">
                <a:solidFill>
                  <a:srgbClr val="7F7F7F"/>
                </a:solidFill>
                <a:effectLst/>
                <a:latin typeface="Arial" panose="020B0604020202020204" pitchFamily="34" charset="0"/>
                <a:ea typeface="Calibri" panose="020F0502020204030204" pitchFamily="34" charset="0"/>
              </a:rPr>
              <a:t>.</a:t>
            </a:r>
            <a:r>
              <a:rPr lang="en-US" sz="1050" kern="1200">
                <a:solidFill>
                  <a:srgbClr val="7F7F7F"/>
                </a:solidFill>
                <a:effectLst/>
                <a:latin typeface="Arial" panose="020B0604020202020204" pitchFamily="34" charset="0"/>
                <a:ea typeface="Times New Roman" panose="02020603050405020304" pitchFamily="18" charset="0"/>
              </a:rPr>
              <a:t> </a:t>
            </a:r>
            <a:r>
              <a:rPr lang="en-US" sz="1050">
                <a:solidFill>
                  <a:srgbClr val="7F7F7F"/>
                </a:solidFill>
                <a:effectLst/>
                <a:latin typeface="Arial" panose="020B0604020202020204" pitchFamily="34" charset="0"/>
                <a:ea typeface="Times New Roman" panose="02020603050405020304" pitchFamily="18" charset="0"/>
              </a:rPr>
              <a:t>© SAGE Publications, 2020.</a:t>
            </a:r>
            <a:endParaRPr lang="en-US" dirty="0"/>
          </a:p>
        </p:txBody>
      </p:sp>
      <p:sp>
        <p:nvSpPr>
          <p:cNvPr id="3" name="Slide Number Placeholder 2"/>
          <p:cNvSpPr>
            <a:spLocks noGrp="1"/>
          </p:cNvSpPr>
          <p:nvPr>
            <p:ph type="sldNum" sz="quarter" idx="12"/>
          </p:nvPr>
        </p:nvSpPr>
        <p:spPr/>
        <p:txBody>
          <a:bodyPr/>
          <a:lstStyle/>
          <a:p>
            <a:fld id="{B6F15528-21DE-4FAA-801E-634DDDAF4B2B}" type="slidenum">
              <a:rPr lang="en-US" smtClean="0"/>
              <a:pPr/>
              <a:t>37</a:t>
            </a:fld>
            <a:endParaRPr lang="en-US"/>
          </a:p>
        </p:txBody>
      </p:sp>
      <p:pic>
        <p:nvPicPr>
          <p:cNvPr id="4" name="Picture 3"/>
          <p:cNvPicPr>
            <a:picLocks noChangeAspect="1"/>
          </p:cNvPicPr>
          <p:nvPr/>
        </p:nvPicPr>
        <p:blipFill>
          <a:blip r:embed="rId2"/>
          <a:stretch>
            <a:fillRect/>
          </a:stretch>
        </p:blipFill>
        <p:spPr>
          <a:xfrm>
            <a:off x="2928026" y="261537"/>
            <a:ext cx="4461963" cy="6023649"/>
          </a:xfrm>
          <a:prstGeom prst="rect">
            <a:avLst/>
          </a:prstGeom>
        </p:spPr>
      </p:pic>
    </p:spTree>
    <p:extLst>
      <p:ext uri="{BB962C8B-B14F-4D97-AF65-F5344CB8AC3E}">
        <p14:creationId xmlns:p14="http://schemas.microsoft.com/office/powerpoint/2010/main" val="196701316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1">
            <a:extLst>
              <a:ext uri="{FF2B5EF4-FFF2-40B4-BE49-F238E27FC236}">
                <a16:creationId xmlns:a16="http://schemas.microsoft.com/office/drawing/2014/main" id="{2C61293E-6EBE-43EF-A52C-9BEBFD7679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2"/>
          <p:cNvSpPr>
            <a:spLocks noGrp="1"/>
          </p:cNvSpPr>
          <p:nvPr>
            <p:ph type="title"/>
          </p:nvPr>
        </p:nvSpPr>
        <p:spPr>
          <a:xfrm>
            <a:off x="3973321" y="329184"/>
            <a:ext cx="4688333" cy="1783080"/>
          </a:xfrm>
        </p:spPr>
        <p:txBody>
          <a:bodyPr anchor="b">
            <a:normAutofit/>
          </a:bodyPr>
          <a:lstStyle/>
          <a:p>
            <a:r>
              <a:rPr lang="en-US" sz="4000"/>
              <a:t>How to Nurture Positive Relationships That Last</a:t>
            </a:r>
          </a:p>
        </p:txBody>
      </p:sp>
      <p:pic>
        <p:nvPicPr>
          <p:cNvPr id="17" name="Picture 7" descr="Couple holding hands">
            <a:extLst>
              <a:ext uri="{FF2B5EF4-FFF2-40B4-BE49-F238E27FC236}">
                <a16:creationId xmlns:a16="http://schemas.microsoft.com/office/drawing/2014/main" id="{5FCDCF99-141C-FDE5-93C9-40E7C2A0DF1E}"/>
              </a:ext>
            </a:extLst>
          </p:cNvPr>
          <p:cNvPicPr>
            <a:picLocks noChangeAspect="1"/>
          </p:cNvPicPr>
          <p:nvPr/>
        </p:nvPicPr>
        <p:blipFill rotWithShape="1">
          <a:blip r:embed="rId3"/>
          <a:srcRect l="36316" r="22556" b="-1"/>
          <a:stretch/>
        </p:blipFill>
        <p:spPr>
          <a:xfrm>
            <a:off x="20" y="10"/>
            <a:ext cx="3492988" cy="6857990"/>
          </a:xfrm>
          <a:custGeom>
            <a:avLst/>
            <a:gdLst/>
            <a:ahLst/>
            <a:cxnLst/>
            <a:rect l="l" t="t" r="r" b="b"/>
            <a:pathLst>
              <a:path w="4657344" h="6858000">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p:spPr>
      </p:pic>
      <p:sp>
        <p:nvSpPr>
          <p:cNvPr id="18" name="sketchy line">
            <a:extLst>
              <a:ext uri="{FF2B5EF4-FFF2-40B4-BE49-F238E27FC236}">
                <a16:creationId xmlns:a16="http://schemas.microsoft.com/office/drawing/2014/main" id="{21540236-BFD5-4A9D-8840-4703E7F768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73321" y="2374947"/>
            <a:ext cx="3182692" cy="18288"/>
          </a:xfrm>
          <a:custGeom>
            <a:avLst/>
            <a:gdLst>
              <a:gd name="connsiteX0" fmla="*/ 0 w 3182692"/>
              <a:gd name="connsiteY0" fmla="*/ 0 h 18288"/>
              <a:gd name="connsiteX1" fmla="*/ 636538 w 3182692"/>
              <a:gd name="connsiteY1" fmla="*/ 0 h 18288"/>
              <a:gd name="connsiteX2" fmla="*/ 1273077 w 3182692"/>
              <a:gd name="connsiteY2" fmla="*/ 0 h 18288"/>
              <a:gd name="connsiteX3" fmla="*/ 1909615 w 3182692"/>
              <a:gd name="connsiteY3" fmla="*/ 0 h 18288"/>
              <a:gd name="connsiteX4" fmla="*/ 2482500 w 3182692"/>
              <a:gd name="connsiteY4" fmla="*/ 0 h 18288"/>
              <a:gd name="connsiteX5" fmla="*/ 3182692 w 3182692"/>
              <a:gd name="connsiteY5" fmla="*/ 0 h 18288"/>
              <a:gd name="connsiteX6" fmla="*/ 3182692 w 3182692"/>
              <a:gd name="connsiteY6" fmla="*/ 18288 h 18288"/>
              <a:gd name="connsiteX7" fmla="*/ 2609807 w 3182692"/>
              <a:gd name="connsiteY7" fmla="*/ 18288 h 18288"/>
              <a:gd name="connsiteX8" fmla="*/ 2068750 w 3182692"/>
              <a:gd name="connsiteY8" fmla="*/ 18288 h 18288"/>
              <a:gd name="connsiteX9" fmla="*/ 1432211 w 3182692"/>
              <a:gd name="connsiteY9" fmla="*/ 18288 h 18288"/>
              <a:gd name="connsiteX10" fmla="*/ 859327 w 3182692"/>
              <a:gd name="connsiteY10" fmla="*/ 18288 h 18288"/>
              <a:gd name="connsiteX11" fmla="*/ 0 w 3182692"/>
              <a:gd name="connsiteY11" fmla="*/ 18288 h 18288"/>
              <a:gd name="connsiteX12" fmla="*/ 0 w 3182692"/>
              <a:gd name="connsiteY12" fmla="*/ 0 h 18288"/>
              <a:gd name="connsiteX0" fmla="*/ 0 w 3182692"/>
              <a:gd name="connsiteY0" fmla="*/ 0 h 18288"/>
              <a:gd name="connsiteX1" fmla="*/ 572885 w 3182692"/>
              <a:gd name="connsiteY1" fmla="*/ 0 h 18288"/>
              <a:gd name="connsiteX2" fmla="*/ 1113942 w 3182692"/>
              <a:gd name="connsiteY2" fmla="*/ 0 h 18288"/>
              <a:gd name="connsiteX3" fmla="*/ 1686827 w 3182692"/>
              <a:gd name="connsiteY3" fmla="*/ 0 h 18288"/>
              <a:gd name="connsiteX4" fmla="*/ 2323365 w 3182692"/>
              <a:gd name="connsiteY4" fmla="*/ 0 h 18288"/>
              <a:gd name="connsiteX5" fmla="*/ 3182692 w 3182692"/>
              <a:gd name="connsiteY5" fmla="*/ 0 h 18288"/>
              <a:gd name="connsiteX6" fmla="*/ 3182692 w 3182692"/>
              <a:gd name="connsiteY6" fmla="*/ 18288 h 18288"/>
              <a:gd name="connsiteX7" fmla="*/ 2546154 w 3182692"/>
              <a:gd name="connsiteY7" fmla="*/ 18288 h 18288"/>
              <a:gd name="connsiteX8" fmla="*/ 1845961 w 3182692"/>
              <a:gd name="connsiteY8" fmla="*/ 18288 h 18288"/>
              <a:gd name="connsiteX9" fmla="*/ 1304904 w 3182692"/>
              <a:gd name="connsiteY9" fmla="*/ 18288 h 18288"/>
              <a:gd name="connsiteX10" fmla="*/ 604711 w 3182692"/>
              <a:gd name="connsiteY10" fmla="*/ 18288 h 18288"/>
              <a:gd name="connsiteX11" fmla="*/ 0 w 3182692"/>
              <a:gd name="connsiteY11" fmla="*/ 18288 h 18288"/>
              <a:gd name="connsiteX12" fmla="*/ 0 w 3182692"/>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182692" h="18288" fill="none" extrusionOk="0">
                <a:moveTo>
                  <a:pt x="0" y="0"/>
                </a:moveTo>
                <a:cubicBezTo>
                  <a:pt x="225870" y="33585"/>
                  <a:pt x="418138" y="17639"/>
                  <a:pt x="636538" y="0"/>
                </a:cubicBezTo>
                <a:cubicBezTo>
                  <a:pt x="865372" y="-3887"/>
                  <a:pt x="1010746" y="-18166"/>
                  <a:pt x="1273077" y="0"/>
                </a:cubicBezTo>
                <a:cubicBezTo>
                  <a:pt x="1527846" y="-24408"/>
                  <a:pt x="1703704" y="-36055"/>
                  <a:pt x="1909615" y="0"/>
                </a:cubicBezTo>
                <a:cubicBezTo>
                  <a:pt x="2119487" y="1667"/>
                  <a:pt x="2200543" y="-19343"/>
                  <a:pt x="2482500" y="0"/>
                </a:cubicBezTo>
                <a:cubicBezTo>
                  <a:pt x="2736775" y="57438"/>
                  <a:pt x="2997998" y="-48885"/>
                  <a:pt x="3182692" y="0"/>
                </a:cubicBezTo>
                <a:cubicBezTo>
                  <a:pt x="3182658" y="4844"/>
                  <a:pt x="3182282" y="11009"/>
                  <a:pt x="3182692" y="18288"/>
                </a:cubicBezTo>
                <a:cubicBezTo>
                  <a:pt x="2944477" y="15825"/>
                  <a:pt x="2868931" y="12370"/>
                  <a:pt x="2609807" y="18288"/>
                </a:cubicBezTo>
                <a:cubicBezTo>
                  <a:pt x="2341556" y="6193"/>
                  <a:pt x="2324113" y="22706"/>
                  <a:pt x="2068750" y="18288"/>
                </a:cubicBezTo>
                <a:cubicBezTo>
                  <a:pt x="1817163" y="7852"/>
                  <a:pt x="1716254" y="25979"/>
                  <a:pt x="1432211" y="18288"/>
                </a:cubicBezTo>
                <a:cubicBezTo>
                  <a:pt x="1164747" y="-28137"/>
                  <a:pt x="993140" y="27575"/>
                  <a:pt x="859327" y="18288"/>
                </a:cubicBezTo>
                <a:cubicBezTo>
                  <a:pt x="750703" y="-24974"/>
                  <a:pt x="236193" y="38731"/>
                  <a:pt x="0" y="18288"/>
                </a:cubicBezTo>
                <a:cubicBezTo>
                  <a:pt x="-649" y="11698"/>
                  <a:pt x="663" y="5413"/>
                  <a:pt x="0" y="0"/>
                </a:cubicBezTo>
                <a:close/>
              </a:path>
              <a:path w="3182692" h="18288" stroke="0" extrusionOk="0">
                <a:moveTo>
                  <a:pt x="0" y="0"/>
                </a:moveTo>
                <a:cubicBezTo>
                  <a:pt x="224421" y="-39331"/>
                  <a:pt x="418777" y="11439"/>
                  <a:pt x="572885" y="0"/>
                </a:cubicBezTo>
                <a:cubicBezTo>
                  <a:pt x="750333" y="-6388"/>
                  <a:pt x="940592" y="15806"/>
                  <a:pt x="1113942" y="0"/>
                </a:cubicBezTo>
                <a:cubicBezTo>
                  <a:pt x="1322785" y="-1777"/>
                  <a:pt x="1505363" y="28230"/>
                  <a:pt x="1686827" y="0"/>
                </a:cubicBezTo>
                <a:cubicBezTo>
                  <a:pt x="1853304" y="1595"/>
                  <a:pt x="2194652" y="-1232"/>
                  <a:pt x="2323365" y="0"/>
                </a:cubicBezTo>
                <a:cubicBezTo>
                  <a:pt x="2488732" y="36406"/>
                  <a:pt x="2902093" y="-40336"/>
                  <a:pt x="3182692" y="0"/>
                </a:cubicBezTo>
                <a:cubicBezTo>
                  <a:pt x="3182167" y="5049"/>
                  <a:pt x="3182885" y="12044"/>
                  <a:pt x="3182692" y="18288"/>
                </a:cubicBezTo>
                <a:cubicBezTo>
                  <a:pt x="3012563" y="-37820"/>
                  <a:pt x="2765409" y="35618"/>
                  <a:pt x="2546154" y="18288"/>
                </a:cubicBezTo>
                <a:cubicBezTo>
                  <a:pt x="2333381" y="13914"/>
                  <a:pt x="2154438" y="9838"/>
                  <a:pt x="1845961" y="18288"/>
                </a:cubicBezTo>
                <a:cubicBezTo>
                  <a:pt x="1531509" y="33812"/>
                  <a:pt x="1456631" y="-6606"/>
                  <a:pt x="1304904" y="18288"/>
                </a:cubicBezTo>
                <a:cubicBezTo>
                  <a:pt x="1168344" y="36351"/>
                  <a:pt x="928499" y="15047"/>
                  <a:pt x="604711" y="18288"/>
                </a:cubicBezTo>
                <a:cubicBezTo>
                  <a:pt x="285438" y="38007"/>
                  <a:pt x="116029" y="-22204"/>
                  <a:pt x="0" y="18288"/>
                </a:cubicBezTo>
                <a:cubicBezTo>
                  <a:pt x="-39" y="12511"/>
                  <a:pt x="-381" y="8039"/>
                  <a:pt x="0" y="0"/>
                </a:cubicBezTo>
                <a:close/>
              </a:path>
              <a:path w="3182692" h="18288" fill="none" stroke="0" extrusionOk="0">
                <a:moveTo>
                  <a:pt x="0" y="0"/>
                </a:moveTo>
                <a:cubicBezTo>
                  <a:pt x="245832" y="29445"/>
                  <a:pt x="388924" y="-28919"/>
                  <a:pt x="636538" y="0"/>
                </a:cubicBezTo>
                <a:cubicBezTo>
                  <a:pt x="854919" y="4634"/>
                  <a:pt x="991654" y="8864"/>
                  <a:pt x="1273077" y="0"/>
                </a:cubicBezTo>
                <a:cubicBezTo>
                  <a:pt x="1566644" y="-14667"/>
                  <a:pt x="1666526" y="3717"/>
                  <a:pt x="1909615" y="0"/>
                </a:cubicBezTo>
                <a:cubicBezTo>
                  <a:pt x="2138795" y="27220"/>
                  <a:pt x="2225506" y="-13892"/>
                  <a:pt x="2482500" y="0"/>
                </a:cubicBezTo>
                <a:cubicBezTo>
                  <a:pt x="2775583" y="32183"/>
                  <a:pt x="3003218" y="-43687"/>
                  <a:pt x="3182692" y="0"/>
                </a:cubicBezTo>
                <a:cubicBezTo>
                  <a:pt x="3183006" y="4158"/>
                  <a:pt x="3181713" y="12539"/>
                  <a:pt x="3182692" y="18288"/>
                </a:cubicBezTo>
                <a:cubicBezTo>
                  <a:pt x="2959845" y="25574"/>
                  <a:pt x="2868929" y="24980"/>
                  <a:pt x="2609807" y="18288"/>
                </a:cubicBezTo>
                <a:cubicBezTo>
                  <a:pt x="2341405" y="5992"/>
                  <a:pt x="2328488" y="20436"/>
                  <a:pt x="2068750" y="18288"/>
                </a:cubicBezTo>
                <a:cubicBezTo>
                  <a:pt x="1816113" y="2395"/>
                  <a:pt x="1699345" y="36855"/>
                  <a:pt x="1432211" y="18288"/>
                </a:cubicBezTo>
                <a:cubicBezTo>
                  <a:pt x="1148381" y="-28184"/>
                  <a:pt x="987622" y="2403"/>
                  <a:pt x="859327" y="18288"/>
                </a:cubicBezTo>
                <a:cubicBezTo>
                  <a:pt x="743387" y="37422"/>
                  <a:pt x="194182" y="18789"/>
                  <a:pt x="0" y="18288"/>
                </a:cubicBezTo>
                <a:cubicBezTo>
                  <a:pt x="20" y="11469"/>
                  <a:pt x="-29" y="5154"/>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727557108">
                  <a:custGeom>
                    <a:avLst/>
                    <a:gdLst>
                      <a:gd name="connsiteX0" fmla="*/ 0 w 3182692"/>
                      <a:gd name="connsiteY0" fmla="*/ 0 h 18288"/>
                      <a:gd name="connsiteX1" fmla="*/ 636538 w 3182692"/>
                      <a:gd name="connsiteY1" fmla="*/ 0 h 18288"/>
                      <a:gd name="connsiteX2" fmla="*/ 1273077 w 3182692"/>
                      <a:gd name="connsiteY2" fmla="*/ 0 h 18288"/>
                      <a:gd name="connsiteX3" fmla="*/ 1909615 w 3182692"/>
                      <a:gd name="connsiteY3" fmla="*/ 0 h 18288"/>
                      <a:gd name="connsiteX4" fmla="*/ 2482500 w 3182692"/>
                      <a:gd name="connsiteY4" fmla="*/ 0 h 18288"/>
                      <a:gd name="connsiteX5" fmla="*/ 3182692 w 3182692"/>
                      <a:gd name="connsiteY5" fmla="*/ 0 h 18288"/>
                      <a:gd name="connsiteX6" fmla="*/ 3182692 w 3182692"/>
                      <a:gd name="connsiteY6" fmla="*/ 18288 h 18288"/>
                      <a:gd name="connsiteX7" fmla="*/ 2609807 w 3182692"/>
                      <a:gd name="connsiteY7" fmla="*/ 18288 h 18288"/>
                      <a:gd name="connsiteX8" fmla="*/ 2068750 w 3182692"/>
                      <a:gd name="connsiteY8" fmla="*/ 18288 h 18288"/>
                      <a:gd name="connsiteX9" fmla="*/ 1432211 w 3182692"/>
                      <a:gd name="connsiteY9" fmla="*/ 18288 h 18288"/>
                      <a:gd name="connsiteX10" fmla="*/ 859327 w 3182692"/>
                      <a:gd name="connsiteY10" fmla="*/ 18288 h 18288"/>
                      <a:gd name="connsiteX11" fmla="*/ 0 w 3182692"/>
                      <a:gd name="connsiteY11" fmla="*/ 18288 h 18288"/>
                      <a:gd name="connsiteX12" fmla="*/ 0 w 3182692"/>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182692" h="18288" fill="none" extrusionOk="0">
                        <a:moveTo>
                          <a:pt x="0" y="0"/>
                        </a:moveTo>
                        <a:cubicBezTo>
                          <a:pt x="253588" y="25878"/>
                          <a:pt x="409323" y="-5359"/>
                          <a:pt x="636538" y="0"/>
                        </a:cubicBezTo>
                        <a:cubicBezTo>
                          <a:pt x="863753" y="5359"/>
                          <a:pt x="1007727" y="-28"/>
                          <a:pt x="1273077" y="0"/>
                        </a:cubicBezTo>
                        <a:cubicBezTo>
                          <a:pt x="1538427" y="28"/>
                          <a:pt x="1698640" y="-12775"/>
                          <a:pt x="1909615" y="0"/>
                        </a:cubicBezTo>
                        <a:cubicBezTo>
                          <a:pt x="2120590" y="12775"/>
                          <a:pt x="2210293" y="-21823"/>
                          <a:pt x="2482500" y="0"/>
                        </a:cubicBezTo>
                        <a:cubicBezTo>
                          <a:pt x="2754708" y="21823"/>
                          <a:pt x="3004133" y="-28750"/>
                          <a:pt x="3182692" y="0"/>
                        </a:cubicBezTo>
                        <a:cubicBezTo>
                          <a:pt x="3183134" y="4516"/>
                          <a:pt x="3181865" y="12266"/>
                          <a:pt x="3182692" y="18288"/>
                        </a:cubicBezTo>
                        <a:cubicBezTo>
                          <a:pt x="2947402" y="22440"/>
                          <a:pt x="2876226" y="27191"/>
                          <a:pt x="2609807" y="18288"/>
                        </a:cubicBezTo>
                        <a:cubicBezTo>
                          <a:pt x="2343389" y="9385"/>
                          <a:pt x="2326689" y="25579"/>
                          <a:pt x="2068750" y="18288"/>
                        </a:cubicBezTo>
                        <a:cubicBezTo>
                          <a:pt x="1810811" y="10997"/>
                          <a:pt x="1713836" y="48219"/>
                          <a:pt x="1432211" y="18288"/>
                        </a:cubicBezTo>
                        <a:cubicBezTo>
                          <a:pt x="1150586" y="-11643"/>
                          <a:pt x="982765" y="3747"/>
                          <a:pt x="859327" y="18288"/>
                        </a:cubicBezTo>
                        <a:cubicBezTo>
                          <a:pt x="735889" y="32829"/>
                          <a:pt x="254183" y="35231"/>
                          <a:pt x="0" y="18288"/>
                        </a:cubicBezTo>
                        <a:cubicBezTo>
                          <a:pt x="-306" y="11477"/>
                          <a:pt x="485" y="4355"/>
                          <a:pt x="0" y="0"/>
                        </a:cubicBezTo>
                        <a:close/>
                      </a:path>
                      <a:path w="3182692" h="18288" stroke="0" extrusionOk="0">
                        <a:moveTo>
                          <a:pt x="0" y="0"/>
                        </a:moveTo>
                        <a:cubicBezTo>
                          <a:pt x="243108" y="-22426"/>
                          <a:pt x="387854" y="22949"/>
                          <a:pt x="572885" y="0"/>
                        </a:cubicBezTo>
                        <a:cubicBezTo>
                          <a:pt x="757916" y="-22949"/>
                          <a:pt x="923707" y="6797"/>
                          <a:pt x="1113942" y="0"/>
                        </a:cubicBezTo>
                        <a:cubicBezTo>
                          <a:pt x="1304177" y="-6797"/>
                          <a:pt x="1495991" y="20627"/>
                          <a:pt x="1686827" y="0"/>
                        </a:cubicBezTo>
                        <a:cubicBezTo>
                          <a:pt x="1877663" y="-20627"/>
                          <a:pt x="2170182" y="-20672"/>
                          <a:pt x="2323365" y="0"/>
                        </a:cubicBezTo>
                        <a:cubicBezTo>
                          <a:pt x="2476548" y="20672"/>
                          <a:pt x="2919164" y="6097"/>
                          <a:pt x="3182692" y="0"/>
                        </a:cubicBezTo>
                        <a:cubicBezTo>
                          <a:pt x="3183269" y="4624"/>
                          <a:pt x="3183511" y="11191"/>
                          <a:pt x="3182692" y="18288"/>
                        </a:cubicBezTo>
                        <a:cubicBezTo>
                          <a:pt x="3026065" y="-10849"/>
                          <a:pt x="2775006" y="23067"/>
                          <a:pt x="2546154" y="18288"/>
                        </a:cubicBezTo>
                        <a:cubicBezTo>
                          <a:pt x="2317302" y="13509"/>
                          <a:pt x="2168173" y="-8513"/>
                          <a:pt x="1845961" y="18288"/>
                        </a:cubicBezTo>
                        <a:cubicBezTo>
                          <a:pt x="1523749" y="45089"/>
                          <a:pt x="1450078" y="-844"/>
                          <a:pt x="1304904" y="18288"/>
                        </a:cubicBezTo>
                        <a:cubicBezTo>
                          <a:pt x="1159730" y="37420"/>
                          <a:pt x="942635" y="-10021"/>
                          <a:pt x="604711" y="18288"/>
                        </a:cubicBezTo>
                        <a:cubicBezTo>
                          <a:pt x="266787" y="46597"/>
                          <a:pt x="141927" y="-8395"/>
                          <a:pt x="0" y="18288"/>
                        </a:cubicBezTo>
                        <a:cubicBezTo>
                          <a:pt x="-171" y="12755"/>
                          <a:pt x="-690" y="7930"/>
                          <a:pt x="0" y="0"/>
                        </a:cubicBezTo>
                        <a:close/>
                      </a:path>
                    </a:pathLst>
                  </a:cu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Content Placeholder 3"/>
          <p:cNvSpPr>
            <a:spLocks noGrp="1"/>
          </p:cNvSpPr>
          <p:nvPr>
            <p:ph idx="1"/>
          </p:nvPr>
        </p:nvSpPr>
        <p:spPr>
          <a:xfrm>
            <a:off x="3973321" y="2706624"/>
            <a:ext cx="4688333" cy="3483864"/>
          </a:xfrm>
        </p:spPr>
        <p:txBody>
          <a:bodyPr>
            <a:normAutofit/>
          </a:bodyPr>
          <a:lstStyle/>
          <a:p>
            <a:pPr lvl="0"/>
            <a:r>
              <a:rPr lang="en-US" sz="1900"/>
              <a:t>The Seven Principles for Making Marriage Work (Gottman &amp; Silver)</a:t>
            </a:r>
          </a:p>
          <a:p>
            <a:pPr lvl="1" hangingPunct="0"/>
            <a:r>
              <a:rPr lang="en-US" sz="1900"/>
              <a:t>Enhance your love maps</a:t>
            </a:r>
          </a:p>
          <a:p>
            <a:pPr lvl="1" hangingPunct="0"/>
            <a:r>
              <a:rPr lang="en-US" sz="1900"/>
              <a:t>Nurture your fondness and admiration</a:t>
            </a:r>
          </a:p>
          <a:p>
            <a:pPr lvl="1" hangingPunct="0"/>
            <a:r>
              <a:rPr lang="en-US" sz="1900"/>
              <a:t>Turn toward each other instead of away</a:t>
            </a:r>
          </a:p>
          <a:p>
            <a:pPr lvl="1" hangingPunct="0"/>
            <a:r>
              <a:rPr lang="en-US" sz="1900"/>
              <a:t>Let your partner influence you</a:t>
            </a:r>
          </a:p>
          <a:p>
            <a:pPr lvl="1" hangingPunct="0"/>
            <a:r>
              <a:rPr lang="en-US" sz="1900"/>
              <a:t>Solve your solvable problems</a:t>
            </a:r>
          </a:p>
          <a:p>
            <a:pPr lvl="1" hangingPunct="0"/>
            <a:r>
              <a:rPr lang="en-US" sz="1900"/>
              <a:t>Overcome gridlock and move toward dialogue</a:t>
            </a:r>
          </a:p>
          <a:p>
            <a:pPr lvl="1" hangingPunct="0"/>
            <a:r>
              <a:rPr lang="en-US" sz="1900"/>
              <a:t>Create shared meaning</a:t>
            </a:r>
          </a:p>
          <a:p>
            <a:pPr lvl="1"/>
            <a:endParaRPr lang="en-US" sz="1900"/>
          </a:p>
        </p:txBody>
      </p:sp>
      <p:sp>
        <p:nvSpPr>
          <p:cNvPr id="6" name="Footer Placeholder 5"/>
          <p:cNvSpPr>
            <a:spLocks noGrp="1"/>
          </p:cNvSpPr>
          <p:nvPr>
            <p:ph type="ftr" sz="quarter" idx="11"/>
          </p:nvPr>
        </p:nvSpPr>
        <p:spPr>
          <a:xfrm>
            <a:off x="3973321" y="6356350"/>
            <a:ext cx="3086100" cy="365125"/>
          </a:xfrm>
        </p:spPr>
        <p:txBody>
          <a:bodyPr>
            <a:normAutofit/>
          </a:bodyPr>
          <a:lstStyle/>
          <a:p>
            <a:pPr algn="l">
              <a:lnSpc>
                <a:spcPct val="90000"/>
              </a:lnSpc>
              <a:spcAft>
                <a:spcPts val="600"/>
              </a:spcAft>
            </a:pPr>
            <a:r>
              <a:rPr lang="en-US" sz="900">
                <a:effectLst/>
                <a:latin typeface="Arial" panose="020B0604020202020204" pitchFamily="34" charset="0"/>
                <a:ea typeface="Calibri" panose="020F0502020204030204" pitchFamily="34" charset="0"/>
              </a:rPr>
              <a:t>Compton, </a:t>
            </a:r>
            <a:r>
              <a:rPr lang="en-US" sz="900" i="1">
                <a:effectLst/>
                <a:latin typeface="Arial" panose="020B0604020202020204" pitchFamily="34" charset="0"/>
                <a:ea typeface="Calibri" panose="020F0502020204030204" pitchFamily="34" charset="0"/>
              </a:rPr>
              <a:t>Positive Psychology, 3e</a:t>
            </a:r>
            <a:r>
              <a:rPr lang="en-US" sz="900">
                <a:effectLst/>
                <a:latin typeface="Arial" panose="020B0604020202020204" pitchFamily="34" charset="0"/>
                <a:ea typeface="Calibri" panose="020F0502020204030204" pitchFamily="34" charset="0"/>
              </a:rPr>
              <a:t>.</a:t>
            </a:r>
            <a:r>
              <a:rPr lang="en-US" sz="900" kern="1200">
                <a:effectLst/>
                <a:latin typeface="Arial" panose="020B0604020202020204" pitchFamily="34" charset="0"/>
                <a:ea typeface="Times New Roman" panose="02020603050405020304" pitchFamily="18" charset="0"/>
              </a:rPr>
              <a:t> </a:t>
            </a:r>
            <a:r>
              <a:rPr lang="en-US" sz="900">
                <a:effectLst/>
                <a:latin typeface="Arial" panose="020B0604020202020204" pitchFamily="34" charset="0"/>
                <a:ea typeface="Times New Roman" panose="02020603050405020304" pitchFamily="18" charset="0"/>
              </a:rPr>
              <a:t>© SAGE Publications, 2020.</a:t>
            </a:r>
            <a:endParaRPr lang="en-US" sz="900"/>
          </a:p>
        </p:txBody>
      </p:sp>
      <p:sp>
        <p:nvSpPr>
          <p:cNvPr id="5" name="Slide Number Placeholder 4"/>
          <p:cNvSpPr>
            <a:spLocks noGrp="1"/>
          </p:cNvSpPr>
          <p:nvPr>
            <p:ph type="sldNum" sz="quarter" idx="12"/>
          </p:nvPr>
        </p:nvSpPr>
        <p:spPr>
          <a:xfrm>
            <a:off x="7539733" y="6356350"/>
            <a:ext cx="975616" cy="365125"/>
          </a:xfrm>
          <a:prstGeom prst="rect">
            <a:avLst/>
          </a:prstGeom>
        </p:spPr>
        <p:txBody>
          <a:bodyPr vert="horz" lIns="91440" tIns="45720" rIns="91440" bIns="45720" rtlCol="0">
            <a:normAutofit/>
          </a:bodyPr>
          <a:lstStyle>
            <a:defPPr>
              <a:defRPr lang="en-US"/>
            </a:defPPr>
            <a:lvl1pPr marL="0" algn="r" defTabSz="914400" rtl="0" eaLnBrk="1" latinLnBrk="0" hangingPunct="1">
              <a:defRPr sz="1000" kern="1200" baseline="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600"/>
              </a:spcAft>
            </a:pPr>
            <a:fld id="{B6F15528-21DE-4FAA-801E-634DDDAF4B2B}" type="slidenum">
              <a:rPr lang="en-US" smtClean="0"/>
              <a:pPr>
                <a:spcAft>
                  <a:spcPts val="600"/>
                </a:spcAft>
              </a:pPr>
              <a:t>38</a:t>
            </a:fld>
            <a:endParaRPr lang="en-US"/>
          </a:p>
        </p:txBody>
      </p:sp>
    </p:spTree>
    <p:extLst>
      <p:ext uri="{BB962C8B-B14F-4D97-AF65-F5344CB8AC3E}">
        <p14:creationId xmlns:p14="http://schemas.microsoft.com/office/powerpoint/2010/main" val="305317070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8CE9DB-6693-3C12-E471-3CFE5C669DDF}"/>
              </a:ext>
            </a:extLst>
          </p:cNvPr>
          <p:cNvSpPr>
            <a:spLocks noGrp="1"/>
          </p:cNvSpPr>
          <p:nvPr>
            <p:ph type="title"/>
          </p:nvPr>
        </p:nvSpPr>
        <p:spPr>
          <a:xfrm>
            <a:off x="628650" y="365128"/>
            <a:ext cx="7886700" cy="1325563"/>
          </a:xfrm>
        </p:spPr>
        <p:txBody>
          <a:bodyPr anchor="ctr">
            <a:normAutofit/>
          </a:bodyPr>
          <a:lstStyle/>
          <a:p>
            <a:r>
              <a:rPr lang="en-US" dirty="0"/>
              <a:t>How To Nurture All Relationships</a:t>
            </a:r>
          </a:p>
        </p:txBody>
      </p:sp>
      <p:sp>
        <p:nvSpPr>
          <p:cNvPr id="4" name="Footer Placeholder 3">
            <a:extLst>
              <a:ext uri="{FF2B5EF4-FFF2-40B4-BE49-F238E27FC236}">
                <a16:creationId xmlns:a16="http://schemas.microsoft.com/office/drawing/2014/main" id="{678B4B1E-5C66-CB55-EB04-777ADF9525DB}"/>
              </a:ext>
            </a:extLst>
          </p:cNvPr>
          <p:cNvSpPr>
            <a:spLocks noGrp="1"/>
          </p:cNvSpPr>
          <p:nvPr>
            <p:ph type="ftr" sz="quarter" idx="11"/>
          </p:nvPr>
        </p:nvSpPr>
        <p:spPr>
          <a:xfrm>
            <a:off x="2002155" y="6447131"/>
            <a:ext cx="5139690" cy="276999"/>
          </a:xfrm>
        </p:spPr>
        <p:txBody>
          <a:bodyPr anchor="ctr">
            <a:normAutofit/>
          </a:bodyPr>
          <a:lstStyle/>
          <a:p>
            <a:pPr>
              <a:spcAft>
                <a:spcPts val="600"/>
              </a:spcAft>
            </a:pPr>
            <a:r>
              <a:rPr lang="en-US"/>
              <a:t>The Science of Positive Psychology © Cambridge University Press 2021</a:t>
            </a:r>
          </a:p>
        </p:txBody>
      </p:sp>
      <p:graphicFrame>
        <p:nvGraphicFramePr>
          <p:cNvPr id="6" name="Content Placeholder 2">
            <a:extLst>
              <a:ext uri="{FF2B5EF4-FFF2-40B4-BE49-F238E27FC236}">
                <a16:creationId xmlns:a16="http://schemas.microsoft.com/office/drawing/2014/main" id="{A06908A8-928D-157A-6198-74985AAE3EBA}"/>
              </a:ext>
            </a:extLst>
          </p:cNvPr>
          <p:cNvGraphicFramePr>
            <a:graphicFrameLocks noGrp="1"/>
          </p:cNvGraphicFramePr>
          <p:nvPr>
            <p:ph idx="1"/>
            <p:extLst>
              <p:ext uri="{D42A27DB-BD31-4B8C-83A1-F6EECF244321}">
                <p14:modId xmlns:p14="http://schemas.microsoft.com/office/powerpoint/2010/main" val="2035960323"/>
              </p:ext>
            </p:extLst>
          </p:nvPr>
        </p:nvGraphicFramePr>
        <p:xfrm>
          <a:off x="628650" y="1825625"/>
          <a:ext cx="78867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67916642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690DE85-8798-B437-4B1A-4F95BE29675E}"/>
              </a:ext>
            </a:extLst>
          </p:cNvPr>
          <p:cNvPicPr>
            <a:picLocks noChangeAspect="1"/>
          </p:cNvPicPr>
          <p:nvPr/>
        </p:nvPicPr>
        <p:blipFill>
          <a:blip r:embed="rId2"/>
          <a:stretch>
            <a:fillRect/>
          </a:stretch>
        </p:blipFill>
        <p:spPr>
          <a:xfrm>
            <a:off x="90488" y="640656"/>
            <a:ext cx="8963025" cy="5041700"/>
          </a:xfrm>
          <a:prstGeom prst="rect">
            <a:avLst/>
          </a:prstGeom>
          <a:noFill/>
        </p:spPr>
      </p:pic>
      <p:sp>
        <p:nvSpPr>
          <p:cNvPr id="2" name="Footer Placeholder 1">
            <a:extLst>
              <a:ext uri="{FF2B5EF4-FFF2-40B4-BE49-F238E27FC236}">
                <a16:creationId xmlns:a16="http://schemas.microsoft.com/office/drawing/2014/main" id="{1A0403B7-5010-C5BC-BA5C-26EE967150E7}"/>
              </a:ext>
            </a:extLst>
          </p:cNvPr>
          <p:cNvSpPr>
            <a:spLocks noGrp="1"/>
          </p:cNvSpPr>
          <p:nvPr>
            <p:ph type="ftr" sz="quarter" idx="11"/>
          </p:nvPr>
        </p:nvSpPr>
        <p:spPr/>
        <p:txBody>
          <a:bodyPr/>
          <a:lstStyle/>
          <a:p>
            <a:pPr>
              <a:spcAft>
                <a:spcPts val="600"/>
              </a:spcAft>
            </a:pPr>
            <a:r>
              <a:rPr lang="en-US" sz="1050">
                <a:solidFill>
                  <a:srgbClr val="7F7F7F"/>
                </a:solidFill>
                <a:effectLst/>
                <a:latin typeface="Arial" panose="020B0604020202020204" pitchFamily="34" charset="0"/>
                <a:ea typeface="Calibri" panose="020F0502020204030204" pitchFamily="34" charset="0"/>
              </a:rPr>
              <a:t>Compton, </a:t>
            </a:r>
            <a:r>
              <a:rPr lang="en-US" sz="1050" i="1">
                <a:solidFill>
                  <a:srgbClr val="7F7F7F"/>
                </a:solidFill>
                <a:effectLst/>
                <a:latin typeface="Arial" panose="020B0604020202020204" pitchFamily="34" charset="0"/>
                <a:ea typeface="Calibri" panose="020F0502020204030204" pitchFamily="34" charset="0"/>
              </a:rPr>
              <a:t>Positive Psychology, 3e</a:t>
            </a:r>
            <a:r>
              <a:rPr lang="en-US" sz="1050">
                <a:solidFill>
                  <a:srgbClr val="7F7F7F"/>
                </a:solidFill>
                <a:effectLst/>
                <a:latin typeface="Arial" panose="020B0604020202020204" pitchFamily="34" charset="0"/>
                <a:ea typeface="Calibri" panose="020F0502020204030204" pitchFamily="34" charset="0"/>
              </a:rPr>
              <a:t>.</a:t>
            </a:r>
            <a:r>
              <a:rPr lang="en-US" sz="1050" kern="1200">
                <a:solidFill>
                  <a:srgbClr val="7F7F7F"/>
                </a:solidFill>
                <a:effectLst/>
                <a:latin typeface="Arial" panose="020B0604020202020204" pitchFamily="34" charset="0"/>
                <a:ea typeface="Times New Roman" panose="02020603050405020304" pitchFamily="18" charset="0"/>
              </a:rPr>
              <a:t> </a:t>
            </a:r>
            <a:r>
              <a:rPr lang="en-US" sz="1050">
                <a:solidFill>
                  <a:srgbClr val="7F7F7F"/>
                </a:solidFill>
                <a:effectLst/>
                <a:latin typeface="Arial" panose="020B0604020202020204" pitchFamily="34" charset="0"/>
                <a:ea typeface="Times New Roman" panose="02020603050405020304" pitchFamily="18" charset="0"/>
              </a:rPr>
              <a:t>© SAGE Publications, 2020.</a:t>
            </a:r>
            <a:endParaRPr lang="en-US"/>
          </a:p>
        </p:txBody>
      </p:sp>
    </p:spTree>
    <p:extLst>
      <p:ext uri="{BB962C8B-B14F-4D97-AF65-F5344CB8AC3E}">
        <p14:creationId xmlns:p14="http://schemas.microsoft.com/office/powerpoint/2010/main" val="2510087503"/>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31F5FA861B6BEB4497E30226FB654B7F" ma:contentTypeVersion="14" ma:contentTypeDescription="Create a new document." ma:contentTypeScope="" ma:versionID="5446b6abc1174e76b1ecf231e0511309">
  <xsd:schema xmlns:xsd="http://www.w3.org/2001/XMLSchema" xmlns:xs="http://www.w3.org/2001/XMLSchema" xmlns:p="http://schemas.microsoft.com/office/2006/metadata/properties" xmlns:ns3="098d3ce3-1732-4665-af2b-0c47aa6f0599" xmlns:ns4="6ebc9d44-dfc5-41fa-9646-f594d8bccd35" targetNamespace="http://schemas.microsoft.com/office/2006/metadata/properties" ma:root="true" ma:fieldsID="6ac3cd6cbff858ee08bb67d456e99cb1" ns3:_="" ns4:_="">
    <xsd:import namespace="098d3ce3-1732-4665-af2b-0c47aa6f0599"/>
    <xsd:import namespace="6ebc9d44-dfc5-41fa-9646-f594d8bccd35"/>
    <xsd:element name="properties">
      <xsd:complexType>
        <xsd:sequence>
          <xsd:element name="documentManagement">
            <xsd:complexType>
              <xsd:all>
                <xsd:element ref="ns3:MediaServiceMetadata" minOccurs="0"/>
                <xsd:element ref="ns3:MediaServiceFastMetadata" minOccurs="0"/>
                <xsd:element ref="ns3:MediaServiceAutoKeyPoints" minOccurs="0"/>
                <xsd:element ref="ns3:MediaServiceKeyPoints" minOccurs="0"/>
                <xsd:element ref="ns3:MediaServiceDateTaken" minOccurs="0"/>
                <xsd:element ref="ns3:MediaServiceAutoTags" minOccurs="0"/>
                <xsd:element ref="ns3:MediaServiceOCR" minOccurs="0"/>
                <xsd:element ref="ns3:MediaServiceGenerationTime" minOccurs="0"/>
                <xsd:element ref="ns3:MediaServiceEventHashCode" minOccurs="0"/>
                <xsd:element ref="ns3:MediaServiceLocation" minOccurs="0"/>
                <xsd:element ref="ns4:SharedWithUsers" minOccurs="0"/>
                <xsd:element ref="ns4:SharedWithDetails" minOccurs="0"/>
                <xsd:element ref="ns4:SharingHintHash"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98d3ce3-1732-4665-af2b-0c47aa6f059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element name="MediaLengthInSeconds" ma:index="21" nillable="true" ma:displayName="Length (seconds)"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6ebc9d44-dfc5-41fa-9646-f594d8bccd35"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SharingHintHash" ma:index="20"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0F9FC689-0397-489D-B6C4-918490A97925}">
  <ds:schemaRefs>
    <ds:schemaRef ds:uri="6ebc9d44-dfc5-41fa-9646-f594d8bccd35"/>
    <ds:schemaRef ds:uri="http://purl.org/dc/terms/"/>
    <ds:schemaRef ds:uri="http://schemas.openxmlformats.org/package/2006/metadata/core-properties"/>
    <ds:schemaRef ds:uri="http://schemas.microsoft.com/office/2006/documentManagement/types"/>
    <ds:schemaRef ds:uri="http://schemas.microsoft.com/office/infopath/2007/PartnerControls"/>
    <ds:schemaRef ds:uri="098d3ce3-1732-4665-af2b-0c47aa6f0599"/>
    <ds:schemaRef ds:uri="http://purl.org/dc/elements/1.1/"/>
    <ds:schemaRef ds:uri="http://schemas.microsoft.com/office/2006/metadata/properties"/>
    <ds:schemaRef ds:uri="http://www.w3.org/XML/1998/namespace"/>
    <ds:schemaRef ds:uri="http://purl.org/dc/dcmitype/"/>
  </ds:schemaRefs>
</ds:datastoreItem>
</file>

<file path=customXml/itemProps2.xml><?xml version="1.0" encoding="utf-8"?>
<ds:datastoreItem xmlns:ds="http://schemas.openxmlformats.org/officeDocument/2006/customXml" ds:itemID="{0A77D237-49E5-43D1-BBAE-C65D6743158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98d3ce3-1732-4665-af2b-0c47aa6f0599"/>
    <ds:schemaRef ds:uri="6ebc9d44-dfc5-41fa-9646-f594d8bccd3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EF14F560-3B9A-438C-83B1-6E3F72FA0877}">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 Theme</Template>
  <TotalTime>2535</TotalTime>
  <Words>3466</Words>
  <Application>Microsoft Office PowerPoint</Application>
  <PresentationFormat>On-screen Show (4:3)</PresentationFormat>
  <Paragraphs>313</Paragraphs>
  <Slides>40</Slides>
  <Notes>20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40</vt:i4>
      </vt:variant>
    </vt:vector>
  </HeadingPairs>
  <TitlesOfParts>
    <vt:vector size="45" baseType="lpstr">
      <vt:lpstr>Arial</vt:lpstr>
      <vt:lpstr>Calibri</vt:lpstr>
      <vt:lpstr>Calibri Light</vt:lpstr>
      <vt:lpstr>Wingdings</vt:lpstr>
      <vt:lpstr>Office Theme</vt:lpstr>
      <vt:lpstr>Chapter 10</vt:lpstr>
      <vt:lpstr>What is love?</vt:lpstr>
      <vt:lpstr>Passionate and Companionate Love</vt:lpstr>
      <vt:lpstr>Passionate Love</vt:lpstr>
      <vt:lpstr>Companionate Love</vt:lpstr>
      <vt:lpstr>Love Styles</vt:lpstr>
      <vt:lpstr>Love Styles</vt:lpstr>
      <vt:lpstr>Triangular Theory of Love</vt:lpstr>
      <vt:lpstr>Triangular Theory of Love</vt:lpstr>
      <vt:lpstr>Love 2.0</vt:lpstr>
      <vt:lpstr>Love 2.0</vt:lpstr>
      <vt:lpstr>Love 2.0</vt:lpstr>
      <vt:lpstr>Relationships  and Well-Being</vt:lpstr>
      <vt:lpstr>Different Kinds of Relationships</vt:lpstr>
      <vt:lpstr>Having People in One’s Life</vt:lpstr>
      <vt:lpstr>What Attracts Us to Another?</vt:lpstr>
      <vt:lpstr>Friendships</vt:lpstr>
      <vt:lpstr>Social Media</vt:lpstr>
      <vt:lpstr>Marriage</vt:lpstr>
      <vt:lpstr>Marriage</vt:lpstr>
      <vt:lpstr>Theoretical Models of Good Relationships</vt:lpstr>
      <vt:lpstr>Attachment Theory</vt:lpstr>
      <vt:lpstr>Attachment Theory</vt:lpstr>
      <vt:lpstr>Social Exchange Theories</vt:lpstr>
      <vt:lpstr>Social Exchange Theories</vt:lpstr>
      <vt:lpstr>Social Exchange Theories</vt:lpstr>
      <vt:lpstr>Balance Theory of Relationships</vt:lpstr>
      <vt:lpstr>Balance Theory of Relationships</vt:lpstr>
      <vt:lpstr>Culture, Love, and Marriage</vt:lpstr>
      <vt:lpstr>Culture, Love, and Marriage</vt:lpstr>
      <vt:lpstr>What Hurts Relationships?</vt:lpstr>
      <vt:lpstr>What Hurts Relationships?</vt:lpstr>
      <vt:lpstr>Gottman’s Multidimensional  Therapy Approach</vt:lpstr>
      <vt:lpstr>Gottman 4 Horsemen of Apocalypse</vt:lpstr>
      <vt:lpstr>Gottman 4 Horsemen of Apocalypse</vt:lpstr>
      <vt:lpstr>Gottman 4 Horsemen of Apocalypse</vt:lpstr>
      <vt:lpstr>PowerPoint Presentation</vt:lpstr>
      <vt:lpstr>How to Nurture Positive Relationships That Last</vt:lpstr>
      <vt:lpstr>How To Nurture All Relationships</vt:lpstr>
      <vt:lpstr>PowerPoint Presentation</vt:lpstr>
    </vt:vector>
  </TitlesOfParts>
  <Company>Cambridge University Press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Jane Adams</dc:creator>
  <cp:lastModifiedBy>Traver, Holly</cp:lastModifiedBy>
  <cp:revision>82</cp:revision>
  <dcterms:created xsi:type="dcterms:W3CDTF">2021-07-26T18:02:28Z</dcterms:created>
  <dcterms:modified xsi:type="dcterms:W3CDTF">2025-05-31T14:17:53Z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0x01010031F5FA861B6BEB4497E30226FB654B7F</vt:lpwstr>
  </property>
</Properties>
</file>