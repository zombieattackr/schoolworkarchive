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4"/>
  </p:sldMasterIdLst>
  <p:notesMasterIdLst>
    <p:notesMasterId r:id="rId31"/>
  </p:notesMasterIdLst>
  <p:handoutMasterIdLst>
    <p:handoutMasterId r:id="rId32"/>
  </p:handoutMasterIdLst>
  <p:sldIdLst>
    <p:sldId id="259" r:id="rId5"/>
    <p:sldId id="257" r:id="rId6"/>
    <p:sldId id="258" r:id="rId7"/>
    <p:sldId id="260" r:id="rId8"/>
    <p:sldId id="262" r:id="rId9"/>
    <p:sldId id="263" r:id="rId10"/>
    <p:sldId id="273" r:id="rId11"/>
    <p:sldId id="264" r:id="rId12"/>
    <p:sldId id="338" r:id="rId13"/>
    <p:sldId id="339" r:id="rId14"/>
    <p:sldId id="265" r:id="rId15"/>
    <p:sldId id="275" r:id="rId16"/>
    <p:sldId id="274" r:id="rId17"/>
    <p:sldId id="341" r:id="rId18"/>
    <p:sldId id="269" r:id="rId19"/>
    <p:sldId id="343" r:id="rId20"/>
    <p:sldId id="344" r:id="rId21"/>
    <p:sldId id="345" r:id="rId22"/>
    <p:sldId id="346" r:id="rId23"/>
    <p:sldId id="347" r:id="rId24"/>
    <p:sldId id="348" r:id="rId25"/>
    <p:sldId id="351" r:id="rId26"/>
    <p:sldId id="352" r:id="rId27"/>
    <p:sldId id="270" r:id="rId28"/>
    <p:sldId id="268" r:id="rId29"/>
    <p:sldId id="276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114889-52F7-406D-8B2E-AECD730A4FF1}" v="1" dt="2022-02-09T10:48:04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8" autoAdjust="0"/>
    <p:restoredTop sz="95365" autoAdjust="0"/>
  </p:normalViewPr>
  <p:slideViewPr>
    <p:cSldViewPr snapToGrid="0">
      <p:cViewPr varScale="1">
        <p:scale>
          <a:sx n="42" d="100"/>
          <a:sy n="42" d="100"/>
        </p:scale>
        <p:origin x="1471" y="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2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BF1332-64B9-499A-B90B-94F27AACA67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E0ABA21-54F8-4F94-983D-A4196012FFCA}">
      <dgm:prSet/>
      <dgm:spPr/>
      <dgm:t>
        <a:bodyPr/>
        <a:lstStyle/>
        <a:p>
          <a:r>
            <a:rPr lang="en-US"/>
            <a:t>Gratitude: acknowledging contributions of others in making life better</a:t>
          </a:r>
        </a:p>
      </dgm:t>
    </dgm:pt>
    <dgm:pt modelId="{8A4A64CE-77B8-4C30-8C09-C965FE29A012}" type="parTrans" cxnId="{7DFC7F2E-6066-40F8-B712-B0DD81BF53C8}">
      <dgm:prSet/>
      <dgm:spPr/>
      <dgm:t>
        <a:bodyPr/>
        <a:lstStyle/>
        <a:p>
          <a:endParaRPr lang="en-US"/>
        </a:p>
      </dgm:t>
    </dgm:pt>
    <dgm:pt modelId="{11D9680F-E957-4A69-A62B-DC8529A3561C}" type="sibTrans" cxnId="{7DFC7F2E-6066-40F8-B712-B0DD81BF53C8}">
      <dgm:prSet/>
      <dgm:spPr/>
      <dgm:t>
        <a:bodyPr/>
        <a:lstStyle/>
        <a:p>
          <a:endParaRPr lang="en-US"/>
        </a:p>
      </dgm:t>
    </dgm:pt>
    <dgm:pt modelId="{80513C27-3B1F-45EE-B64C-25EF522CACED}">
      <dgm:prSet/>
      <dgm:spPr/>
      <dgm:t>
        <a:bodyPr/>
        <a:lstStyle/>
        <a:p>
          <a:r>
            <a:rPr lang="en-US"/>
            <a:t>Forgiveness: process of letting go of negative emotions when hurt or transgressed against</a:t>
          </a:r>
        </a:p>
      </dgm:t>
    </dgm:pt>
    <dgm:pt modelId="{5C6046A1-0E38-4280-92AA-22E8C8B9BFC4}" type="parTrans" cxnId="{D9896D2E-9E1C-4A60-9F58-3C90CC21249F}">
      <dgm:prSet/>
      <dgm:spPr/>
      <dgm:t>
        <a:bodyPr/>
        <a:lstStyle/>
        <a:p>
          <a:endParaRPr lang="en-US"/>
        </a:p>
      </dgm:t>
    </dgm:pt>
    <dgm:pt modelId="{B4A85E67-F424-493D-B878-9B2A01936F29}" type="sibTrans" cxnId="{D9896D2E-9E1C-4A60-9F58-3C90CC21249F}">
      <dgm:prSet/>
      <dgm:spPr/>
      <dgm:t>
        <a:bodyPr/>
        <a:lstStyle/>
        <a:p>
          <a:endParaRPr lang="en-US"/>
        </a:p>
      </dgm:t>
    </dgm:pt>
    <dgm:pt modelId="{95A03AC2-0B5D-4993-9DB9-64535643847B}">
      <dgm:prSet/>
      <dgm:spPr/>
      <dgm:t>
        <a:bodyPr/>
        <a:lstStyle/>
        <a:p>
          <a:r>
            <a:rPr lang="en-US"/>
            <a:t>Both require taking the other person’s perspective</a:t>
          </a:r>
        </a:p>
      </dgm:t>
    </dgm:pt>
    <dgm:pt modelId="{FBC3A574-35C9-4624-AE9C-A6381A719709}" type="parTrans" cxnId="{EC8664C2-4844-4D0C-9EB8-C0FA34D897DA}">
      <dgm:prSet/>
      <dgm:spPr/>
      <dgm:t>
        <a:bodyPr/>
        <a:lstStyle/>
        <a:p>
          <a:endParaRPr lang="en-US"/>
        </a:p>
      </dgm:t>
    </dgm:pt>
    <dgm:pt modelId="{B404F03A-DF53-4C0E-9389-94F2A85F6281}" type="sibTrans" cxnId="{EC8664C2-4844-4D0C-9EB8-C0FA34D897DA}">
      <dgm:prSet/>
      <dgm:spPr/>
      <dgm:t>
        <a:bodyPr/>
        <a:lstStyle/>
        <a:p>
          <a:endParaRPr lang="en-US"/>
        </a:p>
      </dgm:t>
    </dgm:pt>
    <dgm:pt modelId="{FFCAF75C-E98D-44C9-8F97-03F8B9098160}" type="pres">
      <dgm:prSet presAssocID="{4ABF1332-64B9-499A-B90B-94F27AACA679}" presName="linear" presStyleCnt="0">
        <dgm:presLayoutVars>
          <dgm:animLvl val="lvl"/>
          <dgm:resizeHandles val="exact"/>
        </dgm:presLayoutVars>
      </dgm:prSet>
      <dgm:spPr/>
    </dgm:pt>
    <dgm:pt modelId="{DF1F9F6A-4A00-4CC5-A3F9-AE5F70CB4212}" type="pres">
      <dgm:prSet presAssocID="{EE0ABA21-54F8-4F94-983D-A4196012FFC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88A35ED-7ACC-486D-B65C-81F2621A08E8}" type="pres">
      <dgm:prSet presAssocID="{11D9680F-E957-4A69-A62B-DC8529A3561C}" presName="spacer" presStyleCnt="0"/>
      <dgm:spPr/>
    </dgm:pt>
    <dgm:pt modelId="{EF038540-7E0E-481E-983E-501ED7A57558}" type="pres">
      <dgm:prSet presAssocID="{80513C27-3B1F-45EE-B64C-25EF522CACE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16B0554-EB74-424A-83B4-41761E2484C3}" type="pres">
      <dgm:prSet presAssocID="{B4A85E67-F424-493D-B878-9B2A01936F29}" presName="spacer" presStyleCnt="0"/>
      <dgm:spPr/>
    </dgm:pt>
    <dgm:pt modelId="{D28E6C0F-7264-4681-9708-7C3542E868E4}" type="pres">
      <dgm:prSet presAssocID="{95A03AC2-0B5D-4993-9DB9-64535643847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9896D2E-9E1C-4A60-9F58-3C90CC21249F}" srcId="{4ABF1332-64B9-499A-B90B-94F27AACA679}" destId="{80513C27-3B1F-45EE-B64C-25EF522CACED}" srcOrd="1" destOrd="0" parTransId="{5C6046A1-0E38-4280-92AA-22E8C8B9BFC4}" sibTransId="{B4A85E67-F424-493D-B878-9B2A01936F29}"/>
    <dgm:cxn modelId="{7DFC7F2E-6066-40F8-B712-B0DD81BF53C8}" srcId="{4ABF1332-64B9-499A-B90B-94F27AACA679}" destId="{EE0ABA21-54F8-4F94-983D-A4196012FFCA}" srcOrd="0" destOrd="0" parTransId="{8A4A64CE-77B8-4C30-8C09-C965FE29A012}" sibTransId="{11D9680F-E957-4A69-A62B-DC8529A3561C}"/>
    <dgm:cxn modelId="{FF3CC23B-40E5-421B-B9FF-C04951DE9832}" type="presOf" srcId="{80513C27-3B1F-45EE-B64C-25EF522CACED}" destId="{EF038540-7E0E-481E-983E-501ED7A57558}" srcOrd="0" destOrd="0" presId="urn:microsoft.com/office/officeart/2005/8/layout/vList2"/>
    <dgm:cxn modelId="{AB1DD690-FDEC-420E-A952-6F3F97CF5536}" type="presOf" srcId="{EE0ABA21-54F8-4F94-983D-A4196012FFCA}" destId="{DF1F9F6A-4A00-4CC5-A3F9-AE5F70CB4212}" srcOrd="0" destOrd="0" presId="urn:microsoft.com/office/officeart/2005/8/layout/vList2"/>
    <dgm:cxn modelId="{7D3FECBD-84BC-46A8-BE80-C26E90552615}" type="presOf" srcId="{95A03AC2-0B5D-4993-9DB9-64535643847B}" destId="{D28E6C0F-7264-4681-9708-7C3542E868E4}" srcOrd="0" destOrd="0" presId="urn:microsoft.com/office/officeart/2005/8/layout/vList2"/>
    <dgm:cxn modelId="{EC8664C2-4844-4D0C-9EB8-C0FA34D897DA}" srcId="{4ABF1332-64B9-499A-B90B-94F27AACA679}" destId="{95A03AC2-0B5D-4993-9DB9-64535643847B}" srcOrd="2" destOrd="0" parTransId="{FBC3A574-35C9-4624-AE9C-A6381A719709}" sibTransId="{B404F03A-DF53-4C0E-9389-94F2A85F6281}"/>
    <dgm:cxn modelId="{25A50BE6-4ED7-4D07-A951-F0D045AB3526}" type="presOf" srcId="{4ABF1332-64B9-499A-B90B-94F27AACA679}" destId="{FFCAF75C-E98D-44C9-8F97-03F8B9098160}" srcOrd="0" destOrd="0" presId="urn:microsoft.com/office/officeart/2005/8/layout/vList2"/>
    <dgm:cxn modelId="{E25BA1B8-E5FD-4B61-8507-A9D64462E85D}" type="presParOf" srcId="{FFCAF75C-E98D-44C9-8F97-03F8B9098160}" destId="{DF1F9F6A-4A00-4CC5-A3F9-AE5F70CB4212}" srcOrd="0" destOrd="0" presId="urn:microsoft.com/office/officeart/2005/8/layout/vList2"/>
    <dgm:cxn modelId="{47397BEA-357A-4662-9D35-9D4721A646D8}" type="presParOf" srcId="{FFCAF75C-E98D-44C9-8F97-03F8B9098160}" destId="{E88A35ED-7ACC-486D-B65C-81F2621A08E8}" srcOrd="1" destOrd="0" presId="urn:microsoft.com/office/officeart/2005/8/layout/vList2"/>
    <dgm:cxn modelId="{5A110254-FA16-47BC-AF38-21FB1A231E94}" type="presParOf" srcId="{FFCAF75C-E98D-44C9-8F97-03F8B9098160}" destId="{EF038540-7E0E-481E-983E-501ED7A57558}" srcOrd="2" destOrd="0" presId="urn:microsoft.com/office/officeart/2005/8/layout/vList2"/>
    <dgm:cxn modelId="{655A9022-62CD-40F5-92DA-813E559E6182}" type="presParOf" srcId="{FFCAF75C-E98D-44C9-8F97-03F8B9098160}" destId="{716B0554-EB74-424A-83B4-41761E2484C3}" srcOrd="3" destOrd="0" presId="urn:microsoft.com/office/officeart/2005/8/layout/vList2"/>
    <dgm:cxn modelId="{9909D13C-9C0C-4ED1-8DD1-32CD4043243A}" type="presParOf" srcId="{FFCAF75C-E98D-44C9-8F97-03F8B9098160}" destId="{D28E6C0F-7264-4681-9708-7C3542E868E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17B50A-D7F6-4532-8994-81F36C21AC4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8416D56-D696-4C7F-A301-C8EE05305D2E}">
      <dgm:prSet/>
      <dgm:spPr/>
      <dgm:t>
        <a:bodyPr/>
        <a:lstStyle/>
        <a:p>
          <a:r>
            <a:rPr lang="en-US"/>
            <a:t>Individual Differences</a:t>
          </a:r>
        </a:p>
      </dgm:t>
    </dgm:pt>
    <dgm:pt modelId="{175AC9A7-0378-4836-9F65-D3F0B1D943F3}" type="parTrans" cxnId="{B0E36692-E463-4BC0-ACDD-FCCE100589E7}">
      <dgm:prSet/>
      <dgm:spPr/>
      <dgm:t>
        <a:bodyPr/>
        <a:lstStyle/>
        <a:p>
          <a:endParaRPr lang="en-US"/>
        </a:p>
      </dgm:t>
    </dgm:pt>
    <dgm:pt modelId="{CD034658-6764-422B-88BD-A9B213D24C7C}" type="sibTrans" cxnId="{B0E36692-E463-4BC0-ACDD-FCCE100589E7}">
      <dgm:prSet/>
      <dgm:spPr/>
      <dgm:t>
        <a:bodyPr/>
        <a:lstStyle/>
        <a:p>
          <a:endParaRPr lang="en-US"/>
        </a:p>
      </dgm:t>
    </dgm:pt>
    <dgm:pt modelId="{E30C596D-3425-4A22-AB2C-FE441B1E808D}">
      <dgm:prSet/>
      <dgm:spPr/>
      <dgm:t>
        <a:bodyPr/>
        <a:lstStyle/>
        <a:p>
          <a:r>
            <a:rPr lang="en-US"/>
            <a:t>Estimates suggest that approximately 40% of the tendency to experience gratitude is inherited (Steger et al., 2007)</a:t>
          </a:r>
        </a:p>
      </dgm:t>
    </dgm:pt>
    <dgm:pt modelId="{1A9CDD62-2873-4511-9E9E-462D2DEDE4A6}" type="parTrans" cxnId="{3FFC2571-132A-4D0B-91F6-2FD71F191654}">
      <dgm:prSet/>
      <dgm:spPr/>
      <dgm:t>
        <a:bodyPr/>
        <a:lstStyle/>
        <a:p>
          <a:endParaRPr lang="en-US"/>
        </a:p>
      </dgm:t>
    </dgm:pt>
    <dgm:pt modelId="{3ADE0511-7C29-40E0-A1B6-6818C7EAB087}" type="sibTrans" cxnId="{3FFC2571-132A-4D0B-91F6-2FD71F191654}">
      <dgm:prSet/>
      <dgm:spPr/>
      <dgm:t>
        <a:bodyPr/>
        <a:lstStyle/>
        <a:p>
          <a:endParaRPr lang="en-US"/>
        </a:p>
      </dgm:t>
    </dgm:pt>
    <dgm:pt modelId="{3F0DB4BB-337A-42CE-BB5D-666BD7201C9C}">
      <dgm:prSet/>
      <dgm:spPr/>
      <dgm:t>
        <a:bodyPr/>
        <a:lstStyle/>
        <a:p>
          <a:r>
            <a:rPr lang="en-US"/>
            <a:t>May be particularly related to oxytocin and CD38 (a gene related to secretion and regulation of oxytocin; Algoe &amp; Way, 2014)</a:t>
          </a:r>
        </a:p>
      </dgm:t>
    </dgm:pt>
    <dgm:pt modelId="{4EB5CF7E-3CEA-4821-938B-5E859166D6FB}" type="parTrans" cxnId="{1881DF05-F78F-4B91-BF42-AF2F1C0E6A8E}">
      <dgm:prSet/>
      <dgm:spPr/>
      <dgm:t>
        <a:bodyPr/>
        <a:lstStyle/>
        <a:p>
          <a:endParaRPr lang="en-US"/>
        </a:p>
      </dgm:t>
    </dgm:pt>
    <dgm:pt modelId="{D405A674-8B74-4AC3-92CF-5949DA632DF8}" type="sibTrans" cxnId="{1881DF05-F78F-4B91-BF42-AF2F1C0E6A8E}">
      <dgm:prSet/>
      <dgm:spPr/>
      <dgm:t>
        <a:bodyPr/>
        <a:lstStyle/>
        <a:p>
          <a:endParaRPr lang="en-US"/>
        </a:p>
      </dgm:t>
    </dgm:pt>
    <dgm:pt modelId="{0CACA353-CFA7-479D-B17A-8A897B58B551}">
      <dgm:prSet/>
      <dgm:spPr/>
      <dgm:t>
        <a:bodyPr/>
        <a:lstStyle/>
        <a:p>
          <a:r>
            <a:rPr lang="en-US"/>
            <a:t>Environmental Differences</a:t>
          </a:r>
        </a:p>
      </dgm:t>
    </dgm:pt>
    <dgm:pt modelId="{9CD1CE05-9107-4AE4-B937-F5588DA1A209}" type="parTrans" cxnId="{87581D17-E4C6-4D6E-9834-F9D6D609FD2C}">
      <dgm:prSet/>
      <dgm:spPr/>
      <dgm:t>
        <a:bodyPr/>
        <a:lstStyle/>
        <a:p>
          <a:endParaRPr lang="en-US"/>
        </a:p>
      </dgm:t>
    </dgm:pt>
    <dgm:pt modelId="{4BCF630E-344E-407B-942E-0338C12FA78E}" type="sibTrans" cxnId="{87581D17-E4C6-4D6E-9834-F9D6D609FD2C}">
      <dgm:prSet/>
      <dgm:spPr/>
      <dgm:t>
        <a:bodyPr/>
        <a:lstStyle/>
        <a:p>
          <a:endParaRPr lang="en-US"/>
        </a:p>
      </dgm:t>
    </dgm:pt>
    <dgm:pt modelId="{809C6F77-4C78-4A28-8B5D-920CFE92D417}">
      <dgm:prSet/>
      <dgm:spPr/>
      <dgm:t>
        <a:bodyPr/>
        <a:lstStyle/>
        <a:p>
          <a:r>
            <a:rPr lang="en-US"/>
            <a:t>Perception that you have benefitted from something you can’t control (Rusk et al., 2016)</a:t>
          </a:r>
        </a:p>
      </dgm:t>
    </dgm:pt>
    <dgm:pt modelId="{A0034247-F786-485A-8856-C4E47ACE866D}" type="parTrans" cxnId="{8DC5FCC1-CB89-4BA3-BC23-22573846F4A1}">
      <dgm:prSet/>
      <dgm:spPr/>
      <dgm:t>
        <a:bodyPr/>
        <a:lstStyle/>
        <a:p>
          <a:endParaRPr lang="en-US"/>
        </a:p>
      </dgm:t>
    </dgm:pt>
    <dgm:pt modelId="{BA3EE3D3-46FB-48F7-B4AD-EAA5252A80F7}" type="sibTrans" cxnId="{8DC5FCC1-CB89-4BA3-BC23-22573846F4A1}">
      <dgm:prSet/>
      <dgm:spPr/>
      <dgm:t>
        <a:bodyPr/>
        <a:lstStyle/>
        <a:p>
          <a:endParaRPr lang="en-US"/>
        </a:p>
      </dgm:t>
    </dgm:pt>
    <dgm:pt modelId="{30D8320A-7178-4452-8A89-9231F8CFCEF9}">
      <dgm:prSet/>
      <dgm:spPr/>
      <dgm:t>
        <a:bodyPr/>
        <a:lstStyle/>
        <a:p>
          <a:r>
            <a:rPr lang="en-US"/>
            <a:t>Perception that the beneficial circumstance was surprising (Koo et al., 2008)</a:t>
          </a:r>
        </a:p>
      </dgm:t>
    </dgm:pt>
    <dgm:pt modelId="{7A3660B6-0988-4F6E-ABB8-FB605B06D8DD}" type="parTrans" cxnId="{60563695-9A40-46EA-9228-A67003922A7D}">
      <dgm:prSet/>
      <dgm:spPr/>
      <dgm:t>
        <a:bodyPr/>
        <a:lstStyle/>
        <a:p>
          <a:endParaRPr lang="en-US"/>
        </a:p>
      </dgm:t>
    </dgm:pt>
    <dgm:pt modelId="{DADF00A1-F5A2-4035-B570-E319E5E30981}" type="sibTrans" cxnId="{60563695-9A40-46EA-9228-A67003922A7D}">
      <dgm:prSet/>
      <dgm:spPr/>
      <dgm:t>
        <a:bodyPr/>
        <a:lstStyle/>
        <a:p>
          <a:endParaRPr lang="en-US"/>
        </a:p>
      </dgm:t>
    </dgm:pt>
    <dgm:pt modelId="{767B26C5-7E3C-4F0D-89D2-68B88E6BD2AB}">
      <dgm:prSet/>
      <dgm:spPr/>
      <dgm:t>
        <a:bodyPr/>
        <a:lstStyle/>
        <a:p>
          <a:r>
            <a:rPr lang="en-US"/>
            <a:t>Perception that action was responsive to wants or needs (Algoe et al. 2008)</a:t>
          </a:r>
        </a:p>
      </dgm:t>
    </dgm:pt>
    <dgm:pt modelId="{9AB10F9A-30B6-4BBB-8C71-8C3D9EF55E5A}" type="parTrans" cxnId="{7F07224F-DC21-49C5-B3A9-DF9C0ADD21AB}">
      <dgm:prSet/>
      <dgm:spPr/>
      <dgm:t>
        <a:bodyPr/>
        <a:lstStyle/>
        <a:p>
          <a:endParaRPr lang="en-US"/>
        </a:p>
      </dgm:t>
    </dgm:pt>
    <dgm:pt modelId="{889F9554-C86C-473F-A9F4-81F216013AC5}" type="sibTrans" cxnId="{7F07224F-DC21-49C5-B3A9-DF9C0ADD21AB}">
      <dgm:prSet/>
      <dgm:spPr/>
      <dgm:t>
        <a:bodyPr/>
        <a:lstStyle/>
        <a:p>
          <a:endParaRPr lang="en-US"/>
        </a:p>
      </dgm:t>
    </dgm:pt>
    <dgm:pt modelId="{2824690A-AAAA-46CC-B3A5-C2CF2A0E55C2}" type="pres">
      <dgm:prSet presAssocID="{F717B50A-D7F6-4532-8994-81F36C21AC4A}" presName="linear" presStyleCnt="0">
        <dgm:presLayoutVars>
          <dgm:animLvl val="lvl"/>
          <dgm:resizeHandles val="exact"/>
        </dgm:presLayoutVars>
      </dgm:prSet>
      <dgm:spPr/>
    </dgm:pt>
    <dgm:pt modelId="{BF80B829-33DE-4C6D-AEA5-D8D0219BF4CA}" type="pres">
      <dgm:prSet presAssocID="{38416D56-D696-4C7F-A301-C8EE05305D2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B1F3D11-74DB-4075-94CA-2EB1E3FB05FF}" type="pres">
      <dgm:prSet presAssocID="{38416D56-D696-4C7F-A301-C8EE05305D2E}" presName="childText" presStyleLbl="revTx" presStyleIdx="0" presStyleCnt="2">
        <dgm:presLayoutVars>
          <dgm:bulletEnabled val="1"/>
        </dgm:presLayoutVars>
      </dgm:prSet>
      <dgm:spPr/>
    </dgm:pt>
    <dgm:pt modelId="{C0A0BBDF-9F10-4471-924F-F447C741B54A}" type="pres">
      <dgm:prSet presAssocID="{0CACA353-CFA7-479D-B17A-8A897B58B55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0E1BD11-53FB-4149-8A37-81F353D9325B}" type="pres">
      <dgm:prSet presAssocID="{0CACA353-CFA7-479D-B17A-8A897B58B55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881DF05-F78F-4B91-BF42-AF2F1C0E6A8E}" srcId="{38416D56-D696-4C7F-A301-C8EE05305D2E}" destId="{3F0DB4BB-337A-42CE-BB5D-666BD7201C9C}" srcOrd="1" destOrd="0" parTransId="{4EB5CF7E-3CEA-4821-938B-5E859166D6FB}" sibTransId="{D405A674-8B74-4AC3-92CF-5949DA632DF8}"/>
    <dgm:cxn modelId="{A1952D08-B57E-4137-B762-9B60EB1321BF}" type="presOf" srcId="{0CACA353-CFA7-479D-B17A-8A897B58B551}" destId="{C0A0BBDF-9F10-4471-924F-F447C741B54A}" srcOrd="0" destOrd="0" presId="urn:microsoft.com/office/officeart/2005/8/layout/vList2"/>
    <dgm:cxn modelId="{87581D17-E4C6-4D6E-9834-F9D6D609FD2C}" srcId="{F717B50A-D7F6-4532-8994-81F36C21AC4A}" destId="{0CACA353-CFA7-479D-B17A-8A897B58B551}" srcOrd="1" destOrd="0" parTransId="{9CD1CE05-9107-4AE4-B937-F5588DA1A209}" sibTransId="{4BCF630E-344E-407B-942E-0338C12FA78E}"/>
    <dgm:cxn modelId="{C6867B62-F6FA-4BC7-B523-BE4220B72A19}" type="presOf" srcId="{38416D56-D696-4C7F-A301-C8EE05305D2E}" destId="{BF80B829-33DE-4C6D-AEA5-D8D0219BF4CA}" srcOrd="0" destOrd="0" presId="urn:microsoft.com/office/officeart/2005/8/layout/vList2"/>
    <dgm:cxn modelId="{B15B014E-5F0E-45D7-A1BE-5C56B699FDD6}" type="presOf" srcId="{3F0DB4BB-337A-42CE-BB5D-666BD7201C9C}" destId="{DB1F3D11-74DB-4075-94CA-2EB1E3FB05FF}" srcOrd="0" destOrd="1" presId="urn:microsoft.com/office/officeart/2005/8/layout/vList2"/>
    <dgm:cxn modelId="{7F07224F-DC21-49C5-B3A9-DF9C0ADD21AB}" srcId="{0CACA353-CFA7-479D-B17A-8A897B58B551}" destId="{767B26C5-7E3C-4F0D-89D2-68B88E6BD2AB}" srcOrd="2" destOrd="0" parTransId="{9AB10F9A-30B6-4BBB-8C71-8C3D9EF55E5A}" sibTransId="{889F9554-C86C-473F-A9F4-81F216013AC5}"/>
    <dgm:cxn modelId="{3FFC2571-132A-4D0B-91F6-2FD71F191654}" srcId="{38416D56-D696-4C7F-A301-C8EE05305D2E}" destId="{E30C596D-3425-4A22-AB2C-FE441B1E808D}" srcOrd="0" destOrd="0" parTransId="{1A9CDD62-2873-4511-9E9E-462D2DEDE4A6}" sibTransId="{3ADE0511-7C29-40E0-A1B6-6818C7EAB087}"/>
    <dgm:cxn modelId="{C7FD1A55-560B-4BEE-8718-694275CBEFD5}" type="presOf" srcId="{30D8320A-7178-4452-8A89-9231F8CFCEF9}" destId="{20E1BD11-53FB-4149-8A37-81F353D9325B}" srcOrd="0" destOrd="1" presId="urn:microsoft.com/office/officeart/2005/8/layout/vList2"/>
    <dgm:cxn modelId="{B0E36692-E463-4BC0-ACDD-FCCE100589E7}" srcId="{F717B50A-D7F6-4532-8994-81F36C21AC4A}" destId="{38416D56-D696-4C7F-A301-C8EE05305D2E}" srcOrd="0" destOrd="0" parTransId="{175AC9A7-0378-4836-9F65-D3F0B1D943F3}" sibTransId="{CD034658-6764-422B-88BD-A9B213D24C7C}"/>
    <dgm:cxn modelId="{60563695-9A40-46EA-9228-A67003922A7D}" srcId="{0CACA353-CFA7-479D-B17A-8A897B58B551}" destId="{30D8320A-7178-4452-8A89-9231F8CFCEF9}" srcOrd="1" destOrd="0" parTransId="{7A3660B6-0988-4F6E-ABB8-FB605B06D8DD}" sibTransId="{DADF00A1-F5A2-4035-B570-E319E5E30981}"/>
    <dgm:cxn modelId="{7C6FAABF-A69D-413B-B408-2DB8B94597FA}" type="presOf" srcId="{809C6F77-4C78-4A28-8B5D-920CFE92D417}" destId="{20E1BD11-53FB-4149-8A37-81F353D9325B}" srcOrd="0" destOrd="0" presId="urn:microsoft.com/office/officeart/2005/8/layout/vList2"/>
    <dgm:cxn modelId="{8DC5FCC1-CB89-4BA3-BC23-22573846F4A1}" srcId="{0CACA353-CFA7-479D-B17A-8A897B58B551}" destId="{809C6F77-4C78-4A28-8B5D-920CFE92D417}" srcOrd="0" destOrd="0" parTransId="{A0034247-F786-485A-8856-C4E47ACE866D}" sibTransId="{BA3EE3D3-46FB-48F7-B4AD-EAA5252A80F7}"/>
    <dgm:cxn modelId="{D494FBD3-C540-4EED-AC0B-DDA67A7B44B3}" type="presOf" srcId="{E30C596D-3425-4A22-AB2C-FE441B1E808D}" destId="{DB1F3D11-74DB-4075-94CA-2EB1E3FB05FF}" srcOrd="0" destOrd="0" presId="urn:microsoft.com/office/officeart/2005/8/layout/vList2"/>
    <dgm:cxn modelId="{13E911FC-B161-4F41-A7FD-FC49B406D291}" type="presOf" srcId="{767B26C5-7E3C-4F0D-89D2-68B88E6BD2AB}" destId="{20E1BD11-53FB-4149-8A37-81F353D9325B}" srcOrd="0" destOrd="2" presId="urn:microsoft.com/office/officeart/2005/8/layout/vList2"/>
    <dgm:cxn modelId="{022944FC-8DDA-4573-BAB6-95F6FCCDB7E5}" type="presOf" srcId="{F717B50A-D7F6-4532-8994-81F36C21AC4A}" destId="{2824690A-AAAA-46CC-B3A5-C2CF2A0E55C2}" srcOrd="0" destOrd="0" presId="urn:microsoft.com/office/officeart/2005/8/layout/vList2"/>
    <dgm:cxn modelId="{A65710C3-C375-4AF2-9FB4-D95C05963C93}" type="presParOf" srcId="{2824690A-AAAA-46CC-B3A5-C2CF2A0E55C2}" destId="{BF80B829-33DE-4C6D-AEA5-D8D0219BF4CA}" srcOrd="0" destOrd="0" presId="urn:microsoft.com/office/officeart/2005/8/layout/vList2"/>
    <dgm:cxn modelId="{C4753F2D-C705-4153-9334-ED4CD7B06151}" type="presParOf" srcId="{2824690A-AAAA-46CC-B3A5-C2CF2A0E55C2}" destId="{DB1F3D11-74DB-4075-94CA-2EB1E3FB05FF}" srcOrd="1" destOrd="0" presId="urn:microsoft.com/office/officeart/2005/8/layout/vList2"/>
    <dgm:cxn modelId="{310C42A1-ED31-44A0-AE7E-C6FD2E0E0587}" type="presParOf" srcId="{2824690A-AAAA-46CC-B3A5-C2CF2A0E55C2}" destId="{C0A0BBDF-9F10-4471-924F-F447C741B54A}" srcOrd="2" destOrd="0" presId="urn:microsoft.com/office/officeart/2005/8/layout/vList2"/>
    <dgm:cxn modelId="{98AD8A46-6F27-4B5B-8517-ACBA95C7E7ED}" type="presParOf" srcId="{2824690A-AAAA-46CC-B3A5-C2CF2A0E55C2}" destId="{20E1BD11-53FB-4149-8A37-81F353D9325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2C1E2B-2DBC-405A-991C-200A585D4FB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2EF2873-FC75-498F-80F8-E155F36EDBA4}">
      <dgm:prSet/>
      <dgm:spPr/>
      <dgm:t>
        <a:bodyPr/>
        <a:lstStyle/>
        <a:p>
          <a:r>
            <a:rPr lang="en-US"/>
            <a:t>Start with a warm salutation</a:t>
          </a:r>
        </a:p>
      </dgm:t>
    </dgm:pt>
    <dgm:pt modelId="{085359DC-D569-4404-9C4F-2AC728CD9939}" type="parTrans" cxnId="{F1D2FF07-37EF-43B2-8BF6-FD5AB94AFDAD}">
      <dgm:prSet/>
      <dgm:spPr/>
      <dgm:t>
        <a:bodyPr/>
        <a:lstStyle/>
        <a:p>
          <a:endParaRPr lang="en-US"/>
        </a:p>
      </dgm:t>
    </dgm:pt>
    <dgm:pt modelId="{73B3FD45-AE72-434A-97C8-8DEFC90B3951}" type="sibTrans" cxnId="{F1D2FF07-37EF-43B2-8BF6-FD5AB94AFDAD}">
      <dgm:prSet/>
      <dgm:spPr/>
      <dgm:t>
        <a:bodyPr/>
        <a:lstStyle/>
        <a:p>
          <a:endParaRPr lang="en-US"/>
        </a:p>
      </dgm:t>
    </dgm:pt>
    <dgm:pt modelId="{F5F5B1F0-27E3-44BE-A767-2266950644E1}">
      <dgm:prSet/>
      <dgm:spPr/>
      <dgm:t>
        <a:bodyPr/>
        <a:lstStyle/>
        <a:p>
          <a:r>
            <a:rPr lang="en-US"/>
            <a:t>Summarize why you’re grateful for your recipient</a:t>
          </a:r>
        </a:p>
      </dgm:t>
    </dgm:pt>
    <dgm:pt modelId="{E8F0646A-4724-4C59-97A4-A40840884C84}" type="parTrans" cxnId="{450BAD49-D9F0-4CE4-9AF5-9BE07BA68EBA}">
      <dgm:prSet/>
      <dgm:spPr/>
      <dgm:t>
        <a:bodyPr/>
        <a:lstStyle/>
        <a:p>
          <a:endParaRPr lang="en-US"/>
        </a:p>
      </dgm:t>
    </dgm:pt>
    <dgm:pt modelId="{227A59CF-4E34-4822-957A-127CF9712D8B}" type="sibTrans" cxnId="{450BAD49-D9F0-4CE4-9AF5-9BE07BA68EBA}">
      <dgm:prSet/>
      <dgm:spPr/>
      <dgm:t>
        <a:bodyPr/>
        <a:lstStyle/>
        <a:p>
          <a:endParaRPr lang="en-US"/>
        </a:p>
      </dgm:t>
    </dgm:pt>
    <dgm:pt modelId="{BCCBF906-38C5-4D44-9EEE-1B98AB9D912B}">
      <dgm:prSet/>
      <dgm:spPr/>
      <dgm:t>
        <a:bodyPr/>
        <a:lstStyle/>
        <a:p>
          <a:r>
            <a:rPr lang="en-US"/>
            <a:t>Mention specific details about the recipient and their impact of the things they did for you</a:t>
          </a:r>
        </a:p>
      </dgm:t>
    </dgm:pt>
    <dgm:pt modelId="{4FB65B89-0AD1-44EA-B7F6-49F861DF9870}" type="parTrans" cxnId="{823C1632-A238-4138-8DC2-2825B6CCF6B7}">
      <dgm:prSet/>
      <dgm:spPr/>
      <dgm:t>
        <a:bodyPr/>
        <a:lstStyle/>
        <a:p>
          <a:endParaRPr lang="en-US"/>
        </a:p>
      </dgm:t>
    </dgm:pt>
    <dgm:pt modelId="{F32B10AF-7A40-412D-906B-E753182E4458}" type="sibTrans" cxnId="{823C1632-A238-4138-8DC2-2825B6CCF6B7}">
      <dgm:prSet/>
      <dgm:spPr/>
      <dgm:t>
        <a:bodyPr/>
        <a:lstStyle/>
        <a:p>
          <a:endParaRPr lang="en-US"/>
        </a:p>
      </dgm:t>
    </dgm:pt>
    <dgm:pt modelId="{2AC2ED33-9B6E-462D-9F32-00CE3617C6AA}">
      <dgm:prSet/>
      <dgm:spPr/>
      <dgm:t>
        <a:bodyPr/>
        <a:lstStyle/>
        <a:p>
          <a:r>
            <a:rPr lang="en-US"/>
            <a:t>Focus on the recipient</a:t>
          </a:r>
        </a:p>
      </dgm:t>
    </dgm:pt>
    <dgm:pt modelId="{0C08F395-F544-42C6-B93F-7AEB42E97CE3}" type="parTrans" cxnId="{62961DF4-5BAA-4735-B4D6-100F31BF3A1C}">
      <dgm:prSet/>
      <dgm:spPr/>
      <dgm:t>
        <a:bodyPr/>
        <a:lstStyle/>
        <a:p>
          <a:endParaRPr lang="en-US"/>
        </a:p>
      </dgm:t>
    </dgm:pt>
    <dgm:pt modelId="{2166A1D6-3838-465A-B6A5-93EDE0C1A905}" type="sibTrans" cxnId="{62961DF4-5BAA-4735-B4D6-100F31BF3A1C}">
      <dgm:prSet/>
      <dgm:spPr/>
      <dgm:t>
        <a:bodyPr/>
        <a:lstStyle/>
        <a:p>
          <a:endParaRPr lang="en-US"/>
        </a:p>
      </dgm:t>
    </dgm:pt>
    <dgm:pt modelId="{73B9245A-D5A2-4729-BF72-F61ED94FC162}">
      <dgm:prSet/>
      <dgm:spPr/>
      <dgm:t>
        <a:bodyPr/>
        <a:lstStyle/>
        <a:p>
          <a:r>
            <a:rPr lang="en-US"/>
            <a:t>Be specific</a:t>
          </a:r>
        </a:p>
      </dgm:t>
    </dgm:pt>
    <dgm:pt modelId="{50C37CA0-6FA7-4B4E-95F7-7D5FA20E9993}" type="parTrans" cxnId="{E3D327BD-57A9-4A02-BB68-9F2286419C62}">
      <dgm:prSet/>
      <dgm:spPr/>
      <dgm:t>
        <a:bodyPr/>
        <a:lstStyle/>
        <a:p>
          <a:endParaRPr lang="en-US"/>
        </a:p>
      </dgm:t>
    </dgm:pt>
    <dgm:pt modelId="{DB21E1AB-C8C2-4AD7-8B6F-F318A90B595F}" type="sibTrans" cxnId="{E3D327BD-57A9-4A02-BB68-9F2286419C62}">
      <dgm:prSet/>
      <dgm:spPr/>
      <dgm:t>
        <a:bodyPr/>
        <a:lstStyle/>
        <a:p>
          <a:endParaRPr lang="en-US"/>
        </a:p>
      </dgm:t>
    </dgm:pt>
    <dgm:pt modelId="{BFAD8F26-9D4A-4D02-85EC-6449D5469F5C}">
      <dgm:prSet/>
      <dgm:spPr/>
      <dgm:t>
        <a:bodyPr/>
        <a:lstStyle/>
        <a:p>
          <a:r>
            <a:rPr lang="en-US"/>
            <a:t>Conclude with an expression of gratitude</a:t>
          </a:r>
        </a:p>
      </dgm:t>
    </dgm:pt>
    <dgm:pt modelId="{095E0034-0F3A-4534-9666-040F16A00826}" type="parTrans" cxnId="{B9C534E7-A9ED-416C-B2E5-3D1A408FC7F6}">
      <dgm:prSet/>
      <dgm:spPr/>
      <dgm:t>
        <a:bodyPr/>
        <a:lstStyle/>
        <a:p>
          <a:endParaRPr lang="en-US"/>
        </a:p>
      </dgm:t>
    </dgm:pt>
    <dgm:pt modelId="{9A6A1845-F0F7-4812-8F8E-BE1DB5B5832D}" type="sibTrans" cxnId="{B9C534E7-A9ED-416C-B2E5-3D1A408FC7F6}">
      <dgm:prSet/>
      <dgm:spPr/>
      <dgm:t>
        <a:bodyPr/>
        <a:lstStyle/>
        <a:p>
          <a:endParaRPr lang="en-US"/>
        </a:p>
      </dgm:t>
    </dgm:pt>
    <dgm:pt modelId="{5DB2A94E-08DA-4540-91F0-3519D88CC370}" type="pres">
      <dgm:prSet presAssocID="{8D2C1E2B-2DBC-405A-991C-200A585D4FBD}" presName="root" presStyleCnt="0">
        <dgm:presLayoutVars>
          <dgm:dir/>
          <dgm:resizeHandles val="exact"/>
        </dgm:presLayoutVars>
      </dgm:prSet>
      <dgm:spPr/>
    </dgm:pt>
    <dgm:pt modelId="{704599D5-FF28-46F2-9299-0DCB6ADE088F}" type="pres">
      <dgm:prSet presAssocID="{92EF2873-FC75-498F-80F8-E155F36EDBA4}" presName="compNode" presStyleCnt="0"/>
      <dgm:spPr/>
    </dgm:pt>
    <dgm:pt modelId="{2AAD5F36-D818-4203-A883-7FCEBB36D92C}" type="pres">
      <dgm:prSet presAssocID="{92EF2873-FC75-498F-80F8-E155F36EDBA4}" presName="bgRect" presStyleLbl="bgShp" presStyleIdx="0" presStyleCnt="4"/>
      <dgm:spPr/>
    </dgm:pt>
    <dgm:pt modelId="{0DF46698-7C11-4264-BA75-A51F7A0C5017}" type="pres">
      <dgm:prSet presAssocID="{92EF2873-FC75-498F-80F8-E155F36EDBA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E9876C9E-56A2-4420-AF45-99634CBA2632}" type="pres">
      <dgm:prSet presAssocID="{92EF2873-FC75-498F-80F8-E155F36EDBA4}" presName="spaceRect" presStyleCnt="0"/>
      <dgm:spPr/>
    </dgm:pt>
    <dgm:pt modelId="{EC2F559B-CA79-44FE-9A3E-CDA448355DEE}" type="pres">
      <dgm:prSet presAssocID="{92EF2873-FC75-498F-80F8-E155F36EDBA4}" presName="parTx" presStyleLbl="revTx" presStyleIdx="0" presStyleCnt="5">
        <dgm:presLayoutVars>
          <dgm:chMax val="0"/>
          <dgm:chPref val="0"/>
        </dgm:presLayoutVars>
      </dgm:prSet>
      <dgm:spPr/>
    </dgm:pt>
    <dgm:pt modelId="{75BCD92D-966B-4906-8919-580C885E4304}" type="pres">
      <dgm:prSet presAssocID="{73B3FD45-AE72-434A-97C8-8DEFC90B3951}" presName="sibTrans" presStyleCnt="0"/>
      <dgm:spPr/>
    </dgm:pt>
    <dgm:pt modelId="{700B1527-6120-48D3-A35E-5CD87E7C5383}" type="pres">
      <dgm:prSet presAssocID="{F5F5B1F0-27E3-44BE-A767-2266950644E1}" presName="compNode" presStyleCnt="0"/>
      <dgm:spPr/>
    </dgm:pt>
    <dgm:pt modelId="{7695622D-D3BA-4643-93EF-1CFA6D7631D5}" type="pres">
      <dgm:prSet presAssocID="{F5F5B1F0-27E3-44BE-A767-2266950644E1}" presName="bgRect" presStyleLbl="bgShp" presStyleIdx="1" presStyleCnt="4"/>
      <dgm:spPr/>
    </dgm:pt>
    <dgm:pt modelId="{1B5904C0-5963-4D4F-966B-F1492E9A3530}" type="pres">
      <dgm:prSet presAssocID="{F5F5B1F0-27E3-44BE-A767-2266950644E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"/>
        </a:ext>
      </dgm:extLst>
    </dgm:pt>
    <dgm:pt modelId="{A3E376C1-418B-4568-B0FF-CFE0332682D7}" type="pres">
      <dgm:prSet presAssocID="{F5F5B1F0-27E3-44BE-A767-2266950644E1}" presName="spaceRect" presStyleCnt="0"/>
      <dgm:spPr/>
    </dgm:pt>
    <dgm:pt modelId="{9F127B0B-69E7-4BC1-97D9-9AB8B72320FE}" type="pres">
      <dgm:prSet presAssocID="{F5F5B1F0-27E3-44BE-A767-2266950644E1}" presName="parTx" presStyleLbl="revTx" presStyleIdx="1" presStyleCnt="5">
        <dgm:presLayoutVars>
          <dgm:chMax val="0"/>
          <dgm:chPref val="0"/>
        </dgm:presLayoutVars>
      </dgm:prSet>
      <dgm:spPr/>
    </dgm:pt>
    <dgm:pt modelId="{0605AD0B-C045-4995-A5ED-B943D83E5380}" type="pres">
      <dgm:prSet presAssocID="{227A59CF-4E34-4822-957A-127CF9712D8B}" presName="sibTrans" presStyleCnt="0"/>
      <dgm:spPr/>
    </dgm:pt>
    <dgm:pt modelId="{D8A42313-755C-443C-A8E8-62EEBC6B9F74}" type="pres">
      <dgm:prSet presAssocID="{BCCBF906-38C5-4D44-9EEE-1B98AB9D912B}" presName="compNode" presStyleCnt="0"/>
      <dgm:spPr/>
    </dgm:pt>
    <dgm:pt modelId="{6B52BDEF-7FA5-4515-A6EA-8BCF676D499A}" type="pres">
      <dgm:prSet presAssocID="{BCCBF906-38C5-4D44-9EEE-1B98AB9D912B}" presName="bgRect" presStyleLbl="bgShp" presStyleIdx="2" presStyleCnt="4"/>
      <dgm:spPr/>
    </dgm:pt>
    <dgm:pt modelId="{7DFA30D2-C171-47A8-A1B4-38CBC3FD8A22}" type="pres">
      <dgm:prSet presAssocID="{BCCBF906-38C5-4D44-9EEE-1B98AB9D91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3E58C80A-9B3F-43EE-A791-E515C3C3C6C4}" type="pres">
      <dgm:prSet presAssocID="{BCCBF906-38C5-4D44-9EEE-1B98AB9D912B}" presName="spaceRect" presStyleCnt="0"/>
      <dgm:spPr/>
    </dgm:pt>
    <dgm:pt modelId="{BFC602CB-A38D-4313-B488-31DE4750953A}" type="pres">
      <dgm:prSet presAssocID="{BCCBF906-38C5-4D44-9EEE-1B98AB9D912B}" presName="parTx" presStyleLbl="revTx" presStyleIdx="2" presStyleCnt="5">
        <dgm:presLayoutVars>
          <dgm:chMax val="0"/>
          <dgm:chPref val="0"/>
        </dgm:presLayoutVars>
      </dgm:prSet>
      <dgm:spPr/>
    </dgm:pt>
    <dgm:pt modelId="{BAD08328-96F0-40E7-8F42-BF2753994AF2}" type="pres">
      <dgm:prSet presAssocID="{BCCBF906-38C5-4D44-9EEE-1B98AB9D912B}" presName="desTx" presStyleLbl="revTx" presStyleIdx="3" presStyleCnt="5">
        <dgm:presLayoutVars/>
      </dgm:prSet>
      <dgm:spPr/>
    </dgm:pt>
    <dgm:pt modelId="{68A5FBA5-070C-406C-819E-F3F5D816FA80}" type="pres">
      <dgm:prSet presAssocID="{F32B10AF-7A40-412D-906B-E753182E4458}" presName="sibTrans" presStyleCnt="0"/>
      <dgm:spPr/>
    </dgm:pt>
    <dgm:pt modelId="{FF86B771-09CE-452F-9B4F-BEE9F19B7E0A}" type="pres">
      <dgm:prSet presAssocID="{BFAD8F26-9D4A-4D02-85EC-6449D5469F5C}" presName="compNode" presStyleCnt="0"/>
      <dgm:spPr/>
    </dgm:pt>
    <dgm:pt modelId="{30CD7962-84CE-42E4-B1F4-443A419A3E0F}" type="pres">
      <dgm:prSet presAssocID="{BFAD8F26-9D4A-4D02-85EC-6449D5469F5C}" presName="bgRect" presStyleLbl="bgShp" presStyleIdx="3" presStyleCnt="4"/>
      <dgm:spPr/>
    </dgm:pt>
    <dgm:pt modelId="{E3622FF8-F25B-42F7-A51D-0BAFCED2E655}" type="pres">
      <dgm:prSet presAssocID="{BFAD8F26-9D4A-4D02-85EC-6449D5469F5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2B1AA4F6-2592-49B5-8D09-B40005ACFB02}" type="pres">
      <dgm:prSet presAssocID="{BFAD8F26-9D4A-4D02-85EC-6449D5469F5C}" presName="spaceRect" presStyleCnt="0"/>
      <dgm:spPr/>
    </dgm:pt>
    <dgm:pt modelId="{44862E4C-C637-4C44-AA72-A69C46610679}" type="pres">
      <dgm:prSet presAssocID="{BFAD8F26-9D4A-4D02-85EC-6449D5469F5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1D2FF07-37EF-43B2-8BF6-FD5AB94AFDAD}" srcId="{8D2C1E2B-2DBC-405A-991C-200A585D4FBD}" destId="{92EF2873-FC75-498F-80F8-E155F36EDBA4}" srcOrd="0" destOrd="0" parTransId="{085359DC-D569-4404-9C4F-2AC728CD9939}" sibTransId="{73B3FD45-AE72-434A-97C8-8DEFC90B3951}"/>
    <dgm:cxn modelId="{59B1E412-05F8-4C13-91A4-9F54DB46CAF0}" type="presOf" srcId="{BCCBF906-38C5-4D44-9EEE-1B98AB9D912B}" destId="{BFC602CB-A38D-4313-B488-31DE4750953A}" srcOrd="0" destOrd="0" presId="urn:microsoft.com/office/officeart/2018/2/layout/IconVerticalSolidList"/>
    <dgm:cxn modelId="{823C1632-A238-4138-8DC2-2825B6CCF6B7}" srcId="{8D2C1E2B-2DBC-405A-991C-200A585D4FBD}" destId="{BCCBF906-38C5-4D44-9EEE-1B98AB9D912B}" srcOrd="2" destOrd="0" parTransId="{4FB65B89-0AD1-44EA-B7F6-49F861DF9870}" sibTransId="{F32B10AF-7A40-412D-906B-E753182E4458}"/>
    <dgm:cxn modelId="{65A4D146-E053-48F2-989D-53C02C54A6FE}" type="presOf" srcId="{92EF2873-FC75-498F-80F8-E155F36EDBA4}" destId="{EC2F559B-CA79-44FE-9A3E-CDA448355DEE}" srcOrd="0" destOrd="0" presId="urn:microsoft.com/office/officeart/2018/2/layout/IconVerticalSolidList"/>
    <dgm:cxn modelId="{450BAD49-D9F0-4CE4-9AF5-9BE07BA68EBA}" srcId="{8D2C1E2B-2DBC-405A-991C-200A585D4FBD}" destId="{F5F5B1F0-27E3-44BE-A767-2266950644E1}" srcOrd="1" destOrd="0" parTransId="{E8F0646A-4724-4C59-97A4-A40840884C84}" sibTransId="{227A59CF-4E34-4822-957A-127CF9712D8B}"/>
    <dgm:cxn modelId="{26227074-4BFB-4732-9332-24EB2779FE4A}" type="presOf" srcId="{BFAD8F26-9D4A-4D02-85EC-6449D5469F5C}" destId="{44862E4C-C637-4C44-AA72-A69C46610679}" srcOrd="0" destOrd="0" presId="urn:microsoft.com/office/officeart/2018/2/layout/IconVerticalSolidList"/>
    <dgm:cxn modelId="{DEAB4879-6A1B-4B5C-8972-147FCF0D63B0}" type="presOf" srcId="{F5F5B1F0-27E3-44BE-A767-2266950644E1}" destId="{9F127B0B-69E7-4BC1-97D9-9AB8B72320FE}" srcOrd="0" destOrd="0" presId="urn:microsoft.com/office/officeart/2018/2/layout/IconVerticalSolidList"/>
    <dgm:cxn modelId="{10BCE982-3027-47B5-891C-F15DE3571173}" type="presOf" srcId="{2AC2ED33-9B6E-462D-9F32-00CE3617C6AA}" destId="{BAD08328-96F0-40E7-8F42-BF2753994AF2}" srcOrd="0" destOrd="0" presId="urn:microsoft.com/office/officeart/2018/2/layout/IconVerticalSolidList"/>
    <dgm:cxn modelId="{6316DBA0-DA6F-4A82-862D-4DD4D40FEC26}" type="presOf" srcId="{8D2C1E2B-2DBC-405A-991C-200A585D4FBD}" destId="{5DB2A94E-08DA-4540-91F0-3519D88CC370}" srcOrd="0" destOrd="0" presId="urn:microsoft.com/office/officeart/2018/2/layout/IconVerticalSolidList"/>
    <dgm:cxn modelId="{E3D327BD-57A9-4A02-BB68-9F2286419C62}" srcId="{BCCBF906-38C5-4D44-9EEE-1B98AB9D912B}" destId="{73B9245A-D5A2-4729-BF72-F61ED94FC162}" srcOrd="1" destOrd="0" parTransId="{50C37CA0-6FA7-4B4E-95F7-7D5FA20E9993}" sibTransId="{DB21E1AB-C8C2-4AD7-8B6F-F318A90B595F}"/>
    <dgm:cxn modelId="{F73F92D7-B63E-43C2-8422-C6D1E5418B88}" type="presOf" srcId="{73B9245A-D5A2-4729-BF72-F61ED94FC162}" destId="{BAD08328-96F0-40E7-8F42-BF2753994AF2}" srcOrd="0" destOrd="1" presId="urn:microsoft.com/office/officeart/2018/2/layout/IconVerticalSolidList"/>
    <dgm:cxn modelId="{B9C534E7-A9ED-416C-B2E5-3D1A408FC7F6}" srcId="{8D2C1E2B-2DBC-405A-991C-200A585D4FBD}" destId="{BFAD8F26-9D4A-4D02-85EC-6449D5469F5C}" srcOrd="3" destOrd="0" parTransId="{095E0034-0F3A-4534-9666-040F16A00826}" sibTransId="{9A6A1845-F0F7-4812-8F8E-BE1DB5B5832D}"/>
    <dgm:cxn modelId="{62961DF4-5BAA-4735-B4D6-100F31BF3A1C}" srcId="{BCCBF906-38C5-4D44-9EEE-1B98AB9D912B}" destId="{2AC2ED33-9B6E-462D-9F32-00CE3617C6AA}" srcOrd="0" destOrd="0" parTransId="{0C08F395-F544-42C6-B93F-7AEB42E97CE3}" sibTransId="{2166A1D6-3838-465A-B6A5-93EDE0C1A905}"/>
    <dgm:cxn modelId="{BC77C8A6-E4F5-4B6E-BAA6-1C9717EB7FEC}" type="presParOf" srcId="{5DB2A94E-08DA-4540-91F0-3519D88CC370}" destId="{704599D5-FF28-46F2-9299-0DCB6ADE088F}" srcOrd="0" destOrd="0" presId="urn:microsoft.com/office/officeart/2018/2/layout/IconVerticalSolidList"/>
    <dgm:cxn modelId="{B5BB1BCA-59C4-4A7F-83C5-F1548702A15F}" type="presParOf" srcId="{704599D5-FF28-46F2-9299-0DCB6ADE088F}" destId="{2AAD5F36-D818-4203-A883-7FCEBB36D92C}" srcOrd="0" destOrd="0" presId="urn:microsoft.com/office/officeart/2018/2/layout/IconVerticalSolidList"/>
    <dgm:cxn modelId="{4EC2A14E-D5E4-469D-8F83-41A2976C0373}" type="presParOf" srcId="{704599D5-FF28-46F2-9299-0DCB6ADE088F}" destId="{0DF46698-7C11-4264-BA75-A51F7A0C5017}" srcOrd="1" destOrd="0" presId="urn:microsoft.com/office/officeart/2018/2/layout/IconVerticalSolidList"/>
    <dgm:cxn modelId="{38C66E91-1136-40C6-860C-51D7EBBBD198}" type="presParOf" srcId="{704599D5-FF28-46F2-9299-0DCB6ADE088F}" destId="{E9876C9E-56A2-4420-AF45-99634CBA2632}" srcOrd="2" destOrd="0" presId="urn:microsoft.com/office/officeart/2018/2/layout/IconVerticalSolidList"/>
    <dgm:cxn modelId="{E6F78DA6-6773-4781-B4F3-1E6896FC4FD6}" type="presParOf" srcId="{704599D5-FF28-46F2-9299-0DCB6ADE088F}" destId="{EC2F559B-CA79-44FE-9A3E-CDA448355DEE}" srcOrd="3" destOrd="0" presId="urn:microsoft.com/office/officeart/2018/2/layout/IconVerticalSolidList"/>
    <dgm:cxn modelId="{085BF69E-4F1C-45A5-8D95-D13E9FFFA068}" type="presParOf" srcId="{5DB2A94E-08DA-4540-91F0-3519D88CC370}" destId="{75BCD92D-966B-4906-8919-580C885E4304}" srcOrd="1" destOrd="0" presId="urn:microsoft.com/office/officeart/2018/2/layout/IconVerticalSolidList"/>
    <dgm:cxn modelId="{2FBA00EB-AEE1-46EF-90B2-E1092E9D9B43}" type="presParOf" srcId="{5DB2A94E-08DA-4540-91F0-3519D88CC370}" destId="{700B1527-6120-48D3-A35E-5CD87E7C5383}" srcOrd="2" destOrd="0" presId="urn:microsoft.com/office/officeart/2018/2/layout/IconVerticalSolidList"/>
    <dgm:cxn modelId="{2C9FF807-FF50-420D-896F-7F5A279EDA20}" type="presParOf" srcId="{700B1527-6120-48D3-A35E-5CD87E7C5383}" destId="{7695622D-D3BA-4643-93EF-1CFA6D7631D5}" srcOrd="0" destOrd="0" presId="urn:microsoft.com/office/officeart/2018/2/layout/IconVerticalSolidList"/>
    <dgm:cxn modelId="{6BC7251B-FEF4-4D00-95AD-3B5405291AFA}" type="presParOf" srcId="{700B1527-6120-48D3-A35E-5CD87E7C5383}" destId="{1B5904C0-5963-4D4F-966B-F1492E9A3530}" srcOrd="1" destOrd="0" presId="urn:microsoft.com/office/officeart/2018/2/layout/IconVerticalSolidList"/>
    <dgm:cxn modelId="{3268D1AC-BDDD-46F3-8874-842C0D356AAC}" type="presParOf" srcId="{700B1527-6120-48D3-A35E-5CD87E7C5383}" destId="{A3E376C1-418B-4568-B0FF-CFE0332682D7}" srcOrd="2" destOrd="0" presId="urn:microsoft.com/office/officeart/2018/2/layout/IconVerticalSolidList"/>
    <dgm:cxn modelId="{57E9C462-A917-477B-A1D4-5EF5D1A8E1C9}" type="presParOf" srcId="{700B1527-6120-48D3-A35E-5CD87E7C5383}" destId="{9F127B0B-69E7-4BC1-97D9-9AB8B72320FE}" srcOrd="3" destOrd="0" presId="urn:microsoft.com/office/officeart/2018/2/layout/IconVerticalSolidList"/>
    <dgm:cxn modelId="{4B58D8BD-DDB7-4BA5-8859-D08CEDDD8B6C}" type="presParOf" srcId="{5DB2A94E-08DA-4540-91F0-3519D88CC370}" destId="{0605AD0B-C045-4995-A5ED-B943D83E5380}" srcOrd="3" destOrd="0" presId="urn:microsoft.com/office/officeart/2018/2/layout/IconVerticalSolidList"/>
    <dgm:cxn modelId="{1CBEDB4C-4B1F-4B1E-AEF1-F8E77BEFAA29}" type="presParOf" srcId="{5DB2A94E-08DA-4540-91F0-3519D88CC370}" destId="{D8A42313-755C-443C-A8E8-62EEBC6B9F74}" srcOrd="4" destOrd="0" presId="urn:microsoft.com/office/officeart/2018/2/layout/IconVerticalSolidList"/>
    <dgm:cxn modelId="{0C889971-47D7-4F4C-9B64-AF20E2E4F016}" type="presParOf" srcId="{D8A42313-755C-443C-A8E8-62EEBC6B9F74}" destId="{6B52BDEF-7FA5-4515-A6EA-8BCF676D499A}" srcOrd="0" destOrd="0" presId="urn:microsoft.com/office/officeart/2018/2/layout/IconVerticalSolidList"/>
    <dgm:cxn modelId="{495AFB3F-68F1-4E95-B8A8-E9FA8B56DF07}" type="presParOf" srcId="{D8A42313-755C-443C-A8E8-62EEBC6B9F74}" destId="{7DFA30D2-C171-47A8-A1B4-38CBC3FD8A22}" srcOrd="1" destOrd="0" presId="urn:microsoft.com/office/officeart/2018/2/layout/IconVerticalSolidList"/>
    <dgm:cxn modelId="{08272B53-D1B1-4C58-B354-0F2F1975C462}" type="presParOf" srcId="{D8A42313-755C-443C-A8E8-62EEBC6B9F74}" destId="{3E58C80A-9B3F-43EE-A791-E515C3C3C6C4}" srcOrd="2" destOrd="0" presId="urn:microsoft.com/office/officeart/2018/2/layout/IconVerticalSolidList"/>
    <dgm:cxn modelId="{DAE6D0DC-BED6-4005-9DD0-8D897FCC837B}" type="presParOf" srcId="{D8A42313-755C-443C-A8E8-62EEBC6B9F74}" destId="{BFC602CB-A38D-4313-B488-31DE4750953A}" srcOrd="3" destOrd="0" presId="urn:microsoft.com/office/officeart/2018/2/layout/IconVerticalSolidList"/>
    <dgm:cxn modelId="{9153D5F4-5286-46D0-984C-37C9564DEE02}" type="presParOf" srcId="{D8A42313-755C-443C-A8E8-62EEBC6B9F74}" destId="{BAD08328-96F0-40E7-8F42-BF2753994AF2}" srcOrd="4" destOrd="0" presId="urn:microsoft.com/office/officeart/2018/2/layout/IconVerticalSolidList"/>
    <dgm:cxn modelId="{65D36732-1AED-4907-84F8-C0FDC7D9B8F1}" type="presParOf" srcId="{5DB2A94E-08DA-4540-91F0-3519D88CC370}" destId="{68A5FBA5-070C-406C-819E-F3F5D816FA80}" srcOrd="5" destOrd="0" presId="urn:microsoft.com/office/officeart/2018/2/layout/IconVerticalSolidList"/>
    <dgm:cxn modelId="{A341E22A-3ED9-4849-9682-7DA4DD60EFDB}" type="presParOf" srcId="{5DB2A94E-08DA-4540-91F0-3519D88CC370}" destId="{FF86B771-09CE-452F-9B4F-BEE9F19B7E0A}" srcOrd="6" destOrd="0" presId="urn:microsoft.com/office/officeart/2018/2/layout/IconVerticalSolidList"/>
    <dgm:cxn modelId="{23F761DE-2871-4FAA-97C5-F509679EB5A9}" type="presParOf" srcId="{FF86B771-09CE-452F-9B4F-BEE9F19B7E0A}" destId="{30CD7962-84CE-42E4-B1F4-443A419A3E0F}" srcOrd="0" destOrd="0" presId="urn:microsoft.com/office/officeart/2018/2/layout/IconVerticalSolidList"/>
    <dgm:cxn modelId="{050A44E4-8CAB-4F81-9B0B-BD6E4223F857}" type="presParOf" srcId="{FF86B771-09CE-452F-9B4F-BEE9F19B7E0A}" destId="{E3622FF8-F25B-42F7-A51D-0BAFCED2E655}" srcOrd="1" destOrd="0" presId="urn:microsoft.com/office/officeart/2018/2/layout/IconVerticalSolidList"/>
    <dgm:cxn modelId="{6A734772-7750-412A-85D8-E234329340CB}" type="presParOf" srcId="{FF86B771-09CE-452F-9B4F-BEE9F19B7E0A}" destId="{2B1AA4F6-2592-49B5-8D09-B40005ACFB02}" srcOrd="2" destOrd="0" presId="urn:microsoft.com/office/officeart/2018/2/layout/IconVerticalSolidList"/>
    <dgm:cxn modelId="{AC1535ED-ABD6-42F2-B328-D0FCF55D873A}" type="presParOf" srcId="{FF86B771-09CE-452F-9B4F-BEE9F19B7E0A}" destId="{44862E4C-C637-4C44-AA72-A69C466106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E791BA1-7514-4614-A6DB-C757E9DE5895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1E1F414-227A-4E6F-96A3-E6F1F007CE87}">
      <dgm:prSet/>
      <dgm:spPr/>
      <dgm:t>
        <a:bodyPr/>
        <a:lstStyle/>
        <a:p>
          <a:r>
            <a:rPr lang="en-US"/>
            <a:t>Self-compassion</a:t>
          </a:r>
        </a:p>
      </dgm:t>
    </dgm:pt>
    <dgm:pt modelId="{6F0E099D-68A6-4638-AB77-EFF0C64751FD}" type="parTrans" cxnId="{CB6FB463-FCAE-49D5-9437-7201F192DE93}">
      <dgm:prSet/>
      <dgm:spPr/>
      <dgm:t>
        <a:bodyPr/>
        <a:lstStyle/>
        <a:p>
          <a:endParaRPr lang="en-US"/>
        </a:p>
      </dgm:t>
    </dgm:pt>
    <dgm:pt modelId="{11E20A14-CEB6-40DA-82C7-F11D6184D0B6}" type="sibTrans" cxnId="{CB6FB463-FCAE-49D5-9437-7201F192DE93}">
      <dgm:prSet/>
      <dgm:spPr/>
      <dgm:t>
        <a:bodyPr/>
        <a:lstStyle/>
        <a:p>
          <a:endParaRPr lang="en-US"/>
        </a:p>
      </dgm:t>
    </dgm:pt>
    <dgm:pt modelId="{B3D6555A-6C83-4249-9203-ED1CC1346CA1}">
      <dgm:prSet/>
      <dgm:spPr/>
      <dgm:t>
        <a:bodyPr/>
        <a:lstStyle/>
        <a:p>
          <a:r>
            <a:rPr lang="en-US"/>
            <a:t>Being kind toward oneself is better way to change behavior </a:t>
          </a:r>
        </a:p>
      </dgm:t>
    </dgm:pt>
    <dgm:pt modelId="{8D557928-CD6E-436D-885B-27857A05BAF2}" type="parTrans" cxnId="{28E9174F-EC98-45CE-BB90-A929EFC35076}">
      <dgm:prSet/>
      <dgm:spPr/>
      <dgm:t>
        <a:bodyPr/>
        <a:lstStyle/>
        <a:p>
          <a:endParaRPr lang="en-US"/>
        </a:p>
      </dgm:t>
    </dgm:pt>
    <dgm:pt modelId="{2AD98708-3863-48F2-8B30-F7CE4A64EF38}" type="sibTrans" cxnId="{28E9174F-EC98-45CE-BB90-A929EFC35076}">
      <dgm:prSet/>
      <dgm:spPr/>
      <dgm:t>
        <a:bodyPr/>
        <a:lstStyle/>
        <a:p>
          <a:endParaRPr lang="en-US"/>
        </a:p>
      </dgm:t>
    </dgm:pt>
    <dgm:pt modelId="{0C5D5A67-3240-433A-B084-13B65E786598}">
      <dgm:prSet/>
      <dgm:spPr/>
      <dgm:t>
        <a:bodyPr/>
        <a:lstStyle/>
        <a:p>
          <a:r>
            <a:rPr lang="en-US"/>
            <a:t>Self-compassion makes us happier, optimistic, wiser</a:t>
          </a:r>
        </a:p>
      </dgm:t>
    </dgm:pt>
    <dgm:pt modelId="{786D61AF-C130-4AD0-9F20-F6E8AB704159}" type="parTrans" cxnId="{451CEA22-5379-4BED-9E75-AA04F2FCF6E3}">
      <dgm:prSet/>
      <dgm:spPr/>
      <dgm:t>
        <a:bodyPr/>
        <a:lstStyle/>
        <a:p>
          <a:endParaRPr lang="en-US"/>
        </a:p>
      </dgm:t>
    </dgm:pt>
    <dgm:pt modelId="{034D02A0-EEC9-4D02-987E-2E7A49A545EF}" type="sibTrans" cxnId="{451CEA22-5379-4BED-9E75-AA04F2FCF6E3}">
      <dgm:prSet/>
      <dgm:spPr/>
      <dgm:t>
        <a:bodyPr/>
        <a:lstStyle/>
        <a:p>
          <a:endParaRPr lang="en-US"/>
        </a:p>
      </dgm:t>
    </dgm:pt>
    <dgm:pt modelId="{4226BB82-EC58-439F-A9D2-A194FEBF5557}">
      <dgm:prSet/>
      <dgm:spPr/>
      <dgm:t>
        <a:bodyPr/>
        <a:lstStyle/>
        <a:p>
          <a:r>
            <a:rPr lang="en-US"/>
            <a:t>Self-compassion adults had greater motivation for self-improvement </a:t>
          </a:r>
        </a:p>
      </dgm:t>
    </dgm:pt>
    <dgm:pt modelId="{9A00CB70-74AB-419D-8826-738E45CCCBF5}" type="parTrans" cxnId="{678D3900-77F1-4AEA-A4AD-8F63E21BA2A7}">
      <dgm:prSet/>
      <dgm:spPr/>
      <dgm:t>
        <a:bodyPr/>
        <a:lstStyle/>
        <a:p>
          <a:endParaRPr lang="en-US"/>
        </a:p>
      </dgm:t>
    </dgm:pt>
    <dgm:pt modelId="{11A605E8-F011-45AE-B5DB-487F21119872}" type="sibTrans" cxnId="{678D3900-77F1-4AEA-A4AD-8F63E21BA2A7}">
      <dgm:prSet/>
      <dgm:spPr/>
      <dgm:t>
        <a:bodyPr/>
        <a:lstStyle/>
        <a:p>
          <a:endParaRPr lang="en-US"/>
        </a:p>
      </dgm:t>
    </dgm:pt>
    <dgm:pt modelId="{89C37153-5EE0-4AFE-B615-8B7264ABF1AF}" type="pres">
      <dgm:prSet presAssocID="{0E791BA1-7514-4614-A6DB-C757E9DE5895}" presName="linear" presStyleCnt="0">
        <dgm:presLayoutVars>
          <dgm:animLvl val="lvl"/>
          <dgm:resizeHandles val="exact"/>
        </dgm:presLayoutVars>
      </dgm:prSet>
      <dgm:spPr/>
    </dgm:pt>
    <dgm:pt modelId="{9631522D-2C92-41D4-97F5-9B8F562941BB}" type="pres">
      <dgm:prSet presAssocID="{01E1F414-227A-4E6F-96A3-E6F1F007CE8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88FCA8C-7FC1-4221-A6E9-86428C6E1FBB}" type="pres">
      <dgm:prSet presAssocID="{01E1F414-227A-4E6F-96A3-E6F1F007CE8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78D3900-77F1-4AEA-A4AD-8F63E21BA2A7}" srcId="{01E1F414-227A-4E6F-96A3-E6F1F007CE87}" destId="{4226BB82-EC58-439F-A9D2-A194FEBF5557}" srcOrd="2" destOrd="0" parTransId="{9A00CB70-74AB-419D-8826-738E45CCCBF5}" sibTransId="{11A605E8-F011-45AE-B5DB-487F21119872}"/>
    <dgm:cxn modelId="{FFADB206-7C9E-47B0-87CE-6329FFB389EF}" type="presOf" srcId="{01E1F414-227A-4E6F-96A3-E6F1F007CE87}" destId="{9631522D-2C92-41D4-97F5-9B8F562941BB}" srcOrd="0" destOrd="0" presId="urn:microsoft.com/office/officeart/2005/8/layout/vList2"/>
    <dgm:cxn modelId="{451CEA22-5379-4BED-9E75-AA04F2FCF6E3}" srcId="{01E1F414-227A-4E6F-96A3-E6F1F007CE87}" destId="{0C5D5A67-3240-433A-B084-13B65E786598}" srcOrd="1" destOrd="0" parTransId="{786D61AF-C130-4AD0-9F20-F6E8AB704159}" sibTransId="{034D02A0-EEC9-4D02-987E-2E7A49A545EF}"/>
    <dgm:cxn modelId="{CB6FB463-FCAE-49D5-9437-7201F192DE93}" srcId="{0E791BA1-7514-4614-A6DB-C757E9DE5895}" destId="{01E1F414-227A-4E6F-96A3-E6F1F007CE87}" srcOrd="0" destOrd="0" parTransId="{6F0E099D-68A6-4638-AB77-EFF0C64751FD}" sibTransId="{11E20A14-CEB6-40DA-82C7-F11D6184D0B6}"/>
    <dgm:cxn modelId="{28E9174F-EC98-45CE-BB90-A929EFC35076}" srcId="{01E1F414-227A-4E6F-96A3-E6F1F007CE87}" destId="{B3D6555A-6C83-4249-9203-ED1CC1346CA1}" srcOrd="0" destOrd="0" parTransId="{8D557928-CD6E-436D-885B-27857A05BAF2}" sibTransId="{2AD98708-3863-48F2-8B30-F7CE4A64EF38}"/>
    <dgm:cxn modelId="{2A34BF79-1BBA-43D6-9688-BD5C9E3A6276}" type="presOf" srcId="{4226BB82-EC58-439F-A9D2-A194FEBF5557}" destId="{A88FCA8C-7FC1-4221-A6E9-86428C6E1FBB}" srcOrd="0" destOrd="2" presId="urn:microsoft.com/office/officeart/2005/8/layout/vList2"/>
    <dgm:cxn modelId="{E449B6CE-2E04-4A0F-91E6-1B45E73AB315}" type="presOf" srcId="{0E791BA1-7514-4614-A6DB-C757E9DE5895}" destId="{89C37153-5EE0-4AFE-B615-8B7264ABF1AF}" srcOrd="0" destOrd="0" presId="urn:microsoft.com/office/officeart/2005/8/layout/vList2"/>
    <dgm:cxn modelId="{B55788E1-EFF2-4E9D-B887-30FB4E5CE42C}" type="presOf" srcId="{B3D6555A-6C83-4249-9203-ED1CC1346CA1}" destId="{A88FCA8C-7FC1-4221-A6E9-86428C6E1FBB}" srcOrd="0" destOrd="0" presId="urn:microsoft.com/office/officeart/2005/8/layout/vList2"/>
    <dgm:cxn modelId="{B48051FE-DD00-4744-A28B-EF3F95E86695}" type="presOf" srcId="{0C5D5A67-3240-433A-B084-13B65E786598}" destId="{A88FCA8C-7FC1-4221-A6E9-86428C6E1FBB}" srcOrd="0" destOrd="1" presId="urn:microsoft.com/office/officeart/2005/8/layout/vList2"/>
    <dgm:cxn modelId="{1BAA2A8F-8696-42A5-ACC9-505B93465B92}" type="presParOf" srcId="{89C37153-5EE0-4AFE-B615-8B7264ABF1AF}" destId="{9631522D-2C92-41D4-97F5-9B8F562941BB}" srcOrd="0" destOrd="0" presId="urn:microsoft.com/office/officeart/2005/8/layout/vList2"/>
    <dgm:cxn modelId="{8B62FFD3-21C7-47FD-BAF4-CDCD71BCF2A9}" type="presParOf" srcId="{89C37153-5EE0-4AFE-B615-8B7264ABF1AF}" destId="{A88FCA8C-7FC1-4221-A6E9-86428C6E1FB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C25815-8DA3-465D-B4DE-2BA869AD36E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DE69BBD-3FED-430F-8827-731A2A3256B6}">
      <dgm:prSet/>
      <dgm:spPr/>
      <dgm:t>
        <a:bodyPr/>
        <a:lstStyle/>
        <a:p>
          <a:r>
            <a:rPr lang="en-US"/>
            <a:t>Forgiveness is: The process of reducing negative emotions, thoughts, and motivations toward another person who has wronged you</a:t>
          </a:r>
        </a:p>
      </dgm:t>
    </dgm:pt>
    <dgm:pt modelId="{9C00F0DD-4B0F-418E-BECA-CB6BC27D001F}" type="parTrans" cxnId="{BC276BAA-5915-4F2D-B0EA-8F544F000615}">
      <dgm:prSet/>
      <dgm:spPr/>
      <dgm:t>
        <a:bodyPr/>
        <a:lstStyle/>
        <a:p>
          <a:endParaRPr lang="en-US"/>
        </a:p>
      </dgm:t>
    </dgm:pt>
    <dgm:pt modelId="{DEC0D6E1-10C6-4EF7-9E27-05610D178FBB}" type="sibTrans" cxnId="{BC276BAA-5915-4F2D-B0EA-8F544F000615}">
      <dgm:prSet/>
      <dgm:spPr/>
      <dgm:t>
        <a:bodyPr/>
        <a:lstStyle/>
        <a:p>
          <a:endParaRPr lang="en-US"/>
        </a:p>
      </dgm:t>
    </dgm:pt>
    <dgm:pt modelId="{0EE68C76-79C1-4480-9FC2-637D9651C3F0}">
      <dgm:prSet/>
      <dgm:spPr/>
      <dgm:t>
        <a:bodyPr/>
        <a:lstStyle/>
        <a:p>
          <a:r>
            <a:rPr lang="en-US"/>
            <a:t>Forgiveness is not: Excusing, pardoning, condoning, forgetting</a:t>
          </a:r>
        </a:p>
      </dgm:t>
    </dgm:pt>
    <dgm:pt modelId="{77FACA1D-AE52-40C5-9F24-00C26F8A759D}" type="parTrans" cxnId="{B7BAFB34-6106-4CBC-B94B-325FF0DFFE49}">
      <dgm:prSet/>
      <dgm:spPr/>
      <dgm:t>
        <a:bodyPr/>
        <a:lstStyle/>
        <a:p>
          <a:endParaRPr lang="en-US"/>
        </a:p>
      </dgm:t>
    </dgm:pt>
    <dgm:pt modelId="{900AF5AF-257D-4004-8F99-03153E6E2D76}" type="sibTrans" cxnId="{B7BAFB34-6106-4CBC-B94B-325FF0DFFE49}">
      <dgm:prSet/>
      <dgm:spPr/>
      <dgm:t>
        <a:bodyPr/>
        <a:lstStyle/>
        <a:p>
          <a:endParaRPr lang="en-US"/>
        </a:p>
      </dgm:t>
    </dgm:pt>
    <dgm:pt modelId="{A19BF034-AB77-447D-98BA-692C169FFFF5}">
      <dgm:prSet/>
      <dgm:spPr/>
      <dgm:t>
        <a:bodyPr/>
        <a:lstStyle/>
        <a:p>
          <a:r>
            <a:rPr lang="en-US"/>
            <a:t>Forgiveness does not require continued relationship with transgressor</a:t>
          </a:r>
        </a:p>
      </dgm:t>
    </dgm:pt>
    <dgm:pt modelId="{FBCE6A76-A0B0-49FF-82EF-1B42D0477EE0}" type="parTrans" cxnId="{0C20D297-5FCC-456C-B28B-0F6B669CC4B4}">
      <dgm:prSet/>
      <dgm:spPr/>
      <dgm:t>
        <a:bodyPr/>
        <a:lstStyle/>
        <a:p>
          <a:endParaRPr lang="en-US"/>
        </a:p>
      </dgm:t>
    </dgm:pt>
    <dgm:pt modelId="{6369A4C4-ED0F-40B8-8694-C6100DF713E2}" type="sibTrans" cxnId="{0C20D297-5FCC-456C-B28B-0F6B669CC4B4}">
      <dgm:prSet/>
      <dgm:spPr/>
      <dgm:t>
        <a:bodyPr/>
        <a:lstStyle/>
        <a:p>
          <a:endParaRPr lang="en-US"/>
        </a:p>
      </dgm:t>
    </dgm:pt>
    <dgm:pt modelId="{7BD2EB70-5171-413A-B304-F853AC578C1A}">
      <dgm:prSet/>
      <dgm:spPr/>
      <dgm:t>
        <a:bodyPr/>
        <a:lstStyle/>
        <a:p>
          <a:r>
            <a:rPr lang="en-US"/>
            <a:t>Forgiveness does not require communicating forgiveness to transgressor</a:t>
          </a:r>
        </a:p>
      </dgm:t>
    </dgm:pt>
    <dgm:pt modelId="{D73133AE-2DB7-436B-9EA7-19F0D7BDD8D2}" type="parTrans" cxnId="{6FFF676F-EDFB-406F-A017-0874ECD263AE}">
      <dgm:prSet/>
      <dgm:spPr/>
      <dgm:t>
        <a:bodyPr/>
        <a:lstStyle/>
        <a:p>
          <a:endParaRPr lang="en-US"/>
        </a:p>
      </dgm:t>
    </dgm:pt>
    <dgm:pt modelId="{6220E2CB-E010-4407-A3C8-23D4D8E3B0CB}" type="sibTrans" cxnId="{6FFF676F-EDFB-406F-A017-0874ECD263AE}">
      <dgm:prSet/>
      <dgm:spPr/>
      <dgm:t>
        <a:bodyPr/>
        <a:lstStyle/>
        <a:p>
          <a:endParaRPr lang="en-US"/>
        </a:p>
      </dgm:t>
    </dgm:pt>
    <dgm:pt modelId="{4C12628C-AB1F-4377-ACA8-7FA0F11C0DB1}">
      <dgm:prSet/>
      <dgm:spPr/>
      <dgm:t>
        <a:bodyPr/>
        <a:lstStyle/>
        <a:p>
          <a:r>
            <a:rPr lang="en-US"/>
            <a:t>Forgiveness is associated with psychological and physical health and better relationships</a:t>
          </a:r>
        </a:p>
      </dgm:t>
    </dgm:pt>
    <dgm:pt modelId="{F13472BA-F884-4F83-8ED2-887980A391E7}" type="parTrans" cxnId="{55BD54BC-DCF2-4F54-89A0-510B937399B4}">
      <dgm:prSet/>
      <dgm:spPr/>
      <dgm:t>
        <a:bodyPr/>
        <a:lstStyle/>
        <a:p>
          <a:endParaRPr lang="en-US"/>
        </a:p>
      </dgm:t>
    </dgm:pt>
    <dgm:pt modelId="{F360B672-CC95-4A20-A129-10E49920E0FA}" type="sibTrans" cxnId="{55BD54BC-DCF2-4F54-89A0-510B937399B4}">
      <dgm:prSet/>
      <dgm:spPr/>
      <dgm:t>
        <a:bodyPr/>
        <a:lstStyle/>
        <a:p>
          <a:endParaRPr lang="en-US"/>
        </a:p>
      </dgm:t>
    </dgm:pt>
    <dgm:pt modelId="{B04E1F14-413C-4C67-BE7E-8ADCC34DE89D}" type="pres">
      <dgm:prSet presAssocID="{33C25815-8DA3-465D-B4DE-2BA869AD36E5}" presName="root" presStyleCnt="0">
        <dgm:presLayoutVars>
          <dgm:dir/>
          <dgm:resizeHandles val="exact"/>
        </dgm:presLayoutVars>
      </dgm:prSet>
      <dgm:spPr/>
    </dgm:pt>
    <dgm:pt modelId="{BA538D9B-E49A-42D0-9591-5ED7447154EF}" type="pres">
      <dgm:prSet presAssocID="{2DE69BBD-3FED-430F-8827-731A2A3256B6}" presName="compNode" presStyleCnt="0"/>
      <dgm:spPr/>
    </dgm:pt>
    <dgm:pt modelId="{B7E12E0B-2CEC-4176-91DA-289D4804D03A}" type="pres">
      <dgm:prSet presAssocID="{2DE69BBD-3FED-430F-8827-731A2A3256B6}" presName="bgRect" presStyleLbl="bgShp" presStyleIdx="0" presStyleCnt="3"/>
      <dgm:spPr/>
    </dgm:pt>
    <dgm:pt modelId="{AAE7C1C9-5990-4B5A-85A9-A663E0A0D28B}" type="pres">
      <dgm:prSet presAssocID="{2DE69BBD-3FED-430F-8827-731A2A3256B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Lock"/>
        </a:ext>
      </dgm:extLst>
    </dgm:pt>
    <dgm:pt modelId="{41493885-33A9-4305-8217-E28D3426D695}" type="pres">
      <dgm:prSet presAssocID="{2DE69BBD-3FED-430F-8827-731A2A3256B6}" presName="spaceRect" presStyleCnt="0"/>
      <dgm:spPr/>
    </dgm:pt>
    <dgm:pt modelId="{030854E4-9296-40F1-B2C1-B31543BB3852}" type="pres">
      <dgm:prSet presAssocID="{2DE69BBD-3FED-430F-8827-731A2A3256B6}" presName="parTx" presStyleLbl="revTx" presStyleIdx="0" presStyleCnt="4">
        <dgm:presLayoutVars>
          <dgm:chMax val="0"/>
          <dgm:chPref val="0"/>
        </dgm:presLayoutVars>
      </dgm:prSet>
      <dgm:spPr/>
    </dgm:pt>
    <dgm:pt modelId="{FC3675E5-DADB-4BD3-9745-34B174B605EC}" type="pres">
      <dgm:prSet presAssocID="{DEC0D6E1-10C6-4EF7-9E27-05610D178FBB}" presName="sibTrans" presStyleCnt="0"/>
      <dgm:spPr/>
    </dgm:pt>
    <dgm:pt modelId="{970E0E71-30E5-469D-A1BD-574BD1A44B41}" type="pres">
      <dgm:prSet presAssocID="{0EE68C76-79C1-4480-9FC2-637D9651C3F0}" presName="compNode" presStyleCnt="0"/>
      <dgm:spPr/>
    </dgm:pt>
    <dgm:pt modelId="{2CB56923-7CC7-4934-9E9F-0C8EE5CE929D}" type="pres">
      <dgm:prSet presAssocID="{0EE68C76-79C1-4480-9FC2-637D9651C3F0}" presName="bgRect" presStyleLbl="bgShp" presStyleIdx="1" presStyleCnt="3"/>
      <dgm:spPr/>
    </dgm:pt>
    <dgm:pt modelId="{AB19D006-9553-4BBD-B5B7-86DFF0649191}" type="pres">
      <dgm:prSet presAssocID="{0EE68C76-79C1-4480-9FC2-637D9651C3F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"/>
        </a:ext>
      </dgm:extLst>
    </dgm:pt>
    <dgm:pt modelId="{DEFA5A3E-35C0-4AA1-BBD9-FD1B9562DF0D}" type="pres">
      <dgm:prSet presAssocID="{0EE68C76-79C1-4480-9FC2-637D9651C3F0}" presName="spaceRect" presStyleCnt="0"/>
      <dgm:spPr/>
    </dgm:pt>
    <dgm:pt modelId="{3AFB0C10-062A-497E-B5B1-A3823EBB66EE}" type="pres">
      <dgm:prSet presAssocID="{0EE68C76-79C1-4480-9FC2-637D9651C3F0}" presName="parTx" presStyleLbl="revTx" presStyleIdx="1" presStyleCnt="4">
        <dgm:presLayoutVars>
          <dgm:chMax val="0"/>
          <dgm:chPref val="0"/>
        </dgm:presLayoutVars>
      </dgm:prSet>
      <dgm:spPr/>
    </dgm:pt>
    <dgm:pt modelId="{3B180337-E0B8-4D0E-88EB-9FB6FA25341E}" type="pres">
      <dgm:prSet presAssocID="{0EE68C76-79C1-4480-9FC2-637D9651C3F0}" presName="desTx" presStyleLbl="revTx" presStyleIdx="2" presStyleCnt="4">
        <dgm:presLayoutVars/>
      </dgm:prSet>
      <dgm:spPr/>
    </dgm:pt>
    <dgm:pt modelId="{E2BD4D29-5509-4062-A6AA-04E6597F107A}" type="pres">
      <dgm:prSet presAssocID="{900AF5AF-257D-4004-8F99-03153E6E2D76}" presName="sibTrans" presStyleCnt="0"/>
      <dgm:spPr/>
    </dgm:pt>
    <dgm:pt modelId="{3BB307A3-F116-43B0-81A0-3D83CE518AC3}" type="pres">
      <dgm:prSet presAssocID="{4C12628C-AB1F-4377-ACA8-7FA0F11C0DB1}" presName="compNode" presStyleCnt="0"/>
      <dgm:spPr/>
    </dgm:pt>
    <dgm:pt modelId="{FD3227C4-2FE0-4C55-A0E4-F47656B4E184}" type="pres">
      <dgm:prSet presAssocID="{4C12628C-AB1F-4377-ACA8-7FA0F11C0DB1}" presName="bgRect" presStyleLbl="bgShp" presStyleIdx="2" presStyleCnt="3"/>
      <dgm:spPr/>
    </dgm:pt>
    <dgm:pt modelId="{B6B62761-CD17-4DC1-8F71-C68706DC8DBA}" type="pres">
      <dgm:prSet presAssocID="{4C12628C-AB1F-4377-ACA8-7FA0F11C0DB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08EEA194-FEBD-4B86-ADBD-F03CB5989F5D}" type="pres">
      <dgm:prSet presAssocID="{4C12628C-AB1F-4377-ACA8-7FA0F11C0DB1}" presName="spaceRect" presStyleCnt="0"/>
      <dgm:spPr/>
    </dgm:pt>
    <dgm:pt modelId="{549189F8-5E3C-4866-9A50-D8B9423E2A93}" type="pres">
      <dgm:prSet presAssocID="{4C12628C-AB1F-4377-ACA8-7FA0F11C0DB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9C3E914-2372-42B9-9575-4198976FC1FB}" type="presOf" srcId="{0EE68C76-79C1-4480-9FC2-637D9651C3F0}" destId="{3AFB0C10-062A-497E-B5B1-A3823EBB66EE}" srcOrd="0" destOrd="0" presId="urn:microsoft.com/office/officeart/2018/2/layout/IconVerticalSolidList"/>
    <dgm:cxn modelId="{B7BAFB34-6106-4CBC-B94B-325FF0DFFE49}" srcId="{33C25815-8DA3-465D-B4DE-2BA869AD36E5}" destId="{0EE68C76-79C1-4480-9FC2-637D9651C3F0}" srcOrd="1" destOrd="0" parTransId="{77FACA1D-AE52-40C5-9F24-00C26F8A759D}" sibTransId="{900AF5AF-257D-4004-8F99-03153E6E2D76}"/>
    <dgm:cxn modelId="{3B33D73E-E6FA-463C-BF91-B76B0EEE4E45}" type="presOf" srcId="{7BD2EB70-5171-413A-B304-F853AC578C1A}" destId="{3B180337-E0B8-4D0E-88EB-9FB6FA25341E}" srcOrd="0" destOrd="1" presId="urn:microsoft.com/office/officeart/2018/2/layout/IconVerticalSolidList"/>
    <dgm:cxn modelId="{6FFF676F-EDFB-406F-A017-0874ECD263AE}" srcId="{0EE68C76-79C1-4480-9FC2-637D9651C3F0}" destId="{7BD2EB70-5171-413A-B304-F853AC578C1A}" srcOrd="1" destOrd="0" parTransId="{D73133AE-2DB7-436B-9EA7-19F0D7BDD8D2}" sibTransId="{6220E2CB-E010-4407-A3C8-23D4D8E3B0CB}"/>
    <dgm:cxn modelId="{9C1B3758-1D1C-4D78-ACB4-5B1E7727D8BD}" type="presOf" srcId="{A19BF034-AB77-447D-98BA-692C169FFFF5}" destId="{3B180337-E0B8-4D0E-88EB-9FB6FA25341E}" srcOrd="0" destOrd="0" presId="urn:microsoft.com/office/officeart/2018/2/layout/IconVerticalSolidList"/>
    <dgm:cxn modelId="{0C20D297-5FCC-456C-B28B-0F6B669CC4B4}" srcId="{0EE68C76-79C1-4480-9FC2-637D9651C3F0}" destId="{A19BF034-AB77-447D-98BA-692C169FFFF5}" srcOrd="0" destOrd="0" parTransId="{FBCE6A76-A0B0-49FF-82EF-1B42D0477EE0}" sibTransId="{6369A4C4-ED0F-40B8-8694-C6100DF713E2}"/>
    <dgm:cxn modelId="{BC276BAA-5915-4F2D-B0EA-8F544F000615}" srcId="{33C25815-8DA3-465D-B4DE-2BA869AD36E5}" destId="{2DE69BBD-3FED-430F-8827-731A2A3256B6}" srcOrd="0" destOrd="0" parTransId="{9C00F0DD-4B0F-418E-BECA-CB6BC27D001F}" sibTransId="{DEC0D6E1-10C6-4EF7-9E27-05610D178FBB}"/>
    <dgm:cxn modelId="{6F74BAAB-2525-4907-8051-0224744D05D9}" type="presOf" srcId="{2DE69BBD-3FED-430F-8827-731A2A3256B6}" destId="{030854E4-9296-40F1-B2C1-B31543BB3852}" srcOrd="0" destOrd="0" presId="urn:microsoft.com/office/officeart/2018/2/layout/IconVerticalSolidList"/>
    <dgm:cxn modelId="{6A48E9B0-0C5D-4296-AB91-244E4B1C7B6B}" type="presOf" srcId="{33C25815-8DA3-465D-B4DE-2BA869AD36E5}" destId="{B04E1F14-413C-4C67-BE7E-8ADCC34DE89D}" srcOrd="0" destOrd="0" presId="urn:microsoft.com/office/officeart/2018/2/layout/IconVerticalSolidList"/>
    <dgm:cxn modelId="{668A0FB6-5F29-4156-94A5-A1CF20441D07}" type="presOf" srcId="{4C12628C-AB1F-4377-ACA8-7FA0F11C0DB1}" destId="{549189F8-5E3C-4866-9A50-D8B9423E2A93}" srcOrd="0" destOrd="0" presId="urn:microsoft.com/office/officeart/2018/2/layout/IconVerticalSolidList"/>
    <dgm:cxn modelId="{55BD54BC-DCF2-4F54-89A0-510B937399B4}" srcId="{33C25815-8DA3-465D-B4DE-2BA869AD36E5}" destId="{4C12628C-AB1F-4377-ACA8-7FA0F11C0DB1}" srcOrd="2" destOrd="0" parTransId="{F13472BA-F884-4F83-8ED2-887980A391E7}" sibTransId="{F360B672-CC95-4A20-A129-10E49920E0FA}"/>
    <dgm:cxn modelId="{6EA106C8-2E33-4EFC-921D-68854D404219}" type="presParOf" srcId="{B04E1F14-413C-4C67-BE7E-8ADCC34DE89D}" destId="{BA538D9B-E49A-42D0-9591-5ED7447154EF}" srcOrd="0" destOrd="0" presId="urn:microsoft.com/office/officeart/2018/2/layout/IconVerticalSolidList"/>
    <dgm:cxn modelId="{81C1AD1E-7DC7-4D0C-B733-73F0394E613F}" type="presParOf" srcId="{BA538D9B-E49A-42D0-9591-5ED7447154EF}" destId="{B7E12E0B-2CEC-4176-91DA-289D4804D03A}" srcOrd="0" destOrd="0" presId="urn:microsoft.com/office/officeart/2018/2/layout/IconVerticalSolidList"/>
    <dgm:cxn modelId="{43B660FA-90A5-4586-B4AC-31BC6EA8AC91}" type="presParOf" srcId="{BA538D9B-E49A-42D0-9591-5ED7447154EF}" destId="{AAE7C1C9-5990-4B5A-85A9-A663E0A0D28B}" srcOrd="1" destOrd="0" presId="urn:microsoft.com/office/officeart/2018/2/layout/IconVerticalSolidList"/>
    <dgm:cxn modelId="{F3D23AB3-3366-4D7D-88E9-E476717B27A1}" type="presParOf" srcId="{BA538D9B-E49A-42D0-9591-5ED7447154EF}" destId="{41493885-33A9-4305-8217-E28D3426D695}" srcOrd="2" destOrd="0" presId="urn:microsoft.com/office/officeart/2018/2/layout/IconVerticalSolidList"/>
    <dgm:cxn modelId="{B99A4D02-732A-4471-A876-79AEB6950249}" type="presParOf" srcId="{BA538D9B-E49A-42D0-9591-5ED7447154EF}" destId="{030854E4-9296-40F1-B2C1-B31543BB3852}" srcOrd="3" destOrd="0" presId="urn:microsoft.com/office/officeart/2018/2/layout/IconVerticalSolidList"/>
    <dgm:cxn modelId="{C5C7FCAF-FA2A-4D8D-B6F7-7DBBFDBCEE50}" type="presParOf" srcId="{B04E1F14-413C-4C67-BE7E-8ADCC34DE89D}" destId="{FC3675E5-DADB-4BD3-9745-34B174B605EC}" srcOrd="1" destOrd="0" presId="urn:microsoft.com/office/officeart/2018/2/layout/IconVerticalSolidList"/>
    <dgm:cxn modelId="{1D88056E-0C11-45F7-B038-4F6BF86E212F}" type="presParOf" srcId="{B04E1F14-413C-4C67-BE7E-8ADCC34DE89D}" destId="{970E0E71-30E5-469D-A1BD-574BD1A44B41}" srcOrd="2" destOrd="0" presId="urn:microsoft.com/office/officeart/2018/2/layout/IconVerticalSolidList"/>
    <dgm:cxn modelId="{3B22B940-CDD3-4F1A-9548-5B66A07261EC}" type="presParOf" srcId="{970E0E71-30E5-469D-A1BD-574BD1A44B41}" destId="{2CB56923-7CC7-4934-9E9F-0C8EE5CE929D}" srcOrd="0" destOrd="0" presId="urn:microsoft.com/office/officeart/2018/2/layout/IconVerticalSolidList"/>
    <dgm:cxn modelId="{402C28F8-66DB-4BDE-B2D7-BEF58DBF0CB0}" type="presParOf" srcId="{970E0E71-30E5-469D-A1BD-574BD1A44B41}" destId="{AB19D006-9553-4BBD-B5B7-86DFF0649191}" srcOrd="1" destOrd="0" presId="urn:microsoft.com/office/officeart/2018/2/layout/IconVerticalSolidList"/>
    <dgm:cxn modelId="{819081BA-D4ED-4B13-86FE-20DB7B8FF40A}" type="presParOf" srcId="{970E0E71-30E5-469D-A1BD-574BD1A44B41}" destId="{DEFA5A3E-35C0-4AA1-BBD9-FD1B9562DF0D}" srcOrd="2" destOrd="0" presId="urn:microsoft.com/office/officeart/2018/2/layout/IconVerticalSolidList"/>
    <dgm:cxn modelId="{FF2F78BD-6D49-41FA-BA7E-4242112AB609}" type="presParOf" srcId="{970E0E71-30E5-469D-A1BD-574BD1A44B41}" destId="{3AFB0C10-062A-497E-B5B1-A3823EBB66EE}" srcOrd="3" destOrd="0" presId="urn:microsoft.com/office/officeart/2018/2/layout/IconVerticalSolidList"/>
    <dgm:cxn modelId="{34E4DD6B-BB34-4BA7-9A9F-58CB2CEA44F3}" type="presParOf" srcId="{970E0E71-30E5-469D-A1BD-574BD1A44B41}" destId="{3B180337-E0B8-4D0E-88EB-9FB6FA25341E}" srcOrd="4" destOrd="0" presId="urn:microsoft.com/office/officeart/2018/2/layout/IconVerticalSolidList"/>
    <dgm:cxn modelId="{0E557DB4-02DB-480F-A347-B81814BA5AE4}" type="presParOf" srcId="{B04E1F14-413C-4C67-BE7E-8ADCC34DE89D}" destId="{E2BD4D29-5509-4062-A6AA-04E6597F107A}" srcOrd="3" destOrd="0" presId="urn:microsoft.com/office/officeart/2018/2/layout/IconVerticalSolidList"/>
    <dgm:cxn modelId="{BD27CC3C-2EE2-4484-B0C3-2F374FC17A47}" type="presParOf" srcId="{B04E1F14-413C-4C67-BE7E-8ADCC34DE89D}" destId="{3BB307A3-F116-43B0-81A0-3D83CE518AC3}" srcOrd="4" destOrd="0" presId="urn:microsoft.com/office/officeart/2018/2/layout/IconVerticalSolidList"/>
    <dgm:cxn modelId="{07D6DA66-273C-4052-932D-800E5FA7E794}" type="presParOf" srcId="{3BB307A3-F116-43B0-81A0-3D83CE518AC3}" destId="{FD3227C4-2FE0-4C55-A0E4-F47656B4E184}" srcOrd="0" destOrd="0" presId="urn:microsoft.com/office/officeart/2018/2/layout/IconVerticalSolidList"/>
    <dgm:cxn modelId="{20843031-905C-43BD-8DF8-6D93C4138807}" type="presParOf" srcId="{3BB307A3-F116-43B0-81A0-3D83CE518AC3}" destId="{B6B62761-CD17-4DC1-8F71-C68706DC8DBA}" srcOrd="1" destOrd="0" presId="urn:microsoft.com/office/officeart/2018/2/layout/IconVerticalSolidList"/>
    <dgm:cxn modelId="{E0F2B51E-F7A0-446D-BA94-A4ABB21A6CA5}" type="presParOf" srcId="{3BB307A3-F116-43B0-81A0-3D83CE518AC3}" destId="{08EEA194-FEBD-4B86-ADBD-F03CB5989F5D}" srcOrd="2" destOrd="0" presId="urn:microsoft.com/office/officeart/2018/2/layout/IconVerticalSolidList"/>
    <dgm:cxn modelId="{3CCCFE55-90BD-4F1C-809B-AB6C5A43C878}" type="presParOf" srcId="{3BB307A3-F116-43B0-81A0-3D83CE518AC3}" destId="{549189F8-5E3C-4866-9A50-D8B9423E2A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1F9F6A-4A00-4CC5-A3F9-AE5F70CB4212}">
      <dsp:nvSpPr>
        <dsp:cNvPr id="0" name=""/>
        <dsp:cNvSpPr/>
      </dsp:nvSpPr>
      <dsp:spPr>
        <a:xfrm>
          <a:off x="0" y="447488"/>
          <a:ext cx="4697730" cy="14847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Gratitude: acknowledging contributions of others in making life better</a:t>
          </a:r>
        </a:p>
      </dsp:txBody>
      <dsp:txXfrm>
        <a:off x="72479" y="519967"/>
        <a:ext cx="4552772" cy="1339772"/>
      </dsp:txXfrm>
    </dsp:sp>
    <dsp:sp modelId="{EF038540-7E0E-481E-983E-501ED7A57558}">
      <dsp:nvSpPr>
        <dsp:cNvPr id="0" name=""/>
        <dsp:cNvSpPr/>
      </dsp:nvSpPr>
      <dsp:spPr>
        <a:xfrm>
          <a:off x="0" y="2009978"/>
          <a:ext cx="4697730" cy="1484730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Forgiveness: process of letting go of negative emotions when hurt or transgressed against</a:t>
          </a:r>
        </a:p>
      </dsp:txBody>
      <dsp:txXfrm>
        <a:off x="72479" y="2082457"/>
        <a:ext cx="4552772" cy="1339772"/>
      </dsp:txXfrm>
    </dsp:sp>
    <dsp:sp modelId="{D28E6C0F-7264-4681-9708-7C3542E868E4}">
      <dsp:nvSpPr>
        <dsp:cNvPr id="0" name=""/>
        <dsp:cNvSpPr/>
      </dsp:nvSpPr>
      <dsp:spPr>
        <a:xfrm>
          <a:off x="0" y="3572469"/>
          <a:ext cx="4697730" cy="1484730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Both require taking the other person’s perspective</a:t>
          </a:r>
        </a:p>
      </dsp:txBody>
      <dsp:txXfrm>
        <a:off x="72479" y="3644948"/>
        <a:ext cx="4552772" cy="13397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80B829-33DE-4C6D-AEA5-D8D0219BF4CA}">
      <dsp:nvSpPr>
        <dsp:cNvPr id="0" name=""/>
        <dsp:cNvSpPr/>
      </dsp:nvSpPr>
      <dsp:spPr>
        <a:xfrm>
          <a:off x="0" y="23544"/>
          <a:ext cx="78867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Individual Differences</a:t>
          </a:r>
        </a:p>
      </dsp:txBody>
      <dsp:txXfrm>
        <a:off x="29271" y="52815"/>
        <a:ext cx="7828158" cy="541083"/>
      </dsp:txXfrm>
    </dsp:sp>
    <dsp:sp modelId="{DB1F3D11-74DB-4075-94CA-2EB1E3FB05FF}">
      <dsp:nvSpPr>
        <dsp:cNvPr id="0" name=""/>
        <dsp:cNvSpPr/>
      </dsp:nvSpPr>
      <dsp:spPr>
        <a:xfrm>
          <a:off x="0" y="623169"/>
          <a:ext cx="7886700" cy="124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Estimates suggest that approximately 40% of the tendency to experience gratitude is inherited (Steger et al., 2007)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May be particularly related to oxytocin and CD38 (a gene related to secretion and regulation of oxytocin; Algoe &amp; Way, 2014)</a:t>
          </a:r>
        </a:p>
      </dsp:txBody>
      <dsp:txXfrm>
        <a:off x="0" y="623169"/>
        <a:ext cx="7886700" cy="1242000"/>
      </dsp:txXfrm>
    </dsp:sp>
    <dsp:sp modelId="{C0A0BBDF-9F10-4471-924F-F447C741B54A}">
      <dsp:nvSpPr>
        <dsp:cNvPr id="0" name=""/>
        <dsp:cNvSpPr/>
      </dsp:nvSpPr>
      <dsp:spPr>
        <a:xfrm>
          <a:off x="0" y="1865169"/>
          <a:ext cx="78867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Environmental Differences</a:t>
          </a:r>
        </a:p>
      </dsp:txBody>
      <dsp:txXfrm>
        <a:off x="29271" y="1894440"/>
        <a:ext cx="7828158" cy="541083"/>
      </dsp:txXfrm>
    </dsp:sp>
    <dsp:sp modelId="{20E1BD11-53FB-4149-8A37-81F353D9325B}">
      <dsp:nvSpPr>
        <dsp:cNvPr id="0" name=""/>
        <dsp:cNvSpPr/>
      </dsp:nvSpPr>
      <dsp:spPr>
        <a:xfrm>
          <a:off x="0" y="2464794"/>
          <a:ext cx="7886700" cy="186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Perception that you have benefitted from something you can’t control (Rusk et al., 2016)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Perception that the beneficial circumstance was surprising (Koo et al., 2008)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Perception that action was responsive to wants or needs (Algoe et al. 2008)</a:t>
          </a:r>
        </a:p>
      </dsp:txBody>
      <dsp:txXfrm>
        <a:off x="0" y="2464794"/>
        <a:ext cx="7886700" cy="1863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AD5F36-D818-4203-A883-7FCEBB36D92C}">
      <dsp:nvSpPr>
        <dsp:cNvPr id="0" name=""/>
        <dsp:cNvSpPr/>
      </dsp:nvSpPr>
      <dsp:spPr>
        <a:xfrm>
          <a:off x="0" y="2447"/>
          <a:ext cx="4941519" cy="124038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F46698-7C11-4264-BA75-A51F7A0C5017}">
      <dsp:nvSpPr>
        <dsp:cNvPr id="0" name=""/>
        <dsp:cNvSpPr/>
      </dsp:nvSpPr>
      <dsp:spPr>
        <a:xfrm>
          <a:off x="375217" y="281534"/>
          <a:ext cx="682214" cy="6822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F559B-CA79-44FE-9A3E-CDA448355DEE}">
      <dsp:nvSpPr>
        <dsp:cNvPr id="0" name=""/>
        <dsp:cNvSpPr/>
      </dsp:nvSpPr>
      <dsp:spPr>
        <a:xfrm>
          <a:off x="1432649" y="2447"/>
          <a:ext cx="3508869" cy="124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275" tIns="131275" rIns="131275" bIns="13127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Start with a warm salutation</a:t>
          </a:r>
        </a:p>
      </dsp:txBody>
      <dsp:txXfrm>
        <a:off x="1432649" y="2447"/>
        <a:ext cx="3508869" cy="1240389"/>
      </dsp:txXfrm>
    </dsp:sp>
    <dsp:sp modelId="{7695622D-D3BA-4643-93EF-1CFA6D7631D5}">
      <dsp:nvSpPr>
        <dsp:cNvPr id="0" name=""/>
        <dsp:cNvSpPr/>
      </dsp:nvSpPr>
      <dsp:spPr>
        <a:xfrm>
          <a:off x="0" y="1552933"/>
          <a:ext cx="4941519" cy="124038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5904C0-5963-4D4F-966B-F1492E9A3530}">
      <dsp:nvSpPr>
        <dsp:cNvPr id="0" name=""/>
        <dsp:cNvSpPr/>
      </dsp:nvSpPr>
      <dsp:spPr>
        <a:xfrm>
          <a:off x="375217" y="1832021"/>
          <a:ext cx="682214" cy="6822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27B0B-69E7-4BC1-97D9-9AB8B72320FE}">
      <dsp:nvSpPr>
        <dsp:cNvPr id="0" name=""/>
        <dsp:cNvSpPr/>
      </dsp:nvSpPr>
      <dsp:spPr>
        <a:xfrm>
          <a:off x="1432649" y="1552933"/>
          <a:ext cx="3508869" cy="124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275" tIns="131275" rIns="131275" bIns="13127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Summarize why you’re grateful for your recipient</a:t>
          </a:r>
        </a:p>
      </dsp:txBody>
      <dsp:txXfrm>
        <a:off x="1432649" y="1552933"/>
        <a:ext cx="3508869" cy="1240389"/>
      </dsp:txXfrm>
    </dsp:sp>
    <dsp:sp modelId="{6B52BDEF-7FA5-4515-A6EA-8BCF676D499A}">
      <dsp:nvSpPr>
        <dsp:cNvPr id="0" name=""/>
        <dsp:cNvSpPr/>
      </dsp:nvSpPr>
      <dsp:spPr>
        <a:xfrm>
          <a:off x="0" y="3103420"/>
          <a:ext cx="4941519" cy="124038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A30D2-C171-47A8-A1B4-38CBC3FD8A22}">
      <dsp:nvSpPr>
        <dsp:cNvPr id="0" name=""/>
        <dsp:cNvSpPr/>
      </dsp:nvSpPr>
      <dsp:spPr>
        <a:xfrm>
          <a:off x="375217" y="3382507"/>
          <a:ext cx="682214" cy="6822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602CB-A38D-4313-B488-31DE4750953A}">
      <dsp:nvSpPr>
        <dsp:cNvPr id="0" name=""/>
        <dsp:cNvSpPr/>
      </dsp:nvSpPr>
      <dsp:spPr>
        <a:xfrm>
          <a:off x="1432649" y="3103420"/>
          <a:ext cx="2223683" cy="124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275" tIns="131275" rIns="131275" bIns="13127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Mention specific details about the recipient and their impact of the things they did for you</a:t>
          </a:r>
        </a:p>
      </dsp:txBody>
      <dsp:txXfrm>
        <a:off x="1432649" y="3103420"/>
        <a:ext cx="2223683" cy="1240389"/>
      </dsp:txXfrm>
    </dsp:sp>
    <dsp:sp modelId="{BAD08328-96F0-40E7-8F42-BF2753994AF2}">
      <dsp:nvSpPr>
        <dsp:cNvPr id="0" name=""/>
        <dsp:cNvSpPr/>
      </dsp:nvSpPr>
      <dsp:spPr>
        <a:xfrm>
          <a:off x="3656332" y="3103420"/>
          <a:ext cx="1285186" cy="124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275" tIns="131275" rIns="131275" bIns="13127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Focus on the recipient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Be specific</a:t>
          </a:r>
        </a:p>
      </dsp:txBody>
      <dsp:txXfrm>
        <a:off x="3656332" y="3103420"/>
        <a:ext cx="1285186" cy="1240389"/>
      </dsp:txXfrm>
    </dsp:sp>
    <dsp:sp modelId="{30CD7962-84CE-42E4-B1F4-443A419A3E0F}">
      <dsp:nvSpPr>
        <dsp:cNvPr id="0" name=""/>
        <dsp:cNvSpPr/>
      </dsp:nvSpPr>
      <dsp:spPr>
        <a:xfrm>
          <a:off x="0" y="4653906"/>
          <a:ext cx="4941519" cy="124038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622FF8-F25B-42F7-A51D-0BAFCED2E655}">
      <dsp:nvSpPr>
        <dsp:cNvPr id="0" name=""/>
        <dsp:cNvSpPr/>
      </dsp:nvSpPr>
      <dsp:spPr>
        <a:xfrm>
          <a:off x="375217" y="4932994"/>
          <a:ext cx="682214" cy="6822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62E4C-C637-4C44-AA72-A69C46610679}">
      <dsp:nvSpPr>
        <dsp:cNvPr id="0" name=""/>
        <dsp:cNvSpPr/>
      </dsp:nvSpPr>
      <dsp:spPr>
        <a:xfrm>
          <a:off x="1432649" y="4653906"/>
          <a:ext cx="3508869" cy="1240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275" tIns="131275" rIns="131275" bIns="13127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Conclude with an expression of gratitude</a:t>
          </a:r>
        </a:p>
      </dsp:txBody>
      <dsp:txXfrm>
        <a:off x="1432649" y="4653906"/>
        <a:ext cx="3508869" cy="12403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31522D-2C92-41D4-97F5-9B8F562941BB}">
      <dsp:nvSpPr>
        <dsp:cNvPr id="0" name=""/>
        <dsp:cNvSpPr/>
      </dsp:nvSpPr>
      <dsp:spPr>
        <a:xfrm>
          <a:off x="0" y="180903"/>
          <a:ext cx="5614060" cy="57563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Self-compassion</a:t>
          </a:r>
        </a:p>
      </dsp:txBody>
      <dsp:txXfrm>
        <a:off x="28100" y="209003"/>
        <a:ext cx="5557860" cy="519439"/>
      </dsp:txXfrm>
    </dsp:sp>
    <dsp:sp modelId="{A88FCA8C-7FC1-4221-A6E9-86428C6E1FBB}">
      <dsp:nvSpPr>
        <dsp:cNvPr id="0" name=""/>
        <dsp:cNvSpPr/>
      </dsp:nvSpPr>
      <dsp:spPr>
        <a:xfrm>
          <a:off x="0" y="756543"/>
          <a:ext cx="5614060" cy="1515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24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Being kind toward oneself is better way to change behavior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Self-compassion makes us happier, optimistic, wiser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Self-compassion adults had greater motivation for self-improvement </a:t>
          </a:r>
        </a:p>
      </dsp:txBody>
      <dsp:txXfrm>
        <a:off x="0" y="756543"/>
        <a:ext cx="5614060" cy="15152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E12E0B-2CEC-4176-91DA-289D4804D03A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E7C1C9-5990-4B5A-85A9-A663E0A0D28B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854E4-9296-40F1-B2C1-B31543BB3852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Forgiveness is: The process of reducing negative emotions, thoughts, and motivations toward another person who has wronged you</a:t>
          </a:r>
        </a:p>
      </dsp:txBody>
      <dsp:txXfrm>
        <a:off x="1437631" y="531"/>
        <a:ext cx="6449068" cy="1244702"/>
      </dsp:txXfrm>
    </dsp:sp>
    <dsp:sp modelId="{2CB56923-7CC7-4934-9E9F-0C8EE5CE929D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19D006-9553-4BBD-B5B7-86DFF0649191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B0C10-062A-497E-B5B1-A3823EBB66EE}">
      <dsp:nvSpPr>
        <dsp:cNvPr id="0" name=""/>
        <dsp:cNvSpPr/>
      </dsp:nvSpPr>
      <dsp:spPr>
        <a:xfrm>
          <a:off x="1437631" y="1556410"/>
          <a:ext cx="3549015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Forgiveness is not: Excusing, pardoning, condoning, forgetting</a:t>
          </a:r>
        </a:p>
      </dsp:txBody>
      <dsp:txXfrm>
        <a:off x="1437631" y="1556410"/>
        <a:ext cx="3549015" cy="1244702"/>
      </dsp:txXfrm>
    </dsp:sp>
    <dsp:sp modelId="{3B180337-E0B8-4D0E-88EB-9FB6FA25341E}">
      <dsp:nvSpPr>
        <dsp:cNvPr id="0" name=""/>
        <dsp:cNvSpPr/>
      </dsp:nvSpPr>
      <dsp:spPr>
        <a:xfrm>
          <a:off x="4986646" y="1556410"/>
          <a:ext cx="2900053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Forgiveness does not require continued relationship with transgressor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Forgiveness does not require communicating forgiveness to transgressor</a:t>
          </a:r>
        </a:p>
      </dsp:txBody>
      <dsp:txXfrm>
        <a:off x="4986646" y="1556410"/>
        <a:ext cx="2900053" cy="1244702"/>
      </dsp:txXfrm>
    </dsp:sp>
    <dsp:sp modelId="{FD3227C4-2FE0-4C55-A0E4-F47656B4E184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B62761-CD17-4DC1-8F71-C68706DC8DBA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9189F8-5E3C-4866-9A50-D8B9423E2A93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Forgiveness is associated with psychological and physical health and better relationships</a:t>
          </a:r>
        </a:p>
      </dsp:txBody>
      <dsp:txXfrm>
        <a:off x="1437631" y="3112289"/>
        <a:ext cx="64490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72A1B-196A-4155-8397-EF46A3A2FFBA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B57E6-BB92-47A0-B1B1-ED183A0B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9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69A6D-8697-4D2F-B6E0-21678FE988F9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5EBDA-FB43-46D3-ADD5-6E5F4CE48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37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Grateful people more likely to make positive interpretations of situations and more likely to remember events more positively.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B5EBDA-FB43-46D3-ADD5-6E5F4CE48D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06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036438-DDFC-44CC-A913-176EBF7BCD03}" type="slidenum">
              <a:rPr lang="en-US"/>
              <a:pPr/>
              <a:t>7</a:t>
            </a:fld>
            <a:endParaRPr lang="en-US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974C31-EB4A-4B21-8134-CB5741A1DC5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014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974C31-EB4A-4B21-8134-CB5741A1DC5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883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B5EBDA-FB43-46D3-ADD5-6E5F4CE48D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12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6197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974C31-EB4A-4B21-8134-CB5741A1DC5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911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974C31-EB4A-4B21-8134-CB5741A1DC5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01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974C31-EB4A-4B21-8134-CB5741A1DC5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100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Uncovering</a:t>
            </a:r>
            <a:r>
              <a:rPr lang="en-IN" sz="1200" b="0" u="sng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phase</a:t>
            </a:r>
            <a:r>
              <a:rPr lang="en-IN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lang="en-US" dirty="0"/>
              <a:t>xplore how resentment and anger are destructive.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u="sng" dirty="0"/>
              <a:t>Decision phase</a:t>
            </a:r>
            <a:r>
              <a:rPr lang="en-IN" u="none" dirty="0"/>
              <a:t>: </a:t>
            </a:r>
            <a:r>
              <a:rPr lang="en-US" dirty="0"/>
              <a:t>Making choice to forgive.</a:t>
            </a:r>
            <a:endParaRPr lang="en-IN" u="non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u="non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u="sng" dirty="0"/>
              <a:t>Work phase</a:t>
            </a:r>
            <a:r>
              <a:rPr lang="en-IN" dirty="0"/>
              <a:t>: </a:t>
            </a:r>
            <a:r>
              <a:rPr lang="en-US" dirty="0"/>
              <a:t>Tries to find understanding of why offender did so.</a:t>
            </a: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u="sng" dirty="0"/>
              <a:t>Deepening phase</a:t>
            </a:r>
            <a:r>
              <a:rPr lang="en-IN" dirty="0"/>
              <a:t>: </a:t>
            </a:r>
            <a:r>
              <a:rPr lang="en-US" dirty="0"/>
              <a:t>Gain deeper sense of meaning as result of injury.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974C31-EB4A-4B21-8134-CB5741A1DC5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117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Uncovering</a:t>
            </a:r>
            <a:r>
              <a:rPr lang="en-IN" sz="1200" b="0" u="sng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phase</a:t>
            </a:r>
            <a:r>
              <a:rPr lang="en-IN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lang="en-US" dirty="0"/>
              <a:t>xplore how resentment and anger are destructive.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u="sng" dirty="0"/>
              <a:t>Decision phase</a:t>
            </a:r>
            <a:r>
              <a:rPr lang="en-IN" u="none" dirty="0"/>
              <a:t>: </a:t>
            </a:r>
            <a:r>
              <a:rPr lang="en-US" dirty="0"/>
              <a:t>Making choice to forgive.</a:t>
            </a:r>
            <a:endParaRPr lang="en-IN" u="non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u="non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u="sng" dirty="0"/>
              <a:t>Work phase</a:t>
            </a:r>
            <a:r>
              <a:rPr lang="en-IN" dirty="0"/>
              <a:t>: </a:t>
            </a:r>
            <a:r>
              <a:rPr lang="en-US" dirty="0"/>
              <a:t>Tries to find understanding of why offender did so.</a:t>
            </a: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u="sng" dirty="0"/>
              <a:t>Deepening phase</a:t>
            </a:r>
            <a:r>
              <a:rPr lang="en-IN" dirty="0"/>
              <a:t>: </a:t>
            </a:r>
            <a:r>
              <a:rPr lang="en-US" dirty="0"/>
              <a:t>Gain deeper sense of meaning as result of injury.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974C31-EB4A-4B21-8134-CB5741A1DC5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49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94678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974C31-EB4A-4B21-8134-CB5741A1DC5F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034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734381"/>
            <a:ext cx="7886700" cy="2852737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587118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4166100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02155" y="6451713"/>
            <a:ext cx="5139690" cy="276999"/>
          </a:xfrm>
        </p:spPr>
        <p:txBody>
          <a:bodyPr/>
          <a:lstStyle/>
          <a:p>
            <a:r>
              <a:rPr lang="en-US" dirty="0"/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383607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02155" y="6447131"/>
            <a:ext cx="5139690" cy="276999"/>
          </a:xfrm>
        </p:spPr>
        <p:txBody>
          <a:bodyPr/>
          <a:lstStyle/>
          <a:p>
            <a:r>
              <a:rPr lang="en-US" dirty="0"/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370656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37"/>
          <a:stretch/>
        </p:blipFill>
        <p:spPr>
          <a:xfrm>
            <a:off x="-12767" y="6322425"/>
            <a:ext cx="9156768" cy="53557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02155" y="6451713"/>
            <a:ext cx="5139690" cy="276999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The Science of Positive Psychology © Cambridge University Press 2021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9" y="6403081"/>
            <a:ext cx="1932486" cy="40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21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6" r:id="rId2"/>
    <p:sldLayoutId id="2147483657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oHv6vTKD6lg?feature=oembed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5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bKQA6I4BA7o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8460" y="1783959"/>
            <a:ext cx="3065480" cy="209435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700" dirty="0"/>
              <a:t>Chapter 11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98459" y="4256907"/>
            <a:ext cx="3065478" cy="114786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800" dirty="0"/>
              <a:t>Perspective Taking: Gratitude and Forgiveness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5391039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Hand reaching out to sun">
            <a:extLst>
              <a:ext uri="{FF2B5EF4-FFF2-40B4-BE49-F238E27FC236}">
                <a16:creationId xmlns:a16="http://schemas.microsoft.com/office/drawing/2014/main" id="{7C189EFE-3D05-4F50-A908-9AA4AF3E9F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44" r="15058" b="2"/>
          <a:stretch/>
        </p:blipFill>
        <p:spPr>
          <a:xfrm>
            <a:off x="20" y="10"/>
            <a:ext cx="5271352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598459" y="6199631"/>
            <a:ext cx="3065478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000" kern="1200">
                <a:solidFill>
                  <a:schemeClr val="tx1">
                    <a:alpha val="80000"/>
                  </a:schemeClr>
                </a:solidFill>
                <a:latin typeface="Calibri" panose="020F0502020204030204"/>
                <a:ea typeface="+mn-ea"/>
                <a:cs typeface="+mn-cs"/>
              </a:rPr>
              <a:t>The Science and Application of Positive Psychology </a:t>
            </a:r>
            <a:br>
              <a:rPr lang="en-US" sz="1000" kern="1200">
                <a:solidFill>
                  <a:schemeClr val="tx1">
                    <a:alpha val="80000"/>
                  </a:schemeClr>
                </a:solidFill>
                <a:latin typeface="Calibri" panose="020F0502020204030204"/>
                <a:ea typeface="+mn-ea"/>
                <a:cs typeface="+mn-cs"/>
              </a:rPr>
            </a:br>
            <a:r>
              <a:rPr lang="en-US" sz="1000" kern="1200">
                <a:solidFill>
                  <a:schemeClr val="tx1">
                    <a:alpha val="80000"/>
                  </a:schemeClr>
                </a:solidFill>
                <a:latin typeface="Calibri" panose="020F0502020204030204"/>
                <a:ea typeface="+mn-ea"/>
                <a:cs typeface="+mn-cs"/>
              </a:rPr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4177224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199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Gratitude &amp; Forgiveness as Perspective Taking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and Application of Positive Psychology </a:t>
            </a:r>
            <a:br>
              <a:rPr lang="en-US" sz="900"/>
            </a:br>
            <a:r>
              <a:rPr lang="en-US" sz="900"/>
              <a:t>© Cambridge University Press 2021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C084B11-E921-99C5-0848-A714EBD8D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2737388"/>
              </p:ext>
            </p:extLst>
          </p:nvPr>
        </p:nvGraphicFramePr>
        <p:xfrm>
          <a:off x="4101291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9506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holding a globe">
            <a:extLst>
              <a:ext uri="{FF2B5EF4-FFF2-40B4-BE49-F238E27FC236}">
                <a16:creationId xmlns:a16="http://schemas.microsoft.com/office/drawing/2014/main" id="{DA6056EF-06D9-998B-8E10-FA2D8D40C3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382" r="27004"/>
          <a:stretch/>
        </p:blipFill>
        <p:spPr>
          <a:xfrm>
            <a:off x="20" y="10"/>
            <a:ext cx="5257402" cy="6857990"/>
          </a:xfrm>
          <a:custGeom>
            <a:avLst/>
            <a:gdLst/>
            <a:ahLst/>
            <a:cxnLst/>
            <a:rect l="l" t="t" r="r" b="b"/>
            <a:pathLst>
              <a:path w="7009896" h="6858000">
                <a:moveTo>
                  <a:pt x="0" y="0"/>
                </a:moveTo>
                <a:lnTo>
                  <a:pt x="7009896" y="0"/>
                </a:lnTo>
                <a:lnTo>
                  <a:pt x="7009896" y="1"/>
                </a:lnTo>
                <a:lnTo>
                  <a:pt x="6295211" y="1"/>
                </a:lnTo>
                <a:lnTo>
                  <a:pt x="6195255" y="380651"/>
                </a:lnTo>
                <a:cubicBezTo>
                  <a:pt x="5677600" y="2559611"/>
                  <a:pt x="5966601" y="4758249"/>
                  <a:pt x="6880029" y="6647018"/>
                </a:cubicBezTo>
                <a:lnTo>
                  <a:pt x="698828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FDF4720-5445-47BE-89FE-E40D1AE6F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83945" y="-1"/>
            <a:ext cx="4860055" cy="6858002"/>
          </a:xfrm>
          <a:custGeom>
            <a:avLst/>
            <a:gdLst>
              <a:gd name="connsiteX0" fmla="*/ 6130244 w 6480073"/>
              <a:gd name="connsiteY0" fmla="*/ 0 h 6858002"/>
              <a:gd name="connsiteX1" fmla="*/ 6212951 w 6480073"/>
              <a:gd name="connsiteY1" fmla="*/ 314584 h 6858002"/>
              <a:gd name="connsiteX2" fmla="*/ 5540779 w 6480073"/>
              <a:gd name="connsiteY2" fmla="*/ 6756649 h 6858002"/>
              <a:gd name="connsiteX3" fmla="*/ 5489971 w 6480073"/>
              <a:gd name="connsiteY3" fmla="*/ 6858002 h 6858002"/>
              <a:gd name="connsiteX4" fmla="*/ 0 w 6480073"/>
              <a:gd name="connsiteY4" fmla="*/ 6858002 h 6858002"/>
              <a:gd name="connsiteX5" fmla="*/ 0 w 6480073"/>
              <a:gd name="connsiteY5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80073" h="6858002">
                <a:moveTo>
                  <a:pt x="6130244" y="0"/>
                </a:moveTo>
                <a:lnTo>
                  <a:pt x="6212951" y="314584"/>
                </a:lnTo>
                <a:cubicBezTo>
                  <a:pt x="6745828" y="2551616"/>
                  <a:pt x="6460994" y="4808873"/>
                  <a:pt x="5540779" y="6756649"/>
                </a:cubicBezTo>
                <a:lnTo>
                  <a:pt x="5489971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AC8710B4-A815-4082-9E4F-F13A00070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57088" y="0"/>
            <a:ext cx="4686912" cy="6858001"/>
          </a:xfrm>
          <a:custGeom>
            <a:avLst/>
            <a:gdLst>
              <a:gd name="connsiteX0" fmla="*/ 0 w 6249216"/>
              <a:gd name="connsiteY0" fmla="*/ 0 h 6858001"/>
              <a:gd name="connsiteX1" fmla="*/ 5893742 w 6249216"/>
              <a:gd name="connsiteY1" fmla="*/ 1 h 6858001"/>
              <a:gd name="connsiteX2" fmla="*/ 5993697 w 6249216"/>
              <a:gd name="connsiteY2" fmla="*/ 380651 h 6858001"/>
              <a:gd name="connsiteX3" fmla="*/ 5308924 w 6249216"/>
              <a:gd name="connsiteY3" fmla="*/ 6647018 h 6858001"/>
              <a:gd name="connsiteX4" fmla="*/ 5200672 w 6249216"/>
              <a:gd name="connsiteY4" fmla="*/ 6858001 h 6858001"/>
              <a:gd name="connsiteX5" fmla="*/ 1 w 6249216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49216" h="6858001">
                <a:moveTo>
                  <a:pt x="0" y="0"/>
                </a:moveTo>
                <a:lnTo>
                  <a:pt x="5893742" y="1"/>
                </a:lnTo>
                <a:lnTo>
                  <a:pt x="5993697" y="380651"/>
                </a:lnTo>
                <a:cubicBezTo>
                  <a:pt x="6511353" y="2559611"/>
                  <a:pt x="6222352" y="4758249"/>
                  <a:pt x="5308924" y="6647018"/>
                </a:cubicBezTo>
                <a:lnTo>
                  <a:pt x="5200672" y="6858001"/>
                </a:lnTo>
                <a:lnTo>
                  <a:pt x="1" y="685800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3062" y="534441"/>
            <a:ext cx="3614964" cy="1325563"/>
          </a:xfrm>
        </p:spPr>
        <p:txBody>
          <a:bodyPr>
            <a:normAutofit/>
          </a:bodyPr>
          <a:lstStyle/>
          <a:p>
            <a:r>
              <a:rPr lang="en-US" sz="2800"/>
              <a:t>Why does perspective taking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1076" y="1860004"/>
            <a:ext cx="3614963" cy="4193662"/>
          </a:xfrm>
        </p:spPr>
        <p:txBody>
          <a:bodyPr anchor="t">
            <a:normAutofit/>
          </a:bodyPr>
          <a:lstStyle/>
          <a:p>
            <a:r>
              <a:rPr lang="en-US" sz="2000" dirty="0"/>
              <a:t>Makes the world a smaller place</a:t>
            </a:r>
          </a:p>
          <a:p>
            <a:pPr lvl="1"/>
            <a:r>
              <a:rPr lang="en-US" sz="2000" dirty="0"/>
              <a:t>Access lessons through the experience of others</a:t>
            </a:r>
          </a:p>
          <a:p>
            <a:pPr lvl="1"/>
            <a:r>
              <a:rPr lang="en-US" sz="2000" dirty="0"/>
              <a:t>Highlights shared experiences</a:t>
            </a:r>
          </a:p>
          <a:p>
            <a:r>
              <a:rPr lang="en-US" sz="2000" dirty="0"/>
              <a:t>Builds, nurtures, and maintains relationships</a:t>
            </a:r>
          </a:p>
          <a:p>
            <a:r>
              <a:rPr lang="en-US" sz="2000" dirty="0"/>
              <a:t>Gratitude and forgiveness related to psychological health</a:t>
            </a:r>
          </a:p>
          <a:p>
            <a:pPr lvl="1"/>
            <a:r>
              <a:rPr lang="en-US" sz="2000" dirty="0"/>
              <a:t>Particularly </a:t>
            </a:r>
            <a:r>
              <a:rPr lang="en-US" sz="2000" dirty="0" err="1"/>
              <a:t>eudaimonic</a:t>
            </a:r>
            <a:r>
              <a:rPr lang="en-US" sz="2000" dirty="0"/>
              <a:t> well-being</a:t>
            </a:r>
          </a:p>
          <a:p>
            <a:pPr lvl="1"/>
            <a:r>
              <a:rPr lang="en-US" sz="2000" dirty="0"/>
              <a:t>Purpose and meaning</a:t>
            </a:r>
          </a:p>
          <a:p>
            <a:pPr lvl="1"/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30564" y="6199632"/>
            <a:ext cx="3285475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The Science and Application of Positive Psychology </a:t>
            </a:r>
            <a:br>
              <a:rPr lang="en-US" sz="90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3362203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656" y="0"/>
            <a:ext cx="7824687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1206" y="0"/>
            <a:ext cx="7441587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262B13-591A-448D-BDC2-8F2FCF846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360" y="365760"/>
            <a:ext cx="5677279" cy="1288238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Gratitude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AB026-AD71-41EE-B372-AF38D1AC4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176" y="1956816"/>
            <a:ext cx="5895648" cy="4024884"/>
          </a:xfrm>
        </p:spPr>
        <p:txBody>
          <a:bodyPr anchor="t">
            <a:normAutofit/>
          </a:bodyPr>
          <a:lstStyle/>
          <a:p>
            <a:r>
              <a:rPr lang="en-US" sz="2100"/>
              <a:t>Trait – tendency to easily experience appreciation, be aware of life’s abundance, and acknowledge the good in one’s life across circumstances</a:t>
            </a:r>
          </a:p>
          <a:p>
            <a:r>
              <a:rPr lang="en-US" sz="2100"/>
              <a:t>State – emotional experience of grateful, appreciative, or thankful in a moment</a:t>
            </a:r>
          </a:p>
          <a:p>
            <a:endParaRPr lang="en-US" sz="2100"/>
          </a:p>
          <a:p>
            <a:r>
              <a:rPr lang="en-US" sz="2100"/>
              <a:t>More gratitude is associated with: </a:t>
            </a:r>
          </a:p>
          <a:p>
            <a:pPr lvl="1"/>
            <a:r>
              <a:rPr lang="en-US" sz="2100"/>
              <a:t>Lower loneliness, perceived stress, symptoms of depression</a:t>
            </a:r>
          </a:p>
          <a:p>
            <a:pPr lvl="1"/>
            <a:r>
              <a:rPr lang="en-US" sz="2100"/>
              <a:t>Higher subjective health, self-esteem, and positive affect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E228E-C276-469D-B94F-E895874A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3240" y="6199632"/>
            <a:ext cx="301752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The Science and Application of Positive Psychology </a:t>
            </a:r>
            <a:br>
              <a:rPr lang="en-US" sz="90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2832244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8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656" y="0"/>
            <a:ext cx="7824687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10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1206" y="0"/>
            <a:ext cx="7441587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217DF9-ECB2-4D0E-B741-01F32EC5F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360" y="365760"/>
            <a:ext cx="5677279" cy="1288238"/>
          </a:xfrm>
        </p:spPr>
        <p:txBody>
          <a:bodyPr anchor="ctr">
            <a:normAutofit/>
          </a:bodyPr>
          <a:lstStyle/>
          <a:p>
            <a:pPr algn="ctr"/>
            <a:r>
              <a:rPr lang="en-US" sz="4100"/>
              <a:t>Cognitive Model in Action: Gratitude &amp; Sleep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882FA-7159-46CF-8CC1-9A314191F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176" y="1956816"/>
            <a:ext cx="5895648" cy="4024884"/>
          </a:xfrm>
        </p:spPr>
        <p:txBody>
          <a:bodyPr anchor="t">
            <a:normAutofit/>
          </a:bodyPr>
          <a:lstStyle/>
          <a:p>
            <a:r>
              <a:rPr lang="en-US" sz="2100"/>
              <a:t>In a sample of 401 adults from the community:</a:t>
            </a:r>
          </a:p>
          <a:p>
            <a:pPr lvl="1"/>
            <a:r>
              <a:rPr lang="en-US" sz="2100"/>
              <a:t>Higher self-reported gratitude associated with more hours of sleep, better sleep, less daytime sleepiness, and less time to fall asleep</a:t>
            </a:r>
          </a:p>
          <a:p>
            <a:pPr lvl="1"/>
            <a:r>
              <a:rPr lang="en-US" sz="2100"/>
              <a:t>These relationships were explained by pre-sleep cognitions</a:t>
            </a:r>
          </a:p>
          <a:p>
            <a:pPr lvl="1"/>
            <a:endParaRPr lang="en-US" sz="2100"/>
          </a:p>
          <a:p>
            <a:pPr marL="457200" lvl="1" indent="0">
              <a:buNone/>
            </a:pPr>
            <a:r>
              <a:rPr lang="en-US" sz="2100"/>
              <a:t>Gratitude </a:t>
            </a:r>
            <a:r>
              <a:rPr lang="en-US" sz="2100">
                <a:sym typeface="Wingdings" panose="05000000000000000000" pitchFamily="2" charset="2"/>
              </a:rPr>
              <a:t> more positive thoughts at bedtime  better sleep</a:t>
            </a:r>
            <a:endParaRPr lang="en-US" sz="21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7947E9-FE00-4558-A9E8-89FBBD8C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3240" y="6199632"/>
            <a:ext cx="301752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The Science and Application of Positive Psychology </a:t>
            </a:r>
            <a:br>
              <a:rPr lang="en-US" sz="90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597923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4">
            <a:extLst>
              <a:ext uri="{FF2B5EF4-FFF2-40B4-BE49-F238E27FC236}">
                <a16:creationId xmlns:a16="http://schemas.microsoft.com/office/drawing/2014/main" id="{A9C02875-D457-4487-AAF9-C9DA51EED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5963" y="0"/>
            <a:ext cx="367499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FB886-2CA2-4E2E-833C-0D512964D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1606" y="585216"/>
            <a:ext cx="2523744" cy="37398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Psychosocial Model of Gratitude (Alkozei et al., 2018)</a:t>
            </a:r>
          </a:p>
        </p:txBody>
      </p:sp>
      <p:pic>
        <p:nvPicPr>
          <p:cNvPr id="10" name="Content Placeholder 9" descr="Diagram&#10;&#10;Description automatically generated">
            <a:extLst>
              <a:ext uri="{FF2B5EF4-FFF2-40B4-BE49-F238E27FC236}">
                <a16:creationId xmlns:a16="http://schemas.microsoft.com/office/drawing/2014/main" id="{6417833B-0E78-4875-ACFD-C16BFBA4A8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29" y="2011458"/>
            <a:ext cx="4723847" cy="27162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E4327F-595E-4F27-9C49-5183C05A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The Science and Application of Positive Psychology </a:t>
            </a:r>
            <a:b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1359540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536" name="Rectangle 22535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8" name="Oval 22537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46" y="554152"/>
            <a:ext cx="4306641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33804" y="1289765"/>
            <a:ext cx="2738325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3400">
                <a:solidFill>
                  <a:srgbClr val="FFFFFF"/>
                </a:solidFill>
              </a:rPr>
              <a:t>Gratitude and Social Relationships</a:t>
            </a:r>
          </a:p>
        </p:txBody>
      </p:sp>
      <p:sp>
        <p:nvSpPr>
          <p:cNvPr id="2254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619" y="374394"/>
            <a:ext cx="128637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54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581" y="1084507"/>
            <a:ext cx="118159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 lnSpcReduction="10000"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Study: Sorority Big and Little sisters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Little sisters completed on-line questionnaire after each receipt of a reveal week gift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Perceived responsiveness, surprisingness, and liking predicted gratitude for event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Cost and perceived effort predicted gratitude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Gratitude predicted feelings of closeness and integration into sorority one month later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The gratitude reported by the “Little” before reveal predicted “Big” rating of relationship and time spent together one month later</a:t>
            </a:r>
          </a:p>
          <a:p>
            <a:pPr lvl="1"/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E2D55D-9FE7-4E7A-B545-6EA4A93EE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7359086" y="1591485"/>
            <a:ext cx="266107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alpha val="60000"/>
                  </a:schemeClr>
                </a:solidFill>
              </a:rPr>
              <a:t>The Science and Application of Positive Psychology </a:t>
            </a:r>
            <a:br>
              <a:rPr lang="en-US" sz="900">
                <a:solidFill>
                  <a:schemeClr val="tx1">
                    <a:alpha val="60000"/>
                  </a:schemeClr>
                </a:solidFill>
              </a:rPr>
            </a:br>
            <a:r>
              <a:rPr lang="en-US" sz="900">
                <a:solidFill>
                  <a:schemeClr val="tx1">
                    <a:alpha val="60000"/>
                  </a:schemeClr>
                </a:solidFill>
              </a:rPr>
              <a:t>© Cambridge University Press 2021</a:t>
            </a:r>
          </a:p>
        </p:txBody>
      </p:sp>
      <p:sp>
        <p:nvSpPr>
          <p:cNvPr id="2254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7410" y="5751820"/>
            <a:ext cx="84319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2546" name="Straight Connector 2254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1436-D024-437F-8CEE-ADC41E9D5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Circumstances that Facilitate or Suppress Gratitude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36FDBE2-F0FA-D24E-65AC-FF43BBE364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8B367-8207-48A4-B271-5127DFE1C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155" y="6354798"/>
            <a:ext cx="5139690" cy="461665"/>
          </a:xfrm>
        </p:spPr>
        <p:txBody>
          <a:bodyPr/>
          <a:lstStyle/>
          <a:p>
            <a:r>
              <a:rPr lang="en-US" dirty="0"/>
              <a:t>The Science and Application of Positive Psychology </a:t>
            </a:r>
            <a:br>
              <a:rPr lang="en-US" dirty="0"/>
            </a:br>
            <a:r>
              <a:rPr lang="en-US" dirty="0"/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205953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724072" y="136525"/>
            <a:ext cx="4939868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Gratitude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724073" y="1422685"/>
            <a:ext cx="4939867" cy="4801135"/>
          </a:xfrm>
        </p:spPr>
        <p:txBody>
          <a:bodyPr>
            <a:normAutofit/>
          </a:bodyPr>
          <a:lstStyle/>
          <a:p>
            <a:pPr marL="514350" indent="-457200"/>
            <a:r>
              <a:rPr lang="en-US" sz="2400" dirty="0"/>
              <a:t>Grateful people tend to be happy people</a:t>
            </a:r>
          </a:p>
          <a:p>
            <a:pPr marL="514350" indent="-457200"/>
            <a:r>
              <a:rPr lang="en-US" sz="2400" dirty="0"/>
              <a:t>Gratitude can maintain and enhance personal relationships</a:t>
            </a:r>
          </a:p>
          <a:p>
            <a:pPr marL="514350" indent="-457200"/>
            <a:r>
              <a:rPr lang="en-US" sz="2400" dirty="0"/>
              <a:t>Gratitude related to greater life satisfaction, optimism, and more positive and less negative emotionality</a:t>
            </a:r>
          </a:p>
          <a:p>
            <a:pPr marL="514350" indent="-457200"/>
            <a:r>
              <a:rPr lang="en-US" sz="2400" dirty="0"/>
              <a:t>Gratefulness related to wanting to give back to others…can expand outward and benefit the world</a:t>
            </a:r>
          </a:p>
          <a:p>
            <a:pPr marL="514350" indent="-457200"/>
            <a:endParaRPr lang="en-US" sz="2400" dirty="0"/>
          </a:p>
          <a:p>
            <a:pPr marL="1044702" lvl="1" indent="-457200"/>
            <a:endParaRPr lang="en-US" sz="17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30688" r="18617"/>
          <a:stretch/>
        </p:blipFill>
        <p:spPr>
          <a:xfrm>
            <a:off x="20" y="10"/>
            <a:ext cx="3476673" cy="6857990"/>
          </a:xfrm>
          <a:prstGeom prst="rect">
            <a:avLst/>
          </a:prstGeom>
          <a:effectLst/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724072" y="6356350"/>
            <a:ext cx="3104351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Compton, </a:t>
            </a:r>
            <a:r>
              <a:rPr lang="en-US" sz="900" i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Positive Psychology, 3e</a:t>
            </a:r>
            <a:r>
              <a:rPr lang="en-US" sz="90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r>
              <a:rPr lang="en-US" sz="900" kern="12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9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© SAGE Publications, 2020.</a:t>
            </a:r>
            <a:endParaRPr lang="en-US" sz="9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972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724072" y="341885"/>
            <a:ext cx="4939868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Gratitude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724073" y="1907178"/>
            <a:ext cx="4939867" cy="4316642"/>
          </a:xfrm>
        </p:spPr>
        <p:txBody>
          <a:bodyPr>
            <a:normAutofit/>
          </a:bodyPr>
          <a:lstStyle/>
          <a:p>
            <a:pPr marL="514350" indent="-457200"/>
            <a:r>
              <a:rPr lang="en-US" sz="3200" dirty="0"/>
              <a:t>Gratitude can be nurtured through practice</a:t>
            </a:r>
          </a:p>
          <a:p>
            <a:pPr marL="1044702" lvl="1" indent="-457200"/>
            <a:r>
              <a:rPr lang="en-US" sz="3200" dirty="0"/>
              <a:t>Gratitude letter</a:t>
            </a:r>
          </a:p>
          <a:p>
            <a:pPr marL="1044702" lvl="1" indent="-457200"/>
            <a:r>
              <a:rPr lang="en-US" sz="3200" dirty="0"/>
              <a:t>Gratitude journal</a:t>
            </a:r>
          </a:p>
          <a:p>
            <a:pPr marL="57150" indent="0">
              <a:buNone/>
            </a:pPr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91" b="10215"/>
          <a:stretch/>
        </p:blipFill>
        <p:spPr>
          <a:xfrm rot="5400000">
            <a:off x="-1690653" y="1690653"/>
            <a:ext cx="6858000" cy="3476693"/>
          </a:xfrm>
          <a:prstGeom prst="rect">
            <a:avLst/>
          </a:prstGeom>
          <a:effectLst/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724072" y="6356350"/>
            <a:ext cx="3104351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Compton, </a:t>
            </a:r>
            <a:r>
              <a:rPr lang="en-US" sz="900" i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Positive Psychology, 3e</a:t>
            </a:r>
            <a:r>
              <a:rPr lang="en-US" sz="90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r>
              <a:rPr lang="en-US" sz="900" kern="12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9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© SAGE Publications, 2020.</a:t>
            </a:r>
            <a:endParaRPr lang="en-US" sz="9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36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C0A46-1EE2-4B9D-ABD6-4BD410CA6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236" y="408317"/>
            <a:ext cx="3754752" cy="1325563"/>
          </a:xfrm>
        </p:spPr>
        <p:txBody>
          <a:bodyPr>
            <a:normAutofit/>
          </a:bodyPr>
          <a:lstStyle/>
          <a:p>
            <a:r>
              <a:rPr lang="en-US" dirty="0"/>
              <a:t>Gratitude Interventions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74D28C-3268-4E35-8EE1-D92CB4A8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29586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Pen placed on top of a signature line">
            <a:extLst>
              <a:ext uri="{FF2B5EF4-FFF2-40B4-BE49-F238E27FC236}">
                <a16:creationId xmlns:a16="http://schemas.microsoft.com/office/drawing/2014/main" id="{9772577B-4BCA-D48B-354E-1A3945CB45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959" r="3065" b="-1"/>
          <a:stretch/>
        </p:blipFill>
        <p:spPr>
          <a:xfrm>
            <a:off x="20" y="10"/>
            <a:ext cx="4518095" cy="6857990"/>
          </a:xfrm>
          <a:custGeom>
            <a:avLst/>
            <a:gdLst/>
            <a:ahLst/>
            <a:cxnLst/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CFBFF-DC32-40F9-AB0E-E63E36C0D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33" y="1870841"/>
            <a:ext cx="3753055" cy="4182825"/>
          </a:xfrm>
        </p:spPr>
        <p:txBody>
          <a:bodyPr anchor="t">
            <a:noAutofit/>
          </a:bodyPr>
          <a:lstStyle/>
          <a:p>
            <a:r>
              <a:rPr lang="en-US" sz="1600" dirty="0"/>
              <a:t>Three Good Things</a:t>
            </a:r>
          </a:p>
          <a:p>
            <a:pPr lvl="1"/>
            <a:r>
              <a:rPr lang="en-US" sz="1600" dirty="0"/>
              <a:t>Write down three good things that happen every day</a:t>
            </a:r>
          </a:p>
          <a:p>
            <a:pPr lvl="1"/>
            <a:r>
              <a:rPr lang="en-US" sz="1600" dirty="0"/>
              <a:t>Compared to placebo, increases in happiness 1, 3, and 6 months after intervention (Seligman et al., 2005)</a:t>
            </a:r>
          </a:p>
          <a:p>
            <a:r>
              <a:rPr lang="en-US" sz="1600" dirty="0"/>
              <a:t>Gratitude Letter/Visit</a:t>
            </a:r>
          </a:p>
          <a:p>
            <a:pPr lvl="1"/>
            <a:r>
              <a:rPr lang="en-US" sz="1600" dirty="0"/>
              <a:t>Identify someone to whom you haven’t yet adequately expressed your gratitude</a:t>
            </a:r>
          </a:p>
          <a:p>
            <a:pPr lvl="1"/>
            <a:r>
              <a:rPr lang="en-US" sz="1600" dirty="0"/>
              <a:t>Write letter with specific details</a:t>
            </a:r>
          </a:p>
          <a:p>
            <a:pPr lvl="1"/>
            <a:r>
              <a:rPr lang="en-US" sz="1600" dirty="0"/>
              <a:t>Option to visit and read them the letter</a:t>
            </a:r>
          </a:p>
          <a:p>
            <a:pPr lvl="1"/>
            <a:r>
              <a:rPr lang="en-US" sz="1600" dirty="0"/>
              <a:t>Compared to placebo, large increases in happiness that lasted one month (Seligman et al, 2005)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BDA14F-9330-4045-9491-4909A828D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78280" y="6199632"/>
            <a:ext cx="3754752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The Science and Application of Positive Psychology </a:t>
            </a:r>
            <a:br>
              <a:rPr lang="en-US" sz="90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1224247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D8F1113-2E3C-46E3-B54F-B7F421EEF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5DDECC-A11E-434E-87B2-8997CD383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47255" y="-59376"/>
            <a:ext cx="9386886" cy="6923798"/>
            <a:chOff x="-329674" y="-51881"/>
            <a:chExt cx="12515851" cy="692379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B54A4D14-513F-4121-92D3-5CCB46896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>
                <a:gd name="T0" fmla="*/ 1752 w 2038"/>
                <a:gd name="T1" fmla="*/ 1169 h 1169"/>
                <a:gd name="T2" fmla="*/ 1487 w 2038"/>
                <a:gd name="T3" fmla="*/ 334 h 1169"/>
                <a:gd name="T4" fmla="*/ 860 w 2038"/>
                <a:gd name="T5" fmla="*/ 22 h 1169"/>
                <a:gd name="T6" fmla="*/ 199 w 2038"/>
                <a:gd name="T7" fmla="*/ 318 h 1169"/>
                <a:gd name="T8" fmla="*/ 399 w 2038"/>
                <a:gd name="T9" fmla="*/ 1165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3411F1-AD17-499D-AFEF-2F300F6DF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>
                <a:gd name="T0" fmla="*/ 1025 w 1549"/>
                <a:gd name="T1" fmla="*/ 1016 h 1017"/>
                <a:gd name="T2" fmla="*/ 1443 w 1549"/>
                <a:gd name="T3" fmla="*/ 592 h 1017"/>
                <a:gd name="T4" fmla="*/ 782 w 1549"/>
                <a:gd name="T5" fmla="*/ 53 h 1017"/>
                <a:gd name="T6" fmla="*/ 150 w 1549"/>
                <a:gd name="T7" fmla="*/ 329 h 1017"/>
                <a:gd name="T8" fmla="*/ 477 w 1549"/>
                <a:gd name="T9" fmla="*/ 101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60BF2CBE-B1E9-4C42-89DC-C35E4E651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>
                <a:gd name="T0" fmla="*/ 1302 w 1688"/>
                <a:gd name="T1" fmla="*/ 1066 h 1066"/>
                <a:gd name="T2" fmla="*/ 1613 w 1688"/>
                <a:gd name="T3" fmla="*/ 850 h 1066"/>
                <a:gd name="T4" fmla="*/ 1517 w 1688"/>
                <a:gd name="T5" fmla="*/ 471 h 1066"/>
                <a:gd name="T6" fmla="*/ 798 w 1688"/>
                <a:gd name="T7" fmla="*/ 28 h 1066"/>
                <a:gd name="T8" fmla="*/ 181 w 1688"/>
                <a:gd name="T9" fmla="*/ 333 h 1066"/>
                <a:gd name="T10" fmla="*/ 420 w 1688"/>
                <a:gd name="T11" fmla="*/ 1066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72C95A87-DCDB-41C4-B774-744B3ECBE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>
                <a:gd name="T0" fmla="*/ 1873 w 2171"/>
                <a:gd name="T1" fmla="*/ 1326 h 1326"/>
                <a:gd name="T2" fmla="*/ 1609 w 2171"/>
                <a:gd name="T3" fmla="*/ 473 h 1326"/>
                <a:gd name="T4" fmla="*/ 880 w 2171"/>
                <a:gd name="T5" fmla="*/ 63 h 1326"/>
                <a:gd name="T6" fmla="*/ 0 w 2171"/>
                <a:gd name="T7" fmla="*/ 423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BCB97515-32FF-43A6-A51C-B140193AB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>
                <a:gd name="T0" fmla="*/ 0 w 106"/>
                <a:gd name="T1" fmla="*/ 0 h 143"/>
                <a:gd name="T2" fmla="*/ 106 w 106"/>
                <a:gd name="T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9C6379D3-7045-4B76-9409-6D23D753D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>
                <a:gd name="T0" fmla="*/ 2046 w 2330"/>
                <a:gd name="T1" fmla="*/ 1452 h 1452"/>
                <a:gd name="T2" fmla="*/ 1813 w 2330"/>
                <a:gd name="T3" fmla="*/ 601 h 1452"/>
                <a:gd name="T4" fmla="*/ 956 w 2330"/>
                <a:gd name="T5" fmla="*/ 97 h 1452"/>
                <a:gd name="T6" fmla="*/ 0 w 2330"/>
                <a:gd name="T7" fmla="*/ 366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C324CDD-B30F-47DD-8627-E2171D5E8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>
                <a:gd name="T0" fmla="*/ 1094 w 1216"/>
                <a:gd name="T1" fmla="*/ 1436 h 1436"/>
                <a:gd name="T2" fmla="*/ 709 w 1216"/>
                <a:gd name="T3" fmla="*/ 551 h 1436"/>
                <a:gd name="T4" fmla="*/ 0 w 1216"/>
                <a:gd name="T5" fmla="*/ 0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61B1C1DE-4201-4989-BE65-41ADC2472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>
                <a:gd name="T0" fmla="*/ 222 w 222"/>
                <a:gd name="T1" fmla="*/ 0 h 129"/>
                <a:gd name="T2" fmla="*/ 0 w 222"/>
                <a:gd name="T3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0A9092BE-A36C-4833-8E71-2850F4AF7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>
                <a:gd name="T0" fmla="*/ 1067 w 1174"/>
                <a:gd name="T1" fmla="*/ 1440 h 1440"/>
                <a:gd name="T2" fmla="*/ 698 w 1174"/>
                <a:gd name="T3" fmla="*/ 577 h 1440"/>
                <a:gd name="T4" fmla="*/ 0 w 1174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806398CC-D327-4E06-838C-31119BD56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>
                <a:gd name="T0" fmla="*/ 125 w 125"/>
                <a:gd name="T1" fmla="*/ 0 h 74"/>
                <a:gd name="T2" fmla="*/ 0 w 125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1E3F0C5B-76A9-4A8F-A1CB-35C0DE83A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>
                <a:gd name="T0" fmla="*/ 1056 w 1155"/>
                <a:gd name="T1" fmla="*/ 1440 h 1440"/>
                <a:gd name="T2" fmla="*/ 686 w 1155"/>
                <a:gd name="T3" fmla="*/ 580 h 1440"/>
                <a:gd name="T4" fmla="*/ 0 w 1155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70A741CC-E736-448A-A94E-5C8BB9711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>
                <a:gd name="T0" fmla="*/ 75 w 75"/>
                <a:gd name="T1" fmla="*/ 0 h 45"/>
                <a:gd name="T2" fmla="*/ 0 w 7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02722D1-549B-407E-BF75-2A1E8DB5B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>
                <a:gd name="T0" fmla="*/ 1053 w 1160"/>
                <a:gd name="T1" fmla="*/ 1441 h 1441"/>
                <a:gd name="T2" fmla="*/ 705 w 1160"/>
                <a:gd name="T3" fmla="*/ 599 h 1441"/>
                <a:gd name="T4" fmla="*/ 0 w 1160"/>
                <a:gd name="T5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5CA8D742-18BD-41B5-9C00-FCFFAED257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>
                <a:gd name="T0" fmla="*/ 1040 w 1137"/>
                <a:gd name="T1" fmla="*/ 1440 h 1440"/>
                <a:gd name="T2" fmla="*/ 698 w 1137"/>
                <a:gd name="T3" fmla="*/ 611 h 1440"/>
                <a:gd name="T4" fmla="*/ 0 w 1137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8BF81081-4C33-488E-A37E-B95567D0B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>
                <a:gd name="T0" fmla="*/ 1011 w 1058"/>
                <a:gd name="T1" fmla="*/ 1439 h 1439"/>
                <a:gd name="T2" fmla="*/ 648 w 1058"/>
                <a:gd name="T3" fmla="*/ 617 h 1439"/>
                <a:gd name="T4" fmla="*/ 0 w 1058"/>
                <a:gd name="T5" fmla="*/ 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462F0DE0-CEBA-420B-8032-FB60893B8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>
                <a:gd name="T0" fmla="*/ 718 w 718"/>
                <a:gd name="T1" fmla="*/ 575 h 575"/>
                <a:gd name="T2" fmla="*/ 0 w 718"/>
                <a:gd name="T3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79C8D19E-E3D6-45A6-BCA2-5918A37D7A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>
                <a:gd name="T0" fmla="*/ 620 w 620"/>
                <a:gd name="T1" fmla="*/ 536 h 536"/>
                <a:gd name="T2" fmla="*/ 0 w 620"/>
                <a:gd name="T3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43280283-E04A-43CA-BFA1-F285486A2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>
                <a:gd name="T0" fmla="*/ 0 w 455"/>
                <a:gd name="T1" fmla="*/ 0 h 285"/>
                <a:gd name="T2" fmla="*/ 455 w 455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38328CB6-0FC5-4AEA-BC7E-489267CB6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>
                <a:gd name="T0" fmla="*/ 0 w 188"/>
                <a:gd name="T1" fmla="*/ 0 h 112"/>
                <a:gd name="T2" fmla="*/ 188 w 188"/>
                <a:gd name="T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B3D3C3-D85D-4C7F-B3C4-2E7CFC59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647" y="5128645"/>
            <a:ext cx="6061470" cy="9439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Gratitude (Soul Pancake)</a:t>
            </a:r>
          </a:p>
        </p:txBody>
      </p:sp>
      <p:sp>
        <p:nvSpPr>
          <p:cNvPr id="33" name="Isosceles Triangle 39">
            <a:extLst>
              <a:ext uri="{FF2B5EF4-FFF2-40B4-BE49-F238E27FC236}">
                <a16:creationId xmlns:a16="http://schemas.microsoft.com/office/drawing/2014/main" id="{4F37E7FB-7372-47E3-914E-7CF7E94B1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19288" y="4386808"/>
            <a:ext cx="305424" cy="351063"/>
          </a:xfrm>
          <a:prstGeom prst="triangle">
            <a:avLst/>
          </a:prstGeom>
          <a:solidFill>
            <a:srgbClr val="77A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6E168E2-3256-43A5-9298-9E5A6AE8F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9635" y="954593"/>
            <a:ext cx="4564729" cy="3432215"/>
          </a:xfrm>
          <a:prstGeom prst="rect">
            <a:avLst/>
          </a:prstGeom>
          <a:solidFill>
            <a:schemeClr val="bg1"/>
          </a:solidFill>
          <a:ln w="19050">
            <a:solidFill>
              <a:srgbClr val="77A9EA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nline Media 4" title="An Experiment in Gratitude | The Science of Happiness">
            <a:hlinkClick r:id="" action="ppaction://media"/>
            <a:extLst>
              <a:ext uri="{FF2B5EF4-FFF2-40B4-BE49-F238E27FC236}">
                <a16:creationId xmlns:a16="http://schemas.microsoft.com/office/drawing/2014/main" id="{DFED7A4D-30F0-4354-A051-7E4B31FD723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28698" y="496959"/>
            <a:ext cx="8570436" cy="4842296"/>
          </a:xfrm>
          <a:prstGeom prst="rect">
            <a:avLst/>
          </a:prstGeom>
          <a:ln w="12700">
            <a:noFill/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22718-31FD-4962-9C29-E17C8295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6227064"/>
            <a:ext cx="7941564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192847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5B4632-C963-4296-86F0-79AA9EA5A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53746" y="303591"/>
            <a:ext cx="3251495" cy="58967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CDD1F-E5DD-4FA3-8173-4DAF01336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70" y="637125"/>
            <a:ext cx="2851707" cy="5256371"/>
          </a:xfrm>
        </p:spPr>
        <p:txBody>
          <a:bodyPr>
            <a:normAutofit/>
          </a:bodyPr>
          <a:lstStyle/>
          <a:p>
            <a:r>
              <a:rPr lang="en-US" sz="4200" dirty="0">
                <a:solidFill>
                  <a:schemeClr val="bg1"/>
                </a:solidFill>
              </a:rPr>
              <a:t>Journal Entry #20 Gratitude Letter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8ADD9-1205-4D10-9BFC-EC8A14B92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rgbClr val="898989"/>
                </a:solidFill>
              </a:rPr>
              <a:t>The Science of Positive Psychology © Cambridge University Press 2021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CF0BDA5-C925-BB4B-9F80-583AE58CE2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416138"/>
              </p:ext>
            </p:extLst>
          </p:nvPr>
        </p:nvGraphicFramePr>
        <p:xfrm>
          <a:off x="3875238" y="303591"/>
          <a:ext cx="4941519" cy="58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4963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altLang="en-US" dirty="0"/>
              <a:t>Gratitude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4667250" y="1825625"/>
            <a:ext cx="3848100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altLang="en-US" dirty="0"/>
              <a:t>Gratitude can also come from non-human actions or events</a:t>
            </a:r>
          </a:p>
          <a:p>
            <a:pPr marL="530352" lvl="1" indent="0">
              <a:buNone/>
              <a:defRPr/>
            </a:pPr>
            <a:r>
              <a:rPr lang="en-US" altLang="en-US" sz="2800" dirty="0"/>
              <a:t>e.g., surviving a natural disaster</a:t>
            </a:r>
          </a:p>
          <a:p>
            <a:pPr>
              <a:buFont typeface="Wingdings" panose="05000000000000000000" pitchFamily="2" charset="2"/>
              <a:buChar char="v"/>
              <a:defRPr/>
            </a:pPr>
            <a:endParaRPr lang="en-US" altLang="en-US" dirty="0"/>
          </a:p>
          <a:p>
            <a:pPr>
              <a:buFont typeface="Wingdings" panose="05000000000000000000" pitchFamily="2" charset="2"/>
              <a:buChar char="v"/>
              <a:defRPr/>
            </a:pPr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002155" y="6447131"/>
            <a:ext cx="5139690" cy="27699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US" sz="1000"/>
              <a:t>Positive Psychology: The Scientific and Practical Explorations of Human Strengths © 2014 SAGE</a:t>
            </a:r>
          </a:p>
        </p:txBody>
      </p:sp>
      <p:pic>
        <p:nvPicPr>
          <p:cNvPr id="46085" name="Picture 6" descr="Natural-Disaster_900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7" r="26607" b="1"/>
          <a:stretch/>
        </p:blipFill>
        <p:spPr bwMode="auto">
          <a:xfrm>
            <a:off x="628650" y="1825625"/>
            <a:ext cx="3848100" cy="4351338"/>
          </a:xfrm>
          <a:prstGeom prst="rect">
            <a:avLst/>
          </a:prstGeo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5619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F734-8170-4D33-9F89-B8487E92A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245809"/>
            <a:ext cx="6858000" cy="15647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Forgiveness</a:t>
            </a:r>
          </a:p>
        </p:txBody>
      </p:sp>
      <p:sp>
        <p:nvSpPr>
          <p:cNvPr id="9" name="Freeform 14">
            <a:extLst>
              <a:ext uri="{FF2B5EF4-FFF2-40B4-BE49-F238E27FC236}">
                <a16:creationId xmlns:a16="http://schemas.microsoft.com/office/drawing/2014/main" id="{C66F2F30-5DC0-44A0-BFA6-E12F46ED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440464" cy="2130951"/>
          </a:xfrm>
          <a:custGeom>
            <a:avLst/>
            <a:gdLst>
              <a:gd name="connsiteX0" fmla="*/ 0 w 5920619"/>
              <a:gd name="connsiteY0" fmla="*/ 0 h 2130951"/>
              <a:gd name="connsiteX1" fmla="*/ 3191370 w 5920619"/>
              <a:gd name="connsiteY1" fmla="*/ 0 h 2130951"/>
              <a:gd name="connsiteX2" fmla="*/ 3346315 w 5920619"/>
              <a:gd name="connsiteY2" fmla="*/ 0 h 2130951"/>
              <a:gd name="connsiteX3" fmla="*/ 5920619 w 5920619"/>
              <a:gd name="connsiteY3" fmla="*/ 0 h 2130951"/>
              <a:gd name="connsiteX4" fmla="*/ 4936971 w 5920619"/>
              <a:gd name="connsiteY4" fmla="*/ 2130951 h 2130951"/>
              <a:gd name="connsiteX5" fmla="*/ 0 w 5920619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 21">
            <a:extLst>
              <a:ext uri="{FF2B5EF4-FFF2-40B4-BE49-F238E27FC236}">
                <a16:creationId xmlns:a16="http://schemas.microsoft.com/office/drawing/2014/main" id="{85872F57-7F42-4F97-8391-DDC8D0054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3379" y="0"/>
            <a:ext cx="5320620" cy="2130952"/>
          </a:xfrm>
          <a:custGeom>
            <a:avLst/>
            <a:gdLst>
              <a:gd name="connsiteX0" fmla="*/ 4417853 w 7094160"/>
              <a:gd name="connsiteY0" fmla="*/ 0 h 2130952"/>
              <a:gd name="connsiteX1" fmla="*/ 7094160 w 7094160"/>
              <a:gd name="connsiteY1" fmla="*/ 0 h 2130952"/>
              <a:gd name="connsiteX2" fmla="*/ 7094160 w 7094160"/>
              <a:gd name="connsiteY2" fmla="*/ 2130552 h 2130952"/>
              <a:gd name="connsiteX3" fmla="*/ 5920619 w 7094160"/>
              <a:gd name="connsiteY3" fmla="*/ 2130552 h 2130952"/>
              <a:gd name="connsiteX4" fmla="*/ 5920619 w 7094160"/>
              <a:gd name="connsiteY4" fmla="*/ 2130952 h 2130952"/>
              <a:gd name="connsiteX5" fmla="*/ 2729249 w 7094160"/>
              <a:gd name="connsiteY5" fmla="*/ 2130952 h 2130952"/>
              <a:gd name="connsiteX6" fmla="*/ 2574304 w 7094160"/>
              <a:gd name="connsiteY6" fmla="*/ 2130952 h 2130952"/>
              <a:gd name="connsiteX7" fmla="*/ 0 w 7094160"/>
              <a:gd name="connsiteY7" fmla="*/ 2130952 h 2130952"/>
              <a:gd name="connsiteX8" fmla="*/ 983648 w 7094160"/>
              <a:gd name="connsiteY8" fmla="*/ 1 h 2130952"/>
              <a:gd name="connsiteX9" fmla="*/ 4417853 w 7094160"/>
              <a:gd name="connsiteY9" fmla="*/ 1 h 2130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94160" h="2130952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04DC2037-48A0-4F22-B9D4-8EAEBC78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2290" y="4682920"/>
            <a:ext cx="3392097" cy="2175080"/>
          </a:xfrm>
          <a:custGeom>
            <a:avLst/>
            <a:gdLst>
              <a:gd name="connsiteX0" fmla="*/ 3515449 w 4522796"/>
              <a:gd name="connsiteY0" fmla="*/ 0 h 2175080"/>
              <a:gd name="connsiteX1" fmla="*/ 0 w 4522796"/>
              <a:gd name="connsiteY1" fmla="*/ 0 h 2175080"/>
              <a:gd name="connsiteX2" fmla="*/ 0 w 4522796"/>
              <a:gd name="connsiteY2" fmla="*/ 2175080 h 2175080"/>
              <a:gd name="connsiteX3" fmla="*/ 4522796 w 4522796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2796" h="217508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/>
          </a:p>
        </p:txBody>
      </p:sp>
      <p:sp>
        <p:nvSpPr>
          <p:cNvPr id="15" name="Freeform 22">
            <a:extLst>
              <a:ext uri="{FF2B5EF4-FFF2-40B4-BE49-F238E27FC236}">
                <a16:creationId xmlns:a16="http://schemas.microsoft.com/office/drawing/2014/main" id="{0006CBFD-ADA0-43D1-9332-9C34CA1C7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0107" y="4682920"/>
            <a:ext cx="4443893" cy="2175080"/>
          </a:xfrm>
          <a:custGeom>
            <a:avLst/>
            <a:gdLst>
              <a:gd name="connsiteX0" fmla="*/ 1007347 w 5925190"/>
              <a:gd name="connsiteY0" fmla="*/ 0 h 2175080"/>
              <a:gd name="connsiteX1" fmla="*/ 5925190 w 5925190"/>
              <a:gd name="connsiteY1" fmla="*/ 0 h 2175080"/>
              <a:gd name="connsiteX2" fmla="*/ 5925190 w 5925190"/>
              <a:gd name="connsiteY2" fmla="*/ 2175080 h 2175080"/>
              <a:gd name="connsiteX3" fmla="*/ 0 w 5925190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217508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5">
              <a:lumMod val="100000"/>
              <a:lumOff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 25">
            <a:extLst>
              <a:ext uri="{FF2B5EF4-FFF2-40B4-BE49-F238E27FC236}">
                <a16:creationId xmlns:a16="http://schemas.microsoft.com/office/drawing/2014/main" id="{2B931666-F28F-45F3-A074-66D2272D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2920"/>
            <a:ext cx="5335901" cy="2175080"/>
          </a:xfrm>
          <a:custGeom>
            <a:avLst/>
            <a:gdLst>
              <a:gd name="connsiteX0" fmla="*/ 0 w 7114535"/>
              <a:gd name="connsiteY0" fmla="*/ 0 h 2175080"/>
              <a:gd name="connsiteX1" fmla="*/ 1189345 w 7114535"/>
              <a:gd name="connsiteY1" fmla="*/ 0 h 2175080"/>
              <a:gd name="connsiteX2" fmla="*/ 7114535 w 7114535"/>
              <a:gd name="connsiteY2" fmla="*/ 0 h 2175080"/>
              <a:gd name="connsiteX3" fmla="*/ 6107188 w 7114535"/>
              <a:gd name="connsiteY3" fmla="*/ 2175080 h 2175080"/>
              <a:gd name="connsiteX4" fmla="*/ 1189345 w 7114535"/>
              <a:gd name="connsiteY4" fmla="*/ 2175080 h 2175080"/>
              <a:gd name="connsiteX5" fmla="*/ 0 w 7114535"/>
              <a:gd name="connsiteY5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4535" h="217508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2592D3-AF77-474F-A075-63528DE407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07831" y="5625144"/>
            <a:ext cx="300751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r>
              <a:rPr lang="en-US" sz="900" kern="120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rPr>
              <a:t>The Science and Application of Positive Psychology </a:t>
            </a:r>
            <a:br>
              <a:rPr lang="en-US" sz="900" kern="120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rPr>
            </a:br>
            <a:r>
              <a:rPr lang="en-US" sz="900" kern="1200">
                <a:solidFill>
                  <a:srgbClr val="FFFFFF">
                    <a:alpha val="80000"/>
                  </a:srgbClr>
                </a:solidFill>
                <a:latin typeface="+mn-lt"/>
                <a:ea typeface="+mn-ea"/>
                <a:cs typeface="+mn-cs"/>
              </a:rPr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2976536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/>
              <a:t>Forgiveness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28650" y="1825625"/>
            <a:ext cx="3848100" cy="4351338"/>
          </a:xfrm>
        </p:spPr>
        <p:txBody>
          <a:bodyPr>
            <a:normAutofit/>
          </a:bodyPr>
          <a:lstStyle/>
          <a:p>
            <a:pPr marL="514350" indent="-457200"/>
            <a:r>
              <a:rPr lang="en-US" sz="2000"/>
              <a:t>Many definitions: consensus is that forgiveness is beneficial</a:t>
            </a:r>
          </a:p>
          <a:p>
            <a:pPr marL="514350" indent="-457200"/>
            <a:r>
              <a:rPr lang="en-US" sz="2000"/>
              <a:t>Without forgiveness, anger and resentment take over and can be a cycle of hostility and desire for revenge </a:t>
            </a:r>
          </a:p>
          <a:p>
            <a:pPr marL="514350" indent="-457200"/>
            <a:r>
              <a:rPr lang="en-US" sz="2000"/>
              <a:t>Research scenarios: Women more likely to forgive than men, children less willing to forgive than adult, older adults more likely “let bygones be bygones”	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002155" y="6447131"/>
            <a:ext cx="5139690" cy="2769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effectLst/>
              </a:rPr>
              <a:t>Compton, </a:t>
            </a:r>
            <a:r>
              <a:rPr lang="en-US" i="1">
                <a:effectLst/>
              </a:rPr>
              <a:t>Positive Psychology, 3e</a:t>
            </a:r>
            <a:r>
              <a:rPr lang="en-US">
                <a:effectLst/>
              </a:rPr>
              <a:t>.</a:t>
            </a:r>
            <a:r>
              <a:rPr lang="en-US" kern="1200">
                <a:effectLst/>
              </a:rPr>
              <a:t> </a:t>
            </a:r>
            <a:r>
              <a:rPr lang="en-US">
                <a:effectLst/>
              </a:rPr>
              <a:t>© SAGE Publications, 2020.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278C24-5B4C-D42A-4306-5D71830E77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01" r="2" b="9289"/>
          <a:stretch/>
        </p:blipFill>
        <p:spPr>
          <a:xfrm>
            <a:off x="4742089" y="1253331"/>
            <a:ext cx="3848100" cy="4351338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05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/>
              <a:t>Forgiveness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667250" y="1097280"/>
            <a:ext cx="3848100" cy="5079683"/>
          </a:xfrm>
        </p:spPr>
        <p:txBody>
          <a:bodyPr>
            <a:noAutofit/>
          </a:bodyPr>
          <a:lstStyle/>
          <a:p>
            <a:pPr marL="514350" indent="-457200"/>
            <a:r>
              <a:rPr lang="en-US" sz="2400" dirty="0"/>
              <a:t>Aspects of Forgiveness</a:t>
            </a:r>
          </a:p>
          <a:p>
            <a:pPr marL="1044702" lvl="1" indent="-457200"/>
            <a:r>
              <a:rPr lang="en-US" dirty="0"/>
              <a:t>Cognitive (changing negative judgments)</a:t>
            </a:r>
          </a:p>
          <a:p>
            <a:pPr marL="1044702" lvl="1" indent="-457200"/>
            <a:r>
              <a:rPr lang="en-US" dirty="0"/>
              <a:t>Emotional (overcoming resentment)</a:t>
            </a:r>
          </a:p>
          <a:p>
            <a:pPr marL="1044702" lvl="1" indent="-457200"/>
            <a:r>
              <a:rPr lang="en-US" dirty="0"/>
              <a:t>Behavioral (ending indifference)</a:t>
            </a:r>
          </a:p>
          <a:p>
            <a:pPr marL="514350" indent="-457200"/>
            <a:r>
              <a:rPr lang="en-US" sz="2400" dirty="0"/>
              <a:t>Forgiveness means overcoming the hurt, resentment, and aggression that accompany being the target of mistreatment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002155" y="6447131"/>
            <a:ext cx="5139690" cy="2769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effectLst/>
              </a:rPr>
              <a:t>Compton, </a:t>
            </a:r>
            <a:r>
              <a:rPr lang="en-US" i="1">
                <a:effectLst/>
              </a:rPr>
              <a:t>Positive Psychology, 3e</a:t>
            </a:r>
            <a:r>
              <a:rPr lang="en-US">
                <a:effectLst/>
              </a:rPr>
              <a:t>.</a:t>
            </a:r>
            <a:r>
              <a:rPr lang="en-US" kern="1200">
                <a:effectLst/>
              </a:rPr>
              <a:t> </a:t>
            </a:r>
            <a:r>
              <a:rPr lang="en-US">
                <a:effectLst/>
              </a:rPr>
              <a:t>© SAGE Publications, 2020.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5735" r="5827" b="-3"/>
          <a:stretch/>
        </p:blipFill>
        <p:spPr>
          <a:xfrm>
            <a:off x="628650" y="1461452"/>
            <a:ext cx="3848100" cy="4351338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2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Forgiveness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028700" y="2057400"/>
            <a:ext cx="7505700" cy="4395986"/>
          </a:xfrm>
        </p:spPr>
        <p:txBody>
          <a:bodyPr>
            <a:normAutofit/>
          </a:bodyPr>
          <a:lstStyle/>
          <a:p>
            <a:pPr marL="514350" indent="-457200"/>
            <a:r>
              <a:rPr lang="en-US" sz="2400" dirty="0"/>
              <a:t>Forgiveness is NOT:</a:t>
            </a:r>
          </a:p>
          <a:p>
            <a:pPr marL="1044702" lvl="1" indent="-457200"/>
            <a:r>
              <a:rPr lang="en-US" sz="2400" dirty="0"/>
              <a:t>Simply tolerating or forgetting an injustice</a:t>
            </a:r>
          </a:p>
          <a:p>
            <a:pPr marL="1044702" lvl="1" indent="-457200"/>
            <a:r>
              <a:rPr lang="en-US" sz="2400" dirty="0"/>
              <a:t>Using denial or suppression</a:t>
            </a:r>
          </a:p>
          <a:p>
            <a:pPr marL="1044702" lvl="1" indent="-457200"/>
            <a:r>
              <a:rPr lang="en-US" sz="2400" dirty="0"/>
              <a:t>Forgetting, denying, or minimizing the hurt</a:t>
            </a:r>
          </a:p>
          <a:p>
            <a:pPr marL="1044702" lvl="1" indent="-457200"/>
            <a:r>
              <a:rPr lang="en-US" sz="2400" dirty="0"/>
              <a:t>Condoning what was done</a:t>
            </a:r>
          </a:p>
          <a:p>
            <a:pPr marL="514350" indent="-457200"/>
            <a:r>
              <a:rPr lang="en-US" sz="2400" dirty="0"/>
              <a:t>Allows us to move on from transgressions</a:t>
            </a:r>
          </a:p>
          <a:p>
            <a:pPr marL="514350" indent="-457200"/>
            <a:r>
              <a:rPr lang="en-US" sz="2400" dirty="0"/>
              <a:t>Forgiveness promotes well-being</a:t>
            </a:r>
          </a:p>
          <a:p>
            <a:pPr marL="514350" indent="-457200"/>
            <a:r>
              <a:rPr lang="en-US" sz="2400" dirty="0"/>
              <a:t>Should enhance shared humanity and may deepen a connection with others and increase one’s compassion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50">
                <a:solidFill>
                  <a:srgbClr val="7F7F7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Compton, </a:t>
            </a:r>
            <a:r>
              <a:rPr lang="en-US" sz="1050" i="1">
                <a:solidFill>
                  <a:srgbClr val="7F7F7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Positive Psychology, 3e</a:t>
            </a:r>
            <a:r>
              <a:rPr lang="en-US" sz="1050">
                <a:solidFill>
                  <a:srgbClr val="7F7F7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r>
              <a:rPr lang="en-US" sz="1050" kern="1200">
                <a:solidFill>
                  <a:srgbClr val="7F7F7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50">
                <a:solidFill>
                  <a:srgbClr val="7F7F7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© SAGE Publications, 2020.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988" y="658674"/>
            <a:ext cx="2286000" cy="16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30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Forgiveness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8222" y="1828800"/>
            <a:ext cx="3467100" cy="3962400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800" dirty="0"/>
              <a:t>Phases of Forgiveness    </a:t>
            </a:r>
          </a:p>
          <a:p>
            <a:pPr marL="514350" indent="-457200"/>
            <a:r>
              <a:rPr lang="en-US" sz="2800" dirty="0"/>
              <a:t>Uncovering phase</a:t>
            </a:r>
          </a:p>
          <a:p>
            <a:pPr marL="514350" indent="-457200"/>
            <a:r>
              <a:rPr lang="en-US" sz="2800" dirty="0"/>
              <a:t>Decision phase</a:t>
            </a:r>
          </a:p>
          <a:p>
            <a:pPr marL="514350" indent="-457200"/>
            <a:r>
              <a:rPr lang="en-US" sz="2800" dirty="0"/>
              <a:t>Work phase</a:t>
            </a:r>
          </a:p>
          <a:p>
            <a:pPr marL="514350" indent="-457200"/>
            <a:r>
              <a:rPr lang="en-US" sz="2800" dirty="0"/>
              <a:t>Deepening phase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50">
                <a:solidFill>
                  <a:srgbClr val="7F7F7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Compton, </a:t>
            </a:r>
            <a:r>
              <a:rPr lang="en-US" sz="1050" i="1">
                <a:solidFill>
                  <a:srgbClr val="7F7F7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Positive Psychology, 3e</a:t>
            </a:r>
            <a:r>
              <a:rPr lang="en-US" sz="1050">
                <a:solidFill>
                  <a:srgbClr val="7F7F7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r>
              <a:rPr lang="en-US" sz="1050" kern="1200">
                <a:solidFill>
                  <a:srgbClr val="7F7F7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50">
                <a:solidFill>
                  <a:srgbClr val="7F7F7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© SAGE Publications, 2020.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207142"/>
            <a:ext cx="4381500" cy="283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18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Forgiveness: Phases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8222" y="1524000"/>
            <a:ext cx="7693778" cy="4724400"/>
          </a:xfrm>
        </p:spPr>
        <p:txBody>
          <a:bodyPr>
            <a:normAutofit lnSpcReduction="10000"/>
          </a:bodyPr>
          <a:lstStyle/>
          <a:p>
            <a:pPr marL="514350" indent="-457200"/>
            <a:r>
              <a:rPr lang="en-US" sz="2800" dirty="0"/>
              <a:t>Uncovering phase</a:t>
            </a:r>
          </a:p>
          <a:p>
            <a:pPr marL="1044702" lvl="1" indent="-457200"/>
            <a:r>
              <a:rPr lang="en-US" sz="2800" dirty="0"/>
              <a:t>How resentment, anger, hurt is exerting destructive impact on life</a:t>
            </a:r>
          </a:p>
          <a:p>
            <a:pPr marL="514350" indent="-457200"/>
            <a:r>
              <a:rPr lang="en-US" sz="2800" dirty="0"/>
              <a:t>Decision phase</a:t>
            </a:r>
          </a:p>
          <a:p>
            <a:pPr marL="1044702" lvl="1" indent="-457200"/>
            <a:r>
              <a:rPr lang="en-US" sz="2800" dirty="0"/>
              <a:t>Making a choice to try to forgive</a:t>
            </a:r>
          </a:p>
          <a:p>
            <a:pPr marL="514350" indent="-457200"/>
            <a:r>
              <a:rPr lang="en-US" sz="2800" dirty="0"/>
              <a:t>Work phase</a:t>
            </a:r>
          </a:p>
          <a:p>
            <a:pPr marL="1044702" lvl="1" indent="-457200"/>
            <a:r>
              <a:rPr lang="en-US" sz="2800" dirty="0"/>
              <a:t>Reframe incident, accept hurt, try to find empathic understanding for why offender did what they did</a:t>
            </a:r>
          </a:p>
          <a:p>
            <a:pPr marL="514350" indent="-457200"/>
            <a:r>
              <a:rPr lang="en-US" sz="2800" dirty="0"/>
              <a:t>Deepening phase</a:t>
            </a:r>
          </a:p>
          <a:p>
            <a:pPr marL="1044702" lvl="1" indent="-457200"/>
            <a:r>
              <a:rPr lang="en-US" sz="2800" dirty="0"/>
              <a:t>Try to gain deeper sense of meaning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50">
                <a:solidFill>
                  <a:srgbClr val="7F7F7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Compton, </a:t>
            </a:r>
            <a:r>
              <a:rPr lang="en-US" sz="1050" i="1">
                <a:solidFill>
                  <a:srgbClr val="7F7F7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Positive Psychology, 3e</a:t>
            </a:r>
            <a:r>
              <a:rPr lang="en-US" sz="1050">
                <a:solidFill>
                  <a:srgbClr val="7F7F7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r>
              <a:rPr lang="en-US" sz="1050" kern="1200">
                <a:solidFill>
                  <a:srgbClr val="7F7F7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50">
                <a:solidFill>
                  <a:srgbClr val="7F7F7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© SAGE Publications, 2020.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898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altLang="en-US" sz="3100"/>
              <a:t>Forgiveness</a:t>
            </a:r>
          </a:p>
        </p:txBody>
      </p:sp>
      <p:pic>
        <p:nvPicPr>
          <p:cNvPr id="2" name="Picture 1" descr="A group of birds flying over a chain&#10;&#10;Description automatically generated">
            <a:extLst>
              <a:ext uri="{FF2B5EF4-FFF2-40B4-BE49-F238E27FC236}">
                <a16:creationId xmlns:a16="http://schemas.microsoft.com/office/drawing/2014/main" id="{694312CC-29FE-B4DB-155F-AFDDC11455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965" b="1467"/>
          <a:stretch/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73731" name="Content Placeholder 2"/>
          <p:cNvSpPr>
            <a:spLocks noGrp="1"/>
          </p:cNvSpPr>
          <p:nvPr>
            <p:ph idx="1"/>
          </p:nvPr>
        </p:nvSpPr>
        <p:spPr>
          <a:xfrm>
            <a:off x="3167986" y="3592286"/>
            <a:ext cx="5614060" cy="276406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en-US" sz="2200" dirty="0"/>
              <a:t>Cognitive-Affective Transformation</a:t>
            </a:r>
          </a:p>
          <a:p>
            <a:pPr marL="0" indent="0">
              <a:buNone/>
            </a:pPr>
            <a:r>
              <a:rPr lang="en-US" altLang="en-US" sz="2200" dirty="0"/>
              <a:t>	(Tangney and Colleagues)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dirty="0"/>
              <a:t>	Freely choosing to “cancel the debt”&amp; give up the need for revenge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dirty="0"/>
              <a:t>	Giving up negative emotions is key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 dirty="0"/>
              <a:t>	Removing self from the victim role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600" dirty="0"/>
              <a:t>		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Positive Psychology: The Scientific and Practical Explorations of Human Strengths © 2014 SAGE</a:t>
            </a:r>
          </a:p>
        </p:txBody>
      </p:sp>
    </p:spTree>
    <p:extLst>
      <p:ext uri="{BB962C8B-B14F-4D97-AF65-F5344CB8AC3E}">
        <p14:creationId xmlns:p14="http://schemas.microsoft.com/office/powerpoint/2010/main" val="4040241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50">
                <a:solidFill>
                  <a:srgbClr val="7F7F7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Compton, </a:t>
            </a:r>
            <a:r>
              <a:rPr lang="en-US" sz="1050" i="1">
                <a:solidFill>
                  <a:srgbClr val="7F7F7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Positive Psychology, 3e</a:t>
            </a:r>
            <a:r>
              <a:rPr lang="en-US" sz="1050">
                <a:solidFill>
                  <a:srgbClr val="7F7F7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r>
              <a:rPr lang="en-US" sz="1050" kern="1200">
                <a:solidFill>
                  <a:srgbClr val="7F7F7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50">
                <a:solidFill>
                  <a:srgbClr val="7F7F7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© SAGE Publications, 2020.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38" y="1447800"/>
            <a:ext cx="790198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740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The Sacred Emotions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9B5B16-9D59-A3F8-F630-F43469A7EE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319"/>
          <a:stretch/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Compton, </a:t>
            </a:r>
            <a:r>
              <a:rPr lang="en-US" sz="900" i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Positive Psychology, 3e</a:t>
            </a: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r>
              <a:rPr lang="en-US" sz="9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© SAGE Publications, 2020.</a:t>
            </a:r>
            <a:endParaRPr 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A25BEA18-4259-42AD-3665-CB12EFF02E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4433226"/>
              </p:ext>
            </p:extLst>
          </p:nvPr>
        </p:nvGraphicFramePr>
        <p:xfrm>
          <a:off x="3167986" y="3752850"/>
          <a:ext cx="5614060" cy="2452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2978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CED3FD-3171-4602-920B-7A74DF154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US"/>
              <a:t>What Forgiveness Is and Is Not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57D7D-6CD3-4F4C-A1E4-08118EEA3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  <a:t>The Science and Application of Positive Psychology </a:t>
            </a:r>
            <a:br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  <a:t>© Cambridge University Press 2021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2A5FCE7-CF07-1FE9-8F71-44EBB72D34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0900832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3375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656" y="0"/>
            <a:ext cx="7824687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1206" y="0"/>
            <a:ext cx="7441587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AD187-9A77-4071-A7EA-AF60F59E8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360" y="365760"/>
            <a:ext cx="5677279" cy="1288238"/>
          </a:xfrm>
        </p:spPr>
        <p:txBody>
          <a:bodyPr anchor="ctr">
            <a:normAutofit/>
          </a:bodyPr>
          <a:lstStyle/>
          <a:p>
            <a:pPr algn="ctr"/>
            <a:r>
              <a:rPr lang="en-US" sz="4100"/>
              <a:t>Forgiveness Interventions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155C5-E6D9-4198-85EF-6E477CB01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176" y="1956816"/>
            <a:ext cx="5895648" cy="402488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100" dirty="0"/>
              <a:t>Enright et al. (1996)</a:t>
            </a:r>
          </a:p>
          <a:p>
            <a:pPr marL="914400" lvl="1" indent="-457200">
              <a:buAutoNum type="arabicPeriod"/>
            </a:pPr>
            <a:r>
              <a:rPr lang="en-US" sz="2100" dirty="0"/>
              <a:t>Recognize and express negative emotions, including anger</a:t>
            </a:r>
          </a:p>
          <a:p>
            <a:pPr marL="914400" lvl="1" indent="-457200">
              <a:buAutoNum type="arabicPeriod"/>
            </a:pPr>
            <a:r>
              <a:rPr lang="en-US" sz="2100" dirty="0"/>
              <a:t>Consider what it would mean to find and grant forgiveness</a:t>
            </a:r>
          </a:p>
          <a:p>
            <a:pPr marL="914400" lvl="1" indent="-457200">
              <a:buAutoNum type="arabicPeriod"/>
            </a:pPr>
            <a:r>
              <a:rPr lang="en-US" sz="2100" dirty="0"/>
              <a:t>Commit to forgiveness, generating empathy and understanding for the offender</a:t>
            </a:r>
          </a:p>
          <a:p>
            <a:pPr marL="914400" lvl="1" indent="-457200">
              <a:buAutoNum type="arabicPeriod"/>
            </a:pPr>
            <a:r>
              <a:rPr lang="en-US" sz="2100" dirty="0"/>
              <a:t>Attempt to find meaning in the pain you’ve experienced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A803D-86D8-49BF-84D2-831135E47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63240" y="6199632"/>
            <a:ext cx="301752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The Science and Application of Positive Psychology </a:t>
            </a:r>
            <a:br>
              <a:rPr lang="en-US" sz="90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900">
                <a:solidFill>
                  <a:schemeClr val="tx1">
                    <a:alpha val="80000"/>
                  </a:schemeClr>
                </a:solidFill>
              </a:rPr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379006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7F0-ADE5-48D5-BD83-9B8608CA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Mothers Who Found Forgiveness</a:t>
            </a:r>
          </a:p>
        </p:txBody>
      </p:sp>
      <p:pic>
        <p:nvPicPr>
          <p:cNvPr id="5" name="Online Media 4" title="9/11 healing: The mothers who found forgiveness, friendship">
            <a:hlinkClick r:id="" action="ppaction://media"/>
            <a:extLst>
              <a:ext uri="{FF2B5EF4-FFF2-40B4-BE49-F238E27FC236}">
                <a16:creationId xmlns:a16="http://schemas.microsoft.com/office/drawing/2014/main" id="{551083E8-CA41-4576-BD7E-497B7BBF7C0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22313" y="1825625"/>
            <a:ext cx="7700962" cy="43513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ECDCC-2CDA-48D2-B27D-DEF23B85B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Science of Positive Psychology © Cambridge University Press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45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F5FA861B6BEB4497E30226FB654B7F" ma:contentTypeVersion="14" ma:contentTypeDescription="Create a new document." ma:contentTypeScope="" ma:versionID="5446b6abc1174e76b1ecf231e0511309">
  <xsd:schema xmlns:xsd="http://www.w3.org/2001/XMLSchema" xmlns:xs="http://www.w3.org/2001/XMLSchema" xmlns:p="http://schemas.microsoft.com/office/2006/metadata/properties" xmlns:ns3="098d3ce3-1732-4665-af2b-0c47aa6f0599" xmlns:ns4="6ebc9d44-dfc5-41fa-9646-f594d8bccd35" targetNamespace="http://schemas.microsoft.com/office/2006/metadata/properties" ma:root="true" ma:fieldsID="6ac3cd6cbff858ee08bb67d456e99cb1" ns3:_="" ns4:_="">
    <xsd:import namespace="098d3ce3-1732-4665-af2b-0c47aa6f0599"/>
    <xsd:import namespace="6ebc9d44-dfc5-41fa-9646-f594d8bccd3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d3ce3-1732-4665-af2b-0c47aa6f05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bc9d44-dfc5-41fa-9646-f594d8bccd3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A77D237-49E5-43D1-BBAE-C65D674315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8d3ce3-1732-4665-af2b-0c47aa6f0599"/>
    <ds:schemaRef ds:uri="6ebc9d44-dfc5-41fa-9646-f594d8bccd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14F560-3B9A-438C-83B1-6E3F72FA08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9FC689-0397-489D-B6C4-918490A97925}">
  <ds:schemaRefs>
    <ds:schemaRef ds:uri="6ebc9d44-dfc5-41fa-9646-f594d8bccd35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98d3ce3-1732-4665-af2b-0c47aa6f0599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1975</TotalTime>
  <Words>1481</Words>
  <Application>Microsoft Office PowerPoint</Application>
  <PresentationFormat>On-screen Show (4:3)</PresentationFormat>
  <Paragraphs>227</Paragraphs>
  <Slides>26</Slides>
  <Notes>13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Office Theme</vt:lpstr>
      <vt:lpstr>Chapter 11</vt:lpstr>
      <vt:lpstr>Gratitude &amp; Forgiveness as Perspective Taking</vt:lpstr>
      <vt:lpstr>Why does perspective taking matter?</vt:lpstr>
      <vt:lpstr>Gratitude</vt:lpstr>
      <vt:lpstr>Cognitive Model in Action: Gratitude &amp; Sleep</vt:lpstr>
      <vt:lpstr>Psychosocial Model of Gratitude (Alkozei et al., 2018)</vt:lpstr>
      <vt:lpstr>Gratitude and Social Relationships</vt:lpstr>
      <vt:lpstr>Circumstances that Facilitate or Suppress Gratitude</vt:lpstr>
      <vt:lpstr>Gratitude </vt:lpstr>
      <vt:lpstr>Gratitude</vt:lpstr>
      <vt:lpstr>Gratitude Interventions</vt:lpstr>
      <vt:lpstr>Gratitude (Soul Pancake)</vt:lpstr>
      <vt:lpstr>Journal Entry #20 Gratitude Letter</vt:lpstr>
      <vt:lpstr>Gratitude</vt:lpstr>
      <vt:lpstr>Forgiveness</vt:lpstr>
      <vt:lpstr>Forgiveness</vt:lpstr>
      <vt:lpstr>Forgiveness</vt:lpstr>
      <vt:lpstr>Forgiveness</vt:lpstr>
      <vt:lpstr>Forgiveness</vt:lpstr>
      <vt:lpstr>Forgiveness: Phases</vt:lpstr>
      <vt:lpstr>Forgiveness</vt:lpstr>
      <vt:lpstr>PowerPoint Presentation</vt:lpstr>
      <vt:lpstr>The Sacred Emotions</vt:lpstr>
      <vt:lpstr>What Forgiveness Is and Is Not</vt:lpstr>
      <vt:lpstr>Forgiveness Interventions</vt:lpstr>
      <vt:lpstr>The Mothers Who Found Forgiveness</vt:lpstr>
    </vt:vector>
  </TitlesOfParts>
  <Company>Cambridge University Press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Jane Adams</dc:creator>
  <cp:lastModifiedBy>Traver, Holly</cp:lastModifiedBy>
  <cp:revision>30</cp:revision>
  <dcterms:created xsi:type="dcterms:W3CDTF">2021-07-26T18:02:28Z</dcterms:created>
  <dcterms:modified xsi:type="dcterms:W3CDTF">2025-05-31T14:22:13Z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0x01010031F5FA861B6BEB4497E30226FB654B7F</vt:lpwstr>
  </property>
</Properties>
</file>