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46"/>
  </p:notesMasterIdLst>
  <p:handoutMasterIdLst>
    <p:handoutMasterId r:id="rId47"/>
  </p:handoutMasterIdLst>
  <p:sldIdLst>
    <p:sldId id="259" r:id="rId5"/>
    <p:sldId id="344" r:id="rId6"/>
    <p:sldId id="345" r:id="rId7"/>
    <p:sldId id="257" r:id="rId8"/>
    <p:sldId id="343" r:id="rId9"/>
    <p:sldId id="346" r:id="rId10"/>
    <p:sldId id="350" r:id="rId11"/>
    <p:sldId id="266" r:id="rId12"/>
    <p:sldId id="347" r:id="rId13"/>
    <p:sldId id="341" r:id="rId14"/>
    <p:sldId id="340" r:id="rId15"/>
    <p:sldId id="342" r:id="rId16"/>
    <p:sldId id="284" r:id="rId17"/>
    <p:sldId id="287" r:id="rId18"/>
    <p:sldId id="348" r:id="rId19"/>
    <p:sldId id="349" r:id="rId20"/>
    <p:sldId id="281" r:id="rId21"/>
    <p:sldId id="327" r:id="rId22"/>
    <p:sldId id="328" r:id="rId23"/>
    <p:sldId id="329" r:id="rId24"/>
    <p:sldId id="330" r:id="rId25"/>
    <p:sldId id="351" r:id="rId26"/>
    <p:sldId id="352" r:id="rId27"/>
    <p:sldId id="282" r:id="rId28"/>
    <p:sldId id="353" r:id="rId29"/>
    <p:sldId id="354" r:id="rId30"/>
    <p:sldId id="356" r:id="rId31"/>
    <p:sldId id="357" r:id="rId32"/>
    <p:sldId id="331" r:id="rId33"/>
    <p:sldId id="332" r:id="rId34"/>
    <p:sldId id="333" r:id="rId35"/>
    <p:sldId id="358" r:id="rId36"/>
    <p:sldId id="359" r:id="rId37"/>
    <p:sldId id="361" r:id="rId38"/>
    <p:sldId id="335" r:id="rId39"/>
    <p:sldId id="336" r:id="rId40"/>
    <p:sldId id="337" r:id="rId41"/>
    <p:sldId id="362" r:id="rId42"/>
    <p:sldId id="338" r:id="rId43"/>
    <p:sldId id="317" r:id="rId44"/>
    <p:sldId id="363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426AD4-F390-4AC5-A310-923EE99D3550}" v="15" dt="2022-02-09T10:25:53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0210" autoAdjust="0"/>
  </p:normalViewPr>
  <p:slideViewPr>
    <p:cSldViewPr snapToGrid="0">
      <p:cViewPr varScale="1">
        <p:scale>
          <a:sx n="41" d="100"/>
          <a:sy n="41" d="100"/>
        </p:scale>
        <p:origin x="1505" y="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D3FB36-D6A5-4C27-B780-09AA977A834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69DE144-FB41-4DF7-BF17-69E96E541868}">
      <dgm:prSet/>
      <dgm:spPr/>
      <dgm:t>
        <a:bodyPr/>
        <a:lstStyle/>
        <a:p>
          <a:r>
            <a:rPr lang="en-US"/>
            <a:t>Positive emotions related to survival and reproduction on a larger time scale</a:t>
          </a:r>
        </a:p>
      </dgm:t>
    </dgm:pt>
    <dgm:pt modelId="{146FDA92-943C-4BD1-96F2-E3A770DDC438}" type="parTrans" cxnId="{18F21429-0B90-412C-B534-2D9F991BFBBA}">
      <dgm:prSet/>
      <dgm:spPr/>
      <dgm:t>
        <a:bodyPr/>
        <a:lstStyle/>
        <a:p>
          <a:endParaRPr lang="en-US"/>
        </a:p>
      </dgm:t>
    </dgm:pt>
    <dgm:pt modelId="{A7474D65-AF42-43D0-B632-79D29AF96143}" type="sibTrans" cxnId="{18F21429-0B90-412C-B534-2D9F991BFBBA}">
      <dgm:prSet/>
      <dgm:spPr/>
      <dgm:t>
        <a:bodyPr/>
        <a:lstStyle/>
        <a:p>
          <a:endParaRPr lang="en-US"/>
        </a:p>
      </dgm:t>
    </dgm:pt>
    <dgm:pt modelId="{7540B734-E5F4-459E-B925-304B3AE16BE3}">
      <dgm:prSet/>
      <dgm:spPr/>
      <dgm:t>
        <a:bodyPr/>
        <a:lstStyle/>
        <a:p>
          <a:r>
            <a:rPr lang="en-US"/>
            <a:t>Positive emotions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expansive awareness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building resources </a:t>
          </a:r>
          <a:r>
            <a:rPr lang="en-US">
              <a:sym typeface="Wingdings" panose="05000000000000000000" pitchFamily="2" charset="2"/>
            </a:rPr>
            <a:t></a:t>
          </a:r>
          <a:r>
            <a:rPr lang="en-US"/>
            <a:t> better equipped to handle later threats</a:t>
          </a:r>
        </a:p>
      </dgm:t>
    </dgm:pt>
    <dgm:pt modelId="{9BE66A99-52BF-4060-B213-6D034047936A}" type="parTrans" cxnId="{637B740B-48A6-42C1-9950-AF73792112FB}">
      <dgm:prSet/>
      <dgm:spPr/>
      <dgm:t>
        <a:bodyPr/>
        <a:lstStyle/>
        <a:p>
          <a:endParaRPr lang="en-US"/>
        </a:p>
      </dgm:t>
    </dgm:pt>
    <dgm:pt modelId="{46AC90E9-BCC1-4EE3-9D87-FEF4F48451B8}" type="sibTrans" cxnId="{637B740B-48A6-42C1-9950-AF73792112FB}">
      <dgm:prSet/>
      <dgm:spPr/>
      <dgm:t>
        <a:bodyPr/>
        <a:lstStyle/>
        <a:p>
          <a:endParaRPr lang="en-US"/>
        </a:p>
      </dgm:t>
    </dgm:pt>
    <dgm:pt modelId="{DFBEEA55-5A63-402B-A949-1C66A919C1F0}" type="pres">
      <dgm:prSet presAssocID="{8DD3FB36-D6A5-4C27-B780-09AA977A8342}" presName="linear" presStyleCnt="0">
        <dgm:presLayoutVars>
          <dgm:animLvl val="lvl"/>
          <dgm:resizeHandles val="exact"/>
        </dgm:presLayoutVars>
      </dgm:prSet>
      <dgm:spPr/>
    </dgm:pt>
    <dgm:pt modelId="{185470D1-EBCF-444B-851C-06BB0E98E550}" type="pres">
      <dgm:prSet presAssocID="{869DE144-FB41-4DF7-BF17-69E96E54186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27E3AB5-720D-4F9E-AB28-7FB98D4EEFAB}" type="pres">
      <dgm:prSet presAssocID="{A7474D65-AF42-43D0-B632-79D29AF96143}" presName="spacer" presStyleCnt="0"/>
      <dgm:spPr/>
    </dgm:pt>
    <dgm:pt modelId="{F17EF537-946F-4A92-8769-649734406ED9}" type="pres">
      <dgm:prSet presAssocID="{7540B734-E5F4-459E-B925-304B3AE16BE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37B740B-48A6-42C1-9950-AF73792112FB}" srcId="{8DD3FB36-D6A5-4C27-B780-09AA977A8342}" destId="{7540B734-E5F4-459E-B925-304B3AE16BE3}" srcOrd="1" destOrd="0" parTransId="{9BE66A99-52BF-4060-B213-6D034047936A}" sibTransId="{46AC90E9-BCC1-4EE3-9D87-FEF4F48451B8}"/>
    <dgm:cxn modelId="{18F21429-0B90-412C-B534-2D9F991BFBBA}" srcId="{8DD3FB36-D6A5-4C27-B780-09AA977A8342}" destId="{869DE144-FB41-4DF7-BF17-69E96E541868}" srcOrd="0" destOrd="0" parTransId="{146FDA92-943C-4BD1-96F2-E3A770DDC438}" sibTransId="{A7474D65-AF42-43D0-B632-79D29AF96143}"/>
    <dgm:cxn modelId="{B8D06157-CE3B-43CC-820D-021EA1F6E684}" type="presOf" srcId="{7540B734-E5F4-459E-B925-304B3AE16BE3}" destId="{F17EF537-946F-4A92-8769-649734406ED9}" srcOrd="0" destOrd="0" presId="urn:microsoft.com/office/officeart/2005/8/layout/vList2"/>
    <dgm:cxn modelId="{829524D1-4122-4935-A541-94E6A80869EA}" type="presOf" srcId="{8DD3FB36-D6A5-4C27-B780-09AA977A8342}" destId="{DFBEEA55-5A63-402B-A949-1C66A919C1F0}" srcOrd="0" destOrd="0" presId="urn:microsoft.com/office/officeart/2005/8/layout/vList2"/>
    <dgm:cxn modelId="{B78829D1-B112-41E9-B0C1-9DCA19847EDE}" type="presOf" srcId="{869DE144-FB41-4DF7-BF17-69E96E541868}" destId="{185470D1-EBCF-444B-851C-06BB0E98E550}" srcOrd="0" destOrd="0" presId="urn:microsoft.com/office/officeart/2005/8/layout/vList2"/>
    <dgm:cxn modelId="{4200487C-8266-4528-AAD9-0C4FBEC98161}" type="presParOf" srcId="{DFBEEA55-5A63-402B-A949-1C66A919C1F0}" destId="{185470D1-EBCF-444B-851C-06BB0E98E550}" srcOrd="0" destOrd="0" presId="urn:microsoft.com/office/officeart/2005/8/layout/vList2"/>
    <dgm:cxn modelId="{83950A61-AE1A-492D-B0D1-E16F99233F4C}" type="presParOf" srcId="{DFBEEA55-5A63-402B-A949-1C66A919C1F0}" destId="{727E3AB5-720D-4F9E-AB28-7FB98D4EEFAB}" srcOrd="1" destOrd="0" presId="urn:microsoft.com/office/officeart/2005/8/layout/vList2"/>
    <dgm:cxn modelId="{9E1DFDAC-DB95-42F6-88D3-E31AA8D7DD51}" type="presParOf" srcId="{DFBEEA55-5A63-402B-A949-1C66A919C1F0}" destId="{F17EF537-946F-4A92-8769-649734406ED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4665C3-CA2E-4FE8-A37A-007BEE0FBB8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62FDCB7-31D3-46DA-8BBA-1EB1E8BF12C2}">
      <dgm:prSet/>
      <dgm:spPr/>
      <dgm:t>
        <a:bodyPr/>
        <a:lstStyle/>
        <a:p>
          <a:r>
            <a:rPr lang="en-US"/>
            <a:t>Learning (Cognitive resources)</a:t>
          </a:r>
        </a:p>
      </dgm:t>
    </dgm:pt>
    <dgm:pt modelId="{01B9F629-7B4D-4A63-B49A-CFCC9D77B8BD}" type="parTrans" cxnId="{590F512F-3577-4217-A68A-B5A0DE36B366}">
      <dgm:prSet/>
      <dgm:spPr/>
      <dgm:t>
        <a:bodyPr/>
        <a:lstStyle/>
        <a:p>
          <a:endParaRPr lang="en-US"/>
        </a:p>
      </dgm:t>
    </dgm:pt>
    <dgm:pt modelId="{C26FA986-0B1B-44FA-999C-F80F261224F2}" type="sibTrans" cxnId="{590F512F-3577-4217-A68A-B5A0DE36B366}">
      <dgm:prSet/>
      <dgm:spPr/>
      <dgm:t>
        <a:bodyPr/>
        <a:lstStyle/>
        <a:p>
          <a:endParaRPr lang="en-US"/>
        </a:p>
      </dgm:t>
    </dgm:pt>
    <dgm:pt modelId="{3B9B09D1-CAD1-41A9-8BE7-5242F584E8C0}">
      <dgm:prSet/>
      <dgm:spPr/>
      <dgm:t>
        <a:bodyPr/>
        <a:lstStyle/>
        <a:p>
          <a:r>
            <a:rPr lang="en-US"/>
            <a:t>Relationships (Social resources)</a:t>
          </a:r>
        </a:p>
      </dgm:t>
    </dgm:pt>
    <dgm:pt modelId="{63FE5AF3-F981-4D1A-99D1-41DEA52DD708}" type="parTrans" cxnId="{02AADA58-18C4-4436-842B-C84E1A4AB4D9}">
      <dgm:prSet/>
      <dgm:spPr/>
      <dgm:t>
        <a:bodyPr/>
        <a:lstStyle/>
        <a:p>
          <a:endParaRPr lang="en-US"/>
        </a:p>
      </dgm:t>
    </dgm:pt>
    <dgm:pt modelId="{A280D4C2-2D2A-4814-9CE9-FD4B9C4FC605}" type="sibTrans" cxnId="{02AADA58-18C4-4436-842B-C84E1A4AB4D9}">
      <dgm:prSet/>
      <dgm:spPr/>
      <dgm:t>
        <a:bodyPr/>
        <a:lstStyle/>
        <a:p>
          <a:endParaRPr lang="en-US"/>
        </a:p>
      </dgm:t>
    </dgm:pt>
    <dgm:pt modelId="{39C79100-03F2-45DD-B306-E05B421FDF69}">
      <dgm:prSet/>
      <dgm:spPr/>
      <dgm:t>
        <a:bodyPr/>
        <a:lstStyle/>
        <a:p>
          <a:r>
            <a:rPr lang="en-US"/>
            <a:t>Fighting and foraging skills, improving cardiovascular health (Physical resources)</a:t>
          </a:r>
        </a:p>
      </dgm:t>
    </dgm:pt>
    <dgm:pt modelId="{7CAF2751-7104-4091-A4FA-3A549A55A23F}" type="parTrans" cxnId="{BE54D6D3-FD93-44E8-9C98-12BD0847C662}">
      <dgm:prSet/>
      <dgm:spPr/>
      <dgm:t>
        <a:bodyPr/>
        <a:lstStyle/>
        <a:p>
          <a:endParaRPr lang="en-US"/>
        </a:p>
      </dgm:t>
    </dgm:pt>
    <dgm:pt modelId="{5CD0914D-D6E8-41DC-AD19-496B848CBC84}" type="sibTrans" cxnId="{BE54D6D3-FD93-44E8-9C98-12BD0847C662}">
      <dgm:prSet/>
      <dgm:spPr/>
      <dgm:t>
        <a:bodyPr/>
        <a:lstStyle/>
        <a:p>
          <a:endParaRPr lang="en-US"/>
        </a:p>
      </dgm:t>
    </dgm:pt>
    <dgm:pt modelId="{AD8E757B-4D83-4A26-947F-11C7FA776790}">
      <dgm:prSet/>
      <dgm:spPr/>
      <dgm:t>
        <a:bodyPr/>
        <a:lstStyle/>
        <a:p>
          <a:r>
            <a:rPr lang="en-US"/>
            <a:t>Other positive emotions like more hopeful and resilient (Psychological resources)</a:t>
          </a:r>
        </a:p>
      </dgm:t>
    </dgm:pt>
    <dgm:pt modelId="{D5A31803-F441-4E5E-B87A-683FD34E3482}" type="parTrans" cxnId="{9CAD9080-CE5B-448D-8B03-E564C95D88E1}">
      <dgm:prSet/>
      <dgm:spPr/>
      <dgm:t>
        <a:bodyPr/>
        <a:lstStyle/>
        <a:p>
          <a:endParaRPr lang="en-US"/>
        </a:p>
      </dgm:t>
    </dgm:pt>
    <dgm:pt modelId="{CAA4DE65-D584-466B-9676-22BE81685ABC}" type="sibTrans" cxnId="{9CAD9080-CE5B-448D-8B03-E564C95D88E1}">
      <dgm:prSet/>
      <dgm:spPr/>
      <dgm:t>
        <a:bodyPr/>
        <a:lstStyle/>
        <a:p>
          <a:endParaRPr lang="en-US"/>
        </a:p>
      </dgm:t>
    </dgm:pt>
    <dgm:pt modelId="{DF317A79-DF6E-4EBF-8136-1FA2E46286B0}">
      <dgm:prSet/>
      <dgm:spPr/>
      <dgm:t>
        <a:bodyPr/>
        <a:lstStyle/>
        <a:p>
          <a:r>
            <a:rPr lang="en-US"/>
            <a:t>Neural growth (Neural resources)</a:t>
          </a:r>
        </a:p>
      </dgm:t>
    </dgm:pt>
    <dgm:pt modelId="{93285B36-B403-4DD9-BC0B-32C075FAFBA1}" type="parTrans" cxnId="{6678F3CD-F4CE-413E-9758-889534A0A5D6}">
      <dgm:prSet/>
      <dgm:spPr/>
      <dgm:t>
        <a:bodyPr/>
        <a:lstStyle/>
        <a:p>
          <a:endParaRPr lang="en-US"/>
        </a:p>
      </dgm:t>
    </dgm:pt>
    <dgm:pt modelId="{BC08B92E-2AB3-460E-A78D-D96F72234019}" type="sibTrans" cxnId="{6678F3CD-F4CE-413E-9758-889534A0A5D6}">
      <dgm:prSet/>
      <dgm:spPr/>
      <dgm:t>
        <a:bodyPr/>
        <a:lstStyle/>
        <a:p>
          <a:endParaRPr lang="en-US"/>
        </a:p>
      </dgm:t>
    </dgm:pt>
    <dgm:pt modelId="{75C592F2-F5B9-435F-82C7-958E433F0EC0}" type="pres">
      <dgm:prSet presAssocID="{F94665C3-CA2E-4FE8-A37A-007BEE0FBB83}" presName="linear" presStyleCnt="0">
        <dgm:presLayoutVars>
          <dgm:animLvl val="lvl"/>
          <dgm:resizeHandles val="exact"/>
        </dgm:presLayoutVars>
      </dgm:prSet>
      <dgm:spPr/>
    </dgm:pt>
    <dgm:pt modelId="{5CAA8EB3-BD1C-41C8-AF07-6890B55110C0}" type="pres">
      <dgm:prSet presAssocID="{A62FDCB7-31D3-46DA-8BBA-1EB1E8BF12C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AB99D4D-CE91-434B-80CC-F18630B49359}" type="pres">
      <dgm:prSet presAssocID="{C26FA986-0B1B-44FA-999C-F80F261224F2}" presName="spacer" presStyleCnt="0"/>
      <dgm:spPr/>
    </dgm:pt>
    <dgm:pt modelId="{58B74C62-4F6F-411E-BF79-A49E1B741C6A}" type="pres">
      <dgm:prSet presAssocID="{3B9B09D1-CAD1-41A9-8BE7-5242F584E8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7C16569-02F7-4019-945A-617D14593F8E}" type="pres">
      <dgm:prSet presAssocID="{A280D4C2-2D2A-4814-9CE9-FD4B9C4FC605}" presName="spacer" presStyleCnt="0"/>
      <dgm:spPr/>
    </dgm:pt>
    <dgm:pt modelId="{F29DE416-95BF-47BF-B635-490900B40893}" type="pres">
      <dgm:prSet presAssocID="{39C79100-03F2-45DD-B306-E05B421FDF6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D27E5C6-61C8-4E3C-82DB-6ADB4A03C7F4}" type="pres">
      <dgm:prSet presAssocID="{5CD0914D-D6E8-41DC-AD19-496B848CBC84}" presName="spacer" presStyleCnt="0"/>
      <dgm:spPr/>
    </dgm:pt>
    <dgm:pt modelId="{F8170978-38A8-476B-A2BD-EE1B9BBAC2DF}" type="pres">
      <dgm:prSet presAssocID="{AD8E757B-4D83-4A26-947F-11C7FA77679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40911B7-D8BE-4278-A2A1-A1A52EC11F98}" type="pres">
      <dgm:prSet presAssocID="{CAA4DE65-D584-466B-9676-22BE81685ABC}" presName="spacer" presStyleCnt="0"/>
      <dgm:spPr/>
    </dgm:pt>
    <dgm:pt modelId="{BF81BAAF-160F-40AD-B8EE-07FDDE405E82}" type="pres">
      <dgm:prSet presAssocID="{DF317A79-DF6E-4EBF-8136-1FA2E46286B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058560B-7AF5-4247-BB07-4853D0F63907}" type="presOf" srcId="{39C79100-03F2-45DD-B306-E05B421FDF69}" destId="{F29DE416-95BF-47BF-B635-490900B40893}" srcOrd="0" destOrd="0" presId="urn:microsoft.com/office/officeart/2005/8/layout/vList2"/>
    <dgm:cxn modelId="{590F512F-3577-4217-A68A-B5A0DE36B366}" srcId="{F94665C3-CA2E-4FE8-A37A-007BEE0FBB83}" destId="{A62FDCB7-31D3-46DA-8BBA-1EB1E8BF12C2}" srcOrd="0" destOrd="0" parTransId="{01B9F629-7B4D-4A63-B49A-CFCC9D77B8BD}" sibTransId="{C26FA986-0B1B-44FA-999C-F80F261224F2}"/>
    <dgm:cxn modelId="{7CEE3E31-2EA7-42B3-8257-7FE4FF871A43}" type="presOf" srcId="{DF317A79-DF6E-4EBF-8136-1FA2E46286B0}" destId="{BF81BAAF-160F-40AD-B8EE-07FDDE405E82}" srcOrd="0" destOrd="0" presId="urn:microsoft.com/office/officeart/2005/8/layout/vList2"/>
    <dgm:cxn modelId="{5C534646-380C-4E2D-8E87-1133F69A8230}" type="presOf" srcId="{3B9B09D1-CAD1-41A9-8BE7-5242F584E8C0}" destId="{58B74C62-4F6F-411E-BF79-A49E1B741C6A}" srcOrd="0" destOrd="0" presId="urn:microsoft.com/office/officeart/2005/8/layout/vList2"/>
    <dgm:cxn modelId="{02AADA58-18C4-4436-842B-C84E1A4AB4D9}" srcId="{F94665C3-CA2E-4FE8-A37A-007BEE0FBB83}" destId="{3B9B09D1-CAD1-41A9-8BE7-5242F584E8C0}" srcOrd="1" destOrd="0" parTransId="{63FE5AF3-F981-4D1A-99D1-41DEA52DD708}" sibTransId="{A280D4C2-2D2A-4814-9CE9-FD4B9C4FC605}"/>
    <dgm:cxn modelId="{9CAD9080-CE5B-448D-8B03-E564C95D88E1}" srcId="{F94665C3-CA2E-4FE8-A37A-007BEE0FBB83}" destId="{AD8E757B-4D83-4A26-947F-11C7FA776790}" srcOrd="3" destOrd="0" parTransId="{D5A31803-F441-4E5E-B87A-683FD34E3482}" sibTransId="{CAA4DE65-D584-466B-9676-22BE81685ABC}"/>
    <dgm:cxn modelId="{0ED4CEBC-2FEF-48B6-8552-270EDC236858}" type="presOf" srcId="{AD8E757B-4D83-4A26-947F-11C7FA776790}" destId="{F8170978-38A8-476B-A2BD-EE1B9BBAC2DF}" srcOrd="0" destOrd="0" presId="urn:microsoft.com/office/officeart/2005/8/layout/vList2"/>
    <dgm:cxn modelId="{B43F1AC3-F50B-4A3D-BF89-9C31058859A0}" type="presOf" srcId="{F94665C3-CA2E-4FE8-A37A-007BEE0FBB83}" destId="{75C592F2-F5B9-435F-82C7-958E433F0EC0}" srcOrd="0" destOrd="0" presId="urn:microsoft.com/office/officeart/2005/8/layout/vList2"/>
    <dgm:cxn modelId="{6678F3CD-F4CE-413E-9758-889534A0A5D6}" srcId="{F94665C3-CA2E-4FE8-A37A-007BEE0FBB83}" destId="{DF317A79-DF6E-4EBF-8136-1FA2E46286B0}" srcOrd="4" destOrd="0" parTransId="{93285B36-B403-4DD9-BC0B-32C075FAFBA1}" sibTransId="{BC08B92E-2AB3-460E-A78D-D96F72234019}"/>
    <dgm:cxn modelId="{BE54D6D3-FD93-44E8-9C98-12BD0847C662}" srcId="{F94665C3-CA2E-4FE8-A37A-007BEE0FBB83}" destId="{39C79100-03F2-45DD-B306-E05B421FDF69}" srcOrd="2" destOrd="0" parTransId="{7CAF2751-7104-4091-A4FA-3A549A55A23F}" sibTransId="{5CD0914D-D6E8-41DC-AD19-496B848CBC84}"/>
    <dgm:cxn modelId="{D74A76F7-A585-4B6F-A8D1-168158DDB4E1}" type="presOf" srcId="{A62FDCB7-31D3-46DA-8BBA-1EB1E8BF12C2}" destId="{5CAA8EB3-BD1C-41C8-AF07-6890B55110C0}" srcOrd="0" destOrd="0" presId="urn:microsoft.com/office/officeart/2005/8/layout/vList2"/>
    <dgm:cxn modelId="{EE7B91D5-0AD6-468B-A1EB-2E9A79D3DDD2}" type="presParOf" srcId="{75C592F2-F5B9-435F-82C7-958E433F0EC0}" destId="{5CAA8EB3-BD1C-41C8-AF07-6890B55110C0}" srcOrd="0" destOrd="0" presId="urn:microsoft.com/office/officeart/2005/8/layout/vList2"/>
    <dgm:cxn modelId="{76BEF0A9-72BA-45A8-AF39-4DCA3A6BE119}" type="presParOf" srcId="{75C592F2-F5B9-435F-82C7-958E433F0EC0}" destId="{AAB99D4D-CE91-434B-80CC-F18630B49359}" srcOrd="1" destOrd="0" presId="urn:microsoft.com/office/officeart/2005/8/layout/vList2"/>
    <dgm:cxn modelId="{C04FCB87-D999-43BA-838A-9055FB140C7D}" type="presParOf" srcId="{75C592F2-F5B9-435F-82C7-958E433F0EC0}" destId="{58B74C62-4F6F-411E-BF79-A49E1B741C6A}" srcOrd="2" destOrd="0" presId="urn:microsoft.com/office/officeart/2005/8/layout/vList2"/>
    <dgm:cxn modelId="{9DE14660-E7D6-4365-8EA1-54AF0D805D3D}" type="presParOf" srcId="{75C592F2-F5B9-435F-82C7-958E433F0EC0}" destId="{D7C16569-02F7-4019-945A-617D14593F8E}" srcOrd="3" destOrd="0" presId="urn:microsoft.com/office/officeart/2005/8/layout/vList2"/>
    <dgm:cxn modelId="{E066164C-4318-43A2-812A-C97F2E8B1835}" type="presParOf" srcId="{75C592F2-F5B9-435F-82C7-958E433F0EC0}" destId="{F29DE416-95BF-47BF-B635-490900B40893}" srcOrd="4" destOrd="0" presId="urn:microsoft.com/office/officeart/2005/8/layout/vList2"/>
    <dgm:cxn modelId="{FE111D71-F15B-4C7D-8D7E-357CC5BBA1E5}" type="presParOf" srcId="{75C592F2-F5B9-435F-82C7-958E433F0EC0}" destId="{0D27E5C6-61C8-4E3C-82DB-6ADB4A03C7F4}" srcOrd="5" destOrd="0" presId="urn:microsoft.com/office/officeart/2005/8/layout/vList2"/>
    <dgm:cxn modelId="{B9F59DFE-5228-4CB2-8B37-D2EBE4550625}" type="presParOf" srcId="{75C592F2-F5B9-435F-82C7-958E433F0EC0}" destId="{F8170978-38A8-476B-A2BD-EE1B9BBAC2DF}" srcOrd="6" destOrd="0" presId="urn:microsoft.com/office/officeart/2005/8/layout/vList2"/>
    <dgm:cxn modelId="{9AEB705C-6807-4CE6-B73C-40722E9E94C0}" type="presParOf" srcId="{75C592F2-F5B9-435F-82C7-958E433F0EC0}" destId="{740911B7-D8BE-4278-A2A1-A1A52EC11F98}" srcOrd="7" destOrd="0" presId="urn:microsoft.com/office/officeart/2005/8/layout/vList2"/>
    <dgm:cxn modelId="{476034CA-2A51-429A-A591-9005C9DEDC90}" type="presParOf" srcId="{75C592F2-F5B9-435F-82C7-958E433F0EC0}" destId="{BF81BAAF-160F-40AD-B8EE-07FDDE405E8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B7E859-D864-4A6D-9B46-CD49A9B1F3F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26DC945-5CF8-4667-9D30-484DB9C5AC70}">
      <dgm:prSet/>
      <dgm:spPr/>
      <dgm:t>
        <a:bodyPr/>
        <a:lstStyle/>
        <a:p>
          <a:r>
            <a:rPr lang="en-US"/>
            <a:t>Asked to write 2 to 3 page autobiographical sketch as part of vows</a:t>
          </a:r>
        </a:p>
      </dgm:t>
    </dgm:pt>
    <dgm:pt modelId="{4F222366-A63E-49F3-8D27-A8C75FCF8665}" type="parTrans" cxnId="{2271CDFB-73D4-48F4-9AE1-058265952A08}">
      <dgm:prSet/>
      <dgm:spPr/>
      <dgm:t>
        <a:bodyPr/>
        <a:lstStyle/>
        <a:p>
          <a:endParaRPr lang="en-US"/>
        </a:p>
      </dgm:t>
    </dgm:pt>
    <dgm:pt modelId="{D13B16EF-3A0B-4AA3-8D79-0039B042BC4B}" type="sibTrans" cxnId="{2271CDFB-73D4-48F4-9AE1-058265952A08}">
      <dgm:prSet/>
      <dgm:spPr/>
      <dgm:t>
        <a:bodyPr/>
        <a:lstStyle/>
        <a:p>
          <a:endParaRPr lang="en-US"/>
        </a:p>
      </dgm:t>
    </dgm:pt>
    <dgm:pt modelId="{4C109309-D7C7-481B-96F9-FF2D4D5B5A2D}">
      <dgm:prSet/>
      <dgm:spPr/>
      <dgm:t>
        <a:bodyPr/>
        <a:lstStyle/>
        <a:p>
          <a:r>
            <a:rPr lang="en-US"/>
            <a:t>Nuns were about 22 years old on average</a:t>
          </a:r>
        </a:p>
      </dgm:t>
    </dgm:pt>
    <dgm:pt modelId="{421EC1A0-DC0F-45B9-B778-B4ABFD959A95}" type="parTrans" cxnId="{F177FE58-4B46-43DE-804A-5BB48AEC7A33}">
      <dgm:prSet/>
      <dgm:spPr/>
      <dgm:t>
        <a:bodyPr/>
        <a:lstStyle/>
        <a:p>
          <a:endParaRPr lang="en-US"/>
        </a:p>
      </dgm:t>
    </dgm:pt>
    <dgm:pt modelId="{4FCDEBD5-06C8-400B-B3B4-19D68C390AAA}" type="sibTrans" cxnId="{F177FE58-4B46-43DE-804A-5BB48AEC7A33}">
      <dgm:prSet/>
      <dgm:spPr/>
      <dgm:t>
        <a:bodyPr/>
        <a:lstStyle/>
        <a:p>
          <a:endParaRPr lang="en-US"/>
        </a:p>
      </dgm:t>
    </dgm:pt>
    <dgm:pt modelId="{D078443B-0930-4166-B33A-227E48DDD3D8}">
      <dgm:prSet/>
      <dgm:spPr/>
      <dgm:t>
        <a:bodyPr/>
        <a:lstStyle/>
        <a:p>
          <a:r>
            <a:rPr lang="en-US"/>
            <a:t>Coded with positive-, negative-, and neutral-emotion words and sentences</a:t>
          </a:r>
        </a:p>
      </dgm:t>
    </dgm:pt>
    <dgm:pt modelId="{AD206177-534A-4046-8B8F-7E800DD8BCA4}" type="parTrans" cxnId="{3A242127-5EC8-49FA-810B-FBE66C714084}">
      <dgm:prSet/>
      <dgm:spPr/>
      <dgm:t>
        <a:bodyPr/>
        <a:lstStyle/>
        <a:p>
          <a:endParaRPr lang="en-US"/>
        </a:p>
      </dgm:t>
    </dgm:pt>
    <dgm:pt modelId="{2F18C442-0DC8-4885-B567-DB5F82272925}" type="sibTrans" cxnId="{3A242127-5EC8-49FA-810B-FBE66C714084}">
      <dgm:prSet/>
      <dgm:spPr/>
      <dgm:t>
        <a:bodyPr/>
        <a:lstStyle/>
        <a:p>
          <a:endParaRPr lang="en-US"/>
        </a:p>
      </dgm:t>
    </dgm:pt>
    <dgm:pt modelId="{81EEEFD1-9EC9-420A-86E9-8020BF90118D}">
      <dgm:prSet/>
      <dgm:spPr/>
      <dgm:t>
        <a:bodyPr/>
        <a:lstStyle/>
        <a:p>
          <a:r>
            <a:rPr lang="en-US"/>
            <a:t>Very few had negative emotions</a:t>
          </a:r>
        </a:p>
      </dgm:t>
    </dgm:pt>
    <dgm:pt modelId="{7F799AD6-5C22-44AD-A799-234B036CAF8B}" type="parTrans" cxnId="{A32CF542-49D9-468C-BF8A-6AE99EDFA489}">
      <dgm:prSet/>
      <dgm:spPr/>
      <dgm:t>
        <a:bodyPr/>
        <a:lstStyle/>
        <a:p>
          <a:endParaRPr lang="en-US"/>
        </a:p>
      </dgm:t>
    </dgm:pt>
    <dgm:pt modelId="{82A9C8DF-FE26-452F-8742-CE28B7586466}" type="sibTrans" cxnId="{A32CF542-49D9-468C-BF8A-6AE99EDFA489}">
      <dgm:prSet/>
      <dgm:spPr/>
      <dgm:t>
        <a:bodyPr/>
        <a:lstStyle/>
        <a:p>
          <a:endParaRPr lang="en-US"/>
        </a:p>
      </dgm:t>
    </dgm:pt>
    <dgm:pt modelId="{3CF6A835-75B9-4C55-9337-3DDB62390622}" type="pres">
      <dgm:prSet presAssocID="{F9B7E859-D864-4A6D-9B46-CD49A9B1F3F2}" presName="matrix" presStyleCnt="0">
        <dgm:presLayoutVars>
          <dgm:chMax val="1"/>
          <dgm:dir/>
          <dgm:resizeHandles val="exact"/>
        </dgm:presLayoutVars>
      </dgm:prSet>
      <dgm:spPr/>
    </dgm:pt>
    <dgm:pt modelId="{82E5E438-F1DC-4AB3-8F51-27D5659AC66F}" type="pres">
      <dgm:prSet presAssocID="{F9B7E859-D864-4A6D-9B46-CD49A9B1F3F2}" presName="diamond" presStyleLbl="bgShp" presStyleIdx="0" presStyleCnt="1"/>
      <dgm:spPr/>
    </dgm:pt>
    <dgm:pt modelId="{8D08F22B-BBD4-4C68-B881-7D01FEE2F5E2}" type="pres">
      <dgm:prSet presAssocID="{F9B7E859-D864-4A6D-9B46-CD49A9B1F3F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A060540-5D69-44B3-9CD6-899B57936DCC}" type="pres">
      <dgm:prSet presAssocID="{F9B7E859-D864-4A6D-9B46-CD49A9B1F3F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6344A23-916A-4A3F-9426-0CEC1040E546}" type="pres">
      <dgm:prSet presAssocID="{F9B7E859-D864-4A6D-9B46-CD49A9B1F3F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7DD41A9-5CD8-4910-8433-11C88768FFAF}" type="pres">
      <dgm:prSet presAssocID="{F9B7E859-D864-4A6D-9B46-CD49A9B1F3F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A242127-5EC8-49FA-810B-FBE66C714084}" srcId="{F9B7E859-D864-4A6D-9B46-CD49A9B1F3F2}" destId="{D078443B-0930-4166-B33A-227E48DDD3D8}" srcOrd="2" destOrd="0" parTransId="{AD206177-534A-4046-8B8F-7E800DD8BCA4}" sibTransId="{2F18C442-0DC8-4885-B567-DB5F82272925}"/>
    <dgm:cxn modelId="{A32CF542-49D9-468C-BF8A-6AE99EDFA489}" srcId="{F9B7E859-D864-4A6D-9B46-CD49A9B1F3F2}" destId="{81EEEFD1-9EC9-420A-86E9-8020BF90118D}" srcOrd="3" destOrd="0" parTransId="{7F799AD6-5C22-44AD-A799-234B036CAF8B}" sibTransId="{82A9C8DF-FE26-452F-8742-CE28B7586466}"/>
    <dgm:cxn modelId="{F177FE58-4B46-43DE-804A-5BB48AEC7A33}" srcId="{F9B7E859-D864-4A6D-9B46-CD49A9B1F3F2}" destId="{4C109309-D7C7-481B-96F9-FF2D4D5B5A2D}" srcOrd="1" destOrd="0" parTransId="{421EC1A0-DC0F-45B9-B778-B4ABFD959A95}" sibTransId="{4FCDEBD5-06C8-400B-B3B4-19D68C390AAA}"/>
    <dgm:cxn modelId="{CEAF2E9B-C303-4DE9-AB31-C6339F82F671}" type="presOf" srcId="{D078443B-0930-4166-B33A-227E48DDD3D8}" destId="{56344A23-916A-4A3F-9426-0CEC1040E546}" srcOrd="0" destOrd="0" presId="urn:microsoft.com/office/officeart/2005/8/layout/matrix3"/>
    <dgm:cxn modelId="{B20679BC-B2F2-41C1-9259-519BFDC19A6B}" type="presOf" srcId="{626DC945-5CF8-4667-9D30-484DB9C5AC70}" destId="{8D08F22B-BBD4-4C68-B881-7D01FEE2F5E2}" srcOrd="0" destOrd="0" presId="urn:microsoft.com/office/officeart/2005/8/layout/matrix3"/>
    <dgm:cxn modelId="{016D5BC2-C631-47C7-BF2D-CBFA749A1A96}" type="presOf" srcId="{81EEEFD1-9EC9-420A-86E9-8020BF90118D}" destId="{77DD41A9-5CD8-4910-8433-11C88768FFAF}" srcOrd="0" destOrd="0" presId="urn:microsoft.com/office/officeart/2005/8/layout/matrix3"/>
    <dgm:cxn modelId="{DEFF8FDC-6E60-4BFF-8CC2-3A1F68AE25E1}" type="presOf" srcId="{F9B7E859-D864-4A6D-9B46-CD49A9B1F3F2}" destId="{3CF6A835-75B9-4C55-9337-3DDB62390622}" srcOrd="0" destOrd="0" presId="urn:microsoft.com/office/officeart/2005/8/layout/matrix3"/>
    <dgm:cxn modelId="{67E1E9F4-A019-4969-8D45-AEDBB51FEDB4}" type="presOf" srcId="{4C109309-D7C7-481B-96F9-FF2D4D5B5A2D}" destId="{8A060540-5D69-44B3-9CD6-899B57936DCC}" srcOrd="0" destOrd="0" presId="urn:microsoft.com/office/officeart/2005/8/layout/matrix3"/>
    <dgm:cxn modelId="{2271CDFB-73D4-48F4-9AE1-058265952A08}" srcId="{F9B7E859-D864-4A6D-9B46-CD49A9B1F3F2}" destId="{626DC945-5CF8-4667-9D30-484DB9C5AC70}" srcOrd="0" destOrd="0" parTransId="{4F222366-A63E-49F3-8D27-A8C75FCF8665}" sibTransId="{D13B16EF-3A0B-4AA3-8D79-0039B042BC4B}"/>
    <dgm:cxn modelId="{0348FD9B-4C21-4819-8324-CB57D251B617}" type="presParOf" srcId="{3CF6A835-75B9-4C55-9337-3DDB62390622}" destId="{82E5E438-F1DC-4AB3-8F51-27D5659AC66F}" srcOrd="0" destOrd="0" presId="urn:microsoft.com/office/officeart/2005/8/layout/matrix3"/>
    <dgm:cxn modelId="{14AA09B5-E769-4819-998B-6CB58E5E1F1A}" type="presParOf" srcId="{3CF6A835-75B9-4C55-9337-3DDB62390622}" destId="{8D08F22B-BBD4-4C68-B881-7D01FEE2F5E2}" srcOrd="1" destOrd="0" presId="urn:microsoft.com/office/officeart/2005/8/layout/matrix3"/>
    <dgm:cxn modelId="{C3739D32-5238-4A27-B5E6-D37CBE06F066}" type="presParOf" srcId="{3CF6A835-75B9-4C55-9337-3DDB62390622}" destId="{8A060540-5D69-44B3-9CD6-899B57936DCC}" srcOrd="2" destOrd="0" presId="urn:microsoft.com/office/officeart/2005/8/layout/matrix3"/>
    <dgm:cxn modelId="{3949F296-F4F2-4224-BF37-6B3AC69A09CD}" type="presParOf" srcId="{3CF6A835-75B9-4C55-9337-3DDB62390622}" destId="{56344A23-916A-4A3F-9426-0CEC1040E546}" srcOrd="3" destOrd="0" presId="urn:microsoft.com/office/officeart/2005/8/layout/matrix3"/>
    <dgm:cxn modelId="{006E32EE-312A-43EC-82B0-DA3ED8F2FF12}" type="presParOf" srcId="{3CF6A835-75B9-4C55-9337-3DDB62390622}" destId="{77DD41A9-5CD8-4910-8433-11C88768FFA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50C637-757A-4641-9043-FF0AAF20173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460280-AE90-466E-894E-D3D61B8649DC}">
      <dgm:prSet/>
      <dgm:spPr/>
      <dgm:t>
        <a:bodyPr/>
        <a:lstStyle/>
        <a:p>
          <a:r>
            <a:rPr lang="en-US"/>
            <a:t>UK Million Women Study (Liu, Floud, Pirie, Green, Peto, &amp; Beral, 2015)</a:t>
          </a:r>
        </a:p>
      </dgm:t>
    </dgm:pt>
    <dgm:pt modelId="{36424C24-4C56-4F5E-9E6D-FDDFD2039892}" type="parTrans" cxnId="{0FA77412-ADEF-473B-A9FC-586D7794D8B1}">
      <dgm:prSet/>
      <dgm:spPr/>
      <dgm:t>
        <a:bodyPr/>
        <a:lstStyle/>
        <a:p>
          <a:endParaRPr lang="en-US"/>
        </a:p>
      </dgm:t>
    </dgm:pt>
    <dgm:pt modelId="{F8CBB7EB-721B-49A5-937C-5A851659DEB6}" type="sibTrans" cxnId="{0FA77412-ADEF-473B-A9FC-586D7794D8B1}">
      <dgm:prSet/>
      <dgm:spPr/>
      <dgm:t>
        <a:bodyPr/>
        <a:lstStyle/>
        <a:p>
          <a:endParaRPr lang="en-US"/>
        </a:p>
      </dgm:t>
    </dgm:pt>
    <dgm:pt modelId="{D34C53EB-7D49-4495-8BCA-28EA6E5FA9AC}">
      <dgm:prSet/>
      <dgm:spPr/>
      <dgm:t>
        <a:bodyPr/>
        <a:lstStyle/>
        <a:p>
          <a:r>
            <a:rPr lang="en-US"/>
            <a:t>Women between 50 – 69 followed for ten years</a:t>
          </a:r>
        </a:p>
      </dgm:t>
    </dgm:pt>
    <dgm:pt modelId="{E21239F7-1ECC-4785-8299-FF7D9045E963}" type="parTrans" cxnId="{BB03B271-C3D1-4AFD-B522-9F97CEDFAC6B}">
      <dgm:prSet/>
      <dgm:spPr/>
      <dgm:t>
        <a:bodyPr/>
        <a:lstStyle/>
        <a:p>
          <a:endParaRPr lang="en-US"/>
        </a:p>
      </dgm:t>
    </dgm:pt>
    <dgm:pt modelId="{B6995734-93BE-4A70-A44A-CF25D7919B87}" type="sibTrans" cxnId="{BB03B271-C3D1-4AFD-B522-9F97CEDFAC6B}">
      <dgm:prSet/>
      <dgm:spPr/>
      <dgm:t>
        <a:bodyPr/>
        <a:lstStyle/>
        <a:p>
          <a:endParaRPr lang="en-US"/>
        </a:p>
      </dgm:t>
    </dgm:pt>
    <dgm:pt modelId="{AB7E1749-4300-4D26-BC08-FD13242E1AD0}">
      <dgm:prSet/>
      <dgm:spPr/>
      <dgm:t>
        <a:bodyPr/>
        <a:lstStyle/>
        <a:p>
          <a:r>
            <a:rPr lang="en-US"/>
            <a:t>39% happy most of the time</a:t>
          </a:r>
        </a:p>
      </dgm:t>
    </dgm:pt>
    <dgm:pt modelId="{B7E6B985-5E10-4DB7-A963-A3D44969E77D}" type="parTrans" cxnId="{6CEFAC05-211F-4C12-8101-43382EC9F1BA}">
      <dgm:prSet/>
      <dgm:spPr/>
      <dgm:t>
        <a:bodyPr/>
        <a:lstStyle/>
        <a:p>
          <a:endParaRPr lang="en-US"/>
        </a:p>
      </dgm:t>
    </dgm:pt>
    <dgm:pt modelId="{EE385374-DA5A-4D94-B386-AAECBCAA82EF}" type="sibTrans" cxnId="{6CEFAC05-211F-4C12-8101-43382EC9F1BA}">
      <dgm:prSet/>
      <dgm:spPr/>
      <dgm:t>
        <a:bodyPr/>
        <a:lstStyle/>
        <a:p>
          <a:endParaRPr lang="en-US"/>
        </a:p>
      </dgm:t>
    </dgm:pt>
    <dgm:pt modelId="{9E87B6FE-12FF-4B08-B745-9875F9344C69}">
      <dgm:prSet/>
      <dgm:spPr/>
      <dgm:t>
        <a:bodyPr/>
        <a:lstStyle/>
        <a:p>
          <a:r>
            <a:rPr lang="en-US"/>
            <a:t>44% usually happy</a:t>
          </a:r>
        </a:p>
      </dgm:t>
    </dgm:pt>
    <dgm:pt modelId="{E2642371-9833-4ADA-A9A6-E962F9E3D29E}" type="parTrans" cxnId="{3AF4CEE4-5CC0-4BE7-A406-EED5C2430566}">
      <dgm:prSet/>
      <dgm:spPr/>
      <dgm:t>
        <a:bodyPr/>
        <a:lstStyle/>
        <a:p>
          <a:endParaRPr lang="en-US"/>
        </a:p>
      </dgm:t>
    </dgm:pt>
    <dgm:pt modelId="{A7439120-22F2-4DA5-BD1E-BAE66CEE9E8E}" type="sibTrans" cxnId="{3AF4CEE4-5CC0-4BE7-A406-EED5C2430566}">
      <dgm:prSet/>
      <dgm:spPr/>
      <dgm:t>
        <a:bodyPr/>
        <a:lstStyle/>
        <a:p>
          <a:endParaRPr lang="en-US"/>
        </a:p>
      </dgm:t>
    </dgm:pt>
    <dgm:pt modelId="{76787F68-343E-4E09-9EC1-1E35361D325D}">
      <dgm:prSet/>
      <dgm:spPr/>
      <dgm:t>
        <a:bodyPr/>
        <a:lstStyle/>
        <a:p>
          <a:r>
            <a:rPr lang="en-US"/>
            <a:t>17% unhappy</a:t>
          </a:r>
        </a:p>
      </dgm:t>
    </dgm:pt>
    <dgm:pt modelId="{E87E37FA-2244-4547-A4CD-EEA8C988E237}" type="parTrans" cxnId="{F39D4C32-B9C3-470B-8CED-C1C91BB75A93}">
      <dgm:prSet/>
      <dgm:spPr/>
      <dgm:t>
        <a:bodyPr/>
        <a:lstStyle/>
        <a:p>
          <a:endParaRPr lang="en-US"/>
        </a:p>
      </dgm:t>
    </dgm:pt>
    <dgm:pt modelId="{97F890F1-7B8D-4959-94D9-E7D8E3226E86}" type="sibTrans" cxnId="{F39D4C32-B9C3-470B-8CED-C1C91BB75A93}">
      <dgm:prSet/>
      <dgm:spPr/>
      <dgm:t>
        <a:bodyPr/>
        <a:lstStyle/>
        <a:p>
          <a:endParaRPr lang="en-US"/>
        </a:p>
      </dgm:t>
    </dgm:pt>
    <dgm:pt modelId="{E8C416F7-3452-46CC-BE9C-A7A92AD82DB1}">
      <dgm:prSet/>
      <dgm:spPr/>
      <dgm:t>
        <a:bodyPr/>
        <a:lstStyle/>
        <a:p>
          <a:r>
            <a:rPr lang="en-US"/>
            <a:t>Unhappy group had higher rates of mortality</a:t>
          </a:r>
        </a:p>
      </dgm:t>
    </dgm:pt>
    <dgm:pt modelId="{6E554A41-932E-4B32-8885-52A5A48B688A}" type="parTrans" cxnId="{2E072AF9-7704-40EF-B6C1-AEC98411644C}">
      <dgm:prSet/>
      <dgm:spPr/>
      <dgm:t>
        <a:bodyPr/>
        <a:lstStyle/>
        <a:p>
          <a:endParaRPr lang="en-US"/>
        </a:p>
      </dgm:t>
    </dgm:pt>
    <dgm:pt modelId="{CC7ACCB9-47AA-4540-A310-8740AFE4B040}" type="sibTrans" cxnId="{2E072AF9-7704-40EF-B6C1-AEC98411644C}">
      <dgm:prSet/>
      <dgm:spPr/>
      <dgm:t>
        <a:bodyPr/>
        <a:lstStyle/>
        <a:p>
          <a:endParaRPr lang="en-US"/>
        </a:p>
      </dgm:t>
    </dgm:pt>
    <dgm:pt modelId="{591C03E3-3D2D-419E-A1C2-C0B58F8BA4DB}">
      <dgm:prSet/>
      <dgm:spPr/>
      <dgm:t>
        <a:bodyPr/>
        <a:lstStyle/>
        <a:p>
          <a:r>
            <a:rPr lang="en-US"/>
            <a:t>When accounting for self-rated health, demographic and lifestyle factors, relationship went away </a:t>
          </a:r>
        </a:p>
      </dgm:t>
    </dgm:pt>
    <dgm:pt modelId="{6D585484-A40C-4A59-A88F-E454702C212A}" type="parTrans" cxnId="{97597E4B-09AC-4A5A-8C7B-3720D421852C}">
      <dgm:prSet/>
      <dgm:spPr/>
      <dgm:t>
        <a:bodyPr/>
        <a:lstStyle/>
        <a:p>
          <a:endParaRPr lang="en-US"/>
        </a:p>
      </dgm:t>
    </dgm:pt>
    <dgm:pt modelId="{8A84282E-F72B-47D4-90DD-3D38A7EFDAE3}" type="sibTrans" cxnId="{97597E4B-09AC-4A5A-8C7B-3720D421852C}">
      <dgm:prSet/>
      <dgm:spPr/>
      <dgm:t>
        <a:bodyPr/>
        <a:lstStyle/>
        <a:p>
          <a:endParaRPr lang="en-US"/>
        </a:p>
      </dgm:t>
    </dgm:pt>
    <dgm:pt modelId="{261CE3BB-88AA-4764-8F32-5221470D5EEF}" type="pres">
      <dgm:prSet presAssocID="{7E50C637-757A-4641-9043-FF0AAF20173C}" presName="linear" presStyleCnt="0">
        <dgm:presLayoutVars>
          <dgm:animLvl val="lvl"/>
          <dgm:resizeHandles val="exact"/>
        </dgm:presLayoutVars>
      </dgm:prSet>
      <dgm:spPr/>
    </dgm:pt>
    <dgm:pt modelId="{A090CE6E-1FED-45EE-A1F9-96FB91804D99}" type="pres">
      <dgm:prSet presAssocID="{AE460280-AE90-466E-894E-D3D61B8649D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463ECCD4-458E-4D10-9332-8490C92C5660}" type="pres">
      <dgm:prSet presAssocID="{F8CBB7EB-721B-49A5-937C-5A851659DEB6}" presName="spacer" presStyleCnt="0"/>
      <dgm:spPr/>
    </dgm:pt>
    <dgm:pt modelId="{BB7953B0-4F37-4C0E-A87E-60AB5EAE578E}" type="pres">
      <dgm:prSet presAssocID="{D34C53EB-7D49-4495-8BCA-28EA6E5FA9A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6253DB7-A0F0-4066-B93F-255D0A7EB256}" type="pres">
      <dgm:prSet presAssocID="{B6995734-93BE-4A70-A44A-CF25D7919B87}" presName="spacer" presStyleCnt="0"/>
      <dgm:spPr/>
    </dgm:pt>
    <dgm:pt modelId="{7118FF6C-E1EB-4158-BC48-DC954E53CE3E}" type="pres">
      <dgm:prSet presAssocID="{AB7E1749-4300-4D26-BC08-FD13242E1AD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1D4BA10-BB42-49BE-ABBB-46A3493DDF55}" type="pres">
      <dgm:prSet presAssocID="{EE385374-DA5A-4D94-B386-AAECBCAA82EF}" presName="spacer" presStyleCnt="0"/>
      <dgm:spPr/>
    </dgm:pt>
    <dgm:pt modelId="{0CEA28CD-D9BE-4998-8331-71CFD867EE54}" type="pres">
      <dgm:prSet presAssocID="{9E87B6FE-12FF-4B08-B745-9875F9344C6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6C58BDA-213C-4F39-B4C6-C2EF59B49123}" type="pres">
      <dgm:prSet presAssocID="{A7439120-22F2-4DA5-BD1E-BAE66CEE9E8E}" presName="spacer" presStyleCnt="0"/>
      <dgm:spPr/>
    </dgm:pt>
    <dgm:pt modelId="{37EA114B-7F73-4954-ADA5-91BDE4340BB9}" type="pres">
      <dgm:prSet presAssocID="{76787F68-343E-4E09-9EC1-1E35361D325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DE58037-B635-45EA-AAA2-CCDED9F467BF}" type="pres">
      <dgm:prSet presAssocID="{97F890F1-7B8D-4959-94D9-E7D8E3226E86}" presName="spacer" presStyleCnt="0"/>
      <dgm:spPr/>
    </dgm:pt>
    <dgm:pt modelId="{F2817B36-2AA4-4F6B-A3DA-CCC6856E2612}" type="pres">
      <dgm:prSet presAssocID="{E8C416F7-3452-46CC-BE9C-A7A92AD82DB1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35AA4E1F-09D9-49B4-9FA3-5FEA2CE14C43}" type="pres">
      <dgm:prSet presAssocID="{CC7ACCB9-47AA-4540-A310-8740AFE4B040}" presName="spacer" presStyleCnt="0"/>
      <dgm:spPr/>
    </dgm:pt>
    <dgm:pt modelId="{E765AB5D-4AEE-4A87-B76F-F5421B223501}" type="pres">
      <dgm:prSet presAssocID="{591C03E3-3D2D-419E-A1C2-C0B58F8BA4D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CEFAC05-211F-4C12-8101-43382EC9F1BA}" srcId="{7E50C637-757A-4641-9043-FF0AAF20173C}" destId="{AB7E1749-4300-4D26-BC08-FD13242E1AD0}" srcOrd="2" destOrd="0" parTransId="{B7E6B985-5E10-4DB7-A963-A3D44969E77D}" sibTransId="{EE385374-DA5A-4D94-B386-AAECBCAA82EF}"/>
    <dgm:cxn modelId="{25479508-A3CC-4D22-95A2-C7ED272A0A66}" type="presOf" srcId="{E8C416F7-3452-46CC-BE9C-A7A92AD82DB1}" destId="{F2817B36-2AA4-4F6B-A3DA-CCC6856E2612}" srcOrd="0" destOrd="0" presId="urn:microsoft.com/office/officeart/2005/8/layout/vList2"/>
    <dgm:cxn modelId="{0FA77412-ADEF-473B-A9FC-586D7794D8B1}" srcId="{7E50C637-757A-4641-9043-FF0AAF20173C}" destId="{AE460280-AE90-466E-894E-D3D61B8649DC}" srcOrd="0" destOrd="0" parTransId="{36424C24-4C56-4F5E-9E6D-FDDFD2039892}" sibTransId="{F8CBB7EB-721B-49A5-937C-5A851659DEB6}"/>
    <dgm:cxn modelId="{7D74F82D-296A-480D-88F8-59CB78ADA889}" type="presOf" srcId="{AE460280-AE90-466E-894E-D3D61B8649DC}" destId="{A090CE6E-1FED-45EE-A1F9-96FB91804D99}" srcOrd="0" destOrd="0" presId="urn:microsoft.com/office/officeart/2005/8/layout/vList2"/>
    <dgm:cxn modelId="{F39D4C32-B9C3-470B-8CED-C1C91BB75A93}" srcId="{7E50C637-757A-4641-9043-FF0AAF20173C}" destId="{76787F68-343E-4E09-9EC1-1E35361D325D}" srcOrd="4" destOrd="0" parTransId="{E87E37FA-2244-4547-A4CD-EEA8C988E237}" sibTransId="{97F890F1-7B8D-4959-94D9-E7D8E3226E86}"/>
    <dgm:cxn modelId="{97597E4B-09AC-4A5A-8C7B-3720D421852C}" srcId="{7E50C637-757A-4641-9043-FF0AAF20173C}" destId="{591C03E3-3D2D-419E-A1C2-C0B58F8BA4DB}" srcOrd="6" destOrd="0" parTransId="{6D585484-A40C-4A59-A88F-E454702C212A}" sibTransId="{8A84282E-F72B-47D4-90DD-3D38A7EFDAE3}"/>
    <dgm:cxn modelId="{7757FA50-51CE-4D7B-96BC-A7C9BB697A71}" type="presOf" srcId="{76787F68-343E-4E09-9EC1-1E35361D325D}" destId="{37EA114B-7F73-4954-ADA5-91BDE4340BB9}" srcOrd="0" destOrd="0" presId="urn:microsoft.com/office/officeart/2005/8/layout/vList2"/>
    <dgm:cxn modelId="{BB03B271-C3D1-4AFD-B522-9F97CEDFAC6B}" srcId="{7E50C637-757A-4641-9043-FF0AAF20173C}" destId="{D34C53EB-7D49-4495-8BCA-28EA6E5FA9AC}" srcOrd="1" destOrd="0" parTransId="{E21239F7-1ECC-4785-8299-FF7D9045E963}" sibTransId="{B6995734-93BE-4A70-A44A-CF25D7919B87}"/>
    <dgm:cxn modelId="{DF6C6254-3812-4CD3-A979-2294AB320684}" type="presOf" srcId="{AB7E1749-4300-4D26-BC08-FD13242E1AD0}" destId="{7118FF6C-E1EB-4158-BC48-DC954E53CE3E}" srcOrd="0" destOrd="0" presId="urn:microsoft.com/office/officeart/2005/8/layout/vList2"/>
    <dgm:cxn modelId="{A89A4094-8943-440D-827D-46A4E5EE8B97}" type="presOf" srcId="{7E50C637-757A-4641-9043-FF0AAF20173C}" destId="{261CE3BB-88AA-4764-8F32-5221470D5EEF}" srcOrd="0" destOrd="0" presId="urn:microsoft.com/office/officeart/2005/8/layout/vList2"/>
    <dgm:cxn modelId="{EBE661A6-73F2-48C0-89DE-22CA2D968336}" type="presOf" srcId="{9E87B6FE-12FF-4B08-B745-9875F9344C69}" destId="{0CEA28CD-D9BE-4998-8331-71CFD867EE54}" srcOrd="0" destOrd="0" presId="urn:microsoft.com/office/officeart/2005/8/layout/vList2"/>
    <dgm:cxn modelId="{D0FE1BE2-5E08-4F57-A0AF-53DF4081EEB5}" type="presOf" srcId="{591C03E3-3D2D-419E-A1C2-C0B58F8BA4DB}" destId="{E765AB5D-4AEE-4A87-B76F-F5421B223501}" srcOrd="0" destOrd="0" presId="urn:microsoft.com/office/officeart/2005/8/layout/vList2"/>
    <dgm:cxn modelId="{3AF4CEE4-5CC0-4BE7-A406-EED5C2430566}" srcId="{7E50C637-757A-4641-9043-FF0AAF20173C}" destId="{9E87B6FE-12FF-4B08-B745-9875F9344C69}" srcOrd="3" destOrd="0" parTransId="{E2642371-9833-4ADA-A9A6-E962F9E3D29E}" sibTransId="{A7439120-22F2-4DA5-BD1E-BAE66CEE9E8E}"/>
    <dgm:cxn modelId="{83A710EE-FF00-4457-BE88-2BD24BC68562}" type="presOf" srcId="{D34C53EB-7D49-4495-8BCA-28EA6E5FA9AC}" destId="{BB7953B0-4F37-4C0E-A87E-60AB5EAE578E}" srcOrd="0" destOrd="0" presId="urn:microsoft.com/office/officeart/2005/8/layout/vList2"/>
    <dgm:cxn modelId="{2E072AF9-7704-40EF-B6C1-AEC98411644C}" srcId="{7E50C637-757A-4641-9043-FF0AAF20173C}" destId="{E8C416F7-3452-46CC-BE9C-A7A92AD82DB1}" srcOrd="5" destOrd="0" parTransId="{6E554A41-932E-4B32-8885-52A5A48B688A}" sibTransId="{CC7ACCB9-47AA-4540-A310-8740AFE4B040}"/>
    <dgm:cxn modelId="{30FD9A5A-04AF-4194-A062-966324F0ABF3}" type="presParOf" srcId="{261CE3BB-88AA-4764-8F32-5221470D5EEF}" destId="{A090CE6E-1FED-45EE-A1F9-96FB91804D99}" srcOrd="0" destOrd="0" presId="urn:microsoft.com/office/officeart/2005/8/layout/vList2"/>
    <dgm:cxn modelId="{FD0C2AF3-18D8-4E1C-B763-AEB3497D24A2}" type="presParOf" srcId="{261CE3BB-88AA-4764-8F32-5221470D5EEF}" destId="{463ECCD4-458E-4D10-9332-8490C92C5660}" srcOrd="1" destOrd="0" presId="urn:microsoft.com/office/officeart/2005/8/layout/vList2"/>
    <dgm:cxn modelId="{7AB0C375-2791-4D87-BB7F-8DBE72310FCE}" type="presParOf" srcId="{261CE3BB-88AA-4764-8F32-5221470D5EEF}" destId="{BB7953B0-4F37-4C0E-A87E-60AB5EAE578E}" srcOrd="2" destOrd="0" presId="urn:microsoft.com/office/officeart/2005/8/layout/vList2"/>
    <dgm:cxn modelId="{92718BB8-6707-45B6-A99F-83B65B6CBFB0}" type="presParOf" srcId="{261CE3BB-88AA-4764-8F32-5221470D5EEF}" destId="{F6253DB7-A0F0-4066-B93F-255D0A7EB256}" srcOrd="3" destOrd="0" presId="urn:microsoft.com/office/officeart/2005/8/layout/vList2"/>
    <dgm:cxn modelId="{ED27A2F9-D315-44C2-B3AA-7F8645E4F207}" type="presParOf" srcId="{261CE3BB-88AA-4764-8F32-5221470D5EEF}" destId="{7118FF6C-E1EB-4158-BC48-DC954E53CE3E}" srcOrd="4" destOrd="0" presId="urn:microsoft.com/office/officeart/2005/8/layout/vList2"/>
    <dgm:cxn modelId="{21F95315-BBA1-45E2-A9A7-C6EF935A485A}" type="presParOf" srcId="{261CE3BB-88AA-4764-8F32-5221470D5EEF}" destId="{B1D4BA10-BB42-49BE-ABBB-46A3493DDF55}" srcOrd="5" destOrd="0" presId="urn:microsoft.com/office/officeart/2005/8/layout/vList2"/>
    <dgm:cxn modelId="{FBE93AE7-A573-4C91-9D79-2750BF6CC914}" type="presParOf" srcId="{261CE3BB-88AA-4764-8F32-5221470D5EEF}" destId="{0CEA28CD-D9BE-4998-8331-71CFD867EE54}" srcOrd="6" destOrd="0" presId="urn:microsoft.com/office/officeart/2005/8/layout/vList2"/>
    <dgm:cxn modelId="{1162A705-3D04-4D13-8D83-3F55117271BD}" type="presParOf" srcId="{261CE3BB-88AA-4764-8F32-5221470D5EEF}" destId="{46C58BDA-213C-4F39-B4C6-C2EF59B49123}" srcOrd="7" destOrd="0" presId="urn:microsoft.com/office/officeart/2005/8/layout/vList2"/>
    <dgm:cxn modelId="{5D0BFD48-D9E8-4860-9540-668731CF8F6A}" type="presParOf" srcId="{261CE3BB-88AA-4764-8F32-5221470D5EEF}" destId="{37EA114B-7F73-4954-ADA5-91BDE4340BB9}" srcOrd="8" destOrd="0" presId="urn:microsoft.com/office/officeart/2005/8/layout/vList2"/>
    <dgm:cxn modelId="{2F458409-4EB4-4D59-BF95-366AA9CD289D}" type="presParOf" srcId="{261CE3BB-88AA-4764-8F32-5221470D5EEF}" destId="{4DE58037-B635-45EA-AAA2-CCDED9F467BF}" srcOrd="9" destOrd="0" presId="urn:microsoft.com/office/officeart/2005/8/layout/vList2"/>
    <dgm:cxn modelId="{61D06CAD-B7A9-48D9-82FB-4AACE1AE3CA6}" type="presParOf" srcId="{261CE3BB-88AA-4764-8F32-5221470D5EEF}" destId="{F2817B36-2AA4-4F6B-A3DA-CCC6856E2612}" srcOrd="10" destOrd="0" presId="urn:microsoft.com/office/officeart/2005/8/layout/vList2"/>
    <dgm:cxn modelId="{2497F25F-D8FC-432B-8C4B-FB9ABE996402}" type="presParOf" srcId="{261CE3BB-88AA-4764-8F32-5221470D5EEF}" destId="{35AA4E1F-09D9-49B4-9FA3-5FEA2CE14C43}" srcOrd="11" destOrd="0" presId="urn:microsoft.com/office/officeart/2005/8/layout/vList2"/>
    <dgm:cxn modelId="{CF3606F0-7FA0-424F-931C-342358733F1B}" type="presParOf" srcId="{261CE3BB-88AA-4764-8F32-5221470D5EEF}" destId="{E765AB5D-4AEE-4A87-B76F-F5421B22350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1103BA-2078-4A90-905D-8D630B32898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7F5970-156B-428A-857E-51CA50868B38}">
      <dgm:prSet/>
      <dgm:spPr/>
      <dgm:t>
        <a:bodyPr/>
        <a:lstStyle/>
        <a:p>
          <a:r>
            <a:rPr lang="en-US"/>
            <a:t>Not all positive affect is created equally</a:t>
          </a:r>
        </a:p>
      </dgm:t>
    </dgm:pt>
    <dgm:pt modelId="{0CF0BCE4-5471-4D09-A473-42E267F953AB}" type="parTrans" cxnId="{3959A30C-8FF7-412B-9EEB-9D51771380A6}">
      <dgm:prSet/>
      <dgm:spPr/>
      <dgm:t>
        <a:bodyPr/>
        <a:lstStyle/>
        <a:p>
          <a:endParaRPr lang="en-US"/>
        </a:p>
      </dgm:t>
    </dgm:pt>
    <dgm:pt modelId="{71FF7F87-4968-42E1-921D-7FAF55C08BAC}" type="sibTrans" cxnId="{3959A30C-8FF7-412B-9EEB-9D51771380A6}">
      <dgm:prSet/>
      <dgm:spPr/>
      <dgm:t>
        <a:bodyPr/>
        <a:lstStyle/>
        <a:p>
          <a:endParaRPr lang="en-US"/>
        </a:p>
      </dgm:t>
    </dgm:pt>
    <dgm:pt modelId="{14F19CA9-3147-43C1-9321-5EB13B9E87BF}">
      <dgm:prSet/>
      <dgm:spPr/>
      <dgm:t>
        <a:bodyPr/>
        <a:lstStyle/>
        <a:p>
          <a:r>
            <a:rPr lang="en-US"/>
            <a:t>Relation between positive affect and mortality is particularly strong when considering “active” positive affect (“I felt active.” Petrie et al. 2017)</a:t>
          </a:r>
        </a:p>
      </dgm:t>
    </dgm:pt>
    <dgm:pt modelId="{06CF6023-1D5C-418A-A696-7ED7FB57F7C0}" type="parTrans" cxnId="{144777F1-D2EE-404E-B397-FE896F624518}">
      <dgm:prSet/>
      <dgm:spPr/>
      <dgm:t>
        <a:bodyPr/>
        <a:lstStyle/>
        <a:p>
          <a:endParaRPr lang="en-US"/>
        </a:p>
      </dgm:t>
    </dgm:pt>
    <dgm:pt modelId="{09A93A7A-A22B-472C-B728-15D7F36666C3}" type="sibTrans" cxnId="{144777F1-D2EE-404E-B397-FE896F624518}">
      <dgm:prSet/>
      <dgm:spPr/>
      <dgm:t>
        <a:bodyPr/>
        <a:lstStyle/>
        <a:p>
          <a:endParaRPr lang="en-US"/>
        </a:p>
      </dgm:t>
    </dgm:pt>
    <dgm:pt modelId="{AF96718D-7345-4335-98E9-233C44A19D6F}">
      <dgm:prSet/>
      <dgm:spPr/>
      <dgm:t>
        <a:bodyPr/>
        <a:lstStyle/>
        <a:p>
          <a:r>
            <a:rPr lang="en-US"/>
            <a:t>Relation between PANAS and mortality</a:t>
          </a:r>
        </a:p>
      </dgm:t>
    </dgm:pt>
    <dgm:pt modelId="{39BE73E6-A89E-4896-AF2A-A24A7C761CBA}" type="parTrans" cxnId="{1B89B49B-923E-4CD9-A533-55FA0C12E968}">
      <dgm:prSet/>
      <dgm:spPr/>
      <dgm:t>
        <a:bodyPr/>
        <a:lstStyle/>
        <a:p>
          <a:endParaRPr lang="en-US"/>
        </a:p>
      </dgm:t>
    </dgm:pt>
    <dgm:pt modelId="{493F4646-3222-4A79-84C1-D766A09CAA71}" type="sibTrans" cxnId="{1B89B49B-923E-4CD9-A533-55FA0C12E968}">
      <dgm:prSet/>
      <dgm:spPr/>
      <dgm:t>
        <a:bodyPr/>
        <a:lstStyle/>
        <a:p>
          <a:endParaRPr lang="en-US"/>
        </a:p>
      </dgm:t>
    </dgm:pt>
    <dgm:pt modelId="{73A78CA4-222E-4C67-B93D-C580EBEE42F8}">
      <dgm:prSet/>
      <dgm:spPr/>
      <dgm:t>
        <a:bodyPr/>
        <a:lstStyle/>
        <a:p>
          <a:r>
            <a:rPr lang="en-US"/>
            <a:t>Including age, gender, education, relationship status, smoking, exercise, alcohol consumption, BMI, blood pressure, stroke, diabetes, myocardial infarction in model</a:t>
          </a:r>
        </a:p>
      </dgm:t>
    </dgm:pt>
    <dgm:pt modelId="{1DF9FA60-6607-4720-BDD8-A6D2BCBF80A4}" type="parTrans" cxnId="{5A7954FA-81A8-48B4-86C1-DC8321390632}">
      <dgm:prSet/>
      <dgm:spPr/>
      <dgm:t>
        <a:bodyPr/>
        <a:lstStyle/>
        <a:p>
          <a:endParaRPr lang="en-US"/>
        </a:p>
      </dgm:t>
    </dgm:pt>
    <dgm:pt modelId="{2DFC2553-DACC-4AAC-9F58-FD7168CA4C03}" type="sibTrans" cxnId="{5A7954FA-81A8-48B4-86C1-DC8321390632}">
      <dgm:prSet/>
      <dgm:spPr/>
      <dgm:t>
        <a:bodyPr/>
        <a:lstStyle/>
        <a:p>
          <a:endParaRPr lang="en-US"/>
        </a:p>
      </dgm:t>
    </dgm:pt>
    <dgm:pt modelId="{FC5ABB14-4AA5-47B4-A28E-F508E1D038AF}">
      <dgm:prSet/>
      <dgm:spPr/>
      <dgm:t>
        <a:bodyPr/>
        <a:lstStyle/>
        <a:p>
          <a:r>
            <a:rPr lang="en-US"/>
            <a:t>I felt active – strongest effect</a:t>
          </a:r>
        </a:p>
      </dgm:t>
    </dgm:pt>
    <dgm:pt modelId="{9B9831E8-DA94-48D1-9372-0122AA326190}" type="parTrans" cxnId="{886BD15D-A357-41A1-8C2B-55CCC14CFB48}">
      <dgm:prSet/>
      <dgm:spPr/>
      <dgm:t>
        <a:bodyPr/>
        <a:lstStyle/>
        <a:p>
          <a:endParaRPr lang="en-US"/>
        </a:p>
      </dgm:t>
    </dgm:pt>
    <dgm:pt modelId="{0CFC88E6-0B31-4CA7-8DEC-81452C634D8E}" type="sibTrans" cxnId="{886BD15D-A357-41A1-8C2B-55CCC14CFB48}">
      <dgm:prSet/>
      <dgm:spPr/>
      <dgm:t>
        <a:bodyPr/>
        <a:lstStyle/>
        <a:p>
          <a:endParaRPr lang="en-US"/>
        </a:p>
      </dgm:t>
    </dgm:pt>
    <dgm:pt modelId="{179F77A5-3924-48C8-A372-850519D12010}" type="pres">
      <dgm:prSet presAssocID="{0A1103BA-2078-4A90-905D-8D630B328982}" presName="linear" presStyleCnt="0">
        <dgm:presLayoutVars>
          <dgm:animLvl val="lvl"/>
          <dgm:resizeHandles val="exact"/>
        </dgm:presLayoutVars>
      </dgm:prSet>
      <dgm:spPr/>
    </dgm:pt>
    <dgm:pt modelId="{16303788-49F6-4D7F-B9B4-DEF574DCA94E}" type="pres">
      <dgm:prSet presAssocID="{C67F5970-156B-428A-857E-51CA50868B3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E59E911-DF0E-4110-907D-9049AE2A283B}" type="pres">
      <dgm:prSet presAssocID="{71FF7F87-4968-42E1-921D-7FAF55C08BAC}" presName="spacer" presStyleCnt="0"/>
      <dgm:spPr/>
    </dgm:pt>
    <dgm:pt modelId="{569762BB-D094-4A41-8B90-45A0AD91F46D}" type="pres">
      <dgm:prSet presAssocID="{14F19CA9-3147-43C1-9321-5EB13B9E87B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9EBCB0-DEE3-43D6-8FC4-CF4C5FDE7812}" type="pres">
      <dgm:prSet presAssocID="{14F19CA9-3147-43C1-9321-5EB13B9E87B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959A30C-8FF7-412B-9EEB-9D51771380A6}" srcId="{0A1103BA-2078-4A90-905D-8D630B328982}" destId="{C67F5970-156B-428A-857E-51CA50868B38}" srcOrd="0" destOrd="0" parTransId="{0CF0BCE4-5471-4D09-A473-42E267F953AB}" sibTransId="{71FF7F87-4968-42E1-921D-7FAF55C08BAC}"/>
    <dgm:cxn modelId="{E98D4C0E-A24F-4ACA-B074-95BC0495D948}" type="presOf" srcId="{0A1103BA-2078-4A90-905D-8D630B328982}" destId="{179F77A5-3924-48C8-A372-850519D12010}" srcOrd="0" destOrd="0" presId="urn:microsoft.com/office/officeart/2005/8/layout/vList2"/>
    <dgm:cxn modelId="{886BD15D-A357-41A1-8C2B-55CCC14CFB48}" srcId="{14F19CA9-3147-43C1-9321-5EB13B9E87BF}" destId="{FC5ABB14-4AA5-47B4-A28E-F508E1D038AF}" srcOrd="1" destOrd="0" parTransId="{9B9831E8-DA94-48D1-9372-0122AA326190}" sibTransId="{0CFC88E6-0B31-4CA7-8DEC-81452C634D8E}"/>
    <dgm:cxn modelId="{6447A386-4560-4178-AE9C-48BB5C50DEF1}" type="presOf" srcId="{14F19CA9-3147-43C1-9321-5EB13B9E87BF}" destId="{569762BB-D094-4A41-8B90-45A0AD91F46D}" srcOrd="0" destOrd="0" presId="urn:microsoft.com/office/officeart/2005/8/layout/vList2"/>
    <dgm:cxn modelId="{1B89B49B-923E-4CD9-A533-55FA0C12E968}" srcId="{14F19CA9-3147-43C1-9321-5EB13B9E87BF}" destId="{AF96718D-7345-4335-98E9-233C44A19D6F}" srcOrd="0" destOrd="0" parTransId="{39BE73E6-A89E-4896-AF2A-A24A7C761CBA}" sibTransId="{493F4646-3222-4A79-84C1-D766A09CAA71}"/>
    <dgm:cxn modelId="{64E1AAA2-098A-4E00-B96E-F5ACF57FC2CB}" type="presOf" srcId="{73A78CA4-222E-4C67-B93D-C580EBEE42F8}" destId="{1F9EBCB0-DEE3-43D6-8FC4-CF4C5FDE7812}" srcOrd="0" destOrd="1" presId="urn:microsoft.com/office/officeart/2005/8/layout/vList2"/>
    <dgm:cxn modelId="{8C5997A5-E413-4FFC-BB6F-06A8328EED48}" type="presOf" srcId="{C67F5970-156B-428A-857E-51CA50868B38}" destId="{16303788-49F6-4D7F-B9B4-DEF574DCA94E}" srcOrd="0" destOrd="0" presId="urn:microsoft.com/office/officeart/2005/8/layout/vList2"/>
    <dgm:cxn modelId="{4C0770AF-37DD-4D92-897E-FD09FCEF09B4}" type="presOf" srcId="{AF96718D-7345-4335-98E9-233C44A19D6F}" destId="{1F9EBCB0-DEE3-43D6-8FC4-CF4C5FDE7812}" srcOrd="0" destOrd="0" presId="urn:microsoft.com/office/officeart/2005/8/layout/vList2"/>
    <dgm:cxn modelId="{DC9314C1-921E-40BF-BAD7-8363F195B97E}" type="presOf" srcId="{FC5ABB14-4AA5-47B4-A28E-F508E1D038AF}" destId="{1F9EBCB0-DEE3-43D6-8FC4-CF4C5FDE7812}" srcOrd="0" destOrd="2" presId="urn:microsoft.com/office/officeart/2005/8/layout/vList2"/>
    <dgm:cxn modelId="{144777F1-D2EE-404E-B397-FE896F624518}" srcId="{0A1103BA-2078-4A90-905D-8D630B328982}" destId="{14F19CA9-3147-43C1-9321-5EB13B9E87BF}" srcOrd="1" destOrd="0" parTransId="{06CF6023-1D5C-418A-A696-7ED7FB57F7C0}" sibTransId="{09A93A7A-A22B-472C-B728-15D7F36666C3}"/>
    <dgm:cxn modelId="{5A7954FA-81A8-48B4-86C1-DC8321390632}" srcId="{AF96718D-7345-4335-98E9-233C44A19D6F}" destId="{73A78CA4-222E-4C67-B93D-C580EBEE42F8}" srcOrd="0" destOrd="0" parTransId="{1DF9FA60-6607-4720-BDD8-A6D2BCBF80A4}" sibTransId="{2DFC2553-DACC-4AAC-9F58-FD7168CA4C03}"/>
    <dgm:cxn modelId="{4852392D-DC67-4CC6-9158-DE6093E84853}" type="presParOf" srcId="{179F77A5-3924-48C8-A372-850519D12010}" destId="{16303788-49F6-4D7F-B9B4-DEF574DCA94E}" srcOrd="0" destOrd="0" presId="urn:microsoft.com/office/officeart/2005/8/layout/vList2"/>
    <dgm:cxn modelId="{DAF832FC-4B5C-4C80-9957-2249E368BB60}" type="presParOf" srcId="{179F77A5-3924-48C8-A372-850519D12010}" destId="{CE59E911-DF0E-4110-907D-9049AE2A283B}" srcOrd="1" destOrd="0" presId="urn:microsoft.com/office/officeart/2005/8/layout/vList2"/>
    <dgm:cxn modelId="{E308E4A0-7FD6-49AB-8A18-9716FA0C59F5}" type="presParOf" srcId="{179F77A5-3924-48C8-A372-850519D12010}" destId="{569762BB-D094-4A41-8B90-45A0AD91F46D}" srcOrd="2" destOrd="0" presId="urn:microsoft.com/office/officeart/2005/8/layout/vList2"/>
    <dgm:cxn modelId="{76FCDCD4-95FB-41B4-95FA-475B3A0D5C82}" type="presParOf" srcId="{179F77A5-3924-48C8-A372-850519D12010}" destId="{1F9EBCB0-DEE3-43D6-8FC4-CF4C5FDE7812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C1AF00-D956-4F1F-AFF0-F017CD4FE55A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FE5B29-15DA-48B1-B70F-EA7C0EAD9532}">
      <dgm:prSet/>
      <dgm:spPr/>
      <dgm:t>
        <a:bodyPr/>
        <a:lstStyle/>
        <a:p>
          <a:r>
            <a:rPr lang="en-US"/>
            <a:t>Harker &amp; Keltner (2001)</a:t>
          </a:r>
        </a:p>
      </dgm:t>
    </dgm:pt>
    <dgm:pt modelId="{7621589A-DEF0-4D61-AF61-D3F4BB39745F}" type="parTrans" cxnId="{4A3BA3C8-F729-4689-96E6-B456C9D6DE48}">
      <dgm:prSet/>
      <dgm:spPr/>
      <dgm:t>
        <a:bodyPr/>
        <a:lstStyle/>
        <a:p>
          <a:endParaRPr lang="en-US"/>
        </a:p>
      </dgm:t>
    </dgm:pt>
    <dgm:pt modelId="{2F91216D-8AC0-4072-BC34-5F99410DEB99}" type="sibTrans" cxnId="{4A3BA3C8-F729-4689-96E6-B456C9D6DE48}">
      <dgm:prSet/>
      <dgm:spPr/>
      <dgm:t>
        <a:bodyPr/>
        <a:lstStyle/>
        <a:p>
          <a:endParaRPr lang="en-US"/>
        </a:p>
      </dgm:t>
    </dgm:pt>
    <dgm:pt modelId="{9DFA48C9-CA48-4B12-AB81-47A39B259E7D}">
      <dgm:prSet/>
      <dgm:spPr/>
      <dgm:t>
        <a:bodyPr/>
        <a:lstStyle/>
        <a:p>
          <a:r>
            <a:rPr lang="en-US"/>
            <a:t>1958 and 1960 yearbook pictures</a:t>
          </a:r>
        </a:p>
      </dgm:t>
    </dgm:pt>
    <dgm:pt modelId="{8BB1BD7C-F09C-4BC9-A814-4827091F093A}" type="parTrans" cxnId="{26801F13-7BD8-4617-8FF3-FD51A6E4B5A3}">
      <dgm:prSet/>
      <dgm:spPr/>
      <dgm:t>
        <a:bodyPr/>
        <a:lstStyle/>
        <a:p>
          <a:endParaRPr lang="en-US"/>
        </a:p>
      </dgm:t>
    </dgm:pt>
    <dgm:pt modelId="{67A309B5-1F7E-439D-B4A2-BE5B135CEF9E}" type="sibTrans" cxnId="{26801F13-7BD8-4617-8FF3-FD51A6E4B5A3}">
      <dgm:prSet/>
      <dgm:spPr/>
      <dgm:t>
        <a:bodyPr/>
        <a:lstStyle/>
        <a:p>
          <a:endParaRPr lang="en-US"/>
        </a:p>
      </dgm:t>
    </dgm:pt>
    <dgm:pt modelId="{6605FD8D-3F9A-4D63-8185-6FBCFC2B4159}">
      <dgm:prSet/>
      <dgm:spPr/>
      <dgm:t>
        <a:bodyPr/>
        <a:lstStyle/>
        <a:p>
          <a:r>
            <a:rPr lang="en-US"/>
            <a:t>All but three women were smiling</a:t>
          </a:r>
        </a:p>
      </dgm:t>
    </dgm:pt>
    <dgm:pt modelId="{41F7B3D4-4BC3-4FFE-B16F-4D00C93D794D}" type="parTrans" cxnId="{FCC23E64-7DEB-4082-AF0A-3D6955074196}">
      <dgm:prSet/>
      <dgm:spPr/>
      <dgm:t>
        <a:bodyPr/>
        <a:lstStyle/>
        <a:p>
          <a:endParaRPr lang="en-US"/>
        </a:p>
      </dgm:t>
    </dgm:pt>
    <dgm:pt modelId="{4ECB8EE2-87BC-491E-A891-5ACF03403237}" type="sibTrans" cxnId="{FCC23E64-7DEB-4082-AF0A-3D6955074196}">
      <dgm:prSet/>
      <dgm:spPr/>
      <dgm:t>
        <a:bodyPr/>
        <a:lstStyle/>
        <a:p>
          <a:endParaRPr lang="en-US"/>
        </a:p>
      </dgm:t>
    </dgm:pt>
    <dgm:pt modelId="{4674F842-7297-4ECD-A933-8B0DB4D280D9}">
      <dgm:prSet/>
      <dgm:spPr/>
      <dgm:t>
        <a:bodyPr/>
        <a:lstStyle/>
        <a:p>
          <a:r>
            <a:rPr lang="en-US"/>
            <a:t>Average Duchenne level on 10-point scale = 3.8</a:t>
          </a:r>
        </a:p>
      </dgm:t>
    </dgm:pt>
    <dgm:pt modelId="{60304BB5-3FCC-4222-A6D0-8D58F8961D47}" type="parTrans" cxnId="{F4A78F82-4FBD-4668-8D01-CE91DA00BE8D}">
      <dgm:prSet/>
      <dgm:spPr/>
      <dgm:t>
        <a:bodyPr/>
        <a:lstStyle/>
        <a:p>
          <a:endParaRPr lang="en-US"/>
        </a:p>
      </dgm:t>
    </dgm:pt>
    <dgm:pt modelId="{5C33CEE0-EA53-4825-8DC5-46C60B535ED9}" type="sibTrans" cxnId="{F4A78F82-4FBD-4668-8D01-CE91DA00BE8D}">
      <dgm:prSet/>
      <dgm:spPr/>
      <dgm:t>
        <a:bodyPr/>
        <a:lstStyle/>
        <a:p>
          <a:endParaRPr lang="en-US"/>
        </a:p>
      </dgm:t>
    </dgm:pt>
    <dgm:pt modelId="{8D784E9A-4309-4C1A-AB4C-77199C94CB1E}">
      <dgm:prSet/>
      <dgm:spPr/>
      <dgm:t>
        <a:bodyPr/>
        <a:lstStyle/>
        <a:p>
          <a:r>
            <a:rPr lang="en-US"/>
            <a:t>Duchenne level predicted marital status and happiness in marriages</a:t>
          </a:r>
        </a:p>
      </dgm:t>
    </dgm:pt>
    <dgm:pt modelId="{84BD4F8D-8E9C-429F-A7B9-D975C7F85030}" type="parTrans" cxnId="{687AE8C4-3529-4D1A-8A04-81BCE6979B42}">
      <dgm:prSet/>
      <dgm:spPr/>
      <dgm:t>
        <a:bodyPr/>
        <a:lstStyle/>
        <a:p>
          <a:endParaRPr lang="en-US"/>
        </a:p>
      </dgm:t>
    </dgm:pt>
    <dgm:pt modelId="{38602129-746B-469A-8F0B-7EFAF072C38E}" type="sibTrans" cxnId="{687AE8C4-3529-4D1A-8A04-81BCE6979B42}">
      <dgm:prSet/>
      <dgm:spPr/>
      <dgm:t>
        <a:bodyPr/>
        <a:lstStyle/>
        <a:p>
          <a:endParaRPr lang="en-US"/>
        </a:p>
      </dgm:t>
    </dgm:pt>
    <dgm:pt modelId="{D42B93AD-B912-4557-AE42-5AB8211DB6BA}">
      <dgm:prSet/>
      <dgm:spPr/>
      <dgm:t>
        <a:bodyPr/>
        <a:lstStyle/>
        <a:p>
          <a:r>
            <a:rPr lang="en-US"/>
            <a:t>Attractiveness did not predict satisfying relationship</a:t>
          </a:r>
        </a:p>
      </dgm:t>
    </dgm:pt>
    <dgm:pt modelId="{9D288C62-2940-4D35-BE40-ECC4059B9C49}" type="parTrans" cxnId="{C14A3EA5-C7FA-4529-8642-253DDE46D57D}">
      <dgm:prSet/>
      <dgm:spPr/>
      <dgm:t>
        <a:bodyPr/>
        <a:lstStyle/>
        <a:p>
          <a:endParaRPr lang="en-US"/>
        </a:p>
      </dgm:t>
    </dgm:pt>
    <dgm:pt modelId="{AE9ED713-ED0E-424A-90DD-66B63D1B144E}" type="sibTrans" cxnId="{C14A3EA5-C7FA-4529-8642-253DDE46D57D}">
      <dgm:prSet/>
      <dgm:spPr/>
      <dgm:t>
        <a:bodyPr/>
        <a:lstStyle/>
        <a:p>
          <a:endParaRPr lang="en-US"/>
        </a:p>
      </dgm:t>
    </dgm:pt>
    <dgm:pt modelId="{9DE13B2A-BD85-4B1B-8E32-E7F6D86658B2}" type="pres">
      <dgm:prSet presAssocID="{E4C1AF00-D956-4F1F-AFF0-F017CD4FE55A}" presName="linear" presStyleCnt="0">
        <dgm:presLayoutVars>
          <dgm:animLvl val="lvl"/>
          <dgm:resizeHandles val="exact"/>
        </dgm:presLayoutVars>
      </dgm:prSet>
      <dgm:spPr/>
    </dgm:pt>
    <dgm:pt modelId="{ABC15944-1C0E-40C8-8BB0-1DB36F9A82BA}" type="pres">
      <dgm:prSet presAssocID="{65FE5B29-15DA-48B1-B70F-EA7C0EAD953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1C3107-7DC6-4B4C-91E7-84E72DF8EF3F}" type="pres">
      <dgm:prSet presAssocID="{2F91216D-8AC0-4072-BC34-5F99410DEB99}" presName="spacer" presStyleCnt="0"/>
      <dgm:spPr/>
    </dgm:pt>
    <dgm:pt modelId="{743AFB11-0443-4D05-B6ED-D0D2DC9FB575}" type="pres">
      <dgm:prSet presAssocID="{9DFA48C9-CA48-4B12-AB81-47A39B259E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319009-FB9E-4B37-9378-9CA1029A31E7}" type="pres">
      <dgm:prSet presAssocID="{9DFA48C9-CA48-4B12-AB81-47A39B259E7D}" presName="childText" presStyleLbl="revTx" presStyleIdx="0" presStyleCnt="2">
        <dgm:presLayoutVars>
          <dgm:bulletEnabled val="1"/>
        </dgm:presLayoutVars>
      </dgm:prSet>
      <dgm:spPr/>
    </dgm:pt>
    <dgm:pt modelId="{01C99A0B-49F8-416B-B943-E2C0DA2FCC07}" type="pres">
      <dgm:prSet presAssocID="{8D784E9A-4309-4C1A-AB4C-77199C94CB1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D2037FD-33B5-4628-90D2-4D11120AE827}" type="pres">
      <dgm:prSet presAssocID="{8D784E9A-4309-4C1A-AB4C-77199C94CB1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62D1A05-961C-43A9-9989-20D4799F52C2}" type="presOf" srcId="{65FE5B29-15DA-48B1-B70F-EA7C0EAD9532}" destId="{ABC15944-1C0E-40C8-8BB0-1DB36F9A82BA}" srcOrd="0" destOrd="0" presId="urn:microsoft.com/office/officeart/2005/8/layout/vList2"/>
    <dgm:cxn modelId="{26801F13-7BD8-4617-8FF3-FD51A6E4B5A3}" srcId="{E4C1AF00-D956-4F1F-AFF0-F017CD4FE55A}" destId="{9DFA48C9-CA48-4B12-AB81-47A39B259E7D}" srcOrd="1" destOrd="0" parTransId="{8BB1BD7C-F09C-4BC9-A814-4827091F093A}" sibTransId="{67A309B5-1F7E-439D-B4A2-BE5B135CEF9E}"/>
    <dgm:cxn modelId="{FCC23E64-7DEB-4082-AF0A-3D6955074196}" srcId="{9DFA48C9-CA48-4B12-AB81-47A39B259E7D}" destId="{6605FD8D-3F9A-4D63-8185-6FBCFC2B4159}" srcOrd="0" destOrd="0" parTransId="{41F7B3D4-4BC3-4FFE-B16F-4D00C93D794D}" sibTransId="{4ECB8EE2-87BC-491E-A891-5ACF03403237}"/>
    <dgm:cxn modelId="{F25E5649-C5C1-4BC6-8225-51016068D512}" type="presOf" srcId="{8D784E9A-4309-4C1A-AB4C-77199C94CB1E}" destId="{01C99A0B-49F8-416B-B943-E2C0DA2FCC07}" srcOrd="0" destOrd="0" presId="urn:microsoft.com/office/officeart/2005/8/layout/vList2"/>
    <dgm:cxn modelId="{3194936A-75DA-4232-AA4D-80109DECEB46}" type="presOf" srcId="{D42B93AD-B912-4557-AE42-5AB8211DB6BA}" destId="{FD2037FD-33B5-4628-90D2-4D11120AE827}" srcOrd="0" destOrd="0" presId="urn:microsoft.com/office/officeart/2005/8/layout/vList2"/>
    <dgm:cxn modelId="{D58B4B6C-657D-454E-86B2-63A69C70E50E}" type="presOf" srcId="{E4C1AF00-D956-4F1F-AFF0-F017CD4FE55A}" destId="{9DE13B2A-BD85-4B1B-8E32-E7F6D86658B2}" srcOrd="0" destOrd="0" presId="urn:microsoft.com/office/officeart/2005/8/layout/vList2"/>
    <dgm:cxn modelId="{CFE17E54-61B1-4D93-9467-0755E703463F}" type="presOf" srcId="{9DFA48C9-CA48-4B12-AB81-47A39B259E7D}" destId="{743AFB11-0443-4D05-B6ED-D0D2DC9FB575}" srcOrd="0" destOrd="0" presId="urn:microsoft.com/office/officeart/2005/8/layout/vList2"/>
    <dgm:cxn modelId="{F4A78F82-4FBD-4668-8D01-CE91DA00BE8D}" srcId="{9DFA48C9-CA48-4B12-AB81-47A39B259E7D}" destId="{4674F842-7297-4ECD-A933-8B0DB4D280D9}" srcOrd="1" destOrd="0" parTransId="{60304BB5-3FCC-4222-A6D0-8D58F8961D47}" sibTransId="{5C33CEE0-EA53-4825-8DC5-46C60B535ED9}"/>
    <dgm:cxn modelId="{C14A3EA5-C7FA-4529-8642-253DDE46D57D}" srcId="{8D784E9A-4309-4C1A-AB4C-77199C94CB1E}" destId="{D42B93AD-B912-4557-AE42-5AB8211DB6BA}" srcOrd="0" destOrd="0" parTransId="{9D288C62-2940-4D35-BE40-ECC4059B9C49}" sibTransId="{AE9ED713-ED0E-424A-90DD-66B63D1B144E}"/>
    <dgm:cxn modelId="{9E7043BD-165E-4D8B-9FE3-4C7C3D867637}" type="presOf" srcId="{6605FD8D-3F9A-4D63-8185-6FBCFC2B4159}" destId="{3E319009-FB9E-4B37-9378-9CA1029A31E7}" srcOrd="0" destOrd="0" presId="urn:microsoft.com/office/officeart/2005/8/layout/vList2"/>
    <dgm:cxn modelId="{687AE8C4-3529-4D1A-8A04-81BCE6979B42}" srcId="{E4C1AF00-D956-4F1F-AFF0-F017CD4FE55A}" destId="{8D784E9A-4309-4C1A-AB4C-77199C94CB1E}" srcOrd="2" destOrd="0" parTransId="{84BD4F8D-8E9C-429F-A7B9-D975C7F85030}" sibTransId="{38602129-746B-469A-8F0B-7EFAF072C38E}"/>
    <dgm:cxn modelId="{4A3BA3C8-F729-4689-96E6-B456C9D6DE48}" srcId="{E4C1AF00-D956-4F1F-AFF0-F017CD4FE55A}" destId="{65FE5B29-15DA-48B1-B70F-EA7C0EAD9532}" srcOrd="0" destOrd="0" parTransId="{7621589A-DEF0-4D61-AF61-D3F4BB39745F}" sibTransId="{2F91216D-8AC0-4072-BC34-5F99410DEB99}"/>
    <dgm:cxn modelId="{2E26A5E3-717B-4C36-8D82-0BDBFE7B3481}" type="presOf" srcId="{4674F842-7297-4ECD-A933-8B0DB4D280D9}" destId="{3E319009-FB9E-4B37-9378-9CA1029A31E7}" srcOrd="0" destOrd="1" presId="urn:microsoft.com/office/officeart/2005/8/layout/vList2"/>
    <dgm:cxn modelId="{0C406932-7378-40F5-93DC-F759CD2FBC45}" type="presParOf" srcId="{9DE13B2A-BD85-4B1B-8E32-E7F6D86658B2}" destId="{ABC15944-1C0E-40C8-8BB0-1DB36F9A82BA}" srcOrd="0" destOrd="0" presId="urn:microsoft.com/office/officeart/2005/8/layout/vList2"/>
    <dgm:cxn modelId="{71667CAB-F4C6-4648-AF7C-3B35AD9A6685}" type="presParOf" srcId="{9DE13B2A-BD85-4B1B-8E32-E7F6D86658B2}" destId="{991C3107-7DC6-4B4C-91E7-84E72DF8EF3F}" srcOrd="1" destOrd="0" presId="urn:microsoft.com/office/officeart/2005/8/layout/vList2"/>
    <dgm:cxn modelId="{1D1FBED8-1815-4D91-9540-1CDB82E84BE2}" type="presParOf" srcId="{9DE13B2A-BD85-4B1B-8E32-E7F6D86658B2}" destId="{743AFB11-0443-4D05-B6ED-D0D2DC9FB575}" srcOrd="2" destOrd="0" presId="urn:microsoft.com/office/officeart/2005/8/layout/vList2"/>
    <dgm:cxn modelId="{517CE705-2BBD-49E4-92A1-771C7342BD1C}" type="presParOf" srcId="{9DE13B2A-BD85-4B1B-8E32-E7F6D86658B2}" destId="{3E319009-FB9E-4B37-9378-9CA1029A31E7}" srcOrd="3" destOrd="0" presId="urn:microsoft.com/office/officeart/2005/8/layout/vList2"/>
    <dgm:cxn modelId="{66F0124D-1670-4AF0-A704-D6EA1DDE66B9}" type="presParOf" srcId="{9DE13B2A-BD85-4B1B-8E32-E7F6D86658B2}" destId="{01C99A0B-49F8-416B-B943-E2C0DA2FCC07}" srcOrd="4" destOrd="0" presId="urn:microsoft.com/office/officeart/2005/8/layout/vList2"/>
    <dgm:cxn modelId="{7E4E40FA-AEAE-4D19-BF4D-1FBCD27774E4}" type="presParOf" srcId="{9DE13B2A-BD85-4B1B-8E32-E7F6D86658B2}" destId="{FD2037FD-33B5-4628-90D2-4D11120AE82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B8F521-902D-4E52-BFF6-1666A3ABE02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602720-96B6-4DFB-BA75-EA4AFCFB1B7F}">
      <dgm:prSet/>
      <dgm:spPr/>
      <dgm:t>
        <a:bodyPr/>
        <a:lstStyle/>
        <a:p>
          <a:r>
            <a:rPr lang="en-US"/>
            <a:t>Baseball player’s smile intensity predicted how long he lived (Abel &amp; Kruger, 2010) N = 196</a:t>
          </a:r>
        </a:p>
      </dgm:t>
    </dgm:pt>
    <dgm:pt modelId="{E74A87BD-68DB-4797-88F2-17196AACD2AE}" type="parTrans" cxnId="{2E725C6C-A8F4-47E0-B414-98B73F9A6CCC}">
      <dgm:prSet/>
      <dgm:spPr/>
      <dgm:t>
        <a:bodyPr/>
        <a:lstStyle/>
        <a:p>
          <a:endParaRPr lang="en-US"/>
        </a:p>
      </dgm:t>
    </dgm:pt>
    <dgm:pt modelId="{8475B20E-897F-40AF-9809-9B175B1233C9}" type="sibTrans" cxnId="{2E725C6C-A8F4-47E0-B414-98B73F9A6CCC}">
      <dgm:prSet/>
      <dgm:spPr/>
      <dgm:t>
        <a:bodyPr/>
        <a:lstStyle/>
        <a:p>
          <a:endParaRPr lang="en-US"/>
        </a:p>
      </dgm:t>
    </dgm:pt>
    <dgm:pt modelId="{1A443CF2-272A-4169-BA49-B6E70F72F0C5}">
      <dgm:prSet/>
      <dgm:spPr/>
      <dgm:t>
        <a:bodyPr/>
        <a:lstStyle/>
        <a:p>
          <a:r>
            <a:rPr lang="en-US"/>
            <a:t>Accounting for year of birth, BMI, marital status, college attendance, and length of baseball career</a:t>
          </a:r>
        </a:p>
      </dgm:t>
    </dgm:pt>
    <dgm:pt modelId="{EA424EA3-FB9F-4FC5-93EA-947D085B2967}" type="parTrans" cxnId="{4FD33857-F85B-4C96-B980-D8B8A1DF2670}">
      <dgm:prSet/>
      <dgm:spPr/>
      <dgm:t>
        <a:bodyPr/>
        <a:lstStyle/>
        <a:p>
          <a:endParaRPr lang="en-US"/>
        </a:p>
      </dgm:t>
    </dgm:pt>
    <dgm:pt modelId="{88BA96C2-C1DD-4EC0-B1E1-0AC2B7D58F88}" type="sibTrans" cxnId="{4FD33857-F85B-4C96-B980-D8B8A1DF2670}">
      <dgm:prSet/>
      <dgm:spPr/>
      <dgm:t>
        <a:bodyPr/>
        <a:lstStyle/>
        <a:p>
          <a:endParaRPr lang="en-US"/>
        </a:p>
      </dgm:t>
    </dgm:pt>
    <dgm:pt modelId="{A7478F77-5541-4AB5-9B04-D7FFA19045AC}">
      <dgm:prSet/>
      <dgm:spPr/>
      <dgm:t>
        <a:bodyPr/>
        <a:lstStyle/>
        <a:p>
          <a:r>
            <a:rPr lang="en-US"/>
            <a:t>Not smiling = 72.9 years at death</a:t>
          </a:r>
        </a:p>
      </dgm:t>
    </dgm:pt>
    <dgm:pt modelId="{4CCB9C84-3556-485C-9D46-7ADD6B98B0E1}" type="parTrans" cxnId="{570429CF-868D-46E8-A106-5CA3AF78114D}">
      <dgm:prSet/>
      <dgm:spPr/>
      <dgm:t>
        <a:bodyPr/>
        <a:lstStyle/>
        <a:p>
          <a:endParaRPr lang="en-US"/>
        </a:p>
      </dgm:t>
    </dgm:pt>
    <dgm:pt modelId="{FD600C62-6188-49C4-827A-4F34D7FC0E88}" type="sibTrans" cxnId="{570429CF-868D-46E8-A106-5CA3AF78114D}">
      <dgm:prSet/>
      <dgm:spPr/>
      <dgm:t>
        <a:bodyPr/>
        <a:lstStyle/>
        <a:p>
          <a:endParaRPr lang="en-US"/>
        </a:p>
      </dgm:t>
    </dgm:pt>
    <dgm:pt modelId="{C16D89BE-2073-458B-A74B-8337ABC83F19}">
      <dgm:prSet/>
      <dgm:spPr/>
      <dgm:t>
        <a:bodyPr/>
        <a:lstStyle/>
        <a:p>
          <a:r>
            <a:rPr lang="en-US"/>
            <a:t>Partial smile = 75.0 years at death</a:t>
          </a:r>
        </a:p>
      </dgm:t>
    </dgm:pt>
    <dgm:pt modelId="{FA85E7D2-06C6-4FF4-AFA0-00D0EC0D5076}" type="parTrans" cxnId="{B65730AC-7A0A-458C-B838-AE9DBD6A7FE2}">
      <dgm:prSet/>
      <dgm:spPr/>
      <dgm:t>
        <a:bodyPr/>
        <a:lstStyle/>
        <a:p>
          <a:endParaRPr lang="en-US"/>
        </a:p>
      </dgm:t>
    </dgm:pt>
    <dgm:pt modelId="{5DF1D84A-B2AC-42C6-AFCD-A75B8148F97E}" type="sibTrans" cxnId="{B65730AC-7A0A-458C-B838-AE9DBD6A7FE2}">
      <dgm:prSet/>
      <dgm:spPr/>
      <dgm:t>
        <a:bodyPr/>
        <a:lstStyle/>
        <a:p>
          <a:endParaRPr lang="en-US"/>
        </a:p>
      </dgm:t>
    </dgm:pt>
    <dgm:pt modelId="{3E53738C-E649-4FEA-B9F6-6D81ECED6104}">
      <dgm:prSet/>
      <dgm:spPr/>
      <dgm:t>
        <a:bodyPr/>
        <a:lstStyle/>
        <a:p>
          <a:r>
            <a:rPr lang="en-US"/>
            <a:t>Duchenne = 79.9 years at death</a:t>
          </a:r>
        </a:p>
      </dgm:t>
    </dgm:pt>
    <dgm:pt modelId="{29578531-279F-4020-ABF7-952727E51E85}" type="parTrans" cxnId="{73F560F0-3BA3-42DE-A5D1-6C6ACD1BE30F}">
      <dgm:prSet/>
      <dgm:spPr/>
      <dgm:t>
        <a:bodyPr/>
        <a:lstStyle/>
        <a:p>
          <a:endParaRPr lang="en-US"/>
        </a:p>
      </dgm:t>
    </dgm:pt>
    <dgm:pt modelId="{905BB330-E49D-4D0A-BF81-A5B84C9CA72B}" type="sibTrans" cxnId="{73F560F0-3BA3-42DE-A5D1-6C6ACD1BE30F}">
      <dgm:prSet/>
      <dgm:spPr/>
      <dgm:t>
        <a:bodyPr/>
        <a:lstStyle/>
        <a:p>
          <a:endParaRPr lang="en-US"/>
        </a:p>
      </dgm:t>
    </dgm:pt>
    <dgm:pt modelId="{7E9A1B15-9F26-420C-9DB7-88ACE801F1C5}">
      <dgm:prSet/>
      <dgm:spPr/>
      <dgm:t>
        <a:bodyPr/>
        <a:lstStyle/>
        <a:p>
          <a:r>
            <a:rPr lang="en-US"/>
            <a:t>Researchers (N = 440) smiles in photos related to impact, but not quantity, of work (Kaczmarek et al., 2018)</a:t>
          </a:r>
        </a:p>
      </dgm:t>
    </dgm:pt>
    <dgm:pt modelId="{7D064D5B-8E51-48B0-8DB7-3F4845E6403B}" type="parTrans" cxnId="{67BDF53A-18EA-4552-A99A-60A0EA9E7521}">
      <dgm:prSet/>
      <dgm:spPr/>
      <dgm:t>
        <a:bodyPr/>
        <a:lstStyle/>
        <a:p>
          <a:endParaRPr lang="en-US"/>
        </a:p>
      </dgm:t>
    </dgm:pt>
    <dgm:pt modelId="{EB537009-06D5-4E88-9A58-D91E22AABFBD}" type="sibTrans" cxnId="{67BDF53A-18EA-4552-A99A-60A0EA9E7521}">
      <dgm:prSet/>
      <dgm:spPr/>
      <dgm:t>
        <a:bodyPr/>
        <a:lstStyle/>
        <a:p>
          <a:endParaRPr lang="en-US"/>
        </a:p>
      </dgm:t>
    </dgm:pt>
    <dgm:pt modelId="{1912675F-A567-4964-86B2-8014A8A7EFE2}" type="pres">
      <dgm:prSet presAssocID="{55B8F521-902D-4E52-BFF6-1666A3ABE027}" presName="linear" presStyleCnt="0">
        <dgm:presLayoutVars>
          <dgm:animLvl val="lvl"/>
          <dgm:resizeHandles val="exact"/>
        </dgm:presLayoutVars>
      </dgm:prSet>
      <dgm:spPr/>
    </dgm:pt>
    <dgm:pt modelId="{13248DD3-75C1-4142-9D5C-012DEA77E25B}" type="pres">
      <dgm:prSet presAssocID="{3B602720-96B6-4DFB-BA75-EA4AFCFB1B7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D5BC38-BA44-45F5-863F-38FCEC55EC08}" type="pres">
      <dgm:prSet presAssocID="{3B602720-96B6-4DFB-BA75-EA4AFCFB1B7F}" presName="childText" presStyleLbl="revTx" presStyleIdx="0" presStyleCnt="1">
        <dgm:presLayoutVars>
          <dgm:bulletEnabled val="1"/>
        </dgm:presLayoutVars>
      </dgm:prSet>
      <dgm:spPr/>
    </dgm:pt>
    <dgm:pt modelId="{B54E2C6A-5567-4082-A592-F0B30DAB3831}" type="pres">
      <dgm:prSet presAssocID="{7E9A1B15-9F26-420C-9DB7-88ACE801F1C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662A01E-F7A6-497B-94FB-05B4AA859E15}" type="presOf" srcId="{1A443CF2-272A-4169-BA49-B6E70F72F0C5}" destId="{3DD5BC38-BA44-45F5-863F-38FCEC55EC08}" srcOrd="0" destOrd="0" presId="urn:microsoft.com/office/officeart/2005/8/layout/vList2"/>
    <dgm:cxn modelId="{67BDF53A-18EA-4552-A99A-60A0EA9E7521}" srcId="{55B8F521-902D-4E52-BFF6-1666A3ABE027}" destId="{7E9A1B15-9F26-420C-9DB7-88ACE801F1C5}" srcOrd="1" destOrd="0" parTransId="{7D064D5B-8E51-48B0-8DB7-3F4845E6403B}" sibTransId="{EB537009-06D5-4E88-9A58-D91E22AABFBD}"/>
    <dgm:cxn modelId="{EDC5F647-2E1F-488A-994E-3B679D3F28A6}" type="presOf" srcId="{3B602720-96B6-4DFB-BA75-EA4AFCFB1B7F}" destId="{13248DD3-75C1-4142-9D5C-012DEA77E25B}" srcOrd="0" destOrd="0" presId="urn:microsoft.com/office/officeart/2005/8/layout/vList2"/>
    <dgm:cxn modelId="{CF457A6A-A1CF-4180-BDE1-D528B15ADADE}" type="presOf" srcId="{A7478F77-5541-4AB5-9B04-D7FFA19045AC}" destId="{3DD5BC38-BA44-45F5-863F-38FCEC55EC08}" srcOrd="0" destOrd="1" presId="urn:microsoft.com/office/officeart/2005/8/layout/vList2"/>
    <dgm:cxn modelId="{2E725C6C-A8F4-47E0-B414-98B73F9A6CCC}" srcId="{55B8F521-902D-4E52-BFF6-1666A3ABE027}" destId="{3B602720-96B6-4DFB-BA75-EA4AFCFB1B7F}" srcOrd="0" destOrd="0" parTransId="{E74A87BD-68DB-4797-88F2-17196AACD2AE}" sibTransId="{8475B20E-897F-40AF-9809-9B175B1233C9}"/>
    <dgm:cxn modelId="{F874EC50-EBE0-4CC7-A8B9-29394B26AB66}" type="presOf" srcId="{7E9A1B15-9F26-420C-9DB7-88ACE801F1C5}" destId="{B54E2C6A-5567-4082-A592-F0B30DAB3831}" srcOrd="0" destOrd="0" presId="urn:microsoft.com/office/officeart/2005/8/layout/vList2"/>
    <dgm:cxn modelId="{4FD33857-F85B-4C96-B980-D8B8A1DF2670}" srcId="{3B602720-96B6-4DFB-BA75-EA4AFCFB1B7F}" destId="{1A443CF2-272A-4169-BA49-B6E70F72F0C5}" srcOrd="0" destOrd="0" parTransId="{EA424EA3-FB9F-4FC5-93EA-947D085B2967}" sibTransId="{88BA96C2-C1DD-4EC0-B1E1-0AC2B7D58F88}"/>
    <dgm:cxn modelId="{888988A2-52D1-4988-ADB4-C97D92E3A438}" type="presOf" srcId="{C16D89BE-2073-458B-A74B-8337ABC83F19}" destId="{3DD5BC38-BA44-45F5-863F-38FCEC55EC08}" srcOrd="0" destOrd="2" presId="urn:microsoft.com/office/officeart/2005/8/layout/vList2"/>
    <dgm:cxn modelId="{B65730AC-7A0A-458C-B838-AE9DBD6A7FE2}" srcId="{3B602720-96B6-4DFB-BA75-EA4AFCFB1B7F}" destId="{C16D89BE-2073-458B-A74B-8337ABC83F19}" srcOrd="2" destOrd="0" parTransId="{FA85E7D2-06C6-4FF4-AFA0-00D0EC0D5076}" sibTransId="{5DF1D84A-B2AC-42C6-AFCD-A75B8148F97E}"/>
    <dgm:cxn modelId="{EEF66EAE-92DF-4ACC-A5D7-F945E6B744ED}" type="presOf" srcId="{55B8F521-902D-4E52-BFF6-1666A3ABE027}" destId="{1912675F-A567-4964-86B2-8014A8A7EFE2}" srcOrd="0" destOrd="0" presId="urn:microsoft.com/office/officeart/2005/8/layout/vList2"/>
    <dgm:cxn modelId="{570429CF-868D-46E8-A106-5CA3AF78114D}" srcId="{3B602720-96B6-4DFB-BA75-EA4AFCFB1B7F}" destId="{A7478F77-5541-4AB5-9B04-D7FFA19045AC}" srcOrd="1" destOrd="0" parTransId="{4CCB9C84-3556-485C-9D46-7ADD6B98B0E1}" sibTransId="{FD600C62-6188-49C4-827A-4F34D7FC0E88}"/>
    <dgm:cxn modelId="{73F560F0-3BA3-42DE-A5D1-6C6ACD1BE30F}" srcId="{3B602720-96B6-4DFB-BA75-EA4AFCFB1B7F}" destId="{3E53738C-E649-4FEA-B9F6-6D81ECED6104}" srcOrd="3" destOrd="0" parTransId="{29578531-279F-4020-ABF7-952727E51E85}" sibTransId="{905BB330-E49D-4D0A-BF81-A5B84C9CA72B}"/>
    <dgm:cxn modelId="{1559C9F3-A021-400F-A97F-46DE589A3A2F}" type="presOf" srcId="{3E53738C-E649-4FEA-B9F6-6D81ECED6104}" destId="{3DD5BC38-BA44-45F5-863F-38FCEC55EC08}" srcOrd="0" destOrd="3" presId="urn:microsoft.com/office/officeart/2005/8/layout/vList2"/>
    <dgm:cxn modelId="{8285E82F-6FB7-4F0F-AACD-0C7C2DDA5685}" type="presParOf" srcId="{1912675F-A567-4964-86B2-8014A8A7EFE2}" destId="{13248DD3-75C1-4142-9D5C-012DEA77E25B}" srcOrd="0" destOrd="0" presId="urn:microsoft.com/office/officeart/2005/8/layout/vList2"/>
    <dgm:cxn modelId="{31B6D5E6-2CE3-4981-BF22-32B6A22FA9B8}" type="presParOf" srcId="{1912675F-A567-4964-86B2-8014A8A7EFE2}" destId="{3DD5BC38-BA44-45F5-863F-38FCEC55EC08}" srcOrd="1" destOrd="0" presId="urn:microsoft.com/office/officeart/2005/8/layout/vList2"/>
    <dgm:cxn modelId="{982A4DE6-3FD4-4565-95ED-DD2BEA247D3A}" type="presParOf" srcId="{1912675F-A567-4964-86B2-8014A8A7EFE2}" destId="{B54E2C6A-5567-4082-A592-F0B30DAB383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470D1-EBCF-444B-851C-06BB0E98E550}">
      <dsp:nvSpPr>
        <dsp:cNvPr id="0" name=""/>
        <dsp:cNvSpPr/>
      </dsp:nvSpPr>
      <dsp:spPr>
        <a:xfrm>
          <a:off x="0" y="11256"/>
          <a:ext cx="4697730" cy="269644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Positive emotions related to survival and reproduction on a larger time scale</a:t>
          </a:r>
        </a:p>
      </dsp:txBody>
      <dsp:txXfrm>
        <a:off x="131630" y="142886"/>
        <a:ext cx="4434470" cy="2433187"/>
      </dsp:txXfrm>
    </dsp:sp>
    <dsp:sp modelId="{F17EF537-946F-4A92-8769-649734406ED9}">
      <dsp:nvSpPr>
        <dsp:cNvPr id="0" name=""/>
        <dsp:cNvSpPr/>
      </dsp:nvSpPr>
      <dsp:spPr>
        <a:xfrm>
          <a:off x="0" y="2796984"/>
          <a:ext cx="4697730" cy="2696447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Positive emotions </a:t>
          </a:r>
          <a:r>
            <a:rPr lang="en-US" sz="3100" kern="1200">
              <a:sym typeface="Wingdings" panose="05000000000000000000" pitchFamily="2" charset="2"/>
            </a:rPr>
            <a:t></a:t>
          </a:r>
          <a:r>
            <a:rPr lang="en-US" sz="3100" kern="1200"/>
            <a:t> expansive awareness </a:t>
          </a:r>
          <a:r>
            <a:rPr lang="en-US" sz="3100" kern="1200">
              <a:sym typeface="Wingdings" panose="05000000000000000000" pitchFamily="2" charset="2"/>
            </a:rPr>
            <a:t></a:t>
          </a:r>
          <a:r>
            <a:rPr lang="en-US" sz="3100" kern="1200"/>
            <a:t> building resources </a:t>
          </a:r>
          <a:r>
            <a:rPr lang="en-US" sz="3100" kern="1200">
              <a:sym typeface="Wingdings" panose="05000000000000000000" pitchFamily="2" charset="2"/>
            </a:rPr>
            <a:t></a:t>
          </a:r>
          <a:r>
            <a:rPr lang="en-US" sz="3100" kern="1200"/>
            <a:t> better equipped to handle later threats</a:t>
          </a:r>
        </a:p>
      </dsp:txBody>
      <dsp:txXfrm>
        <a:off x="131630" y="2928614"/>
        <a:ext cx="4434470" cy="2433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A8EB3-BD1C-41C8-AF07-6890B55110C0}">
      <dsp:nvSpPr>
        <dsp:cNvPr id="0" name=""/>
        <dsp:cNvSpPr/>
      </dsp:nvSpPr>
      <dsp:spPr>
        <a:xfrm>
          <a:off x="0" y="650886"/>
          <a:ext cx="4697730" cy="7945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Learning (Cognitive resources)</a:t>
          </a:r>
        </a:p>
      </dsp:txBody>
      <dsp:txXfrm>
        <a:off x="38784" y="689670"/>
        <a:ext cx="4620162" cy="716935"/>
      </dsp:txXfrm>
    </dsp:sp>
    <dsp:sp modelId="{58B74C62-4F6F-411E-BF79-A49E1B741C6A}">
      <dsp:nvSpPr>
        <dsp:cNvPr id="0" name=""/>
        <dsp:cNvSpPr/>
      </dsp:nvSpPr>
      <dsp:spPr>
        <a:xfrm>
          <a:off x="0" y="1502989"/>
          <a:ext cx="4697730" cy="794503"/>
        </a:xfrm>
        <a:prstGeom prst="roundRect">
          <a:avLst/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Relationships (Social resources)</a:t>
          </a:r>
        </a:p>
      </dsp:txBody>
      <dsp:txXfrm>
        <a:off x="38784" y="1541773"/>
        <a:ext cx="4620162" cy="716935"/>
      </dsp:txXfrm>
    </dsp:sp>
    <dsp:sp modelId="{F29DE416-95BF-47BF-B635-490900B40893}">
      <dsp:nvSpPr>
        <dsp:cNvPr id="0" name=""/>
        <dsp:cNvSpPr/>
      </dsp:nvSpPr>
      <dsp:spPr>
        <a:xfrm>
          <a:off x="0" y="2355092"/>
          <a:ext cx="4697730" cy="794503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Fighting and foraging skills, improving cardiovascular health (Physical resources)</a:t>
          </a:r>
        </a:p>
      </dsp:txBody>
      <dsp:txXfrm>
        <a:off x="38784" y="2393876"/>
        <a:ext cx="4620162" cy="716935"/>
      </dsp:txXfrm>
    </dsp:sp>
    <dsp:sp modelId="{F8170978-38A8-476B-A2BD-EE1B9BBAC2DF}">
      <dsp:nvSpPr>
        <dsp:cNvPr id="0" name=""/>
        <dsp:cNvSpPr/>
      </dsp:nvSpPr>
      <dsp:spPr>
        <a:xfrm>
          <a:off x="0" y="3207195"/>
          <a:ext cx="4697730" cy="794503"/>
        </a:xfrm>
        <a:prstGeom prst="roundRect">
          <a:avLst/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Other positive emotions like more hopeful and resilient (Psychological resources)</a:t>
          </a:r>
        </a:p>
      </dsp:txBody>
      <dsp:txXfrm>
        <a:off x="38784" y="3245979"/>
        <a:ext cx="4620162" cy="716935"/>
      </dsp:txXfrm>
    </dsp:sp>
    <dsp:sp modelId="{BF81BAAF-160F-40AD-B8EE-07FDDE405E82}">
      <dsp:nvSpPr>
        <dsp:cNvPr id="0" name=""/>
        <dsp:cNvSpPr/>
      </dsp:nvSpPr>
      <dsp:spPr>
        <a:xfrm>
          <a:off x="0" y="4059298"/>
          <a:ext cx="4697730" cy="794503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Neural growth (Neural resources)</a:t>
          </a:r>
        </a:p>
      </dsp:txBody>
      <dsp:txXfrm>
        <a:off x="38784" y="4098082"/>
        <a:ext cx="4620162" cy="716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5E438-F1DC-4AB3-8F51-27D5659AC66F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8F22B-BBD4-4C68-B881-7D01FEE2F5E2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Asked to write 2 to 3 page autobiographical sketch as part of vows</a:t>
          </a:r>
        </a:p>
      </dsp:txBody>
      <dsp:txXfrm>
        <a:off x="535720" y="939199"/>
        <a:ext cx="1653242" cy="1653242"/>
      </dsp:txXfrm>
    </dsp:sp>
    <dsp:sp modelId="{8A060540-5D69-44B3-9CD6-899B57936DCC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Nuns were about 22 years old on average</a:t>
          </a:r>
        </a:p>
      </dsp:txBody>
      <dsp:txXfrm>
        <a:off x="2508766" y="939199"/>
        <a:ext cx="1653242" cy="1653242"/>
      </dsp:txXfrm>
    </dsp:sp>
    <dsp:sp modelId="{56344A23-916A-4A3F-9426-0CEC1040E546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Coded with positive-, negative-, and neutral-emotion words and sentences</a:t>
          </a:r>
        </a:p>
      </dsp:txBody>
      <dsp:txXfrm>
        <a:off x="535720" y="2912245"/>
        <a:ext cx="1653242" cy="1653242"/>
      </dsp:txXfrm>
    </dsp:sp>
    <dsp:sp modelId="{77DD41A9-5CD8-4910-8433-11C88768FFAF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Very few had negative emotions</a:t>
          </a:r>
        </a:p>
      </dsp:txBody>
      <dsp:txXfrm>
        <a:off x="2508766" y="2912245"/>
        <a:ext cx="1653242" cy="16532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0CE6E-1FED-45EE-A1F9-96FB91804D99}">
      <dsp:nvSpPr>
        <dsp:cNvPr id="0" name=""/>
        <dsp:cNvSpPr/>
      </dsp:nvSpPr>
      <dsp:spPr>
        <a:xfrm>
          <a:off x="0" y="386423"/>
          <a:ext cx="4697730" cy="63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UK Million Women Study (Liu, Floud, Pirie, Green, Peto, &amp; Beral, 2015)</a:t>
          </a:r>
        </a:p>
      </dsp:txBody>
      <dsp:txXfrm>
        <a:off x="31070" y="417493"/>
        <a:ext cx="4635590" cy="574340"/>
      </dsp:txXfrm>
    </dsp:sp>
    <dsp:sp modelId="{BB7953B0-4F37-4C0E-A87E-60AB5EAE578E}">
      <dsp:nvSpPr>
        <dsp:cNvPr id="0" name=""/>
        <dsp:cNvSpPr/>
      </dsp:nvSpPr>
      <dsp:spPr>
        <a:xfrm>
          <a:off x="0" y="1068983"/>
          <a:ext cx="4697730" cy="636480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Women between 50 – 69 followed for ten years</a:t>
          </a:r>
        </a:p>
      </dsp:txBody>
      <dsp:txXfrm>
        <a:off x="31070" y="1100053"/>
        <a:ext cx="4635590" cy="574340"/>
      </dsp:txXfrm>
    </dsp:sp>
    <dsp:sp modelId="{7118FF6C-E1EB-4158-BC48-DC954E53CE3E}">
      <dsp:nvSpPr>
        <dsp:cNvPr id="0" name=""/>
        <dsp:cNvSpPr/>
      </dsp:nvSpPr>
      <dsp:spPr>
        <a:xfrm>
          <a:off x="0" y="1751543"/>
          <a:ext cx="4697730" cy="63648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39% happy most of the time</a:t>
          </a:r>
        </a:p>
      </dsp:txBody>
      <dsp:txXfrm>
        <a:off x="31070" y="1782613"/>
        <a:ext cx="4635590" cy="574340"/>
      </dsp:txXfrm>
    </dsp:sp>
    <dsp:sp modelId="{0CEA28CD-D9BE-4998-8331-71CFD867EE54}">
      <dsp:nvSpPr>
        <dsp:cNvPr id="0" name=""/>
        <dsp:cNvSpPr/>
      </dsp:nvSpPr>
      <dsp:spPr>
        <a:xfrm>
          <a:off x="0" y="2434103"/>
          <a:ext cx="4697730" cy="63648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44% usually happy</a:t>
          </a:r>
        </a:p>
      </dsp:txBody>
      <dsp:txXfrm>
        <a:off x="31070" y="2465173"/>
        <a:ext cx="4635590" cy="574340"/>
      </dsp:txXfrm>
    </dsp:sp>
    <dsp:sp modelId="{37EA114B-7F73-4954-ADA5-91BDE4340BB9}">
      <dsp:nvSpPr>
        <dsp:cNvPr id="0" name=""/>
        <dsp:cNvSpPr/>
      </dsp:nvSpPr>
      <dsp:spPr>
        <a:xfrm>
          <a:off x="0" y="3116663"/>
          <a:ext cx="4697730" cy="63648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17% unhappy</a:t>
          </a:r>
        </a:p>
      </dsp:txBody>
      <dsp:txXfrm>
        <a:off x="31070" y="3147733"/>
        <a:ext cx="4635590" cy="574340"/>
      </dsp:txXfrm>
    </dsp:sp>
    <dsp:sp modelId="{F2817B36-2AA4-4F6B-A3DA-CCC6856E2612}">
      <dsp:nvSpPr>
        <dsp:cNvPr id="0" name=""/>
        <dsp:cNvSpPr/>
      </dsp:nvSpPr>
      <dsp:spPr>
        <a:xfrm>
          <a:off x="0" y="3799224"/>
          <a:ext cx="4697730" cy="636480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Unhappy group had higher rates of mortality</a:t>
          </a:r>
        </a:p>
      </dsp:txBody>
      <dsp:txXfrm>
        <a:off x="31070" y="3830294"/>
        <a:ext cx="4635590" cy="574340"/>
      </dsp:txXfrm>
    </dsp:sp>
    <dsp:sp modelId="{E765AB5D-4AEE-4A87-B76F-F5421B223501}">
      <dsp:nvSpPr>
        <dsp:cNvPr id="0" name=""/>
        <dsp:cNvSpPr/>
      </dsp:nvSpPr>
      <dsp:spPr>
        <a:xfrm>
          <a:off x="0" y="4481784"/>
          <a:ext cx="4697730" cy="636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When accounting for self-rated health, demographic and lifestyle factors, relationship went away </a:t>
          </a:r>
        </a:p>
      </dsp:txBody>
      <dsp:txXfrm>
        <a:off x="31070" y="4512854"/>
        <a:ext cx="4635590" cy="5743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303788-49F6-4D7F-B9B4-DEF574DCA94E}">
      <dsp:nvSpPr>
        <dsp:cNvPr id="0" name=""/>
        <dsp:cNvSpPr/>
      </dsp:nvSpPr>
      <dsp:spPr>
        <a:xfrm>
          <a:off x="0" y="113482"/>
          <a:ext cx="4697730" cy="162973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Not all positive affect is created equally</a:t>
          </a:r>
        </a:p>
      </dsp:txBody>
      <dsp:txXfrm>
        <a:off x="79557" y="193039"/>
        <a:ext cx="4538616" cy="1470622"/>
      </dsp:txXfrm>
    </dsp:sp>
    <dsp:sp modelId="{569762BB-D094-4A41-8B90-45A0AD91F46D}">
      <dsp:nvSpPr>
        <dsp:cNvPr id="0" name=""/>
        <dsp:cNvSpPr/>
      </dsp:nvSpPr>
      <dsp:spPr>
        <a:xfrm>
          <a:off x="0" y="1809459"/>
          <a:ext cx="4697730" cy="162973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Relation between positive affect and mortality is particularly strong when considering “active” positive affect (“I felt active.” Petrie et al. 2017)</a:t>
          </a:r>
        </a:p>
      </dsp:txBody>
      <dsp:txXfrm>
        <a:off x="79557" y="1889016"/>
        <a:ext cx="4538616" cy="1470622"/>
      </dsp:txXfrm>
    </dsp:sp>
    <dsp:sp modelId="{1F9EBCB0-DEE3-43D6-8FC4-CF4C5FDE7812}">
      <dsp:nvSpPr>
        <dsp:cNvPr id="0" name=""/>
        <dsp:cNvSpPr/>
      </dsp:nvSpPr>
      <dsp:spPr>
        <a:xfrm>
          <a:off x="0" y="3439195"/>
          <a:ext cx="4697730" cy="19520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Relation between PANAS and mortality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Including age, gender, education, relationship status, smoking, exercise, alcohol consumption, BMI, blood pressure, stroke, diabetes, myocardial infarction in model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I felt active – strongest effect</a:t>
          </a:r>
        </a:p>
      </dsp:txBody>
      <dsp:txXfrm>
        <a:off x="0" y="3439195"/>
        <a:ext cx="4697730" cy="19520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15944-1C0E-40C8-8BB0-1DB36F9A82BA}">
      <dsp:nvSpPr>
        <dsp:cNvPr id="0" name=""/>
        <dsp:cNvSpPr/>
      </dsp:nvSpPr>
      <dsp:spPr>
        <a:xfrm>
          <a:off x="0" y="418056"/>
          <a:ext cx="4697730" cy="9931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Harker &amp; Keltner (2001)</a:t>
          </a:r>
        </a:p>
      </dsp:txBody>
      <dsp:txXfrm>
        <a:off x="48481" y="466537"/>
        <a:ext cx="4600768" cy="896166"/>
      </dsp:txXfrm>
    </dsp:sp>
    <dsp:sp modelId="{743AFB11-0443-4D05-B6ED-D0D2DC9FB575}">
      <dsp:nvSpPr>
        <dsp:cNvPr id="0" name=""/>
        <dsp:cNvSpPr/>
      </dsp:nvSpPr>
      <dsp:spPr>
        <a:xfrm>
          <a:off x="0" y="1483185"/>
          <a:ext cx="4697730" cy="993128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1958 and 1960 yearbook pictures</a:t>
          </a:r>
        </a:p>
      </dsp:txBody>
      <dsp:txXfrm>
        <a:off x="48481" y="1531666"/>
        <a:ext cx="4600768" cy="896166"/>
      </dsp:txXfrm>
    </dsp:sp>
    <dsp:sp modelId="{3E319009-FB9E-4B37-9378-9CA1029A31E7}">
      <dsp:nvSpPr>
        <dsp:cNvPr id="0" name=""/>
        <dsp:cNvSpPr/>
      </dsp:nvSpPr>
      <dsp:spPr>
        <a:xfrm>
          <a:off x="0" y="2476314"/>
          <a:ext cx="4697730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All but three women were smiling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Average Duchenne level on 10-point scale = 3.8</a:t>
          </a:r>
        </a:p>
      </dsp:txBody>
      <dsp:txXfrm>
        <a:off x="0" y="2476314"/>
        <a:ext cx="4697730" cy="983250"/>
      </dsp:txXfrm>
    </dsp:sp>
    <dsp:sp modelId="{01C99A0B-49F8-416B-B943-E2C0DA2FCC07}">
      <dsp:nvSpPr>
        <dsp:cNvPr id="0" name=""/>
        <dsp:cNvSpPr/>
      </dsp:nvSpPr>
      <dsp:spPr>
        <a:xfrm>
          <a:off x="0" y="3459564"/>
          <a:ext cx="4697730" cy="993128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Duchenne level predicted marital status and happiness in marriages</a:t>
          </a:r>
        </a:p>
      </dsp:txBody>
      <dsp:txXfrm>
        <a:off x="48481" y="3508045"/>
        <a:ext cx="4600768" cy="896166"/>
      </dsp:txXfrm>
    </dsp:sp>
    <dsp:sp modelId="{FD2037FD-33B5-4628-90D2-4D11120AE827}">
      <dsp:nvSpPr>
        <dsp:cNvPr id="0" name=""/>
        <dsp:cNvSpPr/>
      </dsp:nvSpPr>
      <dsp:spPr>
        <a:xfrm>
          <a:off x="0" y="4452693"/>
          <a:ext cx="4697730" cy="633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Attractiveness did not predict satisfying relationship</a:t>
          </a:r>
        </a:p>
      </dsp:txBody>
      <dsp:txXfrm>
        <a:off x="0" y="4452693"/>
        <a:ext cx="4697730" cy="6339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48DD3-75C1-4142-9D5C-012DEA77E25B}">
      <dsp:nvSpPr>
        <dsp:cNvPr id="0" name=""/>
        <dsp:cNvSpPr/>
      </dsp:nvSpPr>
      <dsp:spPr>
        <a:xfrm>
          <a:off x="0" y="7695"/>
          <a:ext cx="4697730" cy="176139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Baseball player’s smile intensity predicted how long he lived (Abel &amp; Kruger, 2010) N = 196</a:t>
          </a:r>
        </a:p>
      </dsp:txBody>
      <dsp:txXfrm>
        <a:off x="85984" y="93679"/>
        <a:ext cx="4525762" cy="1589430"/>
      </dsp:txXfrm>
    </dsp:sp>
    <dsp:sp modelId="{3DD5BC38-BA44-45F5-863F-38FCEC55EC08}">
      <dsp:nvSpPr>
        <dsp:cNvPr id="0" name=""/>
        <dsp:cNvSpPr/>
      </dsp:nvSpPr>
      <dsp:spPr>
        <a:xfrm>
          <a:off x="0" y="1769093"/>
          <a:ext cx="4697730" cy="1966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Accounting for year of birth, BMI, marital status, college attendance, and length of baseball career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Not smiling = 72.9 years at death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Partial smile = 75.0 years at death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Duchenne = 79.9 years at death</a:t>
          </a:r>
        </a:p>
      </dsp:txBody>
      <dsp:txXfrm>
        <a:off x="0" y="1769093"/>
        <a:ext cx="4697730" cy="1966500"/>
      </dsp:txXfrm>
    </dsp:sp>
    <dsp:sp modelId="{B54E2C6A-5567-4082-A592-F0B30DAB3831}">
      <dsp:nvSpPr>
        <dsp:cNvPr id="0" name=""/>
        <dsp:cNvSpPr/>
      </dsp:nvSpPr>
      <dsp:spPr>
        <a:xfrm>
          <a:off x="0" y="3735594"/>
          <a:ext cx="4697730" cy="1761398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Researchers (N = 440) smiles in photos related to impact, but not quantity, of work (Kaczmarek et al., 2018)</a:t>
          </a:r>
        </a:p>
      </dsp:txBody>
      <dsp:txXfrm>
        <a:off x="85984" y="3821578"/>
        <a:ext cx="4525762" cy="1589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F72A1B-196A-4155-8397-EF46A3A2FFBA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B57E6-BB92-47A0-B1B1-ED183A0B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9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69A6D-8697-4D2F-B6E0-21678FE988F9}" type="datetimeFigureOut">
              <a:rPr lang="en-US" smtClean="0"/>
              <a:t>9/15/2024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5EBDA-FB43-46D3-ADD5-6E5F4CE48D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7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F63BD6-2088-4C06-BAAB-100024DB8FF0}" type="slidenum">
              <a:rPr lang="en-US"/>
              <a:pPr/>
              <a:t>8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When we experience a negative emotion, our response options narrow and we act with haste to avoid danger</a:t>
            </a:r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Positive emotions signal safety and our response is to broaden our response repertoire and build on them  </a:t>
            </a:r>
            <a:r>
              <a:rPr lang="en-US" sz="800" b="1" dirty="0"/>
              <a:t>**It’s a Wonderful Life Clip of running through the streets**</a:t>
            </a:r>
            <a:endParaRPr lang="en-US" sz="800" dirty="0"/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Perhaps it is evolutionarily advantageous to experience positive emotions because they lead us to engage in activities that add to our behavioral and cognitive repertoires</a:t>
            </a:r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In laboratory, participants induced to experience positive emotions showed broader attention, greater working memory, enhanced verbal fluency, and increased openness to information</a:t>
            </a:r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Fredrickson and </a:t>
            </a:r>
            <a:r>
              <a:rPr lang="en-US" sz="800" dirty="0" err="1"/>
              <a:t>Branigan</a:t>
            </a:r>
            <a:r>
              <a:rPr lang="en-US" sz="800" dirty="0"/>
              <a:t> showed college students clips to induce amusement, contentment, anger, or anxiety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Tested with a global-local visual processing task which required them to match abstract stimuli with one another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The could attend to local (small) features or global (large) features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Induction of positive emotions resulted in more attention to broader (more global) details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Second study with same induction, participants induced with positive emotions answered more diversely in response to a 20-questions task</a:t>
            </a:r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Positive emotions can “un-do” the physiological effects of negative emotions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Participants told to prepare a 1-minute speech on “why you are a good friend” that would be videotaped and rated by peers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Hooked up to physiological measurement to record heart rate, blood pressure, and peripheral vasoconstriction – indices of anxiety and sympathetic nervous system arousal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Following the preparation time, participants saw one of four different film clips: joy, contentment, sadness, emotionally neutral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None of the films had any effect on sympathetic arousal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But individuals who saw the positive film (joy or contentment) retuned to normal more quickly than other participants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The positive emotions “undid” the anxiety that had been induced by the experiment</a:t>
            </a:r>
          </a:p>
          <a:p>
            <a:pPr marL="1619250" lvl="3" indent="-247650">
              <a:lnSpc>
                <a:spcPct val="80000"/>
              </a:lnSpc>
            </a:pPr>
            <a:r>
              <a:rPr lang="en-US" sz="800" dirty="0"/>
              <a:t>Replicated with viewing a fear-inducing film and then one of these other films</a:t>
            </a:r>
          </a:p>
          <a:p>
            <a:pPr marL="1162050" lvl="2" indent="-247650">
              <a:lnSpc>
                <a:spcPct val="80000"/>
              </a:lnSpc>
            </a:pPr>
            <a:r>
              <a:rPr lang="en-US" sz="800" dirty="0"/>
              <a:t>Freud postulated that people use humor in dire situations to bolster their spirits – gallows humor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1179-5FA8-4987-885C-C79961496FE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8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emotions – immediate consequences; Positive emotions 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1179-5FA8-4987-885C-C79961496FE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36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health, longevity,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1179-5FA8-4987-885C-C79961496FE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33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0E270E-A5D1-48AB-9D65-2CFB711D69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03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Nasal</a:t>
            </a:r>
            <a:r>
              <a:rPr lang="en-US" baseline="0" dirty="0"/>
              <a:t> spray of rhinovirus or influenza…more positive emotions reported were related to lower occurrence of common cold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0A1179-5FA8-4987-885C-C79961496FE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Bhutan – Gross National Happiness, proposed World Happiness Day – March 20</a:t>
            </a:r>
          </a:p>
          <a:p>
            <a:endParaRPr lang="en-US" dirty="0"/>
          </a:p>
          <a:p>
            <a:r>
              <a:rPr lang="en-US" dirty="0"/>
              <a:t>US – 19</a:t>
            </a:r>
            <a:r>
              <a:rPr lang="en-US" baseline="30000" dirty="0"/>
              <a:t>th</a:t>
            </a:r>
            <a:r>
              <a:rPr lang="en-US" dirty="0"/>
              <a:t>; 14</a:t>
            </a:r>
            <a:r>
              <a:rPr lang="en-US" baseline="30000" dirty="0"/>
              <a:t>th</a:t>
            </a:r>
            <a:r>
              <a:rPr lang="en-US" dirty="0"/>
              <a:t> in 2017</a:t>
            </a:r>
          </a:p>
          <a:p>
            <a:endParaRPr lang="en-US" dirty="0"/>
          </a:p>
          <a:p>
            <a:r>
              <a:rPr lang="en-US" dirty="0"/>
              <a:t>Finland jumped</a:t>
            </a:r>
            <a:r>
              <a:rPr lang="en-US" baseline="0" dirty="0"/>
              <a:t> from 5</a:t>
            </a:r>
            <a:r>
              <a:rPr lang="en-US" baseline="30000" dirty="0"/>
              <a:t>th</a:t>
            </a:r>
            <a:r>
              <a:rPr lang="en-US" baseline="0" dirty="0"/>
              <a:t> to 1</a:t>
            </a:r>
            <a:r>
              <a:rPr lang="en-US" baseline="30000" dirty="0"/>
              <a:t>st</a:t>
            </a:r>
            <a:r>
              <a:rPr lang="en-US" baseline="0" dirty="0"/>
              <a:t> place from 2017 – 2018</a:t>
            </a:r>
          </a:p>
          <a:p>
            <a:endParaRPr lang="en-US" baseline="0" dirty="0"/>
          </a:p>
          <a:p>
            <a:r>
              <a:rPr lang="en-US" baseline="0" dirty="0"/>
              <a:t>Caring, freedom, generosity, honesty, health, income, and good governance</a:t>
            </a:r>
          </a:p>
          <a:p>
            <a:r>
              <a:rPr lang="en-US" baseline="0" dirty="0"/>
              <a:t>PA predicted by: social support, freedom to make like choices, generosity, </a:t>
            </a:r>
          </a:p>
          <a:p>
            <a:r>
              <a:rPr lang="en-US" baseline="0" dirty="0"/>
              <a:t>NA predicted by: social support, freedom to make life choices, perceptions of corruption</a:t>
            </a:r>
          </a:p>
          <a:p>
            <a:r>
              <a:rPr lang="en-US" baseline="0" dirty="0"/>
              <a:t>Neither predicted by health life expectancy at birth or GDP per capita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0E270E-A5D1-48AB-9D65-2CFB711D696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74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34381"/>
            <a:ext cx="7886700" cy="2852737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87118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4166100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51713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8360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02155" y="6447131"/>
            <a:ext cx="5139690" cy="276999"/>
          </a:xfrm>
        </p:spPr>
        <p:txBody>
          <a:bodyPr/>
          <a:lstStyle/>
          <a:p>
            <a:r>
              <a:rPr lang="en-US" dirty="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70656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37"/>
          <a:stretch/>
        </p:blipFill>
        <p:spPr>
          <a:xfrm>
            <a:off x="-12767" y="6322425"/>
            <a:ext cx="9156768" cy="53557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2155" y="6451713"/>
            <a:ext cx="5139690" cy="276999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The Science of Positive Psychology © Cambridge University Press 2021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9" y="6403081"/>
            <a:ext cx="1932486" cy="4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21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57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IkMHZ7mchVo" TargetMode="External"/><Relationship Id="rId4" Type="http://schemas.openxmlformats.org/officeDocument/2006/relationships/hyperlink" Target="https://www.youtube.com/watch?v=IkMHZ7mchVo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NSH9k99M31Y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etherlands" TargetMode="External"/><Relationship Id="rId3" Type="http://schemas.openxmlformats.org/officeDocument/2006/relationships/hyperlink" Target="https://en.wikipedia.org/wiki/Finland" TargetMode="External"/><Relationship Id="rId7" Type="http://schemas.openxmlformats.org/officeDocument/2006/relationships/hyperlink" Target="https://en.wikipedia.org/wiki/Israe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n.wikipedia.org/wiki/Sweden" TargetMode="External"/><Relationship Id="rId11" Type="http://schemas.openxmlformats.org/officeDocument/2006/relationships/hyperlink" Target="https://en.wikipedia.org/wiki/Switzerland" TargetMode="External"/><Relationship Id="rId5" Type="http://schemas.openxmlformats.org/officeDocument/2006/relationships/hyperlink" Target="https://en.wikipedia.org/wiki/Iceland" TargetMode="External"/><Relationship Id="rId10" Type="http://schemas.openxmlformats.org/officeDocument/2006/relationships/hyperlink" Target="https://en.wikipedia.org/wiki/Luxembourg" TargetMode="External"/><Relationship Id="rId4" Type="http://schemas.openxmlformats.org/officeDocument/2006/relationships/hyperlink" Target="https://en.wikipedia.org/wiki/Denmark" TargetMode="External"/><Relationship Id="rId9" Type="http://schemas.openxmlformats.org/officeDocument/2006/relationships/hyperlink" Target="https://en.wikipedia.org/wiki/Norway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positivityratio.co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581" y="921715"/>
            <a:ext cx="3872267" cy="26359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Chapter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581" y="4541263"/>
            <a:ext cx="3497218" cy="139502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Positive Emotional Experiences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 rot="5400000">
            <a:off x="-1215939" y="1794989"/>
            <a:ext cx="2774778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The Science and Application of Positive Psychology </a:t>
            </a:r>
            <a:b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rPr>
              <a:t>© Cambridge University Press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F850F4-AF39-4E21-85A0-D6BBDEAC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30" y="1346514"/>
            <a:ext cx="3872266" cy="378697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2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099" y="2501548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If you could take a pill that made you happy all the time, would you take it?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-1371600" y="2002536"/>
            <a:ext cx="3086100" cy="3657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1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719344"/>
            <a:ext cx="5419311" cy="54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9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600" y="965137"/>
            <a:ext cx="8178799" cy="492772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89069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pPr algn="ctr"/>
            <a:r>
              <a:rPr lang="en-US" sz="3100" dirty="0"/>
              <a:t>Why do positive emotions matter?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6" b="14877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It feels good to experience positive emotions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Positive emotions shape our personalities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Most people say happiness is important to them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Positive emotions are related to good outcomes</a:t>
            </a:r>
          </a:p>
          <a:p>
            <a:pPr lvl="1"/>
            <a:r>
              <a:rPr lang="en-US" sz="1800" dirty="0"/>
              <a:t>Longevity</a:t>
            </a:r>
          </a:p>
          <a:p>
            <a:pPr lvl="1"/>
            <a:r>
              <a:rPr lang="en-US" sz="1800" dirty="0"/>
              <a:t>Physical health</a:t>
            </a:r>
          </a:p>
          <a:p>
            <a:pPr lvl="1"/>
            <a:r>
              <a:rPr lang="en-US" sz="1800" dirty="0"/>
              <a:t>Social relationships</a:t>
            </a:r>
          </a:p>
          <a:p>
            <a:pPr lvl="1"/>
            <a:r>
              <a:rPr lang="en-US" sz="1800" dirty="0"/>
              <a:t>Cognitive outcomes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51950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Why do positive emotions matter?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-1371600" y="1984248"/>
            <a:ext cx="3086100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rgbClr val="FFFFFF"/>
                </a:solidFill>
              </a:rPr>
              <a:t>The Science of Positive Psychology © Cambridge University Press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en-US" sz="2400" b="1" dirty="0"/>
              <a:t>Alice </a:t>
            </a:r>
            <a:r>
              <a:rPr lang="en-US" altLang="en-US" sz="2400" b="1" dirty="0" err="1"/>
              <a:t>Isen</a:t>
            </a:r>
            <a:r>
              <a:rPr lang="en-US" altLang="en-US" sz="2400" b="1" dirty="0"/>
              <a:t>, </a:t>
            </a:r>
            <a:r>
              <a:rPr lang="en-US" altLang="en-US" sz="2400" dirty="0"/>
              <a:t>Cornell University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400" dirty="0"/>
          </a:p>
          <a:p>
            <a:pPr marL="457200" lvl="1" indent="0">
              <a:buNone/>
            </a:pPr>
            <a:r>
              <a:rPr lang="en-US" altLang="en-US" dirty="0"/>
              <a:t>When experiencing mild positive emotions, people are more likely to:</a:t>
            </a:r>
          </a:p>
          <a:p>
            <a:pPr lvl="1"/>
            <a:r>
              <a:rPr lang="en-US" altLang="en-US" dirty="0"/>
              <a:t>help others</a:t>
            </a:r>
          </a:p>
          <a:p>
            <a:pPr lvl="1"/>
            <a:r>
              <a:rPr lang="en-US" altLang="en-US" dirty="0"/>
              <a:t>be flexible in their thinking</a:t>
            </a:r>
          </a:p>
          <a:p>
            <a:pPr lvl="1"/>
            <a:r>
              <a:rPr lang="en-US" altLang="en-US" dirty="0"/>
              <a:t>better problem-solve</a:t>
            </a:r>
          </a:p>
          <a:p>
            <a:pPr lvl="1"/>
            <a:r>
              <a:rPr lang="en-US" altLang="en-US" dirty="0"/>
              <a:t>more willing to exhibit self-control</a:t>
            </a:r>
          </a:p>
        </p:txBody>
      </p:sp>
    </p:spTree>
    <p:extLst>
      <p:ext uri="{BB962C8B-B14F-4D97-AF65-F5344CB8AC3E}">
        <p14:creationId xmlns:p14="http://schemas.microsoft.com/office/powerpoint/2010/main" val="19288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Why do positive emotions matter?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2590" b="23253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en-US" sz="2400" b="1" dirty="0"/>
              <a:t>When experiencing positive affective experiences, we tend to engage in more </a:t>
            </a:r>
            <a:r>
              <a:rPr lang="en-US" altLang="en-US" sz="2400" b="1" i="1" dirty="0"/>
              <a:t>approach oriented </a:t>
            </a:r>
            <a:r>
              <a:rPr lang="en-US" altLang="en-US" sz="2400" b="1" dirty="0"/>
              <a:t>behaviors, and when experiencing negative affective experiences, we tend to engage in more </a:t>
            </a:r>
            <a:r>
              <a:rPr lang="en-US" altLang="en-US" sz="2400" b="1" i="1" dirty="0"/>
              <a:t>avoidance</a:t>
            </a:r>
            <a:r>
              <a:rPr lang="en-US" altLang="en-US" sz="2400" b="1" dirty="0"/>
              <a:t> behaviors</a:t>
            </a:r>
            <a:endParaRPr lang="en-US" alt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06862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2810" y="640080"/>
            <a:ext cx="356884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/>
              <a:t>Broaden and Build Theory of Positive Emotions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2809" y="4636008"/>
            <a:ext cx="3568844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/>
              <a:t>Barbara Fredrickson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D1CF47-5BD4-93E8-483D-886CE006B3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57" r="18643"/>
          <a:stretch/>
        </p:blipFill>
        <p:spPr>
          <a:xfrm>
            <a:off x="20" y="10"/>
            <a:ext cx="4581100" cy="6857990"/>
          </a:xfrm>
          <a:custGeom>
            <a:avLst/>
            <a:gdLst/>
            <a:ahLst/>
            <a:cxnLst/>
            <a:rect l="l" t="t" r="r" b="b"/>
            <a:pathLst>
              <a:path w="6108161" h="6858000">
                <a:moveTo>
                  <a:pt x="0" y="0"/>
                </a:moveTo>
                <a:lnTo>
                  <a:pt x="2058355" y="0"/>
                </a:lnTo>
                <a:lnTo>
                  <a:pt x="3299791" y="0"/>
                </a:lnTo>
                <a:lnTo>
                  <a:pt x="6076880" y="0"/>
                </a:lnTo>
                <a:lnTo>
                  <a:pt x="6078171" y="10931"/>
                </a:lnTo>
                <a:cubicBezTo>
                  <a:pt x="6093300" y="94836"/>
                  <a:pt x="6090630" y="179884"/>
                  <a:pt x="6094698" y="264297"/>
                </a:cubicBezTo>
                <a:cubicBezTo>
                  <a:pt x="6099656" y="367652"/>
                  <a:pt x="6093427" y="471135"/>
                  <a:pt x="6091266" y="574617"/>
                </a:cubicBezTo>
                <a:cubicBezTo>
                  <a:pt x="6089359" y="662717"/>
                  <a:pt x="6080587" y="750690"/>
                  <a:pt x="6083384" y="838916"/>
                </a:cubicBezTo>
                <a:cubicBezTo>
                  <a:pt x="6083384" y="841968"/>
                  <a:pt x="6083384" y="845019"/>
                  <a:pt x="6083384" y="848070"/>
                </a:cubicBezTo>
                <a:cubicBezTo>
                  <a:pt x="6075375" y="945068"/>
                  <a:pt x="6075375" y="1042576"/>
                  <a:pt x="6083384" y="1139574"/>
                </a:cubicBezTo>
                <a:cubicBezTo>
                  <a:pt x="6085964" y="1179950"/>
                  <a:pt x="6085240" y="1220466"/>
                  <a:pt x="6081223" y="1260728"/>
                </a:cubicBezTo>
                <a:cubicBezTo>
                  <a:pt x="6077409" y="1311960"/>
                  <a:pt x="6065204" y="1364083"/>
                  <a:pt x="6073976" y="1414934"/>
                </a:cubicBezTo>
                <a:cubicBezTo>
                  <a:pt x="6079722" y="1456784"/>
                  <a:pt x="6082913" y="1498940"/>
                  <a:pt x="6083511" y="1541172"/>
                </a:cubicBezTo>
                <a:cubicBezTo>
                  <a:pt x="6087833" y="1635755"/>
                  <a:pt x="6083638" y="1730847"/>
                  <a:pt x="6082112" y="1825685"/>
                </a:cubicBezTo>
                <a:cubicBezTo>
                  <a:pt x="6080205" y="1936286"/>
                  <a:pt x="6083002" y="2046634"/>
                  <a:pt x="6074103" y="2157235"/>
                </a:cubicBezTo>
                <a:cubicBezTo>
                  <a:pt x="6069145" y="2246581"/>
                  <a:pt x="6069145" y="2336130"/>
                  <a:pt x="6074103" y="2425476"/>
                </a:cubicBezTo>
                <a:cubicBezTo>
                  <a:pt x="6076519" y="2507473"/>
                  <a:pt x="6088850" y="2588454"/>
                  <a:pt x="6086816" y="2671214"/>
                </a:cubicBezTo>
                <a:cubicBezTo>
                  <a:pt x="6084401" y="2767832"/>
                  <a:pt x="6072959" y="2863940"/>
                  <a:pt x="6076519" y="2960685"/>
                </a:cubicBezTo>
                <a:cubicBezTo>
                  <a:pt x="6078171" y="3006832"/>
                  <a:pt x="6078299" y="3052980"/>
                  <a:pt x="6079316" y="3099127"/>
                </a:cubicBezTo>
                <a:cubicBezTo>
                  <a:pt x="6080333" y="3154682"/>
                  <a:pt x="6090376" y="3210110"/>
                  <a:pt x="6084782" y="3265665"/>
                </a:cubicBezTo>
                <a:cubicBezTo>
                  <a:pt x="6075502" y="3358087"/>
                  <a:pt x="6051475" y="3448857"/>
                  <a:pt x="6066476" y="3543567"/>
                </a:cubicBezTo>
                <a:cubicBezTo>
                  <a:pt x="6074739" y="3595690"/>
                  <a:pt x="6084146" y="3647940"/>
                  <a:pt x="6088850" y="3700571"/>
                </a:cubicBezTo>
                <a:cubicBezTo>
                  <a:pt x="6093045" y="3747608"/>
                  <a:pt x="6103724" y="3795408"/>
                  <a:pt x="6095588" y="3842191"/>
                </a:cubicBezTo>
                <a:cubicBezTo>
                  <a:pt x="6088723" y="3882237"/>
                  <a:pt x="6092410" y="3922282"/>
                  <a:pt x="6087070" y="3962327"/>
                </a:cubicBezTo>
                <a:cubicBezTo>
                  <a:pt x="6080078" y="4014831"/>
                  <a:pt x="6076265" y="4068352"/>
                  <a:pt x="6071052" y="4121111"/>
                </a:cubicBezTo>
                <a:cubicBezTo>
                  <a:pt x="6066221" y="4169038"/>
                  <a:pt x="6062662" y="4216838"/>
                  <a:pt x="6075375" y="4261841"/>
                </a:cubicBezTo>
                <a:cubicBezTo>
                  <a:pt x="6106394" y="4375112"/>
                  <a:pt x="6089359" y="4487748"/>
                  <a:pt x="6077663" y="4600257"/>
                </a:cubicBezTo>
                <a:cubicBezTo>
                  <a:pt x="6071942" y="4655049"/>
                  <a:pt x="6063552" y="4712765"/>
                  <a:pt x="6076265" y="4762853"/>
                </a:cubicBezTo>
                <a:cubicBezTo>
                  <a:pt x="6099783" y="4851716"/>
                  <a:pt x="6081350" y="4936764"/>
                  <a:pt x="6071179" y="5021432"/>
                </a:cubicBezTo>
                <a:cubicBezTo>
                  <a:pt x="6061009" y="5106099"/>
                  <a:pt x="6058594" y="5189495"/>
                  <a:pt x="6076392" y="5272637"/>
                </a:cubicBezTo>
                <a:cubicBezTo>
                  <a:pt x="6088850" y="5331116"/>
                  <a:pt x="6088850" y="5390612"/>
                  <a:pt x="6090376" y="5449600"/>
                </a:cubicBezTo>
                <a:cubicBezTo>
                  <a:pt x="6091266" y="5486339"/>
                  <a:pt x="6077663" y="5523842"/>
                  <a:pt x="6068637" y="5560582"/>
                </a:cubicBezTo>
                <a:cubicBezTo>
                  <a:pt x="6052364" y="5626943"/>
                  <a:pt x="6046517" y="5694321"/>
                  <a:pt x="6068637" y="5759029"/>
                </a:cubicBezTo>
                <a:cubicBezTo>
                  <a:pt x="6099148" y="5848655"/>
                  <a:pt x="6116691" y="5938407"/>
                  <a:pt x="6103978" y="6033117"/>
                </a:cubicBezTo>
                <a:cubicBezTo>
                  <a:pt x="6096732" y="6091724"/>
                  <a:pt x="6094952" y="6151347"/>
                  <a:pt x="6084019" y="6209190"/>
                </a:cubicBezTo>
                <a:cubicBezTo>
                  <a:pt x="6065713" y="6304790"/>
                  <a:pt x="6072196" y="6399882"/>
                  <a:pt x="6086816" y="6494211"/>
                </a:cubicBezTo>
                <a:cubicBezTo>
                  <a:pt x="6096897" y="6573081"/>
                  <a:pt x="6097965" y="6652829"/>
                  <a:pt x="6089994" y="6731941"/>
                </a:cubicBezTo>
                <a:lnTo>
                  <a:pt x="6081268" y="6858000"/>
                </a:lnTo>
                <a:lnTo>
                  <a:pt x="3299791" y="6858000"/>
                </a:lnTo>
                <a:lnTo>
                  <a:pt x="205835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0856" y="4409267"/>
            <a:ext cx="3182112" cy="18288"/>
          </a:xfrm>
          <a:custGeom>
            <a:avLst/>
            <a:gdLst>
              <a:gd name="connsiteX0" fmla="*/ 0 w 3182112"/>
              <a:gd name="connsiteY0" fmla="*/ 0 h 18288"/>
              <a:gd name="connsiteX1" fmla="*/ 636422 w 3182112"/>
              <a:gd name="connsiteY1" fmla="*/ 0 h 18288"/>
              <a:gd name="connsiteX2" fmla="*/ 1241024 w 3182112"/>
              <a:gd name="connsiteY2" fmla="*/ 0 h 18288"/>
              <a:gd name="connsiteX3" fmla="*/ 1845625 w 3182112"/>
              <a:gd name="connsiteY3" fmla="*/ 0 h 18288"/>
              <a:gd name="connsiteX4" fmla="*/ 2545690 w 3182112"/>
              <a:gd name="connsiteY4" fmla="*/ 0 h 18288"/>
              <a:gd name="connsiteX5" fmla="*/ 3182112 w 3182112"/>
              <a:gd name="connsiteY5" fmla="*/ 0 h 18288"/>
              <a:gd name="connsiteX6" fmla="*/ 3182112 w 3182112"/>
              <a:gd name="connsiteY6" fmla="*/ 18288 h 18288"/>
              <a:gd name="connsiteX7" fmla="*/ 2545690 w 3182112"/>
              <a:gd name="connsiteY7" fmla="*/ 18288 h 18288"/>
              <a:gd name="connsiteX8" fmla="*/ 2004731 w 3182112"/>
              <a:gd name="connsiteY8" fmla="*/ 18288 h 18288"/>
              <a:gd name="connsiteX9" fmla="*/ 1400129 w 3182112"/>
              <a:gd name="connsiteY9" fmla="*/ 18288 h 18288"/>
              <a:gd name="connsiteX10" fmla="*/ 795528 w 3182112"/>
              <a:gd name="connsiteY10" fmla="*/ 18288 h 18288"/>
              <a:gd name="connsiteX11" fmla="*/ 0 w 3182112"/>
              <a:gd name="connsiteY11" fmla="*/ 18288 h 18288"/>
              <a:gd name="connsiteX12" fmla="*/ 0 w 3182112"/>
              <a:gd name="connsiteY12" fmla="*/ 0 h 18288"/>
              <a:gd name="connsiteX0" fmla="*/ 0 w 3182112"/>
              <a:gd name="connsiteY0" fmla="*/ 0 h 18288"/>
              <a:gd name="connsiteX1" fmla="*/ 572780 w 3182112"/>
              <a:gd name="connsiteY1" fmla="*/ 0 h 18288"/>
              <a:gd name="connsiteX2" fmla="*/ 1272845 w 3182112"/>
              <a:gd name="connsiteY2" fmla="*/ 0 h 18288"/>
              <a:gd name="connsiteX3" fmla="*/ 1813804 w 3182112"/>
              <a:gd name="connsiteY3" fmla="*/ 0 h 18288"/>
              <a:gd name="connsiteX4" fmla="*/ 2354763 w 3182112"/>
              <a:gd name="connsiteY4" fmla="*/ 0 h 18288"/>
              <a:gd name="connsiteX5" fmla="*/ 3182112 w 3182112"/>
              <a:gd name="connsiteY5" fmla="*/ 0 h 18288"/>
              <a:gd name="connsiteX6" fmla="*/ 3182112 w 3182112"/>
              <a:gd name="connsiteY6" fmla="*/ 18288 h 18288"/>
              <a:gd name="connsiteX7" fmla="*/ 2577511 w 3182112"/>
              <a:gd name="connsiteY7" fmla="*/ 18288 h 18288"/>
              <a:gd name="connsiteX8" fmla="*/ 1972909 w 3182112"/>
              <a:gd name="connsiteY8" fmla="*/ 18288 h 18288"/>
              <a:gd name="connsiteX9" fmla="*/ 1368308 w 3182112"/>
              <a:gd name="connsiteY9" fmla="*/ 18288 h 18288"/>
              <a:gd name="connsiteX10" fmla="*/ 668244 w 3182112"/>
              <a:gd name="connsiteY10" fmla="*/ 18288 h 18288"/>
              <a:gd name="connsiteX11" fmla="*/ 0 w 3182112"/>
              <a:gd name="connsiteY11" fmla="*/ 18288 h 18288"/>
              <a:gd name="connsiteX12" fmla="*/ 0 w 318211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112" h="18288" fill="none" extrusionOk="0">
                <a:moveTo>
                  <a:pt x="0" y="0"/>
                </a:moveTo>
                <a:cubicBezTo>
                  <a:pt x="167097" y="-35215"/>
                  <a:pt x="386995" y="-47353"/>
                  <a:pt x="636422" y="0"/>
                </a:cubicBezTo>
                <a:cubicBezTo>
                  <a:pt x="915721" y="14911"/>
                  <a:pt x="978814" y="-9181"/>
                  <a:pt x="1241024" y="0"/>
                </a:cubicBezTo>
                <a:cubicBezTo>
                  <a:pt x="1523940" y="31894"/>
                  <a:pt x="1606328" y="-11705"/>
                  <a:pt x="1845625" y="0"/>
                </a:cubicBezTo>
                <a:cubicBezTo>
                  <a:pt x="2102898" y="-3011"/>
                  <a:pt x="2397984" y="13955"/>
                  <a:pt x="2545690" y="0"/>
                </a:cubicBezTo>
                <a:cubicBezTo>
                  <a:pt x="2705364" y="3313"/>
                  <a:pt x="2935432" y="4386"/>
                  <a:pt x="3182112" y="0"/>
                </a:cubicBezTo>
                <a:cubicBezTo>
                  <a:pt x="3181470" y="7828"/>
                  <a:pt x="3181789" y="10025"/>
                  <a:pt x="3182112" y="18288"/>
                </a:cubicBezTo>
                <a:cubicBezTo>
                  <a:pt x="2885361" y="29807"/>
                  <a:pt x="2846304" y="22960"/>
                  <a:pt x="2545690" y="18288"/>
                </a:cubicBezTo>
                <a:cubicBezTo>
                  <a:pt x="2296262" y="32454"/>
                  <a:pt x="2267101" y="-2532"/>
                  <a:pt x="2004731" y="18288"/>
                </a:cubicBezTo>
                <a:cubicBezTo>
                  <a:pt x="1806517" y="20412"/>
                  <a:pt x="1671861" y="-28431"/>
                  <a:pt x="1400129" y="18288"/>
                </a:cubicBezTo>
                <a:cubicBezTo>
                  <a:pt x="1147502" y="47781"/>
                  <a:pt x="1063563" y="20586"/>
                  <a:pt x="795528" y="18288"/>
                </a:cubicBezTo>
                <a:cubicBezTo>
                  <a:pt x="531348" y="19059"/>
                  <a:pt x="307978" y="738"/>
                  <a:pt x="0" y="18288"/>
                </a:cubicBezTo>
                <a:cubicBezTo>
                  <a:pt x="222" y="11591"/>
                  <a:pt x="-26" y="3279"/>
                  <a:pt x="0" y="0"/>
                </a:cubicBezTo>
                <a:close/>
              </a:path>
              <a:path w="3182112" h="18288" stroke="0" extrusionOk="0">
                <a:moveTo>
                  <a:pt x="0" y="0"/>
                </a:moveTo>
                <a:cubicBezTo>
                  <a:pt x="224974" y="-3076"/>
                  <a:pt x="336129" y="12250"/>
                  <a:pt x="572780" y="0"/>
                </a:cubicBezTo>
                <a:cubicBezTo>
                  <a:pt x="802270" y="-6413"/>
                  <a:pt x="1081077" y="-35613"/>
                  <a:pt x="1272845" y="0"/>
                </a:cubicBezTo>
                <a:cubicBezTo>
                  <a:pt x="1483194" y="13818"/>
                  <a:pt x="1709890" y="10279"/>
                  <a:pt x="1813804" y="0"/>
                </a:cubicBezTo>
                <a:cubicBezTo>
                  <a:pt x="1932692" y="-21191"/>
                  <a:pt x="2099661" y="51120"/>
                  <a:pt x="2354763" y="0"/>
                </a:cubicBezTo>
                <a:cubicBezTo>
                  <a:pt x="2613656" y="-59585"/>
                  <a:pt x="2864372" y="-2700"/>
                  <a:pt x="3182112" y="0"/>
                </a:cubicBezTo>
                <a:cubicBezTo>
                  <a:pt x="3182760" y="4436"/>
                  <a:pt x="3182087" y="11325"/>
                  <a:pt x="3182112" y="18288"/>
                </a:cubicBezTo>
                <a:cubicBezTo>
                  <a:pt x="2942487" y="15072"/>
                  <a:pt x="2716398" y="15122"/>
                  <a:pt x="2577511" y="18288"/>
                </a:cubicBezTo>
                <a:cubicBezTo>
                  <a:pt x="2427349" y="9546"/>
                  <a:pt x="2116759" y="23913"/>
                  <a:pt x="1972909" y="18288"/>
                </a:cubicBezTo>
                <a:cubicBezTo>
                  <a:pt x="1839235" y="-6881"/>
                  <a:pt x="1610337" y="-8822"/>
                  <a:pt x="1368308" y="18288"/>
                </a:cubicBezTo>
                <a:cubicBezTo>
                  <a:pt x="1126976" y="-6301"/>
                  <a:pt x="974871" y="-298"/>
                  <a:pt x="668244" y="18288"/>
                </a:cubicBezTo>
                <a:cubicBezTo>
                  <a:pt x="348457" y="18152"/>
                  <a:pt x="256623" y="10126"/>
                  <a:pt x="0" y="18288"/>
                </a:cubicBezTo>
                <a:cubicBezTo>
                  <a:pt x="-163" y="14471"/>
                  <a:pt x="-775" y="4083"/>
                  <a:pt x="0" y="0"/>
                </a:cubicBezTo>
                <a:close/>
              </a:path>
              <a:path w="3182112" h="18288" fill="none" stroke="0" extrusionOk="0">
                <a:moveTo>
                  <a:pt x="0" y="0"/>
                </a:moveTo>
                <a:cubicBezTo>
                  <a:pt x="172613" y="-24909"/>
                  <a:pt x="357564" y="-7371"/>
                  <a:pt x="636422" y="0"/>
                </a:cubicBezTo>
                <a:cubicBezTo>
                  <a:pt x="914248" y="21219"/>
                  <a:pt x="954289" y="-16703"/>
                  <a:pt x="1241024" y="0"/>
                </a:cubicBezTo>
                <a:cubicBezTo>
                  <a:pt x="1510135" y="4876"/>
                  <a:pt x="1604042" y="8738"/>
                  <a:pt x="1845625" y="0"/>
                </a:cubicBezTo>
                <a:cubicBezTo>
                  <a:pt x="2080119" y="20374"/>
                  <a:pt x="2361338" y="20926"/>
                  <a:pt x="2545690" y="0"/>
                </a:cubicBezTo>
                <a:cubicBezTo>
                  <a:pt x="2688348" y="-15245"/>
                  <a:pt x="2879596" y="10087"/>
                  <a:pt x="3182112" y="0"/>
                </a:cubicBezTo>
                <a:cubicBezTo>
                  <a:pt x="3182086" y="7514"/>
                  <a:pt x="3181581" y="9795"/>
                  <a:pt x="3182112" y="18288"/>
                </a:cubicBezTo>
                <a:cubicBezTo>
                  <a:pt x="2874389" y="40084"/>
                  <a:pt x="2836312" y="17807"/>
                  <a:pt x="2545690" y="18288"/>
                </a:cubicBezTo>
                <a:cubicBezTo>
                  <a:pt x="2277674" y="-8094"/>
                  <a:pt x="2165305" y="22724"/>
                  <a:pt x="2004731" y="18288"/>
                </a:cubicBezTo>
                <a:cubicBezTo>
                  <a:pt x="1902847" y="2684"/>
                  <a:pt x="1683658" y="-5219"/>
                  <a:pt x="1400129" y="18288"/>
                </a:cubicBezTo>
                <a:cubicBezTo>
                  <a:pt x="1159937" y="27236"/>
                  <a:pt x="1072890" y="15738"/>
                  <a:pt x="795528" y="18288"/>
                </a:cubicBezTo>
                <a:cubicBezTo>
                  <a:pt x="525743" y="26738"/>
                  <a:pt x="338536" y="-12609"/>
                  <a:pt x="0" y="18288"/>
                </a:cubicBezTo>
                <a:cubicBezTo>
                  <a:pt x="-288" y="12007"/>
                  <a:pt x="-714" y="41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custGeom>
                    <a:avLst/>
                    <a:gdLst>
                      <a:gd name="connsiteX0" fmla="*/ 0 w 3182112"/>
                      <a:gd name="connsiteY0" fmla="*/ 0 h 18288"/>
                      <a:gd name="connsiteX1" fmla="*/ 636422 w 3182112"/>
                      <a:gd name="connsiteY1" fmla="*/ 0 h 18288"/>
                      <a:gd name="connsiteX2" fmla="*/ 1241024 w 3182112"/>
                      <a:gd name="connsiteY2" fmla="*/ 0 h 18288"/>
                      <a:gd name="connsiteX3" fmla="*/ 1845625 w 3182112"/>
                      <a:gd name="connsiteY3" fmla="*/ 0 h 18288"/>
                      <a:gd name="connsiteX4" fmla="*/ 2545690 w 3182112"/>
                      <a:gd name="connsiteY4" fmla="*/ 0 h 18288"/>
                      <a:gd name="connsiteX5" fmla="*/ 3182112 w 3182112"/>
                      <a:gd name="connsiteY5" fmla="*/ 0 h 18288"/>
                      <a:gd name="connsiteX6" fmla="*/ 3182112 w 3182112"/>
                      <a:gd name="connsiteY6" fmla="*/ 18288 h 18288"/>
                      <a:gd name="connsiteX7" fmla="*/ 2545690 w 3182112"/>
                      <a:gd name="connsiteY7" fmla="*/ 18288 h 18288"/>
                      <a:gd name="connsiteX8" fmla="*/ 2004731 w 3182112"/>
                      <a:gd name="connsiteY8" fmla="*/ 18288 h 18288"/>
                      <a:gd name="connsiteX9" fmla="*/ 1400129 w 3182112"/>
                      <a:gd name="connsiteY9" fmla="*/ 18288 h 18288"/>
                      <a:gd name="connsiteX10" fmla="*/ 795528 w 3182112"/>
                      <a:gd name="connsiteY10" fmla="*/ 18288 h 18288"/>
                      <a:gd name="connsiteX11" fmla="*/ 0 w 3182112"/>
                      <a:gd name="connsiteY11" fmla="*/ 18288 h 18288"/>
                      <a:gd name="connsiteX12" fmla="*/ 0 w 3182112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82112" h="18288" fill="none" extrusionOk="0">
                        <a:moveTo>
                          <a:pt x="0" y="0"/>
                        </a:moveTo>
                        <a:cubicBezTo>
                          <a:pt x="149227" y="9811"/>
                          <a:pt x="361579" y="-25608"/>
                          <a:pt x="636422" y="0"/>
                        </a:cubicBezTo>
                        <a:cubicBezTo>
                          <a:pt x="911265" y="25608"/>
                          <a:pt x="969922" y="-15588"/>
                          <a:pt x="1241024" y="0"/>
                        </a:cubicBezTo>
                        <a:cubicBezTo>
                          <a:pt x="1512126" y="15588"/>
                          <a:pt x="1611937" y="-6343"/>
                          <a:pt x="1845625" y="0"/>
                        </a:cubicBezTo>
                        <a:cubicBezTo>
                          <a:pt x="2079313" y="6343"/>
                          <a:pt x="2390997" y="18445"/>
                          <a:pt x="2545690" y="0"/>
                        </a:cubicBezTo>
                        <a:cubicBezTo>
                          <a:pt x="2700383" y="-18445"/>
                          <a:pt x="2898553" y="-25854"/>
                          <a:pt x="3182112" y="0"/>
                        </a:cubicBezTo>
                        <a:cubicBezTo>
                          <a:pt x="3181678" y="7551"/>
                          <a:pt x="3181645" y="9822"/>
                          <a:pt x="3182112" y="18288"/>
                        </a:cubicBezTo>
                        <a:cubicBezTo>
                          <a:pt x="2882016" y="32512"/>
                          <a:pt x="2839678" y="15853"/>
                          <a:pt x="2545690" y="18288"/>
                        </a:cubicBezTo>
                        <a:cubicBezTo>
                          <a:pt x="2251702" y="20723"/>
                          <a:pt x="2152589" y="14997"/>
                          <a:pt x="2004731" y="18288"/>
                        </a:cubicBezTo>
                        <a:cubicBezTo>
                          <a:pt x="1856873" y="21579"/>
                          <a:pt x="1653555" y="5080"/>
                          <a:pt x="1400129" y="18288"/>
                        </a:cubicBezTo>
                        <a:cubicBezTo>
                          <a:pt x="1146703" y="31496"/>
                          <a:pt x="1067656" y="18189"/>
                          <a:pt x="795528" y="18288"/>
                        </a:cubicBezTo>
                        <a:cubicBezTo>
                          <a:pt x="523400" y="18387"/>
                          <a:pt x="318441" y="1018"/>
                          <a:pt x="0" y="18288"/>
                        </a:cubicBezTo>
                        <a:cubicBezTo>
                          <a:pt x="60" y="11696"/>
                          <a:pt x="66" y="3758"/>
                          <a:pt x="0" y="0"/>
                        </a:cubicBezTo>
                        <a:close/>
                      </a:path>
                      <a:path w="3182112" h="18288" stroke="0" extrusionOk="0">
                        <a:moveTo>
                          <a:pt x="0" y="0"/>
                        </a:moveTo>
                        <a:cubicBezTo>
                          <a:pt x="215562" y="1260"/>
                          <a:pt x="336090" y="6473"/>
                          <a:pt x="572780" y="0"/>
                        </a:cubicBezTo>
                        <a:cubicBezTo>
                          <a:pt x="809470" y="-6473"/>
                          <a:pt x="1080729" y="-23038"/>
                          <a:pt x="1272845" y="0"/>
                        </a:cubicBezTo>
                        <a:cubicBezTo>
                          <a:pt x="1464961" y="23038"/>
                          <a:pt x="1699922" y="1589"/>
                          <a:pt x="1813804" y="0"/>
                        </a:cubicBezTo>
                        <a:cubicBezTo>
                          <a:pt x="1927686" y="-1589"/>
                          <a:pt x="2116547" y="7184"/>
                          <a:pt x="2354763" y="0"/>
                        </a:cubicBezTo>
                        <a:cubicBezTo>
                          <a:pt x="2592979" y="-7184"/>
                          <a:pt x="2863919" y="3952"/>
                          <a:pt x="3182112" y="0"/>
                        </a:cubicBezTo>
                        <a:cubicBezTo>
                          <a:pt x="3182030" y="4406"/>
                          <a:pt x="3182023" y="9982"/>
                          <a:pt x="3182112" y="18288"/>
                        </a:cubicBezTo>
                        <a:cubicBezTo>
                          <a:pt x="2938288" y="16038"/>
                          <a:pt x="2724925" y="29080"/>
                          <a:pt x="2577511" y="18288"/>
                        </a:cubicBezTo>
                        <a:cubicBezTo>
                          <a:pt x="2430097" y="7496"/>
                          <a:pt x="2119926" y="47706"/>
                          <a:pt x="1972909" y="18288"/>
                        </a:cubicBezTo>
                        <a:cubicBezTo>
                          <a:pt x="1825892" y="-11130"/>
                          <a:pt x="1597470" y="43818"/>
                          <a:pt x="1368308" y="18288"/>
                        </a:cubicBezTo>
                        <a:cubicBezTo>
                          <a:pt x="1139146" y="-7242"/>
                          <a:pt x="981628" y="18679"/>
                          <a:pt x="668244" y="18288"/>
                        </a:cubicBezTo>
                        <a:cubicBezTo>
                          <a:pt x="354860" y="17897"/>
                          <a:pt x="259749" y="211"/>
                          <a:pt x="0" y="18288"/>
                        </a:cubicBezTo>
                        <a:cubicBezTo>
                          <a:pt x="189" y="14288"/>
                          <a:pt x="-703" y="374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5092809" y="6356350"/>
            <a:ext cx="250317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27368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813299" y="490538"/>
            <a:ext cx="3968748" cy="1142320"/>
          </a:xfrm>
        </p:spPr>
        <p:txBody>
          <a:bodyPr anchor="b">
            <a:normAutofit/>
          </a:bodyPr>
          <a:lstStyle/>
          <a:p>
            <a:r>
              <a:rPr lang="en-US" sz="3500" dirty="0"/>
              <a:t>Broaden and Build -- Broaden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3359" r="1" b="1"/>
          <a:stretch/>
        </p:blipFill>
        <p:spPr>
          <a:xfrm>
            <a:off x="1" y="1587"/>
            <a:ext cx="4571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813300" y="2119312"/>
            <a:ext cx="3968747" cy="4248149"/>
          </a:xfrm>
        </p:spPr>
        <p:txBody>
          <a:bodyPr>
            <a:normAutofit/>
          </a:bodyPr>
          <a:lstStyle/>
          <a:p>
            <a:r>
              <a:rPr lang="en-US" sz="1800" dirty="0"/>
              <a:t>Barbara Fredrickson</a:t>
            </a:r>
          </a:p>
          <a:p>
            <a:r>
              <a:rPr lang="en-US" sz="1800" dirty="0"/>
              <a:t>Positive emotions broaden thinking about possible actions – opening awareness to a larger range of thoughts and actions than is typical</a:t>
            </a:r>
          </a:p>
          <a:p>
            <a:r>
              <a:rPr lang="en-US" sz="1800" dirty="0"/>
              <a:t>Positive emotions linked to specific </a:t>
            </a:r>
            <a:r>
              <a:rPr lang="en-US" sz="1800" i="1" dirty="0"/>
              <a:t>behavioral action tendencies</a:t>
            </a:r>
          </a:p>
          <a:p>
            <a:pPr marL="0" indent="0">
              <a:buNone/>
            </a:pPr>
            <a:endParaRPr lang="en-US" sz="1800" dirty="0"/>
          </a:p>
          <a:p>
            <a:pPr lvl="1"/>
            <a:r>
              <a:rPr lang="en-US" sz="1800" dirty="0"/>
              <a:t>Joy – urge to play and be creative</a:t>
            </a:r>
          </a:p>
          <a:p>
            <a:pPr lvl="1"/>
            <a:r>
              <a:rPr lang="en-US" sz="1800" dirty="0"/>
              <a:t>Interest – urge to explore and learn</a:t>
            </a:r>
          </a:p>
          <a:p>
            <a:pPr lvl="1"/>
            <a:r>
              <a:rPr lang="en-US" sz="1800" dirty="0"/>
              <a:t>Serenity – urge to savor and integrate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1CF23-B749-42AD-8B28-BE2E423F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13299" y="6356350"/>
            <a:ext cx="3968751" cy="3651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© Cambridge University Press 2021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Broaden and Build -- Broaden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076" y="2160697"/>
            <a:ext cx="3603724" cy="340190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094514" y="2160696"/>
            <a:ext cx="3573237" cy="34019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Personal resources</a:t>
            </a:r>
            <a:endParaRPr lang="en-US" sz="2800" dirty="0"/>
          </a:p>
          <a:p>
            <a:pPr algn="ctr"/>
            <a:r>
              <a:rPr lang="en-US" sz="2800" dirty="0"/>
              <a:t>Cognitive</a:t>
            </a:r>
          </a:p>
          <a:p>
            <a:pPr algn="ctr"/>
            <a:r>
              <a:rPr lang="en-US" sz="2800" dirty="0"/>
              <a:t>Interpersonal</a:t>
            </a:r>
          </a:p>
          <a:p>
            <a:pPr algn="ctr"/>
            <a:r>
              <a:rPr lang="en-US" sz="2800" dirty="0"/>
              <a:t>Physical </a:t>
            </a:r>
          </a:p>
          <a:p>
            <a:pPr algn="ctr"/>
            <a:r>
              <a:rPr lang="en-US" sz="2800" dirty="0"/>
              <a:t>Intellectual</a:t>
            </a:r>
          </a:p>
        </p:txBody>
      </p:sp>
    </p:spTree>
    <p:extLst>
      <p:ext uri="{BB962C8B-B14F-4D97-AF65-F5344CB8AC3E}">
        <p14:creationId xmlns:p14="http://schemas.microsoft.com/office/powerpoint/2010/main" val="2899960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Broaden and Build</a:t>
            </a:r>
          </a:p>
        </p:txBody>
      </p:sp>
      <p:pic>
        <p:nvPicPr>
          <p:cNvPr id="5" name="IkMHZ7mchVo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05416" y="1525188"/>
            <a:ext cx="7333168" cy="412546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05416" y="565065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4"/>
              </a:rPr>
              <a:t>Why Happy People Do it Better | The Science of Happiness - 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10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289" y="570155"/>
            <a:ext cx="7983422" cy="516574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01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Thinking broadly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5195207" cy="4351338"/>
          </a:xfrm>
        </p:spPr>
        <p:txBody>
          <a:bodyPr>
            <a:normAutofit/>
          </a:bodyPr>
          <a:lstStyle/>
          <a:p>
            <a:r>
              <a:rPr lang="en-US" dirty="0" err="1"/>
              <a:t>Isen</a:t>
            </a:r>
            <a:r>
              <a:rPr lang="en-US" dirty="0"/>
              <a:t> Research Study 1</a:t>
            </a:r>
          </a:p>
          <a:p>
            <a:pPr lvl="1"/>
            <a:r>
              <a:rPr lang="en-US" dirty="0"/>
              <a:t>Put coins in pay phones and then asked those that found a coin for help</a:t>
            </a:r>
          </a:p>
          <a:p>
            <a:r>
              <a:rPr lang="en-US" dirty="0" err="1"/>
              <a:t>Isen</a:t>
            </a:r>
            <a:r>
              <a:rPr lang="en-US" dirty="0"/>
              <a:t> Research Study 2</a:t>
            </a:r>
          </a:p>
          <a:p>
            <a:pPr lvl="1"/>
            <a:r>
              <a:rPr lang="en-US" dirty="0"/>
              <a:t>Give physicians a bag of candy</a:t>
            </a:r>
          </a:p>
          <a:p>
            <a:pPr lvl="1"/>
            <a:r>
              <a:rPr lang="en-US" dirty="0"/>
              <a:t>Candy = more cognitive flexibility in case conceptualization; superior reasoning and decision making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A79B0-E585-436A-B7A0-A09905B5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986" y="1153800"/>
            <a:ext cx="2170364" cy="1981372"/>
          </a:xfrm>
          <a:prstGeom prst="rect">
            <a:avLst/>
          </a:prstGeom>
        </p:spPr>
      </p:pic>
      <p:pic>
        <p:nvPicPr>
          <p:cNvPr id="7" name="Picture 8" descr="The world is training your children to respond to treats, praise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857" y="3429000"/>
            <a:ext cx="206692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37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Broaden and Build -- Build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B2024-5E1F-4DC0-B0EB-2F41D69B6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98F78F8-FDF7-D1DE-7373-421F5E076C97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62193876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661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Resources Garnered in the Build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28E1C-8C71-4D09-8F97-3F6558D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67853B7-09C5-7C72-6372-CD029FF353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99746220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526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 dirty="0"/>
              <a:t>Well-Being Journal Entry #6</a:t>
            </a:r>
          </a:p>
        </p:txBody>
      </p:sp>
      <p:pic>
        <p:nvPicPr>
          <p:cNvPr id="8" name="Picture 7" descr="Writing an appointment on a paper agenda">
            <a:extLst>
              <a:ext uri="{FF2B5EF4-FFF2-40B4-BE49-F238E27FC236}">
                <a16:creationId xmlns:a16="http://schemas.microsoft.com/office/drawing/2014/main" id="{4414A8B6-7A35-28C7-AFC9-A4229911BA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002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36538 w 3182692"/>
              <a:gd name="connsiteY1" fmla="*/ 0 h 18288"/>
              <a:gd name="connsiteX2" fmla="*/ 1273077 w 3182692"/>
              <a:gd name="connsiteY2" fmla="*/ 0 h 18288"/>
              <a:gd name="connsiteX3" fmla="*/ 1909615 w 3182692"/>
              <a:gd name="connsiteY3" fmla="*/ 0 h 18288"/>
              <a:gd name="connsiteX4" fmla="*/ 2482500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609807 w 3182692"/>
              <a:gd name="connsiteY7" fmla="*/ 18288 h 18288"/>
              <a:gd name="connsiteX8" fmla="*/ 2068750 w 3182692"/>
              <a:gd name="connsiteY8" fmla="*/ 18288 h 18288"/>
              <a:gd name="connsiteX9" fmla="*/ 1432211 w 3182692"/>
              <a:gd name="connsiteY9" fmla="*/ 18288 h 18288"/>
              <a:gd name="connsiteX10" fmla="*/ 859327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  <a:gd name="connsiteX0" fmla="*/ 0 w 3182692"/>
              <a:gd name="connsiteY0" fmla="*/ 0 h 18288"/>
              <a:gd name="connsiteX1" fmla="*/ 572885 w 3182692"/>
              <a:gd name="connsiteY1" fmla="*/ 0 h 18288"/>
              <a:gd name="connsiteX2" fmla="*/ 1113942 w 3182692"/>
              <a:gd name="connsiteY2" fmla="*/ 0 h 18288"/>
              <a:gd name="connsiteX3" fmla="*/ 1686827 w 3182692"/>
              <a:gd name="connsiteY3" fmla="*/ 0 h 18288"/>
              <a:gd name="connsiteX4" fmla="*/ 2323365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04711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25870" y="33585"/>
                  <a:pt x="418138" y="17639"/>
                  <a:pt x="636538" y="0"/>
                </a:cubicBezTo>
                <a:cubicBezTo>
                  <a:pt x="865372" y="-3887"/>
                  <a:pt x="1010746" y="-18166"/>
                  <a:pt x="1273077" y="0"/>
                </a:cubicBezTo>
                <a:cubicBezTo>
                  <a:pt x="1527846" y="-24408"/>
                  <a:pt x="1703704" y="-36055"/>
                  <a:pt x="1909615" y="0"/>
                </a:cubicBezTo>
                <a:cubicBezTo>
                  <a:pt x="2119487" y="1667"/>
                  <a:pt x="2200543" y="-19343"/>
                  <a:pt x="2482500" y="0"/>
                </a:cubicBezTo>
                <a:cubicBezTo>
                  <a:pt x="2736775" y="57438"/>
                  <a:pt x="2997998" y="-48885"/>
                  <a:pt x="3182692" y="0"/>
                </a:cubicBezTo>
                <a:cubicBezTo>
                  <a:pt x="3182658" y="4844"/>
                  <a:pt x="3182282" y="11009"/>
                  <a:pt x="3182692" y="18288"/>
                </a:cubicBezTo>
                <a:cubicBezTo>
                  <a:pt x="2944477" y="15825"/>
                  <a:pt x="2868931" y="12370"/>
                  <a:pt x="2609807" y="18288"/>
                </a:cubicBezTo>
                <a:cubicBezTo>
                  <a:pt x="2341556" y="6193"/>
                  <a:pt x="2324113" y="22706"/>
                  <a:pt x="2068750" y="18288"/>
                </a:cubicBezTo>
                <a:cubicBezTo>
                  <a:pt x="1817163" y="7852"/>
                  <a:pt x="1716254" y="25979"/>
                  <a:pt x="1432211" y="18288"/>
                </a:cubicBezTo>
                <a:cubicBezTo>
                  <a:pt x="1164747" y="-28137"/>
                  <a:pt x="993140" y="27575"/>
                  <a:pt x="859327" y="18288"/>
                </a:cubicBezTo>
                <a:cubicBezTo>
                  <a:pt x="750703" y="-24974"/>
                  <a:pt x="236193" y="38731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24421" y="-39331"/>
                  <a:pt x="418777" y="11439"/>
                  <a:pt x="572885" y="0"/>
                </a:cubicBezTo>
                <a:cubicBezTo>
                  <a:pt x="750333" y="-6388"/>
                  <a:pt x="940592" y="15806"/>
                  <a:pt x="1113942" y="0"/>
                </a:cubicBezTo>
                <a:cubicBezTo>
                  <a:pt x="1322785" y="-1777"/>
                  <a:pt x="1505363" y="28230"/>
                  <a:pt x="1686827" y="0"/>
                </a:cubicBezTo>
                <a:cubicBezTo>
                  <a:pt x="1853304" y="1595"/>
                  <a:pt x="2194652" y="-1232"/>
                  <a:pt x="2323365" y="0"/>
                </a:cubicBezTo>
                <a:cubicBezTo>
                  <a:pt x="2488732" y="36406"/>
                  <a:pt x="2902093" y="-40336"/>
                  <a:pt x="3182692" y="0"/>
                </a:cubicBezTo>
                <a:cubicBezTo>
                  <a:pt x="3182167" y="5049"/>
                  <a:pt x="3182885" y="12044"/>
                  <a:pt x="3182692" y="18288"/>
                </a:cubicBezTo>
                <a:cubicBezTo>
                  <a:pt x="3012563" y="-37820"/>
                  <a:pt x="2765409" y="35618"/>
                  <a:pt x="2546154" y="18288"/>
                </a:cubicBezTo>
                <a:cubicBezTo>
                  <a:pt x="2333381" y="13914"/>
                  <a:pt x="2154438" y="9838"/>
                  <a:pt x="1845961" y="18288"/>
                </a:cubicBezTo>
                <a:cubicBezTo>
                  <a:pt x="1531509" y="33812"/>
                  <a:pt x="1456631" y="-6606"/>
                  <a:pt x="1304904" y="18288"/>
                </a:cubicBezTo>
                <a:cubicBezTo>
                  <a:pt x="1168344" y="36351"/>
                  <a:pt x="928499" y="15047"/>
                  <a:pt x="604711" y="18288"/>
                </a:cubicBezTo>
                <a:cubicBezTo>
                  <a:pt x="285438" y="38007"/>
                  <a:pt x="116029" y="-2220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245832" y="29445"/>
                  <a:pt x="388924" y="-28919"/>
                  <a:pt x="636538" y="0"/>
                </a:cubicBezTo>
                <a:cubicBezTo>
                  <a:pt x="854919" y="4634"/>
                  <a:pt x="991654" y="8864"/>
                  <a:pt x="1273077" y="0"/>
                </a:cubicBezTo>
                <a:cubicBezTo>
                  <a:pt x="1566644" y="-14667"/>
                  <a:pt x="1666526" y="3717"/>
                  <a:pt x="1909615" y="0"/>
                </a:cubicBezTo>
                <a:cubicBezTo>
                  <a:pt x="2138795" y="27220"/>
                  <a:pt x="2225506" y="-13892"/>
                  <a:pt x="2482500" y="0"/>
                </a:cubicBezTo>
                <a:cubicBezTo>
                  <a:pt x="2775583" y="32183"/>
                  <a:pt x="3003218" y="-43687"/>
                  <a:pt x="3182692" y="0"/>
                </a:cubicBezTo>
                <a:cubicBezTo>
                  <a:pt x="3183006" y="4158"/>
                  <a:pt x="3181713" y="12539"/>
                  <a:pt x="3182692" y="18288"/>
                </a:cubicBezTo>
                <a:cubicBezTo>
                  <a:pt x="2959845" y="25574"/>
                  <a:pt x="2868929" y="24980"/>
                  <a:pt x="2609807" y="18288"/>
                </a:cubicBezTo>
                <a:cubicBezTo>
                  <a:pt x="2341405" y="5992"/>
                  <a:pt x="2328488" y="20436"/>
                  <a:pt x="2068750" y="18288"/>
                </a:cubicBezTo>
                <a:cubicBezTo>
                  <a:pt x="1816113" y="2395"/>
                  <a:pt x="1699345" y="36855"/>
                  <a:pt x="1432211" y="18288"/>
                </a:cubicBezTo>
                <a:cubicBezTo>
                  <a:pt x="1148381" y="-28184"/>
                  <a:pt x="987622" y="2403"/>
                  <a:pt x="859327" y="18288"/>
                </a:cubicBezTo>
                <a:cubicBezTo>
                  <a:pt x="743387" y="37422"/>
                  <a:pt x="194182" y="1878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36538 w 3182692"/>
                      <a:gd name="connsiteY1" fmla="*/ 0 h 18288"/>
                      <a:gd name="connsiteX2" fmla="*/ 1273077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482500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609807 w 3182692"/>
                      <a:gd name="connsiteY7" fmla="*/ 18288 h 18288"/>
                      <a:gd name="connsiteX8" fmla="*/ 2068750 w 3182692"/>
                      <a:gd name="connsiteY8" fmla="*/ 18288 h 18288"/>
                      <a:gd name="connsiteX9" fmla="*/ 1432211 w 3182692"/>
                      <a:gd name="connsiteY9" fmla="*/ 18288 h 18288"/>
                      <a:gd name="connsiteX10" fmla="*/ 859327 w 3182692"/>
                      <a:gd name="connsiteY10" fmla="*/ 18288 h 18288"/>
                      <a:gd name="connsiteX11" fmla="*/ 0 w 3182692"/>
                      <a:gd name="connsiteY11" fmla="*/ 18288 h 18288"/>
                      <a:gd name="connsiteX12" fmla="*/ 0 w 3182692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253588" y="25878"/>
                          <a:pt x="409323" y="-5359"/>
                          <a:pt x="636538" y="0"/>
                        </a:cubicBezTo>
                        <a:cubicBezTo>
                          <a:pt x="863753" y="5359"/>
                          <a:pt x="1007727" y="-28"/>
                          <a:pt x="1273077" y="0"/>
                        </a:cubicBezTo>
                        <a:cubicBezTo>
                          <a:pt x="1538427" y="28"/>
                          <a:pt x="1698640" y="-12775"/>
                          <a:pt x="1909615" y="0"/>
                        </a:cubicBezTo>
                        <a:cubicBezTo>
                          <a:pt x="2120590" y="12775"/>
                          <a:pt x="2210293" y="-21823"/>
                          <a:pt x="2482500" y="0"/>
                        </a:cubicBezTo>
                        <a:cubicBezTo>
                          <a:pt x="2754708" y="21823"/>
                          <a:pt x="3004133" y="-28750"/>
                          <a:pt x="3182692" y="0"/>
                        </a:cubicBezTo>
                        <a:cubicBezTo>
                          <a:pt x="3183134" y="4516"/>
                          <a:pt x="3181865" y="12266"/>
                          <a:pt x="3182692" y="18288"/>
                        </a:cubicBezTo>
                        <a:cubicBezTo>
                          <a:pt x="2947402" y="22440"/>
                          <a:pt x="2876226" y="27191"/>
                          <a:pt x="2609807" y="18288"/>
                        </a:cubicBezTo>
                        <a:cubicBezTo>
                          <a:pt x="2343389" y="9385"/>
                          <a:pt x="2326689" y="25579"/>
                          <a:pt x="2068750" y="18288"/>
                        </a:cubicBezTo>
                        <a:cubicBezTo>
                          <a:pt x="1810811" y="10997"/>
                          <a:pt x="1713836" y="48219"/>
                          <a:pt x="1432211" y="18288"/>
                        </a:cubicBezTo>
                        <a:cubicBezTo>
                          <a:pt x="1150586" y="-11643"/>
                          <a:pt x="982765" y="3747"/>
                          <a:pt x="859327" y="18288"/>
                        </a:cubicBezTo>
                        <a:cubicBezTo>
                          <a:pt x="735889" y="32829"/>
                          <a:pt x="254183" y="35231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43108" y="-22426"/>
                          <a:pt x="387854" y="22949"/>
                          <a:pt x="572885" y="0"/>
                        </a:cubicBezTo>
                        <a:cubicBezTo>
                          <a:pt x="757916" y="-22949"/>
                          <a:pt x="923707" y="6797"/>
                          <a:pt x="1113942" y="0"/>
                        </a:cubicBezTo>
                        <a:cubicBezTo>
                          <a:pt x="1304177" y="-6797"/>
                          <a:pt x="1495991" y="20627"/>
                          <a:pt x="1686827" y="0"/>
                        </a:cubicBezTo>
                        <a:cubicBezTo>
                          <a:pt x="1877663" y="-20627"/>
                          <a:pt x="2170182" y="-20672"/>
                          <a:pt x="2323365" y="0"/>
                        </a:cubicBezTo>
                        <a:cubicBezTo>
                          <a:pt x="2476548" y="20672"/>
                          <a:pt x="2919164" y="6097"/>
                          <a:pt x="3182692" y="0"/>
                        </a:cubicBezTo>
                        <a:cubicBezTo>
                          <a:pt x="3183269" y="4624"/>
                          <a:pt x="3183511" y="11191"/>
                          <a:pt x="3182692" y="18288"/>
                        </a:cubicBezTo>
                        <a:cubicBezTo>
                          <a:pt x="3026065" y="-10849"/>
                          <a:pt x="2775006" y="23067"/>
                          <a:pt x="2546154" y="18288"/>
                        </a:cubicBezTo>
                        <a:cubicBezTo>
                          <a:pt x="2317302" y="13509"/>
                          <a:pt x="2168173" y="-8513"/>
                          <a:pt x="1845961" y="18288"/>
                        </a:cubicBezTo>
                        <a:cubicBezTo>
                          <a:pt x="1523749" y="45089"/>
                          <a:pt x="1450078" y="-844"/>
                          <a:pt x="1304904" y="18288"/>
                        </a:cubicBezTo>
                        <a:cubicBezTo>
                          <a:pt x="1159730" y="37420"/>
                          <a:pt x="942635" y="-10021"/>
                          <a:pt x="604711" y="18288"/>
                        </a:cubicBezTo>
                        <a:cubicBezTo>
                          <a:pt x="266787" y="46597"/>
                          <a:pt x="141927" y="-8395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973321" y="2706624"/>
            <a:ext cx="4688333" cy="34838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tx1"/>
                </a:solidFill>
              </a:rPr>
              <a:t>Consider Broaden and Build Theory</a:t>
            </a:r>
          </a:p>
          <a:p>
            <a:pPr lvl="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Person-Activity Fit: To raise positive emotion, DO something that will boost your positive emotion. Describe one thing you are looking forward to DOING: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  What 3 conscious acts of kindness will you do today?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973321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991248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640080"/>
            <a:ext cx="4688333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300"/>
              <a:t>What are the benefits of positive emotions and other affective experiences?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3320" y="4636008"/>
            <a:ext cx="4688333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400"/>
              <a:t>Mortality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00844-0E15-5374-B0B3-5D6009D946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36" r="26274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145769 w 3182692"/>
              <a:gd name="connsiteY2" fmla="*/ 0 h 18288"/>
              <a:gd name="connsiteX3" fmla="*/ 1845961 w 3182692"/>
              <a:gd name="connsiteY3" fmla="*/ 0 h 18288"/>
              <a:gd name="connsiteX4" fmla="*/ 2450673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546154 w 3182692"/>
              <a:gd name="connsiteY7" fmla="*/ 18288 h 18288"/>
              <a:gd name="connsiteX8" fmla="*/ 1845961 w 3182692"/>
              <a:gd name="connsiteY8" fmla="*/ 18288 h 18288"/>
              <a:gd name="connsiteX9" fmla="*/ 1304904 w 3182692"/>
              <a:gd name="connsiteY9" fmla="*/ 18288 h 18288"/>
              <a:gd name="connsiteX10" fmla="*/ 668365 w 3182692"/>
              <a:gd name="connsiteY10" fmla="*/ 18288 h 18288"/>
              <a:gd name="connsiteX11" fmla="*/ 0 w 3182692"/>
              <a:gd name="connsiteY11" fmla="*/ 18288 h 18288"/>
              <a:gd name="connsiteX12" fmla="*/ 0 w 3182692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45195" y="-37571"/>
                  <a:pt x="472618" y="-13696"/>
                  <a:pt x="604711" y="0"/>
                </a:cubicBezTo>
                <a:cubicBezTo>
                  <a:pt x="706652" y="-3280"/>
                  <a:pt x="1039328" y="-8567"/>
                  <a:pt x="1241250" y="0"/>
                </a:cubicBezTo>
                <a:cubicBezTo>
                  <a:pt x="1405712" y="-7891"/>
                  <a:pt x="1711158" y="8053"/>
                  <a:pt x="1909615" y="0"/>
                </a:cubicBezTo>
                <a:cubicBezTo>
                  <a:pt x="2107436" y="-40150"/>
                  <a:pt x="2247192" y="19443"/>
                  <a:pt x="2577981" y="0"/>
                </a:cubicBezTo>
                <a:cubicBezTo>
                  <a:pt x="2894393" y="-5855"/>
                  <a:pt x="3041563" y="17846"/>
                  <a:pt x="3182692" y="0"/>
                </a:cubicBezTo>
                <a:cubicBezTo>
                  <a:pt x="3181973" y="8390"/>
                  <a:pt x="3182735" y="11854"/>
                  <a:pt x="3182692" y="18288"/>
                </a:cubicBezTo>
                <a:cubicBezTo>
                  <a:pt x="2975928" y="57450"/>
                  <a:pt x="2667693" y="19406"/>
                  <a:pt x="2482500" y="18288"/>
                </a:cubicBezTo>
                <a:cubicBezTo>
                  <a:pt x="2299734" y="36912"/>
                  <a:pt x="1925962" y="9303"/>
                  <a:pt x="1782308" y="18288"/>
                </a:cubicBezTo>
                <a:cubicBezTo>
                  <a:pt x="1635580" y="20546"/>
                  <a:pt x="1257854" y="-3663"/>
                  <a:pt x="1145769" y="18288"/>
                </a:cubicBezTo>
                <a:cubicBezTo>
                  <a:pt x="1025065" y="56574"/>
                  <a:pt x="247799" y="-11536"/>
                  <a:pt x="0" y="18288"/>
                </a:cubicBezTo>
                <a:cubicBezTo>
                  <a:pt x="-405" y="13204"/>
                  <a:pt x="-1092" y="531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8308" y="19724"/>
                  <a:pt x="431183" y="-26509"/>
                  <a:pt x="604711" y="0"/>
                </a:cubicBezTo>
                <a:cubicBezTo>
                  <a:pt x="795174" y="4405"/>
                  <a:pt x="950067" y="22541"/>
                  <a:pt x="1145769" y="0"/>
                </a:cubicBezTo>
                <a:cubicBezTo>
                  <a:pt x="1301850" y="7702"/>
                  <a:pt x="1499974" y="-70469"/>
                  <a:pt x="1845961" y="0"/>
                </a:cubicBezTo>
                <a:cubicBezTo>
                  <a:pt x="2191264" y="15313"/>
                  <a:pt x="2307232" y="-97"/>
                  <a:pt x="2450673" y="0"/>
                </a:cubicBezTo>
                <a:cubicBezTo>
                  <a:pt x="2596405" y="-19465"/>
                  <a:pt x="3033067" y="-31048"/>
                  <a:pt x="3182692" y="0"/>
                </a:cubicBezTo>
                <a:cubicBezTo>
                  <a:pt x="3182066" y="4696"/>
                  <a:pt x="3183370" y="10269"/>
                  <a:pt x="3182692" y="18288"/>
                </a:cubicBezTo>
                <a:cubicBezTo>
                  <a:pt x="3091120" y="-23022"/>
                  <a:pt x="2811074" y="61693"/>
                  <a:pt x="2546154" y="18288"/>
                </a:cubicBezTo>
                <a:cubicBezTo>
                  <a:pt x="2285186" y="27529"/>
                  <a:pt x="2090205" y="-22321"/>
                  <a:pt x="1845961" y="18288"/>
                </a:cubicBezTo>
                <a:cubicBezTo>
                  <a:pt x="1599794" y="31493"/>
                  <a:pt x="1466284" y="37447"/>
                  <a:pt x="1304904" y="18288"/>
                </a:cubicBezTo>
                <a:cubicBezTo>
                  <a:pt x="1189365" y="43775"/>
                  <a:pt x="952251" y="23461"/>
                  <a:pt x="668365" y="18288"/>
                </a:cubicBezTo>
                <a:cubicBezTo>
                  <a:pt x="407868" y="43595"/>
                  <a:pt x="284672" y="-9405"/>
                  <a:pt x="0" y="18288"/>
                </a:cubicBezTo>
                <a:cubicBezTo>
                  <a:pt x="527" y="9891"/>
                  <a:pt x="870" y="7012"/>
                  <a:pt x="0" y="0"/>
                </a:cubicBezTo>
                <a:close/>
              </a:path>
              <a:path w="3182692" h="18288" fill="none" stroke="0" extrusionOk="0">
                <a:moveTo>
                  <a:pt x="0" y="0"/>
                </a:moveTo>
                <a:cubicBezTo>
                  <a:pt x="108839" y="-32375"/>
                  <a:pt x="447732" y="16552"/>
                  <a:pt x="604711" y="0"/>
                </a:cubicBezTo>
                <a:cubicBezTo>
                  <a:pt x="781899" y="-548"/>
                  <a:pt x="1052060" y="7118"/>
                  <a:pt x="1241250" y="0"/>
                </a:cubicBezTo>
                <a:cubicBezTo>
                  <a:pt x="1399482" y="14083"/>
                  <a:pt x="1706293" y="54730"/>
                  <a:pt x="1909615" y="0"/>
                </a:cubicBezTo>
                <a:cubicBezTo>
                  <a:pt x="2085313" y="-24404"/>
                  <a:pt x="2264415" y="16988"/>
                  <a:pt x="2577981" y="0"/>
                </a:cubicBezTo>
                <a:cubicBezTo>
                  <a:pt x="2926098" y="-10318"/>
                  <a:pt x="3036314" y="-14769"/>
                  <a:pt x="3182692" y="0"/>
                </a:cubicBezTo>
                <a:cubicBezTo>
                  <a:pt x="3181841" y="8135"/>
                  <a:pt x="3181636" y="12730"/>
                  <a:pt x="3182692" y="18288"/>
                </a:cubicBezTo>
                <a:cubicBezTo>
                  <a:pt x="2996012" y="-1231"/>
                  <a:pt x="2669008" y="27395"/>
                  <a:pt x="2482500" y="18288"/>
                </a:cubicBezTo>
                <a:cubicBezTo>
                  <a:pt x="2296543" y="21246"/>
                  <a:pt x="1935236" y="7938"/>
                  <a:pt x="1782308" y="18288"/>
                </a:cubicBezTo>
                <a:cubicBezTo>
                  <a:pt x="1607683" y="25490"/>
                  <a:pt x="1291498" y="1369"/>
                  <a:pt x="1145769" y="18288"/>
                </a:cubicBezTo>
                <a:cubicBezTo>
                  <a:pt x="1015407" y="55325"/>
                  <a:pt x="262557" y="26571"/>
                  <a:pt x="0" y="18288"/>
                </a:cubicBezTo>
                <a:cubicBezTo>
                  <a:pt x="508" y="13336"/>
                  <a:pt x="437" y="727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182692"/>
                      <a:gd name="connsiteY0" fmla="*/ 0 h 18288"/>
                      <a:gd name="connsiteX1" fmla="*/ 604711 w 3182692"/>
                      <a:gd name="connsiteY1" fmla="*/ 0 h 18288"/>
                      <a:gd name="connsiteX2" fmla="*/ 1241250 w 3182692"/>
                      <a:gd name="connsiteY2" fmla="*/ 0 h 18288"/>
                      <a:gd name="connsiteX3" fmla="*/ 1909615 w 3182692"/>
                      <a:gd name="connsiteY3" fmla="*/ 0 h 18288"/>
                      <a:gd name="connsiteX4" fmla="*/ 2577981 w 3182692"/>
                      <a:gd name="connsiteY4" fmla="*/ 0 h 18288"/>
                      <a:gd name="connsiteX5" fmla="*/ 3182692 w 3182692"/>
                      <a:gd name="connsiteY5" fmla="*/ 0 h 18288"/>
                      <a:gd name="connsiteX6" fmla="*/ 3182692 w 3182692"/>
                      <a:gd name="connsiteY6" fmla="*/ 18288 h 18288"/>
                      <a:gd name="connsiteX7" fmla="*/ 2482500 w 3182692"/>
                      <a:gd name="connsiteY7" fmla="*/ 18288 h 18288"/>
                      <a:gd name="connsiteX8" fmla="*/ 1782308 w 3182692"/>
                      <a:gd name="connsiteY8" fmla="*/ 18288 h 18288"/>
                      <a:gd name="connsiteX9" fmla="*/ 1145769 w 3182692"/>
                      <a:gd name="connsiteY9" fmla="*/ 18288 h 18288"/>
                      <a:gd name="connsiteX10" fmla="*/ 0 w 3182692"/>
                      <a:gd name="connsiteY10" fmla="*/ 18288 h 18288"/>
                      <a:gd name="connsiteX11" fmla="*/ 0 w 3182692"/>
                      <a:gd name="connsiteY11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3182692" h="18288" fill="none" extrusionOk="0">
                        <a:moveTo>
                          <a:pt x="0" y="0"/>
                        </a:moveTo>
                        <a:cubicBezTo>
                          <a:pt x="126686" y="-21366"/>
                          <a:pt x="467788" y="9025"/>
                          <a:pt x="604711" y="0"/>
                        </a:cubicBezTo>
                        <a:cubicBezTo>
                          <a:pt x="741634" y="-9025"/>
                          <a:pt x="1061620" y="6814"/>
                          <a:pt x="1241250" y="0"/>
                        </a:cubicBezTo>
                        <a:cubicBezTo>
                          <a:pt x="1420880" y="-6814"/>
                          <a:pt x="1713773" y="13383"/>
                          <a:pt x="1909615" y="0"/>
                        </a:cubicBezTo>
                        <a:cubicBezTo>
                          <a:pt x="2105457" y="-13383"/>
                          <a:pt x="2257256" y="13567"/>
                          <a:pt x="2577981" y="0"/>
                        </a:cubicBezTo>
                        <a:cubicBezTo>
                          <a:pt x="2898706" y="-13567"/>
                          <a:pt x="3026063" y="6328"/>
                          <a:pt x="3182692" y="0"/>
                        </a:cubicBezTo>
                        <a:cubicBezTo>
                          <a:pt x="3181983" y="8157"/>
                          <a:pt x="3182279" y="12125"/>
                          <a:pt x="3182692" y="18288"/>
                        </a:cubicBezTo>
                        <a:cubicBezTo>
                          <a:pt x="2998421" y="21742"/>
                          <a:pt x="2675038" y="19014"/>
                          <a:pt x="2482500" y="18288"/>
                        </a:cubicBezTo>
                        <a:cubicBezTo>
                          <a:pt x="2289962" y="17562"/>
                          <a:pt x="1930644" y="6834"/>
                          <a:pt x="1782308" y="18288"/>
                        </a:cubicBezTo>
                        <a:cubicBezTo>
                          <a:pt x="1633972" y="29742"/>
                          <a:pt x="1287388" y="-1992"/>
                          <a:pt x="1145769" y="18288"/>
                        </a:cubicBezTo>
                        <a:cubicBezTo>
                          <a:pt x="1004150" y="38568"/>
                          <a:pt x="256377" y="-37438"/>
                          <a:pt x="0" y="18288"/>
                        </a:cubicBezTo>
                        <a:cubicBezTo>
                          <a:pt x="-46" y="12483"/>
                          <a:pt x="-203" y="6491"/>
                          <a:pt x="0" y="0"/>
                        </a:cubicBezTo>
                        <a:close/>
                      </a:path>
                      <a:path w="3182692" h="18288" stroke="0" extrusionOk="0">
                        <a:moveTo>
                          <a:pt x="0" y="0"/>
                        </a:moveTo>
                        <a:cubicBezTo>
                          <a:pt x="283446" y="18201"/>
                          <a:pt x="432812" y="7290"/>
                          <a:pt x="604711" y="0"/>
                        </a:cubicBezTo>
                        <a:cubicBezTo>
                          <a:pt x="776610" y="-7290"/>
                          <a:pt x="982253" y="15478"/>
                          <a:pt x="1145769" y="0"/>
                        </a:cubicBezTo>
                        <a:cubicBezTo>
                          <a:pt x="1309285" y="-15478"/>
                          <a:pt x="1514247" y="-25520"/>
                          <a:pt x="1845961" y="0"/>
                        </a:cubicBezTo>
                        <a:cubicBezTo>
                          <a:pt x="2177675" y="25520"/>
                          <a:pt x="2297588" y="16646"/>
                          <a:pt x="2450673" y="0"/>
                        </a:cubicBezTo>
                        <a:cubicBezTo>
                          <a:pt x="2603758" y="-16646"/>
                          <a:pt x="3023048" y="-21196"/>
                          <a:pt x="3182692" y="0"/>
                        </a:cubicBezTo>
                        <a:cubicBezTo>
                          <a:pt x="3182428" y="4493"/>
                          <a:pt x="3183076" y="9472"/>
                          <a:pt x="3182692" y="18288"/>
                        </a:cubicBezTo>
                        <a:cubicBezTo>
                          <a:pt x="3039109" y="-12701"/>
                          <a:pt x="2823860" y="13848"/>
                          <a:pt x="2546154" y="18288"/>
                        </a:cubicBezTo>
                        <a:cubicBezTo>
                          <a:pt x="2268448" y="22728"/>
                          <a:pt x="2098674" y="5291"/>
                          <a:pt x="1845961" y="18288"/>
                        </a:cubicBezTo>
                        <a:cubicBezTo>
                          <a:pt x="1593248" y="31285"/>
                          <a:pt x="1456743" y="27560"/>
                          <a:pt x="1304904" y="18288"/>
                        </a:cubicBezTo>
                        <a:cubicBezTo>
                          <a:pt x="1153065" y="9016"/>
                          <a:pt x="947204" y="11126"/>
                          <a:pt x="668365" y="18288"/>
                        </a:cubicBezTo>
                        <a:cubicBezTo>
                          <a:pt x="389526" y="25450"/>
                          <a:pt x="288244" y="-4628"/>
                          <a:pt x="0" y="18288"/>
                        </a:cubicBezTo>
                        <a:cubicBezTo>
                          <a:pt x="843" y="9577"/>
                          <a:pt x="371" y="690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28950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3940817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5" name="Rectangle 55304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The Nun Study – Danner et al.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31D11-613F-44FD-9E1C-88739F29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55301" name="Rectangle 3">
            <a:extLst>
              <a:ext uri="{FF2B5EF4-FFF2-40B4-BE49-F238E27FC236}">
                <a16:creationId xmlns:a16="http://schemas.microsoft.com/office/drawing/2014/main" id="{D945BF78-E203-BB9B-5BAE-75A1552FD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379491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AB63-43DC-4170-B64D-D48C76261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Nun Study Survival Curve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4C54B3-C9BB-4EDC-A443-CD7FAE4D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5CCCFA-6735-4D0B-B200-C06386DB4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37592"/>
            <a:ext cx="7886700" cy="4290645"/>
          </a:xfrm>
        </p:spPr>
      </p:pic>
    </p:spTree>
    <p:extLst>
      <p:ext uri="{BB962C8B-B14F-4D97-AF65-F5344CB8AC3E}">
        <p14:creationId xmlns:p14="http://schemas.microsoft.com/office/powerpoint/2010/main" val="300423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6FD3D4-CD2D-4212-8065-2C0A25BA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Since the Nun Study….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D1B9D-631D-4462-87BB-7C293B634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Meta-analytic evidence suggests a link between mortality and subjective well-being</a:t>
            </a:r>
          </a:p>
          <a:p>
            <a:pPr lvl="1"/>
            <a:r>
              <a:rPr lang="en-US" dirty="0"/>
              <a:t>Martín-María et al. (2017) reviewed 62 studies with 1,259,949 participants </a:t>
            </a:r>
          </a:p>
          <a:p>
            <a:pPr lvl="2"/>
            <a:r>
              <a:rPr lang="en-US" dirty="0"/>
              <a:t>Stronger for men than women</a:t>
            </a:r>
          </a:p>
          <a:p>
            <a:pPr lvl="1"/>
            <a:r>
              <a:rPr lang="en-US" dirty="0"/>
              <a:t>Chida and Steptoe (2008) 56 studies in samples of both healthy participants and those with existing disease from many countries (representing Asia, Australia, Europe, and North America)</a:t>
            </a:r>
          </a:p>
          <a:p>
            <a:pPr lvl="2"/>
            <a:r>
              <a:rPr lang="en-US" dirty="0"/>
              <a:t>association between both positive emotions and positive affectivity and mortality in both healthy and diseased samples, independent of negative affect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8005D-5A3F-44D0-8C93-DD5277C1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/>
              <a:t>The Science and Application of Positive Psychology </a:t>
            </a:r>
            <a:br>
              <a:rPr lang="en-US"/>
            </a:br>
            <a:r>
              <a:rPr lang="en-US"/>
              <a:t>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69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98497-DF43-4074-BFFE-9E6D051A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However,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0BAF-2150-4966-8356-58D18BF6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85F8E36-1C5E-5B1E-4935-2173F78AAA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129901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733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D49068-A8F0-4698-BC47-3448EA92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Synthesis on Mortality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2A67B-6CE7-46D4-B6A2-9571E11B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C82BDBB-B37A-9B0B-17BA-C75A9FF1C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922424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884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the benefits of positive emotions and other affective experiences?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Physical Health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 rot="5400000">
            <a:off x="-1371600" y="1984248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7534989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Upward Spiral Theory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4" y="2114813"/>
            <a:ext cx="4949420" cy="2797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47152" y="1690691"/>
            <a:ext cx="3274109" cy="42789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Strength Training with Gina</a:t>
            </a:r>
          </a:p>
          <a:p>
            <a:pPr algn="ctr"/>
            <a:r>
              <a:rPr lang="en-US" dirty="0"/>
              <a:t>We laugh and joke…positive emotion</a:t>
            </a:r>
          </a:p>
          <a:p>
            <a:pPr algn="ctr"/>
            <a:r>
              <a:rPr lang="en-US" dirty="0"/>
              <a:t>We feel better about muscles we are toning</a:t>
            </a:r>
          </a:p>
          <a:p>
            <a:pPr algn="ctr"/>
            <a:r>
              <a:rPr lang="en-US" dirty="0"/>
              <a:t>We are more likely to strength train because of the reinforcing nature of the behaviors and positive emotions</a:t>
            </a:r>
          </a:p>
        </p:txBody>
      </p:sp>
    </p:spTree>
    <p:extLst>
      <p:ext uri="{BB962C8B-B14F-4D97-AF65-F5344CB8AC3E}">
        <p14:creationId xmlns:p14="http://schemas.microsoft.com/office/powerpoint/2010/main" val="1713833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 dirty="0"/>
              <a:t>Undoing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724073" y="2438400"/>
            <a:ext cx="4939867" cy="3785419"/>
          </a:xfrm>
        </p:spPr>
        <p:txBody>
          <a:bodyPr>
            <a:noAutofit/>
          </a:bodyPr>
          <a:lstStyle/>
          <a:p>
            <a:r>
              <a:rPr lang="en-US" sz="2000" dirty="0"/>
              <a:t>Negative emotions have particular physiological effects</a:t>
            </a:r>
          </a:p>
          <a:p>
            <a:r>
              <a:rPr lang="en-US" sz="2000" dirty="0"/>
              <a:t>Induction of positive emotion (vs. sad or neutral) after induction of negative emotion (fearful film or prepare speech) associated with faster return to baseline physiological functioning</a:t>
            </a:r>
          </a:p>
          <a:p>
            <a:pPr lvl="1"/>
            <a:r>
              <a:rPr lang="en-US" sz="2000" dirty="0"/>
              <a:t>Cardiovascular effects</a:t>
            </a:r>
          </a:p>
          <a:p>
            <a:pPr lvl="1"/>
            <a:r>
              <a:rPr lang="en-US" sz="2000" dirty="0"/>
              <a:t>Most delay in sadness induction condition</a:t>
            </a:r>
          </a:p>
          <a:p>
            <a:r>
              <a:rPr lang="en-US" sz="2000" dirty="0"/>
              <a:t>Protective physiological effects</a:t>
            </a:r>
          </a:p>
          <a:p>
            <a:pPr lvl="1"/>
            <a:r>
              <a:rPr lang="en-US" sz="2000" dirty="0"/>
              <a:t>Rhinovirus infection</a:t>
            </a:r>
          </a:p>
        </p:txBody>
      </p:sp>
      <p:pic>
        <p:nvPicPr>
          <p:cNvPr id="6" name="Picture 5" descr="An image of a rhino in black and white">
            <a:extLst>
              <a:ext uri="{FF2B5EF4-FFF2-40B4-BE49-F238E27FC236}">
                <a16:creationId xmlns:a16="http://schemas.microsoft.com/office/drawing/2014/main" id="{0F5D87C4-937D-957C-D013-D6DC5832C1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41" r="31555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6655D-ABFA-414E-A394-180F5E174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4072" y="6356350"/>
            <a:ext cx="310435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Health: Inflammation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26497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Original model: </a:t>
            </a:r>
          </a:p>
          <a:p>
            <a:pPr marL="0" indent="0">
              <a:buNone/>
            </a:pPr>
            <a:r>
              <a:rPr lang="en-US" dirty="0"/>
              <a:t> Higher positive affect               lower inflammation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Meditational model</a:t>
            </a:r>
          </a:p>
          <a:p>
            <a:pPr marL="0" indent="0">
              <a:buNone/>
            </a:pPr>
            <a:r>
              <a:rPr lang="en-US" dirty="0"/>
              <a:t> Higher </a:t>
            </a:r>
            <a:r>
              <a:rPr lang="en-US" dirty="0" err="1"/>
              <a:t>pos</a:t>
            </a:r>
            <a:r>
              <a:rPr lang="en-US" dirty="0"/>
              <a:t>             lower BMI             lower inflammation       Higher </a:t>
            </a:r>
            <a:r>
              <a:rPr lang="en-US" dirty="0" err="1"/>
              <a:t>pos</a:t>
            </a:r>
            <a:r>
              <a:rPr lang="en-US" dirty="0"/>
              <a:t>              mod exercise            lower 		affect					 inflammation 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4082143" y="2373086"/>
            <a:ext cx="79465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508477" y="3894024"/>
            <a:ext cx="79465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4994841" y="3894024"/>
            <a:ext cx="79465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508476" y="4238318"/>
            <a:ext cx="79465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392169" y="4295128"/>
            <a:ext cx="794657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8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US" sz="2900"/>
              <a:t>Physical Health: </a:t>
            </a:r>
            <a:br>
              <a:rPr lang="en-US" sz="2900"/>
            </a:br>
            <a:r>
              <a:rPr lang="en-US" sz="2900"/>
              <a:t>Cardiovascular Disease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23008 w 2441321"/>
              <a:gd name="connsiteY2" fmla="*/ 0 h 18288"/>
              <a:gd name="connsiteX3" fmla="*/ 1782164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79817 w 2441321"/>
              <a:gd name="connsiteY6" fmla="*/ 18288 h 18288"/>
              <a:gd name="connsiteX7" fmla="*/ 1318313 w 2441321"/>
              <a:gd name="connsiteY7" fmla="*/ 18288 h 18288"/>
              <a:gd name="connsiteX8" fmla="*/ 659157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80302" y="-6619"/>
                  <a:pt x="363201" y="4913"/>
                  <a:pt x="585917" y="0"/>
                </a:cubicBezTo>
                <a:cubicBezTo>
                  <a:pt x="832357" y="-10107"/>
                  <a:pt x="996738" y="-34312"/>
                  <a:pt x="1196247" y="0"/>
                </a:cubicBezTo>
                <a:cubicBezTo>
                  <a:pt x="1357180" y="16623"/>
                  <a:pt x="1575042" y="-11041"/>
                  <a:pt x="1806578" y="0"/>
                </a:cubicBezTo>
                <a:cubicBezTo>
                  <a:pt x="2016334" y="246"/>
                  <a:pt x="2239353" y="-8732"/>
                  <a:pt x="2441321" y="0"/>
                </a:cubicBezTo>
                <a:cubicBezTo>
                  <a:pt x="2441188" y="8366"/>
                  <a:pt x="2440365" y="10017"/>
                  <a:pt x="2441321" y="18288"/>
                </a:cubicBezTo>
                <a:cubicBezTo>
                  <a:pt x="2159375" y="49009"/>
                  <a:pt x="2054495" y="45666"/>
                  <a:pt x="1830991" y="18288"/>
                </a:cubicBezTo>
                <a:cubicBezTo>
                  <a:pt x="1615846" y="7509"/>
                  <a:pt x="1521674" y="-5422"/>
                  <a:pt x="1269487" y="18288"/>
                </a:cubicBezTo>
                <a:cubicBezTo>
                  <a:pt x="1019660" y="53960"/>
                  <a:pt x="886911" y="42351"/>
                  <a:pt x="707983" y="18288"/>
                </a:cubicBezTo>
                <a:cubicBezTo>
                  <a:pt x="523434" y="27321"/>
                  <a:pt x="307885" y="34316"/>
                  <a:pt x="0" y="18288"/>
                </a:cubicBezTo>
                <a:cubicBezTo>
                  <a:pt x="-595" y="11182"/>
                  <a:pt x="-5" y="630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12126" y="-10265"/>
                  <a:pt x="442910" y="-11728"/>
                  <a:pt x="585917" y="0"/>
                </a:cubicBezTo>
                <a:cubicBezTo>
                  <a:pt x="724579" y="21751"/>
                  <a:pt x="879365" y="-33198"/>
                  <a:pt x="1123008" y="0"/>
                </a:cubicBezTo>
                <a:cubicBezTo>
                  <a:pt x="1377247" y="11220"/>
                  <a:pt x="1597861" y="-34280"/>
                  <a:pt x="1782164" y="0"/>
                </a:cubicBezTo>
                <a:cubicBezTo>
                  <a:pt x="1975975" y="-3055"/>
                  <a:pt x="2116392" y="-15531"/>
                  <a:pt x="2441321" y="0"/>
                </a:cubicBezTo>
                <a:cubicBezTo>
                  <a:pt x="2441666" y="6144"/>
                  <a:pt x="2441358" y="10525"/>
                  <a:pt x="2441321" y="18288"/>
                </a:cubicBezTo>
                <a:cubicBezTo>
                  <a:pt x="2180658" y="18322"/>
                  <a:pt x="2084222" y="5934"/>
                  <a:pt x="1879817" y="18288"/>
                </a:cubicBezTo>
                <a:cubicBezTo>
                  <a:pt x="1668182" y="16222"/>
                  <a:pt x="1551159" y="-6477"/>
                  <a:pt x="1318313" y="18288"/>
                </a:cubicBezTo>
                <a:cubicBezTo>
                  <a:pt x="1059871" y="56395"/>
                  <a:pt x="901959" y="23831"/>
                  <a:pt x="659157" y="18288"/>
                </a:cubicBezTo>
                <a:cubicBezTo>
                  <a:pt x="444692" y="28483"/>
                  <a:pt x="245032" y="39882"/>
                  <a:pt x="0" y="18288"/>
                </a:cubicBezTo>
                <a:cubicBezTo>
                  <a:pt x="-11" y="10485"/>
                  <a:pt x="-221" y="3288"/>
                  <a:pt x="0" y="0"/>
                </a:cubicBezTo>
                <a:close/>
              </a:path>
              <a:path w="2441321" h="18288" fill="none" stroke="0" extrusionOk="0">
                <a:moveTo>
                  <a:pt x="0" y="0"/>
                </a:moveTo>
                <a:cubicBezTo>
                  <a:pt x="265389" y="-22361"/>
                  <a:pt x="344845" y="-65"/>
                  <a:pt x="585917" y="0"/>
                </a:cubicBezTo>
                <a:cubicBezTo>
                  <a:pt x="858472" y="13102"/>
                  <a:pt x="949265" y="-8078"/>
                  <a:pt x="1196247" y="0"/>
                </a:cubicBezTo>
                <a:cubicBezTo>
                  <a:pt x="1379248" y="30707"/>
                  <a:pt x="1585336" y="24963"/>
                  <a:pt x="1806578" y="0"/>
                </a:cubicBezTo>
                <a:cubicBezTo>
                  <a:pt x="1986731" y="-19207"/>
                  <a:pt x="2264933" y="16601"/>
                  <a:pt x="2441321" y="0"/>
                </a:cubicBezTo>
                <a:cubicBezTo>
                  <a:pt x="2441440" y="8687"/>
                  <a:pt x="2440452" y="9944"/>
                  <a:pt x="2441321" y="18288"/>
                </a:cubicBezTo>
                <a:cubicBezTo>
                  <a:pt x="2149099" y="27348"/>
                  <a:pt x="2027305" y="56470"/>
                  <a:pt x="1830991" y="18288"/>
                </a:cubicBezTo>
                <a:cubicBezTo>
                  <a:pt x="1614571" y="-18764"/>
                  <a:pt x="1500998" y="10727"/>
                  <a:pt x="1269487" y="18288"/>
                </a:cubicBezTo>
                <a:cubicBezTo>
                  <a:pt x="1042399" y="37834"/>
                  <a:pt x="927922" y="45822"/>
                  <a:pt x="707983" y="18288"/>
                </a:cubicBezTo>
                <a:cubicBezTo>
                  <a:pt x="502575" y="-5380"/>
                  <a:pt x="350393" y="34499"/>
                  <a:pt x="0" y="18288"/>
                </a:cubicBezTo>
                <a:cubicBezTo>
                  <a:pt x="-394" y="12154"/>
                  <a:pt x="907" y="668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441321"/>
                      <a:gd name="connsiteY0" fmla="*/ 0 h 18288"/>
                      <a:gd name="connsiteX1" fmla="*/ 585917 w 2441321"/>
                      <a:gd name="connsiteY1" fmla="*/ 0 h 18288"/>
                      <a:gd name="connsiteX2" fmla="*/ 1196247 w 2441321"/>
                      <a:gd name="connsiteY2" fmla="*/ 0 h 18288"/>
                      <a:gd name="connsiteX3" fmla="*/ 1806578 w 2441321"/>
                      <a:gd name="connsiteY3" fmla="*/ 0 h 18288"/>
                      <a:gd name="connsiteX4" fmla="*/ 2441321 w 2441321"/>
                      <a:gd name="connsiteY4" fmla="*/ 0 h 18288"/>
                      <a:gd name="connsiteX5" fmla="*/ 2441321 w 2441321"/>
                      <a:gd name="connsiteY5" fmla="*/ 18288 h 18288"/>
                      <a:gd name="connsiteX6" fmla="*/ 1830991 w 2441321"/>
                      <a:gd name="connsiteY6" fmla="*/ 18288 h 18288"/>
                      <a:gd name="connsiteX7" fmla="*/ 1269487 w 2441321"/>
                      <a:gd name="connsiteY7" fmla="*/ 18288 h 18288"/>
                      <a:gd name="connsiteX8" fmla="*/ 707983 w 2441321"/>
                      <a:gd name="connsiteY8" fmla="*/ 18288 h 18288"/>
                      <a:gd name="connsiteX9" fmla="*/ 0 w 2441321"/>
                      <a:gd name="connsiteY9" fmla="*/ 18288 h 18288"/>
                      <a:gd name="connsiteX10" fmla="*/ 0 w 2441321"/>
                      <a:gd name="connsiteY10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2441321" h="18288" fill="none" extrusionOk="0">
                        <a:moveTo>
                          <a:pt x="0" y="0"/>
                        </a:moveTo>
                        <a:cubicBezTo>
                          <a:pt x="273217" y="-17533"/>
                          <a:pt x="355785" y="-4171"/>
                          <a:pt x="585917" y="0"/>
                        </a:cubicBezTo>
                        <a:cubicBezTo>
                          <a:pt x="816049" y="4171"/>
                          <a:pt x="991446" y="-9419"/>
                          <a:pt x="1196247" y="0"/>
                        </a:cubicBezTo>
                        <a:cubicBezTo>
                          <a:pt x="1401048" y="9419"/>
                          <a:pt x="1589984" y="-731"/>
                          <a:pt x="1806578" y="0"/>
                        </a:cubicBezTo>
                        <a:cubicBezTo>
                          <a:pt x="2023172" y="731"/>
                          <a:pt x="2247754" y="8393"/>
                          <a:pt x="2441321" y="0"/>
                        </a:cubicBezTo>
                        <a:cubicBezTo>
                          <a:pt x="2441167" y="8655"/>
                          <a:pt x="2440437" y="9975"/>
                          <a:pt x="2441321" y="18288"/>
                        </a:cubicBezTo>
                        <a:cubicBezTo>
                          <a:pt x="2169723" y="30506"/>
                          <a:pt x="2045712" y="39140"/>
                          <a:pt x="1830991" y="18288"/>
                        </a:cubicBezTo>
                        <a:cubicBezTo>
                          <a:pt x="1616270" y="-2564"/>
                          <a:pt x="1505876" y="3949"/>
                          <a:pt x="1269487" y="18288"/>
                        </a:cubicBezTo>
                        <a:cubicBezTo>
                          <a:pt x="1033098" y="32627"/>
                          <a:pt x="908661" y="41191"/>
                          <a:pt x="707983" y="18288"/>
                        </a:cubicBezTo>
                        <a:cubicBezTo>
                          <a:pt x="507305" y="-4615"/>
                          <a:pt x="333592" y="20759"/>
                          <a:pt x="0" y="18288"/>
                        </a:cubicBezTo>
                        <a:cubicBezTo>
                          <a:pt x="-688" y="11716"/>
                          <a:pt x="875" y="6357"/>
                          <a:pt x="0" y="0"/>
                        </a:cubicBezTo>
                        <a:close/>
                      </a:path>
                      <a:path w="2441321" h="18288" stroke="0" extrusionOk="0">
                        <a:moveTo>
                          <a:pt x="0" y="0"/>
                        </a:moveTo>
                        <a:cubicBezTo>
                          <a:pt x="207071" y="-14617"/>
                          <a:pt x="444194" y="-15606"/>
                          <a:pt x="585917" y="0"/>
                        </a:cubicBezTo>
                        <a:cubicBezTo>
                          <a:pt x="727640" y="15606"/>
                          <a:pt x="904326" y="-79"/>
                          <a:pt x="1123008" y="0"/>
                        </a:cubicBezTo>
                        <a:cubicBezTo>
                          <a:pt x="1341690" y="79"/>
                          <a:pt x="1600014" y="10401"/>
                          <a:pt x="1782164" y="0"/>
                        </a:cubicBezTo>
                        <a:cubicBezTo>
                          <a:pt x="1964314" y="-10401"/>
                          <a:pt x="2143537" y="-21488"/>
                          <a:pt x="2441321" y="0"/>
                        </a:cubicBezTo>
                        <a:cubicBezTo>
                          <a:pt x="2441735" y="5928"/>
                          <a:pt x="2441551" y="11133"/>
                          <a:pt x="2441321" y="18288"/>
                        </a:cubicBezTo>
                        <a:cubicBezTo>
                          <a:pt x="2166745" y="28773"/>
                          <a:pt x="2078726" y="15476"/>
                          <a:pt x="1879817" y="18288"/>
                        </a:cubicBezTo>
                        <a:cubicBezTo>
                          <a:pt x="1680908" y="21100"/>
                          <a:pt x="1548770" y="-4127"/>
                          <a:pt x="1318313" y="18288"/>
                        </a:cubicBezTo>
                        <a:cubicBezTo>
                          <a:pt x="1087856" y="40703"/>
                          <a:pt x="894613" y="3927"/>
                          <a:pt x="659157" y="18288"/>
                        </a:cubicBezTo>
                        <a:cubicBezTo>
                          <a:pt x="423701" y="32649"/>
                          <a:pt x="246611" y="33975"/>
                          <a:pt x="0" y="18288"/>
                        </a:cubicBezTo>
                        <a:cubicBezTo>
                          <a:pt x="-348" y="10388"/>
                          <a:pt x="-12" y="396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r>
              <a:rPr lang="en-US" sz="1900"/>
              <a:t>Positive affective experiences associated with decreased risk of cardiovascular disease and better cardiac functioning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1487329"/>
            <a:ext cx="5177790" cy="388334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118401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the benefits of positive emotions and other affective experiences?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Social Relationships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 rot="5400000">
            <a:off x="-1371600" y="1984248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930659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421682"/>
            <a:ext cx="3733183" cy="3639289"/>
          </a:xfrm>
        </p:spPr>
        <p:txBody>
          <a:bodyPr anchor="ctr">
            <a:no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Married people tend to be happier than single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Happy people…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Have better social relationships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Tend to be perceived as more likable and cooperative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Tend to be more socially connected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77422" y="0"/>
            <a:ext cx="4366578" cy="6685267"/>
            <a:chOff x="6357228" y="0"/>
            <a:chExt cx="5822103" cy="6685267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 descr="Wedding Rings">
            <a:extLst>
              <a:ext uri="{FF2B5EF4-FFF2-40B4-BE49-F238E27FC236}">
                <a16:creationId xmlns:a16="http://schemas.microsoft.com/office/drawing/2014/main" id="{6014E712-3532-06B6-EEF8-CADA14F3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5615" y="2065912"/>
            <a:ext cx="2746374" cy="274637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525146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B11924-F2C4-425F-B722-10A057600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Mills College Yearbook Study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E1C8B4-FEA4-4F80-A127-9DF3E7C3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6F18C05-D8B5-DF3A-99EF-DDC7D46614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169378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0620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199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2D506-58B1-4497-A59C-39FE55EF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bg1"/>
                </a:solidFill>
              </a:rPr>
              <a:t>Since then….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A49307-494A-42BB-B048-EC5D6402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and Application of Positive Psychology </a:t>
            </a:r>
            <a:br>
              <a:rPr lang="en-US" sz="900"/>
            </a:br>
            <a:r>
              <a:rPr lang="en-US" sz="900"/>
              <a:t>© Cambridge University Press 2021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4E56368-1B9B-06F1-8824-6479DDB60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531093"/>
              </p:ext>
            </p:extLst>
          </p:nvPr>
        </p:nvGraphicFramePr>
        <p:xfrm>
          <a:off x="4101291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4516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6C382-5B6C-48A3-A7E1-55C743DE6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Happiness is Contagious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D9148-FA39-C3BF-2E62-59A2CE1E9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78" r="17973"/>
          <a:stretch/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37AB5-F915-4DA9-9508-E2F420E98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8925" y="3105152"/>
            <a:ext cx="5953121" cy="3100386"/>
          </a:xfrm>
        </p:spPr>
        <p:txBody>
          <a:bodyPr anchor="ctr">
            <a:normAutofit/>
          </a:bodyPr>
          <a:lstStyle/>
          <a:p>
            <a:r>
              <a:rPr lang="en-US" sz="2400" dirty="0"/>
              <a:t>4,739 people followed over 20 years (1983 – 2003)</a:t>
            </a:r>
          </a:p>
          <a:p>
            <a:r>
              <a:rPr lang="en-US" sz="2400" dirty="0"/>
              <a:t>Happy and unhappy people clustered together</a:t>
            </a:r>
          </a:p>
          <a:p>
            <a:r>
              <a:rPr lang="en-US" sz="2400" dirty="0"/>
              <a:t>Happiness spread over time</a:t>
            </a:r>
          </a:p>
          <a:p>
            <a:pPr lvl="1"/>
            <a:r>
              <a:rPr lang="en-US" dirty="0"/>
              <a:t>If someone in your network becomes happier over time, you are also likely to become happier over 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94FBD-F34E-4324-85F6-A1F02355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The Science and Application of Positive Psychology </a:t>
            </a:r>
            <a:b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709575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are the benefits of positive emotions and other affective experiences?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Cognitive Functioning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 rot="5400000">
            <a:off x="-1371600" y="1984248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</a:pPr>
            <a:r>
              <a:rPr lang="en-US" sz="9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7147622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2394" y="489507"/>
            <a:ext cx="2318706" cy="16554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/>
              <a:t>Cognitive Functioning: Isen Research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-1356389" y="1945335"/>
            <a:ext cx="3086099" cy="365125"/>
          </a:xfr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228" r="19374" b="-1"/>
          <a:stretch/>
        </p:blipFill>
        <p:spPr>
          <a:xfrm>
            <a:off x="20" y="431"/>
            <a:ext cx="6086455" cy="640831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82394" y="2418408"/>
            <a:ext cx="2207110" cy="35402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228600" lvl="1"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Positive emotions facilitate memory and promote cognitive flexibility and creativity in problem solving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8741"/>
            <a:ext cx="9143997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8742"/>
            <a:ext cx="6086475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02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Old wrinkled hands with some coins">
            <a:extLst>
              <a:ext uri="{FF2B5EF4-FFF2-40B4-BE49-F238E27FC236}">
                <a16:creationId xmlns:a16="http://schemas.microsoft.com/office/drawing/2014/main" id="{0FF52C58-2198-DC77-BFFB-E847128CCC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7" r="31005" b="-1"/>
          <a:stretch/>
        </p:blipFill>
        <p:spPr>
          <a:xfrm>
            <a:off x="3082595" y="10"/>
            <a:ext cx="6061405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9285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711665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/>
              <a:t>What are the benefits of positive emotions and other affective experiences?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485" y="4872922"/>
            <a:ext cx="2949980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700"/>
              <a:t>Money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030633" y="6356350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2383187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06C0-C9A7-4117-87C6-DF7ED8D8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Affective Experiences and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AAB37-3D1D-4454-9881-CACF4FE07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5957207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Does having more money make you happier?</a:t>
            </a:r>
          </a:p>
          <a:p>
            <a:r>
              <a:rPr lang="en-US" dirty="0"/>
              <a:t>Weak relationship between income and happiness</a:t>
            </a:r>
          </a:p>
          <a:p>
            <a:r>
              <a:rPr lang="en-US" dirty="0"/>
              <a:t>Debt and life satisfaction weakly related</a:t>
            </a:r>
          </a:p>
          <a:p>
            <a:r>
              <a:rPr lang="en-US" dirty="0"/>
              <a:t>Income more strongly related to life satisfaction than positive affect</a:t>
            </a:r>
          </a:p>
          <a:p>
            <a:r>
              <a:rPr lang="en-US" dirty="0"/>
              <a:t>At lower levels of income, income is more strongly related to positive affect</a:t>
            </a:r>
          </a:p>
          <a:p>
            <a:r>
              <a:rPr lang="en-US" dirty="0"/>
              <a:t>Wealthier nations happier than poorer nations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A69BC-2CE2-4477-8538-5E3565CC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5857" y="2699657"/>
            <a:ext cx="2242457" cy="4463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 = 0.12 – 0.24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5857" y="3942667"/>
            <a:ext cx="2242457" cy="4245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than $75,000</a:t>
            </a:r>
          </a:p>
        </p:txBody>
      </p:sp>
    </p:spTree>
    <p:extLst>
      <p:ext uri="{BB962C8B-B14F-4D97-AF65-F5344CB8AC3E}">
        <p14:creationId xmlns:p14="http://schemas.microsoft.com/office/powerpoint/2010/main" val="2642105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E15AB7-D058-4C69-9964-FD1C40DE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0070C0"/>
                </a:solidFill>
              </a:rPr>
              <a:t>Easterlin</a:t>
            </a:r>
            <a:r>
              <a:rPr lang="en-US" dirty="0">
                <a:solidFill>
                  <a:srgbClr val="0070C0"/>
                </a:solidFill>
              </a:rPr>
              <a:t> Paradox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9E101D-ABD2-4FA7-B0B7-A56388A21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377" y="2066192"/>
            <a:ext cx="6673361" cy="371914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E0E8C-D81D-4207-A7F9-FC1C19D0A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963385" y="1454890"/>
            <a:ext cx="7217229" cy="3265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 though income has doubled since 1972, happiness is relatively stable</a:t>
            </a:r>
          </a:p>
        </p:txBody>
      </p:sp>
    </p:spTree>
    <p:extLst>
      <p:ext uri="{BB962C8B-B14F-4D97-AF65-F5344CB8AC3E}">
        <p14:creationId xmlns:p14="http://schemas.microsoft.com/office/powerpoint/2010/main" val="33562417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BDBF-181C-437B-9DCD-6D60752E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Affective Experiences and Money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6F990-BDCA-47AD-B786-FE9F0F66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Does How You Spend Your Money Matter?</a:t>
            </a:r>
          </a:p>
          <a:p>
            <a:r>
              <a:rPr lang="en-US" dirty="0"/>
              <a:t>Spending money on things shorter happiness boost than spending money on experiences</a:t>
            </a:r>
          </a:p>
          <a:p>
            <a:pPr lvl="1"/>
            <a:r>
              <a:rPr lang="en-US" dirty="0"/>
              <a:t>Hedonic adaptation</a:t>
            </a:r>
          </a:p>
          <a:p>
            <a:pPr lvl="1"/>
            <a:r>
              <a:rPr lang="en-US" dirty="0"/>
              <a:t>Experiences: trips, spa, dinner,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Spending money on buying back time associated with happiness (e.g., lawn or laundry service)</a:t>
            </a:r>
          </a:p>
          <a:p>
            <a:pPr lvl="1"/>
            <a:r>
              <a:rPr lang="en-US" dirty="0"/>
              <a:t>Time Scarcity</a:t>
            </a:r>
          </a:p>
          <a:p>
            <a:r>
              <a:rPr lang="en-US" dirty="0"/>
              <a:t>Spending money on others associated with happiness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F09BC-0496-4D68-808B-0C53F4A4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2783602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SH9k99M31Y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73032" y="1077686"/>
            <a:ext cx="7643159" cy="429985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Science of Positive Psychology © Cambridge University Press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3712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E86A9-5E82-46CD-BE1C-43654B68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World Happiness Report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BBFE037-646F-4AAF-A5F1-00C4A6921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429" y="1503947"/>
            <a:ext cx="6399473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06C21-538A-455C-909C-DBF1F3C3D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77000" y="1765074"/>
            <a:ext cx="2231571" cy="3829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Proportional contributions of 6 factors in predicting life evaluation across countries</a:t>
            </a:r>
          </a:p>
        </p:txBody>
      </p:sp>
    </p:spTree>
    <p:extLst>
      <p:ext uri="{BB962C8B-B14F-4D97-AF65-F5344CB8AC3E}">
        <p14:creationId xmlns:p14="http://schemas.microsoft.com/office/powerpoint/2010/main" val="1778853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Happiest Countries in the World – Based on Life Evaluation ( 2024)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89A8-3D58-4066-968F-2B056933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155" y="6354798"/>
            <a:ext cx="5139690" cy="461665"/>
          </a:xfrm>
        </p:spPr>
        <p:txBody>
          <a:bodyPr/>
          <a:lstStyle/>
          <a:p>
            <a:r>
              <a:rPr lang="en-US" dirty="0"/>
              <a:t>The Science and Application of Positive Psychology </a:t>
            </a:r>
            <a:br>
              <a:rPr lang="en-US" dirty="0"/>
            </a:br>
            <a:r>
              <a:rPr lang="en-US" dirty="0"/>
              <a:t>© Cambridge University Press 2021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25A9F1-8555-7F2C-772E-9C9BEAE8EE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031012"/>
              </p:ext>
            </p:extLst>
          </p:nvPr>
        </p:nvGraphicFramePr>
        <p:xfrm>
          <a:off x="832036" y="1687049"/>
          <a:ext cx="7479927" cy="4664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309">
                  <a:extLst>
                    <a:ext uri="{9D8B030D-6E8A-4147-A177-3AD203B41FA5}">
                      <a16:colId xmlns:a16="http://schemas.microsoft.com/office/drawing/2014/main" val="2853402691"/>
                    </a:ext>
                  </a:extLst>
                </a:gridCol>
                <a:gridCol w="2493309">
                  <a:extLst>
                    <a:ext uri="{9D8B030D-6E8A-4147-A177-3AD203B41FA5}">
                      <a16:colId xmlns:a16="http://schemas.microsoft.com/office/drawing/2014/main" val="2514008361"/>
                    </a:ext>
                  </a:extLst>
                </a:gridCol>
                <a:gridCol w="2493309">
                  <a:extLst>
                    <a:ext uri="{9D8B030D-6E8A-4147-A177-3AD203B41FA5}">
                      <a16:colId xmlns:a16="http://schemas.microsoft.com/office/drawing/2014/main" val="936716763"/>
                    </a:ext>
                  </a:extLst>
                </a:gridCol>
              </a:tblGrid>
              <a:tr h="383792">
                <a:tc>
                  <a:txBody>
                    <a:bodyPr/>
                    <a:lstStyle/>
                    <a:p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Overal</a:t>
                      </a:r>
                      <a:r>
                        <a:rPr lang="en-US" dirty="0"/>
                        <a:t>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91641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3" tooltip="Finland"/>
                        </a:rPr>
                        <a:t>Finland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7.741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894853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4" tooltip="Denmark"/>
                        </a:rPr>
                        <a:t>Denmark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7.583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81206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5" tooltip="Iceland"/>
                        </a:rPr>
                        <a:t>Iceland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7.525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09150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6" tooltip="Sweden"/>
                        </a:rPr>
                        <a:t>Sweden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7.344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795108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7" tooltip="Israel"/>
                        </a:rPr>
                        <a:t>Israel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7.341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621331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  <a:r>
                        <a:rPr lang="en-US" dirty="0">
                          <a:hlinkClick r:id="rId8" tooltip="Netherlands"/>
                        </a:rPr>
                        <a:t>Netherlands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7.319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7386694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9" tooltip="Norway"/>
                        </a:rPr>
                        <a:t>Norway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7.302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714825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  <a:r>
                        <a:rPr lang="en-US">
                          <a:hlinkClick r:id="rId10" tooltip="Luxembourg"/>
                        </a:rPr>
                        <a:t>Luxembourg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7.122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2880096"/>
                  </a:ext>
                </a:extLst>
              </a:tr>
              <a:tr h="475591">
                <a:tc>
                  <a:txBody>
                    <a:bodyPr/>
                    <a:lstStyle/>
                    <a:p>
                      <a:r>
                        <a:rPr lang="en-US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  </a:t>
                      </a:r>
                      <a:r>
                        <a:rPr lang="en-US">
                          <a:hlinkClick r:id="rId11" tooltip="Switzerland"/>
                        </a:rPr>
                        <a:t>Switzerland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7.060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1756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183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 sz="3100"/>
              <a:t>Well-Being Journal Entry #7</a:t>
            </a:r>
            <a:br>
              <a:rPr lang="en-US" sz="3100"/>
            </a:br>
            <a:r>
              <a:rPr lang="en-US" sz="3100"/>
              <a:t>Positivity Ratio (Fredrickson)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https://positivityratio.com/</a:t>
            </a:r>
            <a:r>
              <a:rPr lang="en-US" sz="2400" dirty="0"/>
              <a:t> </a:t>
            </a:r>
          </a:p>
          <a:p>
            <a:r>
              <a:rPr lang="en-US" sz="2400" dirty="0"/>
              <a:t>Take the positive self-test and record in your journal</a:t>
            </a:r>
          </a:p>
          <a:p>
            <a:r>
              <a:rPr lang="en-US" sz="2400" dirty="0"/>
              <a:t>Include in your journal entry how you could improve your positivity ratio</a:t>
            </a:r>
          </a:p>
        </p:txBody>
      </p:sp>
      <p:pic>
        <p:nvPicPr>
          <p:cNvPr id="6" name="Picture 5" descr="A closeup photo of an open book">
            <a:extLst>
              <a:ext uri="{FF2B5EF4-FFF2-40B4-BE49-F238E27FC236}">
                <a16:creationId xmlns:a16="http://schemas.microsoft.com/office/drawing/2014/main" id="{4452641A-F261-482E-56FE-D280CE561E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591" r="32823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724072" y="6356350"/>
            <a:ext cx="3104351" cy="365125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/>
              <a:t>The Science of Positive Psychology © Cambridge University Press 2021</a:t>
            </a:r>
          </a:p>
        </p:txBody>
      </p:sp>
    </p:spTree>
    <p:extLst>
      <p:ext uri="{BB962C8B-B14F-4D97-AF65-F5344CB8AC3E}">
        <p14:creationId xmlns:p14="http://schemas.microsoft.com/office/powerpoint/2010/main" val="1233379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F5FA861B6BEB4497E30226FB654B7F" ma:contentTypeVersion="14" ma:contentTypeDescription="Create a new document." ma:contentTypeScope="" ma:versionID="5446b6abc1174e76b1ecf231e0511309">
  <xsd:schema xmlns:xsd="http://www.w3.org/2001/XMLSchema" xmlns:xs="http://www.w3.org/2001/XMLSchema" xmlns:p="http://schemas.microsoft.com/office/2006/metadata/properties" xmlns:ns3="098d3ce3-1732-4665-af2b-0c47aa6f0599" xmlns:ns4="6ebc9d44-dfc5-41fa-9646-f594d8bccd35" targetNamespace="http://schemas.microsoft.com/office/2006/metadata/properties" ma:root="true" ma:fieldsID="6ac3cd6cbff858ee08bb67d456e99cb1" ns3:_="" ns4:_="">
    <xsd:import namespace="098d3ce3-1732-4665-af2b-0c47aa6f0599"/>
    <xsd:import namespace="6ebc9d44-dfc5-41fa-9646-f594d8bccd3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8d3ce3-1732-4665-af2b-0c47aa6f05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bc9d44-dfc5-41fa-9646-f594d8bccd3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77D237-49E5-43D1-BBAE-C65D67431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8d3ce3-1732-4665-af2b-0c47aa6f0599"/>
    <ds:schemaRef ds:uri="6ebc9d44-dfc5-41fa-9646-f594d8bccd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9FC689-0397-489D-B6C4-918490A97925}">
  <ds:schemaRefs>
    <ds:schemaRef ds:uri="http://purl.org/dc/terms/"/>
    <ds:schemaRef ds:uri="098d3ce3-1732-4665-af2b-0c47aa6f059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6ebc9d44-dfc5-41fa-9646-f594d8bccd35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F14F560-3B9A-438C-83B1-6E3F72FA08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2251</TotalTime>
  <Words>2315</Words>
  <Application>Microsoft Office PowerPoint</Application>
  <PresentationFormat>On-screen Show (4:3)</PresentationFormat>
  <Paragraphs>278</Paragraphs>
  <Slides>41</Slides>
  <Notes>7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Wingdings</vt:lpstr>
      <vt:lpstr>Office Theme</vt:lpstr>
      <vt:lpstr>Chapter 3</vt:lpstr>
      <vt:lpstr>If you could take a pill that made you happy all the time, would you take it?</vt:lpstr>
      <vt:lpstr>PowerPoint Presentation</vt:lpstr>
      <vt:lpstr>Why do positive emotions matter?</vt:lpstr>
      <vt:lpstr>Why do positive emotions matter?</vt:lpstr>
      <vt:lpstr>Why do positive emotions matter?</vt:lpstr>
      <vt:lpstr>Broaden and Build Theory of Positive Emotions</vt:lpstr>
      <vt:lpstr>Broaden and Build -- Broaden</vt:lpstr>
      <vt:lpstr>Broaden and Build -- Broaden</vt:lpstr>
      <vt:lpstr>Broaden and Build</vt:lpstr>
      <vt:lpstr>PowerPoint Presentation</vt:lpstr>
      <vt:lpstr>Thinking broadly</vt:lpstr>
      <vt:lpstr>Broaden and Build -- Build</vt:lpstr>
      <vt:lpstr>Resources Garnered in the Build</vt:lpstr>
      <vt:lpstr>Well-Being Journal Entry #6</vt:lpstr>
      <vt:lpstr>What are the benefits of positive emotions and other affective experiences?</vt:lpstr>
      <vt:lpstr>The Nun Study – Danner et al.</vt:lpstr>
      <vt:lpstr>Nun Study Survival Curve</vt:lpstr>
      <vt:lpstr>Since the Nun Study….</vt:lpstr>
      <vt:lpstr>However, </vt:lpstr>
      <vt:lpstr>Synthesis on Mortality Data</vt:lpstr>
      <vt:lpstr>What are the benefits of positive emotions and other affective experiences?</vt:lpstr>
      <vt:lpstr>Upward Spiral Theory</vt:lpstr>
      <vt:lpstr>Undoing Hypothesis</vt:lpstr>
      <vt:lpstr>Physical Health: Inflammation</vt:lpstr>
      <vt:lpstr>Physical Health:  Cardiovascular Disease</vt:lpstr>
      <vt:lpstr>What are the benefits of positive emotions and other affective experiences?</vt:lpstr>
      <vt:lpstr>Links</vt:lpstr>
      <vt:lpstr>Mills College Yearbook Study</vt:lpstr>
      <vt:lpstr>Since then….</vt:lpstr>
      <vt:lpstr>Happiness is Contagious</vt:lpstr>
      <vt:lpstr>What are the benefits of positive emotions and other affective experiences?</vt:lpstr>
      <vt:lpstr>Cognitive Functioning: Isen Research</vt:lpstr>
      <vt:lpstr>What are the benefits of positive emotions and other affective experiences?</vt:lpstr>
      <vt:lpstr>Positive Affective Experiences and Money</vt:lpstr>
      <vt:lpstr>Easterlin Paradox</vt:lpstr>
      <vt:lpstr>Positive Affective Experiences and Money</vt:lpstr>
      <vt:lpstr>PowerPoint Presentation</vt:lpstr>
      <vt:lpstr>World Happiness Report</vt:lpstr>
      <vt:lpstr>Happiest Countries in the World – Based on Life Evaluation ( 2024)</vt:lpstr>
      <vt:lpstr>Well-Being Journal Entry #7 Positivity Ratio (Fredrickson)</vt:lpstr>
    </vt:vector>
  </TitlesOfParts>
  <Company>Cambridge University 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Jane Adams</dc:creator>
  <cp:lastModifiedBy>Traver, Holly</cp:lastModifiedBy>
  <cp:revision>53</cp:revision>
  <dcterms:created xsi:type="dcterms:W3CDTF">2021-07-26T18:02:28Z</dcterms:created>
  <dcterms:modified xsi:type="dcterms:W3CDTF">2024-09-15T15:49:52Z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0x01010031F5FA861B6BEB4497E30226FB654B7F</vt:lpwstr>
  </property>
</Properties>
</file>