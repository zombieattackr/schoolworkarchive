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4"/>
  </p:sldMasterIdLst>
  <p:notesMasterIdLst>
    <p:notesMasterId r:id="rId46"/>
  </p:notesMasterIdLst>
  <p:handoutMasterIdLst>
    <p:handoutMasterId r:id="rId47"/>
  </p:handoutMasterIdLst>
  <p:sldIdLst>
    <p:sldId id="259" r:id="rId5"/>
    <p:sldId id="339" r:id="rId6"/>
    <p:sldId id="257" r:id="rId7"/>
    <p:sldId id="340" r:id="rId8"/>
    <p:sldId id="359" r:id="rId9"/>
    <p:sldId id="356" r:id="rId10"/>
    <p:sldId id="357" r:id="rId11"/>
    <p:sldId id="360" r:id="rId12"/>
    <p:sldId id="361" r:id="rId13"/>
    <p:sldId id="385" r:id="rId14"/>
    <p:sldId id="388" r:id="rId15"/>
    <p:sldId id="343" r:id="rId16"/>
    <p:sldId id="344" r:id="rId17"/>
    <p:sldId id="387" r:id="rId18"/>
    <p:sldId id="371" r:id="rId19"/>
    <p:sldId id="372" r:id="rId20"/>
    <p:sldId id="345" r:id="rId21"/>
    <p:sldId id="362" r:id="rId22"/>
    <p:sldId id="346" r:id="rId23"/>
    <p:sldId id="364" r:id="rId24"/>
    <p:sldId id="347" r:id="rId25"/>
    <p:sldId id="386" r:id="rId26"/>
    <p:sldId id="365" r:id="rId27"/>
    <p:sldId id="348" r:id="rId28"/>
    <p:sldId id="367" r:id="rId29"/>
    <p:sldId id="369" r:id="rId30"/>
    <p:sldId id="370" r:id="rId31"/>
    <p:sldId id="373" r:id="rId32"/>
    <p:sldId id="350" r:id="rId33"/>
    <p:sldId id="351" r:id="rId34"/>
    <p:sldId id="384" r:id="rId35"/>
    <p:sldId id="352" r:id="rId36"/>
    <p:sldId id="353" r:id="rId37"/>
    <p:sldId id="354" r:id="rId38"/>
    <p:sldId id="375" r:id="rId39"/>
    <p:sldId id="377" r:id="rId40"/>
    <p:sldId id="378" r:id="rId41"/>
    <p:sldId id="379" r:id="rId42"/>
    <p:sldId id="380" r:id="rId43"/>
    <p:sldId id="381" r:id="rId44"/>
    <p:sldId id="383" r:id="rId4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0F59BF-065E-4329-8E0D-D21374428FAB}" v="9" dt="2022-02-09T10:32:01.2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28" autoAdjust="0"/>
    <p:restoredTop sz="77551" autoAdjust="0"/>
  </p:normalViewPr>
  <p:slideViewPr>
    <p:cSldViewPr snapToGrid="0">
      <p:cViewPr varScale="1">
        <p:scale>
          <a:sx n="42" d="100"/>
          <a:sy n="42" d="100"/>
        </p:scale>
        <p:origin x="597" y="41"/>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228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diagrams/_rels/data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1D75F21-3D4C-4A32-8E65-BB06DD0F8A04}" type="doc">
      <dgm:prSet loTypeId="urn:microsoft.com/office/officeart/2005/8/layout/vList2" loCatId="list" qsTypeId="urn:microsoft.com/office/officeart/2005/8/quickstyle/simple5" qsCatId="simple" csTypeId="urn:microsoft.com/office/officeart/2005/8/colors/colorful2" csCatId="colorful"/>
      <dgm:spPr/>
      <dgm:t>
        <a:bodyPr/>
        <a:lstStyle/>
        <a:p>
          <a:endParaRPr lang="en-US"/>
        </a:p>
      </dgm:t>
    </dgm:pt>
    <dgm:pt modelId="{6D84BA7E-FA2B-4302-BA7E-5D7842D81B3B}">
      <dgm:prSet/>
      <dgm:spPr/>
      <dgm:t>
        <a:bodyPr/>
        <a:lstStyle/>
        <a:p>
          <a:r>
            <a:rPr lang="en-US" b="1" u="sng"/>
            <a:t>Present-Moment Awareness</a:t>
          </a:r>
          <a:r>
            <a:rPr lang="en-US"/>
            <a:t>: purposeful attention to current internal and external environment</a:t>
          </a:r>
        </a:p>
      </dgm:t>
    </dgm:pt>
    <dgm:pt modelId="{BB099DEC-3767-43CE-A957-BB028E7A5231}" type="parTrans" cxnId="{785B1B5C-A6DE-457F-B7C6-E759848F75EC}">
      <dgm:prSet/>
      <dgm:spPr/>
      <dgm:t>
        <a:bodyPr/>
        <a:lstStyle/>
        <a:p>
          <a:endParaRPr lang="en-US"/>
        </a:p>
      </dgm:t>
    </dgm:pt>
    <dgm:pt modelId="{C9C43265-FF72-469A-B096-060DFFF103BC}" type="sibTrans" cxnId="{785B1B5C-A6DE-457F-B7C6-E759848F75EC}">
      <dgm:prSet/>
      <dgm:spPr/>
      <dgm:t>
        <a:bodyPr/>
        <a:lstStyle/>
        <a:p>
          <a:endParaRPr lang="en-US"/>
        </a:p>
      </dgm:t>
    </dgm:pt>
    <dgm:pt modelId="{69985057-1A37-46B9-B1A3-CB5FAD8C10B7}">
      <dgm:prSet/>
      <dgm:spPr/>
      <dgm:t>
        <a:bodyPr/>
        <a:lstStyle/>
        <a:p>
          <a:r>
            <a:rPr lang="en-US" b="1" u="sng" dirty="0"/>
            <a:t>Non-judgmental Stance</a:t>
          </a:r>
          <a:r>
            <a:rPr lang="en-US" dirty="0"/>
            <a:t>: notice experiences without labeling as good or bad, not evaluating</a:t>
          </a:r>
        </a:p>
      </dgm:t>
    </dgm:pt>
    <dgm:pt modelId="{F55D8196-EB55-4972-B059-7FE8DB006C9D}" type="parTrans" cxnId="{D6F01C88-0B90-43F8-99D3-E2EE5D5923E8}">
      <dgm:prSet/>
      <dgm:spPr/>
      <dgm:t>
        <a:bodyPr/>
        <a:lstStyle/>
        <a:p>
          <a:endParaRPr lang="en-US"/>
        </a:p>
      </dgm:t>
    </dgm:pt>
    <dgm:pt modelId="{6C21CAC9-2422-49F1-8B8F-BA5137E49250}" type="sibTrans" cxnId="{D6F01C88-0B90-43F8-99D3-E2EE5D5923E8}">
      <dgm:prSet/>
      <dgm:spPr/>
      <dgm:t>
        <a:bodyPr/>
        <a:lstStyle/>
        <a:p>
          <a:endParaRPr lang="en-US"/>
        </a:p>
      </dgm:t>
    </dgm:pt>
    <dgm:pt modelId="{CE1E5630-E137-4E5B-9CB6-0BAE09CA7BB0}">
      <dgm:prSet/>
      <dgm:spPr/>
      <dgm:t>
        <a:bodyPr/>
        <a:lstStyle/>
        <a:p>
          <a:r>
            <a:rPr lang="en-US" b="1" u="sng"/>
            <a:t>Non-reactivity</a:t>
          </a:r>
          <a:r>
            <a:rPr lang="en-US"/>
            <a:t>: leaving space between you and your experiences</a:t>
          </a:r>
        </a:p>
      </dgm:t>
    </dgm:pt>
    <dgm:pt modelId="{A4F3C4F5-6A4B-4F6F-BC82-B98A2F320303}" type="parTrans" cxnId="{A76596D3-A010-414F-AC6F-DBF1A91FC7C6}">
      <dgm:prSet/>
      <dgm:spPr/>
      <dgm:t>
        <a:bodyPr/>
        <a:lstStyle/>
        <a:p>
          <a:endParaRPr lang="en-US"/>
        </a:p>
      </dgm:t>
    </dgm:pt>
    <dgm:pt modelId="{65C1063E-4F36-4DAD-8D6D-97705FD55129}" type="sibTrans" cxnId="{A76596D3-A010-414F-AC6F-DBF1A91FC7C6}">
      <dgm:prSet/>
      <dgm:spPr/>
      <dgm:t>
        <a:bodyPr/>
        <a:lstStyle/>
        <a:p>
          <a:endParaRPr lang="en-US"/>
        </a:p>
      </dgm:t>
    </dgm:pt>
    <dgm:pt modelId="{C0F08525-528D-4E14-B245-A6D45BA921F2}">
      <dgm:prSet/>
      <dgm:spPr/>
      <dgm:t>
        <a:bodyPr/>
        <a:lstStyle/>
        <a:p>
          <a:r>
            <a:rPr lang="en-US" b="1" u="sng"/>
            <a:t>Acceptance</a:t>
          </a:r>
          <a:r>
            <a:rPr lang="en-US"/>
            <a:t>: allowing experience as it really is</a:t>
          </a:r>
        </a:p>
      </dgm:t>
    </dgm:pt>
    <dgm:pt modelId="{E0425D09-C721-4AFC-907A-0C5BA1DB1A58}" type="parTrans" cxnId="{F567C6D1-B02F-4D04-A067-D1A12597CF21}">
      <dgm:prSet/>
      <dgm:spPr/>
      <dgm:t>
        <a:bodyPr/>
        <a:lstStyle/>
        <a:p>
          <a:endParaRPr lang="en-US"/>
        </a:p>
      </dgm:t>
    </dgm:pt>
    <dgm:pt modelId="{535D3EE6-4F9E-4D53-A6BB-9C4D3E762288}" type="sibTrans" cxnId="{F567C6D1-B02F-4D04-A067-D1A12597CF21}">
      <dgm:prSet/>
      <dgm:spPr/>
      <dgm:t>
        <a:bodyPr/>
        <a:lstStyle/>
        <a:p>
          <a:endParaRPr lang="en-US"/>
        </a:p>
      </dgm:t>
    </dgm:pt>
    <dgm:pt modelId="{61FEE5BE-73FF-4CAF-A732-95D5BC3CF955}">
      <dgm:prSet/>
      <dgm:spPr/>
      <dgm:t>
        <a:bodyPr/>
        <a:lstStyle/>
        <a:p>
          <a:r>
            <a:rPr lang="en-US" b="1" u="sng"/>
            <a:t>Beginner’s Mind</a:t>
          </a:r>
          <a:r>
            <a:rPr lang="en-US"/>
            <a:t>: approaching present moment as a novice still open to learning</a:t>
          </a:r>
        </a:p>
      </dgm:t>
    </dgm:pt>
    <dgm:pt modelId="{42C4FBEA-69C8-4453-AB43-3511CD6746A3}" type="parTrans" cxnId="{2DE9A935-74AB-4C91-B914-666070C7B8B7}">
      <dgm:prSet/>
      <dgm:spPr/>
      <dgm:t>
        <a:bodyPr/>
        <a:lstStyle/>
        <a:p>
          <a:endParaRPr lang="en-US"/>
        </a:p>
      </dgm:t>
    </dgm:pt>
    <dgm:pt modelId="{49D39546-600F-4CF0-B3A5-74CA5888D24C}" type="sibTrans" cxnId="{2DE9A935-74AB-4C91-B914-666070C7B8B7}">
      <dgm:prSet/>
      <dgm:spPr/>
      <dgm:t>
        <a:bodyPr/>
        <a:lstStyle/>
        <a:p>
          <a:endParaRPr lang="en-US"/>
        </a:p>
      </dgm:t>
    </dgm:pt>
    <dgm:pt modelId="{FAD28FA7-71A1-47C6-AEB5-AD57BADCA18C}" type="pres">
      <dgm:prSet presAssocID="{71D75F21-3D4C-4A32-8E65-BB06DD0F8A04}" presName="linear" presStyleCnt="0">
        <dgm:presLayoutVars>
          <dgm:animLvl val="lvl"/>
          <dgm:resizeHandles val="exact"/>
        </dgm:presLayoutVars>
      </dgm:prSet>
      <dgm:spPr/>
    </dgm:pt>
    <dgm:pt modelId="{84AF3115-9815-4B06-9E92-7B85B343B464}" type="pres">
      <dgm:prSet presAssocID="{6D84BA7E-FA2B-4302-BA7E-5D7842D81B3B}" presName="parentText" presStyleLbl="node1" presStyleIdx="0" presStyleCnt="5">
        <dgm:presLayoutVars>
          <dgm:chMax val="0"/>
          <dgm:bulletEnabled val="1"/>
        </dgm:presLayoutVars>
      </dgm:prSet>
      <dgm:spPr/>
    </dgm:pt>
    <dgm:pt modelId="{7A76E0FB-C6C6-492C-B5A2-1FD3AC639B6C}" type="pres">
      <dgm:prSet presAssocID="{C9C43265-FF72-469A-B096-060DFFF103BC}" presName="spacer" presStyleCnt="0"/>
      <dgm:spPr/>
    </dgm:pt>
    <dgm:pt modelId="{57CD035E-C6AF-411F-B58B-E565538FD5A9}" type="pres">
      <dgm:prSet presAssocID="{69985057-1A37-46B9-B1A3-CB5FAD8C10B7}" presName="parentText" presStyleLbl="node1" presStyleIdx="1" presStyleCnt="5">
        <dgm:presLayoutVars>
          <dgm:chMax val="0"/>
          <dgm:bulletEnabled val="1"/>
        </dgm:presLayoutVars>
      </dgm:prSet>
      <dgm:spPr/>
    </dgm:pt>
    <dgm:pt modelId="{6F6109E1-E723-48DF-ADDA-DDAA182A9530}" type="pres">
      <dgm:prSet presAssocID="{6C21CAC9-2422-49F1-8B8F-BA5137E49250}" presName="spacer" presStyleCnt="0"/>
      <dgm:spPr/>
    </dgm:pt>
    <dgm:pt modelId="{ED62F44C-833A-4CFC-8010-B39EC1BDF2FC}" type="pres">
      <dgm:prSet presAssocID="{CE1E5630-E137-4E5B-9CB6-0BAE09CA7BB0}" presName="parentText" presStyleLbl="node1" presStyleIdx="2" presStyleCnt="5">
        <dgm:presLayoutVars>
          <dgm:chMax val="0"/>
          <dgm:bulletEnabled val="1"/>
        </dgm:presLayoutVars>
      </dgm:prSet>
      <dgm:spPr/>
    </dgm:pt>
    <dgm:pt modelId="{45D4B330-7C3E-40E6-89F0-929EF641E1F9}" type="pres">
      <dgm:prSet presAssocID="{65C1063E-4F36-4DAD-8D6D-97705FD55129}" presName="spacer" presStyleCnt="0"/>
      <dgm:spPr/>
    </dgm:pt>
    <dgm:pt modelId="{CDB330FA-26C2-4B6F-A31B-5C2ECE609F92}" type="pres">
      <dgm:prSet presAssocID="{C0F08525-528D-4E14-B245-A6D45BA921F2}" presName="parentText" presStyleLbl="node1" presStyleIdx="3" presStyleCnt="5">
        <dgm:presLayoutVars>
          <dgm:chMax val="0"/>
          <dgm:bulletEnabled val="1"/>
        </dgm:presLayoutVars>
      </dgm:prSet>
      <dgm:spPr/>
    </dgm:pt>
    <dgm:pt modelId="{6E92B50F-57AB-439D-948B-F6CAA0CE1412}" type="pres">
      <dgm:prSet presAssocID="{535D3EE6-4F9E-4D53-A6BB-9C4D3E762288}" presName="spacer" presStyleCnt="0"/>
      <dgm:spPr/>
    </dgm:pt>
    <dgm:pt modelId="{485C4A3A-9765-41A9-9EC9-BAFB8C40149B}" type="pres">
      <dgm:prSet presAssocID="{61FEE5BE-73FF-4CAF-A732-95D5BC3CF955}" presName="parentText" presStyleLbl="node1" presStyleIdx="4" presStyleCnt="5">
        <dgm:presLayoutVars>
          <dgm:chMax val="0"/>
          <dgm:bulletEnabled val="1"/>
        </dgm:presLayoutVars>
      </dgm:prSet>
      <dgm:spPr/>
    </dgm:pt>
  </dgm:ptLst>
  <dgm:cxnLst>
    <dgm:cxn modelId="{2DE9A935-74AB-4C91-B914-666070C7B8B7}" srcId="{71D75F21-3D4C-4A32-8E65-BB06DD0F8A04}" destId="{61FEE5BE-73FF-4CAF-A732-95D5BC3CF955}" srcOrd="4" destOrd="0" parTransId="{42C4FBEA-69C8-4453-AB43-3511CD6746A3}" sibTransId="{49D39546-600F-4CF0-B3A5-74CA5888D24C}"/>
    <dgm:cxn modelId="{A7AE3F38-47B4-47AE-B407-63EF71181C74}" type="presOf" srcId="{6D84BA7E-FA2B-4302-BA7E-5D7842D81B3B}" destId="{84AF3115-9815-4B06-9E92-7B85B343B464}" srcOrd="0" destOrd="0" presId="urn:microsoft.com/office/officeart/2005/8/layout/vList2"/>
    <dgm:cxn modelId="{785B1B5C-A6DE-457F-B7C6-E759848F75EC}" srcId="{71D75F21-3D4C-4A32-8E65-BB06DD0F8A04}" destId="{6D84BA7E-FA2B-4302-BA7E-5D7842D81B3B}" srcOrd="0" destOrd="0" parTransId="{BB099DEC-3767-43CE-A957-BB028E7A5231}" sibTransId="{C9C43265-FF72-469A-B096-060DFFF103BC}"/>
    <dgm:cxn modelId="{35C4605E-714A-4AB1-AF47-2C93FC46A810}" type="presOf" srcId="{69985057-1A37-46B9-B1A3-CB5FAD8C10B7}" destId="{57CD035E-C6AF-411F-B58B-E565538FD5A9}" srcOrd="0" destOrd="0" presId="urn:microsoft.com/office/officeart/2005/8/layout/vList2"/>
    <dgm:cxn modelId="{D6F01C88-0B90-43F8-99D3-E2EE5D5923E8}" srcId="{71D75F21-3D4C-4A32-8E65-BB06DD0F8A04}" destId="{69985057-1A37-46B9-B1A3-CB5FAD8C10B7}" srcOrd="1" destOrd="0" parTransId="{F55D8196-EB55-4972-B059-7FE8DB006C9D}" sibTransId="{6C21CAC9-2422-49F1-8B8F-BA5137E49250}"/>
    <dgm:cxn modelId="{4E7B7191-E75E-4EB1-A611-E5DDF16F1D01}" type="presOf" srcId="{71D75F21-3D4C-4A32-8E65-BB06DD0F8A04}" destId="{FAD28FA7-71A1-47C6-AEB5-AD57BADCA18C}" srcOrd="0" destOrd="0" presId="urn:microsoft.com/office/officeart/2005/8/layout/vList2"/>
    <dgm:cxn modelId="{F567C6D1-B02F-4D04-A067-D1A12597CF21}" srcId="{71D75F21-3D4C-4A32-8E65-BB06DD0F8A04}" destId="{C0F08525-528D-4E14-B245-A6D45BA921F2}" srcOrd="3" destOrd="0" parTransId="{E0425D09-C721-4AFC-907A-0C5BA1DB1A58}" sibTransId="{535D3EE6-4F9E-4D53-A6BB-9C4D3E762288}"/>
    <dgm:cxn modelId="{A76596D3-A010-414F-AC6F-DBF1A91FC7C6}" srcId="{71D75F21-3D4C-4A32-8E65-BB06DD0F8A04}" destId="{CE1E5630-E137-4E5B-9CB6-0BAE09CA7BB0}" srcOrd="2" destOrd="0" parTransId="{A4F3C4F5-6A4B-4F6F-BC82-B98A2F320303}" sibTransId="{65C1063E-4F36-4DAD-8D6D-97705FD55129}"/>
    <dgm:cxn modelId="{661F5EE4-CC0F-4E2B-9EBD-2C555E0D5038}" type="presOf" srcId="{CE1E5630-E137-4E5B-9CB6-0BAE09CA7BB0}" destId="{ED62F44C-833A-4CFC-8010-B39EC1BDF2FC}" srcOrd="0" destOrd="0" presId="urn:microsoft.com/office/officeart/2005/8/layout/vList2"/>
    <dgm:cxn modelId="{ACF813E7-EBCF-4B89-AF0E-A14D882164C6}" type="presOf" srcId="{61FEE5BE-73FF-4CAF-A732-95D5BC3CF955}" destId="{485C4A3A-9765-41A9-9EC9-BAFB8C40149B}" srcOrd="0" destOrd="0" presId="urn:microsoft.com/office/officeart/2005/8/layout/vList2"/>
    <dgm:cxn modelId="{BE8698E9-C1F5-41C4-B864-584320F67149}" type="presOf" srcId="{C0F08525-528D-4E14-B245-A6D45BA921F2}" destId="{CDB330FA-26C2-4B6F-A31B-5C2ECE609F92}" srcOrd="0" destOrd="0" presId="urn:microsoft.com/office/officeart/2005/8/layout/vList2"/>
    <dgm:cxn modelId="{BC664D5A-BC85-47E8-9FC7-BDB90C005C1B}" type="presParOf" srcId="{FAD28FA7-71A1-47C6-AEB5-AD57BADCA18C}" destId="{84AF3115-9815-4B06-9E92-7B85B343B464}" srcOrd="0" destOrd="0" presId="urn:microsoft.com/office/officeart/2005/8/layout/vList2"/>
    <dgm:cxn modelId="{B0C5D138-D643-4E73-9EDA-9F618946A7F3}" type="presParOf" srcId="{FAD28FA7-71A1-47C6-AEB5-AD57BADCA18C}" destId="{7A76E0FB-C6C6-492C-B5A2-1FD3AC639B6C}" srcOrd="1" destOrd="0" presId="urn:microsoft.com/office/officeart/2005/8/layout/vList2"/>
    <dgm:cxn modelId="{C86AA5B3-B0A7-496F-A3BC-1FA19F4FC6BB}" type="presParOf" srcId="{FAD28FA7-71A1-47C6-AEB5-AD57BADCA18C}" destId="{57CD035E-C6AF-411F-B58B-E565538FD5A9}" srcOrd="2" destOrd="0" presId="urn:microsoft.com/office/officeart/2005/8/layout/vList2"/>
    <dgm:cxn modelId="{226A72CB-5AE9-4D0F-8263-7C8CC8E23F2E}" type="presParOf" srcId="{FAD28FA7-71A1-47C6-AEB5-AD57BADCA18C}" destId="{6F6109E1-E723-48DF-ADDA-DDAA182A9530}" srcOrd="3" destOrd="0" presId="urn:microsoft.com/office/officeart/2005/8/layout/vList2"/>
    <dgm:cxn modelId="{2B2439AD-D63D-4BF5-BBDC-2EDB86CA05BD}" type="presParOf" srcId="{FAD28FA7-71A1-47C6-AEB5-AD57BADCA18C}" destId="{ED62F44C-833A-4CFC-8010-B39EC1BDF2FC}" srcOrd="4" destOrd="0" presId="urn:microsoft.com/office/officeart/2005/8/layout/vList2"/>
    <dgm:cxn modelId="{A4C2C698-52B0-4D9E-A967-A3C5189BEDEE}" type="presParOf" srcId="{FAD28FA7-71A1-47C6-AEB5-AD57BADCA18C}" destId="{45D4B330-7C3E-40E6-89F0-929EF641E1F9}" srcOrd="5" destOrd="0" presId="urn:microsoft.com/office/officeart/2005/8/layout/vList2"/>
    <dgm:cxn modelId="{84F6B699-B292-40E7-8A56-243DD607BFCA}" type="presParOf" srcId="{FAD28FA7-71A1-47C6-AEB5-AD57BADCA18C}" destId="{CDB330FA-26C2-4B6F-A31B-5C2ECE609F92}" srcOrd="6" destOrd="0" presId="urn:microsoft.com/office/officeart/2005/8/layout/vList2"/>
    <dgm:cxn modelId="{09A6E9A9-69CC-4C1A-A116-DFE8AD7AD1CC}" type="presParOf" srcId="{FAD28FA7-71A1-47C6-AEB5-AD57BADCA18C}" destId="{6E92B50F-57AB-439D-948B-F6CAA0CE1412}" srcOrd="7" destOrd="0" presId="urn:microsoft.com/office/officeart/2005/8/layout/vList2"/>
    <dgm:cxn modelId="{5E742156-94B7-4A99-8DE6-F6CF3169EF7F}" type="presParOf" srcId="{FAD28FA7-71A1-47C6-AEB5-AD57BADCA18C}" destId="{485C4A3A-9765-41A9-9EC9-BAFB8C40149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C92DD2-2436-45D8-B882-BEE11D38CC3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F048BD7-4F9F-4489-B0B9-45CB20392EAD}">
      <dgm:prSet/>
      <dgm:spPr/>
      <dgm:t>
        <a:bodyPr/>
        <a:lstStyle/>
        <a:p>
          <a:r>
            <a:rPr lang="en-US"/>
            <a:t>Depression</a:t>
          </a:r>
        </a:p>
      </dgm:t>
    </dgm:pt>
    <dgm:pt modelId="{59B7EF21-03C9-4473-8AE9-B3F8049532A9}" type="parTrans" cxnId="{F8E4E11A-43D6-4004-918A-A993CBD17370}">
      <dgm:prSet/>
      <dgm:spPr/>
      <dgm:t>
        <a:bodyPr/>
        <a:lstStyle/>
        <a:p>
          <a:endParaRPr lang="en-US"/>
        </a:p>
      </dgm:t>
    </dgm:pt>
    <dgm:pt modelId="{5B541FF5-A45A-484C-943E-D810C81F930A}" type="sibTrans" cxnId="{F8E4E11A-43D6-4004-918A-A993CBD17370}">
      <dgm:prSet/>
      <dgm:spPr/>
      <dgm:t>
        <a:bodyPr/>
        <a:lstStyle/>
        <a:p>
          <a:endParaRPr lang="en-US"/>
        </a:p>
      </dgm:t>
    </dgm:pt>
    <dgm:pt modelId="{311274DC-864B-4BD7-9BE0-D9ABF27286C7}">
      <dgm:prSet/>
      <dgm:spPr/>
      <dgm:t>
        <a:bodyPr/>
        <a:lstStyle/>
        <a:p>
          <a:r>
            <a:rPr lang="en-US"/>
            <a:t>Substance abuse</a:t>
          </a:r>
        </a:p>
      </dgm:t>
    </dgm:pt>
    <dgm:pt modelId="{568EF9CA-FBE7-4840-8427-FCB2D5C70CB4}" type="parTrans" cxnId="{04B489B6-91C0-4AC5-9765-2864C839F7EC}">
      <dgm:prSet/>
      <dgm:spPr/>
      <dgm:t>
        <a:bodyPr/>
        <a:lstStyle/>
        <a:p>
          <a:endParaRPr lang="en-US"/>
        </a:p>
      </dgm:t>
    </dgm:pt>
    <dgm:pt modelId="{37D3B626-EF69-40E0-B372-F8CAB76EF6AC}" type="sibTrans" cxnId="{04B489B6-91C0-4AC5-9765-2864C839F7EC}">
      <dgm:prSet/>
      <dgm:spPr/>
      <dgm:t>
        <a:bodyPr/>
        <a:lstStyle/>
        <a:p>
          <a:endParaRPr lang="en-US"/>
        </a:p>
      </dgm:t>
    </dgm:pt>
    <dgm:pt modelId="{DC62D240-A92A-4820-957A-44F6F36E2F0D}">
      <dgm:prSet/>
      <dgm:spPr/>
      <dgm:t>
        <a:bodyPr/>
        <a:lstStyle/>
        <a:p>
          <a:r>
            <a:rPr lang="en-US"/>
            <a:t>Eating disorders</a:t>
          </a:r>
        </a:p>
      </dgm:t>
    </dgm:pt>
    <dgm:pt modelId="{BFB18F7D-648C-4F6D-981D-DE5DF4CD8257}" type="parTrans" cxnId="{FAE28F4C-9FC2-4673-9CB3-1DB4B871C629}">
      <dgm:prSet/>
      <dgm:spPr/>
      <dgm:t>
        <a:bodyPr/>
        <a:lstStyle/>
        <a:p>
          <a:endParaRPr lang="en-US"/>
        </a:p>
      </dgm:t>
    </dgm:pt>
    <dgm:pt modelId="{0B2A4D36-24EB-45B1-B20F-396F359DD9E5}" type="sibTrans" cxnId="{FAE28F4C-9FC2-4673-9CB3-1DB4B871C629}">
      <dgm:prSet/>
      <dgm:spPr/>
      <dgm:t>
        <a:bodyPr/>
        <a:lstStyle/>
        <a:p>
          <a:endParaRPr lang="en-US"/>
        </a:p>
      </dgm:t>
    </dgm:pt>
    <dgm:pt modelId="{6B78EF9A-021C-4485-B8DC-F1CE750C36E1}">
      <dgm:prSet/>
      <dgm:spPr/>
      <dgm:t>
        <a:bodyPr/>
        <a:lstStyle/>
        <a:p>
          <a:r>
            <a:rPr lang="en-US"/>
            <a:t>Couples’ conflicts</a:t>
          </a:r>
        </a:p>
      </dgm:t>
    </dgm:pt>
    <dgm:pt modelId="{CF70B2D6-6429-4B82-8F70-E068DC600BB8}" type="parTrans" cxnId="{0BA8D0BD-8162-4F23-BF92-9697C3065FB6}">
      <dgm:prSet/>
      <dgm:spPr/>
      <dgm:t>
        <a:bodyPr/>
        <a:lstStyle/>
        <a:p>
          <a:endParaRPr lang="en-US"/>
        </a:p>
      </dgm:t>
    </dgm:pt>
    <dgm:pt modelId="{632131A3-6214-4790-9854-B55179A809C4}" type="sibTrans" cxnId="{0BA8D0BD-8162-4F23-BF92-9697C3065FB6}">
      <dgm:prSet/>
      <dgm:spPr/>
      <dgm:t>
        <a:bodyPr/>
        <a:lstStyle/>
        <a:p>
          <a:endParaRPr lang="en-US"/>
        </a:p>
      </dgm:t>
    </dgm:pt>
    <dgm:pt modelId="{93409AAA-CCEA-425B-9670-F28055A13CB2}">
      <dgm:prSet/>
      <dgm:spPr/>
      <dgm:t>
        <a:bodyPr/>
        <a:lstStyle/>
        <a:p>
          <a:r>
            <a:rPr lang="en-US"/>
            <a:t>Anxiety disorders</a:t>
          </a:r>
        </a:p>
      </dgm:t>
    </dgm:pt>
    <dgm:pt modelId="{8328A863-1B58-4156-94BC-42D2B2D8CA52}" type="parTrans" cxnId="{5CF458F4-AA2F-4ACE-897E-D7B436167F8F}">
      <dgm:prSet/>
      <dgm:spPr/>
      <dgm:t>
        <a:bodyPr/>
        <a:lstStyle/>
        <a:p>
          <a:endParaRPr lang="en-US"/>
        </a:p>
      </dgm:t>
    </dgm:pt>
    <dgm:pt modelId="{6F0A7D3B-CA74-44AF-A63C-4BA6B44B03B2}" type="sibTrans" cxnId="{5CF458F4-AA2F-4ACE-897E-D7B436167F8F}">
      <dgm:prSet/>
      <dgm:spPr/>
      <dgm:t>
        <a:bodyPr/>
        <a:lstStyle/>
        <a:p>
          <a:endParaRPr lang="en-US"/>
        </a:p>
      </dgm:t>
    </dgm:pt>
    <dgm:pt modelId="{FECB244D-6034-4E7F-85CA-97755C788C69}">
      <dgm:prSet/>
      <dgm:spPr/>
      <dgm:t>
        <a:bodyPr/>
        <a:lstStyle/>
        <a:p>
          <a:r>
            <a:rPr lang="en-US"/>
            <a:t>Obsessive-compulsive disorder</a:t>
          </a:r>
        </a:p>
      </dgm:t>
    </dgm:pt>
    <dgm:pt modelId="{09D835F4-0BC9-41E5-94B2-9A36734CB032}" type="parTrans" cxnId="{069F081C-3B97-4275-A7D8-D4543FEA55C4}">
      <dgm:prSet/>
      <dgm:spPr/>
      <dgm:t>
        <a:bodyPr/>
        <a:lstStyle/>
        <a:p>
          <a:endParaRPr lang="en-US"/>
        </a:p>
      </dgm:t>
    </dgm:pt>
    <dgm:pt modelId="{A2046F72-DC00-475D-A379-88F7CB4BB0F3}" type="sibTrans" cxnId="{069F081C-3B97-4275-A7D8-D4543FEA55C4}">
      <dgm:prSet/>
      <dgm:spPr/>
      <dgm:t>
        <a:bodyPr/>
        <a:lstStyle/>
        <a:p>
          <a:endParaRPr lang="en-US"/>
        </a:p>
      </dgm:t>
    </dgm:pt>
    <dgm:pt modelId="{98AD7C57-7391-4C01-99DA-2127F9BAD4DB}" type="pres">
      <dgm:prSet presAssocID="{9CC92DD2-2436-45D8-B882-BEE11D38CC34}" presName="linear" presStyleCnt="0">
        <dgm:presLayoutVars>
          <dgm:animLvl val="lvl"/>
          <dgm:resizeHandles val="exact"/>
        </dgm:presLayoutVars>
      </dgm:prSet>
      <dgm:spPr/>
    </dgm:pt>
    <dgm:pt modelId="{EAEAB081-DA76-4D1C-A8CC-05A29F3834D7}" type="pres">
      <dgm:prSet presAssocID="{6F048BD7-4F9F-4489-B0B9-45CB20392EAD}" presName="parentText" presStyleLbl="node1" presStyleIdx="0" presStyleCnt="6">
        <dgm:presLayoutVars>
          <dgm:chMax val="0"/>
          <dgm:bulletEnabled val="1"/>
        </dgm:presLayoutVars>
      </dgm:prSet>
      <dgm:spPr/>
    </dgm:pt>
    <dgm:pt modelId="{968DE2B9-9DFD-4B0D-B9C8-D06A0A922038}" type="pres">
      <dgm:prSet presAssocID="{5B541FF5-A45A-484C-943E-D810C81F930A}" presName="spacer" presStyleCnt="0"/>
      <dgm:spPr/>
    </dgm:pt>
    <dgm:pt modelId="{217E698B-56E7-4EEF-B38D-A38B04B72361}" type="pres">
      <dgm:prSet presAssocID="{311274DC-864B-4BD7-9BE0-D9ABF27286C7}" presName="parentText" presStyleLbl="node1" presStyleIdx="1" presStyleCnt="6">
        <dgm:presLayoutVars>
          <dgm:chMax val="0"/>
          <dgm:bulletEnabled val="1"/>
        </dgm:presLayoutVars>
      </dgm:prSet>
      <dgm:spPr/>
    </dgm:pt>
    <dgm:pt modelId="{3EA0602D-79FF-4E2E-9C3C-3D9AF806644F}" type="pres">
      <dgm:prSet presAssocID="{37D3B626-EF69-40E0-B372-F8CAB76EF6AC}" presName="spacer" presStyleCnt="0"/>
      <dgm:spPr/>
    </dgm:pt>
    <dgm:pt modelId="{6BBDE118-F0B9-43C3-94CB-B2FA35309437}" type="pres">
      <dgm:prSet presAssocID="{DC62D240-A92A-4820-957A-44F6F36E2F0D}" presName="parentText" presStyleLbl="node1" presStyleIdx="2" presStyleCnt="6">
        <dgm:presLayoutVars>
          <dgm:chMax val="0"/>
          <dgm:bulletEnabled val="1"/>
        </dgm:presLayoutVars>
      </dgm:prSet>
      <dgm:spPr/>
    </dgm:pt>
    <dgm:pt modelId="{DEF4E9E5-B83D-499F-9BD0-A7B214B3B9B1}" type="pres">
      <dgm:prSet presAssocID="{0B2A4D36-24EB-45B1-B20F-396F359DD9E5}" presName="spacer" presStyleCnt="0"/>
      <dgm:spPr/>
    </dgm:pt>
    <dgm:pt modelId="{8BB960B6-2E8B-4396-9B0F-46392A4E45E6}" type="pres">
      <dgm:prSet presAssocID="{6B78EF9A-021C-4485-B8DC-F1CE750C36E1}" presName="parentText" presStyleLbl="node1" presStyleIdx="3" presStyleCnt="6">
        <dgm:presLayoutVars>
          <dgm:chMax val="0"/>
          <dgm:bulletEnabled val="1"/>
        </dgm:presLayoutVars>
      </dgm:prSet>
      <dgm:spPr/>
    </dgm:pt>
    <dgm:pt modelId="{32C97A8B-EE31-4C86-BE36-630CACDC1E73}" type="pres">
      <dgm:prSet presAssocID="{632131A3-6214-4790-9854-B55179A809C4}" presName="spacer" presStyleCnt="0"/>
      <dgm:spPr/>
    </dgm:pt>
    <dgm:pt modelId="{AC118D21-96A1-40F5-8E90-1BCBD30BD4E1}" type="pres">
      <dgm:prSet presAssocID="{93409AAA-CCEA-425B-9670-F28055A13CB2}" presName="parentText" presStyleLbl="node1" presStyleIdx="4" presStyleCnt="6">
        <dgm:presLayoutVars>
          <dgm:chMax val="0"/>
          <dgm:bulletEnabled val="1"/>
        </dgm:presLayoutVars>
      </dgm:prSet>
      <dgm:spPr/>
    </dgm:pt>
    <dgm:pt modelId="{C854B39E-D3F3-4539-816C-C4D623C229E1}" type="pres">
      <dgm:prSet presAssocID="{6F0A7D3B-CA74-44AF-A63C-4BA6B44B03B2}" presName="spacer" presStyleCnt="0"/>
      <dgm:spPr/>
    </dgm:pt>
    <dgm:pt modelId="{419690AC-9EF8-42B3-841C-2512FCD878CA}" type="pres">
      <dgm:prSet presAssocID="{FECB244D-6034-4E7F-85CA-97755C788C69}" presName="parentText" presStyleLbl="node1" presStyleIdx="5" presStyleCnt="6">
        <dgm:presLayoutVars>
          <dgm:chMax val="0"/>
          <dgm:bulletEnabled val="1"/>
        </dgm:presLayoutVars>
      </dgm:prSet>
      <dgm:spPr/>
    </dgm:pt>
  </dgm:ptLst>
  <dgm:cxnLst>
    <dgm:cxn modelId="{30A00A16-2884-4076-97B8-F5A04CAB9CB4}" type="presOf" srcId="{6F048BD7-4F9F-4489-B0B9-45CB20392EAD}" destId="{EAEAB081-DA76-4D1C-A8CC-05A29F3834D7}" srcOrd="0" destOrd="0" presId="urn:microsoft.com/office/officeart/2005/8/layout/vList2"/>
    <dgm:cxn modelId="{F8E4E11A-43D6-4004-918A-A993CBD17370}" srcId="{9CC92DD2-2436-45D8-B882-BEE11D38CC34}" destId="{6F048BD7-4F9F-4489-B0B9-45CB20392EAD}" srcOrd="0" destOrd="0" parTransId="{59B7EF21-03C9-4473-8AE9-B3F8049532A9}" sibTransId="{5B541FF5-A45A-484C-943E-D810C81F930A}"/>
    <dgm:cxn modelId="{069F081C-3B97-4275-A7D8-D4543FEA55C4}" srcId="{9CC92DD2-2436-45D8-B882-BEE11D38CC34}" destId="{FECB244D-6034-4E7F-85CA-97755C788C69}" srcOrd="5" destOrd="0" parTransId="{09D835F4-0BC9-41E5-94B2-9A36734CB032}" sibTransId="{A2046F72-DC00-475D-A379-88F7CB4BB0F3}"/>
    <dgm:cxn modelId="{28224A34-DFCD-4950-B852-4168263C8AC1}" type="presOf" srcId="{9CC92DD2-2436-45D8-B882-BEE11D38CC34}" destId="{98AD7C57-7391-4C01-99DA-2127F9BAD4DB}" srcOrd="0" destOrd="0" presId="urn:microsoft.com/office/officeart/2005/8/layout/vList2"/>
    <dgm:cxn modelId="{21C64D41-E6DB-4DAE-902D-CE6E124352B3}" type="presOf" srcId="{FECB244D-6034-4E7F-85CA-97755C788C69}" destId="{419690AC-9EF8-42B3-841C-2512FCD878CA}" srcOrd="0" destOrd="0" presId="urn:microsoft.com/office/officeart/2005/8/layout/vList2"/>
    <dgm:cxn modelId="{FAE28F4C-9FC2-4673-9CB3-1DB4B871C629}" srcId="{9CC92DD2-2436-45D8-B882-BEE11D38CC34}" destId="{DC62D240-A92A-4820-957A-44F6F36E2F0D}" srcOrd="2" destOrd="0" parTransId="{BFB18F7D-648C-4F6D-981D-DE5DF4CD8257}" sibTransId="{0B2A4D36-24EB-45B1-B20F-396F359DD9E5}"/>
    <dgm:cxn modelId="{2B99307E-1715-4BA2-AC29-A3C7CD54C92F}" type="presOf" srcId="{DC62D240-A92A-4820-957A-44F6F36E2F0D}" destId="{6BBDE118-F0B9-43C3-94CB-B2FA35309437}" srcOrd="0" destOrd="0" presId="urn:microsoft.com/office/officeart/2005/8/layout/vList2"/>
    <dgm:cxn modelId="{04B489B6-91C0-4AC5-9765-2864C839F7EC}" srcId="{9CC92DD2-2436-45D8-B882-BEE11D38CC34}" destId="{311274DC-864B-4BD7-9BE0-D9ABF27286C7}" srcOrd="1" destOrd="0" parTransId="{568EF9CA-FBE7-4840-8427-FCB2D5C70CB4}" sibTransId="{37D3B626-EF69-40E0-B372-F8CAB76EF6AC}"/>
    <dgm:cxn modelId="{0BA8D0BD-8162-4F23-BF92-9697C3065FB6}" srcId="{9CC92DD2-2436-45D8-B882-BEE11D38CC34}" destId="{6B78EF9A-021C-4485-B8DC-F1CE750C36E1}" srcOrd="3" destOrd="0" parTransId="{CF70B2D6-6429-4B82-8F70-E068DC600BB8}" sibTransId="{632131A3-6214-4790-9854-B55179A809C4}"/>
    <dgm:cxn modelId="{42ED5DD5-5339-4018-A344-B466A2867248}" type="presOf" srcId="{6B78EF9A-021C-4485-B8DC-F1CE750C36E1}" destId="{8BB960B6-2E8B-4396-9B0F-46392A4E45E6}" srcOrd="0" destOrd="0" presId="urn:microsoft.com/office/officeart/2005/8/layout/vList2"/>
    <dgm:cxn modelId="{782246D7-7709-4161-8667-82CD14878B96}" type="presOf" srcId="{93409AAA-CCEA-425B-9670-F28055A13CB2}" destId="{AC118D21-96A1-40F5-8E90-1BCBD30BD4E1}" srcOrd="0" destOrd="0" presId="urn:microsoft.com/office/officeart/2005/8/layout/vList2"/>
    <dgm:cxn modelId="{5CF458F4-AA2F-4ACE-897E-D7B436167F8F}" srcId="{9CC92DD2-2436-45D8-B882-BEE11D38CC34}" destId="{93409AAA-CCEA-425B-9670-F28055A13CB2}" srcOrd="4" destOrd="0" parTransId="{8328A863-1B58-4156-94BC-42D2B2D8CA52}" sibTransId="{6F0A7D3B-CA74-44AF-A63C-4BA6B44B03B2}"/>
    <dgm:cxn modelId="{0BF01CF9-8622-4B5A-A999-97C890703423}" type="presOf" srcId="{311274DC-864B-4BD7-9BE0-D9ABF27286C7}" destId="{217E698B-56E7-4EEF-B38D-A38B04B72361}" srcOrd="0" destOrd="0" presId="urn:microsoft.com/office/officeart/2005/8/layout/vList2"/>
    <dgm:cxn modelId="{1AFC5BE3-9076-4A77-B552-BDFFAAA9DD59}" type="presParOf" srcId="{98AD7C57-7391-4C01-99DA-2127F9BAD4DB}" destId="{EAEAB081-DA76-4D1C-A8CC-05A29F3834D7}" srcOrd="0" destOrd="0" presId="urn:microsoft.com/office/officeart/2005/8/layout/vList2"/>
    <dgm:cxn modelId="{88F655AB-DDC7-45BF-ABCB-6756698B3207}" type="presParOf" srcId="{98AD7C57-7391-4C01-99DA-2127F9BAD4DB}" destId="{968DE2B9-9DFD-4B0D-B9C8-D06A0A922038}" srcOrd="1" destOrd="0" presId="urn:microsoft.com/office/officeart/2005/8/layout/vList2"/>
    <dgm:cxn modelId="{ED184E9F-CB2A-4995-B4AD-25A1C702F4D8}" type="presParOf" srcId="{98AD7C57-7391-4C01-99DA-2127F9BAD4DB}" destId="{217E698B-56E7-4EEF-B38D-A38B04B72361}" srcOrd="2" destOrd="0" presId="urn:microsoft.com/office/officeart/2005/8/layout/vList2"/>
    <dgm:cxn modelId="{87D3D422-78EF-4F7A-8491-64B8D0ACBF18}" type="presParOf" srcId="{98AD7C57-7391-4C01-99DA-2127F9BAD4DB}" destId="{3EA0602D-79FF-4E2E-9C3C-3D9AF806644F}" srcOrd="3" destOrd="0" presId="urn:microsoft.com/office/officeart/2005/8/layout/vList2"/>
    <dgm:cxn modelId="{93A89E42-C627-44E7-97E8-5EBBC3AEC0BD}" type="presParOf" srcId="{98AD7C57-7391-4C01-99DA-2127F9BAD4DB}" destId="{6BBDE118-F0B9-43C3-94CB-B2FA35309437}" srcOrd="4" destOrd="0" presId="urn:microsoft.com/office/officeart/2005/8/layout/vList2"/>
    <dgm:cxn modelId="{25FEEC6B-FE26-445B-8810-7E4B80D17357}" type="presParOf" srcId="{98AD7C57-7391-4C01-99DA-2127F9BAD4DB}" destId="{DEF4E9E5-B83D-499F-9BD0-A7B214B3B9B1}" srcOrd="5" destOrd="0" presId="urn:microsoft.com/office/officeart/2005/8/layout/vList2"/>
    <dgm:cxn modelId="{A2D39714-9CA3-4E87-B92F-A27F6A705432}" type="presParOf" srcId="{98AD7C57-7391-4C01-99DA-2127F9BAD4DB}" destId="{8BB960B6-2E8B-4396-9B0F-46392A4E45E6}" srcOrd="6" destOrd="0" presId="urn:microsoft.com/office/officeart/2005/8/layout/vList2"/>
    <dgm:cxn modelId="{58F5763A-8AE0-4A22-BBC7-E81089E38338}" type="presParOf" srcId="{98AD7C57-7391-4C01-99DA-2127F9BAD4DB}" destId="{32C97A8B-EE31-4C86-BE36-630CACDC1E73}" srcOrd="7" destOrd="0" presId="urn:microsoft.com/office/officeart/2005/8/layout/vList2"/>
    <dgm:cxn modelId="{E5A99758-1628-4CE8-96C7-865B540217C5}" type="presParOf" srcId="{98AD7C57-7391-4C01-99DA-2127F9BAD4DB}" destId="{AC118D21-96A1-40F5-8E90-1BCBD30BD4E1}" srcOrd="8" destOrd="0" presId="urn:microsoft.com/office/officeart/2005/8/layout/vList2"/>
    <dgm:cxn modelId="{0DA7D927-FD5C-468B-BDBB-2A2CEB460EDB}" type="presParOf" srcId="{98AD7C57-7391-4C01-99DA-2127F9BAD4DB}" destId="{C854B39E-D3F3-4539-816C-C4D623C229E1}" srcOrd="9" destOrd="0" presId="urn:microsoft.com/office/officeart/2005/8/layout/vList2"/>
    <dgm:cxn modelId="{57203F18-0C43-4B1C-A0B7-40F107F18352}" type="presParOf" srcId="{98AD7C57-7391-4C01-99DA-2127F9BAD4DB}" destId="{419690AC-9EF8-42B3-841C-2512FCD878CA}"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A0F636-3B2E-40CF-9434-9495E896A816}"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0632937-0FB8-4654-B988-48EAD0B4BAF8}">
      <dgm:prSet/>
      <dgm:spPr/>
      <dgm:t>
        <a:bodyPr/>
        <a:lstStyle/>
        <a:p>
          <a:r>
            <a:rPr lang="en-US"/>
            <a:t>Write about a time in your past when you felt proud of yourself. As you think about this accomplishment, picture it exactly as it was (perhaps close your eyes) </a:t>
          </a:r>
        </a:p>
      </dgm:t>
    </dgm:pt>
    <dgm:pt modelId="{3EE647FC-23A3-4E87-A01D-FFEDD1AC066D}" type="parTrans" cxnId="{FBB56D30-522C-43D7-9643-B9FA400A5B3A}">
      <dgm:prSet/>
      <dgm:spPr/>
      <dgm:t>
        <a:bodyPr/>
        <a:lstStyle/>
        <a:p>
          <a:endParaRPr lang="en-US"/>
        </a:p>
      </dgm:t>
    </dgm:pt>
    <dgm:pt modelId="{0E85C12F-D381-417F-AFB6-4591EE3CA173}" type="sibTrans" cxnId="{FBB56D30-522C-43D7-9643-B9FA400A5B3A}">
      <dgm:prSet/>
      <dgm:spPr/>
      <dgm:t>
        <a:bodyPr/>
        <a:lstStyle/>
        <a:p>
          <a:endParaRPr lang="en-US"/>
        </a:p>
      </dgm:t>
    </dgm:pt>
    <dgm:pt modelId="{25F57CA7-1131-42F6-9038-26314AEBB9DE}">
      <dgm:prSet/>
      <dgm:spPr/>
      <dgm:t>
        <a:bodyPr/>
        <a:lstStyle/>
        <a:p>
          <a:r>
            <a:rPr lang="en-US"/>
            <a:t>Where were you? Who was there? What did you do? How did you feel?</a:t>
          </a:r>
        </a:p>
      </dgm:t>
    </dgm:pt>
    <dgm:pt modelId="{BA8BA59A-1AC2-4EDA-8FE0-E54A3F1DD234}" type="parTrans" cxnId="{374DEB90-229A-4096-BEE9-C9F872ADB20F}">
      <dgm:prSet/>
      <dgm:spPr/>
      <dgm:t>
        <a:bodyPr/>
        <a:lstStyle/>
        <a:p>
          <a:endParaRPr lang="en-US"/>
        </a:p>
      </dgm:t>
    </dgm:pt>
    <dgm:pt modelId="{DEF400C0-7959-465F-A6A7-A9B206B8998D}" type="sibTrans" cxnId="{374DEB90-229A-4096-BEE9-C9F872ADB20F}">
      <dgm:prSet/>
      <dgm:spPr/>
      <dgm:t>
        <a:bodyPr/>
        <a:lstStyle/>
        <a:p>
          <a:endParaRPr lang="en-US"/>
        </a:p>
      </dgm:t>
    </dgm:pt>
    <dgm:pt modelId="{A81B0EC6-E1FE-4FF5-AE2D-981326AAF473}">
      <dgm:prSet/>
      <dgm:spPr/>
      <dgm:t>
        <a:bodyPr/>
        <a:lstStyle/>
        <a:p>
          <a:r>
            <a:rPr lang="en-US"/>
            <a:t>Return to this experience any time you want to boost positive emotion</a:t>
          </a:r>
        </a:p>
      </dgm:t>
    </dgm:pt>
    <dgm:pt modelId="{EB02E234-CA72-41FB-9BD7-377B4C2ACD4C}" type="parTrans" cxnId="{F170CC35-ADCB-4449-A5A8-028E5A49F673}">
      <dgm:prSet/>
      <dgm:spPr/>
      <dgm:t>
        <a:bodyPr/>
        <a:lstStyle/>
        <a:p>
          <a:endParaRPr lang="en-US"/>
        </a:p>
      </dgm:t>
    </dgm:pt>
    <dgm:pt modelId="{931524E8-5E9F-49E3-90DB-46F977A830D7}" type="sibTrans" cxnId="{F170CC35-ADCB-4449-A5A8-028E5A49F673}">
      <dgm:prSet/>
      <dgm:spPr/>
      <dgm:t>
        <a:bodyPr/>
        <a:lstStyle/>
        <a:p>
          <a:endParaRPr lang="en-US"/>
        </a:p>
      </dgm:t>
    </dgm:pt>
    <dgm:pt modelId="{81CEB1B8-007F-4099-8FED-1E7699A78B56}" type="pres">
      <dgm:prSet presAssocID="{00A0F636-3B2E-40CF-9434-9495E896A816}" presName="root" presStyleCnt="0">
        <dgm:presLayoutVars>
          <dgm:dir/>
          <dgm:resizeHandles val="exact"/>
        </dgm:presLayoutVars>
      </dgm:prSet>
      <dgm:spPr/>
    </dgm:pt>
    <dgm:pt modelId="{DFA5784E-C7FA-4BC1-9CE5-2A1CFD99CAEA}" type="pres">
      <dgm:prSet presAssocID="{90632937-0FB8-4654-B988-48EAD0B4BAF8}" presName="compNode" presStyleCnt="0"/>
      <dgm:spPr/>
    </dgm:pt>
    <dgm:pt modelId="{C4254BE4-6CBC-4D39-B306-C87E0EE2129E}" type="pres">
      <dgm:prSet presAssocID="{90632937-0FB8-4654-B988-48EAD0B4BAF8}" presName="bgRect" presStyleLbl="bgShp" presStyleIdx="0" presStyleCnt="3"/>
      <dgm:spPr/>
    </dgm:pt>
    <dgm:pt modelId="{EF46627E-A59C-4833-95A6-67148D13B4A2}" type="pres">
      <dgm:prSet presAssocID="{90632937-0FB8-4654-B988-48EAD0B4BAF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ophy"/>
        </a:ext>
      </dgm:extLst>
    </dgm:pt>
    <dgm:pt modelId="{391CFBC6-E1F7-48F2-BA65-FC99C2356F72}" type="pres">
      <dgm:prSet presAssocID="{90632937-0FB8-4654-B988-48EAD0B4BAF8}" presName="spaceRect" presStyleCnt="0"/>
      <dgm:spPr/>
    </dgm:pt>
    <dgm:pt modelId="{CF6B7FC5-58E5-4717-9AD6-CF84245B04F6}" type="pres">
      <dgm:prSet presAssocID="{90632937-0FB8-4654-B988-48EAD0B4BAF8}" presName="parTx" presStyleLbl="revTx" presStyleIdx="0" presStyleCnt="3">
        <dgm:presLayoutVars>
          <dgm:chMax val="0"/>
          <dgm:chPref val="0"/>
        </dgm:presLayoutVars>
      </dgm:prSet>
      <dgm:spPr/>
    </dgm:pt>
    <dgm:pt modelId="{476B0751-93DE-4981-9E84-51E1072A897D}" type="pres">
      <dgm:prSet presAssocID="{0E85C12F-D381-417F-AFB6-4591EE3CA173}" presName="sibTrans" presStyleCnt="0"/>
      <dgm:spPr/>
    </dgm:pt>
    <dgm:pt modelId="{6C81A5E7-C7EE-4602-98F6-07FF5871FE75}" type="pres">
      <dgm:prSet presAssocID="{25F57CA7-1131-42F6-9038-26314AEBB9DE}" presName="compNode" presStyleCnt="0"/>
      <dgm:spPr/>
    </dgm:pt>
    <dgm:pt modelId="{660ADCDD-4CE9-4719-AA7A-6106A718913C}" type="pres">
      <dgm:prSet presAssocID="{25F57CA7-1131-42F6-9038-26314AEBB9DE}" presName="bgRect" presStyleLbl="bgShp" presStyleIdx="1" presStyleCnt="3"/>
      <dgm:spPr/>
    </dgm:pt>
    <dgm:pt modelId="{07A30DEB-0FFA-4479-B381-3D76E60FF897}" type="pres">
      <dgm:prSet presAssocID="{25F57CA7-1131-42F6-9038-26314AEBB9D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834D1772-66D9-4338-937A-0551C98CFFD7}" type="pres">
      <dgm:prSet presAssocID="{25F57CA7-1131-42F6-9038-26314AEBB9DE}" presName="spaceRect" presStyleCnt="0"/>
      <dgm:spPr/>
    </dgm:pt>
    <dgm:pt modelId="{0069FB5D-4DEB-4EC9-A7A4-D3D50B5A629A}" type="pres">
      <dgm:prSet presAssocID="{25F57CA7-1131-42F6-9038-26314AEBB9DE}" presName="parTx" presStyleLbl="revTx" presStyleIdx="1" presStyleCnt="3">
        <dgm:presLayoutVars>
          <dgm:chMax val="0"/>
          <dgm:chPref val="0"/>
        </dgm:presLayoutVars>
      </dgm:prSet>
      <dgm:spPr/>
    </dgm:pt>
    <dgm:pt modelId="{43A7BD89-BB32-45C2-BC6C-221A35ECB412}" type="pres">
      <dgm:prSet presAssocID="{DEF400C0-7959-465F-A6A7-A9B206B8998D}" presName="sibTrans" presStyleCnt="0"/>
      <dgm:spPr/>
    </dgm:pt>
    <dgm:pt modelId="{0C764EDF-BCEB-4CFD-BA34-206A1290E8D9}" type="pres">
      <dgm:prSet presAssocID="{A81B0EC6-E1FE-4FF5-AE2D-981326AAF473}" presName="compNode" presStyleCnt="0"/>
      <dgm:spPr/>
    </dgm:pt>
    <dgm:pt modelId="{4CE63D5D-18C3-4AE3-9262-EF5869E2E5CF}" type="pres">
      <dgm:prSet presAssocID="{A81B0EC6-E1FE-4FF5-AE2D-981326AAF473}" presName="bgRect" presStyleLbl="bgShp" presStyleIdx="2" presStyleCnt="3"/>
      <dgm:spPr/>
    </dgm:pt>
    <dgm:pt modelId="{CC74E9F8-DD66-4EFA-ACCF-A9C59A55510C}" type="pres">
      <dgm:prSet presAssocID="{A81B0EC6-E1FE-4FF5-AE2D-981326AAF473}"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miling Face with No Fill"/>
        </a:ext>
      </dgm:extLst>
    </dgm:pt>
    <dgm:pt modelId="{2E32DCA9-20F7-4675-81F0-22965F2AE4AD}" type="pres">
      <dgm:prSet presAssocID="{A81B0EC6-E1FE-4FF5-AE2D-981326AAF473}" presName="spaceRect" presStyleCnt="0"/>
      <dgm:spPr/>
    </dgm:pt>
    <dgm:pt modelId="{FFFC956B-BA28-4E1F-AFEB-6E8ED741E4C3}" type="pres">
      <dgm:prSet presAssocID="{A81B0EC6-E1FE-4FF5-AE2D-981326AAF473}" presName="parTx" presStyleLbl="revTx" presStyleIdx="2" presStyleCnt="3">
        <dgm:presLayoutVars>
          <dgm:chMax val="0"/>
          <dgm:chPref val="0"/>
        </dgm:presLayoutVars>
      </dgm:prSet>
      <dgm:spPr/>
    </dgm:pt>
  </dgm:ptLst>
  <dgm:cxnLst>
    <dgm:cxn modelId="{230FF501-8D4F-44A8-AF6C-AF8FEFE70B89}" type="presOf" srcId="{00A0F636-3B2E-40CF-9434-9495E896A816}" destId="{81CEB1B8-007F-4099-8FED-1E7699A78B56}" srcOrd="0" destOrd="0" presId="urn:microsoft.com/office/officeart/2018/2/layout/IconVerticalSolidList"/>
    <dgm:cxn modelId="{BD272605-4E0F-4781-9D41-26F6A2697B00}" type="presOf" srcId="{90632937-0FB8-4654-B988-48EAD0B4BAF8}" destId="{CF6B7FC5-58E5-4717-9AD6-CF84245B04F6}" srcOrd="0" destOrd="0" presId="urn:microsoft.com/office/officeart/2018/2/layout/IconVerticalSolidList"/>
    <dgm:cxn modelId="{72EF5324-C94F-4C40-B55C-85312D9D6BA7}" type="presOf" srcId="{A81B0EC6-E1FE-4FF5-AE2D-981326AAF473}" destId="{FFFC956B-BA28-4E1F-AFEB-6E8ED741E4C3}" srcOrd="0" destOrd="0" presId="urn:microsoft.com/office/officeart/2018/2/layout/IconVerticalSolidList"/>
    <dgm:cxn modelId="{FBB56D30-522C-43D7-9643-B9FA400A5B3A}" srcId="{00A0F636-3B2E-40CF-9434-9495E896A816}" destId="{90632937-0FB8-4654-B988-48EAD0B4BAF8}" srcOrd="0" destOrd="0" parTransId="{3EE647FC-23A3-4E87-A01D-FFEDD1AC066D}" sibTransId="{0E85C12F-D381-417F-AFB6-4591EE3CA173}"/>
    <dgm:cxn modelId="{F170CC35-ADCB-4449-A5A8-028E5A49F673}" srcId="{00A0F636-3B2E-40CF-9434-9495E896A816}" destId="{A81B0EC6-E1FE-4FF5-AE2D-981326AAF473}" srcOrd="2" destOrd="0" parTransId="{EB02E234-CA72-41FB-9BD7-377B4C2ACD4C}" sibTransId="{931524E8-5E9F-49E3-90DB-46F977A830D7}"/>
    <dgm:cxn modelId="{4B28268F-D73D-4760-8EB0-42E4EC058E8C}" type="presOf" srcId="{25F57CA7-1131-42F6-9038-26314AEBB9DE}" destId="{0069FB5D-4DEB-4EC9-A7A4-D3D50B5A629A}" srcOrd="0" destOrd="0" presId="urn:microsoft.com/office/officeart/2018/2/layout/IconVerticalSolidList"/>
    <dgm:cxn modelId="{374DEB90-229A-4096-BEE9-C9F872ADB20F}" srcId="{00A0F636-3B2E-40CF-9434-9495E896A816}" destId="{25F57CA7-1131-42F6-9038-26314AEBB9DE}" srcOrd="1" destOrd="0" parTransId="{BA8BA59A-1AC2-4EDA-8FE0-E54A3F1DD234}" sibTransId="{DEF400C0-7959-465F-A6A7-A9B206B8998D}"/>
    <dgm:cxn modelId="{59589941-B0C7-46A1-BDEB-E340EACF3C9B}" type="presParOf" srcId="{81CEB1B8-007F-4099-8FED-1E7699A78B56}" destId="{DFA5784E-C7FA-4BC1-9CE5-2A1CFD99CAEA}" srcOrd="0" destOrd="0" presId="urn:microsoft.com/office/officeart/2018/2/layout/IconVerticalSolidList"/>
    <dgm:cxn modelId="{131B5DB0-5BC4-4469-A17C-17C3E14DFC5F}" type="presParOf" srcId="{DFA5784E-C7FA-4BC1-9CE5-2A1CFD99CAEA}" destId="{C4254BE4-6CBC-4D39-B306-C87E0EE2129E}" srcOrd="0" destOrd="0" presId="urn:microsoft.com/office/officeart/2018/2/layout/IconVerticalSolidList"/>
    <dgm:cxn modelId="{9EF7512E-0CDC-4290-B079-22F822BA5D4C}" type="presParOf" srcId="{DFA5784E-C7FA-4BC1-9CE5-2A1CFD99CAEA}" destId="{EF46627E-A59C-4833-95A6-67148D13B4A2}" srcOrd="1" destOrd="0" presId="urn:microsoft.com/office/officeart/2018/2/layout/IconVerticalSolidList"/>
    <dgm:cxn modelId="{F3C3B353-F4AB-478F-8267-A712C0B8C2DA}" type="presParOf" srcId="{DFA5784E-C7FA-4BC1-9CE5-2A1CFD99CAEA}" destId="{391CFBC6-E1F7-48F2-BA65-FC99C2356F72}" srcOrd="2" destOrd="0" presId="urn:microsoft.com/office/officeart/2018/2/layout/IconVerticalSolidList"/>
    <dgm:cxn modelId="{0B6E74FA-378D-42E2-B791-239244D3FC30}" type="presParOf" srcId="{DFA5784E-C7FA-4BC1-9CE5-2A1CFD99CAEA}" destId="{CF6B7FC5-58E5-4717-9AD6-CF84245B04F6}" srcOrd="3" destOrd="0" presId="urn:microsoft.com/office/officeart/2018/2/layout/IconVerticalSolidList"/>
    <dgm:cxn modelId="{C1BE9AC9-E8BE-4CBA-81C3-52D621E1BBEB}" type="presParOf" srcId="{81CEB1B8-007F-4099-8FED-1E7699A78B56}" destId="{476B0751-93DE-4981-9E84-51E1072A897D}" srcOrd="1" destOrd="0" presId="urn:microsoft.com/office/officeart/2018/2/layout/IconVerticalSolidList"/>
    <dgm:cxn modelId="{2285B622-E26C-4D1C-8D2E-2B45D63817C0}" type="presParOf" srcId="{81CEB1B8-007F-4099-8FED-1E7699A78B56}" destId="{6C81A5E7-C7EE-4602-98F6-07FF5871FE75}" srcOrd="2" destOrd="0" presId="urn:microsoft.com/office/officeart/2018/2/layout/IconVerticalSolidList"/>
    <dgm:cxn modelId="{74F203B7-5BB7-49A9-9C73-3C9E74CC3371}" type="presParOf" srcId="{6C81A5E7-C7EE-4602-98F6-07FF5871FE75}" destId="{660ADCDD-4CE9-4719-AA7A-6106A718913C}" srcOrd="0" destOrd="0" presId="urn:microsoft.com/office/officeart/2018/2/layout/IconVerticalSolidList"/>
    <dgm:cxn modelId="{89B8D193-ABAA-4F31-AB54-75519E411A89}" type="presParOf" srcId="{6C81A5E7-C7EE-4602-98F6-07FF5871FE75}" destId="{07A30DEB-0FFA-4479-B381-3D76E60FF897}" srcOrd="1" destOrd="0" presId="urn:microsoft.com/office/officeart/2018/2/layout/IconVerticalSolidList"/>
    <dgm:cxn modelId="{81ED8262-1AD0-486C-A214-0A69B1DE3F74}" type="presParOf" srcId="{6C81A5E7-C7EE-4602-98F6-07FF5871FE75}" destId="{834D1772-66D9-4338-937A-0551C98CFFD7}" srcOrd="2" destOrd="0" presId="urn:microsoft.com/office/officeart/2018/2/layout/IconVerticalSolidList"/>
    <dgm:cxn modelId="{3B1F4314-5752-46F7-BA2C-BFE3ABF4C28C}" type="presParOf" srcId="{6C81A5E7-C7EE-4602-98F6-07FF5871FE75}" destId="{0069FB5D-4DEB-4EC9-A7A4-D3D50B5A629A}" srcOrd="3" destOrd="0" presId="urn:microsoft.com/office/officeart/2018/2/layout/IconVerticalSolidList"/>
    <dgm:cxn modelId="{C0233055-F704-4EA5-8C56-ABDE54B1F0EA}" type="presParOf" srcId="{81CEB1B8-007F-4099-8FED-1E7699A78B56}" destId="{43A7BD89-BB32-45C2-BC6C-221A35ECB412}" srcOrd="3" destOrd="0" presId="urn:microsoft.com/office/officeart/2018/2/layout/IconVerticalSolidList"/>
    <dgm:cxn modelId="{66C089C4-1F14-427C-8875-03F7AE9302E6}" type="presParOf" srcId="{81CEB1B8-007F-4099-8FED-1E7699A78B56}" destId="{0C764EDF-BCEB-4CFD-BA34-206A1290E8D9}" srcOrd="4" destOrd="0" presId="urn:microsoft.com/office/officeart/2018/2/layout/IconVerticalSolidList"/>
    <dgm:cxn modelId="{C8B4ACFB-A8CD-4C14-96F0-00C878FAA8DE}" type="presParOf" srcId="{0C764EDF-BCEB-4CFD-BA34-206A1290E8D9}" destId="{4CE63D5D-18C3-4AE3-9262-EF5869E2E5CF}" srcOrd="0" destOrd="0" presId="urn:microsoft.com/office/officeart/2018/2/layout/IconVerticalSolidList"/>
    <dgm:cxn modelId="{DE1E8964-4941-4EE6-B655-49A9B209858E}" type="presParOf" srcId="{0C764EDF-BCEB-4CFD-BA34-206A1290E8D9}" destId="{CC74E9F8-DD66-4EFA-ACCF-A9C59A55510C}" srcOrd="1" destOrd="0" presId="urn:microsoft.com/office/officeart/2018/2/layout/IconVerticalSolidList"/>
    <dgm:cxn modelId="{A185A2AC-0D69-475B-A54F-04B35E5FDF45}" type="presParOf" srcId="{0C764EDF-BCEB-4CFD-BA34-206A1290E8D9}" destId="{2E32DCA9-20F7-4675-81F0-22965F2AE4AD}" srcOrd="2" destOrd="0" presId="urn:microsoft.com/office/officeart/2018/2/layout/IconVerticalSolidList"/>
    <dgm:cxn modelId="{C015F9C8-8C2B-413D-ABFE-DCADB9207DC1}" type="presParOf" srcId="{0C764EDF-BCEB-4CFD-BA34-206A1290E8D9}" destId="{FFFC956B-BA28-4E1F-AFEB-6E8ED741E4C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6B1C3A9-2CD6-4EF6-A60B-A1EB93AD7165}"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432C696-527F-4406-8B97-E40A36D47869}">
      <dgm:prSet/>
      <dgm:spPr/>
      <dgm:t>
        <a:bodyPr/>
        <a:lstStyle/>
        <a:p>
          <a:r>
            <a:rPr lang="en-US"/>
            <a:t>Contexts and Situations of Flow: Is Flow a State or a Trait? </a:t>
          </a:r>
        </a:p>
      </dgm:t>
    </dgm:pt>
    <dgm:pt modelId="{C3ECEA6B-A387-44BC-A7DB-7B798FF27470}" type="parTrans" cxnId="{75CD0E49-6AF8-4BF4-AEA4-66049CCB93CB}">
      <dgm:prSet/>
      <dgm:spPr/>
      <dgm:t>
        <a:bodyPr/>
        <a:lstStyle/>
        <a:p>
          <a:endParaRPr lang="en-US"/>
        </a:p>
      </dgm:t>
    </dgm:pt>
    <dgm:pt modelId="{3D14A3B0-56B3-461B-AF84-B6FEC08CF214}" type="sibTrans" cxnId="{75CD0E49-6AF8-4BF4-AEA4-66049CCB93CB}">
      <dgm:prSet/>
      <dgm:spPr/>
      <dgm:t>
        <a:bodyPr/>
        <a:lstStyle/>
        <a:p>
          <a:endParaRPr lang="en-US"/>
        </a:p>
      </dgm:t>
    </dgm:pt>
    <dgm:pt modelId="{5B7C4266-A889-4EEE-8CA6-BF4AB3DC2BBD}">
      <dgm:prSet/>
      <dgm:spPr/>
      <dgm:t>
        <a:bodyPr/>
        <a:lstStyle/>
        <a:p>
          <a:r>
            <a:rPr lang="en-US"/>
            <a:t>If flow is a state</a:t>
          </a:r>
        </a:p>
      </dgm:t>
    </dgm:pt>
    <dgm:pt modelId="{DBBBFD4F-D5BB-4E42-835E-A5D3F6701EBA}" type="parTrans" cxnId="{E941357C-E085-4B3D-976A-CD32131ADC74}">
      <dgm:prSet/>
      <dgm:spPr/>
      <dgm:t>
        <a:bodyPr/>
        <a:lstStyle/>
        <a:p>
          <a:endParaRPr lang="en-US"/>
        </a:p>
      </dgm:t>
    </dgm:pt>
    <dgm:pt modelId="{57C0F6DB-0C0A-4B74-86AA-A61014DC8797}" type="sibTrans" cxnId="{E941357C-E085-4B3D-976A-CD32131ADC74}">
      <dgm:prSet/>
      <dgm:spPr/>
      <dgm:t>
        <a:bodyPr/>
        <a:lstStyle/>
        <a:p>
          <a:endParaRPr lang="en-US"/>
        </a:p>
      </dgm:t>
    </dgm:pt>
    <dgm:pt modelId="{55E35E86-E380-4352-A4D8-82094D61B220}">
      <dgm:prSet/>
      <dgm:spPr/>
      <dgm:t>
        <a:bodyPr/>
        <a:lstStyle/>
        <a:p>
          <a:r>
            <a:rPr lang="en-US"/>
            <a:t>A state of consciousness that can occur to anyone with the same amount of effort given the right circumstances</a:t>
          </a:r>
        </a:p>
      </dgm:t>
    </dgm:pt>
    <dgm:pt modelId="{87AE6FB7-5FE6-4152-AC12-60DF563886A8}" type="parTrans" cxnId="{BF3EA3AD-F612-4D1B-9E7F-7131F36A875C}">
      <dgm:prSet/>
      <dgm:spPr/>
      <dgm:t>
        <a:bodyPr/>
        <a:lstStyle/>
        <a:p>
          <a:endParaRPr lang="en-US"/>
        </a:p>
      </dgm:t>
    </dgm:pt>
    <dgm:pt modelId="{1F6E0228-122B-40EF-AC13-2887027F9AAB}" type="sibTrans" cxnId="{BF3EA3AD-F612-4D1B-9E7F-7131F36A875C}">
      <dgm:prSet/>
      <dgm:spPr/>
      <dgm:t>
        <a:bodyPr/>
        <a:lstStyle/>
        <a:p>
          <a:endParaRPr lang="en-US"/>
        </a:p>
      </dgm:t>
    </dgm:pt>
    <dgm:pt modelId="{7A39F536-2DD7-4BA5-A064-E446B9CEFC96}">
      <dgm:prSet/>
      <dgm:spPr/>
      <dgm:t>
        <a:bodyPr/>
        <a:lstStyle/>
        <a:p>
          <a:r>
            <a:rPr lang="en-US"/>
            <a:t>If flow is a trait (dispositional flow)</a:t>
          </a:r>
        </a:p>
      </dgm:t>
    </dgm:pt>
    <dgm:pt modelId="{8C1D61B1-05CE-45E3-BB90-C8D7559C65C7}" type="parTrans" cxnId="{09E0372D-6D68-41BA-AB86-F503C6888095}">
      <dgm:prSet/>
      <dgm:spPr/>
      <dgm:t>
        <a:bodyPr/>
        <a:lstStyle/>
        <a:p>
          <a:endParaRPr lang="en-US"/>
        </a:p>
      </dgm:t>
    </dgm:pt>
    <dgm:pt modelId="{49C30960-1F28-44BB-90B0-92B5110F7063}" type="sibTrans" cxnId="{09E0372D-6D68-41BA-AB86-F503C6888095}">
      <dgm:prSet/>
      <dgm:spPr/>
      <dgm:t>
        <a:bodyPr/>
        <a:lstStyle/>
        <a:p>
          <a:endParaRPr lang="en-US"/>
        </a:p>
      </dgm:t>
    </dgm:pt>
    <dgm:pt modelId="{707F4A77-38CF-4150-A43E-C6107FD48B8F}">
      <dgm:prSet/>
      <dgm:spPr/>
      <dgm:t>
        <a:bodyPr/>
        <a:lstStyle/>
        <a:p>
          <a:r>
            <a:rPr lang="en-US"/>
            <a:t>There should be innate differences in how easily individuals can experience flow</a:t>
          </a:r>
        </a:p>
      </dgm:t>
    </dgm:pt>
    <dgm:pt modelId="{D8BA42AE-1378-44D8-B65C-EE2652991ECD}" type="parTrans" cxnId="{F9ADCBC4-286C-4E7E-BDFE-ED6251A499B2}">
      <dgm:prSet/>
      <dgm:spPr/>
      <dgm:t>
        <a:bodyPr/>
        <a:lstStyle/>
        <a:p>
          <a:endParaRPr lang="en-US"/>
        </a:p>
      </dgm:t>
    </dgm:pt>
    <dgm:pt modelId="{58443626-7071-46D1-8A3B-7CA1FF0489C0}" type="sibTrans" cxnId="{F9ADCBC4-286C-4E7E-BDFE-ED6251A499B2}">
      <dgm:prSet/>
      <dgm:spPr/>
      <dgm:t>
        <a:bodyPr/>
        <a:lstStyle/>
        <a:p>
          <a:endParaRPr lang="en-US"/>
        </a:p>
      </dgm:t>
    </dgm:pt>
    <dgm:pt modelId="{58833E25-AB0A-4786-A443-31464B5A4A03}">
      <dgm:prSet/>
      <dgm:spPr/>
      <dgm:t>
        <a:bodyPr/>
        <a:lstStyle/>
        <a:p>
          <a:r>
            <a:rPr lang="en-US"/>
            <a:t>Some twin research suggests flow proneness related to genetically linked personality traits of extraversion, agreeableness, and openness to experience</a:t>
          </a:r>
        </a:p>
      </dgm:t>
    </dgm:pt>
    <dgm:pt modelId="{13653ABB-DC7D-4A17-B8B2-F90DB6F40A4A}" type="parTrans" cxnId="{01BD9451-9078-4981-8311-3AFC5EDEB0F4}">
      <dgm:prSet/>
      <dgm:spPr/>
      <dgm:t>
        <a:bodyPr/>
        <a:lstStyle/>
        <a:p>
          <a:endParaRPr lang="en-US"/>
        </a:p>
      </dgm:t>
    </dgm:pt>
    <dgm:pt modelId="{DE6F2030-DE16-42DB-8357-4501D3052740}" type="sibTrans" cxnId="{01BD9451-9078-4981-8311-3AFC5EDEB0F4}">
      <dgm:prSet/>
      <dgm:spPr/>
      <dgm:t>
        <a:bodyPr/>
        <a:lstStyle/>
        <a:p>
          <a:endParaRPr lang="en-US"/>
        </a:p>
      </dgm:t>
    </dgm:pt>
    <dgm:pt modelId="{AB585BFD-4F9B-4176-A561-DCC73FAF95B8}" type="pres">
      <dgm:prSet presAssocID="{66B1C3A9-2CD6-4EF6-A60B-A1EB93AD7165}" presName="linear" presStyleCnt="0">
        <dgm:presLayoutVars>
          <dgm:animLvl val="lvl"/>
          <dgm:resizeHandles val="exact"/>
        </dgm:presLayoutVars>
      </dgm:prSet>
      <dgm:spPr/>
    </dgm:pt>
    <dgm:pt modelId="{AC152AD4-B1AB-47B2-AA6C-FFA546F73208}" type="pres">
      <dgm:prSet presAssocID="{9432C696-527F-4406-8B97-E40A36D47869}" presName="parentText" presStyleLbl="node1" presStyleIdx="0" presStyleCnt="3">
        <dgm:presLayoutVars>
          <dgm:chMax val="0"/>
          <dgm:bulletEnabled val="1"/>
        </dgm:presLayoutVars>
      </dgm:prSet>
      <dgm:spPr/>
    </dgm:pt>
    <dgm:pt modelId="{33BA39D3-A549-4DCE-8A9C-828A61D8A4A8}" type="pres">
      <dgm:prSet presAssocID="{3D14A3B0-56B3-461B-AF84-B6FEC08CF214}" presName="spacer" presStyleCnt="0"/>
      <dgm:spPr/>
    </dgm:pt>
    <dgm:pt modelId="{72DC8E76-EBD7-4EE6-A032-FA85898C2A87}" type="pres">
      <dgm:prSet presAssocID="{5B7C4266-A889-4EEE-8CA6-BF4AB3DC2BBD}" presName="parentText" presStyleLbl="node1" presStyleIdx="1" presStyleCnt="3">
        <dgm:presLayoutVars>
          <dgm:chMax val="0"/>
          <dgm:bulletEnabled val="1"/>
        </dgm:presLayoutVars>
      </dgm:prSet>
      <dgm:spPr/>
    </dgm:pt>
    <dgm:pt modelId="{8E951791-5371-4C51-AEC8-1881E3ACE62F}" type="pres">
      <dgm:prSet presAssocID="{5B7C4266-A889-4EEE-8CA6-BF4AB3DC2BBD}" presName="childText" presStyleLbl="revTx" presStyleIdx="0" presStyleCnt="2">
        <dgm:presLayoutVars>
          <dgm:bulletEnabled val="1"/>
        </dgm:presLayoutVars>
      </dgm:prSet>
      <dgm:spPr/>
    </dgm:pt>
    <dgm:pt modelId="{52C8D850-6130-42C6-9CA2-7FB0786B9AE7}" type="pres">
      <dgm:prSet presAssocID="{7A39F536-2DD7-4BA5-A064-E446B9CEFC96}" presName="parentText" presStyleLbl="node1" presStyleIdx="2" presStyleCnt="3">
        <dgm:presLayoutVars>
          <dgm:chMax val="0"/>
          <dgm:bulletEnabled val="1"/>
        </dgm:presLayoutVars>
      </dgm:prSet>
      <dgm:spPr/>
    </dgm:pt>
    <dgm:pt modelId="{AA097A77-9B5B-49F3-9366-D996BC384F76}" type="pres">
      <dgm:prSet presAssocID="{7A39F536-2DD7-4BA5-A064-E446B9CEFC96}" presName="childText" presStyleLbl="revTx" presStyleIdx="1" presStyleCnt="2">
        <dgm:presLayoutVars>
          <dgm:bulletEnabled val="1"/>
        </dgm:presLayoutVars>
      </dgm:prSet>
      <dgm:spPr/>
    </dgm:pt>
  </dgm:ptLst>
  <dgm:cxnLst>
    <dgm:cxn modelId="{7F29F107-1D9D-4770-8199-E8E4266DC11C}" type="presOf" srcId="{58833E25-AB0A-4786-A443-31464B5A4A03}" destId="{AA097A77-9B5B-49F3-9366-D996BC384F76}" srcOrd="0" destOrd="1" presId="urn:microsoft.com/office/officeart/2005/8/layout/vList2"/>
    <dgm:cxn modelId="{DAA5BC08-8830-4B4C-8EA9-7C41AE80E76D}" type="presOf" srcId="{55E35E86-E380-4352-A4D8-82094D61B220}" destId="{8E951791-5371-4C51-AEC8-1881E3ACE62F}" srcOrd="0" destOrd="0" presId="urn:microsoft.com/office/officeart/2005/8/layout/vList2"/>
    <dgm:cxn modelId="{09E0372D-6D68-41BA-AB86-F503C6888095}" srcId="{66B1C3A9-2CD6-4EF6-A60B-A1EB93AD7165}" destId="{7A39F536-2DD7-4BA5-A064-E446B9CEFC96}" srcOrd="2" destOrd="0" parTransId="{8C1D61B1-05CE-45E3-BB90-C8D7559C65C7}" sibTransId="{49C30960-1F28-44BB-90B0-92B5110F7063}"/>
    <dgm:cxn modelId="{75CD0E49-6AF8-4BF4-AEA4-66049CCB93CB}" srcId="{66B1C3A9-2CD6-4EF6-A60B-A1EB93AD7165}" destId="{9432C696-527F-4406-8B97-E40A36D47869}" srcOrd="0" destOrd="0" parTransId="{C3ECEA6B-A387-44BC-A7DB-7B798FF27470}" sibTransId="{3D14A3B0-56B3-461B-AF84-B6FEC08CF214}"/>
    <dgm:cxn modelId="{01BD9451-9078-4981-8311-3AFC5EDEB0F4}" srcId="{707F4A77-38CF-4150-A43E-C6107FD48B8F}" destId="{58833E25-AB0A-4786-A443-31464B5A4A03}" srcOrd="0" destOrd="0" parTransId="{13653ABB-DC7D-4A17-B8B2-F90DB6F40A4A}" sibTransId="{DE6F2030-DE16-42DB-8357-4501D3052740}"/>
    <dgm:cxn modelId="{A37FDE7A-C206-4A10-9304-1F6D46E4A396}" type="presOf" srcId="{9432C696-527F-4406-8B97-E40A36D47869}" destId="{AC152AD4-B1AB-47B2-AA6C-FFA546F73208}" srcOrd="0" destOrd="0" presId="urn:microsoft.com/office/officeart/2005/8/layout/vList2"/>
    <dgm:cxn modelId="{E941357C-E085-4B3D-976A-CD32131ADC74}" srcId="{66B1C3A9-2CD6-4EF6-A60B-A1EB93AD7165}" destId="{5B7C4266-A889-4EEE-8CA6-BF4AB3DC2BBD}" srcOrd="1" destOrd="0" parTransId="{DBBBFD4F-D5BB-4E42-835E-A5D3F6701EBA}" sibTransId="{57C0F6DB-0C0A-4B74-86AA-A61014DC8797}"/>
    <dgm:cxn modelId="{A80BBF98-322E-49E7-AAB2-304E660291AE}" type="presOf" srcId="{66B1C3A9-2CD6-4EF6-A60B-A1EB93AD7165}" destId="{AB585BFD-4F9B-4176-A561-DCC73FAF95B8}" srcOrd="0" destOrd="0" presId="urn:microsoft.com/office/officeart/2005/8/layout/vList2"/>
    <dgm:cxn modelId="{1C94E99B-0CDB-4BCD-9FDF-281A6ED4B057}" type="presOf" srcId="{7A39F536-2DD7-4BA5-A064-E446B9CEFC96}" destId="{52C8D850-6130-42C6-9CA2-7FB0786B9AE7}" srcOrd="0" destOrd="0" presId="urn:microsoft.com/office/officeart/2005/8/layout/vList2"/>
    <dgm:cxn modelId="{47BDEDA4-E827-43A4-B555-E47F9B8622D2}" type="presOf" srcId="{5B7C4266-A889-4EEE-8CA6-BF4AB3DC2BBD}" destId="{72DC8E76-EBD7-4EE6-A032-FA85898C2A87}" srcOrd="0" destOrd="0" presId="urn:microsoft.com/office/officeart/2005/8/layout/vList2"/>
    <dgm:cxn modelId="{BF3EA3AD-F612-4D1B-9E7F-7131F36A875C}" srcId="{5B7C4266-A889-4EEE-8CA6-BF4AB3DC2BBD}" destId="{55E35E86-E380-4352-A4D8-82094D61B220}" srcOrd="0" destOrd="0" parTransId="{87AE6FB7-5FE6-4152-AC12-60DF563886A8}" sibTransId="{1F6E0228-122B-40EF-AC13-2887027F9AAB}"/>
    <dgm:cxn modelId="{C9859DC0-C737-4670-831C-F963CB098806}" type="presOf" srcId="{707F4A77-38CF-4150-A43E-C6107FD48B8F}" destId="{AA097A77-9B5B-49F3-9366-D996BC384F76}" srcOrd="0" destOrd="0" presId="urn:microsoft.com/office/officeart/2005/8/layout/vList2"/>
    <dgm:cxn modelId="{F9ADCBC4-286C-4E7E-BDFE-ED6251A499B2}" srcId="{7A39F536-2DD7-4BA5-A064-E446B9CEFC96}" destId="{707F4A77-38CF-4150-A43E-C6107FD48B8F}" srcOrd="0" destOrd="0" parTransId="{D8BA42AE-1378-44D8-B65C-EE2652991ECD}" sibTransId="{58443626-7071-46D1-8A3B-7CA1FF0489C0}"/>
    <dgm:cxn modelId="{54A558A2-7510-40FC-B6BA-E9CBA1753266}" type="presParOf" srcId="{AB585BFD-4F9B-4176-A561-DCC73FAF95B8}" destId="{AC152AD4-B1AB-47B2-AA6C-FFA546F73208}" srcOrd="0" destOrd="0" presId="urn:microsoft.com/office/officeart/2005/8/layout/vList2"/>
    <dgm:cxn modelId="{1E11FCEE-8654-43FB-9F00-033357CB0237}" type="presParOf" srcId="{AB585BFD-4F9B-4176-A561-DCC73FAF95B8}" destId="{33BA39D3-A549-4DCE-8A9C-828A61D8A4A8}" srcOrd="1" destOrd="0" presId="urn:microsoft.com/office/officeart/2005/8/layout/vList2"/>
    <dgm:cxn modelId="{C7046234-2B80-48AB-B7CE-2CA7468C057D}" type="presParOf" srcId="{AB585BFD-4F9B-4176-A561-DCC73FAF95B8}" destId="{72DC8E76-EBD7-4EE6-A032-FA85898C2A87}" srcOrd="2" destOrd="0" presId="urn:microsoft.com/office/officeart/2005/8/layout/vList2"/>
    <dgm:cxn modelId="{60052BD1-636E-444E-84B3-BC1554BA764F}" type="presParOf" srcId="{AB585BFD-4F9B-4176-A561-DCC73FAF95B8}" destId="{8E951791-5371-4C51-AEC8-1881E3ACE62F}" srcOrd="3" destOrd="0" presId="urn:microsoft.com/office/officeart/2005/8/layout/vList2"/>
    <dgm:cxn modelId="{C6EAF521-73FE-4880-827E-A61C78945407}" type="presParOf" srcId="{AB585BFD-4F9B-4176-A561-DCC73FAF95B8}" destId="{52C8D850-6130-42C6-9CA2-7FB0786B9AE7}" srcOrd="4" destOrd="0" presId="urn:microsoft.com/office/officeart/2005/8/layout/vList2"/>
    <dgm:cxn modelId="{4E23D552-9B14-4C27-A688-0E3E201D5F8B}" type="presParOf" srcId="{AB585BFD-4F9B-4176-A561-DCC73FAF95B8}" destId="{AA097A77-9B5B-49F3-9366-D996BC384F76}" srcOrd="5"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F3115-9815-4B06-9E92-7B85B343B464}">
      <dsp:nvSpPr>
        <dsp:cNvPr id="0" name=""/>
        <dsp:cNvSpPr/>
      </dsp:nvSpPr>
      <dsp:spPr>
        <a:xfrm>
          <a:off x="0" y="346375"/>
          <a:ext cx="4939867" cy="67626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a:t>Present-Moment Awareness</a:t>
          </a:r>
          <a:r>
            <a:rPr lang="en-US" sz="1700" kern="1200"/>
            <a:t>: purposeful attention to current internal and external environment</a:t>
          </a:r>
        </a:p>
      </dsp:txBody>
      <dsp:txXfrm>
        <a:off x="33012" y="379387"/>
        <a:ext cx="4873843" cy="610236"/>
      </dsp:txXfrm>
    </dsp:sp>
    <dsp:sp modelId="{57CD035E-C6AF-411F-B58B-E565538FD5A9}">
      <dsp:nvSpPr>
        <dsp:cNvPr id="0" name=""/>
        <dsp:cNvSpPr/>
      </dsp:nvSpPr>
      <dsp:spPr>
        <a:xfrm>
          <a:off x="0" y="1071595"/>
          <a:ext cx="4939867" cy="676260"/>
        </a:xfrm>
        <a:prstGeom prst="roundRect">
          <a:avLst/>
        </a:prstGeom>
        <a:gradFill rotWithShape="0">
          <a:gsLst>
            <a:gs pos="0">
              <a:schemeClr val="accent2">
                <a:hueOff val="-363841"/>
                <a:satOff val="-20982"/>
                <a:lumOff val="2157"/>
                <a:alphaOff val="0"/>
                <a:satMod val="103000"/>
                <a:lumMod val="102000"/>
                <a:tint val="94000"/>
              </a:schemeClr>
            </a:gs>
            <a:gs pos="50000">
              <a:schemeClr val="accent2">
                <a:hueOff val="-363841"/>
                <a:satOff val="-20982"/>
                <a:lumOff val="2157"/>
                <a:alphaOff val="0"/>
                <a:satMod val="110000"/>
                <a:lumMod val="100000"/>
                <a:shade val="100000"/>
              </a:schemeClr>
            </a:gs>
            <a:gs pos="100000">
              <a:schemeClr val="accent2">
                <a:hueOff val="-363841"/>
                <a:satOff val="-20982"/>
                <a:lumOff val="215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dirty="0"/>
            <a:t>Non-judgmental Stance</a:t>
          </a:r>
          <a:r>
            <a:rPr lang="en-US" sz="1700" kern="1200" dirty="0"/>
            <a:t>: notice experiences without labeling as good or bad, not evaluating</a:t>
          </a:r>
        </a:p>
      </dsp:txBody>
      <dsp:txXfrm>
        <a:off x="33012" y="1104607"/>
        <a:ext cx="4873843" cy="610236"/>
      </dsp:txXfrm>
    </dsp:sp>
    <dsp:sp modelId="{ED62F44C-833A-4CFC-8010-B39EC1BDF2FC}">
      <dsp:nvSpPr>
        <dsp:cNvPr id="0" name=""/>
        <dsp:cNvSpPr/>
      </dsp:nvSpPr>
      <dsp:spPr>
        <a:xfrm>
          <a:off x="0" y="1796815"/>
          <a:ext cx="4939867" cy="676260"/>
        </a:xfrm>
        <a:prstGeom prst="roundRect">
          <a:avLst/>
        </a:prstGeom>
        <a:gradFill rotWithShape="0">
          <a:gsLst>
            <a:gs pos="0">
              <a:schemeClr val="accent2">
                <a:hueOff val="-727682"/>
                <a:satOff val="-41964"/>
                <a:lumOff val="4314"/>
                <a:alphaOff val="0"/>
                <a:satMod val="103000"/>
                <a:lumMod val="102000"/>
                <a:tint val="94000"/>
              </a:schemeClr>
            </a:gs>
            <a:gs pos="50000">
              <a:schemeClr val="accent2">
                <a:hueOff val="-727682"/>
                <a:satOff val="-41964"/>
                <a:lumOff val="4314"/>
                <a:alphaOff val="0"/>
                <a:satMod val="110000"/>
                <a:lumMod val="100000"/>
                <a:shade val="100000"/>
              </a:schemeClr>
            </a:gs>
            <a:gs pos="100000">
              <a:schemeClr val="accent2">
                <a:hueOff val="-727682"/>
                <a:satOff val="-41964"/>
                <a:lumOff val="431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a:t>Non-reactivity</a:t>
          </a:r>
          <a:r>
            <a:rPr lang="en-US" sz="1700" kern="1200"/>
            <a:t>: leaving space between you and your experiences</a:t>
          </a:r>
        </a:p>
      </dsp:txBody>
      <dsp:txXfrm>
        <a:off x="33012" y="1829827"/>
        <a:ext cx="4873843" cy="610236"/>
      </dsp:txXfrm>
    </dsp:sp>
    <dsp:sp modelId="{CDB330FA-26C2-4B6F-A31B-5C2ECE609F92}">
      <dsp:nvSpPr>
        <dsp:cNvPr id="0" name=""/>
        <dsp:cNvSpPr/>
      </dsp:nvSpPr>
      <dsp:spPr>
        <a:xfrm>
          <a:off x="0" y="2522035"/>
          <a:ext cx="4939867" cy="676260"/>
        </a:xfrm>
        <a:prstGeom prst="roundRect">
          <a:avLst/>
        </a:prstGeom>
        <a:gradFill rotWithShape="0">
          <a:gsLst>
            <a:gs pos="0">
              <a:schemeClr val="accent2">
                <a:hueOff val="-1091522"/>
                <a:satOff val="-62946"/>
                <a:lumOff val="6471"/>
                <a:alphaOff val="0"/>
                <a:satMod val="103000"/>
                <a:lumMod val="102000"/>
                <a:tint val="94000"/>
              </a:schemeClr>
            </a:gs>
            <a:gs pos="50000">
              <a:schemeClr val="accent2">
                <a:hueOff val="-1091522"/>
                <a:satOff val="-62946"/>
                <a:lumOff val="6471"/>
                <a:alphaOff val="0"/>
                <a:satMod val="110000"/>
                <a:lumMod val="100000"/>
                <a:shade val="100000"/>
              </a:schemeClr>
            </a:gs>
            <a:gs pos="100000">
              <a:schemeClr val="accent2">
                <a:hueOff val="-1091522"/>
                <a:satOff val="-62946"/>
                <a:lumOff val="64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a:t>Acceptance</a:t>
          </a:r>
          <a:r>
            <a:rPr lang="en-US" sz="1700" kern="1200"/>
            <a:t>: allowing experience as it really is</a:t>
          </a:r>
        </a:p>
      </dsp:txBody>
      <dsp:txXfrm>
        <a:off x="33012" y="2555047"/>
        <a:ext cx="4873843" cy="610236"/>
      </dsp:txXfrm>
    </dsp:sp>
    <dsp:sp modelId="{485C4A3A-9765-41A9-9EC9-BAFB8C40149B}">
      <dsp:nvSpPr>
        <dsp:cNvPr id="0" name=""/>
        <dsp:cNvSpPr/>
      </dsp:nvSpPr>
      <dsp:spPr>
        <a:xfrm>
          <a:off x="0" y="3247255"/>
          <a:ext cx="4939867" cy="676260"/>
        </a:xfrm>
        <a:prstGeom prst="roundRect">
          <a:avLst/>
        </a:prstGeom>
        <a:gradFill rotWithShape="0">
          <a:gsLst>
            <a:gs pos="0">
              <a:schemeClr val="accent2">
                <a:hueOff val="-1455363"/>
                <a:satOff val="-83928"/>
                <a:lumOff val="8628"/>
                <a:alphaOff val="0"/>
                <a:satMod val="103000"/>
                <a:lumMod val="102000"/>
                <a:tint val="94000"/>
              </a:schemeClr>
            </a:gs>
            <a:gs pos="50000">
              <a:schemeClr val="accent2">
                <a:hueOff val="-1455363"/>
                <a:satOff val="-83928"/>
                <a:lumOff val="8628"/>
                <a:alphaOff val="0"/>
                <a:satMod val="110000"/>
                <a:lumMod val="100000"/>
                <a:shade val="100000"/>
              </a:schemeClr>
            </a:gs>
            <a:gs pos="100000">
              <a:schemeClr val="accent2">
                <a:hueOff val="-1455363"/>
                <a:satOff val="-83928"/>
                <a:lumOff val="862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u="sng" kern="1200"/>
            <a:t>Beginner’s Mind</a:t>
          </a:r>
          <a:r>
            <a:rPr lang="en-US" sz="1700" kern="1200"/>
            <a:t>: approaching present moment as a novice still open to learning</a:t>
          </a:r>
        </a:p>
      </dsp:txBody>
      <dsp:txXfrm>
        <a:off x="33012" y="3280267"/>
        <a:ext cx="4873843" cy="610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EAB081-DA76-4D1C-A8CC-05A29F3834D7}">
      <dsp:nvSpPr>
        <dsp:cNvPr id="0" name=""/>
        <dsp:cNvSpPr/>
      </dsp:nvSpPr>
      <dsp:spPr>
        <a:xfrm>
          <a:off x="0" y="615158"/>
          <a:ext cx="4697730"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Depression</a:t>
          </a:r>
        </a:p>
      </dsp:txBody>
      <dsp:txXfrm>
        <a:off x="31613" y="646771"/>
        <a:ext cx="4634504" cy="584369"/>
      </dsp:txXfrm>
    </dsp:sp>
    <dsp:sp modelId="{217E698B-56E7-4EEF-B38D-A38B04B72361}">
      <dsp:nvSpPr>
        <dsp:cNvPr id="0" name=""/>
        <dsp:cNvSpPr/>
      </dsp:nvSpPr>
      <dsp:spPr>
        <a:xfrm>
          <a:off x="0" y="1340513"/>
          <a:ext cx="4697730" cy="647595"/>
        </a:xfrm>
        <a:prstGeom prst="roundRect">
          <a:avLst/>
        </a:prstGeom>
        <a:solidFill>
          <a:schemeClr val="accent2">
            <a:hueOff val="-291073"/>
            <a:satOff val="-16786"/>
            <a:lumOff val="172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Substance abuse</a:t>
          </a:r>
        </a:p>
      </dsp:txBody>
      <dsp:txXfrm>
        <a:off x="31613" y="1372126"/>
        <a:ext cx="4634504" cy="584369"/>
      </dsp:txXfrm>
    </dsp:sp>
    <dsp:sp modelId="{6BBDE118-F0B9-43C3-94CB-B2FA35309437}">
      <dsp:nvSpPr>
        <dsp:cNvPr id="0" name=""/>
        <dsp:cNvSpPr/>
      </dsp:nvSpPr>
      <dsp:spPr>
        <a:xfrm>
          <a:off x="0" y="2065869"/>
          <a:ext cx="4697730" cy="647595"/>
        </a:xfrm>
        <a:prstGeom prst="roundRect">
          <a:avLst/>
        </a:prstGeom>
        <a:solidFill>
          <a:schemeClr val="accent2">
            <a:hueOff val="-582145"/>
            <a:satOff val="-33571"/>
            <a:lumOff val="3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Eating disorders</a:t>
          </a:r>
        </a:p>
      </dsp:txBody>
      <dsp:txXfrm>
        <a:off x="31613" y="2097482"/>
        <a:ext cx="4634504" cy="584369"/>
      </dsp:txXfrm>
    </dsp:sp>
    <dsp:sp modelId="{8BB960B6-2E8B-4396-9B0F-46392A4E45E6}">
      <dsp:nvSpPr>
        <dsp:cNvPr id="0" name=""/>
        <dsp:cNvSpPr/>
      </dsp:nvSpPr>
      <dsp:spPr>
        <a:xfrm>
          <a:off x="0" y="2791224"/>
          <a:ext cx="4697730" cy="647595"/>
        </a:xfrm>
        <a:prstGeom prst="roundRect">
          <a:avLst/>
        </a:prstGeom>
        <a:solidFill>
          <a:schemeClr val="accent2">
            <a:hueOff val="-873218"/>
            <a:satOff val="-50357"/>
            <a:lumOff val="517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Couples’ conflicts</a:t>
          </a:r>
        </a:p>
      </dsp:txBody>
      <dsp:txXfrm>
        <a:off x="31613" y="2822837"/>
        <a:ext cx="4634504" cy="584369"/>
      </dsp:txXfrm>
    </dsp:sp>
    <dsp:sp modelId="{AC118D21-96A1-40F5-8E90-1BCBD30BD4E1}">
      <dsp:nvSpPr>
        <dsp:cNvPr id="0" name=""/>
        <dsp:cNvSpPr/>
      </dsp:nvSpPr>
      <dsp:spPr>
        <a:xfrm>
          <a:off x="0" y="3516579"/>
          <a:ext cx="4697730" cy="647595"/>
        </a:xfrm>
        <a:prstGeom prst="roundRect">
          <a:avLst/>
        </a:prstGeom>
        <a:solidFill>
          <a:schemeClr val="accent2">
            <a:hueOff val="-1164290"/>
            <a:satOff val="-67142"/>
            <a:lumOff val="6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Anxiety disorders</a:t>
          </a:r>
        </a:p>
      </dsp:txBody>
      <dsp:txXfrm>
        <a:off x="31613" y="3548192"/>
        <a:ext cx="4634504" cy="584369"/>
      </dsp:txXfrm>
    </dsp:sp>
    <dsp:sp modelId="{419690AC-9EF8-42B3-841C-2512FCD878CA}">
      <dsp:nvSpPr>
        <dsp:cNvPr id="0" name=""/>
        <dsp:cNvSpPr/>
      </dsp:nvSpPr>
      <dsp:spPr>
        <a:xfrm>
          <a:off x="0" y="4241934"/>
          <a:ext cx="4697730" cy="64759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Obsessive-compulsive disorder</a:t>
          </a:r>
        </a:p>
      </dsp:txBody>
      <dsp:txXfrm>
        <a:off x="31613" y="4273547"/>
        <a:ext cx="4634504" cy="58436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254BE4-6CBC-4D39-B306-C87E0EE2129E}">
      <dsp:nvSpPr>
        <dsp:cNvPr id="0" name=""/>
        <dsp:cNvSpPr/>
      </dsp:nvSpPr>
      <dsp:spPr>
        <a:xfrm>
          <a:off x="0" y="531"/>
          <a:ext cx="7886700" cy="12429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46627E-A59C-4833-95A6-67148D13B4A2}">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6B7FC5-58E5-4717-9AD6-CF84245B04F6}">
      <dsp:nvSpPr>
        <dsp:cNvPr id="0" name=""/>
        <dsp:cNvSpPr/>
      </dsp:nvSpPr>
      <dsp:spPr>
        <a:xfrm>
          <a:off x="1435590" y="53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90000"/>
            </a:lnSpc>
            <a:spcBef>
              <a:spcPct val="0"/>
            </a:spcBef>
            <a:spcAft>
              <a:spcPct val="35000"/>
            </a:spcAft>
            <a:buNone/>
          </a:pPr>
          <a:r>
            <a:rPr lang="en-US" sz="2200" kern="1200"/>
            <a:t>Write about a time in your past when you felt proud of yourself. As you think about this accomplishment, picture it exactly as it was (perhaps close your eyes) </a:t>
          </a:r>
        </a:p>
      </dsp:txBody>
      <dsp:txXfrm>
        <a:off x="1435590" y="531"/>
        <a:ext cx="6451109" cy="1242935"/>
      </dsp:txXfrm>
    </dsp:sp>
    <dsp:sp modelId="{660ADCDD-4CE9-4719-AA7A-6106A718913C}">
      <dsp:nvSpPr>
        <dsp:cNvPr id="0" name=""/>
        <dsp:cNvSpPr/>
      </dsp:nvSpPr>
      <dsp:spPr>
        <a:xfrm>
          <a:off x="0" y="1554201"/>
          <a:ext cx="7886700" cy="12429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7A30DEB-0FFA-4479-B381-3D76E60FF897}">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069FB5D-4DEB-4EC9-A7A4-D3D50B5A629A}">
      <dsp:nvSpPr>
        <dsp:cNvPr id="0" name=""/>
        <dsp:cNvSpPr/>
      </dsp:nvSpPr>
      <dsp:spPr>
        <a:xfrm>
          <a:off x="1435590" y="1554201"/>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90000"/>
            </a:lnSpc>
            <a:spcBef>
              <a:spcPct val="0"/>
            </a:spcBef>
            <a:spcAft>
              <a:spcPct val="35000"/>
            </a:spcAft>
            <a:buNone/>
          </a:pPr>
          <a:r>
            <a:rPr lang="en-US" sz="2200" kern="1200"/>
            <a:t>Where were you? Who was there? What did you do? How did you feel?</a:t>
          </a:r>
        </a:p>
      </dsp:txBody>
      <dsp:txXfrm>
        <a:off x="1435590" y="1554201"/>
        <a:ext cx="6451109" cy="1242935"/>
      </dsp:txXfrm>
    </dsp:sp>
    <dsp:sp modelId="{4CE63D5D-18C3-4AE3-9262-EF5869E2E5CF}">
      <dsp:nvSpPr>
        <dsp:cNvPr id="0" name=""/>
        <dsp:cNvSpPr/>
      </dsp:nvSpPr>
      <dsp:spPr>
        <a:xfrm>
          <a:off x="0" y="3107870"/>
          <a:ext cx="7886700" cy="12429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74E9F8-DD66-4EFA-ACCF-A9C59A55510C}">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FC956B-BA28-4E1F-AFEB-6E8ED741E4C3}">
      <dsp:nvSpPr>
        <dsp:cNvPr id="0" name=""/>
        <dsp:cNvSpPr/>
      </dsp:nvSpPr>
      <dsp:spPr>
        <a:xfrm>
          <a:off x="1435590" y="3107870"/>
          <a:ext cx="64511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977900">
            <a:lnSpc>
              <a:spcPct val="90000"/>
            </a:lnSpc>
            <a:spcBef>
              <a:spcPct val="0"/>
            </a:spcBef>
            <a:spcAft>
              <a:spcPct val="35000"/>
            </a:spcAft>
            <a:buNone/>
          </a:pPr>
          <a:r>
            <a:rPr lang="en-US" sz="2200" kern="1200"/>
            <a:t>Return to this experience any time you want to boost positive emotion</a:t>
          </a:r>
        </a:p>
      </dsp:txBody>
      <dsp:txXfrm>
        <a:off x="1435590" y="3107870"/>
        <a:ext cx="6451109" cy="124293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52AD4-B1AB-47B2-AA6C-FFA546F73208}">
      <dsp:nvSpPr>
        <dsp:cNvPr id="0" name=""/>
        <dsp:cNvSpPr/>
      </dsp:nvSpPr>
      <dsp:spPr>
        <a:xfrm>
          <a:off x="0" y="159950"/>
          <a:ext cx="7886700" cy="59962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Contexts and Situations of Flow: Is Flow a State or a Trait? </a:t>
          </a:r>
        </a:p>
      </dsp:txBody>
      <dsp:txXfrm>
        <a:off x="29271" y="189221"/>
        <a:ext cx="7828158" cy="541083"/>
      </dsp:txXfrm>
    </dsp:sp>
    <dsp:sp modelId="{72DC8E76-EBD7-4EE6-A032-FA85898C2A87}">
      <dsp:nvSpPr>
        <dsp:cNvPr id="0" name=""/>
        <dsp:cNvSpPr/>
      </dsp:nvSpPr>
      <dsp:spPr>
        <a:xfrm>
          <a:off x="0" y="831575"/>
          <a:ext cx="7886700" cy="599625"/>
        </a:xfrm>
        <a:prstGeom prst="roundRect">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If flow is a state</a:t>
          </a:r>
        </a:p>
      </dsp:txBody>
      <dsp:txXfrm>
        <a:off x="29271" y="860846"/>
        <a:ext cx="7828158" cy="541083"/>
      </dsp:txXfrm>
    </dsp:sp>
    <dsp:sp modelId="{8E951791-5371-4C51-AEC8-1881E3ACE62F}">
      <dsp:nvSpPr>
        <dsp:cNvPr id="0" name=""/>
        <dsp:cNvSpPr/>
      </dsp:nvSpPr>
      <dsp:spPr>
        <a:xfrm>
          <a:off x="0" y="1431200"/>
          <a:ext cx="7886700" cy="633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A state of consciousness that can occur to anyone with the same amount of effort given the right circumstances</a:t>
          </a:r>
        </a:p>
      </dsp:txBody>
      <dsp:txXfrm>
        <a:off x="0" y="1431200"/>
        <a:ext cx="7886700" cy="633937"/>
      </dsp:txXfrm>
    </dsp:sp>
    <dsp:sp modelId="{52C8D850-6130-42C6-9CA2-7FB0786B9AE7}">
      <dsp:nvSpPr>
        <dsp:cNvPr id="0" name=""/>
        <dsp:cNvSpPr/>
      </dsp:nvSpPr>
      <dsp:spPr>
        <a:xfrm>
          <a:off x="0" y="2065137"/>
          <a:ext cx="7886700" cy="599625"/>
        </a:xfrm>
        <a:prstGeom prst="roundRect">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If flow is a trait (dispositional flow)</a:t>
          </a:r>
        </a:p>
      </dsp:txBody>
      <dsp:txXfrm>
        <a:off x="29271" y="2094408"/>
        <a:ext cx="7828158" cy="541083"/>
      </dsp:txXfrm>
    </dsp:sp>
    <dsp:sp modelId="{AA097A77-9B5B-49F3-9366-D996BC384F76}">
      <dsp:nvSpPr>
        <dsp:cNvPr id="0" name=""/>
        <dsp:cNvSpPr/>
      </dsp:nvSpPr>
      <dsp:spPr>
        <a:xfrm>
          <a:off x="0" y="2664762"/>
          <a:ext cx="7886700" cy="15266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1750" rIns="177800" bIns="31750" numCol="1" spcCol="1270" anchor="t" anchorCtr="0">
          <a:noAutofit/>
        </a:bodyPr>
        <a:lstStyle/>
        <a:p>
          <a:pPr marL="228600" lvl="1" indent="-228600" algn="l" defTabSz="889000">
            <a:lnSpc>
              <a:spcPct val="90000"/>
            </a:lnSpc>
            <a:spcBef>
              <a:spcPct val="0"/>
            </a:spcBef>
            <a:spcAft>
              <a:spcPct val="20000"/>
            </a:spcAft>
            <a:buChar char="•"/>
          </a:pPr>
          <a:r>
            <a:rPr lang="en-US" sz="2000" kern="1200"/>
            <a:t>There should be innate differences in how easily individuals can experience flow</a:t>
          </a:r>
        </a:p>
        <a:p>
          <a:pPr marL="457200" lvl="2" indent="-228600" algn="l" defTabSz="889000">
            <a:lnSpc>
              <a:spcPct val="90000"/>
            </a:lnSpc>
            <a:spcBef>
              <a:spcPct val="0"/>
            </a:spcBef>
            <a:spcAft>
              <a:spcPct val="20000"/>
            </a:spcAft>
            <a:buChar char="•"/>
          </a:pPr>
          <a:r>
            <a:rPr lang="en-US" sz="2000" kern="1200"/>
            <a:t>Some twin research suggests flow proneness related to genetically linked personality traits of extraversion, agreeableness, and openness to experience</a:t>
          </a:r>
        </a:p>
      </dsp:txBody>
      <dsp:txXfrm>
        <a:off x="0" y="2664762"/>
        <a:ext cx="7886700" cy="152662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DF72A1B-196A-4155-8397-EF46A3A2FFBA}" type="datetimeFigureOut">
              <a:rPr lang="en-US" smtClean="0"/>
              <a:t>5/25/2025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C5B57E6-BB92-47A0-B1B1-ED183A0B4C65}" type="slidenum">
              <a:rPr lang="en-US" smtClean="0"/>
              <a:t>‹#›</a:t>
            </a:fld>
            <a:endParaRPr lang="en-US"/>
          </a:p>
        </p:txBody>
      </p:sp>
    </p:spTree>
    <p:extLst>
      <p:ext uri="{BB962C8B-B14F-4D97-AF65-F5344CB8AC3E}">
        <p14:creationId xmlns:p14="http://schemas.microsoft.com/office/powerpoint/2010/main" val="3551794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E69A6D-8697-4D2F-B6E0-21678FE988F9}" type="datetimeFigureOut">
              <a:rPr lang="en-US" smtClean="0"/>
              <a:t>5/25/2025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B5EBDA-FB43-46D3-ADD5-6E5F4CE48D99}" type="slidenum">
              <a:rPr lang="en-US" smtClean="0"/>
              <a:t>‹#›</a:t>
            </a:fld>
            <a:endParaRPr lang="en-US"/>
          </a:p>
        </p:txBody>
      </p:sp>
    </p:spTree>
    <p:extLst>
      <p:ext uri="{BB962C8B-B14F-4D97-AF65-F5344CB8AC3E}">
        <p14:creationId xmlns:p14="http://schemas.microsoft.com/office/powerpoint/2010/main" val="941370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BB5EBDA-FB43-46D3-ADD5-6E5F4CE48D99}" type="slidenum">
              <a:rPr lang="en-US" smtClean="0"/>
              <a:t>1</a:t>
            </a:fld>
            <a:endParaRPr lang="en-US" dirty="0"/>
          </a:p>
        </p:txBody>
      </p:sp>
    </p:spTree>
    <p:extLst>
      <p:ext uri="{BB962C8B-B14F-4D97-AF65-F5344CB8AC3E}">
        <p14:creationId xmlns:p14="http://schemas.microsoft.com/office/powerpoint/2010/main" val="32519211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26</a:t>
            </a:fld>
            <a:endParaRPr lang="en-US"/>
          </a:p>
        </p:txBody>
      </p:sp>
    </p:spTree>
    <p:extLst>
      <p:ext uri="{BB962C8B-B14F-4D97-AF65-F5344CB8AC3E}">
        <p14:creationId xmlns:p14="http://schemas.microsoft.com/office/powerpoint/2010/main" val="26900477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27</a:t>
            </a:fld>
            <a:endParaRPr lang="en-US"/>
          </a:p>
        </p:txBody>
      </p:sp>
    </p:spTree>
    <p:extLst>
      <p:ext uri="{BB962C8B-B14F-4D97-AF65-F5344CB8AC3E}">
        <p14:creationId xmlns:p14="http://schemas.microsoft.com/office/powerpoint/2010/main" val="4513361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31</a:t>
            </a:fld>
            <a:endParaRPr lang="en-US"/>
          </a:p>
        </p:txBody>
      </p:sp>
    </p:spTree>
    <p:extLst>
      <p:ext uri="{BB962C8B-B14F-4D97-AF65-F5344CB8AC3E}">
        <p14:creationId xmlns:p14="http://schemas.microsoft.com/office/powerpoint/2010/main" val="19518238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hangingPunct="0"/>
            <a:r>
              <a:rPr lang="en-US" sz="1200" u="sng" kern="1200" dirty="0">
                <a:solidFill>
                  <a:schemeClr val="tx1"/>
                </a:solidFill>
                <a:effectLst/>
                <a:latin typeface="+mn-lt"/>
                <a:ea typeface="+mn-ea"/>
                <a:cs typeface="+mn-cs"/>
              </a:rPr>
              <a:t>State of flow can be described with eight parameters:</a:t>
            </a:r>
            <a:r>
              <a:rPr lang="en-US" sz="1200" u="none" kern="1200" dirty="0">
                <a:solidFill>
                  <a:schemeClr val="tx1"/>
                </a:solidFill>
                <a:effectLst/>
                <a:latin typeface="+mn-lt"/>
                <a:ea typeface="+mn-ea"/>
                <a:cs typeface="+mn-cs"/>
              </a:rPr>
              <a:t> M</a:t>
            </a:r>
            <a:r>
              <a:rPr lang="en-US" sz="1200" kern="1200" dirty="0">
                <a:solidFill>
                  <a:schemeClr val="tx1"/>
                </a:solidFill>
                <a:effectLst/>
                <a:latin typeface="+mn-lt"/>
                <a:ea typeface="+mn-ea"/>
                <a:cs typeface="+mn-cs"/>
              </a:rPr>
              <a:t>erging of action and awareness, complete concentration on the task at hand, lack of worry about losing control, a loss of self-consciousness, time no longer pass in ordinary ways, autotelic nature of the experience.</a:t>
            </a:r>
          </a:p>
          <a:p>
            <a:pPr marL="0" marR="0" indent="0" algn="l" defTabSz="914400" rtl="0" eaLnBrk="1" fontAlgn="auto" latinLnBrk="0" hangingPunct="1">
              <a:lnSpc>
                <a:spcPct val="100000"/>
              </a:lnSpc>
              <a:spcBef>
                <a:spcPts val="0"/>
              </a:spcBef>
              <a:spcAft>
                <a:spcPts val="0"/>
              </a:spcAft>
              <a:buClrTx/>
              <a:buSzTx/>
              <a:buFontTx/>
              <a:buNone/>
              <a:tabLst/>
              <a:defRPr/>
            </a:pPr>
            <a:endParaRPr lang="en-IN" u="none" dirty="0"/>
          </a:p>
        </p:txBody>
      </p:sp>
      <p:sp>
        <p:nvSpPr>
          <p:cNvPr id="4" name="Slide Number Placeholder 3"/>
          <p:cNvSpPr>
            <a:spLocks noGrp="1"/>
          </p:cNvSpPr>
          <p:nvPr>
            <p:ph type="sldNum" sz="quarter" idx="10"/>
          </p:nvPr>
        </p:nvSpPr>
        <p:spPr/>
        <p:txBody>
          <a:bodyPr/>
          <a:lstStyle/>
          <a:p>
            <a:fld id="{39974C31-EB4A-4B21-8134-CB5741A1DC5F}" type="slidenum">
              <a:rPr lang="en-US" smtClean="0"/>
              <a:t>35</a:t>
            </a:fld>
            <a:endParaRPr lang="en-US"/>
          </a:p>
        </p:txBody>
      </p:sp>
    </p:spTree>
    <p:extLst>
      <p:ext uri="{BB962C8B-B14F-4D97-AF65-F5344CB8AC3E}">
        <p14:creationId xmlns:p14="http://schemas.microsoft.com/office/powerpoint/2010/main" val="9138461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hangingPunct="0"/>
            <a:r>
              <a:rPr lang="en-US" sz="1200" u="sng" kern="1200" dirty="0">
                <a:solidFill>
                  <a:schemeClr val="tx1"/>
                </a:solidFill>
                <a:effectLst/>
                <a:latin typeface="+mn-lt"/>
                <a:ea typeface="+mn-ea"/>
                <a:cs typeface="+mn-cs"/>
              </a:rPr>
              <a:t>State of flow can be described with eight parameters:</a:t>
            </a:r>
            <a:r>
              <a:rPr lang="en-US" sz="1200" u="none" kern="1200" dirty="0">
                <a:solidFill>
                  <a:schemeClr val="tx1"/>
                </a:solidFill>
                <a:effectLst/>
                <a:latin typeface="+mn-lt"/>
                <a:ea typeface="+mn-ea"/>
                <a:cs typeface="+mn-cs"/>
              </a:rPr>
              <a:t> M</a:t>
            </a:r>
            <a:r>
              <a:rPr lang="en-US" sz="1200" kern="1200" dirty="0">
                <a:solidFill>
                  <a:schemeClr val="tx1"/>
                </a:solidFill>
                <a:effectLst/>
                <a:latin typeface="+mn-lt"/>
                <a:ea typeface="+mn-ea"/>
                <a:cs typeface="+mn-cs"/>
              </a:rPr>
              <a:t>erging of action and awareness, complete concentration on the task at hand, lack of worry about losing control, a loss of self-consciousness, time no longer pass in ordinary ways, autotelic nature of the experience.</a:t>
            </a:r>
          </a:p>
          <a:p>
            <a:pPr marL="0" marR="0" indent="0" algn="l" defTabSz="914400" rtl="0" eaLnBrk="1" fontAlgn="auto" latinLnBrk="0" hangingPunct="1">
              <a:lnSpc>
                <a:spcPct val="100000"/>
              </a:lnSpc>
              <a:spcBef>
                <a:spcPts val="0"/>
              </a:spcBef>
              <a:spcAft>
                <a:spcPts val="0"/>
              </a:spcAft>
              <a:buClrTx/>
              <a:buSzTx/>
              <a:buFontTx/>
              <a:buNone/>
              <a:tabLst/>
              <a:defRPr/>
            </a:pPr>
            <a:endParaRPr lang="en-IN" u="none" dirty="0"/>
          </a:p>
        </p:txBody>
      </p:sp>
      <p:sp>
        <p:nvSpPr>
          <p:cNvPr id="4" name="Slide Number Placeholder 3"/>
          <p:cNvSpPr>
            <a:spLocks noGrp="1"/>
          </p:cNvSpPr>
          <p:nvPr>
            <p:ph type="sldNum" sz="quarter" idx="10"/>
          </p:nvPr>
        </p:nvSpPr>
        <p:spPr/>
        <p:txBody>
          <a:bodyPr/>
          <a:lstStyle/>
          <a:p>
            <a:fld id="{39974C31-EB4A-4B21-8134-CB5741A1DC5F}" type="slidenum">
              <a:rPr lang="en-US" smtClean="0"/>
              <a:t>36</a:t>
            </a:fld>
            <a:endParaRPr lang="en-US"/>
          </a:p>
        </p:txBody>
      </p:sp>
    </p:spTree>
    <p:extLst>
      <p:ext uri="{BB962C8B-B14F-4D97-AF65-F5344CB8AC3E}">
        <p14:creationId xmlns:p14="http://schemas.microsoft.com/office/powerpoint/2010/main" val="37551663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hangingPunct="0"/>
            <a:r>
              <a:rPr lang="en-US" sz="1200" u="sng" kern="1200" dirty="0">
                <a:solidFill>
                  <a:schemeClr val="tx1"/>
                </a:solidFill>
                <a:effectLst/>
                <a:latin typeface="+mn-lt"/>
                <a:ea typeface="+mn-ea"/>
                <a:cs typeface="+mn-cs"/>
              </a:rPr>
              <a:t>State of flow can be described with eight parameters:</a:t>
            </a:r>
            <a:r>
              <a:rPr lang="en-US" sz="1200" u="none" kern="1200" dirty="0">
                <a:solidFill>
                  <a:schemeClr val="tx1"/>
                </a:solidFill>
                <a:effectLst/>
                <a:latin typeface="+mn-lt"/>
                <a:ea typeface="+mn-ea"/>
                <a:cs typeface="+mn-cs"/>
              </a:rPr>
              <a:t> M</a:t>
            </a:r>
            <a:r>
              <a:rPr lang="en-US" sz="1200" kern="1200" dirty="0">
                <a:solidFill>
                  <a:schemeClr val="tx1"/>
                </a:solidFill>
                <a:effectLst/>
                <a:latin typeface="+mn-lt"/>
                <a:ea typeface="+mn-ea"/>
                <a:cs typeface="+mn-cs"/>
              </a:rPr>
              <a:t>erging of action and awareness, complete concentration on the task at hand, lack of worry about losing control, a loss of self-consciousness, time no longer pass in ordinary ways, autotelic nature of the experience.</a:t>
            </a:r>
          </a:p>
          <a:p>
            <a:pPr marL="0" marR="0" indent="0" algn="l" defTabSz="914400" rtl="0" eaLnBrk="1" fontAlgn="auto" latinLnBrk="0" hangingPunct="1">
              <a:lnSpc>
                <a:spcPct val="100000"/>
              </a:lnSpc>
              <a:spcBef>
                <a:spcPts val="0"/>
              </a:spcBef>
              <a:spcAft>
                <a:spcPts val="0"/>
              </a:spcAft>
              <a:buClrTx/>
              <a:buSzTx/>
              <a:buFontTx/>
              <a:buNone/>
              <a:tabLst/>
              <a:defRPr/>
            </a:pPr>
            <a:endParaRPr lang="en-IN" u="none" dirty="0"/>
          </a:p>
        </p:txBody>
      </p:sp>
      <p:sp>
        <p:nvSpPr>
          <p:cNvPr id="4" name="Slide Number Placeholder 3"/>
          <p:cNvSpPr>
            <a:spLocks noGrp="1"/>
          </p:cNvSpPr>
          <p:nvPr>
            <p:ph type="sldNum" sz="quarter" idx="10"/>
          </p:nvPr>
        </p:nvSpPr>
        <p:spPr/>
        <p:txBody>
          <a:bodyPr/>
          <a:lstStyle/>
          <a:p>
            <a:fld id="{39974C31-EB4A-4B21-8134-CB5741A1DC5F}" type="slidenum">
              <a:rPr lang="en-US" smtClean="0"/>
              <a:t>37</a:t>
            </a:fld>
            <a:endParaRPr lang="en-US"/>
          </a:p>
        </p:txBody>
      </p:sp>
    </p:spTree>
    <p:extLst>
      <p:ext uri="{BB962C8B-B14F-4D97-AF65-F5344CB8AC3E}">
        <p14:creationId xmlns:p14="http://schemas.microsoft.com/office/powerpoint/2010/main" val="3970533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hangingPunct="0"/>
            <a:r>
              <a:rPr lang="en-US" sz="1200" kern="1200" dirty="0">
                <a:solidFill>
                  <a:schemeClr val="tx1"/>
                </a:solidFill>
                <a:effectLst/>
                <a:latin typeface="+mn-lt"/>
                <a:ea typeface="+mn-ea"/>
                <a:cs typeface="+mn-cs"/>
              </a:rPr>
              <a:t> </a:t>
            </a:r>
          </a:p>
          <a:p>
            <a:pPr hangingPunct="0"/>
            <a:r>
              <a:rPr lang="en-US" sz="1200" kern="1200" dirty="0">
                <a:solidFill>
                  <a:schemeClr val="tx1"/>
                </a:solidFill>
                <a:effectLst/>
                <a:latin typeface="+mn-lt"/>
                <a:ea typeface="+mn-ea"/>
                <a:cs typeface="+mn-cs"/>
              </a:rPr>
              <a:t> </a:t>
            </a:r>
          </a:p>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38</a:t>
            </a:fld>
            <a:endParaRPr lang="en-US"/>
          </a:p>
        </p:txBody>
      </p:sp>
    </p:spTree>
    <p:extLst>
      <p:ext uri="{BB962C8B-B14F-4D97-AF65-F5344CB8AC3E}">
        <p14:creationId xmlns:p14="http://schemas.microsoft.com/office/powerpoint/2010/main" val="10941078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9974C31-EB4A-4B21-8134-CB5741A1DC5F}" type="slidenum">
              <a:rPr lang="en-US" smtClean="0"/>
              <a:t>39</a:t>
            </a:fld>
            <a:endParaRPr lang="en-US"/>
          </a:p>
        </p:txBody>
      </p:sp>
    </p:spTree>
    <p:extLst>
      <p:ext uri="{BB962C8B-B14F-4D97-AF65-F5344CB8AC3E}">
        <p14:creationId xmlns:p14="http://schemas.microsoft.com/office/powerpoint/2010/main" val="243922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974C31-EB4A-4B21-8134-CB5741A1DC5F}" type="slidenum">
              <a:rPr lang="en-US" smtClean="0"/>
              <a:t>40</a:t>
            </a:fld>
            <a:endParaRPr lang="en-US"/>
          </a:p>
        </p:txBody>
      </p:sp>
    </p:spTree>
    <p:extLst>
      <p:ext uri="{BB962C8B-B14F-4D97-AF65-F5344CB8AC3E}">
        <p14:creationId xmlns:p14="http://schemas.microsoft.com/office/powerpoint/2010/main" val="18014890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39974C31-EB4A-4B21-8134-CB5741A1DC5F}" type="slidenum">
              <a:rPr lang="en-US" smtClean="0"/>
              <a:t>41</a:t>
            </a:fld>
            <a:endParaRPr lang="en-US"/>
          </a:p>
        </p:txBody>
      </p:sp>
    </p:spTree>
    <p:extLst>
      <p:ext uri="{BB962C8B-B14F-4D97-AF65-F5344CB8AC3E}">
        <p14:creationId xmlns:p14="http://schemas.microsoft.com/office/powerpoint/2010/main" val="2266984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734381"/>
            <a:ext cx="7886700" cy="2852737"/>
          </a:xfrm>
        </p:spPr>
        <p:txBody>
          <a:bodyPr anchor="ctr"/>
          <a:lstStyle>
            <a:lvl1pPr algn="ctr">
              <a:defRPr sz="6000"/>
            </a:lvl1pPr>
          </a:lstStyle>
          <a:p>
            <a:r>
              <a:rPr lang="en-US" dirty="0"/>
              <a:t>Click to edit Master title style</a:t>
            </a:r>
          </a:p>
        </p:txBody>
      </p:sp>
      <p:sp>
        <p:nvSpPr>
          <p:cNvPr id="3" name="Text Placeholder 2"/>
          <p:cNvSpPr>
            <a:spLocks noGrp="1"/>
          </p:cNvSpPr>
          <p:nvPr>
            <p:ph type="body" idx="1"/>
          </p:nvPr>
        </p:nvSpPr>
        <p:spPr>
          <a:xfrm>
            <a:off x="623888" y="3587118"/>
            <a:ext cx="7886700" cy="1500187"/>
          </a:xfrm>
        </p:spPr>
        <p:txBody>
          <a:bodyPr>
            <a:normAutofit/>
          </a:bodyPr>
          <a:lstStyle>
            <a:lvl1pPr marL="0" indent="0" algn="ctr">
              <a:buNone/>
              <a:defRPr sz="4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7" name="Footer Placeholder 6"/>
          <p:cNvSpPr>
            <a:spLocks noGrp="1"/>
          </p:cNvSpPr>
          <p:nvPr>
            <p:ph type="ftr" sz="quarter" idx="10"/>
          </p:nvPr>
        </p:nvSpPr>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416610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7" name="Title 6"/>
          <p:cNvSpPr>
            <a:spLocks noGrp="1"/>
          </p:cNvSpPr>
          <p:nvPr>
            <p:ph type="title"/>
          </p:nvPr>
        </p:nvSpPr>
        <p:spPr/>
        <p:txBody>
          <a:bodyPr/>
          <a:lstStyle/>
          <a:p>
            <a:r>
              <a:rPr lang="en-US" dirty="0"/>
              <a:t>Click to edit Master title style</a:t>
            </a:r>
          </a:p>
        </p:txBody>
      </p:sp>
      <p:sp>
        <p:nvSpPr>
          <p:cNvPr id="5" name="Footer Placeholder 4"/>
          <p:cNvSpPr>
            <a:spLocks noGrp="1"/>
          </p:cNvSpPr>
          <p:nvPr>
            <p:ph type="ftr" sz="quarter" idx="11"/>
          </p:nvPr>
        </p:nvSpPr>
        <p:spPr>
          <a:xfrm>
            <a:off x="2002155" y="6451713"/>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836078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11"/>
          </p:nvPr>
        </p:nvSpPr>
        <p:spPr>
          <a:xfrm>
            <a:off x="2002155" y="6447131"/>
            <a:ext cx="5139690" cy="276999"/>
          </a:xfrm>
        </p:spPr>
        <p:txBody>
          <a:bodyPr/>
          <a:lstStyle/>
          <a:p>
            <a:r>
              <a:rPr lang="en-US" dirty="0"/>
              <a:t>The Science of Positive Psychology © Cambridge University Press 2021</a:t>
            </a:r>
          </a:p>
        </p:txBody>
      </p:sp>
    </p:spTree>
    <p:extLst>
      <p:ext uri="{BB962C8B-B14F-4D97-AF65-F5344CB8AC3E}">
        <p14:creationId xmlns:p14="http://schemas.microsoft.com/office/powerpoint/2010/main" val="370656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ounded Rectangle 11"/>
          <p:cNvSpPr/>
          <p:nvPr/>
        </p:nvSpPr>
        <p:spPr>
          <a:xfrm>
            <a:off x="91440" y="101600"/>
            <a:ext cx="8961120" cy="6664960"/>
          </a:xfrm>
          <a:prstGeom prst="roundRect">
            <a:avLst>
              <a:gd name="adj" fmla="val 1735"/>
            </a:avLst>
          </a:prstGeom>
          <a:ln w="12700" cmpd="sng">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3886200" y="685800"/>
            <a:ext cx="4572000" cy="52578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1668DA6-7DAC-4F32-8D9E-176724B1B444}" type="slidenum">
              <a:rPr lang="en-US" smtClean="0"/>
              <a:pPr/>
              <a:t>‹#›</a:t>
            </a:fld>
            <a:endParaRPr lang="en-US"/>
          </a:p>
        </p:txBody>
      </p:sp>
      <p:sp>
        <p:nvSpPr>
          <p:cNvPr id="8" name="Rectangle 7"/>
          <p:cNvSpPr/>
          <p:nvPr/>
        </p:nvSpPr>
        <p:spPr>
          <a:xfrm>
            <a:off x="560034" y="1505712"/>
            <a:ext cx="2716566" cy="3523488"/>
          </a:xfrm>
          <a:prstGeom prst="rect">
            <a:avLst/>
          </a:prstGeom>
          <a:solidFill>
            <a:srgbClr val="FFFFFF">
              <a:alpha val="83000"/>
            </a:srgbClr>
          </a:solidFill>
          <a:ln>
            <a:noFill/>
          </a:ln>
          <a:effectLst>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676690" y="1642472"/>
            <a:ext cx="2483254" cy="3234328"/>
          </a:xfrm>
          <a:prstGeom prst="rect">
            <a:avLst/>
          </a:prstGeom>
          <a:solidFill>
            <a:srgbClr val="FFFFFF"/>
          </a:solidFill>
          <a:ln w="6350" cmpd="dbl">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p:cNvSpPr>
            <a:spLocks noGrp="1"/>
          </p:cNvSpPr>
          <p:nvPr>
            <p:ph type="body" sz="half" idx="2"/>
          </p:nvPr>
        </p:nvSpPr>
        <p:spPr>
          <a:xfrm>
            <a:off x="769000" y="2971800"/>
            <a:ext cx="2298634" cy="1752600"/>
          </a:xfrm>
        </p:spPr>
        <p:txBody>
          <a:bodyPr/>
          <a:lstStyle>
            <a:lvl1pPr marL="0" indent="0">
              <a:spcBef>
                <a:spcPts val="400"/>
              </a:spcBef>
              <a:buNone/>
              <a:defRPr sz="140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 name="Title 1"/>
          <p:cNvSpPr>
            <a:spLocks noGrp="1"/>
          </p:cNvSpPr>
          <p:nvPr>
            <p:ph type="title"/>
          </p:nvPr>
        </p:nvSpPr>
        <p:spPr>
          <a:xfrm>
            <a:off x="769000" y="1734312"/>
            <a:ext cx="2298634" cy="1191620"/>
          </a:xfrm>
        </p:spPr>
        <p:txBody>
          <a:bodyPr anchor="b">
            <a:normAutofit/>
          </a:bodyPr>
          <a:lstStyle>
            <a:lvl1pPr algn="l">
              <a:defRPr sz="2000" b="0">
                <a:solidFill>
                  <a:schemeClr val="accent1">
                    <a:lumMod val="75000"/>
                  </a:schemeClr>
                </a:solidFill>
              </a:defRPr>
            </a:lvl1pPr>
          </a:lstStyle>
          <a:p>
            <a:r>
              <a:rPr lang="en-US"/>
              <a:t>Click to edit Master title style</a:t>
            </a:r>
            <a:endParaRPr lang="en-US" dirty="0"/>
          </a:p>
        </p:txBody>
      </p:sp>
    </p:spTree>
    <p:extLst>
      <p:ext uri="{BB962C8B-B14F-4D97-AF65-F5344CB8AC3E}">
        <p14:creationId xmlns:p14="http://schemas.microsoft.com/office/powerpoint/2010/main" val="610859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lvl1pPr>
              <a:defRPr lang="en-US" sz="1050" smtClean="0">
                <a:effectLst/>
              </a:defRPr>
            </a:lvl1pPr>
          </a:lstStyle>
          <a:p>
            <a:r>
              <a:rPr lang="en-US" sz="1050" dirty="0">
                <a:solidFill>
                  <a:srgbClr val="7F7F7F"/>
                </a:solidFill>
                <a:effectLst/>
                <a:latin typeface="Arial" panose="020B0604020202020204" pitchFamily="34" charset="0"/>
                <a:ea typeface="Calibri" panose="020F0502020204030204" pitchFamily="34" charset="0"/>
              </a:rPr>
              <a:t>Compton, </a:t>
            </a:r>
            <a:r>
              <a:rPr lang="en-US" sz="1050" i="1" dirty="0">
                <a:solidFill>
                  <a:srgbClr val="7F7F7F"/>
                </a:solidFill>
                <a:effectLst/>
                <a:latin typeface="Arial" panose="020B0604020202020204" pitchFamily="34" charset="0"/>
                <a:ea typeface="Calibri" panose="020F0502020204030204" pitchFamily="34" charset="0"/>
              </a:rPr>
              <a:t>Positive Psychology, 3e</a:t>
            </a:r>
            <a:r>
              <a:rPr lang="en-US" sz="1050" dirty="0">
                <a:solidFill>
                  <a:srgbClr val="7F7F7F"/>
                </a:solidFill>
                <a:effectLst/>
                <a:latin typeface="Arial" panose="020B0604020202020204" pitchFamily="34" charset="0"/>
                <a:ea typeface="Calibri" panose="020F0502020204030204" pitchFamily="34" charset="0"/>
              </a:rPr>
              <a:t>.</a:t>
            </a:r>
            <a:r>
              <a:rPr lang="en-US" sz="1050" kern="1200" dirty="0">
                <a:solidFill>
                  <a:srgbClr val="7F7F7F"/>
                </a:solidFill>
                <a:effectLst/>
                <a:latin typeface="Arial" panose="020B0604020202020204" pitchFamily="34" charset="0"/>
                <a:ea typeface="Times New Roman" panose="02020603050405020304" pitchFamily="18" charset="0"/>
              </a:rPr>
              <a:t> </a:t>
            </a:r>
            <a:r>
              <a:rPr lang="en-US" sz="1050" dirty="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2133600"/>
            <a:ext cx="4038600" cy="3992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2133600"/>
            <a:ext cx="4038600" cy="39925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64528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85000"/>
          </a:schemeClr>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7" cstate="print">
            <a:extLst>
              <a:ext uri="{28A0092B-C50C-407E-A947-70E740481C1C}">
                <a14:useLocalDpi xmlns:a14="http://schemas.microsoft.com/office/drawing/2010/main" val="0"/>
              </a:ext>
            </a:extLst>
          </a:blip>
          <a:srcRect t="83837"/>
          <a:stretch/>
        </p:blipFill>
        <p:spPr>
          <a:xfrm>
            <a:off x="-12767" y="6322425"/>
            <a:ext cx="9156768" cy="535577"/>
          </a:xfrm>
          <a:prstGeom prst="rect">
            <a:avLst/>
          </a:prstGeom>
        </p:spPr>
      </p:pic>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2002155" y="6451713"/>
            <a:ext cx="5139690" cy="276999"/>
          </a:xfrm>
          <a:prstGeom prst="rect">
            <a:avLst/>
          </a:prstGeom>
        </p:spPr>
        <p:txBody>
          <a:bodyPr vert="horz" lIns="91440" tIns="45720" rIns="91440" bIns="45720" rtlCol="0" anchor="ctr" anchorCtr="1">
            <a:spAutoFit/>
          </a:bodyPr>
          <a:lstStyle>
            <a:lvl1pPr algn="ctr">
              <a:defRPr sz="1200">
                <a:solidFill>
                  <a:schemeClr val="tx1">
                    <a:tint val="75000"/>
                  </a:schemeClr>
                </a:solidFill>
              </a:defRPr>
            </a:lvl1pPr>
          </a:lstStyle>
          <a:p>
            <a:r>
              <a:rPr lang="en-US" dirty="0"/>
              <a:t>The Science of Positive Psychology © Cambridge University Press 2021</a:t>
            </a:r>
          </a:p>
        </p:txBody>
      </p:sp>
      <p:pic>
        <p:nvPicPr>
          <p:cNvPr id="10" name="Picture 9"/>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69669" y="6403081"/>
            <a:ext cx="1932486" cy="400593"/>
          </a:xfrm>
          <a:prstGeom prst="rect">
            <a:avLst/>
          </a:prstGeom>
        </p:spPr>
      </p:pic>
    </p:spTree>
    <p:extLst>
      <p:ext uri="{BB962C8B-B14F-4D97-AF65-F5344CB8AC3E}">
        <p14:creationId xmlns:p14="http://schemas.microsoft.com/office/powerpoint/2010/main" val="3980212316"/>
      </p:ext>
    </p:extLst>
  </p:cSld>
  <p:clrMap bg1="lt1" tx1="dk1" bg2="lt2" tx2="dk2" accent1="accent1" accent2="accent2" accent3="accent3" accent4="accent4" accent5="accent5" accent6="accent6" hlink="hlink" folHlink="folHlink"/>
  <p:sldLayoutIdLst>
    <p:sldLayoutId id="2147483658" r:id="rId1"/>
    <p:sldLayoutId id="2147483656" r:id="rId2"/>
    <p:sldLayoutId id="2147483657" r:id="rId3"/>
    <p:sldLayoutId id="2147483659" r:id="rId4"/>
    <p:sldLayoutId id="2147483660" r:id="rId5"/>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3.xml"/><Relationship Id="rId1" Type="http://schemas.openxmlformats.org/officeDocument/2006/relationships/video" Target="https://www.youtube.com/embed/HmEo6RI4Wvs"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insighttimer.com/" TargetMode="External"/><Relationship Id="rId2" Type="http://schemas.openxmlformats.org/officeDocument/2006/relationships/image" Target="../media/image15.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17.png"/><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slideLayout" Target="../slideLayouts/slideLayout3.xml"/><Relationship Id="rId1" Type="http://schemas.openxmlformats.org/officeDocument/2006/relationships/video" Target="https://www.youtube.com/embed/NJ9UtuWfs3U"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6.jpeg"/><Relationship Id="rId7" Type="http://schemas.openxmlformats.org/officeDocument/2006/relationships/diagramColors" Target="../diagrams/colors4.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F40FBDA-CEB1-40F0-9AB9-BD9C402D70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People handing a red book">
            <a:extLst>
              <a:ext uri="{FF2B5EF4-FFF2-40B4-BE49-F238E27FC236}">
                <a16:creationId xmlns:a16="http://schemas.microsoft.com/office/drawing/2014/main" id="{A984EBB3-2E25-8F2F-A615-5C35464F59FD}"/>
              </a:ext>
            </a:extLst>
          </p:cNvPr>
          <p:cNvPicPr>
            <a:picLocks noChangeAspect="1"/>
          </p:cNvPicPr>
          <p:nvPr/>
        </p:nvPicPr>
        <p:blipFill rotWithShape="1">
          <a:blip r:embed="rId3">
            <a:alphaModFix amt="45000"/>
          </a:blip>
          <a:srcRect r="10999" b="-1"/>
          <a:stretch/>
        </p:blipFill>
        <p:spPr>
          <a:xfrm>
            <a:off x="20" y="10"/>
            <a:ext cx="9143980" cy="6857990"/>
          </a:xfrm>
          <a:prstGeom prst="rect">
            <a:avLst/>
          </a:prstGeom>
        </p:spPr>
      </p:pic>
      <p:sp>
        <p:nvSpPr>
          <p:cNvPr id="12" name="Rectangle 11">
            <a:extLst>
              <a:ext uri="{FF2B5EF4-FFF2-40B4-BE49-F238E27FC236}">
                <a16:creationId xmlns:a16="http://schemas.microsoft.com/office/drawing/2014/main" id="{0344D4FE-ABEF-4230-9E4E-AD5782FC7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0902" y="1267730"/>
            <a:ext cx="7182197" cy="4307950"/>
          </a:xfrm>
          <a:prstGeom prst="rect">
            <a:avLst/>
          </a:prstGeom>
          <a:noFill/>
          <a:ln w="9525" cap="sq" cmpd="sng" algn="ctr">
            <a:solidFill>
              <a:schemeClr val="tx1">
                <a:lumMod val="75000"/>
                <a:lumOff val="25000"/>
              </a:schemeClr>
            </a:solidFill>
            <a:prstDash val="solid"/>
            <a:miter lim="800000"/>
          </a:ln>
          <a:effectLst>
            <a:softEdge rad="0"/>
          </a:effectLst>
        </p:spPr>
        <p:txBody>
          <a:bodyPr/>
          <a:lstStyle/>
          <a:p>
            <a:endParaRPr lang="en-US"/>
          </a:p>
        </p:txBody>
      </p:sp>
      <p:sp>
        <p:nvSpPr>
          <p:cNvPr id="2" name="Title 1"/>
          <p:cNvSpPr>
            <a:spLocks noGrp="1"/>
          </p:cNvSpPr>
          <p:nvPr>
            <p:ph type="title"/>
          </p:nvPr>
        </p:nvSpPr>
        <p:spPr>
          <a:xfrm>
            <a:off x="1327149" y="1695576"/>
            <a:ext cx="6489703" cy="2857191"/>
          </a:xfrm>
        </p:spPr>
        <p:txBody>
          <a:bodyPr vert="horz" lIns="91440" tIns="45720" rIns="91440" bIns="45720" rtlCol="0" anchor="ctr">
            <a:normAutofit/>
          </a:bodyPr>
          <a:lstStyle/>
          <a:p>
            <a:r>
              <a:rPr lang="en-US" sz="7000"/>
              <a:t>Chapter 5</a:t>
            </a:r>
          </a:p>
        </p:txBody>
      </p:sp>
      <p:sp>
        <p:nvSpPr>
          <p:cNvPr id="3" name="Text Placeholder 2"/>
          <p:cNvSpPr>
            <a:spLocks noGrp="1"/>
          </p:cNvSpPr>
          <p:nvPr>
            <p:ph type="body" idx="1"/>
          </p:nvPr>
        </p:nvSpPr>
        <p:spPr>
          <a:xfrm>
            <a:off x="1327149" y="4623127"/>
            <a:ext cx="6491400" cy="457201"/>
          </a:xfrm>
        </p:spPr>
        <p:txBody>
          <a:bodyPr vert="horz" lIns="91440" tIns="45720" rIns="91440" bIns="45720" rtlCol="0">
            <a:normAutofit/>
          </a:bodyPr>
          <a:lstStyle/>
          <a:p>
            <a:r>
              <a:rPr lang="en-US" sz="2400"/>
              <a:t>Present-Moment Focus</a:t>
            </a:r>
          </a:p>
        </p:txBody>
      </p:sp>
      <p:sp>
        <p:nvSpPr>
          <p:cNvPr id="14" name="Rectangle 13">
            <a:extLst>
              <a:ext uri="{FF2B5EF4-FFF2-40B4-BE49-F238E27FC236}">
                <a16:creationId xmlns:a16="http://schemas.microsoft.com/office/drawing/2014/main" id="{9325F979-D3F9-4926-81B7-7ACCB31A5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850" y="1411615"/>
            <a:ext cx="6972300" cy="4034770"/>
          </a:xfrm>
          <a:prstGeom prst="rect">
            <a:avLst/>
          </a:prstGeom>
          <a:noFill/>
          <a:ln w="9525" cap="sq" cmpd="sng" algn="ctr">
            <a:solidFill>
              <a:schemeClr val="tx1">
                <a:lumMod val="75000"/>
                <a:lumOff val="25000"/>
                <a:alpha val="80000"/>
              </a:schemeClr>
            </a:solidFill>
            <a:prstDash val="solid"/>
            <a:miter lim="800000"/>
          </a:ln>
          <a:effectLst/>
        </p:spPr>
        <p:txBody>
          <a:bodyPr/>
          <a:lstStyle/>
          <a:p>
            <a:endParaRPr lang="en-US"/>
          </a:p>
        </p:txBody>
      </p:sp>
      <p:sp>
        <p:nvSpPr>
          <p:cNvPr id="4" name="Footer Placeholder 3"/>
          <p:cNvSpPr>
            <a:spLocks noGrp="1"/>
          </p:cNvSpPr>
          <p:nvPr>
            <p:ph type="ftr" sz="quarter" idx="10"/>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defRPr/>
            </a:pPr>
            <a:r>
              <a:rPr lang="en-US" sz="900" kern="1200">
                <a:solidFill>
                  <a:schemeClr val="tx1"/>
                </a:solidFill>
                <a:latin typeface="Calibri" panose="020F0502020204030204"/>
                <a:ea typeface="+mn-ea"/>
                <a:cs typeface="+mn-cs"/>
              </a:rPr>
              <a:t>The Science and Application of Positive Psychology </a:t>
            </a:r>
            <a:br>
              <a:rPr lang="en-US" sz="900" kern="1200">
                <a:solidFill>
                  <a:schemeClr val="tx1"/>
                </a:solidFill>
                <a:latin typeface="Calibri" panose="020F0502020204030204"/>
                <a:ea typeface="+mn-ea"/>
                <a:cs typeface="+mn-cs"/>
              </a:rPr>
            </a:br>
            <a:r>
              <a:rPr lang="en-US" sz="900" kern="1200">
                <a:solidFill>
                  <a:schemeClr val="tx1"/>
                </a:solidFill>
                <a:latin typeface="Calibri" panose="020F0502020204030204"/>
                <a:ea typeface="+mn-ea"/>
                <a:cs typeface="+mn-cs"/>
              </a:rPr>
              <a:t>© Cambridge University Press 2021</a:t>
            </a:r>
          </a:p>
        </p:txBody>
      </p:sp>
    </p:spTree>
    <p:extLst>
      <p:ext uri="{BB962C8B-B14F-4D97-AF65-F5344CB8AC3E}">
        <p14:creationId xmlns:p14="http://schemas.microsoft.com/office/powerpoint/2010/main" val="417722444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FC9BE17-9A7B-462D-AE50-3D87773873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Content Placeholder 8" descr="A person in a suit&#10;&#10;Description automatically generated with medium confidence">
            <a:extLst>
              <a:ext uri="{FF2B5EF4-FFF2-40B4-BE49-F238E27FC236}">
                <a16:creationId xmlns:a16="http://schemas.microsoft.com/office/drawing/2014/main" id="{0D0710FE-22A6-49A4-ABF6-9E3324A7BA6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t="8035" r="9091" b="32270"/>
          <a:stretch/>
        </p:blipFill>
        <p:spPr>
          <a:xfrm>
            <a:off x="2642616" y="10"/>
            <a:ext cx="6501384" cy="6857990"/>
          </a:xfrm>
          <a:prstGeom prst="rect">
            <a:avLst/>
          </a:prstGeom>
        </p:spPr>
      </p:pic>
      <p:sp>
        <p:nvSpPr>
          <p:cNvPr id="19" name="Rectangle 15">
            <a:extLst>
              <a:ext uri="{FF2B5EF4-FFF2-40B4-BE49-F238E27FC236}">
                <a16:creationId xmlns:a16="http://schemas.microsoft.com/office/drawing/2014/main" id="{3EBE8569-6AEC-4B8C-8D53-2DE337CDBA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17451" cy="6858000"/>
          </a:xfrm>
          <a:prstGeom prst="rect">
            <a:avLst/>
          </a:prstGeom>
          <a:gradFill>
            <a:gsLst>
              <a:gs pos="58000">
                <a:schemeClr val="bg1"/>
              </a:gs>
              <a:gs pos="35000">
                <a:schemeClr val="bg1">
                  <a:alpha val="78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2F6DBF95-A58B-4BF0-81E6-088B71F42503}"/>
              </a:ext>
            </a:extLst>
          </p:cNvPr>
          <p:cNvSpPr>
            <a:spLocks noGrp="1"/>
          </p:cNvSpPr>
          <p:nvPr>
            <p:ph type="title"/>
          </p:nvPr>
        </p:nvSpPr>
        <p:spPr>
          <a:xfrm>
            <a:off x="278320" y="1161288"/>
            <a:ext cx="2578608" cy="1124712"/>
          </a:xfrm>
        </p:spPr>
        <p:txBody>
          <a:bodyPr vert="horz" lIns="91440" tIns="45720" rIns="91440" bIns="45720" rtlCol="0" anchor="b">
            <a:normAutofit/>
          </a:bodyPr>
          <a:lstStyle/>
          <a:p>
            <a:r>
              <a:rPr lang="en-US" sz="2000" b="0" i="0" dirty="0" err="1">
                <a:solidFill>
                  <a:srgbClr val="000000"/>
                </a:solidFill>
                <a:effectLst/>
                <a:latin typeface="Linux Libertine"/>
              </a:rPr>
              <a:t>Thích</a:t>
            </a:r>
            <a:r>
              <a:rPr lang="en-US" sz="2000" b="0" i="0" dirty="0">
                <a:solidFill>
                  <a:srgbClr val="000000"/>
                </a:solidFill>
                <a:effectLst/>
                <a:latin typeface="Linux Libertine"/>
              </a:rPr>
              <a:t> </a:t>
            </a:r>
            <a:r>
              <a:rPr lang="en-US" sz="2000" b="0" i="0" dirty="0" err="1">
                <a:solidFill>
                  <a:srgbClr val="000000"/>
                </a:solidFill>
                <a:effectLst/>
                <a:latin typeface="Linux Libertine"/>
              </a:rPr>
              <a:t>Nhất</a:t>
            </a:r>
            <a:r>
              <a:rPr lang="en-US" sz="2000" b="0" i="0" dirty="0">
                <a:solidFill>
                  <a:srgbClr val="000000"/>
                </a:solidFill>
                <a:effectLst/>
                <a:latin typeface="Linux Libertine"/>
              </a:rPr>
              <a:t> </a:t>
            </a:r>
            <a:r>
              <a:rPr lang="en-US" sz="2000" b="0" i="0" dirty="0" err="1">
                <a:solidFill>
                  <a:srgbClr val="000000"/>
                </a:solidFill>
                <a:effectLst/>
                <a:latin typeface="Linux Libertine"/>
              </a:rPr>
              <a:t>Hạnh</a:t>
            </a:r>
            <a:br>
              <a:rPr lang="en-US" sz="2000" b="0" i="0" dirty="0">
                <a:solidFill>
                  <a:srgbClr val="000000"/>
                </a:solidFill>
                <a:effectLst/>
                <a:latin typeface="Linux Libertine"/>
              </a:rPr>
            </a:br>
            <a:endParaRPr lang="en-US" sz="2400" dirty="0">
              <a:solidFill>
                <a:schemeClr val="tx1"/>
              </a:solidFill>
            </a:endParaRPr>
          </a:p>
        </p:txBody>
      </p:sp>
      <p:sp>
        <p:nvSpPr>
          <p:cNvPr id="18" name="Rectangle 17">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87775" y="674370"/>
            <a:ext cx="73152" cy="4114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1183" y="2443480"/>
            <a:ext cx="2475738" cy="9144"/>
          </a:xfrm>
          <a:prstGeom prst="rect">
            <a:avLst/>
          </a:prstGeom>
          <a:solidFill>
            <a:srgbClr val="D5D5D5"/>
          </a:solidFill>
          <a:ln w="3175">
            <a:solidFill>
              <a:srgbClr val="D5D5D5"/>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 Placeholder 6">
            <a:extLst>
              <a:ext uri="{FF2B5EF4-FFF2-40B4-BE49-F238E27FC236}">
                <a16:creationId xmlns:a16="http://schemas.microsoft.com/office/drawing/2014/main" id="{DB49F733-C0AD-413C-ADDD-F197C6CC1CD3}"/>
              </a:ext>
            </a:extLst>
          </p:cNvPr>
          <p:cNvSpPr>
            <a:spLocks noGrp="1"/>
          </p:cNvSpPr>
          <p:nvPr>
            <p:ph type="body" sz="half" idx="2"/>
          </p:nvPr>
        </p:nvSpPr>
        <p:spPr>
          <a:xfrm>
            <a:off x="278320" y="2718054"/>
            <a:ext cx="2579180" cy="3207258"/>
          </a:xfrm>
        </p:spPr>
        <p:txBody>
          <a:bodyPr vert="horz" lIns="91440" tIns="45720" rIns="91440" bIns="45720" rtlCol="0" anchor="t">
            <a:normAutofit/>
          </a:bodyPr>
          <a:lstStyle/>
          <a:p>
            <a:r>
              <a:rPr lang="en-US" sz="1500" dirty="0">
                <a:solidFill>
                  <a:schemeClr val="tx1"/>
                </a:solidFill>
              </a:rPr>
              <a:t>October 11, 1926 – </a:t>
            </a:r>
          </a:p>
          <a:p>
            <a:r>
              <a:rPr lang="en-US" sz="1500" dirty="0">
                <a:solidFill>
                  <a:schemeClr val="tx1"/>
                </a:solidFill>
              </a:rPr>
              <a:t>January 22, 2022</a:t>
            </a:r>
          </a:p>
          <a:p>
            <a:endParaRPr lang="en-US" sz="1500" dirty="0">
              <a:solidFill>
                <a:schemeClr val="tx1"/>
              </a:solidFill>
            </a:endParaRPr>
          </a:p>
          <a:p>
            <a:r>
              <a:rPr lang="en-US" sz="1500" dirty="0">
                <a:solidFill>
                  <a:schemeClr val="tx1"/>
                </a:solidFill>
              </a:rPr>
              <a:t>Vietnamese Buddhist Monk</a:t>
            </a:r>
          </a:p>
          <a:p>
            <a:endParaRPr lang="en-US" sz="1500" dirty="0">
              <a:solidFill>
                <a:schemeClr val="tx1"/>
              </a:solidFill>
            </a:endParaRPr>
          </a:p>
          <a:p>
            <a:r>
              <a:rPr lang="en-US" sz="1500" dirty="0">
                <a:solidFill>
                  <a:schemeClr val="tx1"/>
                </a:solidFill>
              </a:rPr>
              <a:t>Credited by many with bringing mindfulness to the United States</a:t>
            </a:r>
          </a:p>
        </p:txBody>
      </p:sp>
      <p:sp>
        <p:nvSpPr>
          <p:cNvPr id="4" name="Footer Placeholder 3">
            <a:extLst>
              <a:ext uri="{FF2B5EF4-FFF2-40B4-BE49-F238E27FC236}">
                <a16:creationId xmlns:a16="http://schemas.microsoft.com/office/drawing/2014/main" id="{C62B1139-2936-499C-BC48-47D29FB047ED}"/>
              </a:ext>
            </a:extLst>
          </p:cNvPr>
          <p:cNvSpPr>
            <a:spLocks noGrp="1"/>
          </p:cNvSpPr>
          <p:nvPr>
            <p:ph type="ftr" sz="quarter" idx="11"/>
          </p:nvPr>
        </p:nvSpPr>
        <p:spPr>
          <a:xfrm>
            <a:off x="3028950" y="6356350"/>
            <a:ext cx="3086100" cy="365125"/>
          </a:xfrm>
        </p:spPr>
        <p:txBody>
          <a:bodyPr vert="horz" lIns="91440" tIns="45720" rIns="91440" bIns="45720" rtlCol="0" anchor="ctr">
            <a:normAutofit lnSpcReduction="10000"/>
          </a:bodyPr>
          <a:lstStyle/>
          <a:p>
            <a:r>
              <a:rPr lang="en-US" sz="900" dirty="0"/>
              <a:t>The Science and Application of Positive Psychology </a:t>
            </a:r>
            <a:br>
              <a:rPr lang="en-US" sz="900" dirty="0"/>
            </a:br>
            <a:r>
              <a:rPr lang="en-US" sz="900" dirty="0"/>
              <a:t>© Cambridge University Press 2021</a:t>
            </a:r>
          </a:p>
        </p:txBody>
      </p:sp>
    </p:spTree>
    <p:extLst>
      <p:ext uri="{BB962C8B-B14F-4D97-AF65-F5344CB8AC3E}">
        <p14:creationId xmlns:p14="http://schemas.microsoft.com/office/powerpoint/2010/main" val="3940258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724072" y="629268"/>
            <a:ext cx="4939868" cy="1286160"/>
          </a:xfrm>
        </p:spPr>
        <p:txBody>
          <a:bodyPr anchor="b">
            <a:normAutofit/>
          </a:bodyPr>
          <a:lstStyle/>
          <a:p>
            <a:r>
              <a:rPr lang="en-US" dirty="0"/>
              <a:t>Media Multi-Tasking</a:t>
            </a:r>
          </a:p>
        </p:txBody>
      </p:sp>
      <p:sp>
        <p:nvSpPr>
          <p:cNvPr id="3" name="Content Placeholder 2"/>
          <p:cNvSpPr>
            <a:spLocks noGrp="1"/>
          </p:cNvSpPr>
          <p:nvPr>
            <p:ph idx="1"/>
          </p:nvPr>
        </p:nvSpPr>
        <p:spPr>
          <a:xfrm>
            <a:off x="3724073" y="2438400"/>
            <a:ext cx="5188921" cy="3785419"/>
          </a:xfrm>
        </p:spPr>
        <p:txBody>
          <a:bodyPr>
            <a:noAutofit/>
          </a:bodyPr>
          <a:lstStyle/>
          <a:p>
            <a:pPr marL="0" indent="0">
              <a:buNone/>
            </a:pPr>
            <a:r>
              <a:rPr lang="en-US" sz="1600" dirty="0"/>
              <a:t>More media multi-tasking:</a:t>
            </a:r>
          </a:p>
          <a:p>
            <a:pPr lvl="1"/>
            <a:r>
              <a:rPr lang="en-US" sz="1600" dirty="0"/>
              <a:t>Increased lapses in attention</a:t>
            </a:r>
          </a:p>
          <a:p>
            <a:pPr lvl="1"/>
            <a:r>
              <a:rPr lang="en-US" sz="1600" dirty="0"/>
              <a:t>Difficulty filtering out irrelevant information</a:t>
            </a:r>
          </a:p>
          <a:p>
            <a:pPr lvl="1"/>
            <a:r>
              <a:rPr lang="en-US" sz="1600" dirty="0"/>
              <a:t>Less efficient switching from one task to another</a:t>
            </a:r>
          </a:p>
          <a:p>
            <a:pPr lvl="1"/>
            <a:r>
              <a:rPr lang="en-US" sz="1600" dirty="0"/>
              <a:t>Perform worse on tasks, including schoolwork </a:t>
            </a:r>
          </a:p>
          <a:p>
            <a:pPr marL="0" indent="0">
              <a:buNone/>
            </a:pPr>
            <a:r>
              <a:rPr lang="en-US" sz="1600" dirty="0"/>
              <a:t>2024: College students spend about 25% of class time on phones</a:t>
            </a:r>
          </a:p>
          <a:p>
            <a:pPr marL="0" indent="0">
              <a:buNone/>
            </a:pPr>
            <a:r>
              <a:rPr lang="en-US" sz="1600" dirty="0"/>
              <a:t>Students spent an average of 37/100 minutes of class time browsing internet for non-class relevant info (Ravizza et al., 2016)</a:t>
            </a:r>
          </a:p>
          <a:p>
            <a:pPr lvl="1"/>
            <a:r>
              <a:rPr lang="en-US" sz="1600" dirty="0"/>
              <a:t>Non-academic internet use associated with lower test scores, even when accounting for ACT scores, interest &amp; motivation in class</a:t>
            </a:r>
          </a:p>
        </p:txBody>
      </p:sp>
      <p:pic>
        <p:nvPicPr>
          <p:cNvPr id="6" name="Picture 5" descr="Person watching empty phone">
            <a:extLst>
              <a:ext uri="{FF2B5EF4-FFF2-40B4-BE49-F238E27FC236}">
                <a16:creationId xmlns:a16="http://schemas.microsoft.com/office/drawing/2014/main" id="{BD9342CB-C810-3F00-18CB-5DF2850C62C5}"/>
              </a:ext>
            </a:extLst>
          </p:cNvPr>
          <p:cNvPicPr>
            <a:picLocks noChangeAspect="1"/>
          </p:cNvPicPr>
          <p:nvPr/>
        </p:nvPicPr>
        <p:blipFill rotWithShape="1">
          <a:blip r:embed="rId2"/>
          <a:srcRect l="48660" r="17500" b="-1"/>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ADEBFF"/>
            </a:solidFill>
          </a:ln>
        </p:spPr>
        <p:style>
          <a:lnRef idx="1">
            <a:schemeClr val="accent1"/>
          </a:lnRef>
          <a:fillRef idx="0">
            <a:schemeClr val="accent1"/>
          </a:fillRef>
          <a:effectRef idx="0">
            <a:schemeClr val="accent1"/>
          </a:effectRef>
          <a:fontRef idx="minor">
            <a:schemeClr val="tx1"/>
          </a:fontRef>
        </p:style>
      </p:cxnSp>
      <p:sp>
        <p:nvSpPr>
          <p:cNvPr id="4" name="Footer Placeholder 3"/>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519506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988D0-0A12-4895-AD44-3D137EEC4004}"/>
              </a:ext>
            </a:extLst>
          </p:cNvPr>
          <p:cNvSpPr>
            <a:spLocks noGrp="1"/>
          </p:cNvSpPr>
          <p:nvPr>
            <p:ph type="title"/>
          </p:nvPr>
        </p:nvSpPr>
        <p:spPr>
          <a:xfrm>
            <a:off x="3724072" y="629266"/>
            <a:ext cx="4939868" cy="1676603"/>
          </a:xfrm>
        </p:spPr>
        <p:txBody>
          <a:bodyPr>
            <a:normAutofit/>
          </a:bodyPr>
          <a:lstStyle/>
          <a:p>
            <a:r>
              <a:rPr lang="en-US" sz="4700"/>
              <a:t>Mindfulness</a:t>
            </a:r>
          </a:p>
        </p:txBody>
      </p:sp>
      <p:pic>
        <p:nvPicPr>
          <p:cNvPr id="7" name="Picture 6">
            <a:extLst>
              <a:ext uri="{FF2B5EF4-FFF2-40B4-BE49-F238E27FC236}">
                <a16:creationId xmlns:a16="http://schemas.microsoft.com/office/drawing/2014/main" id="{9A30FBF1-A372-16DF-E064-6E177302ACE0}"/>
              </a:ext>
            </a:extLst>
          </p:cNvPr>
          <p:cNvPicPr>
            <a:picLocks noChangeAspect="1"/>
          </p:cNvPicPr>
          <p:nvPr/>
        </p:nvPicPr>
        <p:blipFill rotWithShape="1">
          <a:blip r:embed="rId2"/>
          <a:srcRect l="43413" r="21987" b="1"/>
          <a:stretch/>
        </p:blipFill>
        <p:spPr>
          <a:xfrm>
            <a:off x="20" y="10"/>
            <a:ext cx="3476673" cy="6857990"/>
          </a:xfrm>
          <a:prstGeom prst="rect">
            <a:avLst/>
          </a:prstGeom>
          <a:effectLst/>
        </p:spPr>
      </p:pic>
      <p:sp>
        <p:nvSpPr>
          <p:cNvPr id="4" name="Footer Placeholder 3">
            <a:extLst>
              <a:ext uri="{FF2B5EF4-FFF2-40B4-BE49-F238E27FC236}">
                <a16:creationId xmlns:a16="http://schemas.microsoft.com/office/drawing/2014/main" id="{BA5A3394-91C6-4A55-8D68-2B09ABF12B95}"/>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graphicFrame>
        <p:nvGraphicFramePr>
          <p:cNvPr id="6" name="Content Placeholder 2">
            <a:extLst>
              <a:ext uri="{FF2B5EF4-FFF2-40B4-BE49-F238E27FC236}">
                <a16:creationId xmlns:a16="http://schemas.microsoft.com/office/drawing/2014/main" id="{44F99D75-2D56-CE01-B188-01CC3F279549}"/>
              </a:ext>
            </a:extLst>
          </p:cNvPr>
          <p:cNvGraphicFramePr>
            <a:graphicFrameLocks noGrp="1"/>
          </p:cNvGraphicFramePr>
          <p:nvPr>
            <p:ph idx="1"/>
            <p:extLst>
              <p:ext uri="{D42A27DB-BD31-4B8C-83A1-F6EECF244321}">
                <p14:modId xmlns:p14="http://schemas.microsoft.com/office/powerpoint/2010/main" val="1361887437"/>
              </p:ext>
            </p:extLst>
          </p:nvPr>
        </p:nvGraphicFramePr>
        <p:xfrm>
          <a:off x="3724073" y="1953928"/>
          <a:ext cx="4939867" cy="42698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0731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a:stretch>
            <a:fillRect/>
          </a:stretch>
        </p:blipFill>
        <p:spPr>
          <a:xfrm>
            <a:off x="1786466" y="643467"/>
            <a:ext cx="5571066" cy="5571066"/>
          </a:xfrm>
          <a:prstGeom prst="rect">
            <a:avLst/>
          </a:prstGeom>
        </p:spPr>
      </p:pic>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32000109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HmEo6RI4Wvs"/>
          <p:cNvPicPr>
            <a:picLocks noGrp="1" noRot="1" noChangeAspect="1"/>
          </p:cNvPicPr>
          <p:nvPr>
            <p:ph idx="1"/>
            <a:videoFile r:link="rId1"/>
          </p:nvPr>
        </p:nvPicPr>
        <p:blipFill>
          <a:blip r:embed="rId3"/>
          <a:stretch>
            <a:fillRect/>
          </a:stretch>
        </p:blipFill>
        <p:spPr>
          <a:xfrm>
            <a:off x="-7600" y="626165"/>
            <a:ext cx="9151600" cy="5148470"/>
          </a:xfrm>
          <a:prstGeom prst="rect">
            <a:avLst/>
          </a:prstGeo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722523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25713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p:cNvPicPr>
            <a:picLocks noGrp="1" noChangeAspect="1"/>
          </p:cNvPicPr>
          <p:nvPr>
            <p:ph idx="1"/>
          </p:nvPr>
        </p:nvPicPr>
        <p:blipFill>
          <a:blip r:embed="rId2"/>
          <a:stretch>
            <a:fillRect/>
          </a:stretch>
        </p:blipFill>
        <p:spPr>
          <a:xfrm>
            <a:off x="1786466" y="643467"/>
            <a:ext cx="5571066" cy="5571066"/>
          </a:xfrm>
          <a:prstGeom prst="rect">
            <a:avLst/>
          </a:prstGeom>
        </p:spPr>
      </p:pic>
      <p:sp>
        <p:nvSpPr>
          <p:cNvPr id="4" name="Footer Placeholder 3"/>
          <p:cNvSpPr>
            <a:spLocks noGrp="1"/>
          </p:cNvSpPr>
          <p:nvPr>
            <p:ph type="ftr" sz="quarter" idx="11"/>
          </p:nvPr>
        </p:nvSpPr>
        <p:spPr>
          <a:xfrm>
            <a:off x="3028950" y="6356350"/>
            <a:ext cx="3086100" cy="365125"/>
          </a:xfrm>
        </p:spPr>
        <p:txBody>
          <a:bodyPr vert="horz" lIns="91440" tIns="45720" rIns="91440" bIns="45720" rtlCol="0" anchor="ctr">
            <a:normAutofit/>
          </a:bodyPr>
          <a:lstStyle/>
          <a:p>
            <a:pPr defTabSz="914400">
              <a:lnSpc>
                <a:spcPct val="90000"/>
              </a:lnSpc>
              <a:spcAft>
                <a:spcPts val="600"/>
              </a:spcAft>
            </a:pPr>
            <a:r>
              <a:rPr lang="en-US" sz="900" kern="1200">
                <a:solidFill>
                  <a:srgbClr val="FFFFFF"/>
                </a:solidFill>
                <a:latin typeface="+mn-lt"/>
                <a:ea typeface="+mn-ea"/>
                <a:cs typeface="+mn-cs"/>
              </a:rPr>
              <a:t>The Science of Positive Psychology © Cambridge University Press 2021</a:t>
            </a:r>
          </a:p>
        </p:txBody>
      </p:sp>
    </p:spTree>
    <p:extLst>
      <p:ext uri="{BB962C8B-B14F-4D97-AF65-F5344CB8AC3E}">
        <p14:creationId xmlns:p14="http://schemas.microsoft.com/office/powerpoint/2010/main" val="17529370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Mindfulness</a:t>
            </a:r>
          </a:p>
        </p:txBody>
      </p:sp>
      <p:sp>
        <p:nvSpPr>
          <p:cNvPr id="3" name="Content Placeholder 2"/>
          <p:cNvSpPr>
            <a:spLocks noGrp="1"/>
          </p:cNvSpPr>
          <p:nvPr>
            <p:ph sz="half" idx="1"/>
          </p:nvPr>
        </p:nvSpPr>
        <p:spPr/>
        <p:txBody>
          <a:bodyPr/>
          <a:lstStyle/>
          <a:p>
            <a:pPr marL="0" indent="0" algn="ctr">
              <a:buNone/>
            </a:pPr>
            <a:r>
              <a:rPr lang="en-US" dirty="0"/>
              <a:t>Mindfulness Meditation</a:t>
            </a:r>
          </a:p>
        </p:txBody>
      </p:sp>
      <p:sp>
        <p:nvSpPr>
          <p:cNvPr id="4" name="Content Placeholder 3"/>
          <p:cNvSpPr>
            <a:spLocks noGrp="1"/>
          </p:cNvSpPr>
          <p:nvPr>
            <p:ph sz="half" idx="2"/>
          </p:nvPr>
        </p:nvSpPr>
        <p:spPr/>
        <p:txBody>
          <a:bodyPr/>
          <a:lstStyle/>
          <a:p>
            <a:pPr marL="0" indent="0" algn="ctr">
              <a:buNone/>
            </a:pPr>
            <a:r>
              <a:rPr lang="en-US" dirty="0"/>
              <a:t>Daily Mindfulness </a:t>
            </a:r>
          </a:p>
        </p:txBody>
      </p:sp>
      <p:pic>
        <p:nvPicPr>
          <p:cNvPr id="5" name="Picture 4"/>
          <p:cNvPicPr>
            <a:picLocks noChangeAspect="1"/>
          </p:cNvPicPr>
          <p:nvPr/>
        </p:nvPicPr>
        <p:blipFill>
          <a:blip r:embed="rId2"/>
          <a:stretch>
            <a:fillRect/>
          </a:stretch>
        </p:blipFill>
        <p:spPr>
          <a:xfrm>
            <a:off x="457200" y="3004930"/>
            <a:ext cx="4012366" cy="266037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421907" y="3004930"/>
            <a:ext cx="2487096" cy="2852353"/>
          </a:xfrm>
          <a:prstGeom prst="rect">
            <a:avLst/>
          </a:prstGeom>
        </p:spPr>
      </p:pic>
    </p:spTree>
    <p:extLst>
      <p:ext uri="{BB962C8B-B14F-4D97-AF65-F5344CB8AC3E}">
        <p14:creationId xmlns:p14="http://schemas.microsoft.com/office/powerpoint/2010/main" val="3438998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35A04CF-97D4-4FF7-B359-C546B1F62E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999" cy="6858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1DE7243B-5109-444B-8FAF-7437C66BC0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3315999" cy="6858000"/>
          </a:xfrm>
          <a:custGeom>
            <a:avLst/>
            <a:gdLst>
              <a:gd name="connsiteX0" fmla="*/ 4421332 w 4421332"/>
              <a:gd name="connsiteY0" fmla="*/ 0 h 6858000"/>
              <a:gd name="connsiteX1" fmla="*/ 69075 w 4421332"/>
              <a:gd name="connsiteY1" fmla="*/ 0 h 6858000"/>
              <a:gd name="connsiteX2" fmla="*/ 35131 w 4421332"/>
              <a:gd name="connsiteY2" fmla="*/ 267128 h 6858000"/>
              <a:gd name="connsiteX3" fmla="*/ 0 w 4421332"/>
              <a:gd name="connsiteY3" fmla="*/ 962845 h 6858000"/>
              <a:gd name="connsiteX4" fmla="*/ 3276103 w 4421332"/>
              <a:gd name="connsiteY4" fmla="*/ 6782205 h 6858000"/>
              <a:gd name="connsiteX5" fmla="*/ 3407923 w 4421332"/>
              <a:gd name="connsiteY5" fmla="*/ 6858000 h 6858000"/>
              <a:gd name="connsiteX6" fmla="*/ 4421332 w 442133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21332" h="6858000">
                <a:moveTo>
                  <a:pt x="4421332" y="0"/>
                </a:moveTo>
                <a:lnTo>
                  <a:pt x="69075" y="0"/>
                </a:lnTo>
                <a:lnTo>
                  <a:pt x="35131" y="267128"/>
                </a:lnTo>
                <a:cubicBezTo>
                  <a:pt x="11901" y="495874"/>
                  <a:pt x="0" y="727970"/>
                  <a:pt x="0" y="962845"/>
                </a:cubicBezTo>
                <a:cubicBezTo>
                  <a:pt x="0" y="3429034"/>
                  <a:pt x="1312002" y="5588789"/>
                  <a:pt x="3276103" y="6782205"/>
                </a:cubicBezTo>
                <a:lnTo>
                  <a:pt x="3407923" y="6858000"/>
                </a:lnTo>
                <a:lnTo>
                  <a:pt x="4421332" y="6858000"/>
                </a:ln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4C5D6221-DA7B-4611-AA26-7D8E349FDE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74171" cy="6858000"/>
          </a:xfrm>
          <a:custGeom>
            <a:avLst/>
            <a:gdLst>
              <a:gd name="connsiteX0" fmla="*/ 0 w 4232227"/>
              <a:gd name="connsiteY0" fmla="*/ 0 h 6858000"/>
              <a:gd name="connsiteX1" fmla="*/ 4161853 w 4232227"/>
              <a:gd name="connsiteY1" fmla="*/ 0 h 6858000"/>
              <a:gd name="connsiteX2" fmla="*/ 4197953 w 4232227"/>
              <a:gd name="connsiteY2" fmla="*/ 284091 h 6858000"/>
              <a:gd name="connsiteX3" fmla="*/ 4232227 w 4232227"/>
              <a:gd name="connsiteY3" fmla="*/ 962844 h 6858000"/>
              <a:gd name="connsiteX4" fmla="*/ 758007 w 4232227"/>
              <a:gd name="connsiteY4" fmla="*/ 6800152 h 6858000"/>
              <a:gd name="connsiteX5" fmla="*/ 645060 w 4232227"/>
              <a:gd name="connsiteY5" fmla="*/ 6858000 h 6858000"/>
              <a:gd name="connsiteX6" fmla="*/ 0 w 42322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2227" h="6858000">
                <a:moveTo>
                  <a:pt x="0" y="0"/>
                </a:moveTo>
                <a:lnTo>
                  <a:pt x="4161853" y="0"/>
                </a:lnTo>
                <a:lnTo>
                  <a:pt x="4197953" y="284091"/>
                </a:lnTo>
                <a:cubicBezTo>
                  <a:pt x="4220617" y="507260"/>
                  <a:pt x="4232227" y="733696"/>
                  <a:pt x="4232227" y="962844"/>
                </a:cubicBezTo>
                <a:cubicBezTo>
                  <a:pt x="4232227" y="3483472"/>
                  <a:pt x="2827409" y="5675986"/>
                  <a:pt x="758007" y="6800152"/>
                </a:cubicBezTo>
                <a:lnTo>
                  <a:pt x="645060" y="6858000"/>
                </a:lnTo>
                <a:lnTo>
                  <a:pt x="0" y="6858000"/>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a:xfrm>
            <a:off x="603504" y="1412489"/>
            <a:ext cx="2153321" cy="2156621"/>
          </a:xfrm>
        </p:spPr>
        <p:txBody>
          <a:bodyPr anchor="t">
            <a:normAutofit/>
          </a:bodyPr>
          <a:lstStyle/>
          <a:p>
            <a:r>
              <a:rPr lang="en-US" sz="3100">
                <a:solidFill>
                  <a:srgbClr val="FFFFFF"/>
                </a:solidFill>
              </a:rPr>
              <a:t>Mindfulness</a:t>
            </a:r>
          </a:p>
        </p:txBody>
      </p:sp>
      <p:sp>
        <p:nvSpPr>
          <p:cNvPr id="4" name="Content Placeholder 3"/>
          <p:cNvSpPr>
            <a:spLocks noGrp="1"/>
          </p:cNvSpPr>
          <p:nvPr>
            <p:ph sz="half" idx="1"/>
          </p:nvPr>
        </p:nvSpPr>
        <p:spPr>
          <a:xfrm>
            <a:off x="3777675" y="1412489"/>
            <a:ext cx="2316129" cy="4363844"/>
          </a:xfrm>
        </p:spPr>
        <p:txBody>
          <a:bodyPr>
            <a:normAutofit/>
          </a:bodyPr>
          <a:lstStyle/>
          <a:p>
            <a:pPr marL="0" indent="0" algn="ctr">
              <a:buNone/>
            </a:pPr>
            <a:r>
              <a:rPr lang="en-US" dirty="0">
                <a:solidFill>
                  <a:srgbClr val="0070C0"/>
                </a:solidFill>
              </a:rPr>
              <a:t>State</a:t>
            </a:r>
          </a:p>
          <a:p>
            <a:r>
              <a:rPr lang="en-US" dirty="0"/>
              <a:t>At the moment</a:t>
            </a:r>
          </a:p>
          <a:p>
            <a:r>
              <a:rPr lang="en-US" dirty="0"/>
              <a:t>Can be while we are meditating, or performing any task</a:t>
            </a:r>
          </a:p>
        </p:txBody>
      </p:sp>
      <p:sp>
        <p:nvSpPr>
          <p:cNvPr id="5" name="Content Placeholder 4"/>
          <p:cNvSpPr>
            <a:spLocks noGrp="1"/>
          </p:cNvSpPr>
          <p:nvPr>
            <p:ph sz="half" idx="2"/>
          </p:nvPr>
        </p:nvSpPr>
        <p:spPr>
          <a:xfrm>
            <a:off x="6338703" y="1412489"/>
            <a:ext cx="2194560" cy="4363844"/>
          </a:xfrm>
        </p:spPr>
        <p:txBody>
          <a:bodyPr>
            <a:normAutofit/>
          </a:bodyPr>
          <a:lstStyle/>
          <a:p>
            <a:pPr marL="0" indent="0" algn="ctr">
              <a:buNone/>
            </a:pPr>
            <a:r>
              <a:rPr lang="en-US" dirty="0">
                <a:solidFill>
                  <a:srgbClr val="0070C0"/>
                </a:solidFill>
              </a:rPr>
              <a:t>Trait</a:t>
            </a:r>
          </a:p>
          <a:p>
            <a:r>
              <a:rPr lang="en-US" dirty="0"/>
              <a:t>Degree of mindfulness we possess and bring to all different types of situations</a:t>
            </a:r>
          </a:p>
          <a:p>
            <a:pPr marL="0" indent="0">
              <a:buNone/>
            </a:pPr>
            <a:endParaRPr lang="en-US" sz="1700" dirty="0"/>
          </a:p>
          <a:p>
            <a:endParaRPr lang="en-US" sz="1700" dirty="0"/>
          </a:p>
        </p:txBody>
      </p:sp>
      <p:sp>
        <p:nvSpPr>
          <p:cNvPr id="2" name="Footer Placeholder 1"/>
          <p:cNvSpPr>
            <a:spLocks noGrp="1"/>
          </p:cNvSpPr>
          <p:nvPr>
            <p:ph type="ftr" sz="quarter" idx="11"/>
          </p:nvPr>
        </p:nvSpPr>
        <p:spPr>
          <a:xfrm>
            <a:off x="3157399" y="6171998"/>
            <a:ext cx="4987184" cy="365125"/>
          </a:xfrm>
        </p:spPr>
        <p:txBody>
          <a:bodyPr>
            <a:normAutofit/>
          </a:bodyPr>
          <a:lstStyle/>
          <a:p>
            <a:pPr algn="r">
              <a:spcAft>
                <a:spcPts val="600"/>
              </a:spcAft>
            </a:pPr>
            <a:r>
              <a:rPr lang="en-US" sz="1000">
                <a:solidFill>
                  <a:schemeClr val="tx1">
                    <a:alpha val="80000"/>
                  </a:schemeClr>
                </a:solidFill>
                <a:effectLst/>
                <a:latin typeface="Arial" panose="020B0604020202020204" pitchFamily="34" charset="0"/>
                <a:ea typeface="Calibri" panose="020F0502020204030204" pitchFamily="34" charset="0"/>
              </a:rPr>
              <a:t>Compton, </a:t>
            </a:r>
            <a:r>
              <a:rPr lang="en-US" sz="1000" i="1">
                <a:solidFill>
                  <a:schemeClr val="tx1">
                    <a:alpha val="80000"/>
                  </a:schemeClr>
                </a:solidFill>
                <a:effectLst/>
                <a:latin typeface="Arial" panose="020B0604020202020204" pitchFamily="34" charset="0"/>
                <a:ea typeface="Calibri" panose="020F0502020204030204" pitchFamily="34" charset="0"/>
              </a:rPr>
              <a:t>Positive Psychology, 3e</a:t>
            </a:r>
            <a:r>
              <a:rPr lang="en-US" sz="1000">
                <a:solidFill>
                  <a:schemeClr val="tx1">
                    <a:alpha val="80000"/>
                  </a:schemeClr>
                </a:solidFill>
                <a:effectLst/>
                <a:latin typeface="Arial" panose="020B0604020202020204" pitchFamily="34" charset="0"/>
                <a:ea typeface="Calibri" panose="020F0502020204030204" pitchFamily="34" charset="0"/>
              </a:rPr>
              <a:t>.</a:t>
            </a:r>
            <a:r>
              <a:rPr lang="en-US" sz="1000" kern="1200">
                <a:solidFill>
                  <a:schemeClr val="tx1">
                    <a:alpha val="80000"/>
                  </a:schemeClr>
                </a:solidFill>
                <a:effectLst/>
                <a:latin typeface="Arial" panose="020B0604020202020204" pitchFamily="34" charset="0"/>
                <a:ea typeface="Times New Roman" panose="02020603050405020304" pitchFamily="18" charset="0"/>
              </a:rPr>
              <a:t> </a:t>
            </a:r>
            <a:r>
              <a:rPr lang="en-US" sz="1000">
                <a:solidFill>
                  <a:schemeClr val="tx1">
                    <a:alpha val="80000"/>
                  </a:schemeClr>
                </a:solidFill>
                <a:effectLst/>
                <a:latin typeface="Arial" panose="020B0604020202020204" pitchFamily="34" charset="0"/>
                <a:ea typeface="Times New Roman" panose="02020603050405020304" pitchFamily="18" charset="0"/>
              </a:rPr>
              <a:t>© SAGE Publications, 2020.</a:t>
            </a:r>
            <a:endParaRPr lang="en-US" sz="1000">
              <a:solidFill>
                <a:schemeClr val="tx1">
                  <a:alpha val="80000"/>
                </a:schemeClr>
              </a:solidFill>
            </a:endParaRPr>
          </a:p>
        </p:txBody>
      </p:sp>
    </p:spTree>
    <p:extLst>
      <p:ext uri="{BB962C8B-B14F-4D97-AF65-F5344CB8AC3E}">
        <p14:creationId xmlns:p14="http://schemas.microsoft.com/office/powerpoint/2010/main" val="873613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844ECBB-3DA0-A43A-00D2-D070B85DCD03}"/>
              </a:ext>
            </a:extLst>
          </p:cNvPr>
          <p:cNvPicPr>
            <a:picLocks noChangeAspect="1"/>
          </p:cNvPicPr>
          <p:nvPr/>
        </p:nvPicPr>
        <p:blipFill>
          <a:blip r:embed="rId2"/>
          <a:stretch>
            <a:fillRect/>
          </a:stretch>
        </p:blipFill>
        <p:spPr>
          <a:xfrm>
            <a:off x="1143000" y="0"/>
            <a:ext cx="6858000" cy="6858000"/>
          </a:xfrm>
          <a:prstGeom prst="rect">
            <a:avLst/>
          </a:prstGeom>
        </p:spPr>
      </p:pic>
      <p:sp>
        <p:nvSpPr>
          <p:cNvPr id="4" name="Footer Placeholder 3">
            <a:extLst>
              <a:ext uri="{FF2B5EF4-FFF2-40B4-BE49-F238E27FC236}">
                <a16:creationId xmlns:a16="http://schemas.microsoft.com/office/drawing/2014/main" id="{80599FCF-E0E1-9D71-46C7-EF6CF8F2962C}"/>
              </a:ext>
            </a:extLst>
          </p:cNvPr>
          <p:cNvSpPr>
            <a:spLocks noGrp="1"/>
          </p:cNvSpPr>
          <p:nvPr>
            <p:ph type="ftr" sz="quarter" idx="10"/>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14967766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FA3A8684-303F-A72F-5C7F-0C9FFDC3FCE9}"/>
              </a:ext>
            </a:extLst>
          </p:cNvPr>
          <p:cNvSpPr>
            <a:spLocks noGrp="1"/>
          </p:cNvSpPr>
          <p:nvPr>
            <p:ph type="ftr" sz="quarter" idx="11"/>
          </p:nvPr>
        </p:nvSpPr>
        <p:spPr/>
        <p:txBody>
          <a:bodyPr/>
          <a:lstStyle/>
          <a:p>
            <a:r>
              <a:rPr lang="en-US" sz="1050">
                <a:solidFill>
                  <a:srgbClr val="7F7F7F"/>
                </a:solidFill>
                <a:effectLst/>
                <a:latin typeface="Arial" panose="020B0604020202020204" pitchFamily="34" charset="0"/>
                <a:ea typeface="Calibri" panose="020F0502020204030204" pitchFamily="34" charset="0"/>
              </a:rPr>
              <a:t>Compton, </a:t>
            </a:r>
            <a:r>
              <a:rPr lang="en-US" sz="1050" i="1">
                <a:solidFill>
                  <a:srgbClr val="7F7F7F"/>
                </a:solidFill>
                <a:effectLst/>
                <a:latin typeface="Arial" panose="020B0604020202020204" pitchFamily="34" charset="0"/>
                <a:ea typeface="Calibri" panose="020F0502020204030204" pitchFamily="34" charset="0"/>
              </a:rPr>
              <a:t>Positive Psychology, 3e</a:t>
            </a:r>
            <a:r>
              <a:rPr lang="en-US" sz="1050">
                <a:solidFill>
                  <a:srgbClr val="7F7F7F"/>
                </a:solidFill>
                <a:effectLst/>
                <a:latin typeface="Arial" panose="020B0604020202020204" pitchFamily="34" charset="0"/>
                <a:ea typeface="Calibri" panose="020F0502020204030204" pitchFamily="34" charset="0"/>
              </a:rPr>
              <a:t>.</a:t>
            </a:r>
            <a:r>
              <a:rPr lang="en-US" sz="1050" kern="1200">
                <a:solidFill>
                  <a:srgbClr val="7F7F7F"/>
                </a:solidFill>
                <a:effectLst/>
                <a:latin typeface="Arial" panose="020B0604020202020204" pitchFamily="34" charset="0"/>
                <a:ea typeface="Times New Roman" panose="02020603050405020304" pitchFamily="18" charset="0"/>
              </a:rPr>
              <a:t> </a:t>
            </a:r>
            <a:r>
              <a:rPr lang="en-US" sz="1050">
                <a:solidFill>
                  <a:srgbClr val="7F7F7F"/>
                </a:solidFill>
                <a:effectLst/>
                <a:latin typeface="Arial" panose="020B0604020202020204" pitchFamily="34" charset="0"/>
                <a:ea typeface="Times New Roman" panose="02020603050405020304" pitchFamily="18" charset="0"/>
              </a:rPr>
              <a:t>© SAGE Publications, 2020.</a:t>
            </a:r>
            <a:endParaRPr lang="en-US" dirty="0"/>
          </a:p>
        </p:txBody>
      </p:sp>
      <p:sp>
        <p:nvSpPr>
          <p:cNvPr id="3" name="Title 2">
            <a:extLst>
              <a:ext uri="{FF2B5EF4-FFF2-40B4-BE49-F238E27FC236}">
                <a16:creationId xmlns:a16="http://schemas.microsoft.com/office/drawing/2014/main" id="{DD8E1728-A407-9D76-7A92-5301EFFE5120}"/>
              </a:ext>
            </a:extLst>
          </p:cNvPr>
          <p:cNvSpPr>
            <a:spLocks noGrp="1"/>
          </p:cNvSpPr>
          <p:nvPr>
            <p:ph type="title"/>
          </p:nvPr>
        </p:nvSpPr>
        <p:spPr/>
        <p:txBody>
          <a:bodyPr/>
          <a:lstStyle/>
          <a:p>
            <a:r>
              <a:rPr lang="en-US" dirty="0"/>
              <a:t>Psychological Benefits of Mindfulness</a:t>
            </a:r>
          </a:p>
        </p:txBody>
      </p:sp>
      <p:sp>
        <p:nvSpPr>
          <p:cNvPr id="4" name="Content Placeholder 3">
            <a:extLst>
              <a:ext uri="{FF2B5EF4-FFF2-40B4-BE49-F238E27FC236}">
                <a16:creationId xmlns:a16="http://schemas.microsoft.com/office/drawing/2014/main" id="{6ABC3C01-EE21-E857-EE23-2898F0E06E37}"/>
              </a:ext>
            </a:extLst>
          </p:cNvPr>
          <p:cNvSpPr>
            <a:spLocks noGrp="1"/>
          </p:cNvSpPr>
          <p:nvPr>
            <p:ph sz="half" idx="1"/>
          </p:nvPr>
        </p:nvSpPr>
        <p:spPr/>
        <p:txBody>
          <a:bodyPr>
            <a:normAutofit/>
          </a:bodyPr>
          <a:lstStyle/>
          <a:p>
            <a:pPr marL="0" indent="0">
              <a:buNone/>
            </a:pPr>
            <a:r>
              <a:rPr lang="en-US" sz="3200" dirty="0"/>
              <a:t>↓ Stress</a:t>
            </a:r>
          </a:p>
          <a:p>
            <a:pPr marL="0" indent="0">
              <a:buNone/>
            </a:pPr>
            <a:r>
              <a:rPr lang="en-US" sz="3200" dirty="0"/>
              <a:t>↓ Depression</a:t>
            </a:r>
          </a:p>
          <a:p>
            <a:pPr marL="0" indent="0">
              <a:buNone/>
            </a:pPr>
            <a:r>
              <a:rPr lang="en-US" sz="3200" dirty="0"/>
              <a:t>↓Anxiety</a:t>
            </a:r>
          </a:p>
          <a:p>
            <a:pPr marL="0" indent="0">
              <a:buNone/>
            </a:pPr>
            <a:r>
              <a:rPr lang="en-US" sz="3200" dirty="0"/>
              <a:t>↓Rumination</a:t>
            </a:r>
          </a:p>
          <a:p>
            <a:pPr marL="0" indent="0">
              <a:buNone/>
            </a:pPr>
            <a:endParaRPr lang="en-US" sz="3200" dirty="0"/>
          </a:p>
          <a:p>
            <a:pPr marL="0" indent="0">
              <a:buNone/>
            </a:pPr>
            <a:endParaRPr lang="en-US" sz="3200" dirty="0"/>
          </a:p>
        </p:txBody>
      </p:sp>
      <p:sp>
        <p:nvSpPr>
          <p:cNvPr id="5" name="Content Placeholder 4">
            <a:extLst>
              <a:ext uri="{FF2B5EF4-FFF2-40B4-BE49-F238E27FC236}">
                <a16:creationId xmlns:a16="http://schemas.microsoft.com/office/drawing/2014/main" id="{60A46DC8-0296-363F-A243-D9E354863214}"/>
              </a:ext>
            </a:extLst>
          </p:cNvPr>
          <p:cNvSpPr>
            <a:spLocks noGrp="1"/>
          </p:cNvSpPr>
          <p:nvPr>
            <p:ph sz="half" idx="2"/>
          </p:nvPr>
        </p:nvSpPr>
        <p:spPr>
          <a:xfrm>
            <a:off x="3892731" y="2133600"/>
            <a:ext cx="4794069" cy="3992563"/>
          </a:xfrm>
        </p:spPr>
        <p:txBody>
          <a:bodyPr>
            <a:normAutofit/>
          </a:bodyPr>
          <a:lstStyle/>
          <a:p>
            <a:pPr marL="0" indent="0">
              <a:buNone/>
            </a:pPr>
            <a:r>
              <a:rPr lang="en-US" sz="3200" dirty="0"/>
              <a:t>↑ Emotion Regulation</a:t>
            </a:r>
          </a:p>
          <a:p>
            <a:pPr marL="0" indent="0">
              <a:buNone/>
            </a:pPr>
            <a:r>
              <a:rPr lang="en-US" sz="3200" dirty="0"/>
              <a:t>↑ Attention, concentration</a:t>
            </a:r>
          </a:p>
          <a:p>
            <a:pPr marL="0" indent="0">
              <a:buNone/>
            </a:pPr>
            <a:r>
              <a:rPr lang="en-US" sz="3200" dirty="0"/>
              <a:t>↑ Self-awareness</a:t>
            </a:r>
          </a:p>
          <a:p>
            <a:pPr marL="0" indent="0">
              <a:buNone/>
            </a:pPr>
            <a:r>
              <a:rPr lang="en-US" sz="3200" dirty="0"/>
              <a:t>↑ Resilience, WB, Life </a:t>
            </a:r>
            <a:r>
              <a:rPr lang="en-US" sz="3200" dirty="0" err="1"/>
              <a:t>satis</a:t>
            </a:r>
            <a:endParaRPr lang="en-US" sz="3200" dirty="0"/>
          </a:p>
          <a:p>
            <a:pPr marL="0" indent="0">
              <a:buNone/>
            </a:pPr>
            <a:r>
              <a:rPr lang="en-US" sz="3200" dirty="0"/>
              <a:t>↑ Compassion, empathy</a:t>
            </a:r>
          </a:p>
          <a:p>
            <a:pPr marL="0" indent="0">
              <a:buNone/>
            </a:pPr>
            <a:r>
              <a:rPr lang="en-US" sz="3200" dirty="0"/>
              <a:t>↑Sleep</a:t>
            </a:r>
          </a:p>
        </p:txBody>
      </p:sp>
    </p:spTree>
    <p:extLst>
      <p:ext uri="{BB962C8B-B14F-4D97-AF65-F5344CB8AC3E}">
        <p14:creationId xmlns:p14="http://schemas.microsoft.com/office/powerpoint/2010/main" val="1425954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FEC642B-F092-49AF-919D-BC81E59013FF}"/>
              </a:ext>
            </a:extLst>
          </p:cNvPr>
          <p:cNvSpPr>
            <a:spLocks noGrp="1"/>
          </p:cNvSpPr>
          <p:nvPr>
            <p:ph type="title"/>
          </p:nvPr>
        </p:nvSpPr>
        <p:spPr>
          <a:xfrm>
            <a:off x="350041" y="586855"/>
            <a:ext cx="2401025" cy="3387497"/>
          </a:xfrm>
        </p:spPr>
        <p:txBody>
          <a:bodyPr anchor="b">
            <a:normAutofit/>
          </a:bodyPr>
          <a:lstStyle/>
          <a:p>
            <a:pPr algn="r"/>
            <a:r>
              <a:rPr lang="en-US" sz="3500">
                <a:solidFill>
                  <a:srgbClr val="FFFFFF"/>
                </a:solidFill>
              </a:rPr>
              <a:t>Trait Mindfulness and Prosocial Behaviors</a:t>
            </a:r>
          </a:p>
        </p:txBody>
      </p:sp>
      <p:sp>
        <p:nvSpPr>
          <p:cNvPr id="4" name="Footer Placeholder 3">
            <a:extLst>
              <a:ext uri="{FF2B5EF4-FFF2-40B4-BE49-F238E27FC236}">
                <a16:creationId xmlns:a16="http://schemas.microsoft.com/office/drawing/2014/main" id="{AB848544-316C-482A-B902-8AB10A2FF344}"/>
              </a:ext>
            </a:extLst>
          </p:cNvPr>
          <p:cNvSpPr>
            <a:spLocks noGrp="1"/>
          </p:cNvSpPr>
          <p:nvPr>
            <p:ph type="ftr" sz="quarter" idx="11"/>
          </p:nvPr>
        </p:nvSpPr>
        <p:spPr>
          <a:xfrm rot="5400000">
            <a:off x="-1371600" y="1984248"/>
            <a:ext cx="3086100" cy="365125"/>
          </a:xfrm>
        </p:spPr>
        <p:txBody>
          <a:bodyPr>
            <a:normAutofit/>
          </a:bodyPr>
          <a:lstStyle/>
          <a:p>
            <a:pPr algn="l">
              <a:lnSpc>
                <a:spcPct val="90000"/>
              </a:lnSpc>
              <a:spcAft>
                <a:spcPts val="600"/>
              </a:spcAft>
            </a:pPr>
            <a:r>
              <a:rPr lang="en-US" sz="900">
                <a:solidFill>
                  <a:srgbClr val="FFFFFF"/>
                </a:solidFill>
              </a:rPr>
              <a:t>The Science and Application of Positive Psychology </a:t>
            </a:r>
            <a:br>
              <a:rPr lang="en-US" sz="900">
                <a:solidFill>
                  <a:srgbClr val="FFFFFF"/>
                </a:solidFill>
              </a:rPr>
            </a:br>
            <a:r>
              <a:rPr lang="en-US" sz="900">
                <a:solidFill>
                  <a:srgbClr val="FFFFFF"/>
                </a:solidFill>
              </a:rPr>
              <a:t>© Cambridge University Press 2021</a:t>
            </a:r>
          </a:p>
        </p:txBody>
      </p:sp>
      <p:sp>
        <p:nvSpPr>
          <p:cNvPr id="3" name="Content Placeholder 2">
            <a:extLst>
              <a:ext uri="{FF2B5EF4-FFF2-40B4-BE49-F238E27FC236}">
                <a16:creationId xmlns:a16="http://schemas.microsoft.com/office/drawing/2014/main" id="{B19E806F-2B91-4AFD-8EED-1C216C5BE3A6}"/>
              </a:ext>
            </a:extLst>
          </p:cNvPr>
          <p:cNvSpPr>
            <a:spLocks noGrp="1"/>
          </p:cNvSpPr>
          <p:nvPr>
            <p:ph idx="1"/>
          </p:nvPr>
        </p:nvSpPr>
        <p:spPr>
          <a:xfrm>
            <a:off x="3607694" y="649480"/>
            <a:ext cx="4916510" cy="5546047"/>
          </a:xfrm>
        </p:spPr>
        <p:txBody>
          <a:bodyPr anchor="ctr">
            <a:noAutofit/>
          </a:bodyPr>
          <a:lstStyle/>
          <a:p>
            <a:r>
              <a:rPr lang="en-US" sz="2000" dirty="0"/>
              <a:t>More mindful people:</a:t>
            </a:r>
          </a:p>
          <a:p>
            <a:pPr lvl="1"/>
            <a:r>
              <a:rPr lang="en-US" sz="2000" dirty="0"/>
              <a:t>Less likely to self-report ostracizing others</a:t>
            </a:r>
          </a:p>
          <a:p>
            <a:pPr lvl="1"/>
            <a:r>
              <a:rPr lang="en-US" sz="2000" dirty="0"/>
              <a:t>More likely to include those being ostracized by others in game of </a:t>
            </a:r>
            <a:r>
              <a:rPr lang="en-US" sz="2000" dirty="0" err="1"/>
              <a:t>Cyberball</a:t>
            </a:r>
            <a:r>
              <a:rPr lang="en-US" sz="2000" dirty="0"/>
              <a:t>, even after accounting for personal distress and empathy (Jones et al., 2019)                                 </a:t>
            </a:r>
          </a:p>
          <a:p>
            <a:r>
              <a:rPr lang="en-US" sz="2000" dirty="0"/>
              <a:t>In 12 studies (N = 13,820), mindfulness associated with prosocial behaviors (Donald et al., 2019)</a:t>
            </a:r>
          </a:p>
          <a:p>
            <a:pPr lvl="1"/>
            <a:r>
              <a:rPr lang="en-US" sz="2000" dirty="0"/>
              <a:t>Especially when participants already knows target</a:t>
            </a:r>
          </a:p>
          <a:p>
            <a:pPr lvl="1"/>
            <a:r>
              <a:rPr lang="en-US" sz="2000" dirty="0"/>
              <a:t>Relationship most strong in adults, then emerging adults, then adolescents</a:t>
            </a:r>
          </a:p>
        </p:txBody>
      </p:sp>
    </p:spTree>
    <p:extLst>
      <p:ext uri="{BB962C8B-B14F-4D97-AF65-F5344CB8AC3E}">
        <p14:creationId xmlns:p14="http://schemas.microsoft.com/office/powerpoint/2010/main" val="68259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2BF03-2AA2-401F-8757-2ED40996BDF7}"/>
              </a:ext>
            </a:extLst>
          </p:cNvPr>
          <p:cNvSpPr>
            <a:spLocks noGrp="1"/>
          </p:cNvSpPr>
          <p:nvPr>
            <p:ph type="title"/>
          </p:nvPr>
        </p:nvSpPr>
        <p:spPr>
          <a:xfrm>
            <a:off x="3724072" y="629268"/>
            <a:ext cx="4939868" cy="1286160"/>
          </a:xfrm>
        </p:spPr>
        <p:txBody>
          <a:bodyPr anchor="b">
            <a:normAutofit/>
          </a:bodyPr>
          <a:lstStyle/>
          <a:p>
            <a:r>
              <a:rPr lang="en-US" sz="4100"/>
              <a:t>Types of Mindfulness Practices</a:t>
            </a:r>
          </a:p>
        </p:txBody>
      </p:sp>
      <p:sp>
        <p:nvSpPr>
          <p:cNvPr id="3" name="Content Placeholder 2">
            <a:extLst>
              <a:ext uri="{FF2B5EF4-FFF2-40B4-BE49-F238E27FC236}">
                <a16:creationId xmlns:a16="http://schemas.microsoft.com/office/drawing/2014/main" id="{D6000C63-9ED1-4D23-98D1-EE532AB0E28B}"/>
              </a:ext>
            </a:extLst>
          </p:cNvPr>
          <p:cNvSpPr>
            <a:spLocks noGrp="1"/>
          </p:cNvSpPr>
          <p:nvPr>
            <p:ph idx="1"/>
          </p:nvPr>
        </p:nvSpPr>
        <p:spPr>
          <a:xfrm>
            <a:off x="3724073" y="2314808"/>
            <a:ext cx="4939867" cy="3909012"/>
          </a:xfrm>
        </p:spPr>
        <p:txBody>
          <a:bodyPr>
            <a:noAutofit/>
          </a:bodyPr>
          <a:lstStyle/>
          <a:p>
            <a:r>
              <a:rPr lang="en-US" sz="2400" dirty="0"/>
              <a:t>Focused attention, examples include:</a:t>
            </a:r>
          </a:p>
          <a:p>
            <a:pPr lvl="1"/>
            <a:r>
              <a:rPr lang="en-US" dirty="0"/>
              <a:t>Breath Awareness</a:t>
            </a:r>
          </a:p>
          <a:p>
            <a:pPr lvl="1"/>
            <a:r>
              <a:rPr lang="en-US" dirty="0"/>
              <a:t>Walking</a:t>
            </a:r>
          </a:p>
          <a:p>
            <a:pPr lvl="1"/>
            <a:r>
              <a:rPr lang="en-US" dirty="0"/>
              <a:t>Body scan</a:t>
            </a:r>
          </a:p>
          <a:p>
            <a:pPr lvl="1"/>
            <a:r>
              <a:rPr lang="en-US" dirty="0"/>
              <a:t>Gatha meditation</a:t>
            </a:r>
          </a:p>
          <a:p>
            <a:r>
              <a:rPr lang="en-US" sz="2400" dirty="0"/>
              <a:t>Open Awareness</a:t>
            </a:r>
          </a:p>
          <a:p>
            <a:r>
              <a:rPr lang="en-US" sz="2400" dirty="0"/>
              <a:t>Loving-Kindness Meditation</a:t>
            </a:r>
          </a:p>
          <a:p>
            <a:r>
              <a:rPr lang="en-US" sz="2400" dirty="0"/>
              <a:t>Mindfulness-Based Stress Reduction Program</a:t>
            </a:r>
          </a:p>
        </p:txBody>
      </p:sp>
      <p:pic>
        <p:nvPicPr>
          <p:cNvPr id="6" name="Picture 5" descr="White stones balanced in a stack">
            <a:extLst>
              <a:ext uri="{FF2B5EF4-FFF2-40B4-BE49-F238E27FC236}">
                <a16:creationId xmlns:a16="http://schemas.microsoft.com/office/drawing/2014/main" id="{034EF56D-7758-112E-9FB3-C0C96EC3D3DC}"/>
              </a:ext>
            </a:extLst>
          </p:cNvPr>
          <p:cNvPicPr>
            <a:picLocks noChangeAspect="1"/>
          </p:cNvPicPr>
          <p:nvPr/>
        </p:nvPicPr>
        <p:blipFill rotWithShape="1">
          <a:blip r:embed="rId2"/>
          <a:srcRect l="60359" r="5801" b="-1"/>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8B7650"/>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8959100C-5CFA-4D03-B359-00A6348979E4}"/>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35615672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4D541-5453-595A-A996-02A66B7CD06E}"/>
              </a:ext>
            </a:extLst>
          </p:cNvPr>
          <p:cNvSpPr>
            <a:spLocks noGrp="1"/>
          </p:cNvSpPr>
          <p:nvPr>
            <p:ph type="title"/>
          </p:nvPr>
        </p:nvSpPr>
        <p:spPr/>
        <p:txBody>
          <a:bodyPr/>
          <a:lstStyle/>
          <a:p>
            <a:r>
              <a:rPr lang="en-US" dirty="0"/>
              <a:t>An example of a Gatha poem</a:t>
            </a:r>
          </a:p>
        </p:txBody>
      </p:sp>
      <p:pic>
        <p:nvPicPr>
          <p:cNvPr id="5" name="Content Placeholder 4">
            <a:extLst>
              <a:ext uri="{FF2B5EF4-FFF2-40B4-BE49-F238E27FC236}">
                <a16:creationId xmlns:a16="http://schemas.microsoft.com/office/drawing/2014/main" id="{DD30B587-0D5F-EF7A-5C03-17CDBA53888D}"/>
              </a:ext>
            </a:extLst>
          </p:cNvPr>
          <p:cNvPicPr>
            <a:picLocks noGrp="1" noChangeAspect="1"/>
          </p:cNvPicPr>
          <p:nvPr>
            <p:ph idx="1"/>
          </p:nvPr>
        </p:nvPicPr>
        <p:blipFill>
          <a:blip r:embed="rId2"/>
          <a:stretch>
            <a:fillRect/>
          </a:stretch>
        </p:blipFill>
        <p:spPr>
          <a:xfrm>
            <a:off x="2396331" y="1825625"/>
            <a:ext cx="4351338" cy="4351338"/>
          </a:xfrm>
          <a:prstGeom prst="rect">
            <a:avLst/>
          </a:prstGeom>
        </p:spPr>
      </p:pic>
      <p:sp>
        <p:nvSpPr>
          <p:cNvPr id="4" name="Footer Placeholder 3">
            <a:extLst>
              <a:ext uri="{FF2B5EF4-FFF2-40B4-BE49-F238E27FC236}">
                <a16:creationId xmlns:a16="http://schemas.microsoft.com/office/drawing/2014/main" id="{4525FC94-A06A-A93F-77BD-93F7BCAE462D}"/>
              </a:ext>
            </a:extLst>
          </p:cNvPr>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2560446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8"/>
            <a:ext cx="3406637" cy="1325563"/>
          </a:xfrm>
          <a:solidFill>
            <a:schemeClr val="bg1">
              <a:lumMod val="85000"/>
            </a:schemeClr>
          </a:solidFill>
        </p:spPr>
        <p:txBody>
          <a:bodyPr>
            <a:normAutofit fontScale="90000"/>
          </a:bodyPr>
          <a:lstStyle/>
          <a:p>
            <a:r>
              <a:rPr lang="en-US" dirty="0"/>
              <a:t>Let’s Mindfully Meditate</a:t>
            </a:r>
          </a:p>
        </p:txBody>
      </p:sp>
      <p:sp>
        <p:nvSpPr>
          <p:cNvPr id="3" name="Content Placeholder 2"/>
          <p:cNvSpPr>
            <a:spLocks noGrp="1"/>
          </p:cNvSpPr>
          <p:nvPr>
            <p:ph idx="1"/>
          </p:nvPr>
        </p:nvSpPr>
        <p:spPr>
          <a:xfrm>
            <a:off x="628650" y="1825625"/>
            <a:ext cx="3973167" cy="609462"/>
          </a:xfrm>
          <a:solidFill>
            <a:schemeClr val="bg1">
              <a:lumMod val="85000"/>
            </a:schemeClr>
          </a:solidFill>
        </p:spPr>
        <p:txBody>
          <a:bodyPr/>
          <a:lstStyle/>
          <a:p>
            <a:pPr marL="0" indent="0">
              <a:buNone/>
            </a:pPr>
            <a:r>
              <a:rPr lang="en-US" dirty="0">
                <a:hlinkClick r:id="rId3"/>
              </a:rPr>
              <a:t>https://insighttimer.com/</a:t>
            </a:r>
            <a:r>
              <a:rPr lang="en-US" dirty="0"/>
              <a:t> </a:t>
            </a:r>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17882868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Well-Being Journal Entry #11</a:t>
            </a:r>
          </a:p>
        </p:txBody>
      </p:sp>
      <p:sp>
        <p:nvSpPr>
          <p:cNvPr id="3" name="Content Placeholder 2"/>
          <p:cNvSpPr>
            <a:spLocks noGrp="1"/>
          </p:cNvSpPr>
          <p:nvPr>
            <p:ph idx="1"/>
          </p:nvPr>
        </p:nvSpPr>
        <p:spPr>
          <a:xfrm>
            <a:off x="628650" y="1825625"/>
            <a:ext cx="2949437" cy="4351338"/>
          </a:xfrm>
        </p:spPr>
        <p:txBody>
          <a:bodyPr>
            <a:normAutofit lnSpcReduction="10000"/>
          </a:bodyPr>
          <a:lstStyle/>
          <a:p>
            <a:r>
              <a:rPr lang="en-US" dirty="0"/>
              <a:t>Mindfulness Meditation</a:t>
            </a:r>
          </a:p>
          <a:p>
            <a:pPr lvl="1"/>
            <a:r>
              <a:rPr lang="en-US" dirty="0"/>
              <a:t>Was this your first time?</a:t>
            </a:r>
          </a:p>
          <a:p>
            <a:pPr lvl="1"/>
            <a:r>
              <a:rPr lang="en-US" dirty="0"/>
              <a:t>How did you find the experience?</a:t>
            </a:r>
          </a:p>
          <a:p>
            <a:pPr lvl="1"/>
            <a:r>
              <a:rPr lang="en-US" dirty="0"/>
              <a:t>Did you find your mind wandering?</a:t>
            </a:r>
          </a:p>
          <a:p>
            <a:pPr lvl="1"/>
            <a:r>
              <a:rPr lang="en-US" dirty="0"/>
              <a:t>Questions you have</a:t>
            </a:r>
          </a:p>
          <a:p>
            <a:pPr marL="457200" lvl="1" indent="0">
              <a:buNone/>
            </a:pPr>
            <a:endParaRPr lang="en-US" dirty="0"/>
          </a:p>
        </p:txBody>
      </p:sp>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3532026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656" y="0"/>
            <a:ext cx="7824687"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206" y="0"/>
            <a:ext cx="7441587"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C9356B9-1F49-4F5C-BB61-84BFCA6FC79B}"/>
              </a:ext>
            </a:extLst>
          </p:cNvPr>
          <p:cNvSpPr>
            <a:spLocks noGrp="1"/>
          </p:cNvSpPr>
          <p:nvPr>
            <p:ph type="title"/>
          </p:nvPr>
        </p:nvSpPr>
        <p:spPr>
          <a:xfrm>
            <a:off x="1733360" y="365760"/>
            <a:ext cx="5677279" cy="1288238"/>
          </a:xfrm>
        </p:spPr>
        <p:txBody>
          <a:bodyPr anchor="ctr">
            <a:normAutofit/>
          </a:bodyPr>
          <a:lstStyle/>
          <a:p>
            <a:pPr algn="ctr"/>
            <a:r>
              <a:rPr lang="en-US" sz="4100"/>
              <a:t>Mindfulness Interventions &amp; Physical Functioning</a:t>
            </a:r>
          </a:p>
        </p:txBody>
      </p:sp>
      <p:sp>
        <p:nvSpPr>
          <p:cNvPr id="3" name="Content Placeholder 2">
            <a:extLst>
              <a:ext uri="{FF2B5EF4-FFF2-40B4-BE49-F238E27FC236}">
                <a16:creationId xmlns:a16="http://schemas.microsoft.com/office/drawing/2014/main" id="{456B19EF-D8FD-45F4-9011-B6249F707955}"/>
              </a:ext>
            </a:extLst>
          </p:cNvPr>
          <p:cNvSpPr>
            <a:spLocks noGrp="1"/>
          </p:cNvSpPr>
          <p:nvPr>
            <p:ph idx="1"/>
          </p:nvPr>
        </p:nvSpPr>
        <p:spPr>
          <a:xfrm>
            <a:off x="1624176" y="1956816"/>
            <a:ext cx="5895648" cy="4024884"/>
          </a:xfrm>
        </p:spPr>
        <p:txBody>
          <a:bodyPr anchor="t">
            <a:normAutofit/>
          </a:bodyPr>
          <a:lstStyle/>
          <a:p>
            <a:r>
              <a:rPr lang="en-US" sz="1900"/>
              <a:t>Mindfulness Interventions:</a:t>
            </a:r>
          </a:p>
          <a:p>
            <a:pPr lvl="1"/>
            <a:r>
              <a:rPr lang="en-US" sz="1900"/>
              <a:t>Decrease pain, improve coping, and lead to higher functioning for those with chronic pain conditions (compared to TAU; Creswell et al., 2014 review)</a:t>
            </a:r>
          </a:p>
          <a:p>
            <a:pPr lvl="1"/>
            <a:r>
              <a:rPr lang="en-US" sz="1900"/>
              <a:t>Result in fewer acute respiratory illness days and shortness duration of illness during cold and flu season (compared to no treatment; Barrett et al., 2018)</a:t>
            </a:r>
          </a:p>
          <a:p>
            <a:pPr lvl="1"/>
            <a:r>
              <a:rPr lang="en-US" sz="1900"/>
              <a:t>Compared to lifestyle-education group, leads to lower levels of markers of chronic inflammation for those with or at risk for cardiovascular disease (Malarkey et al., 2013) and, compared to relaxation intervention, in stressed job-seekers (Creswell et al., 2016)</a:t>
            </a:r>
          </a:p>
          <a:p>
            <a:pPr lvl="1"/>
            <a:endParaRPr lang="en-US" sz="1900"/>
          </a:p>
        </p:txBody>
      </p:sp>
      <p:sp>
        <p:nvSpPr>
          <p:cNvPr id="4" name="Footer Placeholder 3">
            <a:extLst>
              <a:ext uri="{FF2B5EF4-FFF2-40B4-BE49-F238E27FC236}">
                <a16:creationId xmlns:a16="http://schemas.microsoft.com/office/drawing/2014/main" id="{C54C0C7F-577A-489A-920C-2A01B5F0EA08}"/>
              </a:ext>
            </a:extLst>
          </p:cNvPr>
          <p:cNvSpPr>
            <a:spLocks noGrp="1"/>
          </p:cNvSpPr>
          <p:nvPr>
            <p:ph type="ftr" sz="quarter" idx="11"/>
          </p:nvPr>
        </p:nvSpPr>
        <p:spPr>
          <a:xfrm>
            <a:off x="3063240" y="6199632"/>
            <a:ext cx="301752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a:t>
            </a:r>
            <a:br>
              <a:rPr lang="en-US" sz="900">
                <a:solidFill>
                  <a:schemeClr val="tx1">
                    <a:alpha val="80000"/>
                  </a:schemeClr>
                </a:solidFill>
              </a:rPr>
            </a:br>
            <a:r>
              <a:rPr lang="en-US" sz="900">
                <a:solidFill>
                  <a:schemeClr val="tx1">
                    <a:alpha val="80000"/>
                  </a:schemeClr>
                </a:solidFill>
              </a:rPr>
              <a:t>© Cambridge University Press 2021</a:t>
            </a:r>
          </a:p>
        </p:txBody>
      </p:sp>
    </p:spTree>
    <p:extLst>
      <p:ext uri="{BB962C8B-B14F-4D97-AF65-F5344CB8AC3E}">
        <p14:creationId xmlns:p14="http://schemas.microsoft.com/office/powerpoint/2010/main" val="755250982"/>
      </p:ext>
    </p:extLst>
  </p:cSld>
  <p:clrMapOvr>
    <a:overrideClrMapping bg1="dk1" tx1="lt1" bg2="dk2" tx2="lt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025E2AA9-10C9-4A14-BEA3-064CD0131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02612" cy="5254922"/>
          </a:xfrm>
          <a:custGeom>
            <a:avLst/>
            <a:gdLst>
              <a:gd name="connsiteX0" fmla="*/ 0 w 6136816"/>
              <a:gd name="connsiteY0" fmla="*/ 0 h 5254922"/>
              <a:gd name="connsiteX1" fmla="*/ 6136816 w 6136816"/>
              <a:gd name="connsiteY1" fmla="*/ 0 h 5254922"/>
              <a:gd name="connsiteX2" fmla="*/ 6134892 w 6136816"/>
              <a:gd name="connsiteY2" fmla="*/ 111520 h 5254922"/>
              <a:gd name="connsiteX3" fmla="*/ 6066513 w 6136816"/>
              <a:gd name="connsiteY3" fmla="*/ 752995 h 5254922"/>
              <a:gd name="connsiteX4" fmla="*/ 140712 w 6136816"/>
              <a:gd name="connsiteY4" fmla="*/ 5219363 h 5254922"/>
              <a:gd name="connsiteX5" fmla="*/ 0 w 6136816"/>
              <a:gd name="connsiteY5" fmla="*/ 5199534 h 5254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136816" h="5254922">
                <a:moveTo>
                  <a:pt x="0" y="0"/>
                </a:moveTo>
                <a:lnTo>
                  <a:pt x="6136816" y="0"/>
                </a:lnTo>
                <a:lnTo>
                  <a:pt x="6134892" y="111520"/>
                </a:lnTo>
                <a:cubicBezTo>
                  <a:pt x="6124961" y="323936"/>
                  <a:pt x="6102367" y="538040"/>
                  <a:pt x="6066513" y="752995"/>
                </a:cubicBezTo>
                <a:cubicBezTo>
                  <a:pt x="5592281" y="3596146"/>
                  <a:pt x="2972232" y="5545369"/>
                  <a:pt x="140712" y="5219363"/>
                </a:cubicBezTo>
                <a:lnTo>
                  <a:pt x="0" y="5199534"/>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Freeform: Shape 10">
            <a:extLst>
              <a:ext uri="{FF2B5EF4-FFF2-40B4-BE49-F238E27FC236}">
                <a16:creationId xmlns:a16="http://schemas.microsoft.com/office/drawing/2014/main" id="{F076F371-EE61-49EA-AA2A-3582C3AC9B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397791" cy="4984915"/>
          </a:xfrm>
          <a:custGeom>
            <a:avLst/>
            <a:gdLst>
              <a:gd name="connsiteX0" fmla="*/ 0 w 5863721"/>
              <a:gd name="connsiteY0" fmla="*/ 0 h 4984915"/>
              <a:gd name="connsiteX1" fmla="*/ 5863721 w 5863721"/>
              <a:gd name="connsiteY1" fmla="*/ 0 h 4984915"/>
              <a:gd name="connsiteX2" fmla="*/ 5844576 w 5863721"/>
              <a:gd name="connsiteY2" fmla="*/ 326138 h 4984915"/>
              <a:gd name="connsiteX3" fmla="*/ 5796589 w 5863721"/>
              <a:gd name="connsiteY3" fmla="*/ 693884 h 4984915"/>
              <a:gd name="connsiteX4" fmla="*/ 148386 w 5863721"/>
              <a:gd name="connsiteY4" fmla="*/ 4951022 h 4984915"/>
              <a:gd name="connsiteX5" fmla="*/ 0 w 5863721"/>
              <a:gd name="connsiteY5" fmla="*/ 4930112 h 4984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863721" h="4984915">
                <a:moveTo>
                  <a:pt x="0" y="0"/>
                </a:moveTo>
                <a:lnTo>
                  <a:pt x="5863721" y="0"/>
                </a:lnTo>
                <a:lnTo>
                  <a:pt x="5844576" y="326138"/>
                </a:lnTo>
                <a:cubicBezTo>
                  <a:pt x="5833049" y="448313"/>
                  <a:pt x="5817094" y="570952"/>
                  <a:pt x="5796589" y="693884"/>
                </a:cubicBezTo>
                <a:cubicBezTo>
                  <a:pt x="5344573" y="3403845"/>
                  <a:pt x="2847261" y="5261756"/>
                  <a:pt x="148386" y="4951022"/>
                </a:cubicBezTo>
                <a:lnTo>
                  <a:pt x="0" y="4930112"/>
                </a:ln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679E362-8929-4AAF-ACFC-D7C3CE94C4B0}"/>
              </a:ext>
            </a:extLst>
          </p:cNvPr>
          <p:cNvSpPr>
            <a:spLocks noGrp="1"/>
          </p:cNvSpPr>
          <p:nvPr>
            <p:ph type="title"/>
          </p:nvPr>
        </p:nvSpPr>
        <p:spPr>
          <a:xfrm>
            <a:off x="603503" y="365125"/>
            <a:ext cx="2554366" cy="3117038"/>
          </a:xfrm>
        </p:spPr>
        <p:txBody>
          <a:bodyPr anchor="ctr">
            <a:normAutofit/>
          </a:bodyPr>
          <a:lstStyle/>
          <a:p>
            <a:r>
              <a:rPr lang="en-US" sz="3400"/>
              <a:t>Mindfulness Interventions &amp; Physical Functioning</a:t>
            </a:r>
          </a:p>
        </p:txBody>
      </p:sp>
      <p:sp>
        <p:nvSpPr>
          <p:cNvPr id="3" name="Content Placeholder 2">
            <a:extLst>
              <a:ext uri="{FF2B5EF4-FFF2-40B4-BE49-F238E27FC236}">
                <a16:creationId xmlns:a16="http://schemas.microsoft.com/office/drawing/2014/main" id="{CAB465BE-9ACF-43F1-881B-A5B91B065837}"/>
              </a:ext>
            </a:extLst>
          </p:cNvPr>
          <p:cNvSpPr>
            <a:spLocks noGrp="1"/>
          </p:cNvSpPr>
          <p:nvPr>
            <p:ph idx="1"/>
          </p:nvPr>
        </p:nvSpPr>
        <p:spPr>
          <a:xfrm>
            <a:off x="4780664" y="644893"/>
            <a:ext cx="3867273" cy="5181750"/>
          </a:xfrm>
        </p:spPr>
        <p:txBody>
          <a:bodyPr anchor="ctr">
            <a:normAutofit/>
          </a:bodyPr>
          <a:lstStyle/>
          <a:p>
            <a:pPr marL="0" indent="0">
              <a:buNone/>
            </a:pPr>
            <a:r>
              <a:rPr lang="en-US" sz="2200" dirty="0"/>
              <a:t>Mindfulness techniques help improve physical health in a number of ways:</a:t>
            </a:r>
          </a:p>
          <a:p>
            <a:pPr lvl="1"/>
            <a:r>
              <a:rPr lang="en-US" sz="2200" dirty="0"/>
              <a:t>Can help relieve stress</a:t>
            </a:r>
          </a:p>
          <a:p>
            <a:pPr lvl="1"/>
            <a:r>
              <a:rPr lang="en-US" sz="2200" dirty="0"/>
              <a:t>Treat heart disease</a:t>
            </a:r>
          </a:p>
          <a:p>
            <a:pPr lvl="1"/>
            <a:r>
              <a:rPr lang="en-US" sz="2200" dirty="0"/>
              <a:t>Lower blood pressure</a:t>
            </a:r>
          </a:p>
          <a:p>
            <a:pPr lvl="1"/>
            <a:r>
              <a:rPr lang="en-US" sz="2200" dirty="0"/>
              <a:t>Reduce chronic pain (technically, it is changing our relationship with chronic pain)</a:t>
            </a:r>
          </a:p>
          <a:p>
            <a:pPr lvl="1"/>
            <a:r>
              <a:rPr lang="en-US" sz="2200" dirty="0"/>
              <a:t>Improve sleep</a:t>
            </a:r>
          </a:p>
          <a:p>
            <a:pPr lvl="1"/>
            <a:r>
              <a:rPr lang="en-US" sz="2200" dirty="0"/>
              <a:t>Alleviate gastrointestinal difficulties</a:t>
            </a:r>
          </a:p>
        </p:txBody>
      </p:sp>
      <p:sp>
        <p:nvSpPr>
          <p:cNvPr id="4" name="Footer Placeholder 3">
            <a:extLst>
              <a:ext uri="{FF2B5EF4-FFF2-40B4-BE49-F238E27FC236}">
                <a16:creationId xmlns:a16="http://schemas.microsoft.com/office/drawing/2014/main" id="{9054BC91-1098-4139-82E6-1F7744926E54}"/>
              </a:ext>
            </a:extLst>
          </p:cNvPr>
          <p:cNvSpPr>
            <a:spLocks noGrp="1"/>
          </p:cNvSpPr>
          <p:nvPr>
            <p:ph type="ftr" sz="quarter" idx="11"/>
          </p:nvPr>
        </p:nvSpPr>
        <p:spPr>
          <a:xfrm>
            <a:off x="603503" y="6199632"/>
            <a:ext cx="3244153" cy="365125"/>
          </a:xfrm>
        </p:spPr>
        <p:txBody>
          <a:bodyPr>
            <a:normAutofit/>
          </a:bodyPr>
          <a:lstStyle/>
          <a:p>
            <a:pPr algn="l">
              <a:lnSpc>
                <a:spcPct val="90000"/>
              </a:lnSpc>
              <a:spcAft>
                <a:spcPts val="600"/>
              </a:spcAft>
            </a:pPr>
            <a:r>
              <a:rPr lang="en-US" sz="900">
                <a:solidFill>
                  <a:schemeClr val="tx1">
                    <a:alpha val="80000"/>
                  </a:schemeClr>
                </a:solidFill>
              </a:rPr>
              <a:t>The Science and Application of Positive Psychology </a:t>
            </a:r>
            <a:br>
              <a:rPr lang="en-US" sz="900">
                <a:solidFill>
                  <a:schemeClr val="tx1">
                    <a:alpha val="80000"/>
                  </a:schemeClr>
                </a:solidFill>
              </a:rPr>
            </a:br>
            <a:r>
              <a:rPr lang="en-US" sz="900">
                <a:solidFill>
                  <a:schemeClr val="tx1">
                    <a:alpha val="80000"/>
                  </a:schemeClr>
                </a:solidFill>
              </a:rPr>
              <a:t>© Cambridge University Press 2021</a:t>
            </a:r>
          </a:p>
        </p:txBody>
      </p:sp>
    </p:spTree>
    <p:extLst>
      <p:ext uri="{BB962C8B-B14F-4D97-AF65-F5344CB8AC3E}">
        <p14:creationId xmlns:p14="http://schemas.microsoft.com/office/powerpoint/2010/main" val="1959513816"/>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AD21898E-86C0-4C8A-A76C-DF33E844C8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9656" y="0"/>
            <a:ext cx="7824687" cy="6858000"/>
          </a:xfrm>
          <a:custGeom>
            <a:avLst/>
            <a:gdLst>
              <a:gd name="connsiteX0" fmla="*/ 1287962 w 10432916"/>
              <a:gd name="connsiteY0" fmla="*/ 0 h 6858000"/>
              <a:gd name="connsiteX1" fmla="*/ 9144956 w 10432916"/>
              <a:gd name="connsiteY1" fmla="*/ 0 h 6858000"/>
              <a:gd name="connsiteX2" fmla="*/ 9241731 w 10432916"/>
              <a:gd name="connsiteY2" fmla="*/ 111692 h 6858000"/>
              <a:gd name="connsiteX3" fmla="*/ 10432916 w 10432916"/>
              <a:gd name="connsiteY3" fmla="*/ 3429001 h 6858000"/>
              <a:gd name="connsiteX4" fmla="*/ 9241730 w 10432916"/>
              <a:gd name="connsiteY4" fmla="*/ 6746310 h 6858000"/>
              <a:gd name="connsiteX5" fmla="*/ 9144957 w 10432916"/>
              <a:gd name="connsiteY5" fmla="*/ 6858000 h 6858000"/>
              <a:gd name="connsiteX6" fmla="*/ 1287959 w 10432916"/>
              <a:gd name="connsiteY6" fmla="*/ 6858000 h 6858000"/>
              <a:gd name="connsiteX7" fmla="*/ 1191186 w 10432916"/>
              <a:gd name="connsiteY7" fmla="*/ 6746310 h 6858000"/>
              <a:gd name="connsiteX8" fmla="*/ 0 w 10432916"/>
              <a:gd name="connsiteY8" fmla="*/ 3429001 h 6858000"/>
              <a:gd name="connsiteX9" fmla="*/ 1191186 w 10432916"/>
              <a:gd name="connsiteY9" fmla="*/ 11169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432916" h="6858000">
                <a:moveTo>
                  <a:pt x="1287962" y="0"/>
                </a:moveTo>
                <a:lnTo>
                  <a:pt x="9144956" y="0"/>
                </a:lnTo>
                <a:lnTo>
                  <a:pt x="9241731" y="111692"/>
                </a:lnTo>
                <a:cubicBezTo>
                  <a:pt x="9985889" y="1013175"/>
                  <a:pt x="10432916" y="2168897"/>
                  <a:pt x="10432916" y="3429001"/>
                </a:cubicBezTo>
                <a:cubicBezTo>
                  <a:pt x="10432916" y="4689105"/>
                  <a:pt x="9985889" y="5844827"/>
                  <a:pt x="9241730" y="6746310"/>
                </a:cubicBezTo>
                <a:lnTo>
                  <a:pt x="9144957" y="6858000"/>
                </a:lnTo>
                <a:lnTo>
                  <a:pt x="1287959" y="6858000"/>
                </a:lnTo>
                <a:lnTo>
                  <a:pt x="1191186" y="6746310"/>
                </a:lnTo>
                <a:cubicBezTo>
                  <a:pt x="447027" y="5844827"/>
                  <a:pt x="0" y="4689105"/>
                  <a:pt x="0" y="3429001"/>
                </a:cubicBezTo>
                <a:cubicBezTo>
                  <a:pt x="0" y="2168897"/>
                  <a:pt x="447027" y="1013175"/>
                  <a:pt x="1191186" y="111692"/>
                </a:cubicBez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5C8F04BD-D093-45D0-B54C-50FDB308B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1206" y="0"/>
            <a:ext cx="7441587" cy="6858000"/>
          </a:xfrm>
          <a:custGeom>
            <a:avLst/>
            <a:gdLst>
              <a:gd name="connsiteX0" fmla="*/ 1378575 w 9922116"/>
              <a:gd name="connsiteY0" fmla="*/ 0 h 6858000"/>
              <a:gd name="connsiteX1" fmla="*/ 8543542 w 9922116"/>
              <a:gd name="connsiteY1" fmla="*/ 0 h 6858000"/>
              <a:gd name="connsiteX2" fmla="*/ 8633323 w 9922116"/>
              <a:gd name="connsiteY2" fmla="*/ 94145 h 6858000"/>
              <a:gd name="connsiteX3" fmla="*/ 9922116 w 9922116"/>
              <a:gd name="connsiteY3" fmla="*/ 3429001 h 6858000"/>
              <a:gd name="connsiteX4" fmla="*/ 8633323 w 9922116"/>
              <a:gd name="connsiteY4" fmla="*/ 6763858 h 6858000"/>
              <a:gd name="connsiteX5" fmla="*/ 8543544 w 9922116"/>
              <a:gd name="connsiteY5" fmla="*/ 6858000 h 6858000"/>
              <a:gd name="connsiteX6" fmla="*/ 1378573 w 9922116"/>
              <a:gd name="connsiteY6" fmla="*/ 6858000 h 6858000"/>
              <a:gd name="connsiteX7" fmla="*/ 1288793 w 9922116"/>
              <a:gd name="connsiteY7" fmla="*/ 6763858 h 6858000"/>
              <a:gd name="connsiteX8" fmla="*/ 0 w 9922116"/>
              <a:gd name="connsiteY8" fmla="*/ 3429001 h 6858000"/>
              <a:gd name="connsiteX9" fmla="*/ 1288793 w 9922116"/>
              <a:gd name="connsiteY9" fmla="*/ 9414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22116" h="6858000">
                <a:moveTo>
                  <a:pt x="1378575" y="0"/>
                </a:moveTo>
                <a:lnTo>
                  <a:pt x="8543542" y="0"/>
                </a:lnTo>
                <a:lnTo>
                  <a:pt x="8633323" y="94145"/>
                </a:lnTo>
                <a:cubicBezTo>
                  <a:pt x="9434072" y="974941"/>
                  <a:pt x="9922116" y="2144991"/>
                  <a:pt x="9922116" y="3429001"/>
                </a:cubicBezTo>
                <a:cubicBezTo>
                  <a:pt x="9922116" y="4713011"/>
                  <a:pt x="9434072" y="5883061"/>
                  <a:pt x="8633323" y="6763858"/>
                </a:cubicBezTo>
                <a:lnTo>
                  <a:pt x="8543544" y="6858000"/>
                </a:lnTo>
                <a:lnTo>
                  <a:pt x="1378573" y="6858000"/>
                </a:lnTo>
                <a:lnTo>
                  <a:pt x="1288793" y="6763858"/>
                </a:lnTo>
                <a:cubicBezTo>
                  <a:pt x="488044" y="5883061"/>
                  <a:pt x="0" y="4713011"/>
                  <a:pt x="0" y="3429001"/>
                </a:cubicBezTo>
                <a:cubicBezTo>
                  <a:pt x="0" y="2144991"/>
                  <a:pt x="488044" y="974941"/>
                  <a:pt x="1288793" y="94145"/>
                </a:cubicBezTo>
                <a:close/>
              </a:path>
            </a:pathLst>
          </a:custGeom>
          <a:solidFill>
            <a:schemeClr val="bg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679E362-8929-4AAF-ACFC-D7C3CE94C4B0}"/>
              </a:ext>
            </a:extLst>
          </p:cNvPr>
          <p:cNvSpPr>
            <a:spLocks noGrp="1"/>
          </p:cNvSpPr>
          <p:nvPr>
            <p:ph type="title"/>
          </p:nvPr>
        </p:nvSpPr>
        <p:spPr>
          <a:xfrm>
            <a:off x="1733360" y="365760"/>
            <a:ext cx="5677279" cy="1288238"/>
          </a:xfrm>
        </p:spPr>
        <p:txBody>
          <a:bodyPr anchor="ctr">
            <a:normAutofit/>
          </a:bodyPr>
          <a:lstStyle/>
          <a:p>
            <a:pPr algn="ctr"/>
            <a:r>
              <a:rPr lang="en-US" sz="3700"/>
              <a:t>Mindfulness Interventions &amp; Psychological Functioning</a:t>
            </a:r>
          </a:p>
        </p:txBody>
      </p:sp>
      <p:sp>
        <p:nvSpPr>
          <p:cNvPr id="3" name="Content Placeholder 2">
            <a:extLst>
              <a:ext uri="{FF2B5EF4-FFF2-40B4-BE49-F238E27FC236}">
                <a16:creationId xmlns:a16="http://schemas.microsoft.com/office/drawing/2014/main" id="{CAB465BE-9ACF-43F1-881B-A5B91B065837}"/>
              </a:ext>
            </a:extLst>
          </p:cNvPr>
          <p:cNvSpPr>
            <a:spLocks noGrp="1"/>
          </p:cNvSpPr>
          <p:nvPr>
            <p:ph idx="1"/>
          </p:nvPr>
        </p:nvSpPr>
        <p:spPr>
          <a:xfrm>
            <a:off x="1624176" y="1956816"/>
            <a:ext cx="5895648" cy="4024884"/>
          </a:xfrm>
        </p:spPr>
        <p:txBody>
          <a:bodyPr anchor="t">
            <a:normAutofit/>
          </a:bodyPr>
          <a:lstStyle/>
          <a:p>
            <a:r>
              <a:rPr lang="en-US" sz="1800"/>
              <a:t>Improvements in:</a:t>
            </a:r>
          </a:p>
          <a:p>
            <a:pPr lvl="1"/>
            <a:r>
              <a:rPr lang="en-US" sz="1800"/>
              <a:t>Symptoms of anxiety</a:t>
            </a:r>
          </a:p>
          <a:p>
            <a:pPr lvl="1"/>
            <a:r>
              <a:rPr lang="en-US" sz="1800"/>
              <a:t>Symptoms of depression</a:t>
            </a:r>
          </a:p>
          <a:p>
            <a:pPr lvl="1"/>
            <a:r>
              <a:rPr lang="en-US" sz="1800"/>
              <a:t>Stress</a:t>
            </a:r>
          </a:p>
          <a:p>
            <a:pPr lvl="1"/>
            <a:r>
              <a:rPr lang="en-US" sz="1800"/>
              <a:t>Likelihood of relapsing after successful treatment for depression</a:t>
            </a:r>
          </a:p>
          <a:p>
            <a:pPr lvl="1"/>
            <a:r>
              <a:rPr lang="en-US" sz="1800"/>
              <a:t>Quality of life</a:t>
            </a:r>
          </a:p>
          <a:p>
            <a:pPr lvl="1"/>
            <a:r>
              <a:rPr lang="en-US" sz="1800"/>
              <a:t>Sustained attention</a:t>
            </a:r>
          </a:p>
          <a:p>
            <a:pPr lvl="1"/>
            <a:r>
              <a:rPr lang="en-US" sz="1800"/>
              <a:t>Working memory</a:t>
            </a:r>
          </a:p>
          <a:p>
            <a:pPr lvl="1"/>
            <a:r>
              <a:rPr lang="en-US" sz="1800"/>
              <a:t>Problem-solving</a:t>
            </a:r>
          </a:p>
          <a:p>
            <a:pPr lvl="1"/>
            <a:r>
              <a:rPr lang="en-US" sz="1800"/>
              <a:t>Positive affect</a:t>
            </a:r>
          </a:p>
          <a:p>
            <a:pPr lvl="1"/>
            <a:r>
              <a:rPr lang="en-US" sz="1800"/>
              <a:t>Negative Affect</a:t>
            </a:r>
          </a:p>
          <a:p>
            <a:pPr lvl="1"/>
            <a:r>
              <a:rPr lang="en-US" sz="1800"/>
              <a:t>Rumination</a:t>
            </a:r>
          </a:p>
        </p:txBody>
      </p:sp>
      <p:sp>
        <p:nvSpPr>
          <p:cNvPr id="4" name="Footer Placeholder 3">
            <a:extLst>
              <a:ext uri="{FF2B5EF4-FFF2-40B4-BE49-F238E27FC236}">
                <a16:creationId xmlns:a16="http://schemas.microsoft.com/office/drawing/2014/main" id="{9054BC91-1098-4139-82E6-1F7744926E54}"/>
              </a:ext>
            </a:extLst>
          </p:cNvPr>
          <p:cNvSpPr>
            <a:spLocks noGrp="1"/>
          </p:cNvSpPr>
          <p:nvPr>
            <p:ph type="ftr" sz="quarter" idx="11"/>
          </p:nvPr>
        </p:nvSpPr>
        <p:spPr>
          <a:xfrm>
            <a:off x="3063240" y="6199632"/>
            <a:ext cx="3017520" cy="365125"/>
          </a:xfrm>
        </p:spPr>
        <p:txBody>
          <a:bodyPr>
            <a:normAutofit/>
          </a:bodyPr>
          <a:lstStyle/>
          <a:p>
            <a:pPr>
              <a:lnSpc>
                <a:spcPct val="90000"/>
              </a:lnSpc>
              <a:spcAft>
                <a:spcPts val="600"/>
              </a:spcAft>
            </a:pPr>
            <a:r>
              <a:rPr lang="en-US" sz="900">
                <a:solidFill>
                  <a:schemeClr val="tx1">
                    <a:alpha val="80000"/>
                  </a:schemeClr>
                </a:solidFill>
              </a:rPr>
              <a:t>The Science and Application of Positive Psychology </a:t>
            </a:r>
            <a:br>
              <a:rPr lang="en-US" sz="900">
                <a:solidFill>
                  <a:schemeClr val="tx1">
                    <a:alpha val="80000"/>
                  </a:schemeClr>
                </a:solidFill>
              </a:rPr>
            </a:br>
            <a:r>
              <a:rPr lang="en-US" sz="900">
                <a:solidFill>
                  <a:schemeClr val="tx1">
                    <a:alpha val="80000"/>
                  </a:schemeClr>
                </a:solidFill>
              </a:rPr>
              <a:t>© Cambridge University Press 2021</a:t>
            </a:r>
          </a:p>
        </p:txBody>
      </p:sp>
    </p:spTree>
    <p:extLst>
      <p:ext uri="{BB962C8B-B14F-4D97-AF65-F5344CB8AC3E}">
        <p14:creationId xmlns:p14="http://schemas.microsoft.com/office/powerpoint/2010/main" val="2237110636"/>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819A166-7571-4003-A6B8-B62034C3ED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8199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2"/>
          <p:cNvSpPr>
            <a:spLocks noGrp="1"/>
          </p:cNvSpPr>
          <p:nvPr>
            <p:ph type="title"/>
          </p:nvPr>
        </p:nvSpPr>
        <p:spPr>
          <a:xfrm>
            <a:off x="393555" y="620392"/>
            <a:ext cx="2856201" cy="2902454"/>
          </a:xfrm>
        </p:spPr>
        <p:txBody>
          <a:bodyPr>
            <a:normAutofit/>
          </a:bodyPr>
          <a:lstStyle/>
          <a:p>
            <a:r>
              <a:rPr lang="en-US" sz="4000" dirty="0">
                <a:solidFill>
                  <a:schemeClr val="bg1"/>
                </a:solidFill>
              </a:rPr>
              <a:t>Benefit of Mindfulness: </a:t>
            </a:r>
            <a:br>
              <a:rPr lang="en-US" sz="4000" dirty="0">
                <a:solidFill>
                  <a:schemeClr val="bg1"/>
                </a:solidFill>
              </a:rPr>
            </a:br>
            <a:r>
              <a:rPr lang="en-US" sz="4000" dirty="0">
                <a:solidFill>
                  <a:schemeClr val="bg1"/>
                </a:solidFill>
              </a:rPr>
              <a:t>Mental Health</a:t>
            </a:r>
          </a:p>
        </p:txBody>
      </p:sp>
      <p:sp>
        <p:nvSpPr>
          <p:cNvPr id="2" name="Footer Placeholder 1"/>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https://www.helpguide.org/harvard/benefits-of-mindfulness.htm</a:t>
            </a:r>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20</a:t>
            </a:fld>
            <a:endParaRPr lang="en-US"/>
          </a:p>
        </p:txBody>
      </p:sp>
      <p:graphicFrame>
        <p:nvGraphicFramePr>
          <p:cNvPr id="7" name="Content Placeholder 3">
            <a:extLst>
              <a:ext uri="{FF2B5EF4-FFF2-40B4-BE49-F238E27FC236}">
                <a16:creationId xmlns:a16="http://schemas.microsoft.com/office/drawing/2014/main" id="{A9C6E545-77B9-1CEA-59C4-0D5A2BDA60A9}"/>
              </a:ext>
            </a:extLst>
          </p:cNvPr>
          <p:cNvGraphicFramePr>
            <a:graphicFrameLocks noGrp="1"/>
          </p:cNvGraphicFramePr>
          <p:nvPr>
            <p:ph idx="1"/>
            <p:extLst>
              <p:ext uri="{D42A27DB-BD31-4B8C-83A1-F6EECF244321}">
                <p14:modId xmlns:p14="http://schemas.microsoft.com/office/powerpoint/2010/main" val="2236858529"/>
              </p:ext>
            </p:extLst>
          </p:nvPr>
        </p:nvGraphicFramePr>
        <p:xfrm>
          <a:off x="4101291" y="620392"/>
          <a:ext cx="4697730" cy="5504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Picture 7">
            <a:extLst>
              <a:ext uri="{FF2B5EF4-FFF2-40B4-BE49-F238E27FC236}">
                <a16:creationId xmlns:a16="http://schemas.microsoft.com/office/drawing/2014/main" id="{0EA96CAC-47DB-424B-A961-6D1677EDAF76}"/>
              </a:ext>
            </a:extLst>
          </p:cNvPr>
          <p:cNvPicPr>
            <a:picLocks noChangeAspect="1"/>
          </p:cNvPicPr>
          <p:nvPr/>
        </p:nvPicPr>
        <p:blipFill>
          <a:blip r:embed="rId7"/>
          <a:stretch>
            <a:fillRect/>
          </a:stretch>
        </p:blipFill>
        <p:spPr>
          <a:xfrm>
            <a:off x="455931" y="3429000"/>
            <a:ext cx="2908044" cy="2908044"/>
          </a:xfrm>
          <a:prstGeom prst="rect">
            <a:avLst/>
          </a:prstGeom>
        </p:spPr>
      </p:pic>
    </p:spTree>
    <p:extLst>
      <p:ext uri="{BB962C8B-B14F-4D97-AF65-F5344CB8AC3E}">
        <p14:creationId xmlns:p14="http://schemas.microsoft.com/office/powerpoint/2010/main" val="2441553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83807-0DCB-40C1-B2B5-0D3BC07370F9}"/>
              </a:ext>
            </a:extLst>
          </p:cNvPr>
          <p:cNvSpPr>
            <a:spLocks noGrp="1"/>
          </p:cNvSpPr>
          <p:nvPr>
            <p:ph type="title"/>
          </p:nvPr>
        </p:nvSpPr>
        <p:spPr>
          <a:xfrm>
            <a:off x="3724072" y="629268"/>
            <a:ext cx="4939868" cy="1286160"/>
          </a:xfrm>
        </p:spPr>
        <p:txBody>
          <a:bodyPr anchor="b">
            <a:normAutofit/>
          </a:bodyPr>
          <a:lstStyle/>
          <a:p>
            <a:r>
              <a:rPr lang="en-US" sz="4100"/>
              <a:t>Your Brain on Mindfulness</a:t>
            </a:r>
          </a:p>
        </p:txBody>
      </p:sp>
      <p:sp>
        <p:nvSpPr>
          <p:cNvPr id="3" name="Content Placeholder 2">
            <a:extLst>
              <a:ext uri="{FF2B5EF4-FFF2-40B4-BE49-F238E27FC236}">
                <a16:creationId xmlns:a16="http://schemas.microsoft.com/office/drawing/2014/main" id="{8D372FF0-69EA-496D-B660-72F89CC84573}"/>
              </a:ext>
            </a:extLst>
          </p:cNvPr>
          <p:cNvSpPr>
            <a:spLocks noGrp="1"/>
          </p:cNvSpPr>
          <p:nvPr>
            <p:ph idx="1"/>
          </p:nvPr>
        </p:nvSpPr>
        <p:spPr>
          <a:xfrm>
            <a:off x="3724073" y="2438400"/>
            <a:ext cx="4939867" cy="3785419"/>
          </a:xfrm>
        </p:spPr>
        <p:txBody>
          <a:bodyPr>
            <a:normAutofit/>
          </a:bodyPr>
          <a:lstStyle/>
          <a:p>
            <a:r>
              <a:rPr lang="en-US" sz="1600"/>
              <a:t>Mindfulness practices and interventions are associated with neural activation patterns thought to indicate:</a:t>
            </a:r>
          </a:p>
          <a:p>
            <a:pPr marL="914400" lvl="1" indent="-457200">
              <a:buFont typeface="+mj-lt"/>
              <a:buAutoNum type="arabicPeriod"/>
            </a:pPr>
            <a:r>
              <a:rPr lang="en-US" sz="1600"/>
              <a:t>Interoceptive Awareness</a:t>
            </a:r>
          </a:p>
          <a:p>
            <a:pPr lvl="2"/>
            <a:r>
              <a:rPr lang="en-US" sz="1600"/>
              <a:t>Insula - increased activation; may be particularly related to repeated and intentional focus on the present moment</a:t>
            </a:r>
          </a:p>
          <a:p>
            <a:pPr marL="914400" lvl="1" indent="-457200">
              <a:buFont typeface="+mj-lt"/>
              <a:buAutoNum type="arabicPeriod"/>
            </a:pPr>
            <a:r>
              <a:rPr lang="en-US" sz="1600"/>
              <a:t>Emotion Regulation</a:t>
            </a:r>
          </a:p>
          <a:p>
            <a:pPr lvl="2"/>
            <a:r>
              <a:rPr lang="en-US" sz="1600"/>
              <a:t>Prefrontal Cortex – increased activation</a:t>
            </a:r>
          </a:p>
          <a:p>
            <a:pPr lvl="2"/>
            <a:r>
              <a:rPr lang="en-US" sz="1600"/>
              <a:t>Dorsal Anterior Cingulate Cortex – increased activation</a:t>
            </a:r>
          </a:p>
          <a:p>
            <a:pPr lvl="2"/>
            <a:r>
              <a:rPr lang="en-US" sz="1600"/>
              <a:t>Amygdala – decreased activation</a:t>
            </a:r>
          </a:p>
          <a:p>
            <a:pPr lvl="2"/>
            <a:r>
              <a:rPr lang="en-US" sz="1600"/>
              <a:t>Some evidence of greater connectivity between prefrontal cortex and amygdala for meditators</a:t>
            </a:r>
          </a:p>
        </p:txBody>
      </p:sp>
      <p:pic>
        <p:nvPicPr>
          <p:cNvPr id="6" name="Picture 5" descr="Scan of a human brain in a neurology clinic">
            <a:extLst>
              <a:ext uri="{FF2B5EF4-FFF2-40B4-BE49-F238E27FC236}">
                <a16:creationId xmlns:a16="http://schemas.microsoft.com/office/drawing/2014/main" id="{785D9D9C-3400-C97E-678E-11A2F963E5B4}"/>
              </a:ext>
            </a:extLst>
          </p:cNvPr>
          <p:cNvPicPr>
            <a:picLocks noChangeAspect="1"/>
          </p:cNvPicPr>
          <p:nvPr/>
        </p:nvPicPr>
        <p:blipFill rotWithShape="1">
          <a:blip r:embed="rId2"/>
          <a:srcRect l="55733" r="6246"/>
          <a:stretch/>
        </p:blipFill>
        <p:spPr>
          <a:xfrm>
            <a:off x="20" y="10"/>
            <a:ext cx="3476673" cy="6857990"/>
          </a:xfrm>
          <a:prstGeom prst="rect">
            <a:avLst/>
          </a:prstGeom>
          <a:effectLst/>
        </p:spPr>
      </p:pic>
      <p:cxnSp>
        <p:nvCxnSpPr>
          <p:cNvPr id="10" name="Straight Connector 9">
            <a:extLst>
              <a:ext uri="{FF2B5EF4-FFF2-40B4-BE49-F238E27FC236}">
                <a16:creationId xmlns:a16="http://schemas.microsoft.com/office/drawing/2014/main" id="{A7F400EE-A8A5-48AF-B4D6-291B52C6F0B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10700" y="2115117"/>
            <a:ext cx="4732020" cy="0"/>
          </a:xfrm>
          <a:prstGeom prst="line">
            <a:avLst/>
          </a:prstGeom>
          <a:ln w="19050">
            <a:solidFill>
              <a:srgbClr val="8DECFF"/>
            </a:solidFill>
          </a:ln>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E1CBF8B6-CA2F-486B-8533-B4C0CB9C87FD}"/>
              </a:ext>
            </a:extLst>
          </p:cNvPr>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32228495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4484B-E7CA-350A-B275-46C8208D3153}"/>
              </a:ext>
            </a:extLst>
          </p:cNvPr>
          <p:cNvSpPr>
            <a:spLocks noGrp="1"/>
          </p:cNvSpPr>
          <p:nvPr>
            <p:ph type="title"/>
          </p:nvPr>
        </p:nvSpPr>
        <p:spPr>
          <a:xfrm>
            <a:off x="628650" y="365128"/>
            <a:ext cx="7886700" cy="1325563"/>
          </a:xfrm>
        </p:spPr>
        <p:txBody>
          <a:bodyPr anchor="ctr">
            <a:normAutofit/>
          </a:bodyPr>
          <a:lstStyle/>
          <a:p>
            <a:r>
              <a:rPr lang="en-US" dirty="0"/>
              <a:t>How does mindfulness work?</a:t>
            </a:r>
          </a:p>
        </p:txBody>
      </p:sp>
      <p:pic>
        <p:nvPicPr>
          <p:cNvPr id="5" name="Content Placeholder 4">
            <a:extLst>
              <a:ext uri="{FF2B5EF4-FFF2-40B4-BE49-F238E27FC236}">
                <a16:creationId xmlns:a16="http://schemas.microsoft.com/office/drawing/2014/main" id="{C497DA47-392D-13B5-62AD-559CC8C0446A}"/>
              </a:ext>
            </a:extLst>
          </p:cNvPr>
          <p:cNvPicPr>
            <a:picLocks noGrp="1" noChangeAspect="1"/>
          </p:cNvPicPr>
          <p:nvPr>
            <p:ph idx="1"/>
          </p:nvPr>
        </p:nvPicPr>
        <p:blipFill>
          <a:blip r:embed="rId2"/>
          <a:stretch>
            <a:fillRect/>
          </a:stretch>
        </p:blipFill>
        <p:spPr>
          <a:xfrm>
            <a:off x="628650" y="1832452"/>
            <a:ext cx="7886700" cy="4337683"/>
          </a:xfrm>
          <a:prstGeom prst="rect">
            <a:avLst/>
          </a:prstGeom>
          <a:noFill/>
        </p:spPr>
      </p:pic>
      <p:sp>
        <p:nvSpPr>
          <p:cNvPr id="4" name="Footer Placeholder 3">
            <a:extLst>
              <a:ext uri="{FF2B5EF4-FFF2-40B4-BE49-F238E27FC236}">
                <a16:creationId xmlns:a16="http://schemas.microsoft.com/office/drawing/2014/main" id="{ECE570B9-1E0B-E32E-9635-878AD7F33E7A}"/>
              </a:ext>
            </a:extLst>
          </p:cNvPr>
          <p:cNvSpPr>
            <a:spLocks noGrp="1"/>
          </p:cNvSpPr>
          <p:nvPr>
            <p:ph type="ftr" sz="quarter" idx="11"/>
          </p:nvPr>
        </p:nvSpPr>
        <p:spPr>
          <a:xfrm>
            <a:off x="2002155" y="6447131"/>
            <a:ext cx="5139690" cy="276999"/>
          </a:xfrm>
        </p:spPr>
        <p:txBody>
          <a:bodyPr anchor="ctr">
            <a:normAutofit/>
          </a:bodyPr>
          <a:lstStyle/>
          <a:p>
            <a:pPr>
              <a:spcAft>
                <a:spcPts val="600"/>
              </a:spcAft>
            </a:pPr>
            <a:r>
              <a:rPr lang="en-US"/>
              <a:t>The Science of Positive Psychology © Cambridge University Press 2021</a:t>
            </a:r>
          </a:p>
        </p:txBody>
      </p:sp>
    </p:spTree>
    <p:extLst>
      <p:ext uri="{BB962C8B-B14F-4D97-AF65-F5344CB8AC3E}">
        <p14:creationId xmlns:p14="http://schemas.microsoft.com/office/powerpoint/2010/main" val="1441780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NJ9UtuWfs3U"/>
          <p:cNvPicPr>
            <a:picLocks noGrp="1" noRot="1" noChangeAspect="1"/>
          </p:cNvPicPr>
          <p:nvPr>
            <p:ph idx="1"/>
            <a:videoFile r:link="rId1"/>
          </p:nvPr>
        </p:nvPicPr>
        <p:blipFill>
          <a:blip r:embed="rId3"/>
          <a:stretch>
            <a:fillRect/>
          </a:stretch>
        </p:blipFill>
        <p:spPr>
          <a:xfrm>
            <a:off x="225874" y="665923"/>
            <a:ext cx="8692251" cy="4890051"/>
          </a:xfrm>
          <a:prstGeom prst="rect">
            <a:avLst/>
          </a:prstGeom>
        </p:spPr>
      </p:pic>
      <p:sp>
        <p:nvSpPr>
          <p:cNvPr id="4" name="Footer Placeholder 3"/>
          <p:cNvSpPr>
            <a:spLocks noGrp="1"/>
          </p:cNvSpPr>
          <p:nvPr>
            <p:ph type="ftr" sz="quarter" idx="11"/>
          </p:nvPr>
        </p:nvSpPr>
        <p:spPr/>
        <p:txBody>
          <a:bodyPr/>
          <a:lstStyle/>
          <a:p>
            <a:r>
              <a:rPr lang="en-US"/>
              <a:t>The Science of Positive Psychology © Cambridge University Press 2021</a:t>
            </a:r>
            <a:endParaRPr lang="en-US" dirty="0"/>
          </a:p>
        </p:txBody>
      </p:sp>
    </p:spTree>
    <p:extLst>
      <p:ext uri="{BB962C8B-B14F-4D97-AF65-F5344CB8AC3E}">
        <p14:creationId xmlns:p14="http://schemas.microsoft.com/office/powerpoint/2010/main" val="649482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78450C-B73D-4865-8CD4-7F2896445439}"/>
              </a:ext>
            </a:extLst>
          </p:cNvPr>
          <p:cNvSpPr>
            <a:spLocks noGrp="1"/>
          </p:cNvSpPr>
          <p:nvPr>
            <p:ph type="ftr" sz="quarter" idx="10"/>
          </p:nvPr>
        </p:nvSpPr>
        <p:spPr>
          <a:xfrm>
            <a:off x="2002155" y="6451713"/>
            <a:ext cx="5139690" cy="276999"/>
          </a:xfrm>
        </p:spPr>
        <p:txBody>
          <a:bodyPr>
            <a:noAutofit/>
          </a:bodyPr>
          <a:lstStyle/>
          <a:p>
            <a:r>
              <a:rPr lang="en-US" dirty="0"/>
              <a:t>The Science and Application of Positive Psychology </a:t>
            </a:r>
            <a:br>
              <a:rPr lang="en-US" dirty="0"/>
            </a:br>
            <a:r>
              <a:rPr lang="en-US" dirty="0"/>
              <a:t>© Cambridge University Press 2021</a:t>
            </a:r>
          </a:p>
        </p:txBody>
      </p:sp>
      <p:sp>
        <p:nvSpPr>
          <p:cNvPr id="19" name="Content Placeholder 2">
            <a:extLst>
              <a:ext uri="{FF2B5EF4-FFF2-40B4-BE49-F238E27FC236}">
                <a16:creationId xmlns:a16="http://schemas.microsoft.com/office/drawing/2014/main" id="{0C775E1E-B753-4FE9-BEB3-4E00DE66AB98}"/>
              </a:ext>
            </a:extLst>
          </p:cNvPr>
          <p:cNvSpPr txBox="1">
            <a:spLocks/>
          </p:cNvSpPr>
          <p:nvPr/>
        </p:nvSpPr>
        <p:spPr>
          <a:xfrm>
            <a:off x="457067" y="1967948"/>
            <a:ext cx="4501977" cy="3468755"/>
          </a:xfrm>
          <a:prstGeom prst="rect">
            <a:avLst/>
          </a:prstGeom>
        </p:spPr>
        <p:txBody>
          <a:bodyPr vert="horz" lIns="91440" tIns="45720" rIns="91440" bIns="45720" rtlCol="0" anchor="ctr">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44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285750" indent="-285750" algn="l">
              <a:buFont typeface="Arial" panose="020B0604020202020204" pitchFamily="34" charset="0"/>
              <a:buChar char="•"/>
            </a:pPr>
            <a:r>
              <a:rPr lang="en-US" sz="2400" dirty="0"/>
              <a:t>The process of up-regulating positive emotions by redirecting attention in the moment to positive emotional experiences</a:t>
            </a:r>
          </a:p>
          <a:p>
            <a:pPr marL="285750" indent="-285750" algn="l">
              <a:buFont typeface="Arial" panose="020B0604020202020204" pitchFamily="34" charset="0"/>
              <a:buChar char="•"/>
            </a:pPr>
            <a:r>
              <a:rPr lang="en-US" sz="2400" dirty="0"/>
              <a:t>Associated with positive affect in the present and future and relationship satisfaction</a:t>
            </a:r>
          </a:p>
          <a:p>
            <a:pPr marL="285750" indent="-285750" algn="l">
              <a:buFont typeface="Arial" panose="020B0604020202020204" pitchFamily="34" charset="0"/>
              <a:buChar char="•"/>
            </a:pPr>
            <a:r>
              <a:rPr lang="en-US" sz="2400" dirty="0"/>
              <a:t>Awareness of pleasure and focused attention on the sensation and delight in it</a:t>
            </a:r>
          </a:p>
          <a:p>
            <a:endParaRPr lang="en-US" sz="1600" dirty="0"/>
          </a:p>
        </p:txBody>
      </p:sp>
      <p:sp>
        <p:nvSpPr>
          <p:cNvPr id="2" name="TextBox 1"/>
          <p:cNvSpPr txBox="1"/>
          <p:nvPr/>
        </p:nvSpPr>
        <p:spPr>
          <a:xfrm>
            <a:off x="924339" y="874643"/>
            <a:ext cx="4671391" cy="769441"/>
          </a:xfrm>
          <a:prstGeom prst="rect">
            <a:avLst/>
          </a:prstGeom>
          <a:noFill/>
        </p:spPr>
        <p:txBody>
          <a:bodyPr wrap="square" rtlCol="0">
            <a:spAutoFit/>
          </a:bodyPr>
          <a:lstStyle/>
          <a:p>
            <a:r>
              <a:rPr lang="en-US" sz="4400" dirty="0">
                <a:latin typeface="+mj-lt"/>
              </a:rPr>
              <a:t>Savoring</a:t>
            </a:r>
          </a:p>
        </p:txBody>
      </p:sp>
      <p:pic>
        <p:nvPicPr>
          <p:cNvPr id="3" name="Picture 2"/>
          <p:cNvPicPr>
            <a:picLocks noChangeAspect="1"/>
          </p:cNvPicPr>
          <p:nvPr/>
        </p:nvPicPr>
        <p:blipFill>
          <a:blip r:embed="rId2"/>
          <a:stretch>
            <a:fillRect/>
          </a:stretch>
        </p:blipFill>
        <p:spPr>
          <a:xfrm>
            <a:off x="5114233" y="2183702"/>
            <a:ext cx="3737172" cy="2798307"/>
          </a:xfrm>
          <a:prstGeom prst="rect">
            <a:avLst/>
          </a:prstGeom>
        </p:spPr>
      </p:pic>
    </p:spTree>
    <p:extLst>
      <p:ext uri="{BB962C8B-B14F-4D97-AF65-F5344CB8AC3E}">
        <p14:creationId xmlns:p14="http://schemas.microsoft.com/office/powerpoint/2010/main" val="34020646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B270761-CC40-4F3F-A916-7E3BC3989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024620" y="4376508"/>
            <a:ext cx="7217553" cy="1257202"/>
          </a:xfrm>
        </p:spPr>
        <p:txBody>
          <a:bodyPr vert="horz" lIns="91440" tIns="45720" rIns="91440" bIns="45720" rtlCol="0" anchor="b">
            <a:normAutofit/>
          </a:bodyPr>
          <a:lstStyle/>
          <a:p>
            <a:r>
              <a:rPr lang="en-US" sz="5700" kern="1200">
                <a:solidFill>
                  <a:schemeClr val="tx1"/>
                </a:solidFill>
                <a:latin typeface="+mj-lt"/>
                <a:ea typeface="+mj-ea"/>
                <a:cs typeface="+mj-cs"/>
              </a:rPr>
              <a:t>Savoring</a:t>
            </a:r>
          </a:p>
        </p:txBody>
      </p:sp>
      <p:sp>
        <p:nvSpPr>
          <p:cNvPr id="12" name="Rectangle 11">
            <a:extLst>
              <a:ext uri="{FF2B5EF4-FFF2-40B4-BE49-F238E27FC236}">
                <a16:creationId xmlns:a16="http://schemas.microsoft.com/office/drawing/2014/main" id="{A2555B16-BE1D-4C33-A27C-FF0671B6C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91540"/>
            <a:ext cx="541782" cy="5071110"/>
          </a:xfrm>
          <a:prstGeom prst="rect">
            <a:avLst/>
          </a:prstGeom>
          <a:solidFill>
            <a:srgbClr val="4C52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ooter Placeholder 3"/>
          <p:cNvSpPr>
            <a:spLocks noGrp="1"/>
          </p:cNvSpPr>
          <p:nvPr>
            <p:ph type="ftr" sz="quarter" idx="11"/>
          </p:nvPr>
        </p:nvSpPr>
        <p:spPr>
          <a:xfrm rot="16200000">
            <a:off x="-1179576" y="3666744"/>
            <a:ext cx="3168396" cy="201168"/>
          </a:xfrm>
        </p:spPr>
        <p:txBody>
          <a:bodyPr vert="horz" lIns="91440" tIns="45720" rIns="91440" bIns="45720" rtlCol="0" anchor="b">
            <a:normAutofit/>
          </a:bodyPr>
          <a:lstStyle/>
          <a:p>
            <a:pPr algn="l" defTabSz="914400">
              <a:lnSpc>
                <a:spcPct val="90000"/>
              </a:lnSpc>
              <a:spcAft>
                <a:spcPts val="600"/>
              </a:spcAft>
            </a:pPr>
            <a:r>
              <a:rPr lang="en-US" sz="800" kern="1200">
                <a:solidFill>
                  <a:srgbClr val="FFFFFF"/>
                </a:solidFill>
                <a:latin typeface="+mn-lt"/>
                <a:ea typeface="+mn-ea"/>
                <a:cs typeface="+mn-cs"/>
              </a:rPr>
              <a:t>The Science of Positive Psychology © Cambridge University Press 2021</a:t>
            </a:r>
          </a:p>
        </p:txBody>
      </p:sp>
      <p:pic>
        <p:nvPicPr>
          <p:cNvPr id="5" name="Content Placeholder 4"/>
          <p:cNvPicPr>
            <a:picLocks noGrp="1" noChangeAspect="1"/>
          </p:cNvPicPr>
          <p:nvPr>
            <p:ph idx="1"/>
          </p:nvPr>
        </p:nvPicPr>
        <p:blipFill>
          <a:blip r:embed="rId2"/>
          <a:stretch>
            <a:fillRect/>
          </a:stretch>
        </p:blipFill>
        <p:spPr>
          <a:xfrm>
            <a:off x="1024391" y="1177662"/>
            <a:ext cx="7450954" cy="2645088"/>
          </a:xfrm>
          <a:prstGeom prst="rect">
            <a:avLst/>
          </a:prstGeom>
          <a:effectLst>
            <a:outerShdw blurRad="406400" dist="317500" dir="5400000" sx="89000" sy="89000" rotWithShape="0">
              <a:prstClr val="black">
                <a:alpha val="15000"/>
              </a:prstClr>
            </a:outerShdw>
          </a:effectLst>
        </p:spPr>
      </p:pic>
    </p:spTree>
    <p:extLst>
      <p:ext uri="{BB962C8B-B14F-4D97-AF65-F5344CB8AC3E}">
        <p14:creationId xmlns:p14="http://schemas.microsoft.com/office/powerpoint/2010/main" val="36236056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724072" y="629266"/>
            <a:ext cx="4939868" cy="1676603"/>
          </a:xfrm>
        </p:spPr>
        <p:txBody>
          <a:bodyPr>
            <a:normAutofit/>
          </a:bodyPr>
          <a:lstStyle/>
          <a:p>
            <a:r>
              <a:rPr lang="en-US" sz="4700"/>
              <a:t>Savoring</a:t>
            </a:r>
            <a:endParaRPr lang="en-IN" sz="4700"/>
          </a:p>
        </p:txBody>
      </p:sp>
      <p:sp>
        <p:nvSpPr>
          <p:cNvPr id="4" name="Content Placeholder 3"/>
          <p:cNvSpPr>
            <a:spLocks noGrp="1"/>
          </p:cNvSpPr>
          <p:nvPr>
            <p:ph idx="1"/>
          </p:nvPr>
        </p:nvSpPr>
        <p:spPr>
          <a:xfrm>
            <a:off x="3724073" y="2002056"/>
            <a:ext cx="4939867" cy="4221764"/>
          </a:xfrm>
        </p:spPr>
        <p:txBody>
          <a:bodyPr>
            <a:normAutofit lnSpcReduction="10000"/>
          </a:bodyPr>
          <a:lstStyle/>
          <a:p>
            <a:pPr marL="0" lvl="0" indent="0" hangingPunct="0">
              <a:buNone/>
            </a:pPr>
            <a:r>
              <a:rPr lang="en-US" sz="2200" dirty="0"/>
              <a:t>Four basic types of savoring:</a:t>
            </a:r>
          </a:p>
          <a:p>
            <a:pPr lvl="1"/>
            <a:r>
              <a:rPr lang="en-US" sz="2200" dirty="0"/>
              <a:t>Basking</a:t>
            </a:r>
            <a:r>
              <a:rPr lang="en-US" sz="2200" cap="all" dirty="0"/>
              <a:t> </a:t>
            </a:r>
            <a:endParaRPr lang="en-US" sz="2200" dirty="0"/>
          </a:p>
          <a:p>
            <a:pPr lvl="2"/>
            <a:r>
              <a:rPr lang="en-US" sz="2200" dirty="0"/>
              <a:t>Receiving praise and congratulations</a:t>
            </a:r>
          </a:p>
          <a:p>
            <a:pPr lvl="1"/>
            <a:r>
              <a:rPr lang="en-US" sz="2200" dirty="0"/>
              <a:t>Marveling</a:t>
            </a:r>
          </a:p>
          <a:p>
            <a:pPr lvl="2"/>
            <a:r>
              <a:rPr lang="en-US" sz="2200" dirty="0"/>
              <a:t>Getting lost in the wonder of a moment</a:t>
            </a:r>
          </a:p>
          <a:p>
            <a:pPr lvl="1"/>
            <a:r>
              <a:rPr lang="en-US" sz="2200" dirty="0"/>
              <a:t>Luxuriating</a:t>
            </a:r>
          </a:p>
          <a:p>
            <a:pPr lvl="2"/>
            <a:r>
              <a:rPr lang="en-US" sz="2200" dirty="0"/>
              <a:t>Indulging in a sensation</a:t>
            </a:r>
          </a:p>
          <a:p>
            <a:pPr lvl="1"/>
            <a:r>
              <a:rPr lang="en-US" sz="2200" dirty="0"/>
              <a:t>Thanksgiving</a:t>
            </a:r>
          </a:p>
          <a:p>
            <a:pPr lvl="2"/>
            <a:r>
              <a:rPr lang="en-US" sz="2200" dirty="0"/>
              <a:t>Expressing gratitude</a:t>
            </a:r>
          </a:p>
          <a:p>
            <a:pPr lvl="2"/>
            <a:endParaRPr lang="en-US" sz="1800" dirty="0"/>
          </a:p>
          <a:p>
            <a:pPr marL="457200" lvl="1" indent="0">
              <a:buNone/>
            </a:pPr>
            <a:r>
              <a:rPr lang="en-IN" sz="1800" dirty="0"/>
              <a:t>  </a:t>
            </a:r>
          </a:p>
        </p:txBody>
      </p:sp>
      <p:pic>
        <p:nvPicPr>
          <p:cNvPr id="8" name="Picture 7" descr="Vegetables in basket">
            <a:extLst>
              <a:ext uri="{FF2B5EF4-FFF2-40B4-BE49-F238E27FC236}">
                <a16:creationId xmlns:a16="http://schemas.microsoft.com/office/drawing/2014/main" id="{28BF5BF3-5A9D-B7EE-D3CF-14ED89751EF2}"/>
              </a:ext>
            </a:extLst>
          </p:cNvPr>
          <p:cNvPicPr>
            <a:picLocks noChangeAspect="1"/>
          </p:cNvPicPr>
          <p:nvPr/>
        </p:nvPicPr>
        <p:blipFill rotWithShape="1">
          <a:blip r:embed="rId3"/>
          <a:srcRect l="34382" r="31779" b="-1"/>
          <a:stretch/>
        </p:blipFill>
        <p:spPr>
          <a:xfrm>
            <a:off x="20" y="10"/>
            <a:ext cx="3476673" cy="6857990"/>
          </a:xfrm>
          <a:prstGeom prst="rect">
            <a:avLst/>
          </a:prstGeom>
          <a:effectLst/>
        </p:spPr>
      </p:pic>
      <p:sp>
        <p:nvSpPr>
          <p:cNvPr id="6" name="Footer Placeholder 5"/>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26</a:t>
            </a:fld>
            <a:endParaRPr lang="en-US"/>
          </a:p>
        </p:txBody>
      </p:sp>
    </p:spTree>
    <p:extLst>
      <p:ext uri="{BB962C8B-B14F-4D97-AF65-F5344CB8AC3E}">
        <p14:creationId xmlns:p14="http://schemas.microsoft.com/office/powerpoint/2010/main" val="23910924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3724072" y="629266"/>
            <a:ext cx="4939868" cy="1676603"/>
          </a:xfrm>
        </p:spPr>
        <p:txBody>
          <a:bodyPr>
            <a:normAutofit/>
          </a:bodyPr>
          <a:lstStyle/>
          <a:p>
            <a:r>
              <a:rPr lang="en-US" sz="4700"/>
              <a:t>Savoring</a:t>
            </a:r>
            <a:endParaRPr lang="en-IN" sz="4700"/>
          </a:p>
        </p:txBody>
      </p:sp>
      <p:sp>
        <p:nvSpPr>
          <p:cNvPr id="4" name="Content Placeholder 3"/>
          <p:cNvSpPr>
            <a:spLocks noGrp="1"/>
          </p:cNvSpPr>
          <p:nvPr>
            <p:ph idx="1"/>
          </p:nvPr>
        </p:nvSpPr>
        <p:spPr>
          <a:xfrm>
            <a:off x="3724073" y="2438400"/>
            <a:ext cx="4939867" cy="3785419"/>
          </a:xfrm>
        </p:spPr>
        <p:txBody>
          <a:bodyPr>
            <a:normAutofit/>
          </a:bodyPr>
          <a:lstStyle/>
          <a:p>
            <a:pPr marL="0" lvl="0" indent="0" hangingPunct="0">
              <a:buNone/>
            </a:pPr>
            <a:r>
              <a:rPr lang="en-US" sz="2400" dirty="0"/>
              <a:t>Five Ways to Enhance/Promote Savoring</a:t>
            </a:r>
          </a:p>
          <a:p>
            <a:pPr lvl="1" hangingPunct="0"/>
            <a:r>
              <a:rPr lang="en-US" dirty="0"/>
              <a:t>Absorption</a:t>
            </a:r>
          </a:p>
          <a:p>
            <a:pPr lvl="1" hangingPunct="0"/>
            <a:r>
              <a:rPr lang="en-US" dirty="0"/>
              <a:t>Sharpening the senses</a:t>
            </a:r>
          </a:p>
          <a:p>
            <a:pPr lvl="1" hangingPunct="0"/>
            <a:r>
              <a:rPr lang="en-US" dirty="0"/>
              <a:t>Memory building</a:t>
            </a:r>
          </a:p>
          <a:p>
            <a:pPr lvl="2" hangingPunct="0"/>
            <a:r>
              <a:rPr lang="en-US" sz="2400" dirty="0"/>
              <a:t>Take pictures, buy souvenirs</a:t>
            </a:r>
          </a:p>
          <a:p>
            <a:pPr lvl="1" hangingPunct="0"/>
            <a:r>
              <a:rPr lang="en-US" dirty="0"/>
              <a:t>Sharing with others</a:t>
            </a:r>
          </a:p>
          <a:p>
            <a:pPr lvl="1" hangingPunct="0"/>
            <a:r>
              <a:rPr lang="en-US" dirty="0"/>
              <a:t>Self-congratulation</a:t>
            </a:r>
            <a:endParaRPr lang="en-IN" dirty="0"/>
          </a:p>
        </p:txBody>
      </p:sp>
      <p:pic>
        <p:nvPicPr>
          <p:cNvPr id="8" name="Picture 7" descr="House of paper with a heart against sunlight">
            <a:extLst>
              <a:ext uri="{FF2B5EF4-FFF2-40B4-BE49-F238E27FC236}">
                <a16:creationId xmlns:a16="http://schemas.microsoft.com/office/drawing/2014/main" id="{E3F49867-F75C-A5D0-0BB8-C8E8C0AD4314}"/>
              </a:ext>
            </a:extLst>
          </p:cNvPr>
          <p:cNvPicPr>
            <a:picLocks noChangeAspect="1"/>
          </p:cNvPicPr>
          <p:nvPr/>
        </p:nvPicPr>
        <p:blipFill rotWithShape="1">
          <a:blip r:embed="rId3"/>
          <a:srcRect l="36292" r="29869" b="-1"/>
          <a:stretch/>
        </p:blipFill>
        <p:spPr>
          <a:xfrm>
            <a:off x="20" y="10"/>
            <a:ext cx="3476673" cy="6857990"/>
          </a:xfrm>
          <a:prstGeom prst="rect">
            <a:avLst/>
          </a:prstGeom>
          <a:effectLst/>
        </p:spPr>
      </p:pic>
      <p:sp>
        <p:nvSpPr>
          <p:cNvPr id="6" name="Footer Placeholder 5"/>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27</a:t>
            </a:fld>
            <a:endParaRPr lang="en-US"/>
          </a:p>
        </p:txBody>
      </p:sp>
    </p:spTree>
    <p:extLst>
      <p:ext uri="{BB962C8B-B14F-4D97-AF65-F5344CB8AC3E}">
        <p14:creationId xmlns:p14="http://schemas.microsoft.com/office/powerpoint/2010/main" val="41015173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A1F35B-C8F7-4A5A-9339-7DA4D785B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c 11">
            <a:extLst>
              <a:ext uri="{FF2B5EF4-FFF2-40B4-BE49-F238E27FC236}">
                <a16:creationId xmlns:a16="http://schemas.microsoft.com/office/drawing/2014/main" id="{B2D4AD41-40DA-4A81-92F5-B6E3BA1ED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746107">
            <a:off x="6131316" y="457951"/>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628650" y="365125"/>
            <a:ext cx="7886700" cy="1325563"/>
          </a:xfrm>
        </p:spPr>
        <p:txBody>
          <a:bodyPr>
            <a:normAutofit/>
          </a:bodyPr>
          <a:lstStyle/>
          <a:p>
            <a:pPr algn="ctr"/>
            <a:r>
              <a:rPr lang="en-US" dirty="0"/>
              <a:t>Well-Being Journal Entry #12: Savoring Accomplishments</a:t>
            </a:r>
          </a:p>
        </p:txBody>
      </p:sp>
      <p:sp>
        <p:nvSpPr>
          <p:cNvPr id="4" name="Footer Placeholder 3"/>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of Positive Psychology © Cambridge University Press 2021</a:t>
            </a:r>
          </a:p>
        </p:txBody>
      </p:sp>
      <p:graphicFrame>
        <p:nvGraphicFramePr>
          <p:cNvPr id="6" name="Content Placeholder 2">
            <a:extLst>
              <a:ext uri="{FF2B5EF4-FFF2-40B4-BE49-F238E27FC236}">
                <a16:creationId xmlns:a16="http://schemas.microsoft.com/office/drawing/2014/main" id="{51F7AB6A-D946-67F0-B37F-3F5BCC0B6E1D}"/>
              </a:ext>
            </a:extLst>
          </p:cNvPr>
          <p:cNvGraphicFramePr>
            <a:graphicFrameLocks noGrp="1"/>
          </p:cNvGraphicFramePr>
          <p:nvPr>
            <p:ph idx="1"/>
            <p:extLst>
              <p:ext uri="{D42A27DB-BD31-4B8C-83A1-F6EECF244321}">
                <p14:modId xmlns:p14="http://schemas.microsoft.com/office/powerpoint/2010/main" val="1430457972"/>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6993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8881B-919B-4CE7-99F3-EB0966303074}"/>
              </a:ext>
            </a:extLst>
          </p:cNvPr>
          <p:cNvSpPr>
            <a:spLocks noGrp="1"/>
          </p:cNvSpPr>
          <p:nvPr>
            <p:ph type="title"/>
          </p:nvPr>
        </p:nvSpPr>
        <p:spPr>
          <a:xfrm>
            <a:off x="1178858" y="1573587"/>
            <a:ext cx="6841938" cy="725504"/>
          </a:xfrm>
        </p:spPr>
        <p:txBody>
          <a:bodyPr>
            <a:normAutofit/>
          </a:bodyPr>
          <a:lstStyle/>
          <a:p>
            <a:r>
              <a:rPr lang="en-US" sz="3600" dirty="0"/>
              <a:t>Conditions that Enhance Savoring</a:t>
            </a:r>
          </a:p>
        </p:txBody>
      </p:sp>
      <p:sp>
        <p:nvSpPr>
          <p:cNvPr id="3" name="Content Placeholder 2">
            <a:extLst>
              <a:ext uri="{FF2B5EF4-FFF2-40B4-BE49-F238E27FC236}">
                <a16:creationId xmlns:a16="http://schemas.microsoft.com/office/drawing/2014/main" id="{22AA7245-4EC8-41E4-97BA-B191A2AD7FD3}"/>
              </a:ext>
            </a:extLst>
          </p:cNvPr>
          <p:cNvSpPr>
            <a:spLocks noGrp="1"/>
          </p:cNvSpPr>
          <p:nvPr>
            <p:ph idx="1"/>
          </p:nvPr>
        </p:nvSpPr>
        <p:spPr>
          <a:xfrm>
            <a:off x="1178857" y="2598822"/>
            <a:ext cx="6675357" cy="3195586"/>
          </a:xfrm>
        </p:spPr>
        <p:txBody>
          <a:bodyPr>
            <a:normAutofit/>
          </a:bodyPr>
          <a:lstStyle/>
          <a:p>
            <a:r>
              <a:rPr lang="en-US" sz="2000" dirty="0"/>
              <a:t>More likely to savor something considered to be special or out-of-the ordinary (</a:t>
            </a:r>
            <a:r>
              <a:rPr lang="en-US" sz="2000" dirty="0" err="1"/>
              <a:t>Quoidbach</a:t>
            </a:r>
            <a:r>
              <a:rPr lang="en-US" sz="2000" dirty="0"/>
              <a:t> et al., 2015)</a:t>
            </a:r>
          </a:p>
          <a:p>
            <a:r>
              <a:rPr lang="en-US" sz="2000" dirty="0"/>
              <a:t>More likely to savor positive emotional experiences when a task is already completed (</a:t>
            </a:r>
            <a:r>
              <a:rPr lang="en-US" sz="2000" dirty="0" err="1"/>
              <a:t>Schall</a:t>
            </a:r>
            <a:r>
              <a:rPr lang="en-US" sz="2000" dirty="0"/>
              <a:t> et al., 2017)</a:t>
            </a:r>
          </a:p>
          <a:p>
            <a:r>
              <a:rPr lang="en-US" sz="2000" dirty="0"/>
              <a:t>More likely to savor experiences if you believe you have faced and overcome challenges in life (Croft et al., 2014)</a:t>
            </a:r>
          </a:p>
          <a:p>
            <a:pPr lvl="1"/>
            <a:r>
              <a:rPr lang="en-US" sz="2000" dirty="0"/>
              <a:t>Past adversity positively correlated with savoring, current adversity inversely correlated with savoring</a:t>
            </a:r>
          </a:p>
          <a:p>
            <a:pPr marL="0" indent="0">
              <a:buNone/>
            </a:pPr>
            <a:endParaRPr lang="en-US" sz="1300" dirty="0"/>
          </a:p>
        </p:txBody>
      </p:sp>
      <p:sp>
        <p:nvSpPr>
          <p:cNvPr id="11" name="Freeform 6">
            <a:extLst>
              <a:ext uri="{FF2B5EF4-FFF2-40B4-BE49-F238E27FC236}">
                <a16:creationId xmlns:a16="http://schemas.microsoft.com/office/drawing/2014/main" id="{A9616D99-AEFB-4C95-84EF-5DEC698D9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4643" y="744469"/>
            <a:ext cx="2456751"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txBody>
          <a:bodyPr/>
          <a:lstStyle/>
          <a:p>
            <a:endParaRPr lang="en-US"/>
          </a:p>
        </p:txBody>
      </p:sp>
      <p:sp>
        <p:nvSpPr>
          <p:cNvPr id="13" name="Freeform 6">
            <a:extLst>
              <a:ext uri="{FF2B5EF4-FFF2-40B4-BE49-F238E27FC236}">
                <a16:creationId xmlns:a16="http://schemas.microsoft.com/office/drawing/2014/main" id="{D0F97023-F626-4FC5-8C2D-753B5C7F4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113971" y="1685652"/>
            <a:ext cx="2456260"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endParaRPr lang="en-US"/>
          </a:p>
        </p:txBody>
      </p:sp>
    </p:spTree>
    <p:extLst>
      <p:ext uri="{BB962C8B-B14F-4D97-AF65-F5344CB8AC3E}">
        <p14:creationId xmlns:p14="http://schemas.microsoft.com/office/powerpoint/2010/main" val="15721129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2EA0A-C5D4-44C8-AF49-6F4BECA512B4}"/>
              </a:ext>
            </a:extLst>
          </p:cNvPr>
          <p:cNvSpPr>
            <a:spLocks noGrp="1"/>
          </p:cNvSpPr>
          <p:nvPr>
            <p:ph type="title"/>
          </p:nvPr>
        </p:nvSpPr>
        <p:spPr>
          <a:xfrm>
            <a:off x="1178858" y="1573586"/>
            <a:ext cx="6841938" cy="1325563"/>
          </a:xfrm>
        </p:spPr>
        <p:txBody>
          <a:bodyPr>
            <a:normAutofit/>
          </a:bodyPr>
          <a:lstStyle/>
          <a:p>
            <a:r>
              <a:rPr lang="en-US"/>
              <a:t>Savoring and Task Completion</a:t>
            </a:r>
            <a:endParaRPr lang="en-US" dirty="0"/>
          </a:p>
        </p:txBody>
      </p:sp>
      <p:sp>
        <p:nvSpPr>
          <p:cNvPr id="6" name="Text Placeholder 5">
            <a:extLst>
              <a:ext uri="{FF2B5EF4-FFF2-40B4-BE49-F238E27FC236}">
                <a16:creationId xmlns:a16="http://schemas.microsoft.com/office/drawing/2014/main" id="{4636129F-AA86-45D6-A18F-819119ED9A0F}"/>
              </a:ext>
            </a:extLst>
          </p:cNvPr>
          <p:cNvSpPr>
            <a:spLocks noGrp="1"/>
          </p:cNvSpPr>
          <p:nvPr>
            <p:ph type="body" sz="half" idx="4294967295"/>
          </p:nvPr>
        </p:nvSpPr>
        <p:spPr>
          <a:xfrm>
            <a:off x="1178858" y="3060017"/>
            <a:ext cx="4549588" cy="2438546"/>
          </a:xfrm>
        </p:spPr>
        <p:txBody>
          <a:bodyPr>
            <a:normAutofit/>
          </a:bodyPr>
          <a:lstStyle/>
          <a:p>
            <a:pPr marL="0" indent="0">
              <a:buNone/>
            </a:pPr>
            <a:r>
              <a:rPr lang="en-US" sz="2100"/>
              <a:t>Students asked to imagine successfully: </a:t>
            </a:r>
          </a:p>
          <a:p>
            <a:pPr marL="0" indent="0">
              <a:buNone/>
            </a:pPr>
            <a:r>
              <a:rPr lang="en-US" sz="2100"/>
              <a:t>1. Completing one final exam with another scheduled for later in the day (Task in Progress)</a:t>
            </a:r>
          </a:p>
          <a:p>
            <a:pPr marL="0" indent="0">
              <a:buNone/>
            </a:pPr>
            <a:r>
              <a:rPr lang="en-US" sz="2100"/>
              <a:t>2. Completing all final exams for the semester</a:t>
            </a:r>
          </a:p>
        </p:txBody>
      </p:sp>
      <p:sp>
        <p:nvSpPr>
          <p:cNvPr id="11" name="Freeform 6">
            <a:extLst>
              <a:ext uri="{FF2B5EF4-FFF2-40B4-BE49-F238E27FC236}">
                <a16:creationId xmlns:a16="http://schemas.microsoft.com/office/drawing/2014/main" id="{A9616D99-AEFB-4C95-84EF-5DEC698D92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4643" y="744469"/>
            <a:ext cx="2456751"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rgbClr val="4C4C4C"/>
          </a:solidFill>
          <a:ln w="0">
            <a:noFill/>
            <a:prstDash val="solid"/>
            <a:round/>
            <a:headEnd/>
            <a:tailEnd/>
          </a:ln>
        </p:spPr>
        <p:txBody>
          <a:bodyPr/>
          <a:lstStyle/>
          <a:p>
            <a:endParaRPr lang="en-US"/>
          </a:p>
        </p:txBody>
      </p:sp>
      <p:sp>
        <p:nvSpPr>
          <p:cNvPr id="13" name="Freeform 6">
            <a:extLst>
              <a:ext uri="{FF2B5EF4-FFF2-40B4-BE49-F238E27FC236}">
                <a16:creationId xmlns:a16="http://schemas.microsoft.com/office/drawing/2014/main" id="{D0F97023-F626-4FC5-8C2D-753B5C7F4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113971" y="1685652"/>
            <a:ext cx="2456260"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rgbClr val="4C4C4C"/>
          </a:solidFill>
          <a:ln w="0">
            <a:noFill/>
            <a:prstDash val="solid"/>
            <a:round/>
            <a:headEnd/>
            <a:tailEnd/>
          </a:ln>
        </p:spPr>
        <p:txBody>
          <a:bodyPr/>
          <a:lstStyle/>
          <a:p>
            <a:endParaRPr lang="en-US"/>
          </a:p>
        </p:txBody>
      </p:sp>
      <p:pic>
        <p:nvPicPr>
          <p:cNvPr id="5" name="Content Placeholder 4">
            <a:extLst>
              <a:ext uri="{FF2B5EF4-FFF2-40B4-BE49-F238E27FC236}">
                <a16:creationId xmlns:a16="http://schemas.microsoft.com/office/drawing/2014/main" id="{DF881DD6-919E-4F94-AB6E-57DCDE3FFFB8}"/>
              </a:ext>
            </a:extLst>
          </p:cNvPr>
          <p:cNvPicPr>
            <a:picLocks noGrp="1" noChangeAspect="1"/>
          </p:cNvPicPr>
          <p:nvPr>
            <p:ph idx="1"/>
          </p:nvPr>
        </p:nvPicPr>
        <p:blipFill>
          <a:blip r:embed="rId2"/>
          <a:stretch>
            <a:fillRect/>
          </a:stretch>
        </p:blipFill>
        <p:spPr>
          <a:xfrm>
            <a:off x="6113971" y="3844007"/>
            <a:ext cx="1906825" cy="889646"/>
          </a:xfrm>
          <a:prstGeom prst="rect">
            <a:avLst/>
          </a:prstGeom>
        </p:spPr>
      </p:pic>
      <p:sp>
        <p:nvSpPr>
          <p:cNvPr id="4" name="Footer Placeholder 3">
            <a:extLst>
              <a:ext uri="{FF2B5EF4-FFF2-40B4-BE49-F238E27FC236}">
                <a16:creationId xmlns:a16="http://schemas.microsoft.com/office/drawing/2014/main" id="{483237F3-8A13-4E77-9F2C-E9B089DFBA9D}"/>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solidFill>
                  <a:prstClr val="black">
                    <a:tint val="75000"/>
                  </a:prstClr>
                </a:solidFill>
              </a:rPr>
              <a:t>The Science and Application of Positive Psychology </a:t>
            </a:r>
            <a:br>
              <a:rPr lang="en-US" sz="900">
                <a:solidFill>
                  <a:prstClr val="black">
                    <a:tint val="75000"/>
                  </a:prstClr>
                </a:solidFill>
              </a:rPr>
            </a:br>
            <a:r>
              <a:rPr lang="en-US" sz="900">
                <a:solidFill>
                  <a:prstClr val="black">
                    <a:tint val="75000"/>
                  </a:prstClr>
                </a:solidFill>
              </a:rPr>
              <a:t>© Cambridge University Press 2021</a:t>
            </a:r>
          </a:p>
        </p:txBody>
      </p:sp>
    </p:spTree>
    <p:extLst>
      <p:ext uri="{BB962C8B-B14F-4D97-AF65-F5344CB8AC3E}">
        <p14:creationId xmlns:p14="http://schemas.microsoft.com/office/powerpoint/2010/main" val="20940125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724072" y="629266"/>
            <a:ext cx="4939868" cy="1676603"/>
          </a:xfrm>
        </p:spPr>
        <p:txBody>
          <a:bodyPr>
            <a:normAutofit/>
          </a:bodyPr>
          <a:lstStyle/>
          <a:p>
            <a:r>
              <a:rPr lang="en-US" sz="4700" dirty="0"/>
              <a:t>Well-Being Journal #13: Savoring</a:t>
            </a:r>
            <a:endParaRPr lang="en-IN" sz="4700" dirty="0"/>
          </a:p>
        </p:txBody>
      </p:sp>
      <p:sp>
        <p:nvSpPr>
          <p:cNvPr id="4" name="Content Placeholder 3"/>
          <p:cNvSpPr>
            <a:spLocks noGrp="1"/>
          </p:cNvSpPr>
          <p:nvPr>
            <p:ph idx="1"/>
          </p:nvPr>
        </p:nvSpPr>
        <p:spPr>
          <a:xfrm>
            <a:off x="3724073" y="2438400"/>
            <a:ext cx="4939867" cy="3785419"/>
          </a:xfrm>
        </p:spPr>
        <p:txBody>
          <a:bodyPr>
            <a:normAutofit/>
          </a:bodyPr>
          <a:lstStyle/>
          <a:p>
            <a:pPr marL="0" lvl="0" indent="0" hangingPunct="0">
              <a:buNone/>
            </a:pPr>
            <a:r>
              <a:rPr lang="en-US" sz="2400" dirty="0"/>
              <a:t>Plan a Perfect Day</a:t>
            </a:r>
          </a:p>
          <a:p>
            <a:pPr lvl="1" hangingPunct="0"/>
            <a:r>
              <a:rPr lang="en-US" dirty="0"/>
              <a:t>Set aside a period of time for the next weekend</a:t>
            </a:r>
          </a:p>
          <a:p>
            <a:pPr lvl="1" hangingPunct="0"/>
            <a:r>
              <a:rPr lang="en-US" dirty="0"/>
              <a:t>Plan what you would like to do</a:t>
            </a:r>
          </a:p>
          <a:p>
            <a:pPr lvl="1" hangingPunct="0"/>
            <a:r>
              <a:rPr lang="en-US" dirty="0"/>
              <a:t>Allow yourself to follow through and do the things you planned</a:t>
            </a:r>
          </a:p>
          <a:p>
            <a:pPr lvl="1" hangingPunct="0"/>
            <a:r>
              <a:rPr lang="en-US" dirty="0"/>
              <a:t>Reflect how you feel after </a:t>
            </a:r>
            <a:r>
              <a:rPr lang="en-US"/>
              <a:t>follow through</a:t>
            </a:r>
            <a:endParaRPr lang="en-IN" dirty="0"/>
          </a:p>
        </p:txBody>
      </p:sp>
      <p:pic>
        <p:nvPicPr>
          <p:cNvPr id="8" name="Picture 7" descr="House of paper with a heart against sunlight">
            <a:extLst>
              <a:ext uri="{FF2B5EF4-FFF2-40B4-BE49-F238E27FC236}">
                <a16:creationId xmlns:a16="http://schemas.microsoft.com/office/drawing/2014/main" id="{E3F49867-F75C-A5D0-0BB8-C8E8C0AD4314}"/>
              </a:ext>
            </a:extLst>
          </p:cNvPr>
          <p:cNvPicPr>
            <a:picLocks noChangeAspect="1"/>
          </p:cNvPicPr>
          <p:nvPr/>
        </p:nvPicPr>
        <p:blipFill rotWithShape="1">
          <a:blip r:embed="rId3"/>
          <a:srcRect l="36292" r="29869" b="-1"/>
          <a:stretch/>
        </p:blipFill>
        <p:spPr>
          <a:xfrm>
            <a:off x="20" y="10"/>
            <a:ext cx="3476673" cy="6857990"/>
          </a:xfrm>
          <a:prstGeom prst="rect">
            <a:avLst/>
          </a:prstGeom>
          <a:effectLst/>
        </p:spPr>
      </p:pic>
      <p:sp>
        <p:nvSpPr>
          <p:cNvPr id="6" name="Footer Placeholder 5"/>
          <p:cNvSpPr>
            <a:spLocks noGrp="1"/>
          </p:cNvSpPr>
          <p:nvPr>
            <p:ph type="ftr" sz="quarter" idx="11"/>
          </p:nvPr>
        </p:nvSpPr>
        <p:spPr>
          <a:xfrm>
            <a:off x="3724072" y="6356350"/>
            <a:ext cx="3104351"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31</a:t>
            </a:fld>
            <a:endParaRPr lang="en-US"/>
          </a:p>
        </p:txBody>
      </p:sp>
    </p:spTree>
    <p:extLst>
      <p:ext uri="{BB962C8B-B14F-4D97-AF65-F5344CB8AC3E}">
        <p14:creationId xmlns:p14="http://schemas.microsoft.com/office/powerpoint/2010/main" val="16432455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2554CA6-288E-4202-BC52-2E5A8F0C0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B10BB131-AC8E-4A8E-A5D1-36260F720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6891" y="1119031"/>
            <a:ext cx="3464954"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661B103-2E81-46CE-9CCE-8AFCF8914142}"/>
              </a:ext>
            </a:extLst>
          </p:cNvPr>
          <p:cNvSpPr>
            <a:spLocks noGrp="1"/>
          </p:cNvSpPr>
          <p:nvPr>
            <p:ph type="title"/>
          </p:nvPr>
        </p:nvSpPr>
        <p:spPr>
          <a:xfrm>
            <a:off x="878305" y="1396686"/>
            <a:ext cx="2430380" cy="4064628"/>
          </a:xfrm>
        </p:spPr>
        <p:txBody>
          <a:bodyPr>
            <a:normAutofit/>
          </a:bodyPr>
          <a:lstStyle/>
          <a:p>
            <a:r>
              <a:rPr lang="en-US" sz="2400">
                <a:solidFill>
                  <a:srgbClr val="FFFFFF"/>
                </a:solidFill>
              </a:rPr>
              <a:t>Flow </a:t>
            </a:r>
            <a:br>
              <a:rPr lang="en-US" sz="2400">
                <a:solidFill>
                  <a:srgbClr val="FFFFFF"/>
                </a:solidFill>
              </a:rPr>
            </a:br>
            <a:r>
              <a:rPr lang="en-US" sz="2400">
                <a:solidFill>
                  <a:srgbClr val="FFFFFF"/>
                </a:solidFill>
              </a:rPr>
              <a:t>(Nakamura &amp; Csikszentmihalyi, 2001)</a:t>
            </a:r>
          </a:p>
        </p:txBody>
      </p:sp>
      <p:sp>
        <p:nvSpPr>
          <p:cNvPr id="15" name="Arc 14">
            <a:extLst>
              <a:ext uri="{FF2B5EF4-FFF2-40B4-BE49-F238E27FC236}">
                <a16:creationId xmlns:a16="http://schemas.microsoft.com/office/drawing/2014/main" id="{5B7778FC-632E-4DCA-A7CB-0D7731CCF9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9809111">
            <a:off x="6512790" y="941148"/>
            <a:ext cx="2240924"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FA23A907-97FB-4A8F-880A-DD77401C42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536" y="4780992"/>
            <a:ext cx="409575"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Content Placeholder 5">
            <a:extLst>
              <a:ext uri="{FF2B5EF4-FFF2-40B4-BE49-F238E27FC236}">
                <a16:creationId xmlns:a16="http://schemas.microsoft.com/office/drawing/2014/main" id="{F9F9042B-061F-49A8-ACEA-8AF69B5B6439}"/>
              </a:ext>
            </a:extLst>
          </p:cNvPr>
          <p:cNvSpPr>
            <a:spLocks noGrp="1"/>
          </p:cNvSpPr>
          <p:nvPr>
            <p:ph idx="1"/>
          </p:nvPr>
        </p:nvSpPr>
        <p:spPr>
          <a:xfrm>
            <a:off x="4027614" y="1526033"/>
            <a:ext cx="4152298" cy="3935281"/>
          </a:xfrm>
        </p:spPr>
        <p:txBody>
          <a:bodyPr>
            <a:normAutofit/>
          </a:bodyPr>
          <a:lstStyle/>
          <a:p>
            <a:r>
              <a:rPr lang="en-US" sz="2200"/>
              <a:t>A state of complete absorption in an intrinsically rewarding activity</a:t>
            </a:r>
          </a:p>
          <a:p>
            <a:r>
              <a:rPr lang="en-US" sz="2200"/>
              <a:t>Focused concentration on what you are doing in the present moment combined with sense of control over activity</a:t>
            </a:r>
          </a:p>
          <a:p>
            <a:r>
              <a:rPr lang="en-US" sz="2200"/>
              <a:t>Experience time as passing without realizing it</a:t>
            </a:r>
          </a:p>
          <a:p>
            <a:r>
              <a:rPr lang="en-US" sz="2200"/>
              <a:t>Self-reinforcing state</a:t>
            </a:r>
          </a:p>
        </p:txBody>
      </p:sp>
      <p:sp>
        <p:nvSpPr>
          <p:cNvPr id="4" name="Footer Placeholder 3">
            <a:extLst>
              <a:ext uri="{FF2B5EF4-FFF2-40B4-BE49-F238E27FC236}">
                <a16:creationId xmlns:a16="http://schemas.microsoft.com/office/drawing/2014/main" id="{6A1C9820-FC88-453C-A4AB-402BB92E3B11}"/>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7651594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1"/>
            <a:ext cx="851299"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35BE769-58F2-42B0-8E26-F362AD841E65}"/>
              </a:ext>
            </a:extLst>
          </p:cNvPr>
          <p:cNvSpPr>
            <a:spLocks noGrp="1"/>
          </p:cNvSpPr>
          <p:nvPr>
            <p:ph type="title"/>
          </p:nvPr>
        </p:nvSpPr>
        <p:spPr>
          <a:xfrm>
            <a:off x="628650" y="365125"/>
            <a:ext cx="7886700" cy="1325563"/>
          </a:xfrm>
        </p:spPr>
        <p:txBody>
          <a:bodyPr>
            <a:normAutofit/>
          </a:bodyPr>
          <a:lstStyle/>
          <a:p>
            <a:r>
              <a:rPr lang="en-US" dirty="0"/>
              <a:t>Conditions that Facilitate Flow</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93647" y="2693652"/>
            <a:ext cx="4083433"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5BC46A5B-AFC5-4FEB-8045-44CF6D548377}"/>
              </a:ext>
            </a:extLst>
          </p:cNvPr>
          <p:cNvSpPr>
            <a:spLocks noGrp="1"/>
          </p:cNvSpPr>
          <p:nvPr>
            <p:ph idx="1"/>
          </p:nvPr>
        </p:nvSpPr>
        <p:spPr>
          <a:xfrm>
            <a:off x="628650" y="1825625"/>
            <a:ext cx="7886700" cy="4351338"/>
          </a:xfrm>
        </p:spPr>
        <p:txBody>
          <a:bodyPr>
            <a:normAutofit/>
          </a:bodyPr>
          <a:lstStyle/>
          <a:p>
            <a:r>
              <a:rPr lang="en-US" dirty="0"/>
              <a:t>Proximal goals are clearly established</a:t>
            </a:r>
          </a:p>
          <a:p>
            <a:pPr lvl="1"/>
            <a:r>
              <a:rPr lang="en-US" dirty="0"/>
              <a:t>Goals are evident for each step of the activity</a:t>
            </a:r>
          </a:p>
          <a:p>
            <a:r>
              <a:rPr lang="en-US" dirty="0"/>
              <a:t>Immediate feedback on actions</a:t>
            </a:r>
          </a:p>
          <a:p>
            <a:pPr lvl="1"/>
            <a:r>
              <a:rPr lang="en-US" dirty="0"/>
              <a:t>From others</a:t>
            </a:r>
          </a:p>
          <a:p>
            <a:pPr lvl="1"/>
            <a:r>
              <a:rPr lang="en-US" dirty="0"/>
              <a:t>From environment</a:t>
            </a:r>
          </a:p>
          <a:p>
            <a:pPr lvl="1"/>
            <a:r>
              <a:rPr lang="en-US" dirty="0"/>
              <a:t>Actions are merged with awareness</a:t>
            </a:r>
          </a:p>
          <a:p>
            <a:r>
              <a:rPr lang="en-US" dirty="0"/>
              <a:t>Challenge of the activity and skills to meet the challenge are balanced</a:t>
            </a:r>
          </a:p>
        </p:txBody>
      </p:sp>
      <p:sp>
        <p:nvSpPr>
          <p:cNvPr id="4" name="Footer Placeholder 3">
            <a:extLst>
              <a:ext uri="{FF2B5EF4-FFF2-40B4-BE49-F238E27FC236}">
                <a16:creationId xmlns:a16="http://schemas.microsoft.com/office/drawing/2014/main" id="{03B07C60-AB8E-47B5-A57F-CC75C6F3B05C}"/>
              </a:ext>
            </a:extLst>
          </p:cNvPr>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t>The Science and Application of Positive Psychology </a:t>
            </a:r>
            <a:br>
              <a:rPr lang="en-US" sz="900"/>
            </a:br>
            <a:r>
              <a:rPr lang="en-US" sz="900"/>
              <a:t>© Cambridge University Press 2021</a:t>
            </a:r>
          </a:p>
        </p:txBody>
      </p:sp>
    </p:spTree>
    <p:extLst>
      <p:ext uri="{BB962C8B-B14F-4D97-AF65-F5344CB8AC3E}">
        <p14:creationId xmlns:p14="http://schemas.microsoft.com/office/powerpoint/2010/main" val="1687967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D2E961F1-4A28-4A5F-BBD4-6E400E5E6C7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72357"/>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F57BEA8-497D-4AA8-8A18-BDCD696B2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68596"/>
            <a:ext cx="9144000" cy="173555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5039C8BB-CFFC-44FA-8F23-5E6970B9F6BD}"/>
              </a:ext>
            </a:extLst>
          </p:cNvPr>
          <p:cNvSpPr>
            <a:spLocks noGrp="1"/>
          </p:cNvSpPr>
          <p:nvPr>
            <p:ph type="title"/>
          </p:nvPr>
        </p:nvSpPr>
        <p:spPr>
          <a:xfrm>
            <a:off x="394554" y="489439"/>
            <a:ext cx="8354891" cy="930447"/>
          </a:xfrm>
        </p:spPr>
        <p:txBody>
          <a:bodyPr vert="horz" lIns="91440" tIns="45720" rIns="91440" bIns="45720" rtlCol="0" anchor="b">
            <a:normAutofit/>
          </a:bodyPr>
          <a:lstStyle/>
          <a:p>
            <a:pPr algn="ctr"/>
            <a:r>
              <a:rPr lang="en-US" sz="4700" kern="1200">
                <a:solidFill>
                  <a:schemeClr val="bg1"/>
                </a:solidFill>
                <a:latin typeface="+mj-lt"/>
                <a:ea typeface="+mj-ea"/>
                <a:cs typeface="+mj-cs"/>
              </a:rPr>
              <a:t>Flow Channel</a:t>
            </a:r>
          </a:p>
        </p:txBody>
      </p:sp>
      <p:cxnSp>
        <p:nvCxnSpPr>
          <p:cNvPr id="17" name="Straight Connector 16">
            <a:extLst>
              <a:ext uri="{FF2B5EF4-FFF2-40B4-BE49-F238E27FC236}">
                <a16:creationId xmlns:a16="http://schemas.microsoft.com/office/drawing/2014/main" id="{A82415D3-DDE5-4D63-8CB3-23A5EC581B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543300" y="1479733"/>
            <a:ext cx="2057400" cy="0"/>
          </a:xfrm>
          <a:prstGeom prst="line">
            <a:avLst/>
          </a:prstGeom>
          <a:ln w="19050">
            <a:solidFill>
              <a:schemeClr val="bg1">
                <a:alpha val="75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AD7193FB-6AE6-4B3B-8F89-56B55DD63B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bwMode="white">
          <a:xfrm>
            <a:off x="0" y="2201402"/>
            <a:ext cx="9141618" cy="0"/>
          </a:xfrm>
          <a:prstGeom prst="line">
            <a:avLst/>
          </a:prstGeom>
          <a:ln w="508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8" name="Content Placeholder 7">
            <a:extLst>
              <a:ext uri="{FF2B5EF4-FFF2-40B4-BE49-F238E27FC236}">
                <a16:creationId xmlns:a16="http://schemas.microsoft.com/office/drawing/2014/main" id="{8E20410B-C33C-4498-B217-5413C8DD3662}"/>
              </a:ext>
            </a:extLst>
          </p:cNvPr>
          <p:cNvPicPr>
            <a:picLocks noGrp="1" noChangeAspect="1"/>
          </p:cNvPicPr>
          <p:nvPr>
            <p:ph idx="1"/>
          </p:nvPr>
        </p:nvPicPr>
        <p:blipFill>
          <a:blip r:embed="rId2"/>
          <a:stretch>
            <a:fillRect/>
          </a:stretch>
        </p:blipFill>
        <p:spPr>
          <a:xfrm>
            <a:off x="428113" y="2298654"/>
            <a:ext cx="8287773" cy="3972703"/>
          </a:xfrm>
          <a:prstGeom prst="rect">
            <a:avLst/>
          </a:prstGeom>
        </p:spPr>
      </p:pic>
      <p:sp>
        <p:nvSpPr>
          <p:cNvPr id="4" name="Footer Placeholder 3">
            <a:extLst>
              <a:ext uri="{FF2B5EF4-FFF2-40B4-BE49-F238E27FC236}">
                <a16:creationId xmlns:a16="http://schemas.microsoft.com/office/drawing/2014/main" id="{682E6CDD-5D13-46BB-B70F-DDC31B3BDFBC}"/>
              </a:ext>
            </a:extLst>
          </p:cNvPr>
          <p:cNvSpPr>
            <a:spLocks noGrp="1"/>
          </p:cNvSpPr>
          <p:nvPr>
            <p:ph type="ftr" sz="quarter" idx="11"/>
          </p:nvPr>
        </p:nvSpPr>
        <p:spPr>
          <a:xfrm>
            <a:off x="2830168" y="6411907"/>
            <a:ext cx="3888684" cy="347472"/>
          </a:xfrm>
        </p:spPr>
        <p:txBody>
          <a:bodyPr vert="horz" lIns="91440" tIns="45720" rIns="91440" bIns="45720" rtlCol="0" anchor="ctr">
            <a:noAutofit/>
          </a:bodyPr>
          <a:lstStyle/>
          <a:p>
            <a:r>
              <a:rPr lang="en-US" dirty="0"/>
              <a:t>The Science and Application of Positive Psychology </a:t>
            </a:r>
            <a:br>
              <a:rPr lang="en-US" dirty="0"/>
            </a:br>
            <a:r>
              <a:rPr lang="en-US" dirty="0"/>
              <a:t>© Cambridge University Press 2021</a:t>
            </a:r>
          </a:p>
        </p:txBody>
      </p:sp>
    </p:spTree>
    <p:extLst>
      <p:ext uri="{BB962C8B-B14F-4D97-AF65-F5344CB8AC3E}">
        <p14:creationId xmlns:p14="http://schemas.microsoft.com/office/powerpoint/2010/main" val="25585150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473202" y="639520"/>
            <a:ext cx="2571750" cy="1719072"/>
          </a:xfrm>
        </p:spPr>
        <p:txBody>
          <a:bodyPr anchor="b">
            <a:normAutofit/>
          </a:bodyPr>
          <a:lstStyle/>
          <a:p>
            <a:r>
              <a:rPr lang="en-US" sz="3600"/>
              <a:t>Flow and Optimal Experience</a:t>
            </a:r>
            <a:endParaRPr lang="en-IN" sz="3600"/>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458" y="2573756"/>
            <a:ext cx="2441321" cy="18288"/>
          </a:xfrm>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 name="connsiteX0" fmla="*/ 0 w 2441321"/>
              <a:gd name="connsiteY0" fmla="*/ 0 h 18288"/>
              <a:gd name="connsiteX1" fmla="*/ 585917 w 2441321"/>
              <a:gd name="connsiteY1" fmla="*/ 0 h 18288"/>
              <a:gd name="connsiteX2" fmla="*/ 1123008 w 2441321"/>
              <a:gd name="connsiteY2" fmla="*/ 0 h 18288"/>
              <a:gd name="connsiteX3" fmla="*/ 1782164 w 2441321"/>
              <a:gd name="connsiteY3" fmla="*/ 0 h 18288"/>
              <a:gd name="connsiteX4" fmla="*/ 2441321 w 2441321"/>
              <a:gd name="connsiteY4" fmla="*/ 0 h 18288"/>
              <a:gd name="connsiteX5" fmla="*/ 2441321 w 2441321"/>
              <a:gd name="connsiteY5" fmla="*/ 18288 h 18288"/>
              <a:gd name="connsiteX6" fmla="*/ 1879817 w 2441321"/>
              <a:gd name="connsiteY6" fmla="*/ 18288 h 18288"/>
              <a:gd name="connsiteX7" fmla="*/ 1318313 w 2441321"/>
              <a:gd name="connsiteY7" fmla="*/ 18288 h 18288"/>
              <a:gd name="connsiteX8" fmla="*/ 659157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80302" y="-6619"/>
                  <a:pt x="363201" y="4913"/>
                  <a:pt x="585917" y="0"/>
                </a:cubicBezTo>
                <a:cubicBezTo>
                  <a:pt x="832357" y="-10107"/>
                  <a:pt x="996738" y="-34312"/>
                  <a:pt x="1196247" y="0"/>
                </a:cubicBezTo>
                <a:cubicBezTo>
                  <a:pt x="1357180" y="16623"/>
                  <a:pt x="1575042" y="-11041"/>
                  <a:pt x="1806578" y="0"/>
                </a:cubicBezTo>
                <a:cubicBezTo>
                  <a:pt x="2016334" y="246"/>
                  <a:pt x="2239353" y="-8732"/>
                  <a:pt x="2441321" y="0"/>
                </a:cubicBezTo>
                <a:cubicBezTo>
                  <a:pt x="2441188" y="8366"/>
                  <a:pt x="2440365" y="10017"/>
                  <a:pt x="2441321" y="18288"/>
                </a:cubicBezTo>
                <a:cubicBezTo>
                  <a:pt x="2159375" y="49009"/>
                  <a:pt x="2054495" y="45666"/>
                  <a:pt x="1830991" y="18288"/>
                </a:cubicBezTo>
                <a:cubicBezTo>
                  <a:pt x="1615846" y="7509"/>
                  <a:pt x="1521674" y="-5422"/>
                  <a:pt x="1269487" y="18288"/>
                </a:cubicBezTo>
                <a:cubicBezTo>
                  <a:pt x="1019660" y="53960"/>
                  <a:pt x="886911" y="42351"/>
                  <a:pt x="707983" y="18288"/>
                </a:cubicBezTo>
                <a:cubicBezTo>
                  <a:pt x="523434" y="27321"/>
                  <a:pt x="307885" y="34316"/>
                  <a:pt x="0" y="18288"/>
                </a:cubicBezTo>
                <a:cubicBezTo>
                  <a:pt x="-595" y="11182"/>
                  <a:pt x="-5" y="6307"/>
                  <a:pt x="0" y="0"/>
                </a:cubicBezTo>
                <a:close/>
              </a:path>
              <a:path w="2441321" h="18288" stroke="0" extrusionOk="0">
                <a:moveTo>
                  <a:pt x="0" y="0"/>
                </a:moveTo>
                <a:cubicBezTo>
                  <a:pt x="212126" y="-10265"/>
                  <a:pt x="442910" y="-11728"/>
                  <a:pt x="585917" y="0"/>
                </a:cubicBezTo>
                <a:cubicBezTo>
                  <a:pt x="724579" y="21751"/>
                  <a:pt x="879365" y="-33198"/>
                  <a:pt x="1123008" y="0"/>
                </a:cubicBezTo>
                <a:cubicBezTo>
                  <a:pt x="1377247" y="11220"/>
                  <a:pt x="1597861" y="-34280"/>
                  <a:pt x="1782164" y="0"/>
                </a:cubicBezTo>
                <a:cubicBezTo>
                  <a:pt x="1975975" y="-3055"/>
                  <a:pt x="2116392" y="-15531"/>
                  <a:pt x="2441321" y="0"/>
                </a:cubicBezTo>
                <a:cubicBezTo>
                  <a:pt x="2441666" y="6144"/>
                  <a:pt x="2441358" y="10525"/>
                  <a:pt x="2441321" y="18288"/>
                </a:cubicBezTo>
                <a:cubicBezTo>
                  <a:pt x="2180658" y="18322"/>
                  <a:pt x="2084222" y="5934"/>
                  <a:pt x="1879817" y="18288"/>
                </a:cubicBezTo>
                <a:cubicBezTo>
                  <a:pt x="1668182" y="16222"/>
                  <a:pt x="1551159" y="-6477"/>
                  <a:pt x="1318313" y="18288"/>
                </a:cubicBezTo>
                <a:cubicBezTo>
                  <a:pt x="1059871" y="56395"/>
                  <a:pt x="901959" y="23831"/>
                  <a:pt x="659157" y="18288"/>
                </a:cubicBezTo>
                <a:cubicBezTo>
                  <a:pt x="444692" y="28483"/>
                  <a:pt x="245032" y="39882"/>
                  <a:pt x="0" y="18288"/>
                </a:cubicBezTo>
                <a:cubicBezTo>
                  <a:pt x="-11" y="10485"/>
                  <a:pt x="-221" y="3288"/>
                  <a:pt x="0" y="0"/>
                </a:cubicBezTo>
                <a:close/>
              </a:path>
              <a:path w="2441321" h="18288" fill="none" stroke="0" extrusionOk="0">
                <a:moveTo>
                  <a:pt x="0" y="0"/>
                </a:moveTo>
                <a:cubicBezTo>
                  <a:pt x="265389" y="-22361"/>
                  <a:pt x="344845" y="-65"/>
                  <a:pt x="585917" y="0"/>
                </a:cubicBezTo>
                <a:cubicBezTo>
                  <a:pt x="858472" y="13102"/>
                  <a:pt x="949265" y="-8078"/>
                  <a:pt x="1196247" y="0"/>
                </a:cubicBezTo>
                <a:cubicBezTo>
                  <a:pt x="1379248" y="30707"/>
                  <a:pt x="1585336" y="24963"/>
                  <a:pt x="1806578" y="0"/>
                </a:cubicBezTo>
                <a:cubicBezTo>
                  <a:pt x="1986731" y="-19207"/>
                  <a:pt x="2264933" y="16601"/>
                  <a:pt x="2441321" y="0"/>
                </a:cubicBezTo>
                <a:cubicBezTo>
                  <a:pt x="2441440" y="8687"/>
                  <a:pt x="2440452" y="9944"/>
                  <a:pt x="2441321" y="18288"/>
                </a:cubicBezTo>
                <a:cubicBezTo>
                  <a:pt x="2149099" y="27348"/>
                  <a:pt x="2027305" y="56470"/>
                  <a:pt x="1830991" y="18288"/>
                </a:cubicBezTo>
                <a:cubicBezTo>
                  <a:pt x="1614571" y="-18764"/>
                  <a:pt x="1500998" y="10727"/>
                  <a:pt x="1269487" y="18288"/>
                </a:cubicBezTo>
                <a:cubicBezTo>
                  <a:pt x="1042399" y="37834"/>
                  <a:pt x="927922" y="45822"/>
                  <a:pt x="707983" y="18288"/>
                </a:cubicBezTo>
                <a:cubicBezTo>
                  <a:pt x="502575" y="-5380"/>
                  <a:pt x="350393" y="34499"/>
                  <a:pt x="0" y="18288"/>
                </a:cubicBezTo>
                <a:cubicBezTo>
                  <a:pt x="-394" y="12154"/>
                  <a:pt x="907" y="6688"/>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custGeom>
                    <a:avLst/>
                    <a:gdLst>
                      <a:gd name="connsiteX0" fmla="*/ 0 w 2441321"/>
                      <a:gd name="connsiteY0" fmla="*/ 0 h 18288"/>
                      <a:gd name="connsiteX1" fmla="*/ 585917 w 2441321"/>
                      <a:gd name="connsiteY1" fmla="*/ 0 h 18288"/>
                      <a:gd name="connsiteX2" fmla="*/ 1196247 w 2441321"/>
                      <a:gd name="connsiteY2" fmla="*/ 0 h 18288"/>
                      <a:gd name="connsiteX3" fmla="*/ 1806578 w 2441321"/>
                      <a:gd name="connsiteY3" fmla="*/ 0 h 18288"/>
                      <a:gd name="connsiteX4" fmla="*/ 2441321 w 2441321"/>
                      <a:gd name="connsiteY4" fmla="*/ 0 h 18288"/>
                      <a:gd name="connsiteX5" fmla="*/ 2441321 w 2441321"/>
                      <a:gd name="connsiteY5" fmla="*/ 18288 h 18288"/>
                      <a:gd name="connsiteX6" fmla="*/ 1830991 w 2441321"/>
                      <a:gd name="connsiteY6" fmla="*/ 18288 h 18288"/>
                      <a:gd name="connsiteX7" fmla="*/ 1269487 w 2441321"/>
                      <a:gd name="connsiteY7" fmla="*/ 18288 h 18288"/>
                      <a:gd name="connsiteX8" fmla="*/ 707983 w 2441321"/>
                      <a:gd name="connsiteY8" fmla="*/ 18288 h 18288"/>
                      <a:gd name="connsiteX9" fmla="*/ 0 w 2441321"/>
                      <a:gd name="connsiteY9" fmla="*/ 18288 h 18288"/>
                      <a:gd name="connsiteX10" fmla="*/ 0 w 2441321"/>
                      <a:gd name="connsiteY10"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41321" h="18288" fill="none" extrusionOk="0">
                        <a:moveTo>
                          <a:pt x="0" y="0"/>
                        </a:moveTo>
                        <a:cubicBezTo>
                          <a:pt x="273217" y="-17533"/>
                          <a:pt x="355785" y="-4171"/>
                          <a:pt x="585917" y="0"/>
                        </a:cubicBezTo>
                        <a:cubicBezTo>
                          <a:pt x="816049" y="4171"/>
                          <a:pt x="991446" y="-9419"/>
                          <a:pt x="1196247" y="0"/>
                        </a:cubicBezTo>
                        <a:cubicBezTo>
                          <a:pt x="1401048" y="9419"/>
                          <a:pt x="1589984" y="-731"/>
                          <a:pt x="1806578" y="0"/>
                        </a:cubicBezTo>
                        <a:cubicBezTo>
                          <a:pt x="2023172" y="731"/>
                          <a:pt x="2247754" y="8393"/>
                          <a:pt x="2441321" y="0"/>
                        </a:cubicBezTo>
                        <a:cubicBezTo>
                          <a:pt x="2441167" y="8655"/>
                          <a:pt x="2440437" y="9975"/>
                          <a:pt x="2441321" y="18288"/>
                        </a:cubicBezTo>
                        <a:cubicBezTo>
                          <a:pt x="2169723" y="30506"/>
                          <a:pt x="2045712" y="39140"/>
                          <a:pt x="1830991" y="18288"/>
                        </a:cubicBezTo>
                        <a:cubicBezTo>
                          <a:pt x="1616270" y="-2564"/>
                          <a:pt x="1505876" y="3949"/>
                          <a:pt x="1269487" y="18288"/>
                        </a:cubicBezTo>
                        <a:cubicBezTo>
                          <a:pt x="1033098" y="32627"/>
                          <a:pt x="908661" y="41191"/>
                          <a:pt x="707983" y="18288"/>
                        </a:cubicBezTo>
                        <a:cubicBezTo>
                          <a:pt x="507305" y="-4615"/>
                          <a:pt x="333592" y="20759"/>
                          <a:pt x="0" y="18288"/>
                        </a:cubicBezTo>
                        <a:cubicBezTo>
                          <a:pt x="-688" y="11716"/>
                          <a:pt x="875" y="6357"/>
                          <a:pt x="0" y="0"/>
                        </a:cubicBezTo>
                        <a:close/>
                      </a:path>
                      <a:path w="2441321" h="18288" stroke="0" extrusionOk="0">
                        <a:moveTo>
                          <a:pt x="0" y="0"/>
                        </a:moveTo>
                        <a:cubicBezTo>
                          <a:pt x="207071" y="-14617"/>
                          <a:pt x="444194" y="-15606"/>
                          <a:pt x="585917" y="0"/>
                        </a:cubicBezTo>
                        <a:cubicBezTo>
                          <a:pt x="727640" y="15606"/>
                          <a:pt x="904326" y="-79"/>
                          <a:pt x="1123008" y="0"/>
                        </a:cubicBezTo>
                        <a:cubicBezTo>
                          <a:pt x="1341690" y="79"/>
                          <a:pt x="1600014" y="10401"/>
                          <a:pt x="1782164" y="0"/>
                        </a:cubicBezTo>
                        <a:cubicBezTo>
                          <a:pt x="1964314" y="-10401"/>
                          <a:pt x="2143537" y="-21488"/>
                          <a:pt x="2441321" y="0"/>
                        </a:cubicBezTo>
                        <a:cubicBezTo>
                          <a:pt x="2441735" y="5928"/>
                          <a:pt x="2441551" y="11133"/>
                          <a:pt x="2441321" y="18288"/>
                        </a:cubicBezTo>
                        <a:cubicBezTo>
                          <a:pt x="2166745" y="28773"/>
                          <a:pt x="2078726" y="15476"/>
                          <a:pt x="1879817" y="18288"/>
                        </a:cubicBezTo>
                        <a:cubicBezTo>
                          <a:pt x="1680908" y="21100"/>
                          <a:pt x="1548770" y="-4127"/>
                          <a:pt x="1318313" y="18288"/>
                        </a:cubicBezTo>
                        <a:cubicBezTo>
                          <a:pt x="1087856" y="40703"/>
                          <a:pt x="894613" y="3927"/>
                          <a:pt x="659157" y="18288"/>
                        </a:cubicBezTo>
                        <a:cubicBezTo>
                          <a:pt x="423701" y="32649"/>
                          <a:pt x="246611" y="33975"/>
                          <a:pt x="0" y="18288"/>
                        </a:cubicBezTo>
                        <a:cubicBezTo>
                          <a:pt x="-348" y="10388"/>
                          <a:pt x="-12" y="3969"/>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473202" y="2807208"/>
            <a:ext cx="2571750" cy="3410712"/>
          </a:xfrm>
        </p:spPr>
        <p:txBody>
          <a:bodyPr anchor="t">
            <a:normAutofit/>
          </a:bodyPr>
          <a:lstStyle/>
          <a:p>
            <a:pPr marL="0" indent="0">
              <a:buNone/>
            </a:pPr>
            <a:r>
              <a:rPr lang="en-US" sz="1900"/>
              <a:t>Characteristics of Flow </a:t>
            </a:r>
          </a:p>
          <a:p>
            <a:r>
              <a:rPr lang="en-US" sz="1900"/>
              <a:t>State of flow described using 8 parameters</a:t>
            </a:r>
          </a:p>
          <a:p>
            <a:pPr lvl="0"/>
            <a:r>
              <a:rPr lang="en-US" sz="1900"/>
              <a:t>Flow accompanies a challenging activity that requires skill</a:t>
            </a:r>
          </a:p>
          <a:p>
            <a:pPr marL="0" indent="0">
              <a:buNone/>
            </a:pPr>
            <a:endParaRPr lang="en-US" sz="1900"/>
          </a:p>
          <a:p>
            <a:pPr marL="0" indent="0">
              <a:buNone/>
            </a:pPr>
            <a:endParaRPr lang="en-IN" sz="1900"/>
          </a:p>
        </p:txBody>
      </p:sp>
      <p:pic>
        <p:nvPicPr>
          <p:cNvPr id="2" name="Picture 1"/>
          <p:cNvPicPr>
            <a:picLocks noChangeAspect="1"/>
          </p:cNvPicPr>
          <p:nvPr/>
        </p:nvPicPr>
        <p:blipFill>
          <a:blip r:embed="rId3"/>
          <a:stretch>
            <a:fillRect/>
          </a:stretch>
        </p:blipFill>
        <p:spPr>
          <a:xfrm>
            <a:off x="3490722" y="1817413"/>
            <a:ext cx="5177790" cy="3223174"/>
          </a:xfrm>
          <a:prstGeom prst="rect">
            <a:avLst/>
          </a:prstGeom>
        </p:spPr>
      </p:pic>
      <p:sp>
        <p:nvSpPr>
          <p:cNvPr id="6" name="Footer Placeholder 5"/>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35</a:t>
            </a:fld>
            <a:endParaRPr lang="en-US"/>
          </a:p>
        </p:txBody>
      </p:sp>
    </p:spTree>
    <p:extLst>
      <p:ext uri="{BB962C8B-B14F-4D97-AF65-F5344CB8AC3E}">
        <p14:creationId xmlns:p14="http://schemas.microsoft.com/office/powerpoint/2010/main" val="5765856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973321" y="329184"/>
            <a:ext cx="4688333" cy="1783080"/>
          </a:xfrm>
        </p:spPr>
        <p:txBody>
          <a:bodyPr anchor="b">
            <a:normAutofit/>
          </a:bodyPr>
          <a:lstStyle/>
          <a:p>
            <a:r>
              <a:rPr lang="en-US" sz="4700"/>
              <a:t>Flow and Optimal Experience</a:t>
            </a:r>
            <a:endParaRPr lang="en-IN" sz="4700"/>
          </a:p>
        </p:txBody>
      </p:sp>
      <p:pic>
        <p:nvPicPr>
          <p:cNvPr id="8" name="Picture 7" descr="White arrows going to the red target">
            <a:extLst>
              <a:ext uri="{FF2B5EF4-FFF2-40B4-BE49-F238E27FC236}">
                <a16:creationId xmlns:a16="http://schemas.microsoft.com/office/drawing/2014/main" id="{AA8A9D02-125B-6373-AB9D-186A93691391}"/>
              </a:ext>
            </a:extLst>
          </p:cNvPr>
          <p:cNvPicPr>
            <a:picLocks noChangeAspect="1"/>
          </p:cNvPicPr>
          <p:nvPr/>
        </p:nvPicPr>
        <p:blipFill rotWithShape="1">
          <a:blip r:embed="rId3"/>
          <a:srcRect l="50758" r="15243"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973321" y="2706624"/>
            <a:ext cx="4688333" cy="3483864"/>
          </a:xfrm>
        </p:spPr>
        <p:txBody>
          <a:bodyPr>
            <a:normAutofit/>
          </a:bodyPr>
          <a:lstStyle/>
          <a:p>
            <a:pPr marL="0" indent="0" algn="ctr">
              <a:buNone/>
            </a:pPr>
            <a:r>
              <a:rPr lang="en-US" sz="2400" dirty="0">
                <a:solidFill>
                  <a:srgbClr val="0070C0"/>
                </a:solidFill>
              </a:rPr>
              <a:t>Characteristics of Flow </a:t>
            </a:r>
          </a:p>
          <a:p>
            <a:pPr marL="514350" indent="-514350">
              <a:buAutoNum type="arabicPeriod"/>
            </a:pPr>
            <a:r>
              <a:rPr lang="en-US" sz="2400" dirty="0"/>
              <a:t>Merging of action and awareness</a:t>
            </a:r>
          </a:p>
          <a:p>
            <a:pPr marL="514350" indent="-514350">
              <a:buAutoNum type="arabicPeriod"/>
            </a:pPr>
            <a:r>
              <a:rPr lang="en-US" sz="2400" dirty="0"/>
              <a:t>Intense and focused concentration</a:t>
            </a:r>
          </a:p>
          <a:p>
            <a:pPr marL="514350" indent="-514350">
              <a:buAutoNum type="arabicPeriod"/>
            </a:pPr>
            <a:r>
              <a:rPr lang="en-US" sz="2400" dirty="0"/>
              <a:t>Greater sense of control</a:t>
            </a:r>
          </a:p>
          <a:p>
            <a:pPr marL="514350" indent="-514350">
              <a:buAutoNum type="arabicPeriod"/>
            </a:pPr>
            <a:r>
              <a:rPr lang="en-US" sz="2400" dirty="0"/>
              <a:t>A loss of self-consciousness</a:t>
            </a:r>
          </a:p>
          <a:p>
            <a:pPr marL="514350" indent="-514350">
              <a:buAutoNum type="arabicPeriod"/>
            </a:pPr>
            <a:endParaRPr lang="en-US" sz="1900" dirty="0"/>
          </a:p>
          <a:p>
            <a:pPr marL="0" indent="0">
              <a:buNone/>
            </a:pPr>
            <a:endParaRPr lang="en-IN" sz="1900" dirty="0"/>
          </a:p>
        </p:txBody>
      </p:sp>
      <p:sp>
        <p:nvSpPr>
          <p:cNvPr id="6" name="Footer Placeholder 5"/>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36</a:t>
            </a:fld>
            <a:endParaRPr lang="en-US"/>
          </a:p>
        </p:txBody>
      </p:sp>
    </p:spTree>
    <p:extLst>
      <p:ext uri="{BB962C8B-B14F-4D97-AF65-F5344CB8AC3E}">
        <p14:creationId xmlns:p14="http://schemas.microsoft.com/office/powerpoint/2010/main" val="16673711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973321" y="329184"/>
            <a:ext cx="4688333" cy="1783080"/>
          </a:xfrm>
        </p:spPr>
        <p:txBody>
          <a:bodyPr anchor="b">
            <a:normAutofit/>
          </a:bodyPr>
          <a:lstStyle/>
          <a:p>
            <a:r>
              <a:rPr lang="en-US" sz="4700"/>
              <a:t>Flow and Optimal Experience</a:t>
            </a:r>
            <a:endParaRPr lang="en-IN" sz="4700"/>
          </a:p>
        </p:txBody>
      </p:sp>
      <p:pic>
        <p:nvPicPr>
          <p:cNvPr id="8" name="Picture 7">
            <a:extLst>
              <a:ext uri="{FF2B5EF4-FFF2-40B4-BE49-F238E27FC236}">
                <a16:creationId xmlns:a16="http://schemas.microsoft.com/office/drawing/2014/main" id="{356DC4AF-CC1F-A862-23A3-1DCB115EDE1A}"/>
              </a:ext>
            </a:extLst>
          </p:cNvPr>
          <p:cNvPicPr>
            <a:picLocks noChangeAspect="1"/>
          </p:cNvPicPr>
          <p:nvPr/>
        </p:nvPicPr>
        <p:blipFill rotWithShape="1">
          <a:blip r:embed="rId3"/>
          <a:srcRect l="34387" r="40147"/>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973321" y="2706624"/>
            <a:ext cx="4688333" cy="3483864"/>
          </a:xfrm>
        </p:spPr>
        <p:txBody>
          <a:bodyPr>
            <a:normAutofit fontScale="92500"/>
          </a:bodyPr>
          <a:lstStyle/>
          <a:p>
            <a:pPr marL="0" indent="0" algn="ctr">
              <a:buNone/>
            </a:pPr>
            <a:r>
              <a:rPr lang="en-US" sz="2400" dirty="0">
                <a:solidFill>
                  <a:srgbClr val="0070C0"/>
                </a:solidFill>
              </a:rPr>
              <a:t>Characteristics of Flow </a:t>
            </a:r>
          </a:p>
          <a:p>
            <a:pPr marL="0" indent="0">
              <a:buNone/>
            </a:pPr>
            <a:r>
              <a:rPr lang="en-US" sz="2400" dirty="0"/>
              <a:t>5. Distortion of temporal experience</a:t>
            </a:r>
          </a:p>
          <a:p>
            <a:pPr marL="0" indent="0">
              <a:buNone/>
            </a:pPr>
            <a:r>
              <a:rPr lang="en-US" sz="2400" dirty="0"/>
              <a:t>6. Autotelic nature of the experience (process is intrinsically motivating)</a:t>
            </a:r>
          </a:p>
          <a:p>
            <a:pPr marL="0" indent="0">
              <a:buNone/>
            </a:pPr>
            <a:r>
              <a:rPr lang="en-US" sz="2400" dirty="0"/>
              <a:t>Conditions Under Which Flow is More Likely:</a:t>
            </a:r>
          </a:p>
          <a:p>
            <a:pPr marL="0" indent="0">
              <a:buNone/>
            </a:pPr>
            <a:r>
              <a:rPr lang="en-US" sz="2400" dirty="0"/>
              <a:t>7. Challenge-skill</a:t>
            </a:r>
          </a:p>
          <a:p>
            <a:pPr marL="0" indent="0">
              <a:buNone/>
            </a:pPr>
            <a:r>
              <a:rPr lang="en-US" sz="2400" dirty="0"/>
              <a:t>8. Activity provides clear goals and immediate feedback</a:t>
            </a:r>
          </a:p>
          <a:p>
            <a:pPr marL="0" indent="0">
              <a:buNone/>
            </a:pPr>
            <a:endParaRPr lang="en-US" sz="1900" dirty="0"/>
          </a:p>
          <a:p>
            <a:pPr marL="0" indent="0">
              <a:buNone/>
            </a:pPr>
            <a:endParaRPr lang="en-US" sz="1900" dirty="0"/>
          </a:p>
          <a:p>
            <a:pPr marL="0" indent="0">
              <a:buNone/>
            </a:pPr>
            <a:endParaRPr lang="en-IN" sz="1900" dirty="0"/>
          </a:p>
        </p:txBody>
      </p:sp>
      <p:sp>
        <p:nvSpPr>
          <p:cNvPr id="6" name="Footer Placeholder 5"/>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37</a:t>
            </a:fld>
            <a:endParaRPr lang="en-US"/>
          </a:p>
        </p:txBody>
      </p:sp>
    </p:spTree>
    <p:extLst>
      <p:ext uri="{BB962C8B-B14F-4D97-AF65-F5344CB8AC3E}">
        <p14:creationId xmlns:p14="http://schemas.microsoft.com/office/powerpoint/2010/main" val="734586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50" y="365125"/>
            <a:ext cx="7886700" cy="1325563"/>
          </a:xfrm>
        </p:spPr>
        <p:txBody>
          <a:bodyPr>
            <a:normAutofit/>
          </a:bodyPr>
          <a:lstStyle/>
          <a:p>
            <a:r>
              <a:rPr lang="en-US" sz="4700"/>
              <a:t>Flow and Optimal Experience</a:t>
            </a:r>
            <a:endParaRPr lang="en-IN" sz="47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628650" y="1929384"/>
            <a:ext cx="7886700" cy="4251960"/>
          </a:xfrm>
        </p:spPr>
        <p:txBody>
          <a:bodyPr>
            <a:normAutofit/>
          </a:bodyPr>
          <a:lstStyle/>
          <a:p>
            <a:pPr marL="0" indent="0">
              <a:buNone/>
            </a:pPr>
            <a:r>
              <a:rPr lang="en-US" sz="1900"/>
              <a:t>Contexts and Situations of Flow </a:t>
            </a:r>
          </a:p>
          <a:p>
            <a:pPr lvl="0" hangingPunct="0"/>
            <a:r>
              <a:rPr lang="en-US" sz="1900"/>
              <a:t>Contexts: religious rituals, teaching, family interactions, cramming, online learning, psychotherapy, military combat, sports, exercise, reading, music</a:t>
            </a:r>
          </a:p>
          <a:p>
            <a:pPr lvl="0" hangingPunct="0"/>
            <a:r>
              <a:rPr lang="en-US" sz="1900"/>
              <a:t>Flow experiences may be the key to job satisfaction</a:t>
            </a:r>
          </a:p>
          <a:p>
            <a:pPr lvl="1" hangingPunct="0"/>
            <a:r>
              <a:rPr lang="en-US" sz="1900"/>
              <a:t>Work engagement </a:t>
            </a:r>
          </a:p>
          <a:p>
            <a:pPr lvl="2" hangingPunct="0"/>
            <a:r>
              <a:rPr lang="en-US" sz="1900"/>
              <a:t>Vigor</a:t>
            </a:r>
          </a:p>
          <a:p>
            <a:pPr lvl="2" hangingPunct="0"/>
            <a:r>
              <a:rPr lang="en-US" sz="1900"/>
              <a:t>Dedication</a:t>
            </a:r>
          </a:p>
          <a:p>
            <a:pPr lvl="2" hangingPunct="0"/>
            <a:r>
              <a:rPr lang="en-US" sz="1900"/>
              <a:t>Absorption</a:t>
            </a:r>
          </a:p>
          <a:p>
            <a:pPr hangingPunct="0"/>
            <a:r>
              <a:rPr lang="en-US" sz="1900"/>
              <a:t>Allows people to enjoy life, feel happier, and function better </a:t>
            </a:r>
          </a:p>
          <a:p>
            <a:pPr marL="0" indent="0">
              <a:buNone/>
            </a:pPr>
            <a:endParaRPr lang="en-IN" sz="1900"/>
          </a:p>
        </p:txBody>
      </p:sp>
      <p:sp>
        <p:nvSpPr>
          <p:cNvPr id="6" name="Footer Placeholder 5"/>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38</a:t>
            </a:fld>
            <a:endParaRPr lang="en-US"/>
          </a:p>
        </p:txBody>
      </p:sp>
    </p:spTree>
    <p:extLst>
      <p:ext uri="{BB962C8B-B14F-4D97-AF65-F5344CB8AC3E}">
        <p14:creationId xmlns:p14="http://schemas.microsoft.com/office/powerpoint/2010/main" val="42511161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38071E3-85A6-6015-FDE4-19347E8C739C}"/>
              </a:ext>
            </a:extLst>
          </p:cNvPr>
          <p:cNvPicPr>
            <a:picLocks noChangeAspect="1"/>
          </p:cNvPicPr>
          <p:nvPr/>
        </p:nvPicPr>
        <p:blipFill rotWithShape="1">
          <a:blip r:embed="rId3">
            <a:duotone>
              <a:schemeClr val="bg2">
                <a:shade val="45000"/>
                <a:satMod val="135000"/>
              </a:schemeClr>
              <a:prstClr val="white"/>
            </a:duotone>
          </a:blip>
          <a:srcRect l="11000" r="-1" b="-1"/>
          <a:stretch/>
        </p:blipFill>
        <p:spPr>
          <a:xfrm>
            <a:off x="20" y="10"/>
            <a:ext cx="9143980" cy="6857990"/>
          </a:xfrm>
          <a:prstGeom prst="rect">
            <a:avLst/>
          </a:prstGeom>
        </p:spPr>
      </p:pic>
      <p:sp>
        <p:nvSpPr>
          <p:cNvPr id="13" name="Rectangle 12">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50" y="365125"/>
            <a:ext cx="7886700" cy="1325563"/>
          </a:xfrm>
        </p:spPr>
        <p:txBody>
          <a:bodyPr>
            <a:normAutofit/>
          </a:bodyPr>
          <a:lstStyle/>
          <a:p>
            <a:r>
              <a:rPr lang="en-US"/>
              <a:t>Flow and Optimal Experience</a:t>
            </a:r>
            <a:endParaRPr lang="en-IN"/>
          </a:p>
        </p:txBody>
      </p:sp>
      <p:sp>
        <p:nvSpPr>
          <p:cNvPr id="6" name="Footer Placeholder 5"/>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39</a:t>
            </a:fld>
            <a:endParaRPr lang="en-US"/>
          </a:p>
        </p:txBody>
      </p:sp>
      <p:graphicFrame>
        <p:nvGraphicFramePr>
          <p:cNvPr id="8" name="Content Placeholder 3">
            <a:extLst>
              <a:ext uri="{FF2B5EF4-FFF2-40B4-BE49-F238E27FC236}">
                <a16:creationId xmlns:a16="http://schemas.microsoft.com/office/drawing/2014/main" id="{097EA76D-74F8-2EDC-DC1D-45467F10FB2C}"/>
              </a:ext>
            </a:extLst>
          </p:cNvPr>
          <p:cNvGraphicFramePr>
            <a:graphicFrameLocks noGrp="1"/>
          </p:cNvGraphicFramePr>
          <p:nvPr>
            <p:ph idx="1"/>
            <p:extLst>
              <p:ext uri="{D42A27DB-BD31-4B8C-83A1-F6EECF244321}">
                <p14:modId xmlns:p14="http://schemas.microsoft.com/office/powerpoint/2010/main" val="353877830"/>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386039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628650" y="365125"/>
            <a:ext cx="7886700" cy="1325563"/>
          </a:xfrm>
        </p:spPr>
        <p:txBody>
          <a:bodyPr>
            <a:normAutofit/>
          </a:bodyPr>
          <a:lstStyle/>
          <a:p>
            <a:r>
              <a:rPr lang="en-US" sz="4700"/>
              <a:t>Flow and Optimal Experience</a:t>
            </a:r>
            <a:endParaRPr lang="en-IN" sz="47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1777" y="1677373"/>
            <a:ext cx="8140446" cy="18288"/>
          </a:xfrm>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 name="connsiteX0" fmla="*/ 0 w 8140446"/>
              <a:gd name="connsiteY0" fmla="*/ 0 h 18288"/>
              <a:gd name="connsiteX1" fmla="*/ 596966 w 8140446"/>
              <a:gd name="connsiteY1" fmla="*/ 0 h 18288"/>
              <a:gd name="connsiteX2" fmla="*/ 1031123 w 8140446"/>
              <a:gd name="connsiteY2" fmla="*/ 0 h 18288"/>
              <a:gd name="connsiteX3" fmla="*/ 1872303 w 8140446"/>
              <a:gd name="connsiteY3" fmla="*/ 0 h 18288"/>
              <a:gd name="connsiteX4" fmla="*/ 2469269 w 8140446"/>
              <a:gd name="connsiteY4" fmla="*/ 0 h 18288"/>
              <a:gd name="connsiteX5" fmla="*/ 3066235 w 8140446"/>
              <a:gd name="connsiteY5" fmla="*/ 0 h 18288"/>
              <a:gd name="connsiteX6" fmla="*/ 3907414 w 8140446"/>
              <a:gd name="connsiteY6" fmla="*/ 0 h 18288"/>
              <a:gd name="connsiteX7" fmla="*/ 4422976 w 8140446"/>
              <a:gd name="connsiteY7" fmla="*/ 0 h 18288"/>
              <a:gd name="connsiteX8" fmla="*/ 5264155 w 8140446"/>
              <a:gd name="connsiteY8" fmla="*/ 0 h 18288"/>
              <a:gd name="connsiteX9" fmla="*/ 6105335 w 8140446"/>
              <a:gd name="connsiteY9" fmla="*/ 0 h 18288"/>
              <a:gd name="connsiteX10" fmla="*/ 6783705 w 8140446"/>
              <a:gd name="connsiteY10" fmla="*/ 0 h 18288"/>
              <a:gd name="connsiteX11" fmla="*/ 8140446 w 8140446"/>
              <a:gd name="connsiteY11" fmla="*/ 0 h 18288"/>
              <a:gd name="connsiteX12" fmla="*/ 8140446 w 8140446"/>
              <a:gd name="connsiteY12" fmla="*/ 18288 h 18288"/>
              <a:gd name="connsiteX13" fmla="*/ 7706289 w 8140446"/>
              <a:gd name="connsiteY13" fmla="*/ 18288 h 18288"/>
              <a:gd name="connsiteX14" fmla="*/ 6865109 w 8140446"/>
              <a:gd name="connsiteY14" fmla="*/ 18288 h 18288"/>
              <a:gd name="connsiteX15" fmla="*/ 6349548 w 8140446"/>
              <a:gd name="connsiteY15" fmla="*/ 18288 h 18288"/>
              <a:gd name="connsiteX16" fmla="*/ 5671177 w 8140446"/>
              <a:gd name="connsiteY16" fmla="*/ 18288 h 18288"/>
              <a:gd name="connsiteX17" fmla="*/ 4829998 w 8140446"/>
              <a:gd name="connsiteY17" fmla="*/ 18288 h 18288"/>
              <a:gd name="connsiteX18" fmla="*/ 4151627 w 8140446"/>
              <a:gd name="connsiteY18" fmla="*/ 18288 h 18288"/>
              <a:gd name="connsiteX19" fmla="*/ 3717470 w 8140446"/>
              <a:gd name="connsiteY19" fmla="*/ 18288 h 18288"/>
              <a:gd name="connsiteX20" fmla="*/ 3201909 w 8140446"/>
              <a:gd name="connsiteY20" fmla="*/ 18288 h 18288"/>
              <a:gd name="connsiteX21" fmla="*/ 2360729 w 8140446"/>
              <a:gd name="connsiteY21" fmla="*/ 18288 h 18288"/>
              <a:gd name="connsiteX22" fmla="*/ 1682359 w 8140446"/>
              <a:gd name="connsiteY22" fmla="*/ 18288 h 18288"/>
              <a:gd name="connsiteX23" fmla="*/ 1166797 w 8140446"/>
              <a:gd name="connsiteY23" fmla="*/ 18288 h 18288"/>
              <a:gd name="connsiteX24" fmla="*/ 0 w 8140446"/>
              <a:gd name="connsiteY24" fmla="*/ 18288 h 18288"/>
              <a:gd name="connsiteX25" fmla="*/ 0 w 8140446"/>
              <a:gd name="connsiteY2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140446" h="18288" fill="none" extrusionOk="0">
                <a:moveTo>
                  <a:pt x="0" y="0"/>
                </a:moveTo>
                <a:cubicBezTo>
                  <a:pt x="87427" y="6231"/>
                  <a:pt x="309612" y="-26324"/>
                  <a:pt x="434157" y="0"/>
                </a:cubicBezTo>
                <a:cubicBezTo>
                  <a:pt x="536972" y="29330"/>
                  <a:pt x="959392" y="28619"/>
                  <a:pt x="1193932" y="0"/>
                </a:cubicBezTo>
                <a:cubicBezTo>
                  <a:pt x="1446097" y="13819"/>
                  <a:pt x="1471680" y="7203"/>
                  <a:pt x="1628089" y="0"/>
                </a:cubicBezTo>
                <a:cubicBezTo>
                  <a:pt x="1817415" y="4047"/>
                  <a:pt x="1949536" y="-59324"/>
                  <a:pt x="2225055" y="0"/>
                </a:cubicBezTo>
                <a:cubicBezTo>
                  <a:pt x="2520490" y="18365"/>
                  <a:pt x="2717469" y="18707"/>
                  <a:pt x="3066235" y="0"/>
                </a:cubicBezTo>
                <a:cubicBezTo>
                  <a:pt x="3437075" y="3751"/>
                  <a:pt x="3408347" y="31644"/>
                  <a:pt x="3744605" y="0"/>
                </a:cubicBezTo>
                <a:cubicBezTo>
                  <a:pt x="4097249" y="-11527"/>
                  <a:pt x="4249699" y="-32555"/>
                  <a:pt x="4504380" y="0"/>
                </a:cubicBezTo>
                <a:cubicBezTo>
                  <a:pt x="4737570" y="17980"/>
                  <a:pt x="4877497" y="1006"/>
                  <a:pt x="5101346" y="0"/>
                </a:cubicBezTo>
                <a:cubicBezTo>
                  <a:pt x="5359305" y="-15330"/>
                  <a:pt x="5447195" y="7257"/>
                  <a:pt x="5779717" y="0"/>
                </a:cubicBezTo>
                <a:cubicBezTo>
                  <a:pt x="6090019" y="-17621"/>
                  <a:pt x="6273151" y="4279"/>
                  <a:pt x="6620896" y="0"/>
                </a:cubicBezTo>
                <a:cubicBezTo>
                  <a:pt x="6968586" y="34056"/>
                  <a:pt x="6990073" y="23587"/>
                  <a:pt x="7136458" y="0"/>
                </a:cubicBezTo>
                <a:cubicBezTo>
                  <a:pt x="7320575" y="20480"/>
                  <a:pt x="7847401" y="-6173"/>
                  <a:pt x="8140446" y="0"/>
                </a:cubicBezTo>
                <a:cubicBezTo>
                  <a:pt x="8139878" y="7862"/>
                  <a:pt x="8140227" y="13269"/>
                  <a:pt x="8140446" y="18288"/>
                </a:cubicBezTo>
                <a:cubicBezTo>
                  <a:pt x="7908069" y="-20636"/>
                  <a:pt x="7683037" y="21977"/>
                  <a:pt x="7543480" y="18288"/>
                </a:cubicBezTo>
                <a:cubicBezTo>
                  <a:pt x="7393752" y="10050"/>
                  <a:pt x="7221032" y="-3229"/>
                  <a:pt x="7109323" y="18288"/>
                </a:cubicBezTo>
                <a:cubicBezTo>
                  <a:pt x="7015297" y="22483"/>
                  <a:pt x="6599332" y="40899"/>
                  <a:pt x="6430952" y="18288"/>
                </a:cubicBezTo>
                <a:cubicBezTo>
                  <a:pt x="6292915" y="-34150"/>
                  <a:pt x="6142305" y="21507"/>
                  <a:pt x="5915391" y="18288"/>
                </a:cubicBezTo>
                <a:cubicBezTo>
                  <a:pt x="5682725" y="47843"/>
                  <a:pt x="5440566" y="31420"/>
                  <a:pt x="5237020" y="18288"/>
                </a:cubicBezTo>
                <a:cubicBezTo>
                  <a:pt x="5046456" y="10577"/>
                  <a:pt x="4706449" y="51976"/>
                  <a:pt x="4558650" y="18288"/>
                </a:cubicBezTo>
                <a:cubicBezTo>
                  <a:pt x="4361396" y="-987"/>
                  <a:pt x="4145362" y="-22303"/>
                  <a:pt x="3880279" y="18288"/>
                </a:cubicBezTo>
                <a:cubicBezTo>
                  <a:pt x="3610716" y="25411"/>
                  <a:pt x="3472690" y="4008"/>
                  <a:pt x="3201909" y="18288"/>
                </a:cubicBezTo>
                <a:cubicBezTo>
                  <a:pt x="2913595" y="35097"/>
                  <a:pt x="2753317" y="-1149"/>
                  <a:pt x="2604943" y="18288"/>
                </a:cubicBezTo>
                <a:cubicBezTo>
                  <a:pt x="2450130" y="36989"/>
                  <a:pt x="1974183" y="40159"/>
                  <a:pt x="1845168" y="18288"/>
                </a:cubicBezTo>
                <a:cubicBezTo>
                  <a:pt x="1677929" y="220"/>
                  <a:pt x="1378098" y="-772"/>
                  <a:pt x="1166797" y="18288"/>
                </a:cubicBezTo>
                <a:cubicBezTo>
                  <a:pt x="921150" y="53277"/>
                  <a:pt x="327457" y="47297"/>
                  <a:pt x="0" y="18288"/>
                </a:cubicBezTo>
                <a:cubicBezTo>
                  <a:pt x="-589" y="13471"/>
                  <a:pt x="-474" y="7409"/>
                  <a:pt x="0" y="0"/>
                </a:cubicBezTo>
                <a:close/>
              </a:path>
              <a:path w="8140446" h="18288" stroke="0" extrusionOk="0">
                <a:moveTo>
                  <a:pt x="0" y="0"/>
                </a:moveTo>
                <a:cubicBezTo>
                  <a:pt x="136968" y="-25482"/>
                  <a:pt x="379786" y="11224"/>
                  <a:pt x="596966" y="0"/>
                </a:cubicBezTo>
                <a:cubicBezTo>
                  <a:pt x="815878" y="-21223"/>
                  <a:pt x="832062" y="11868"/>
                  <a:pt x="1031123" y="0"/>
                </a:cubicBezTo>
                <a:cubicBezTo>
                  <a:pt x="1256800" y="-30738"/>
                  <a:pt x="1658090" y="-20345"/>
                  <a:pt x="1872303" y="0"/>
                </a:cubicBezTo>
                <a:cubicBezTo>
                  <a:pt x="2115604" y="28431"/>
                  <a:pt x="2277865" y="-40642"/>
                  <a:pt x="2469269" y="0"/>
                </a:cubicBezTo>
                <a:cubicBezTo>
                  <a:pt x="2679731" y="25919"/>
                  <a:pt x="2788602" y="-6498"/>
                  <a:pt x="3066235" y="0"/>
                </a:cubicBezTo>
                <a:cubicBezTo>
                  <a:pt x="3325663" y="-14487"/>
                  <a:pt x="3706561" y="67517"/>
                  <a:pt x="3907414" y="0"/>
                </a:cubicBezTo>
                <a:cubicBezTo>
                  <a:pt x="4127229" y="-37113"/>
                  <a:pt x="4179037" y="-8167"/>
                  <a:pt x="4422976" y="0"/>
                </a:cubicBezTo>
                <a:cubicBezTo>
                  <a:pt x="4683575" y="-28486"/>
                  <a:pt x="5055803" y="-13799"/>
                  <a:pt x="5264155" y="0"/>
                </a:cubicBezTo>
                <a:cubicBezTo>
                  <a:pt x="5513566" y="14315"/>
                  <a:pt x="5735215" y="2768"/>
                  <a:pt x="6105335" y="0"/>
                </a:cubicBezTo>
                <a:cubicBezTo>
                  <a:pt x="6510913" y="-12587"/>
                  <a:pt x="6456171" y="3247"/>
                  <a:pt x="6783705" y="0"/>
                </a:cubicBezTo>
                <a:cubicBezTo>
                  <a:pt x="7057099" y="-15461"/>
                  <a:pt x="7592067" y="5384"/>
                  <a:pt x="8140446" y="0"/>
                </a:cubicBezTo>
                <a:cubicBezTo>
                  <a:pt x="8140452" y="8597"/>
                  <a:pt x="8141122" y="9732"/>
                  <a:pt x="8140446" y="18288"/>
                </a:cubicBezTo>
                <a:cubicBezTo>
                  <a:pt x="7961834" y="8406"/>
                  <a:pt x="7874097" y="10350"/>
                  <a:pt x="7706289" y="18288"/>
                </a:cubicBezTo>
                <a:cubicBezTo>
                  <a:pt x="7582508" y="-14920"/>
                  <a:pt x="7179551" y="-33111"/>
                  <a:pt x="6865109" y="18288"/>
                </a:cubicBezTo>
                <a:cubicBezTo>
                  <a:pt x="6583382" y="24117"/>
                  <a:pt x="6525821" y="36696"/>
                  <a:pt x="6349548" y="18288"/>
                </a:cubicBezTo>
                <a:cubicBezTo>
                  <a:pt x="6209953" y="10881"/>
                  <a:pt x="5959707" y="-47828"/>
                  <a:pt x="5671177" y="18288"/>
                </a:cubicBezTo>
                <a:cubicBezTo>
                  <a:pt x="5387744" y="29809"/>
                  <a:pt x="5228514" y="101507"/>
                  <a:pt x="4829998" y="18288"/>
                </a:cubicBezTo>
                <a:cubicBezTo>
                  <a:pt x="4415646" y="-28596"/>
                  <a:pt x="4343809" y="28954"/>
                  <a:pt x="4151627" y="18288"/>
                </a:cubicBezTo>
                <a:cubicBezTo>
                  <a:pt x="3950673" y="-9796"/>
                  <a:pt x="3879947" y="41143"/>
                  <a:pt x="3717470" y="18288"/>
                </a:cubicBezTo>
                <a:cubicBezTo>
                  <a:pt x="3558660" y="10110"/>
                  <a:pt x="3468854" y="29375"/>
                  <a:pt x="3201909" y="18288"/>
                </a:cubicBezTo>
                <a:cubicBezTo>
                  <a:pt x="2965673" y="10505"/>
                  <a:pt x="2568327" y="22116"/>
                  <a:pt x="2360729" y="18288"/>
                </a:cubicBezTo>
                <a:cubicBezTo>
                  <a:pt x="2171885" y="49144"/>
                  <a:pt x="1923258" y="16020"/>
                  <a:pt x="1682359" y="18288"/>
                </a:cubicBezTo>
                <a:cubicBezTo>
                  <a:pt x="1430698" y="-2378"/>
                  <a:pt x="1324229" y="-1751"/>
                  <a:pt x="1166797" y="18288"/>
                </a:cubicBezTo>
                <a:cubicBezTo>
                  <a:pt x="1001390" y="41795"/>
                  <a:pt x="324313" y="57964"/>
                  <a:pt x="0" y="18288"/>
                </a:cubicBezTo>
                <a:cubicBezTo>
                  <a:pt x="285" y="13135"/>
                  <a:pt x="532" y="5956"/>
                  <a:pt x="0" y="0"/>
                </a:cubicBezTo>
                <a:close/>
              </a:path>
              <a:path w="8140446" h="18288" fill="none" stroke="0" extrusionOk="0">
                <a:moveTo>
                  <a:pt x="0" y="0"/>
                </a:moveTo>
                <a:cubicBezTo>
                  <a:pt x="69532" y="-6557"/>
                  <a:pt x="264219" y="3919"/>
                  <a:pt x="434157" y="0"/>
                </a:cubicBezTo>
                <a:cubicBezTo>
                  <a:pt x="600013" y="9090"/>
                  <a:pt x="921449" y="-13478"/>
                  <a:pt x="1193932" y="0"/>
                </a:cubicBezTo>
                <a:cubicBezTo>
                  <a:pt x="1443592" y="14844"/>
                  <a:pt x="1471188" y="10722"/>
                  <a:pt x="1628089" y="0"/>
                </a:cubicBezTo>
                <a:cubicBezTo>
                  <a:pt x="1750006" y="-24149"/>
                  <a:pt x="1967480" y="-14904"/>
                  <a:pt x="2225055" y="0"/>
                </a:cubicBezTo>
                <a:cubicBezTo>
                  <a:pt x="2503918" y="19247"/>
                  <a:pt x="2709263" y="-16351"/>
                  <a:pt x="3066235" y="0"/>
                </a:cubicBezTo>
                <a:cubicBezTo>
                  <a:pt x="3429723" y="-1627"/>
                  <a:pt x="3399401" y="30976"/>
                  <a:pt x="3744605" y="0"/>
                </a:cubicBezTo>
                <a:cubicBezTo>
                  <a:pt x="4081920" y="-40602"/>
                  <a:pt x="4258272" y="-2441"/>
                  <a:pt x="4504380" y="0"/>
                </a:cubicBezTo>
                <a:cubicBezTo>
                  <a:pt x="4760039" y="21121"/>
                  <a:pt x="4866555" y="-1351"/>
                  <a:pt x="5101346" y="0"/>
                </a:cubicBezTo>
                <a:cubicBezTo>
                  <a:pt x="5336279" y="1859"/>
                  <a:pt x="5465100" y="30801"/>
                  <a:pt x="5779717" y="0"/>
                </a:cubicBezTo>
                <a:cubicBezTo>
                  <a:pt x="6117018" y="-2879"/>
                  <a:pt x="6273497" y="-5002"/>
                  <a:pt x="6620896" y="0"/>
                </a:cubicBezTo>
                <a:cubicBezTo>
                  <a:pt x="6972306" y="38666"/>
                  <a:pt x="6992056" y="28334"/>
                  <a:pt x="7136458" y="0"/>
                </a:cubicBezTo>
                <a:cubicBezTo>
                  <a:pt x="7325567" y="-61201"/>
                  <a:pt x="7766555" y="-88399"/>
                  <a:pt x="8140446" y="0"/>
                </a:cubicBezTo>
                <a:cubicBezTo>
                  <a:pt x="8140031" y="7748"/>
                  <a:pt x="8139515" y="13015"/>
                  <a:pt x="8140446" y="18288"/>
                </a:cubicBezTo>
                <a:cubicBezTo>
                  <a:pt x="7892673" y="-4012"/>
                  <a:pt x="7668025" y="650"/>
                  <a:pt x="7543480" y="18288"/>
                </a:cubicBezTo>
                <a:cubicBezTo>
                  <a:pt x="7406710" y="-3467"/>
                  <a:pt x="7207646" y="8893"/>
                  <a:pt x="7109323" y="18288"/>
                </a:cubicBezTo>
                <a:cubicBezTo>
                  <a:pt x="6993037" y="49011"/>
                  <a:pt x="6598723" y="59405"/>
                  <a:pt x="6430952" y="18288"/>
                </a:cubicBezTo>
                <a:cubicBezTo>
                  <a:pt x="6284771" y="15315"/>
                  <a:pt x="6162730" y="20350"/>
                  <a:pt x="5915391" y="18288"/>
                </a:cubicBezTo>
                <a:cubicBezTo>
                  <a:pt x="5684668" y="13603"/>
                  <a:pt x="5422852" y="53618"/>
                  <a:pt x="5237020" y="18288"/>
                </a:cubicBezTo>
                <a:cubicBezTo>
                  <a:pt x="5035482" y="26296"/>
                  <a:pt x="4719808" y="55145"/>
                  <a:pt x="4558650" y="18288"/>
                </a:cubicBezTo>
                <a:cubicBezTo>
                  <a:pt x="4375169" y="-35587"/>
                  <a:pt x="4137553" y="12086"/>
                  <a:pt x="3880279" y="18288"/>
                </a:cubicBezTo>
                <a:cubicBezTo>
                  <a:pt x="3624533" y="32648"/>
                  <a:pt x="3467387" y="6480"/>
                  <a:pt x="3201909" y="18288"/>
                </a:cubicBezTo>
                <a:cubicBezTo>
                  <a:pt x="2918126" y="73342"/>
                  <a:pt x="2717830" y="-17156"/>
                  <a:pt x="2604943" y="18288"/>
                </a:cubicBezTo>
                <a:cubicBezTo>
                  <a:pt x="2496133" y="44525"/>
                  <a:pt x="2003915" y="18254"/>
                  <a:pt x="1845168" y="18288"/>
                </a:cubicBezTo>
                <a:cubicBezTo>
                  <a:pt x="1694518" y="14989"/>
                  <a:pt x="1344959" y="44188"/>
                  <a:pt x="1166797" y="18288"/>
                </a:cubicBezTo>
                <a:cubicBezTo>
                  <a:pt x="935925" y="69451"/>
                  <a:pt x="319712" y="-63972"/>
                  <a:pt x="0" y="18288"/>
                </a:cubicBezTo>
                <a:cubicBezTo>
                  <a:pt x="1307" y="12414"/>
                  <a:pt x="-32" y="574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custGeom>
                    <a:avLst/>
                    <a:gdLst>
                      <a:gd name="connsiteX0" fmla="*/ 0 w 8140446"/>
                      <a:gd name="connsiteY0" fmla="*/ 0 h 18288"/>
                      <a:gd name="connsiteX1" fmla="*/ 434157 w 8140446"/>
                      <a:gd name="connsiteY1" fmla="*/ 0 h 18288"/>
                      <a:gd name="connsiteX2" fmla="*/ 1193932 w 8140446"/>
                      <a:gd name="connsiteY2" fmla="*/ 0 h 18288"/>
                      <a:gd name="connsiteX3" fmla="*/ 1628089 w 8140446"/>
                      <a:gd name="connsiteY3" fmla="*/ 0 h 18288"/>
                      <a:gd name="connsiteX4" fmla="*/ 2225055 w 8140446"/>
                      <a:gd name="connsiteY4" fmla="*/ 0 h 18288"/>
                      <a:gd name="connsiteX5" fmla="*/ 3066235 w 8140446"/>
                      <a:gd name="connsiteY5" fmla="*/ 0 h 18288"/>
                      <a:gd name="connsiteX6" fmla="*/ 3744605 w 8140446"/>
                      <a:gd name="connsiteY6" fmla="*/ 0 h 18288"/>
                      <a:gd name="connsiteX7" fmla="*/ 4504380 w 8140446"/>
                      <a:gd name="connsiteY7" fmla="*/ 0 h 18288"/>
                      <a:gd name="connsiteX8" fmla="*/ 5101346 w 8140446"/>
                      <a:gd name="connsiteY8" fmla="*/ 0 h 18288"/>
                      <a:gd name="connsiteX9" fmla="*/ 5779717 w 8140446"/>
                      <a:gd name="connsiteY9" fmla="*/ 0 h 18288"/>
                      <a:gd name="connsiteX10" fmla="*/ 6620896 w 8140446"/>
                      <a:gd name="connsiteY10" fmla="*/ 0 h 18288"/>
                      <a:gd name="connsiteX11" fmla="*/ 7136458 w 8140446"/>
                      <a:gd name="connsiteY11" fmla="*/ 0 h 18288"/>
                      <a:gd name="connsiteX12" fmla="*/ 8140446 w 8140446"/>
                      <a:gd name="connsiteY12" fmla="*/ 0 h 18288"/>
                      <a:gd name="connsiteX13" fmla="*/ 8140446 w 8140446"/>
                      <a:gd name="connsiteY13" fmla="*/ 18288 h 18288"/>
                      <a:gd name="connsiteX14" fmla="*/ 7543480 w 8140446"/>
                      <a:gd name="connsiteY14" fmla="*/ 18288 h 18288"/>
                      <a:gd name="connsiteX15" fmla="*/ 7109323 w 8140446"/>
                      <a:gd name="connsiteY15" fmla="*/ 18288 h 18288"/>
                      <a:gd name="connsiteX16" fmla="*/ 6430952 w 8140446"/>
                      <a:gd name="connsiteY16" fmla="*/ 18288 h 18288"/>
                      <a:gd name="connsiteX17" fmla="*/ 5915391 w 8140446"/>
                      <a:gd name="connsiteY17" fmla="*/ 18288 h 18288"/>
                      <a:gd name="connsiteX18" fmla="*/ 5237020 w 8140446"/>
                      <a:gd name="connsiteY18" fmla="*/ 18288 h 18288"/>
                      <a:gd name="connsiteX19" fmla="*/ 4558650 w 8140446"/>
                      <a:gd name="connsiteY19" fmla="*/ 18288 h 18288"/>
                      <a:gd name="connsiteX20" fmla="*/ 3880279 w 8140446"/>
                      <a:gd name="connsiteY20" fmla="*/ 18288 h 18288"/>
                      <a:gd name="connsiteX21" fmla="*/ 3201909 w 8140446"/>
                      <a:gd name="connsiteY21" fmla="*/ 18288 h 18288"/>
                      <a:gd name="connsiteX22" fmla="*/ 2604943 w 8140446"/>
                      <a:gd name="connsiteY22" fmla="*/ 18288 h 18288"/>
                      <a:gd name="connsiteX23" fmla="*/ 1845168 w 8140446"/>
                      <a:gd name="connsiteY23" fmla="*/ 18288 h 18288"/>
                      <a:gd name="connsiteX24" fmla="*/ 1166797 w 8140446"/>
                      <a:gd name="connsiteY24" fmla="*/ 18288 h 18288"/>
                      <a:gd name="connsiteX25" fmla="*/ 0 w 8140446"/>
                      <a:gd name="connsiteY25" fmla="*/ 18288 h 18288"/>
                      <a:gd name="connsiteX26" fmla="*/ 0 w 8140446"/>
                      <a:gd name="connsiteY2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8140446" h="18288" fill="none" extrusionOk="0">
                        <a:moveTo>
                          <a:pt x="0" y="0"/>
                        </a:moveTo>
                        <a:cubicBezTo>
                          <a:pt x="94920" y="9103"/>
                          <a:pt x="287892" y="-4966"/>
                          <a:pt x="434157" y="0"/>
                        </a:cubicBezTo>
                        <a:cubicBezTo>
                          <a:pt x="580422" y="4966"/>
                          <a:pt x="943595" y="-14182"/>
                          <a:pt x="1193932" y="0"/>
                        </a:cubicBezTo>
                        <a:cubicBezTo>
                          <a:pt x="1444270" y="14182"/>
                          <a:pt x="1472129" y="5523"/>
                          <a:pt x="1628089" y="0"/>
                        </a:cubicBezTo>
                        <a:cubicBezTo>
                          <a:pt x="1784049" y="-5523"/>
                          <a:pt x="1962419" y="-17322"/>
                          <a:pt x="2225055" y="0"/>
                        </a:cubicBezTo>
                        <a:cubicBezTo>
                          <a:pt x="2487691" y="17322"/>
                          <a:pt x="2700681" y="1311"/>
                          <a:pt x="3066235" y="0"/>
                        </a:cubicBezTo>
                        <a:cubicBezTo>
                          <a:pt x="3431789" y="-1311"/>
                          <a:pt x="3405662" y="25081"/>
                          <a:pt x="3744605" y="0"/>
                        </a:cubicBezTo>
                        <a:cubicBezTo>
                          <a:pt x="4083548" y="-25081"/>
                          <a:pt x="4265111" y="-11945"/>
                          <a:pt x="4504380" y="0"/>
                        </a:cubicBezTo>
                        <a:cubicBezTo>
                          <a:pt x="4743649" y="11945"/>
                          <a:pt x="4860394" y="-2832"/>
                          <a:pt x="5101346" y="0"/>
                        </a:cubicBezTo>
                        <a:cubicBezTo>
                          <a:pt x="5342298" y="2832"/>
                          <a:pt x="5456387" y="23676"/>
                          <a:pt x="5779717" y="0"/>
                        </a:cubicBezTo>
                        <a:cubicBezTo>
                          <a:pt x="6103047" y="-23676"/>
                          <a:pt x="6270379" y="-37291"/>
                          <a:pt x="6620896" y="0"/>
                        </a:cubicBezTo>
                        <a:cubicBezTo>
                          <a:pt x="6971413" y="37291"/>
                          <a:pt x="6989068" y="24674"/>
                          <a:pt x="7136458" y="0"/>
                        </a:cubicBezTo>
                        <a:cubicBezTo>
                          <a:pt x="7283848" y="-24674"/>
                          <a:pt x="7752532" y="-22436"/>
                          <a:pt x="8140446" y="0"/>
                        </a:cubicBezTo>
                        <a:cubicBezTo>
                          <a:pt x="8140314" y="7702"/>
                          <a:pt x="8140234" y="13511"/>
                          <a:pt x="8140446" y="18288"/>
                        </a:cubicBezTo>
                        <a:cubicBezTo>
                          <a:pt x="7906329" y="-3043"/>
                          <a:pt x="7681180" y="27465"/>
                          <a:pt x="7543480" y="18288"/>
                        </a:cubicBezTo>
                        <a:cubicBezTo>
                          <a:pt x="7405780" y="9111"/>
                          <a:pt x="7216607" y="3660"/>
                          <a:pt x="7109323" y="18288"/>
                        </a:cubicBezTo>
                        <a:cubicBezTo>
                          <a:pt x="7002039" y="32916"/>
                          <a:pt x="6576231" y="42692"/>
                          <a:pt x="6430952" y="18288"/>
                        </a:cubicBezTo>
                        <a:cubicBezTo>
                          <a:pt x="6285673" y="-6116"/>
                          <a:pt x="6138840" y="34521"/>
                          <a:pt x="5915391" y="18288"/>
                        </a:cubicBezTo>
                        <a:cubicBezTo>
                          <a:pt x="5691942" y="2055"/>
                          <a:pt x="5459460" y="51666"/>
                          <a:pt x="5237020" y="18288"/>
                        </a:cubicBezTo>
                        <a:cubicBezTo>
                          <a:pt x="5014580" y="-15090"/>
                          <a:pt x="4747677" y="40449"/>
                          <a:pt x="4558650" y="18288"/>
                        </a:cubicBezTo>
                        <a:cubicBezTo>
                          <a:pt x="4369623" y="-3873"/>
                          <a:pt x="4146061" y="12568"/>
                          <a:pt x="3880279" y="18288"/>
                        </a:cubicBezTo>
                        <a:cubicBezTo>
                          <a:pt x="3614497" y="24008"/>
                          <a:pt x="3473808" y="-12908"/>
                          <a:pt x="3201909" y="18288"/>
                        </a:cubicBezTo>
                        <a:cubicBezTo>
                          <a:pt x="2930010" y="49484"/>
                          <a:pt x="2728175" y="-3430"/>
                          <a:pt x="2604943" y="18288"/>
                        </a:cubicBezTo>
                        <a:cubicBezTo>
                          <a:pt x="2481711" y="40006"/>
                          <a:pt x="2004334" y="26952"/>
                          <a:pt x="1845168" y="18288"/>
                        </a:cubicBezTo>
                        <a:cubicBezTo>
                          <a:pt x="1686003" y="9624"/>
                          <a:pt x="1375070" y="37580"/>
                          <a:pt x="1166797" y="18288"/>
                        </a:cubicBezTo>
                        <a:cubicBezTo>
                          <a:pt x="958524" y="-1004"/>
                          <a:pt x="342846" y="8880"/>
                          <a:pt x="0" y="18288"/>
                        </a:cubicBezTo>
                        <a:cubicBezTo>
                          <a:pt x="129" y="13298"/>
                          <a:pt x="-675" y="6857"/>
                          <a:pt x="0" y="0"/>
                        </a:cubicBezTo>
                        <a:close/>
                      </a:path>
                      <a:path w="8140446" h="18288" stroke="0" extrusionOk="0">
                        <a:moveTo>
                          <a:pt x="0" y="0"/>
                        </a:moveTo>
                        <a:cubicBezTo>
                          <a:pt x="142435" y="-24533"/>
                          <a:pt x="380026" y="17447"/>
                          <a:pt x="596966" y="0"/>
                        </a:cubicBezTo>
                        <a:cubicBezTo>
                          <a:pt x="813906" y="-17447"/>
                          <a:pt x="830530" y="13462"/>
                          <a:pt x="1031123" y="0"/>
                        </a:cubicBezTo>
                        <a:cubicBezTo>
                          <a:pt x="1231716" y="-13462"/>
                          <a:pt x="1634038" y="0"/>
                          <a:pt x="1872303" y="0"/>
                        </a:cubicBezTo>
                        <a:cubicBezTo>
                          <a:pt x="2110568" y="0"/>
                          <a:pt x="2261934" y="-25727"/>
                          <a:pt x="2469269" y="0"/>
                        </a:cubicBezTo>
                        <a:cubicBezTo>
                          <a:pt x="2676604" y="25727"/>
                          <a:pt x="2790440" y="16284"/>
                          <a:pt x="3066235" y="0"/>
                        </a:cubicBezTo>
                        <a:cubicBezTo>
                          <a:pt x="3342030" y="-16284"/>
                          <a:pt x="3685603" y="41976"/>
                          <a:pt x="3907414" y="0"/>
                        </a:cubicBezTo>
                        <a:cubicBezTo>
                          <a:pt x="4129225" y="-41976"/>
                          <a:pt x="4177416" y="-7598"/>
                          <a:pt x="4422976" y="0"/>
                        </a:cubicBezTo>
                        <a:cubicBezTo>
                          <a:pt x="4668536" y="7598"/>
                          <a:pt x="5023499" y="-28058"/>
                          <a:pt x="5264155" y="0"/>
                        </a:cubicBezTo>
                        <a:cubicBezTo>
                          <a:pt x="5504811" y="28058"/>
                          <a:pt x="5703675" y="13288"/>
                          <a:pt x="6105335" y="0"/>
                        </a:cubicBezTo>
                        <a:cubicBezTo>
                          <a:pt x="6506995" y="-13288"/>
                          <a:pt x="6455516" y="-5124"/>
                          <a:pt x="6783705" y="0"/>
                        </a:cubicBezTo>
                        <a:cubicBezTo>
                          <a:pt x="7111894" y="5124"/>
                          <a:pt x="7512856" y="10604"/>
                          <a:pt x="8140446" y="0"/>
                        </a:cubicBezTo>
                        <a:cubicBezTo>
                          <a:pt x="8140458" y="8833"/>
                          <a:pt x="8140986" y="9830"/>
                          <a:pt x="8140446" y="18288"/>
                        </a:cubicBezTo>
                        <a:cubicBezTo>
                          <a:pt x="7959314" y="3345"/>
                          <a:pt x="7870113" y="10437"/>
                          <a:pt x="7706289" y="18288"/>
                        </a:cubicBezTo>
                        <a:cubicBezTo>
                          <a:pt x="7542465" y="26139"/>
                          <a:pt x="7157940" y="17482"/>
                          <a:pt x="6865109" y="18288"/>
                        </a:cubicBezTo>
                        <a:cubicBezTo>
                          <a:pt x="6572278" y="19094"/>
                          <a:pt x="6524256" y="38051"/>
                          <a:pt x="6349548" y="18288"/>
                        </a:cubicBezTo>
                        <a:cubicBezTo>
                          <a:pt x="6174840" y="-1475"/>
                          <a:pt x="5951624" y="174"/>
                          <a:pt x="5671177" y="18288"/>
                        </a:cubicBezTo>
                        <a:cubicBezTo>
                          <a:pt x="5390730" y="36402"/>
                          <a:pt x="5222992" y="60058"/>
                          <a:pt x="4829998" y="18288"/>
                        </a:cubicBezTo>
                        <a:cubicBezTo>
                          <a:pt x="4437004" y="-23482"/>
                          <a:pt x="4344181" y="39087"/>
                          <a:pt x="4151627" y="18288"/>
                        </a:cubicBezTo>
                        <a:cubicBezTo>
                          <a:pt x="3959073" y="-2511"/>
                          <a:pt x="3886970" y="32875"/>
                          <a:pt x="3717470" y="18288"/>
                        </a:cubicBezTo>
                        <a:cubicBezTo>
                          <a:pt x="3547970" y="3701"/>
                          <a:pt x="3451521" y="31872"/>
                          <a:pt x="3201909" y="18288"/>
                        </a:cubicBezTo>
                        <a:cubicBezTo>
                          <a:pt x="2952297" y="4704"/>
                          <a:pt x="2543413" y="6029"/>
                          <a:pt x="2360729" y="18288"/>
                        </a:cubicBezTo>
                        <a:cubicBezTo>
                          <a:pt x="2178045" y="30547"/>
                          <a:pt x="1906056" y="25847"/>
                          <a:pt x="1682359" y="18288"/>
                        </a:cubicBezTo>
                        <a:cubicBezTo>
                          <a:pt x="1458662" y="10730"/>
                          <a:pt x="1330405" y="8046"/>
                          <a:pt x="1166797" y="18288"/>
                        </a:cubicBezTo>
                        <a:cubicBezTo>
                          <a:pt x="1003189" y="28530"/>
                          <a:pt x="278098" y="19533"/>
                          <a:pt x="0" y="18288"/>
                        </a:cubicBezTo>
                        <a:cubicBezTo>
                          <a:pt x="74" y="14054"/>
                          <a:pt x="-46" y="6997"/>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628650" y="1929384"/>
            <a:ext cx="7886700" cy="4251960"/>
          </a:xfrm>
        </p:spPr>
        <p:txBody>
          <a:bodyPr>
            <a:normAutofit/>
          </a:bodyPr>
          <a:lstStyle/>
          <a:p>
            <a:pPr marL="0" indent="0">
              <a:buNone/>
            </a:pPr>
            <a:r>
              <a:rPr lang="en-US" sz="1900"/>
              <a:t>Flow and Subjective Well-Being</a:t>
            </a:r>
          </a:p>
          <a:p>
            <a:pPr lvl="0" hangingPunct="0"/>
            <a:r>
              <a:rPr lang="en-US" sz="1900"/>
              <a:t>Research on flow began with asking people about moments of well-being</a:t>
            </a:r>
          </a:p>
          <a:p>
            <a:pPr lvl="0" hangingPunct="0"/>
            <a:r>
              <a:rPr lang="en-US" sz="1900"/>
              <a:t>Study relationships between being in frequent flow experiences and increased well-being</a:t>
            </a:r>
          </a:p>
          <a:p>
            <a:pPr lvl="1" hangingPunct="0"/>
            <a:r>
              <a:rPr lang="en-US" sz="1900"/>
              <a:t>Flow is a significant component of leisure activities, so in this way flow is related to leisure and satisfaction</a:t>
            </a:r>
          </a:p>
          <a:p>
            <a:pPr lvl="1" hangingPunct="0"/>
            <a:r>
              <a:rPr lang="en-US" sz="1900"/>
              <a:t>Flow related to intrinsically motivated activities…keep repeated activities that produce flow (even though they receive no recognition or money to do so)</a:t>
            </a:r>
          </a:p>
          <a:p>
            <a:pPr marL="0" indent="0">
              <a:buNone/>
            </a:pPr>
            <a:endParaRPr lang="en-IN" sz="1900"/>
          </a:p>
        </p:txBody>
      </p:sp>
      <p:sp>
        <p:nvSpPr>
          <p:cNvPr id="6" name="Footer Placeholder 5"/>
          <p:cNvSpPr>
            <a:spLocks noGrp="1"/>
          </p:cNvSpPr>
          <p:nvPr>
            <p:ph type="ftr" sz="quarter" idx="11"/>
          </p:nvPr>
        </p:nvSpPr>
        <p:spPr>
          <a:xfrm>
            <a:off x="3028950" y="6356350"/>
            <a:ext cx="3086100" cy="365125"/>
          </a:xfrm>
        </p:spPr>
        <p:txBody>
          <a:bodyPr>
            <a:normAutofit/>
          </a:bodyPr>
          <a:lstStyle/>
          <a:p>
            <a:pPr>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40</a:t>
            </a:fld>
            <a:endParaRPr lang="en-US"/>
          </a:p>
        </p:txBody>
      </p:sp>
    </p:spTree>
    <p:extLst>
      <p:ext uri="{BB962C8B-B14F-4D97-AF65-F5344CB8AC3E}">
        <p14:creationId xmlns:p14="http://schemas.microsoft.com/office/powerpoint/2010/main" val="11250299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C61293E-6EBE-43EF-A52C-9BEBFD7679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p:cNvSpPr>
            <a:spLocks noGrp="1"/>
          </p:cNvSpPr>
          <p:nvPr>
            <p:ph type="title"/>
          </p:nvPr>
        </p:nvSpPr>
        <p:spPr>
          <a:xfrm>
            <a:off x="3973321" y="329184"/>
            <a:ext cx="4688333" cy="1783080"/>
          </a:xfrm>
        </p:spPr>
        <p:txBody>
          <a:bodyPr anchor="b">
            <a:normAutofit/>
          </a:bodyPr>
          <a:lstStyle/>
          <a:p>
            <a:r>
              <a:rPr lang="en-US" sz="4700"/>
              <a:t>Flow and Optimal Experience</a:t>
            </a:r>
          </a:p>
        </p:txBody>
      </p:sp>
      <p:pic>
        <p:nvPicPr>
          <p:cNvPr id="8" name="Picture 7" descr="Colourful strings being woven togehter">
            <a:extLst>
              <a:ext uri="{FF2B5EF4-FFF2-40B4-BE49-F238E27FC236}">
                <a16:creationId xmlns:a16="http://schemas.microsoft.com/office/drawing/2014/main" id="{9E0FCDD8-8A6A-9014-70C3-785D486679F4}"/>
              </a:ext>
            </a:extLst>
          </p:cNvPr>
          <p:cNvPicPr>
            <a:picLocks noChangeAspect="1"/>
          </p:cNvPicPr>
          <p:nvPr/>
        </p:nvPicPr>
        <p:blipFill rotWithShape="1">
          <a:blip r:embed="rId3"/>
          <a:srcRect l="42704" r="23298" b="-1"/>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4" name="sketchy line">
            <a:extLst>
              <a:ext uri="{FF2B5EF4-FFF2-40B4-BE49-F238E27FC236}">
                <a16:creationId xmlns:a16="http://schemas.microsoft.com/office/drawing/2014/main" id="{21540236-BFD5-4A9D-8840-4703E7F768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3321" y="2374947"/>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 name="connsiteX0" fmla="*/ 0 w 3182692"/>
              <a:gd name="connsiteY0" fmla="*/ 0 h 18288"/>
              <a:gd name="connsiteX1" fmla="*/ 572885 w 3182692"/>
              <a:gd name="connsiteY1" fmla="*/ 0 h 18288"/>
              <a:gd name="connsiteX2" fmla="*/ 1113942 w 3182692"/>
              <a:gd name="connsiteY2" fmla="*/ 0 h 18288"/>
              <a:gd name="connsiteX3" fmla="*/ 1686827 w 3182692"/>
              <a:gd name="connsiteY3" fmla="*/ 0 h 18288"/>
              <a:gd name="connsiteX4" fmla="*/ 2323365 w 3182692"/>
              <a:gd name="connsiteY4" fmla="*/ 0 h 18288"/>
              <a:gd name="connsiteX5" fmla="*/ 3182692 w 3182692"/>
              <a:gd name="connsiteY5" fmla="*/ 0 h 18288"/>
              <a:gd name="connsiteX6" fmla="*/ 3182692 w 3182692"/>
              <a:gd name="connsiteY6" fmla="*/ 18288 h 18288"/>
              <a:gd name="connsiteX7" fmla="*/ 2546154 w 3182692"/>
              <a:gd name="connsiteY7" fmla="*/ 18288 h 18288"/>
              <a:gd name="connsiteX8" fmla="*/ 1845961 w 3182692"/>
              <a:gd name="connsiteY8" fmla="*/ 18288 h 18288"/>
              <a:gd name="connsiteX9" fmla="*/ 1304904 w 3182692"/>
              <a:gd name="connsiteY9" fmla="*/ 18288 h 18288"/>
              <a:gd name="connsiteX10" fmla="*/ 604711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25870" y="33585"/>
                  <a:pt x="418138" y="17639"/>
                  <a:pt x="636538" y="0"/>
                </a:cubicBezTo>
                <a:cubicBezTo>
                  <a:pt x="865372" y="-3887"/>
                  <a:pt x="1010746" y="-18166"/>
                  <a:pt x="1273077" y="0"/>
                </a:cubicBezTo>
                <a:cubicBezTo>
                  <a:pt x="1527846" y="-24408"/>
                  <a:pt x="1703704" y="-36055"/>
                  <a:pt x="1909615" y="0"/>
                </a:cubicBezTo>
                <a:cubicBezTo>
                  <a:pt x="2119487" y="1667"/>
                  <a:pt x="2200543" y="-19343"/>
                  <a:pt x="2482500" y="0"/>
                </a:cubicBezTo>
                <a:cubicBezTo>
                  <a:pt x="2736775" y="57438"/>
                  <a:pt x="2997998" y="-48885"/>
                  <a:pt x="3182692" y="0"/>
                </a:cubicBezTo>
                <a:cubicBezTo>
                  <a:pt x="3182658" y="4844"/>
                  <a:pt x="3182282" y="11009"/>
                  <a:pt x="3182692" y="18288"/>
                </a:cubicBezTo>
                <a:cubicBezTo>
                  <a:pt x="2944477" y="15825"/>
                  <a:pt x="2868931" y="12370"/>
                  <a:pt x="2609807" y="18288"/>
                </a:cubicBezTo>
                <a:cubicBezTo>
                  <a:pt x="2341556" y="6193"/>
                  <a:pt x="2324113" y="22706"/>
                  <a:pt x="2068750" y="18288"/>
                </a:cubicBezTo>
                <a:cubicBezTo>
                  <a:pt x="1817163" y="7852"/>
                  <a:pt x="1716254" y="25979"/>
                  <a:pt x="1432211" y="18288"/>
                </a:cubicBezTo>
                <a:cubicBezTo>
                  <a:pt x="1164747" y="-28137"/>
                  <a:pt x="993140" y="27575"/>
                  <a:pt x="859327" y="18288"/>
                </a:cubicBezTo>
                <a:cubicBezTo>
                  <a:pt x="750703" y="-24974"/>
                  <a:pt x="236193" y="38731"/>
                  <a:pt x="0" y="18288"/>
                </a:cubicBezTo>
                <a:cubicBezTo>
                  <a:pt x="-649" y="11698"/>
                  <a:pt x="663" y="5413"/>
                  <a:pt x="0" y="0"/>
                </a:cubicBezTo>
                <a:close/>
              </a:path>
              <a:path w="3182692" h="18288" stroke="0" extrusionOk="0">
                <a:moveTo>
                  <a:pt x="0" y="0"/>
                </a:moveTo>
                <a:cubicBezTo>
                  <a:pt x="224421" y="-39331"/>
                  <a:pt x="418777" y="11439"/>
                  <a:pt x="572885" y="0"/>
                </a:cubicBezTo>
                <a:cubicBezTo>
                  <a:pt x="750333" y="-6388"/>
                  <a:pt x="940592" y="15806"/>
                  <a:pt x="1113942" y="0"/>
                </a:cubicBezTo>
                <a:cubicBezTo>
                  <a:pt x="1322785" y="-1777"/>
                  <a:pt x="1505363" y="28230"/>
                  <a:pt x="1686827" y="0"/>
                </a:cubicBezTo>
                <a:cubicBezTo>
                  <a:pt x="1853304" y="1595"/>
                  <a:pt x="2194652" y="-1232"/>
                  <a:pt x="2323365" y="0"/>
                </a:cubicBezTo>
                <a:cubicBezTo>
                  <a:pt x="2488732" y="36406"/>
                  <a:pt x="2902093" y="-40336"/>
                  <a:pt x="3182692" y="0"/>
                </a:cubicBezTo>
                <a:cubicBezTo>
                  <a:pt x="3182167" y="5049"/>
                  <a:pt x="3182885" y="12044"/>
                  <a:pt x="3182692" y="18288"/>
                </a:cubicBezTo>
                <a:cubicBezTo>
                  <a:pt x="3012563" y="-37820"/>
                  <a:pt x="2765409" y="35618"/>
                  <a:pt x="2546154" y="18288"/>
                </a:cubicBezTo>
                <a:cubicBezTo>
                  <a:pt x="2333381" y="13914"/>
                  <a:pt x="2154438" y="9838"/>
                  <a:pt x="1845961" y="18288"/>
                </a:cubicBezTo>
                <a:cubicBezTo>
                  <a:pt x="1531509" y="33812"/>
                  <a:pt x="1456631" y="-6606"/>
                  <a:pt x="1304904" y="18288"/>
                </a:cubicBezTo>
                <a:cubicBezTo>
                  <a:pt x="1168344" y="36351"/>
                  <a:pt x="928499" y="15047"/>
                  <a:pt x="604711" y="18288"/>
                </a:cubicBezTo>
                <a:cubicBezTo>
                  <a:pt x="285438" y="38007"/>
                  <a:pt x="116029" y="-22204"/>
                  <a:pt x="0" y="18288"/>
                </a:cubicBezTo>
                <a:cubicBezTo>
                  <a:pt x="-39" y="12511"/>
                  <a:pt x="-381" y="8039"/>
                  <a:pt x="0" y="0"/>
                </a:cubicBezTo>
                <a:close/>
              </a:path>
              <a:path w="3182692" h="18288" fill="none" stroke="0" extrusionOk="0">
                <a:moveTo>
                  <a:pt x="0" y="0"/>
                </a:moveTo>
                <a:cubicBezTo>
                  <a:pt x="245832" y="29445"/>
                  <a:pt x="388924" y="-28919"/>
                  <a:pt x="636538" y="0"/>
                </a:cubicBezTo>
                <a:cubicBezTo>
                  <a:pt x="854919" y="4634"/>
                  <a:pt x="991654" y="8864"/>
                  <a:pt x="1273077" y="0"/>
                </a:cubicBezTo>
                <a:cubicBezTo>
                  <a:pt x="1566644" y="-14667"/>
                  <a:pt x="1666526" y="3717"/>
                  <a:pt x="1909615" y="0"/>
                </a:cubicBezTo>
                <a:cubicBezTo>
                  <a:pt x="2138795" y="27220"/>
                  <a:pt x="2225506" y="-13892"/>
                  <a:pt x="2482500" y="0"/>
                </a:cubicBezTo>
                <a:cubicBezTo>
                  <a:pt x="2775583" y="32183"/>
                  <a:pt x="3003218" y="-43687"/>
                  <a:pt x="3182692" y="0"/>
                </a:cubicBezTo>
                <a:cubicBezTo>
                  <a:pt x="3183006" y="4158"/>
                  <a:pt x="3181713" y="12539"/>
                  <a:pt x="3182692" y="18288"/>
                </a:cubicBezTo>
                <a:cubicBezTo>
                  <a:pt x="2959845" y="25574"/>
                  <a:pt x="2868929" y="24980"/>
                  <a:pt x="2609807" y="18288"/>
                </a:cubicBezTo>
                <a:cubicBezTo>
                  <a:pt x="2341405" y="5992"/>
                  <a:pt x="2328488" y="20436"/>
                  <a:pt x="2068750" y="18288"/>
                </a:cubicBezTo>
                <a:cubicBezTo>
                  <a:pt x="1816113" y="2395"/>
                  <a:pt x="1699345" y="36855"/>
                  <a:pt x="1432211" y="18288"/>
                </a:cubicBezTo>
                <a:cubicBezTo>
                  <a:pt x="1148381" y="-28184"/>
                  <a:pt x="987622" y="2403"/>
                  <a:pt x="859327" y="18288"/>
                </a:cubicBezTo>
                <a:cubicBezTo>
                  <a:pt x="743387" y="37422"/>
                  <a:pt x="194182" y="18789"/>
                  <a:pt x="0" y="18288"/>
                </a:cubicBezTo>
                <a:cubicBezTo>
                  <a:pt x="20" y="11469"/>
                  <a:pt x="-29" y="5154"/>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727557108">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idx="1"/>
          </p:nvPr>
        </p:nvSpPr>
        <p:spPr>
          <a:xfrm>
            <a:off x="3973321" y="2706624"/>
            <a:ext cx="4688333" cy="3483864"/>
          </a:xfrm>
        </p:spPr>
        <p:txBody>
          <a:bodyPr>
            <a:normAutofit/>
          </a:bodyPr>
          <a:lstStyle/>
          <a:p>
            <a:pPr marL="0" indent="0">
              <a:buNone/>
            </a:pPr>
            <a:r>
              <a:rPr lang="en-US" sz="1900"/>
              <a:t>Comments on the Theory of Flow </a:t>
            </a:r>
          </a:p>
          <a:p>
            <a:pPr lvl="0" hangingPunct="0"/>
            <a:r>
              <a:rPr lang="en-US" sz="1900"/>
              <a:t>Not all studies have supported the predictions of the flow theory</a:t>
            </a:r>
          </a:p>
          <a:p>
            <a:pPr lvl="0" hangingPunct="0"/>
            <a:r>
              <a:rPr lang="en-US" sz="1900"/>
              <a:t>Flow experience is not always present in a specific activity</a:t>
            </a:r>
          </a:p>
          <a:p>
            <a:pPr lvl="0" hangingPunct="0"/>
            <a:r>
              <a:rPr lang="en-US" sz="1900"/>
              <a:t>If flow activity is present, it may not be present throughout the duration of the activity</a:t>
            </a:r>
          </a:p>
          <a:p>
            <a:pPr lvl="0" hangingPunct="0"/>
            <a:r>
              <a:rPr lang="en-US" sz="1900"/>
              <a:t>Flow is fostered by intrinsic interest in and curiosity about the task</a:t>
            </a:r>
          </a:p>
          <a:p>
            <a:pPr marL="0" indent="0">
              <a:buNone/>
            </a:pPr>
            <a:endParaRPr lang="en-US" sz="1900"/>
          </a:p>
          <a:p>
            <a:pPr marL="0" indent="0">
              <a:buNone/>
            </a:pPr>
            <a:endParaRPr lang="en-US" sz="1900"/>
          </a:p>
        </p:txBody>
      </p:sp>
      <p:sp>
        <p:nvSpPr>
          <p:cNvPr id="6" name="Footer Placeholder 5"/>
          <p:cNvSpPr>
            <a:spLocks noGrp="1"/>
          </p:cNvSpPr>
          <p:nvPr>
            <p:ph type="ftr" sz="quarter" idx="11"/>
          </p:nvPr>
        </p:nvSpPr>
        <p:spPr>
          <a:xfrm>
            <a:off x="3973321" y="6356350"/>
            <a:ext cx="3086100" cy="365125"/>
          </a:xfrm>
        </p:spPr>
        <p:txBody>
          <a:bodyPr>
            <a:normAutofit/>
          </a:bodyPr>
          <a:lstStyle/>
          <a:p>
            <a:pPr algn="l">
              <a:lnSpc>
                <a:spcPct val="90000"/>
              </a:lnSpc>
              <a:spcAft>
                <a:spcPts val="600"/>
              </a:spcAft>
            </a:pPr>
            <a:r>
              <a:rPr lang="en-US" sz="900">
                <a:effectLst/>
                <a:latin typeface="Arial" panose="020B0604020202020204" pitchFamily="34" charset="0"/>
                <a:ea typeface="Calibri" panose="020F0502020204030204" pitchFamily="34" charset="0"/>
              </a:rPr>
              <a:t>Compton, </a:t>
            </a:r>
            <a:r>
              <a:rPr lang="en-US" sz="900" i="1">
                <a:effectLst/>
                <a:latin typeface="Arial" panose="020B0604020202020204" pitchFamily="34" charset="0"/>
                <a:ea typeface="Calibri" panose="020F0502020204030204" pitchFamily="34" charset="0"/>
              </a:rPr>
              <a:t>Positive Psychology, 3e</a:t>
            </a:r>
            <a:r>
              <a:rPr lang="en-US" sz="900">
                <a:effectLst/>
                <a:latin typeface="Arial" panose="020B0604020202020204" pitchFamily="34" charset="0"/>
                <a:ea typeface="Calibri" panose="020F0502020204030204" pitchFamily="34" charset="0"/>
              </a:rPr>
              <a:t>.</a:t>
            </a:r>
            <a:r>
              <a:rPr lang="en-US" sz="900" kern="1200">
                <a:effectLst/>
                <a:latin typeface="Arial" panose="020B0604020202020204" pitchFamily="34" charset="0"/>
                <a:ea typeface="Times New Roman" panose="02020603050405020304" pitchFamily="18" charset="0"/>
              </a:rPr>
              <a:t> </a:t>
            </a:r>
            <a:r>
              <a:rPr lang="en-US" sz="900">
                <a:effectLst/>
                <a:latin typeface="Arial" panose="020B0604020202020204" pitchFamily="34" charset="0"/>
                <a:ea typeface="Times New Roman" panose="02020603050405020304" pitchFamily="18" charset="0"/>
              </a:rPr>
              <a:t>© SAGE Publications, 2020.</a:t>
            </a:r>
            <a:endParaRPr lang="en-US" sz="900"/>
          </a:p>
        </p:txBody>
      </p:sp>
      <p:sp>
        <p:nvSpPr>
          <p:cNvPr id="5" name="Slide Number Placeholder 4"/>
          <p:cNvSpPr>
            <a:spLocks noGrp="1"/>
          </p:cNvSpPr>
          <p:nvPr>
            <p:ph type="sldNum" sz="quarter" idx="4294967295"/>
          </p:nvPr>
        </p:nvSpPr>
        <p:spPr/>
        <p:txBody>
          <a:bodyPr/>
          <a:lstStyle/>
          <a:p>
            <a:pPr>
              <a:spcAft>
                <a:spcPts val="600"/>
              </a:spcAft>
            </a:pPr>
            <a:fld id="{B6F15528-21DE-4FAA-801E-634DDDAF4B2B}" type="slidenum">
              <a:rPr lang="en-US" smtClean="0"/>
              <a:pPr>
                <a:spcAft>
                  <a:spcPts val="600"/>
                </a:spcAft>
              </a:pPr>
              <a:t>41</a:t>
            </a:fld>
            <a:endParaRPr lang="en-US"/>
          </a:p>
        </p:txBody>
      </p:sp>
    </p:spTree>
    <p:extLst>
      <p:ext uri="{BB962C8B-B14F-4D97-AF65-F5344CB8AC3E}">
        <p14:creationId xmlns:p14="http://schemas.microsoft.com/office/powerpoint/2010/main" val="10460226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F5FA861B6BEB4497E30226FB654B7F" ma:contentTypeVersion="14" ma:contentTypeDescription="Create a new document." ma:contentTypeScope="" ma:versionID="5446b6abc1174e76b1ecf231e0511309">
  <xsd:schema xmlns:xsd="http://www.w3.org/2001/XMLSchema" xmlns:xs="http://www.w3.org/2001/XMLSchema" xmlns:p="http://schemas.microsoft.com/office/2006/metadata/properties" xmlns:ns3="098d3ce3-1732-4665-af2b-0c47aa6f0599" xmlns:ns4="6ebc9d44-dfc5-41fa-9646-f594d8bccd35" targetNamespace="http://schemas.microsoft.com/office/2006/metadata/properties" ma:root="true" ma:fieldsID="6ac3cd6cbff858ee08bb67d456e99cb1" ns3:_="" ns4:_="">
    <xsd:import namespace="098d3ce3-1732-4665-af2b-0c47aa6f0599"/>
    <xsd:import namespace="6ebc9d44-dfc5-41fa-9646-f594d8bccd35"/>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Location" minOccurs="0"/>
                <xsd:element ref="ns4:SharedWithUsers" minOccurs="0"/>
                <xsd:element ref="ns4:SharedWithDetails" minOccurs="0"/>
                <xsd:element ref="ns4:SharingHintHash"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98d3ce3-1732-4665-af2b-0c47aa6f059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ebc9d44-dfc5-41fa-9646-f594d8bccd3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77D237-49E5-43D1-BBAE-C65D6743158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98d3ce3-1732-4665-af2b-0c47aa6f0599"/>
    <ds:schemaRef ds:uri="6ebc9d44-dfc5-41fa-9646-f594d8bccd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14F560-3B9A-438C-83B1-6E3F72FA0877}">
  <ds:schemaRefs>
    <ds:schemaRef ds:uri="http://schemas.microsoft.com/sharepoint/v3/contenttype/forms"/>
  </ds:schemaRefs>
</ds:datastoreItem>
</file>

<file path=customXml/itemProps3.xml><?xml version="1.0" encoding="utf-8"?>
<ds:datastoreItem xmlns:ds="http://schemas.openxmlformats.org/officeDocument/2006/customXml" ds:itemID="{0F9FC689-0397-489D-B6C4-918490A97925}">
  <ds:schemaRefs>
    <ds:schemaRef ds:uri="http://schemas.openxmlformats.org/package/2006/metadata/core-properties"/>
    <ds:schemaRef ds:uri="http://schemas.microsoft.com/office/2006/documentManagement/types"/>
    <ds:schemaRef ds:uri="http://purl.org/dc/elements/1.1/"/>
    <ds:schemaRef ds:uri="http://schemas.microsoft.com/office/2006/metadata/properties"/>
    <ds:schemaRef ds:uri="6ebc9d44-dfc5-41fa-9646-f594d8bccd35"/>
    <ds:schemaRef ds:uri="http://purl.org/dc/terms/"/>
    <ds:schemaRef ds:uri="http://schemas.microsoft.com/office/infopath/2007/PartnerControls"/>
    <ds:schemaRef ds:uri="098d3ce3-1732-4665-af2b-0c47aa6f0599"/>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Office Theme</Template>
  <TotalTime>3244</TotalTime>
  <Words>2124</Words>
  <Application>Microsoft Office PowerPoint</Application>
  <PresentationFormat>On-screen Show (4:3)</PresentationFormat>
  <Paragraphs>282</Paragraphs>
  <Slides>41</Slides>
  <Notes>11</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Calibri Light</vt:lpstr>
      <vt:lpstr>Linux Libertine</vt:lpstr>
      <vt:lpstr>Office Theme</vt:lpstr>
      <vt:lpstr>Chapter 5</vt:lpstr>
      <vt:lpstr>Thích Nhất Hạnh </vt:lpstr>
      <vt:lpstr>Media Multi-Tasking</vt:lpstr>
      <vt:lpstr>Mindfulness</vt:lpstr>
      <vt:lpstr>PowerPoint Presentation</vt:lpstr>
      <vt:lpstr>PowerPoint Presentation</vt:lpstr>
      <vt:lpstr>PowerPoint Presentation</vt:lpstr>
      <vt:lpstr>Mindfulness</vt:lpstr>
      <vt:lpstr>Mindfulness</vt:lpstr>
      <vt:lpstr>PowerPoint Presentation</vt:lpstr>
      <vt:lpstr>Psychological Benefits of Mindfulness</vt:lpstr>
      <vt:lpstr>Trait Mindfulness and Prosocial Behaviors</vt:lpstr>
      <vt:lpstr>Types of Mindfulness Practices</vt:lpstr>
      <vt:lpstr>An example of a Gatha poem</vt:lpstr>
      <vt:lpstr>Let’s Mindfully Meditate</vt:lpstr>
      <vt:lpstr>Well-Being Journal Entry #11</vt:lpstr>
      <vt:lpstr>Mindfulness Interventions &amp; Physical Functioning</vt:lpstr>
      <vt:lpstr>Mindfulness Interventions &amp; Physical Functioning</vt:lpstr>
      <vt:lpstr>Mindfulness Interventions &amp; Psychological Functioning</vt:lpstr>
      <vt:lpstr>Benefit of Mindfulness:  Mental Health</vt:lpstr>
      <vt:lpstr>Your Brain on Mindfulness</vt:lpstr>
      <vt:lpstr>How does mindfulness work?</vt:lpstr>
      <vt:lpstr>PowerPoint Presentation</vt:lpstr>
      <vt:lpstr>PowerPoint Presentation</vt:lpstr>
      <vt:lpstr>Savoring</vt:lpstr>
      <vt:lpstr>Savoring</vt:lpstr>
      <vt:lpstr>Savoring</vt:lpstr>
      <vt:lpstr>Well-Being Journal Entry #12: Savoring Accomplishments</vt:lpstr>
      <vt:lpstr>Conditions that Enhance Savoring</vt:lpstr>
      <vt:lpstr>Savoring and Task Completion</vt:lpstr>
      <vt:lpstr>Well-Being Journal #13: Savoring</vt:lpstr>
      <vt:lpstr>Flow  (Nakamura &amp; Csikszentmihalyi, 2001)</vt:lpstr>
      <vt:lpstr>Conditions that Facilitate Flow</vt:lpstr>
      <vt:lpstr>Flow Channel</vt:lpstr>
      <vt:lpstr>Flow and Optimal Experience</vt:lpstr>
      <vt:lpstr>Flow and Optimal Experience</vt:lpstr>
      <vt:lpstr>Flow and Optimal Experience</vt:lpstr>
      <vt:lpstr>Flow and Optimal Experience</vt:lpstr>
      <vt:lpstr>Flow and Optimal Experience</vt:lpstr>
      <vt:lpstr>Flow and Optimal Experience</vt:lpstr>
      <vt:lpstr>Flow and Optimal Experience</vt:lpstr>
    </vt:vector>
  </TitlesOfParts>
  <Company>Cambridge University Press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Jane Adams</dc:creator>
  <cp:lastModifiedBy>Traver, Holly</cp:lastModifiedBy>
  <cp:revision>41</cp:revision>
  <dcterms:created xsi:type="dcterms:W3CDTF">2021-07-26T18:02:28Z</dcterms:created>
  <dcterms:modified xsi:type="dcterms:W3CDTF">2025-05-25T20:26:50Z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0x01010031F5FA861B6BEB4497E30226FB654B7F</vt:lpwstr>
  </property>
</Properties>
</file>