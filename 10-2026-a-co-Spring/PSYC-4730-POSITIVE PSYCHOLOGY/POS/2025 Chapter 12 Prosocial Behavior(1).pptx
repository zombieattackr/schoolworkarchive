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4"/>
  </p:sldMasterIdLst>
  <p:notesMasterIdLst>
    <p:notesMasterId r:id="rId29"/>
  </p:notesMasterIdLst>
  <p:handoutMasterIdLst>
    <p:handoutMasterId r:id="rId30"/>
  </p:handoutMasterIdLst>
  <p:sldIdLst>
    <p:sldId id="259" r:id="rId5"/>
    <p:sldId id="356" r:id="rId6"/>
    <p:sldId id="357" r:id="rId7"/>
    <p:sldId id="358" r:id="rId8"/>
    <p:sldId id="374" r:id="rId9"/>
    <p:sldId id="373" r:id="rId10"/>
    <p:sldId id="372" r:id="rId11"/>
    <p:sldId id="359" r:id="rId12"/>
    <p:sldId id="361" r:id="rId13"/>
    <p:sldId id="362" r:id="rId14"/>
    <p:sldId id="363" r:id="rId15"/>
    <p:sldId id="379" r:id="rId16"/>
    <p:sldId id="364" r:id="rId17"/>
    <p:sldId id="378" r:id="rId18"/>
    <p:sldId id="382" r:id="rId19"/>
    <p:sldId id="365" r:id="rId20"/>
    <p:sldId id="383" r:id="rId21"/>
    <p:sldId id="384" r:id="rId22"/>
    <p:sldId id="366" r:id="rId23"/>
    <p:sldId id="367" r:id="rId24"/>
    <p:sldId id="368" r:id="rId25"/>
    <p:sldId id="369" r:id="rId26"/>
    <p:sldId id="370" r:id="rId27"/>
    <p:sldId id="371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8" autoAdjust="0"/>
    <p:restoredTop sz="95365" autoAdjust="0"/>
  </p:normalViewPr>
  <p:slideViewPr>
    <p:cSldViewPr snapToGrid="0">
      <p:cViewPr varScale="1">
        <p:scale>
          <a:sx n="42" d="100"/>
          <a:sy n="42" d="100"/>
        </p:scale>
        <p:origin x="1471" y="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2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40E694-8FF1-4C4A-B1F6-6C81E49D0131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DCEF0A1-0896-484C-BCAA-064340A86B3B}">
      <dgm:prSet/>
      <dgm:spPr/>
      <dgm:t>
        <a:bodyPr/>
        <a:lstStyle/>
        <a:p>
          <a:r>
            <a:rPr lang="en-US"/>
            <a:t>Egoism-Motivated Altruism</a:t>
          </a:r>
        </a:p>
      </dgm:t>
    </dgm:pt>
    <dgm:pt modelId="{77E4A705-7144-4AC9-88F6-864374E95894}" type="parTrans" cxnId="{E212BDF1-D96A-4ABD-8C0F-22C66F61D40A}">
      <dgm:prSet/>
      <dgm:spPr/>
      <dgm:t>
        <a:bodyPr/>
        <a:lstStyle/>
        <a:p>
          <a:endParaRPr lang="en-US"/>
        </a:p>
      </dgm:t>
    </dgm:pt>
    <dgm:pt modelId="{C649091E-58ED-40D2-A7E5-72C7A53C737F}" type="sibTrans" cxnId="{E212BDF1-D96A-4ABD-8C0F-22C66F61D40A}">
      <dgm:prSet/>
      <dgm:spPr/>
      <dgm:t>
        <a:bodyPr/>
        <a:lstStyle/>
        <a:p>
          <a:endParaRPr lang="en-US"/>
        </a:p>
      </dgm:t>
    </dgm:pt>
    <dgm:pt modelId="{90BE528F-9D5A-42FA-BBF1-FBD8A02B4CD2}">
      <dgm:prSet/>
      <dgm:spPr/>
      <dgm:t>
        <a:bodyPr/>
        <a:lstStyle/>
        <a:p>
          <a:r>
            <a:rPr lang="en-US" dirty="0"/>
            <a:t>Engaging in prosocial behaviors because it benefits you to do so</a:t>
          </a:r>
        </a:p>
      </dgm:t>
    </dgm:pt>
    <dgm:pt modelId="{411C63A9-FE56-4FA3-B3CB-A513380BFC67}" type="parTrans" cxnId="{E3D9439C-6EA2-4CD8-81F1-22431D95E876}">
      <dgm:prSet/>
      <dgm:spPr/>
      <dgm:t>
        <a:bodyPr/>
        <a:lstStyle/>
        <a:p>
          <a:endParaRPr lang="en-US"/>
        </a:p>
      </dgm:t>
    </dgm:pt>
    <dgm:pt modelId="{0736DE07-8C41-4FA4-8660-D1CD249C65B5}" type="sibTrans" cxnId="{E3D9439C-6EA2-4CD8-81F1-22431D95E876}">
      <dgm:prSet/>
      <dgm:spPr/>
      <dgm:t>
        <a:bodyPr/>
        <a:lstStyle/>
        <a:p>
          <a:endParaRPr lang="en-US"/>
        </a:p>
      </dgm:t>
    </dgm:pt>
    <dgm:pt modelId="{4AAF1C07-15D7-4F00-B72C-FAA4BE72449D}">
      <dgm:prSet/>
      <dgm:spPr/>
      <dgm:t>
        <a:bodyPr/>
        <a:lstStyle/>
        <a:p>
          <a:r>
            <a:rPr lang="en-US" dirty="0"/>
            <a:t>Financial rewards, social capital, increased self-worth</a:t>
          </a:r>
        </a:p>
      </dgm:t>
    </dgm:pt>
    <dgm:pt modelId="{787A5BA9-CF05-4A2A-BB31-0DB78635894E}" type="parTrans" cxnId="{51458072-46FB-4D4F-8007-DB90BAF6DFEB}">
      <dgm:prSet/>
      <dgm:spPr/>
      <dgm:t>
        <a:bodyPr/>
        <a:lstStyle/>
        <a:p>
          <a:endParaRPr lang="en-US"/>
        </a:p>
      </dgm:t>
    </dgm:pt>
    <dgm:pt modelId="{91988B65-A69B-402F-8AFB-70F0E1693BEB}" type="sibTrans" cxnId="{51458072-46FB-4D4F-8007-DB90BAF6DFEB}">
      <dgm:prSet/>
      <dgm:spPr/>
      <dgm:t>
        <a:bodyPr/>
        <a:lstStyle/>
        <a:p>
          <a:endParaRPr lang="en-US"/>
        </a:p>
      </dgm:t>
    </dgm:pt>
    <dgm:pt modelId="{0D37EF0A-636F-4C19-865B-4781835ED7C7}">
      <dgm:prSet/>
      <dgm:spPr/>
      <dgm:t>
        <a:bodyPr/>
        <a:lstStyle/>
        <a:p>
          <a:r>
            <a:rPr lang="en-US"/>
            <a:t>Empathy-Motivated Altruism</a:t>
          </a:r>
        </a:p>
      </dgm:t>
    </dgm:pt>
    <dgm:pt modelId="{5AF02B87-C35E-45CA-AD8E-32253E1DFB99}" type="parTrans" cxnId="{CA90BD3C-CCF4-46D5-A5A9-0E0427FF86EA}">
      <dgm:prSet/>
      <dgm:spPr/>
      <dgm:t>
        <a:bodyPr/>
        <a:lstStyle/>
        <a:p>
          <a:endParaRPr lang="en-US"/>
        </a:p>
      </dgm:t>
    </dgm:pt>
    <dgm:pt modelId="{743492EE-B307-4543-A4E7-7F560E82FA3F}" type="sibTrans" cxnId="{CA90BD3C-CCF4-46D5-A5A9-0E0427FF86EA}">
      <dgm:prSet/>
      <dgm:spPr/>
      <dgm:t>
        <a:bodyPr/>
        <a:lstStyle/>
        <a:p>
          <a:endParaRPr lang="en-US"/>
        </a:p>
      </dgm:t>
    </dgm:pt>
    <dgm:pt modelId="{D7913A2E-8085-43B6-AD12-2153C8A28374}">
      <dgm:prSet/>
      <dgm:spPr/>
      <dgm:t>
        <a:bodyPr/>
        <a:lstStyle/>
        <a:p>
          <a:r>
            <a:rPr lang="en-US"/>
            <a:t>Engaging in helping behaviors to reduce the needs of others, without consideration of costs or benefits to self</a:t>
          </a:r>
        </a:p>
      </dgm:t>
    </dgm:pt>
    <dgm:pt modelId="{5054D625-FA97-4B59-9634-AB75E1DFF919}" type="parTrans" cxnId="{74644CDE-E2F6-4567-ACCB-669219E7A13B}">
      <dgm:prSet/>
      <dgm:spPr/>
      <dgm:t>
        <a:bodyPr/>
        <a:lstStyle/>
        <a:p>
          <a:endParaRPr lang="en-US"/>
        </a:p>
      </dgm:t>
    </dgm:pt>
    <dgm:pt modelId="{34E90A47-3FDE-460F-9CC5-BA0BED79FCF6}" type="sibTrans" cxnId="{74644CDE-E2F6-4567-ACCB-669219E7A13B}">
      <dgm:prSet/>
      <dgm:spPr/>
      <dgm:t>
        <a:bodyPr/>
        <a:lstStyle/>
        <a:p>
          <a:endParaRPr lang="en-US"/>
        </a:p>
      </dgm:t>
    </dgm:pt>
    <dgm:pt modelId="{C564E3D8-FE63-4CB6-8A0E-D23868B0E15C}">
      <dgm:prSet/>
      <dgm:spPr/>
      <dgm:t>
        <a:bodyPr/>
        <a:lstStyle/>
        <a:p>
          <a:r>
            <a:rPr lang="en-US" dirty="0"/>
            <a:t>Altruism can be motivated by empathetic concern, an emotional response that occurs when we see others in need</a:t>
          </a:r>
        </a:p>
      </dgm:t>
    </dgm:pt>
    <dgm:pt modelId="{8D388CDB-0E3D-46F7-8394-EDB2A1DF861C}" type="parTrans" cxnId="{C69ADA92-D984-4C40-814B-6743870197BF}">
      <dgm:prSet/>
      <dgm:spPr/>
      <dgm:t>
        <a:bodyPr/>
        <a:lstStyle/>
        <a:p>
          <a:endParaRPr lang="en-US"/>
        </a:p>
      </dgm:t>
    </dgm:pt>
    <dgm:pt modelId="{66E54323-A31D-40B8-8C99-9868E2B8FDD7}" type="sibTrans" cxnId="{C69ADA92-D984-4C40-814B-6743870197BF}">
      <dgm:prSet/>
      <dgm:spPr/>
      <dgm:t>
        <a:bodyPr/>
        <a:lstStyle/>
        <a:p>
          <a:endParaRPr lang="en-US"/>
        </a:p>
      </dgm:t>
    </dgm:pt>
    <dgm:pt modelId="{76958766-A1A2-4A77-B956-7B437D037E36}" type="pres">
      <dgm:prSet presAssocID="{6C40E694-8FF1-4C4A-B1F6-6C81E49D0131}" presName="linear" presStyleCnt="0">
        <dgm:presLayoutVars>
          <dgm:dir/>
          <dgm:animLvl val="lvl"/>
          <dgm:resizeHandles val="exact"/>
        </dgm:presLayoutVars>
      </dgm:prSet>
      <dgm:spPr/>
    </dgm:pt>
    <dgm:pt modelId="{76D24EDF-5C5C-4724-A146-7C1E8C5444EE}" type="pres">
      <dgm:prSet presAssocID="{5DCEF0A1-0896-484C-BCAA-064340A86B3B}" presName="parentLin" presStyleCnt="0"/>
      <dgm:spPr/>
    </dgm:pt>
    <dgm:pt modelId="{F53AD94D-3B98-4369-9472-2DFD69CB676B}" type="pres">
      <dgm:prSet presAssocID="{5DCEF0A1-0896-484C-BCAA-064340A86B3B}" presName="parentLeftMargin" presStyleLbl="node1" presStyleIdx="0" presStyleCnt="2"/>
      <dgm:spPr/>
    </dgm:pt>
    <dgm:pt modelId="{A90A8AC2-4445-40AD-8F83-06EAEBC3BFE2}" type="pres">
      <dgm:prSet presAssocID="{5DCEF0A1-0896-484C-BCAA-064340A86B3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08199D1-33B9-41C0-BAF4-3CDD1F04A34D}" type="pres">
      <dgm:prSet presAssocID="{5DCEF0A1-0896-484C-BCAA-064340A86B3B}" presName="negativeSpace" presStyleCnt="0"/>
      <dgm:spPr/>
    </dgm:pt>
    <dgm:pt modelId="{288E441B-9281-4CF4-AA8E-5E63390CDDAE}" type="pres">
      <dgm:prSet presAssocID="{5DCEF0A1-0896-484C-BCAA-064340A86B3B}" presName="childText" presStyleLbl="conFgAcc1" presStyleIdx="0" presStyleCnt="2">
        <dgm:presLayoutVars>
          <dgm:bulletEnabled val="1"/>
        </dgm:presLayoutVars>
      </dgm:prSet>
      <dgm:spPr/>
    </dgm:pt>
    <dgm:pt modelId="{FF25FA3A-D77F-4CC0-B9F1-5D22DDD04709}" type="pres">
      <dgm:prSet presAssocID="{C649091E-58ED-40D2-A7E5-72C7A53C737F}" presName="spaceBetweenRectangles" presStyleCnt="0"/>
      <dgm:spPr/>
    </dgm:pt>
    <dgm:pt modelId="{2AE8BA62-BEF7-4B4E-AAA4-23039894BDBD}" type="pres">
      <dgm:prSet presAssocID="{0D37EF0A-636F-4C19-865B-4781835ED7C7}" presName="parentLin" presStyleCnt="0"/>
      <dgm:spPr/>
    </dgm:pt>
    <dgm:pt modelId="{86AE58EA-3DF1-4CC0-ACC0-4E1A96513CC0}" type="pres">
      <dgm:prSet presAssocID="{0D37EF0A-636F-4C19-865B-4781835ED7C7}" presName="parentLeftMargin" presStyleLbl="node1" presStyleIdx="0" presStyleCnt="2"/>
      <dgm:spPr/>
    </dgm:pt>
    <dgm:pt modelId="{28E192C3-07A0-4828-9292-3D325190EE38}" type="pres">
      <dgm:prSet presAssocID="{0D37EF0A-636F-4C19-865B-4781835ED7C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0B263D6-6E19-429E-9277-ADBBF3D28311}" type="pres">
      <dgm:prSet presAssocID="{0D37EF0A-636F-4C19-865B-4781835ED7C7}" presName="negativeSpace" presStyleCnt="0"/>
      <dgm:spPr/>
    </dgm:pt>
    <dgm:pt modelId="{E6C9FB7B-6D9B-4F2E-808F-CBF6A1D9AE2C}" type="pres">
      <dgm:prSet presAssocID="{0D37EF0A-636F-4C19-865B-4781835ED7C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9B72E0E-C370-4CA0-95C5-3FFB176EF8F5}" type="presOf" srcId="{0D37EF0A-636F-4C19-865B-4781835ED7C7}" destId="{86AE58EA-3DF1-4CC0-ACC0-4E1A96513CC0}" srcOrd="0" destOrd="0" presId="urn:microsoft.com/office/officeart/2005/8/layout/list1"/>
    <dgm:cxn modelId="{CA90BD3C-CCF4-46D5-A5A9-0E0427FF86EA}" srcId="{6C40E694-8FF1-4C4A-B1F6-6C81E49D0131}" destId="{0D37EF0A-636F-4C19-865B-4781835ED7C7}" srcOrd="1" destOrd="0" parTransId="{5AF02B87-C35E-45CA-AD8E-32253E1DFB99}" sibTransId="{743492EE-B307-4543-A4E7-7F560E82FA3F}"/>
    <dgm:cxn modelId="{1F04B96C-AF96-41D9-B38A-8BC5B3BD8435}" type="presOf" srcId="{90BE528F-9D5A-42FA-BBF1-FBD8A02B4CD2}" destId="{288E441B-9281-4CF4-AA8E-5E63390CDDAE}" srcOrd="0" destOrd="0" presId="urn:microsoft.com/office/officeart/2005/8/layout/list1"/>
    <dgm:cxn modelId="{51458072-46FB-4D4F-8007-DB90BAF6DFEB}" srcId="{5DCEF0A1-0896-484C-BCAA-064340A86B3B}" destId="{4AAF1C07-15D7-4F00-B72C-FAA4BE72449D}" srcOrd="1" destOrd="0" parTransId="{787A5BA9-CF05-4A2A-BB31-0DB78635894E}" sibTransId="{91988B65-A69B-402F-8AFB-70F0E1693BEB}"/>
    <dgm:cxn modelId="{85471156-BB32-466B-B418-C85074C77BC7}" type="presOf" srcId="{4AAF1C07-15D7-4F00-B72C-FAA4BE72449D}" destId="{288E441B-9281-4CF4-AA8E-5E63390CDDAE}" srcOrd="0" destOrd="1" presId="urn:microsoft.com/office/officeart/2005/8/layout/list1"/>
    <dgm:cxn modelId="{3870BC90-B3EA-401D-ABD2-41A686285782}" type="presOf" srcId="{D7913A2E-8085-43B6-AD12-2153C8A28374}" destId="{E6C9FB7B-6D9B-4F2E-808F-CBF6A1D9AE2C}" srcOrd="0" destOrd="0" presId="urn:microsoft.com/office/officeart/2005/8/layout/list1"/>
    <dgm:cxn modelId="{C69ADA92-D984-4C40-814B-6743870197BF}" srcId="{0D37EF0A-636F-4C19-865B-4781835ED7C7}" destId="{C564E3D8-FE63-4CB6-8A0E-D23868B0E15C}" srcOrd="1" destOrd="0" parTransId="{8D388CDB-0E3D-46F7-8394-EDB2A1DF861C}" sibTransId="{66E54323-A31D-40B8-8C99-9868E2B8FDD7}"/>
    <dgm:cxn modelId="{E3D9439C-6EA2-4CD8-81F1-22431D95E876}" srcId="{5DCEF0A1-0896-484C-BCAA-064340A86B3B}" destId="{90BE528F-9D5A-42FA-BBF1-FBD8A02B4CD2}" srcOrd="0" destOrd="0" parTransId="{411C63A9-FE56-4FA3-B3CB-A513380BFC67}" sibTransId="{0736DE07-8C41-4FA4-8660-D1CD249C65B5}"/>
    <dgm:cxn modelId="{8EFF16C4-A6AF-4583-99FA-FD7AF14FDA6A}" type="presOf" srcId="{5DCEF0A1-0896-484C-BCAA-064340A86B3B}" destId="{F53AD94D-3B98-4369-9472-2DFD69CB676B}" srcOrd="0" destOrd="0" presId="urn:microsoft.com/office/officeart/2005/8/layout/list1"/>
    <dgm:cxn modelId="{C45162C7-6F0A-4B59-9734-1DC14DC8B428}" type="presOf" srcId="{0D37EF0A-636F-4C19-865B-4781835ED7C7}" destId="{28E192C3-07A0-4828-9292-3D325190EE38}" srcOrd="1" destOrd="0" presId="urn:microsoft.com/office/officeart/2005/8/layout/list1"/>
    <dgm:cxn modelId="{5CD028CC-6505-474C-8D43-D94A38D1E63E}" type="presOf" srcId="{C564E3D8-FE63-4CB6-8A0E-D23868B0E15C}" destId="{E6C9FB7B-6D9B-4F2E-808F-CBF6A1D9AE2C}" srcOrd="0" destOrd="1" presId="urn:microsoft.com/office/officeart/2005/8/layout/list1"/>
    <dgm:cxn modelId="{735E23D4-2FAD-4923-A799-BEEAE8272A5F}" type="presOf" srcId="{5DCEF0A1-0896-484C-BCAA-064340A86B3B}" destId="{A90A8AC2-4445-40AD-8F83-06EAEBC3BFE2}" srcOrd="1" destOrd="0" presId="urn:microsoft.com/office/officeart/2005/8/layout/list1"/>
    <dgm:cxn modelId="{74644CDE-E2F6-4567-ACCB-669219E7A13B}" srcId="{0D37EF0A-636F-4C19-865B-4781835ED7C7}" destId="{D7913A2E-8085-43B6-AD12-2153C8A28374}" srcOrd="0" destOrd="0" parTransId="{5054D625-FA97-4B59-9634-AB75E1DFF919}" sibTransId="{34E90A47-3FDE-460F-9CC5-BA0BED79FCF6}"/>
    <dgm:cxn modelId="{E212BDF1-D96A-4ABD-8C0F-22C66F61D40A}" srcId="{6C40E694-8FF1-4C4A-B1F6-6C81E49D0131}" destId="{5DCEF0A1-0896-484C-BCAA-064340A86B3B}" srcOrd="0" destOrd="0" parTransId="{77E4A705-7144-4AC9-88F6-864374E95894}" sibTransId="{C649091E-58ED-40D2-A7E5-72C7A53C737F}"/>
    <dgm:cxn modelId="{6F0BD0F7-B077-4F93-866D-24B3D3CC32A0}" type="presOf" srcId="{6C40E694-8FF1-4C4A-B1F6-6C81E49D0131}" destId="{76958766-A1A2-4A77-B956-7B437D037E36}" srcOrd="0" destOrd="0" presId="urn:microsoft.com/office/officeart/2005/8/layout/list1"/>
    <dgm:cxn modelId="{F209D103-D466-47AF-8524-93EB627DE917}" type="presParOf" srcId="{76958766-A1A2-4A77-B956-7B437D037E36}" destId="{76D24EDF-5C5C-4724-A146-7C1E8C5444EE}" srcOrd="0" destOrd="0" presId="urn:microsoft.com/office/officeart/2005/8/layout/list1"/>
    <dgm:cxn modelId="{04673941-20CE-4429-9266-5221D7503D9F}" type="presParOf" srcId="{76D24EDF-5C5C-4724-A146-7C1E8C5444EE}" destId="{F53AD94D-3B98-4369-9472-2DFD69CB676B}" srcOrd="0" destOrd="0" presId="urn:microsoft.com/office/officeart/2005/8/layout/list1"/>
    <dgm:cxn modelId="{2A4BD24D-AE4E-4FB4-9D21-3B042BB963AF}" type="presParOf" srcId="{76D24EDF-5C5C-4724-A146-7C1E8C5444EE}" destId="{A90A8AC2-4445-40AD-8F83-06EAEBC3BFE2}" srcOrd="1" destOrd="0" presId="urn:microsoft.com/office/officeart/2005/8/layout/list1"/>
    <dgm:cxn modelId="{185F4031-29DC-40B5-8FE5-A9CBD040E897}" type="presParOf" srcId="{76958766-A1A2-4A77-B956-7B437D037E36}" destId="{008199D1-33B9-41C0-BAF4-3CDD1F04A34D}" srcOrd="1" destOrd="0" presId="urn:microsoft.com/office/officeart/2005/8/layout/list1"/>
    <dgm:cxn modelId="{7F8CEF95-40B9-437D-AE94-1B8E7D0E02B5}" type="presParOf" srcId="{76958766-A1A2-4A77-B956-7B437D037E36}" destId="{288E441B-9281-4CF4-AA8E-5E63390CDDAE}" srcOrd="2" destOrd="0" presId="urn:microsoft.com/office/officeart/2005/8/layout/list1"/>
    <dgm:cxn modelId="{56C15CCE-EE07-48A0-9996-E07A27A76220}" type="presParOf" srcId="{76958766-A1A2-4A77-B956-7B437D037E36}" destId="{FF25FA3A-D77F-4CC0-B9F1-5D22DDD04709}" srcOrd="3" destOrd="0" presId="urn:microsoft.com/office/officeart/2005/8/layout/list1"/>
    <dgm:cxn modelId="{FFA45C01-737A-41B0-A0EE-529AF98452AF}" type="presParOf" srcId="{76958766-A1A2-4A77-B956-7B437D037E36}" destId="{2AE8BA62-BEF7-4B4E-AAA4-23039894BDBD}" srcOrd="4" destOrd="0" presId="urn:microsoft.com/office/officeart/2005/8/layout/list1"/>
    <dgm:cxn modelId="{4194B9DA-BDE4-4D94-91B8-58F8757BA25B}" type="presParOf" srcId="{2AE8BA62-BEF7-4B4E-AAA4-23039894BDBD}" destId="{86AE58EA-3DF1-4CC0-ACC0-4E1A96513CC0}" srcOrd="0" destOrd="0" presId="urn:microsoft.com/office/officeart/2005/8/layout/list1"/>
    <dgm:cxn modelId="{E228A00D-6E3D-47F3-9811-F416D2DF4A17}" type="presParOf" srcId="{2AE8BA62-BEF7-4B4E-AAA4-23039894BDBD}" destId="{28E192C3-07A0-4828-9292-3D325190EE38}" srcOrd="1" destOrd="0" presId="urn:microsoft.com/office/officeart/2005/8/layout/list1"/>
    <dgm:cxn modelId="{BBF90060-C3A5-4D58-937E-3623D4B308CA}" type="presParOf" srcId="{76958766-A1A2-4A77-B956-7B437D037E36}" destId="{F0B263D6-6E19-429E-9277-ADBBF3D28311}" srcOrd="5" destOrd="0" presId="urn:microsoft.com/office/officeart/2005/8/layout/list1"/>
    <dgm:cxn modelId="{73CBD12D-D3D5-4419-89E7-2BA23AD9C8C0}" type="presParOf" srcId="{76958766-A1A2-4A77-B956-7B437D037E36}" destId="{E6C9FB7B-6D9B-4F2E-808F-CBF6A1D9AE2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A1A686-D7EC-4922-A0DB-D955ED27827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67433FA-6095-42E3-B4D7-19E207926BFA}">
      <dgm:prSet/>
      <dgm:spPr/>
      <dgm:t>
        <a:bodyPr/>
        <a:lstStyle/>
        <a:p>
          <a:r>
            <a:rPr lang="en-US"/>
            <a:t>Healthcare workers more likely to sanitize hands when reminded it keeps patients safe than when reminded it keeps them safe (Grant &amp; Hoffman, 2011)</a:t>
          </a:r>
        </a:p>
      </dgm:t>
    </dgm:pt>
    <dgm:pt modelId="{9010AED7-1444-46AC-9CA9-9E0CBF2F31E5}" type="parTrans" cxnId="{20F45EB1-E16C-40C8-B84E-2941024CE5A5}">
      <dgm:prSet/>
      <dgm:spPr/>
      <dgm:t>
        <a:bodyPr/>
        <a:lstStyle/>
        <a:p>
          <a:endParaRPr lang="en-US"/>
        </a:p>
      </dgm:t>
    </dgm:pt>
    <dgm:pt modelId="{34382895-353D-4FA1-8CF4-B18731BFC9F4}" type="sibTrans" cxnId="{20F45EB1-E16C-40C8-B84E-2941024CE5A5}">
      <dgm:prSet/>
      <dgm:spPr/>
      <dgm:t>
        <a:bodyPr/>
        <a:lstStyle/>
        <a:p>
          <a:endParaRPr lang="en-US"/>
        </a:p>
      </dgm:t>
    </dgm:pt>
    <dgm:pt modelId="{99FE176F-05C6-494E-80B8-B2D2DACD9313}">
      <dgm:prSet/>
      <dgm:spPr/>
      <dgm:t>
        <a:bodyPr/>
        <a:lstStyle/>
        <a:p>
          <a:r>
            <a:rPr lang="en-US"/>
            <a:t>Empathy for most vulnerable in population associated with social distancing in US, UK, and Germany at beginning of COVID-19 pandemic (Pfattheicher et al., 2020)</a:t>
          </a:r>
        </a:p>
      </dgm:t>
    </dgm:pt>
    <dgm:pt modelId="{1D924886-C3BF-4FD4-B77D-D90943E7923D}" type="parTrans" cxnId="{BC0246AD-82B5-40BB-9336-7E5E5B1495F0}">
      <dgm:prSet/>
      <dgm:spPr/>
      <dgm:t>
        <a:bodyPr/>
        <a:lstStyle/>
        <a:p>
          <a:endParaRPr lang="en-US"/>
        </a:p>
      </dgm:t>
    </dgm:pt>
    <dgm:pt modelId="{FA49D791-0E9A-47C4-8F62-1814D884CC88}" type="sibTrans" cxnId="{BC0246AD-82B5-40BB-9336-7E5E5B1495F0}">
      <dgm:prSet/>
      <dgm:spPr/>
      <dgm:t>
        <a:bodyPr/>
        <a:lstStyle/>
        <a:p>
          <a:endParaRPr lang="en-US"/>
        </a:p>
      </dgm:t>
    </dgm:pt>
    <dgm:pt modelId="{7330E213-6DB2-46BE-B14D-3671DD3F4454}">
      <dgm:prSet/>
      <dgm:spPr/>
      <dgm:t>
        <a:bodyPr/>
        <a:lstStyle/>
        <a:p>
          <a:r>
            <a:rPr lang="en-US"/>
            <a:t>Inducing empathy resulted in higher motivation to adhere to social distancing (saw video of man who couldn’t be with wife)</a:t>
          </a:r>
        </a:p>
      </dgm:t>
    </dgm:pt>
    <dgm:pt modelId="{55CE50DE-029D-4F39-9BB3-6C1F9C7B23D4}" type="parTrans" cxnId="{529CC0FF-3ECD-499A-BB72-900CAD9AC1A5}">
      <dgm:prSet/>
      <dgm:spPr/>
      <dgm:t>
        <a:bodyPr/>
        <a:lstStyle/>
        <a:p>
          <a:endParaRPr lang="en-US"/>
        </a:p>
      </dgm:t>
    </dgm:pt>
    <dgm:pt modelId="{19981DD3-262C-44F5-9E3E-1E5CFF854A36}" type="sibTrans" cxnId="{529CC0FF-3ECD-499A-BB72-900CAD9AC1A5}">
      <dgm:prSet/>
      <dgm:spPr/>
      <dgm:t>
        <a:bodyPr/>
        <a:lstStyle/>
        <a:p>
          <a:endParaRPr lang="en-US"/>
        </a:p>
      </dgm:t>
    </dgm:pt>
    <dgm:pt modelId="{4436573E-B64E-418F-8F50-066A77B20602}">
      <dgm:prSet/>
      <dgm:spPr/>
      <dgm:t>
        <a:bodyPr/>
        <a:lstStyle/>
        <a:p>
          <a:r>
            <a:rPr lang="en-US" dirty="0"/>
            <a:t>Altruistic kidney donors more activation in bilateral anterior insula (empathy area)than controls when watching others experience pain (</a:t>
          </a:r>
          <a:r>
            <a:rPr lang="en-US" dirty="0" err="1"/>
            <a:t>Brethel-Haurwitz</a:t>
          </a:r>
          <a:r>
            <a:rPr lang="en-US" dirty="0"/>
            <a:t> et al., 2018)</a:t>
          </a:r>
        </a:p>
      </dgm:t>
    </dgm:pt>
    <dgm:pt modelId="{2DA0074B-3D4A-4645-A726-84DDFDC3D7E4}" type="parTrans" cxnId="{F6B4EA3C-C9DA-4006-9D30-BA57D3566B03}">
      <dgm:prSet/>
      <dgm:spPr/>
      <dgm:t>
        <a:bodyPr/>
        <a:lstStyle/>
        <a:p>
          <a:endParaRPr lang="en-US"/>
        </a:p>
      </dgm:t>
    </dgm:pt>
    <dgm:pt modelId="{A89282C9-0980-4487-B187-FBC99E382BB9}" type="sibTrans" cxnId="{F6B4EA3C-C9DA-4006-9D30-BA57D3566B03}">
      <dgm:prSet/>
      <dgm:spPr/>
      <dgm:t>
        <a:bodyPr/>
        <a:lstStyle/>
        <a:p>
          <a:endParaRPr lang="en-US"/>
        </a:p>
      </dgm:t>
    </dgm:pt>
    <dgm:pt modelId="{7D2CAF97-B1DC-477C-93BA-5F3348614DB5}" type="pres">
      <dgm:prSet presAssocID="{43A1A686-D7EC-4922-A0DB-D955ED278271}" presName="linear" presStyleCnt="0">
        <dgm:presLayoutVars>
          <dgm:animLvl val="lvl"/>
          <dgm:resizeHandles val="exact"/>
        </dgm:presLayoutVars>
      </dgm:prSet>
      <dgm:spPr/>
    </dgm:pt>
    <dgm:pt modelId="{C4BA6E6C-C758-451A-8963-9BF7346AE423}" type="pres">
      <dgm:prSet presAssocID="{567433FA-6095-42E3-B4D7-19E207926B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0DEA0EA-3360-4DEE-B268-57A761E3C4C5}" type="pres">
      <dgm:prSet presAssocID="{34382895-353D-4FA1-8CF4-B18731BFC9F4}" presName="spacer" presStyleCnt="0"/>
      <dgm:spPr/>
    </dgm:pt>
    <dgm:pt modelId="{4FF6F7ED-658C-4CB5-88D6-E3AC4470F3BE}" type="pres">
      <dgm:prSet presAssocID="{99FE176F-05C6-494E-80B8-B2D2DACD931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7924E71-E4EC-4AE8-AD09-604EECA8E928}" type="pres">
      <dgm:prSet presAssocID="{99FE176F-05C6-494E-80B8-B2D2DACD9313}" presName="childText" presStyleLbl="revTx" presStyleIdx="0" presStyleCnt="1">
        <dgm:presLayoutVars>
          <dgm:bulletEnabled val="1"/>
        </dgm:presLayoutVars>
      </dgm:prSet>
      <dgm:spPr/>
    </dgm:pt>
    <dgm:pt modelId="{DADDC4B8-633F-41B9-B510-3D677B5E4D6D}" type="pres">
      <dgm:prSet presAssocID="{4436573E-B64E-418F-8F50-066A77B2060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EA97615-5D07-432A-BFB1-2ED88E70F78F}" type="presOf" srcId="{99FE176F-05C6-494E-80B8-B2D2DACD9313}" destId="{4FF6F7ED-658C-4CB5-88D6-E3AC4470F3BE}" srcOrd="0" destOrd="0" presId="urn:microsoft.com/office/officeart/2005/8/layout/vList2"/>
    <dgm:cxn modelId="{F6B4EA3C-C9DA-4006-9D30-BA57D3566B03}" srcId="{43A1A686-D7EC-4922-A0DB-D955ED278271}" destId="{4436573E-B64E-418F-8F50-066A77B20602}" srcOrd="2" destOrd="0" parTransId="{2DA0074B-3D4A-4645-A726-84DDFDC3D7E4}" sibTransId="{A89282C9-0980-4487-B187-FBC99E382BB9}"/>
    <dgm:cxn modelId="{3747EC5B-99EE-409D-BA4D-BAF4EF04C45C}" type="presOf" srcId="{4436573E-B64E-418F-8F50-066A77B20602}" destId="{DADDC4B8-633F-41B9-B510-3D677B5E4D6D}" srcOrd="0" destOrd="0" presId="urn:microsoft.com/office/officeart/2005/8/layout/vList2"/>
    <dgm:cxn modelId="{73A04B51-1F76-4B2B-9791-079CDDE62834}" type="presOf" srcId="{567433FA-6095-42E3-B4D7-19E207926BFA}" destId="{C4BA6E6C-C758-451A-8963-9BF7346AE423}" srcOrd="0" destOrd="0" presId="urn:microsoft.com/office/officeart/2005/8/layout/vList2"/>
    <dgm:cxn modelId="{BC0246AD-82B5-40BB-9336-7E5E5B1495F0}" srcId="{43A1A686-D7EC-4922-A0DB-D955ED278271}" destId="{99FE176F-05C6-494E-80B8-B2D2DACD9313}" srcOrd="1" destOrd="0" parTransId="{1D924886-C3BF-4FD4-B77D-D90943E7923D}" sibTransId="{FA49D791-0E9A-47C4-8F62-1814D884CC88}"/>
    <dgm:cxn modelId="{20F45EB1-E16C-40C8-B84E-2941024CE5A5}" srcId="{43A1A686-D7EC-4922-A0DB-D955ED278271}" destId="{567433FA-6095-42E3-B4D7-19E207926BFA}" srcOrd="0" destOrd="0" parTransId="{9010AED7-1444-46AC-9CA9-9E0CBF2F31E5}" sibTransId="{34382895-353D-4FA1-8CF4-B18731BFC9F4}"/>
    <dgm:cxn modelId="{A62C52D1-3E88-4715-B30F-35657C4FABB7}" type="presOf" srcId="{43A1A686-D7EC-4922-A0DB-D955ED278271}" destId="{7D2CAF97-B1DC-477C-93BA-5F3348614DB5}" srcOrd="0" destOrd="0" presId="urn:microsoft.com/office/officeart/2005/8/layout/vList2"/>
    <dgm:cxn modelId="{A08986F7-7C72-4BBB-B3EE-6DFA2205F6A2}" type="presOf" srcId="{7330E213-6DB2-46BE-B14D-3671DD3F4454}" destId="{37924E71-E4EC-4AE8-AD09-604EECA8E928}" srcOrd="0" destOrd="0" presId="urn:microsoft.com/office/officeart/2005/8/layout/vList2"/>
    <dgm:cxn modelId="{529CC0FF-3ECD-499A-BB72-900CAD9AC1A5}" srcId="{99FE176F-05C6-494E-80B8-B2D2DACD9313}" destId="{7330E213-6DB2-46BE-B14D-3671DD3F4454}" srcOrd="0" destOrd="0" parTransId="{55CE50DE-029D-4F39-9BB3-6C1F9C7B23D4}" sibTransId="{19981DD3-262C-44F5-9E3E-1E5CFF854A36}"/>
    <dgm:cxn modelId="{EB53AB53-D518-43BA-95DE-81D4CDECC681}" type="presParOf" srcId="{7D2CAF97-B1DC-477C-93BA-5F3348614DB5}" destId="{C4BA6E6C-C758-451A-8963-9BF7346AE423}" srcOrd="0" destOrd="0" presId="urn:microsoft.com/office/officeart/2005/8/layout/vList2"/>
    <dgm:cxn modelId="{BEA1E9A5-3B94-4408-8B9C-4D32ECFBC2D2}" type="presParOf" srcId="{7D2CAF97-B1DC-477C-93BA-5F3348614DB5}" destId="{E0DEA0EA-3360-4DEE-B268-57A761E3C4C5}" srcOrd="1" destOrd="0" presId="urn:microsoft.com/office/officeart/2005/8/layout/vList2"/>
    <dgm:cxn modelId="{7E1A35E1-A770-42B4-A43D-04175B8F01D0}" type="presParOf" srcId="{7D2CAF97-B1DC-477C-93BA-5F3348614DB5}" destId="{4FF6F7ED-658C-4CB5-88D6-E3AC4470F3BE}" srcOrd="2" destOrd="0" presId="urn:microsoft.com/office/officeart/2005/8/layout/vList2"/>
    <dgm:cxn modelId="{9C5E0390-4559-4519-B517-9562955E1D25}" type="presParOf" srcId="{7D2CAF97-B1DC-477C-93BA-5F3348614DB5}" destId="{37924E71-E4EC-4AE8-AD09-604EECA8E928}" srcOrd="3" destOrd="0" presId="urn:microsoft.com/office/officeart/2005/8/layout/vList2"/>
    <dgm:cxn modelId="{D3BEE892-2C30-4F35-A56C-54BBD8EC6438}" type="presParOf" srcId="{7D2CAF97-B1DC-477C-93BA-5F3348614DB5}" destId="{DADDC4B8-633F-41B9-B510-3D677B5E4D6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7CA893-E4EF-4340-ABAA-36346A49BCB8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E0820E7-2B72-48D1-91B4-AC7D9B9EDC82}">
      <dgm:prSet/>
      <dgm:spPr/>
      <dgm:t>
        <a:bodyPr/>
        <a:lstStyle/>
        <a:p>
          <a:r>
            <a:rPr lang="en-US"/>
            <a:t>Toddlers aged 19 to 23 months, coded as happier when giving treats than when receiving them (</a:t>
          </a:r>
          <a:r>
            <a:rPr lang="en-US" i="1"/>
            <a:t>d</a:t>
          </a:r>
          <a:r>
            <a:rPr lang="en-US"/>
            <a:t> = 1.12) </a:t>
          </a:r>
        </a:p>
      </dgm:t>
    </dgm:pt>
    <dgm:pt modelId="{763EF6A4-5640-4965-AF6D-972848998644}" type="parTrans" cxnId="{7F37A6AE-AB31-4716-BF16-FE4F14119A6D}">
      <dgm:prSet/>
      <dgm:spPr/>
      <dgm:t>
        <a:bodyPr/>
        <a:lstStyle/>
        <a:p>
          <a:endParaRPr lang="en-US"/>
        </a:p>
      </dgm:t>
    </dgm:pt>
    <dgm:pt modelId="{43C6B7BE-D893-4097-8B9D-CFC09AD162D4}" type="sibTrans" cxnId="{7F37A6AE-AB31-4716-BF16-FE4F14119A6D}">
      <dgm:prSet/>
      <dgm:spPr/>
      <dgm:t>
        <a:bodyPr/>
        <a:lstStyle/>
        <a:p>
          <a:endParaRPr lang="en-US"/>
        </a:p>
      </dgm:t>
    </dgm:pt>
    <dgm:pt modelId="{24D58D6D-9A11-457B-9BC4-104F5693A415}">
      <dgm:prSet/>
      <dgm:spPr/>
      <dgm:t>
        <a:bodyPr/>
        <a:lstStyle/>
        <a:p>
          <a:r>
            <a:rPr lang="en-US" dirty="0"/>
            <a:t>Also, happier when giving away own treats to a puppet compared to giving away experimenter’s treats   (</a:t>
          </a:r>
          <a:r>
            <a:rPr lang="en-US" i="1" dirty="0"/>
            <a:t>d</a:t>
          </a:r>
          <a:r>
            <a:rPr lang="en-US" dirty="0"/>
            <a:t> = .46)   Aknin et al., 2012 </a:t>
          </a:r>
        </a:p>
      </dgm:t>
    </dgm:pt>
    <dgm:pt modelId="{8721B101-903A-4C95-AD77-221245E2CC48}" type="parTrans" cxnId="{A6E1541E-F7AE-4688-8F04-E80F39736108}">
      <dgm:prSet/>
      <dgm:spPr/>
      <dgm:t>
        <a:bodyPr/>
        <a:lstStyle/>
        <a:p>
          <a:endParaRPr lang="en-US"/>
        </a:p>
      </dgm:t>
    </dgm:pt>
    <dgm:pt modelId="{F243D5F5-25D7-4415-848C-70F0F8402989}" type="sibTrans" cxnId="{A6E1541E-F7AE-4688-8F04-E80F39736108}">
      <dgm:prSet/>
      <dgm:spPr/>
      <dgm:t>
        <a:bodyPr/>
        <a:lstStyle/>
        <a:p>
          <a:endParaRPr lang="en-US"/>
        </a:p>
      </dgm:t>
    </dgm:pt>
    <dgm:pt modelId="{DFAD5C34-E340-49BC-BCA1-9031A53037C5}">
      <dgm:prSet/>
      <dgm:spPr/>
      <dgm:t>
        <a:bodyPr/>
        <a:lstStyle/>
        <a:p>
          <a:r>
            <a:rPr lang="en-US"/>
            <a:t>Older adults (N = 1,118) who reported giving more help also reported being physically healthier</a:t>
          </a:r>
        </a:p>
      </dgm:t>
    </dgm:pt>
    <dgm:pt modelId="{30C568F7-F756-4DEF-80E6-1CB5C7E81ED0}" type="parTrans" cxnId="{0A8587C8-E94D-46C6-B9D4-2EDA2AEA7988}">
      <dgm:prSet/>
      <dgm:spPr/>
      <dgm:t>
        <a:bodyPr/>
        <a:lstStyle/>
        <a:p>
          <a:endParaRPr lang="en-US"/>
        </a:p>
      </dgm:t>
    </dgm:pt>
    <dgm:pt modelId="{DDD83784-E5B5-4076-BCC3-1B79BB084E61}" type="sibTrans" cxnId="{0A8587C8-E94D-46C6-B9D4-2EDA2AEA7988}">
      <dgm:prSet/>
      <dgm:spPr/>
      <dgm:t>
        <a:bodyPr/>
        <a:lstStyle/>
        <a:p>
          <a:endParaRPr lang="en-US"/>
        </a:p>
      </dgm:t>
    </dgm:pt>
    <dgm:pt modelId="{5DCAE3A4-B1AA-4C44-9D43-DA6BC8B45CBA}">
      <dgm:prSet/>
      <dgm:spPr/>
      <dgm:t>
        <a:bodyPr/>
        <a:lstStyle/>
        <a:p>
          <a:r>
            <a:rPr lang="en-US"/>
            <a:t>To relatives or non-relatives</a:t>
          </a:r>
        </a:p>
      </dgm:t>
    </dgm:pt>
    <dgm:pt modelId="{BEEB71E0-8691-406A-97F8-EE4C6A983C3B}" type="parTrans" cxnId="{2C026616-645F-4088-B182-6AAD86ABD3EE}">
      <dgm:prSet/>
      <dgm:spPr/>
      <dgm:t>
        <a:bodyPr/>
        <a:lstStyle/>
        <a:p>
          <a:endParaRPr lang="en-US"/>
        </a:p>
      </dgm:t>
    </dgm:pt>
    <dgm:pt modelId="{2DC6951F-60B6-45A0-B702-198B8B7FC6C5}" type="sibTrans" cxnId="{2C026616-645F-4088-B182-6AAD86ABD3EE}">
      <dgm:prSet/>
      <dgm:spPr/>
      <dgm:t>
        <a:bodyPr/>
        <a:lstStyle/>
        <a:p>
          <a:endParaRPr lang="en-US"/>
        </a:p>
      </dgm:t>
    </dgm:pt>
    <dgm:pt modelId="{FB8C688F-F50F-48C0-8421-DE565063AE4F}">
      <dgm:prSet/>
      <dgm:spPr/>
      <dgm:t>
        <a:bodyPr/>
        <a:lstStyle/>
        <a:p>
          <a:r>
            <a:rPr lang="en-US"/>
            <a:t>Controlling for: age, gender, ethnicity, education, income, marital status, size of social network, functional mobility</a:t>
          </a:r>
        </a:p>
      </dgm:t>
    </dgm:pt>
    <dgm:pt modelId="{2403C9A8-A64F-44F7-B3EA-D6EF568F8F0D}" type="parTrans" cxnId="{BFD35FB4-5E6A-442E-9298-63AE67E7D935}">
      <dgm:prSet/>
      <dgm:spPr/>
      <dgm:t>
        <a:bodyPr/>
        <a:lstStyle/>
        <a:p>
          <a:endParaRPr lang="en-US"/>
        </a:p>
      </dgm:t>
    </dgm:pt>
    <dgm:pt modelId="{B0DE9089-87DF-4555-B5B3-69A5497B7AB7}" type="sibTrans" cxnId="{BFD35FB4-5E6A-442E-9298-63AE67E7D935}">
      <dgm:prSet/>
      <dgm:spPr/>
      <dgm:t>
        <a:bodyPr/>
        <a:lstStyle/>
        <a:p>
          <a:endParaRPr lang="en-US"/>
        </a:p>
      </dgm:t>
    </dgm:pt>
    <dgm:pt modelId="{0B0B3C99-CB54-4C62-8988-036D14795D69}">
      <dgm:prSet/>
      <dgm:spPr/>
      <dgm:t>
        <a:bodyPr/>
        <a:lstStyle/>
        <a:p>
          <a:r>
            <a:rPr lang="en-US"/>
            <a:t>Neither receiving help nor reciprocity related to health</a:t>
          </a:r>
        </a:p>
      </dgm:t>
    </dgm:pt>
    <dgm:pt modelId="{207954EA-6F9F-4777-8E3F-8C9F01E2719F}" type="parTrans" cxnId="{FA650480-F327-4B30-90AD-1C7A9C4EDA59}">
      <dgm:prSet/>
      <dgm:spPr/>
      <dgm:t>
        <a:bodyPr/>
        <a:lstStyle/>
        <a:p>
          <a:endParaRPr lang="en-US"/>
        </a:p>
      </dgm:t>
    </dgm:pt>
    <dgm:pt modelId="{199C7927-C616-4069-8158-D02B0DD668D6}" type="sibTrans" cxnId="{FA650480-F327-4B30-90AD-1C7A9C4EDA59}">
      <dgm:prSet/>
      <dgm:spPr/>
      <dgm:t>
        <a:bodyPr/>
        <a:lstStyle/>
        <a:p>
          <a:endParaRPr lang="en-US"/>
        </a:p>
      </dgm:t>
    </dgm:pt>
    <dgm:pt modelId="{D6792247-E8E8-4001-93F4-BF80404E1AFF}">
      <dgm:prSet/>
      <dgm:spPr/>
      <dgm:t>
        <a:bodyPr/>
        <a:lstStyle/>
        <a:p>
          <a:r>
            <a:rPr lang="en-US"/>
            <a:t>Brown et al., 2005      </a:t>
          </a:r>
        </a:p>
      </dgm:t>
    </dgm:pt>
    <dgm:pt modelId="{4EFD0101-7D32-4C74-BF16-6DF91BFBB49A}" type="parTrans" cxnId="{70D45F0B-8F8E-4157-9341-4E33BDBF4C1C}">
      <dgm:prSet/>
      <dgm:spPr/>
      <dgm:t>
        <a:bodyPr/>
        <a:lstStyle/>
        <a:p>
          <a:endParaRPr lang="en-US"/>
        </a:p>
      </dgm:t>
    </dgm:pt>
    <dgm:pt modelId="{2130807A-B5D7-4FE5-BEB7-643859F6F966}" type="sibTrans" cxnId="{70D45F0B-8F8E-4157-9341-4E33BDBF4C1C}">
      <dgm:prSet/>
      <dgm:spPr/>
      <dgm:t>
        <a:bodyPr/>
        <a:lstStyle/>
        <a:p>
          <a:endParaRPr lang="en-US"/>
        </a:p>
      </dgm:t>
    </dgm:pt>
    <dgm:pt modelId="{49296DFD-774F-49AD-8759-4DAFA4809899}" type="pres">
      <dgm:prSet presAssocID="{6C7CA893-E4EF-4340-ABAA-36346A49BCB8}" presName="Name0" presStyleCnt="0">
        <dgm:presLayoutVars>
          <dgm:dir/>
          <dgm:animLvl val="lvl"/>
          <dgm:resizeHandles val="exact"/>
        </dgm:presLayoutVars>
      </dgm:prSet>
      <dgm:spPr/>
    </dgm:pt>
    <dgm:pt modelId="{C89C03DA-A45C-44EB-B5D0-52185CDBCD60}" type="pres">
      <dgm:prSet presAssocID="{1E0820E7-2B72-48D1-91B4-AC7D9B9EDC82}" presName="linNode" presStyleCnt="0"/>
      <dgm:spPr/>
    </dgm:pt>
    <dgm:pt modelId="{2E5C1438-6826-4293-B4D4-EABD4DAE397A}" type="pres">
      <dgm:prSet presAssocID="{1E0820E7-2B72-48D1-91B4-AC7D9B9EDC82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BC2F1608-1B3A-4618-A5CD-EEE872F21FD4}" type="pres">
      <dgm:prSet presAssocID="{1E0820E7-2B72-48D1-91B4-AC7D9B9EDC82}" presName="descendantText" presStyleLbl="alignAccFollowNode1" presStyleIdx="0" presStyleCnt="2">
        <dgm:presLayoutVars>
          <dgm:bulletEnabled val="1"/>
        </dgm:presLayoutVars>
      </dgm:prSet>
      <dgm:spPr/>
    </dgm:pt>
    <dgm:pt modelId="{3AE637CE-485C-4DAA-B89E-F7649CA02C5F}" type="pres">
      <dgm:prSet presAssocID="{43C6B7BE-D893-4097-8B9D-CFC09AD162D4}" presName="sp" presStyleCnt="0"/>
      <dgm:spPr/>
    </dgm:pt>
    <dgm:pt modelId="{6AE91FF5-16A1-4BE6-8484-67EA969FA0C7}" type="pres">
      <dgm:prSet presAssocID="{DFAD5C34-E340-49BC-BCA1-9031A53037C5}" presName="linNode" presStyleCnt="0"/>
      <dgm:spPr/>
    </dgm:pt>
    <dgm:pt modelId="{FBE18CFB-816C-47ED-9057-51DC6AF8994B}" type="pres">
      <dgm:prSet presAssocID="{DFAD5C34-E340-49BC-BCA1-9031A53037C5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7F1DFA1C-E424-4B6F-A631-4E04AB9A225B}" type="pres">
      <dgm:prSet presAssocID="{DFAD5C34-E340-49BC-BCA1-9031A53037C5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70D45F0B-8F8E-4157-9341-4E33BDBF4C1C}" srcId="{DFAD5C34-E340-49BC-BCA1-9031A53037C5}" destId="{D6792247-E8E8-4001-93F4-BF80404E1AFF}" srcOrd="3" destOrd="0" parTransId="{4EFD0101-7D32-4C74-BF16-6DF91BFBB49A}" sibTransId="{2130807A-B5D7-4FE5-BEB7-643859F6F966}"/>
    <dgm:cxn modelId="{2C026616-645F-4088-B182-6AAD86ABD3EE}" srcId="{DFAD5C34-E340-49BC-BCA1-9031A53037C5}" destId="{5DCAE3A4-B1AA-4C44-9D43-DA6BC8B45CBA}" srcOrd="0" destOrd="0" parTransId="{BEEB71E0-8691-406A-97F8-EE4C6A983C3B}" sibTransId="{2DC6951F-60B6-45A0-B702-198B8B7FC6C5}"/>
    <dgm:cxn modelId="{BB6C8B1C-DF46-40F8-8D56-8D04BA01113F}" type="presOf" srcId="{0B0B3C99-CB54-4C62-8988-036D14795D69}" destId="{7F1DFA1C-E424-4B6F-A631-4E04AB9A225B}" srcOrd="0" destOrd="2" presId="urn:microsoft.com/office/officeart/2005/8/layout/vList5"/>
    <dgm:cxn modelId="{A6E1541E-F7AE-4688-8F04-E80F39736108}" srcId="{1E0820E7-2B72-48D1-91B4-AC7D9B9EDC82}" destId="{24D58D6D-9A11-457B-9BC4-104F5693A415}" srcOrd="0" destOrd="0" parTransId="{8721B101-903A-4C95-AD77-221245E2CC48}" sibTransId="{F243D5F5-25D7-4415-848C-70F0F8402989}"/>
    <dgm:cxn modelId="{0C77AE2E-94D6-4381-827D-8FE2EE90D14E}" type="presOf" srcId="{1E0820E7-2B72-48D1-91B4-AC7D9B9EDC82}" destId="{2E5C1438-6826-4293-B4D4-EABD4DAE397A}" srcOrd="0" destOrd="0" presId="urn:microsoft.com/office/officeart/2005/8/layout/vList5"/>
    <dgm:cxn modelId="{7760F85F-3C1F-4C0C-89E6-F44BBB4BE930}" type="presOf" srcId="{24D58D6D-9A11-457B-9BC4-104F5693A415}" destId="{BC2F1608-1B3A-4618-A5CD-EEE872F21FD4}" srcOrd="0" destOrd="0" presId="urn:microsoft.com/office/officeart/2005/8/layout/vList5"/>
    <dgm:cxn modelId="{1FEEF558-469F-4CE1-8D46-9482AB862C6A}" type="presOf" srcId="{6C7CA893-E4EF-4340-ABAA-36346A49BCB8}" destId="{49296DFD-774F-49AD-8759-4DAFA4809899}" srcOrd="0" destOrd="0" presId="urn:microsoft.com/office/officeart/2005/8/layout/vList5"/>
    <dgm:cxn modelId="{FA650480-F327-4B30-90AD-1C7A9C4EDA59}" srcId="{DFAD5C34-E340-49BC-BCA1-9031A53037C5}" destId="{0B0B3C99-CB54-4C62-8988-036D14795D69}" srcOrd="2" destOrd="0" parTransId="{207954EA-6F9F-4777-8E3F-8C9F01E2719F}" sibTransId="{199C7927-C616-4069-8158-D02B0DD668D6}"/>
    <dgm:cxn modelId="{5E941B9F-67D3-4D38-A60D-7E7547D412CF}" type="presOf" srcId="{D6792247-E8E8-4001-93F4-BF80404E1AFF}" destId="{7F1DFA1C-E424-4B6F-A631-4E04AB9A225B}" srcOrd="0" destOrd="3" presId="urn:microsoft.com/office/officeart/2005/8/layout/vList5"/>
    <dgm:cxn modelId="{3C53A7A2-DDDB-48F5-8651-58392DEBD824}" type="presOf" srcId="{5DCAE3A4-B1AA-4C44-9D43-DA6BC8B45CBA}" destId="{7F1DFA1C-E424-4B6F-A631-4E04AB9A225B}" srcOrd="0" destOrd="0" presId="urn:microsoft.com/office/officeart/2005/8/layout/vList5"/>
    <dgm:cxn modelId="{7F37A6AE-AB31-4716-BF16-FE4F14119A6D}" srcId="{6C7CA893-E4EF-4340-ABAA-36346A49BCB8}" destId="{1E0820E7-2B72-48D1-91B4-AC7D9B9EDC82}" srcOrd="0" destOrd="0" parTransId="{763EF6A4-5640-4965-AF6D-972848998644}" sibTransId="{43C6B7BE-D893-4097-8B9D-CFC09AD162D4}"/>
    <dgm:cxn modelId="{BFD35FB4-5E6A-442E-9298-63AE67E7D935}" srcId="{DFAD5C34-E340-49BC-BCA1-9031A53037C5}" destId="{FB8C688F-F50F-48C0-8421-DE565063AE4F}" srcOrd="1" destOrd="0" parTransId="{2403C9A8-A64F-44F7-B3EA-D6EF568F8F0D}" sibTransId="{B0DE9089-87DF-4555-B5B3-69A5497B7AB7}"/>
    <dgm:cxn modelId="{E9F83FB8-53E1-4B2B-8CDA-FB503508F254}" type="presOf" srcId="{FB8C688F-F50F-48C0-8421-DE565063AE4F}" destId="{7F1DFA1C-E424-4B6F-A631-4E04AB9A225B}" srcOrd="0" destOrd="1" presId="urn:microsoft.com/office/officeart/2005/8/layout/vList5"/>
    <dgm:cxn modelId="{0A8587C8-E94D-46C6-B9D4-2EDA2AEA7988}" srcId="{6C7CA893-E4EF-4340-ABAA-36346A49BCB8}" destId="{DFAD5C34-E340-49BC-BCA1-9031A53037C5}" srcOrd="1" destOrd="0" parTransId="{30C568F7-F756-4DEF-80E6-1CB5C7E81ED0}" sibTransId="{DDD83784-E5B5-4076-BCC3-1B79BB084E61}"/>
    <dgm:cxn modelId="{3599AEF2-1309-44A9-B493-581E119D97BA}" type="presOf" srcId="{DFAD5C34-E340-49BC-BCA1-9031A53037C5}" destId="{FBE18CFB-816C-47ED-9057-51DC6AF8994B}" srcOrd="0" destOrd="0" presId="urn:microsoft.com/office/officeart/2005/8/layout/vList5"/>
    <dgm:cxn modelId="{C66EB3F1-A915-49E3-8CD3-FC38A6B58532}" type="presParOf" srcId="{49296DFD-774F-49AD-8759-4DAFA4809899}" destId="{C89C03DA-A45C-44EB-B5D0-52185CDBCD60}" srcOrd="0" destOrd="0" presId="urn:microsoft.com/office/officeart/2005/8/layout/vList5"/>
    <dgm:cxn modelId="{A00892F8-2A66-4F3C-BF82-B33F06397E15}" type="presParOf" srcId="{C89C03DA-A45C-44EB-B5D0-52185CDBCD60}" destId="{2E5C1438-6826-4293-B4D4-EABD4DAE397A}" srcOrd="0" destOrd="0" presId="urn:microsoft.com/office/officeart/2005/8/layout/vList5"/>
    <dgm:cxn modelId="{4FBBD3FD-AD5F-4403-B6B1-87A2B0FEBCF2}" type="presParOf" srcId="{C89C03DA-A45C-44EB-B5D0-52185CDBCD60}" destId="{BC2F1608-1B3A-4618-A5CD-EEE872F21FD4}" srcOrd="1" destOrd="0" presId="urn:microsoft.com/office/officeart/2005/8/layout/vList5"/>
    <dgm:cxn modelId="{63E8BC1B-2E77-4DB2-8A2F-96AF49F7A7BA}" type="presParOf" srcId="{49296DFD-774F-49AD-8759-4DAFA4809899}" destId="{3AE637CE-485C-4DAA-B89E-F7649CA02C5F}" srcOrd="1" destOrd="0" presId="urn:microsoft.com/office/officeart/2005/8/layout/vList5"/>
    <dgm:cxn modelId="{14D379B9-E7F5-4974-B8D7-005EC354A2D5}" type="presParOf" srcId="{49296DFD-774F-49AD-8759-4DAFA4809899}" destId="{6AE91FF5-16A1-4BE6-8484-67EA969FA0C7}" srcOrd="2" destOrd="0" presId="urn:microsoft.com/office/officeart/2005/8/layout/vList5"/>
    <dgm:cxn modelId="{E8F6D862-A474-41E4-B1B3-ADBD4BE20AE3}" type="presParOf" srcId="{6AE91FF5-16A1-4BE6-8484-67EA969FA0C7}" destId="{FBE18CFB-816C-47ED-9057-51DC6AF8994B}" srcOrd="0" destOrd="0" presId="urn:microsoft.com/office/officeart/2005/8/layout/vList5"/>
    <dgm:cxn modelId="{BD14A4B2-2C84-4A6D-B0BD-79BF5BAA6E40}" type="presParOf" srcId="{6AE91FF5-16A1-4BE6-8484-67EA969FA0C7}" destId="{7F1DFA1C-E424-4B6F-A631-4E04AB9A225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9CDBDA-3E7D-460D-8D41-DC751C6A275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8911F0A-3690-4C27-9C29-42892F884E83}">
      <dgm:prSet/>
      <dgm:spPr/>
      <dgm:t>
        <a:bodyPr/>
        <a:lstStyle/>
        <a:p>
          <a:r>
            <a:rPr lang="en-US"/>
            <a:t>Older married adults (N = 846)</a:t>
          </a:r>
        </a:p>
      </dgm:t>
    </dgm:pt>
    <dgm:pt modelId="{92644F6C-6CD0-4CE0-B948-6C8017DE902D}" type="parTrans" cxnId="{861C2C12-E40D-40C8-A5AC-1E6D90B38B8B}">
      <dgm:prSet/>
      <dgm:spPr/>
      <dgm:t>
        <a:bodyPr/>
        <a:lstStyle/>
        <a:p>
          <a:endParaRPr lang="en-US"/>
        </a:p>
      </dgm:t>
    </dgm:pt>
    <dgm:pt modelId="{F5AF8E66-4CBF-4FDC-A938-DDC6BA69D06D}" type="sibTrans" cxnId="{861C2C12-E40D-40C8-A5AC-1E6D90B38B8B}">
      <dgm:prSet/>
      <dgm:spPr/>
      <dgm:t>
        <a:bodyPr/>
        <a:lstStyle/>
        <a:p>
          <a:endParaRPr lang="en-US"/>
        </a:p>
      </dgm:t>
    </dgm:pt>
    <dgm:pt modelId="{06111F5B-9EF0-4D32-A6AE-0E5BC647AD30}">
      <dgm:prSet custT="1"/>
      <dgm:spPr/>
      <dgm:t>
        <a:bodyPr/>
        <a:lstStyle/>
        <a:p>
          <a:r>
            <a:rPr lang="en-US" sz="1800" dirty="0"/>
            <a:t>Prosocial behavior = unpaid hours providing instrumental support to people with whom they don’t live</a:t>
          </a:r>
        </a:p>
      </dgm:t>
    </dgm:pt>
    <dgm:pt modelId="{695D9579-F01D-4A4E-8068-9F629DD58865}" type="parTrans" cxnId="{03E9341F-1326-4C1D-BD36-271A3565149A}">
      <dgm:prSet/>
      <dgm:spPr/>
      <dgm:t>
        <a:bodyPr/>
        <a:lstStyle/>
        <a:p>
          <a:endParaRPr lang="en-US"/>
        </a:p>
      </dgm:t>
    </dgm:pt>
    <dgm:pt modelId="{82BFF487-AB2A-44E5-B8E9-6BD487D41C2C}" type="sibTrans" cxnId="{03E9341F-1326-4C1D-BD36-271A3565149A}">
      <dgm:prSet/>
      <dgm:spPr/>
      <dgm:t>
        <a:bodyPr/>
        <a:lstStyle/>
        <a:p>
          <a:endParaRPr lang="en-US"/>
        </a:p>
      </dgm:t>
    </dgm:pt>
    <dgm:pt modelId="{DDF35D91-B1A0-4265-87A4-258E8F1221B5}">
      <dgm:prSet custT="1"/>
      <dgm:spPr/>
      <dgm:t>
        <a:bodyPr/>
        <a:lstStyle/>
        <a:p>
          <a:r>
            <a:rPr lang="en-US" sz="1800" dirty="0"/>
            <a:t>Stress related to increased risk of death in next 5yrs </a:t>
          </a:r>
        </a:p>
      </dgm:t>
    </dgm:pt>
    <dgm:pt modelId="{41E8CF0B-14BF-42D2-A0FF-C7FB39EC0D88}" type="parTrans" cxnId="{70D68C46-3E68-4E83-BFA2-6675658F2F7F}">
      <dgm:prSet/>
      <dgm:spPr/>
      <dgm:t>
        <a:bodyPr/>
        <a:lstStyle/>
        <a:p>
          <a:endParaRPr lang="en-US"/>
        </a:p>
      </dgm:t>
    </dgm:pt>
    <dgm:pt modelId="{F94833B8-5C03-4F91-AFDF-5D4292493E96}" type="sibTrans" cxnId="{70D68C46-3E68-4E83-BFA2-6675658F2F7F}">
      <dgm:prSet/>
      <dgm:spPr/>
      <dgm:t>
        <a:bodyPr/>
        <a:lstStyle/>
        <a:p>
          <a:endParaRPr lang="en-US"/>
        </a:p>
      </dgm:t>
    </dgm:pt>
    <dgm:pt modelId="{AC99D1CC-59C0-4F5D-AC9B-9DC80FCF0C9C}">
      <dgm:prSet custT="1"/>
      <dgm:spPr/>
      <dgm:t>
        <a:bodyPr/>
        <a:lstStyle/>
        <a:p>
          <a:r>
            <a:rPr lang="en-US" sz="1800" dirty="0"/>
            <a:t>Prosocial behavior related to decreased risk of death</a:t>
          </a:r>
        </a:p>
      </dgm:t>
    </dgm:pt>
    <dgm:pt modelId="{6565AB76-EE99-4C2F-9464-EB81FC73400E}" type="parTrans" cxnId="{F563F2EF-7142-49BA-AB64-633DADB87D4D}">
      <dgm:prSet/>
      <dgm:spPr/>
      <dgm:t>
        <a:bodyPr/>
        <a:lstStyle/>
        <a:p>
          <a:endParaRPr lang="en-US"/>
        </a:p>
      </dgm:t>
    </dgm:pt>
    <dgm:pt modelId="{36B3D2DC-3B2D-4C9D-8B91-7303DF0015A4}" type="sibTrans" cxnId="{F563F2EF-7142-49BA-AB64-633DADB87D4D}">
      <dgm:prSet/>
      <dgm:spPr/>
      <dgm:t>
        <a:bodyPr/>
        <a:lstStyle/>
        <a:p>
          <a:endParaRPr lang="en-US"/>
        </a:p>
      </dgm:t>
    </dgm:pt>
    <dgm:pt modelId="{A0D6C6CC-9138-4F84-AB4D-CC1D22902B57}">
      <dgm:prSet custT="1"/>
      <dgm:spPr/>
      <dgm:t>
        <a:bodyPr/>
        <a:lstStyle/>
        <a:p>
          <a:r>
            <a:rPr lang="en-US" sz="1800" dirty="0"/>
            <a:t>Prosocial behavior moderated association between stress and death  Poulin et al., 2013</a:t>
          </a:r>
        </a:p>
      </dgm:t>
    </dgm:pt>
    <dgm:pt modelId="{ACC3EE4A-CADD-499E-8E9A-E9A915570D02}" type="parTrans" cxnId="{C66D7CD7-4A3E-4DA3-8EFC-6073298F4A48}">
      <dgm:prSet/>
      <dgm:spPr/>
      <dgm:t>
        <a:bodyPr/>
        <a:lstStyle/>
        <a:p>
          <a:endParaRPr lang="en-US"/>
        </a:p>
      </dgm:t>
    </dgm:pt>
    <dgm:pt modelId="{C9DB3E1F-897B-47A3-B4F5-C7CF2F72A46B}" type="sibTrans" cxnId="{C66D7CD7-4A3E-4DA3-8EFC-6073298F4A48}">
      <dgm:prSet/>
      <dgm:spPr/>
      <dgm:t>
        <a:bodyPr/>
        <a:lstStyle/>
        <a:p>
          <a:endParaRPr lang="en-US"/>
        </a:p>
      </dgm:t>
    </dgm:pt>
    <dgm:pt modelId="{21480DEC-4585-4692-9690-4AE6C1EB2B53}">
      <dgm:prSet/>
      <dgm:spPr/>
      <dgm:t>
        <a:bodyPr/>
        <a:lstStyle/>
        <a:p>
          <a:r>
            <a:rPr lang="en-US" dirty="0"/>
            <a:t>Providing support related to psychological benefits even for those with recent trauma (Frazier et al., 2013) and after recent loss of spouse (Brown et al., 2008)</a:t>
          </a:r>
        </a:p>
      </dgm:t>
    </dgm:pt>
    <dgm:pt modelId="{B0DDCC78-F695-477D-A05D-0390D360C102}" type="parTrans" cxnId="{159B518A-6187-4AB3-B1BD-33F0E892701E}">
      <dgm:prSet/>
      <dgm:spPr/>
      <dgm:t>
        <a:bodyPr/>
        <a:lstStyle/>
        <a:p>
          <a:endParaRPr lang="en-US"/>
        </a:p>
      </dgm:t>
    </dgm:pt>
    <dgm:pt modelId="{FAD6105A-1B31-4C09-83D5-209CEE7A9D81}" type="sibTrans" cxnId="{159B518A-6187-4AB3-B1BD-33F0E892701E}">
      <dgm:prSet/>
      <dgm:spPr/>
      <dgm:t>
        <a:bodyPr/>
        <a:lstStyle/>
        <a:p>
          <a:endParaRPr lang="en-US"/>
        </a:p>
      </dgm:t>
    </dgm:pt>
    <dgm:pt modelId="{1B025F37-C12A-4832-A54A-031F90EDE383}" type="pres">
      <dgm:prSet presAssocID="{649CDBDA-3E7D-460D-8D41-DC751C6A275E}" presName="linear" presStyleCnt="0">
        <dgm:presLayoutVars>
          <dgm:animLvl val="lvl"/>
          <dgm:resizeHandles val="exact"/>
        </dgm:presLayoutVars>
      </dgm:prSet>
      <dgm:spPr/>
    </dgm:pt>
    <dgm:pt modelId="{D7152C34-2A0B-40EE-A217-11A204163F29}" type="pres">
      <dgm:prSet presAssocID="{98911F0A-3690-4C27-9C29-42892F884E8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3DAB556-E1BE-452D-905B-4EB57F1F6074}" type="pres">
      <dgm:prSet presAssocID="{98911F0A-3690-4C27-9C29-42892F884E83}" presName="childText" presStyleLbl="revTx" presStyleIdx="0" presStyleCnt="1">
        <dgm:presLayoutVars>
          <dgm:bulletEnabled val="1"/>
        </dgm:presLayoutVars>
      </dgm:prSet>
      <dgm:spPr/>
    </dgm:pt>
    <dgm:pt modelId="{DD0580EA-8589-4AE6-936A-BB19EC54FBD2}" type="pres">
      <dgm:prSet presAssocID="{21480DEC-4585-4692-9690-4AE6C1EB2B5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61C2C12-E40D-40C8-A5AC-1E6D90B38B8B}" srcId="{649CDBDA-3E7D-460D-8D41-DC751C6A275E}" destId="{98911F0A-3690-4C27-9C29-42892F884E83}" srcOrd="0" destOrd="0" parTransId="{92644F6C-6CD0-4CE0-B948-6C8017DE902D}" sibTransId="{F5AF8E66-4CBF-4FDC-A938-DDC6BA69D06D}"/>
    <dgm:cxn modelId="{03E9341F-1326-4C1D-BD36-271A3565149A}" srcId="{98911F0A-3690-4C27-9C29-42892F884E83}" destId="{06111F5B-9EF0-4D32-A6AE-0E5BC647AD30}" srcOrd="0" destOrd="0" parTransId="{695D9579-F01D-4A4E-8068-9F629DD58865}" sibTransId="{82BFF487-AB2A-44E5-B8E9-6BD487D41C2C}"/>
    <dgm:cxn modelId="{63C64A28-46C5-4CB3-B23D-1F352362B385}" type="presOf" srcId="{A0D6C6CC-9138-4F84-AB4D-CC1D22902B57}" destId="{D3DAB556-E1BE-452D-905B-4EB57F1F6074}" srcOrd="0" destOrd="3" presId="urn:microsoft.com/office/officeart/2005/8/layout/vList2"/>
    <dgm:cxn modelId="{DA640A33-02E4-46DF-B0C2-82673A9CC454}" type="presOf" srcId="{98911F0A-3690-4C27-9C29-42892F884E83}" destId="{D7152C34-2A0B-40EE-A217-11A204163F29}" srcOrd="0" destOrd="0" presId="urn:microsoft.com/office/officeart/2005/8/layout/vList2"/>
    <dgm:cxn modelId="{4FAAC336-30CB-47A0-A640-C4F9DA7D471E}" type="presOf" srcId="{06111F5B-9EF0-4D32-A6AE-0E5BC647AD30}" destId="{D3DAB556-E1BE-452D-905B-4EB57F1F6074}" srcOrd="0" destOrd="0" presId="urn:microsoft.com/office/officeart/2005/8/layout/vList2"/>
    <dgm:cxn modelId="{BD29D737-CCA4-4408-BF5B-6ACA241C0F38}" type="presOf" srcId="{649CDBDA-3E7D-460D-8D41-DC751C6A275E}" destId="{1B025F37-C12A-4832-A54A-031F90EDE383}" srcOrd="0" destOrd="0" presId="urn:microsoft.com/office/officeart/2005/8/layout/vList2"/>
    <dgm:cxn modelId="{5143D739-DF64-4F5D-AC64-503A86181CC8}" type="presOf" srcId="{21480DEC-4585-4692-9690-4AE6C1EB2B53}" destId="{DD0580EA-8589-4AE6-936A-BB19EC54FBD2}" srcOrd="0" destOrd="0" presId="urn:microsoft.com/office/officeart/2005/8/layout/vList2"/>
    <dgm:cxn modelId="{37F01F3A-26CB-44A6-802E-C4ADFD992559}" type="presOf" srcId="{DDF35D91-B1A0-4265-87A4-258E8F1221B5}" destId="{D3DAB556-E1BE-452D-905B-4EB57F1F6074}" srcOrd="0" destOrd="1" presId="urn:microsoft.com/office/officeart/2005/8/layout/vList2"/>
    <dgm:cxn modelId="{70D68C46-3E68-4E83-BFA2-6675658F2F7F}" srcId="{98911F0A-3690-4C27-9C29-42892F884E83}" destId="{DDF35D91-B1A0-4265-87A4-258E8F1221B5}" srcOrd="1" destOrd="0" parTransId="{41E8CF0B-14BF-42D2-A0FF-C7FB39EC0D88}" sibTransId="{F94833B8-5C03-4F91-AFDF-5D4292493E96}"/>
    <dgm:cxn modelId="{159B518A-6187-4AB3-B1BD-33F0E892701E}" srcId="{649CDBDA-3E7D-460D-8D41-DC751C6A275E}" destId="{21480DEC-4585-4692-9690-4AE6C1EB2B53}" srcOrd="1" destOrd="0" parTransId="{B0DDCC78-F695-477D-A05D-0390D360C102}" sibTransId="{FAD6105A-1B31-4C09-83D5-209CEE7A9D81}"/>
    <dgm:cxn modelId="{F1DFCF8E-EFFD-4EBA-BA70-23AE8B1A9612}" type="presOf" srcId="{AC99D1CC-59C0-4F5D-AC9B-9DC80FCF0C9C}" destId="{D3DAB556-E1BE-452D-905B-4EB57F1F6074}" srcOrd="0" destOrd="2" presId="urn:microsoft.com/office/officeart/2005/8/layout/vList2"/>
    <dgm:cxn modelId="{C66D7CD7-4A3E-4DA3-8EFC-6073298F4A48}" srcId="{98911F0A-3690-4C27-9C29-42892F884E83}" destId="{A0D6C6CC-9138-4F84-AB4D-CC1D22902B57}" srcOrd="3" destOrd="0" parTransId="{ACC3EE4A-CADD-499E-8E9A-E9A915570D02}" sibTransId="{C9DB3E1F-897B-47A3-B4F5-C7CF2F72A46B}"/>
    <dgm:cxn modelId="{F563F2EF-7142-49BA-AB64-633DADB87D4D}" srcId="{98911F0A-3690-4C27-9C29-42892F884E83}" destId="{AC99D1CC-59C0-4F5D-AC9B-9DC80FCF0C9C}" srcOrd="2" destOrd="0" parTransId="{6565AB76-EE99-4C2F-9464-EB81FC73400E}" sibTransId="{36B3D2DC-3B2D-4C9D-8B91-7303DF0015A4}"/>
    <dgm:cxn modelId="{0B662199-D419-483D-B774-2DDD1212C43E}" type="presParOf" srcId="{1B025F37-C12A-4832-A54A-031F90EDE383}" destId="{D7152C34-2A0B-40EE-A217-11A204163F29}" srcOrd="0" destOrd="0" presId="urn:microsoft.com/office/officeart/2005/8/layout/vList2"/>
    <dgm:cxn modelId="{CF75EB43-A4E4-4C8B-87C0-F52375EDB1F1}" type="presParOf" srcId="{1B025F37-C12A-4832-A54A-031F90EDE383}" destId="{D3DAB556-E1BE-452D-905B-4EB57F1F6074}" srcOrd="1" destOrd="0" presId="urn:microsoft.com/office/officeart/2005/8/layout/vList2"/>
    <dgm:cxn modelId="{3925080C-A4F2-4E7D-93C9-373730CA0D99}" type="presParOf" srcId="{1B025F37-C12A-4832-A54A-031F90EDE383}" destId="{DD0580EA-8589-4AE6-936A-BB19EC54FBD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C0097BE-1A31-454E-929A-0A72296CFDB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853D611-14B1-46C9-A44B-5EAFF216E8A6}">
      <dgm:prSet/>
      <dgm:spPr/>
      <dgm:t>
        <a:bodyPr/>
        <a:lstStyle/>
        <a:p>
          <a:r>
            <a:rPr lang="en-US"/>
            <a:t>Women more than men </a:t>
          </a:r>
        </a:p>
      </dgm:t>
    </dgm:pt>
    <dgm:pt modelId="{DFBE2649-E9D1-4A76-867F-E5B04951F0D8}" type="parTrans" cxnId="{644B4798-6615-41F2-A238-2AA257C7E3B1}">
      <dgm:prSet/>
      <dgm:spPr/>
      <dgm:t>
        <a:bodyPr/>
        <a:lstStyle/>
        <a:p>
          <a:endParaRPr lang="en-US"/>
        </a:p>
      </dgm:t>
    </dgm:pt>
    <dgm:pt modelId="{42CFA206-DA88-4312-AD45-6E27FFB931A1}" type="sibTrans" cxnId="{644B4798-6615-41F2-A238-2AA257C7E3B1}">
      <dgm:prSet/>
      <dgm:spPr/>
      <dgm:t>
        <a:bodyPr/>
        <a:lstStyle/>
        <a:p>
          <a:endParaRPr lang="en-US"/>
        </a:p>
      </dgm:t>
    </dgm:pt>
    <dgm:pt modelId="{C30D292C-BF1F-4DB3-B525-1EBD17CFDA32}">
      <dgm:prSet/>
      <dgm:spPr/>
      <dgm:t>
        <a:bodyPr/>
        <a:lstStyle/>
        <a:p>
          <a:r>
            <a:rPr lang="en-US"/>
            <a:t>Older people more than younger people</a:t>
          </a:r>
        </a:p>
      </dgm:t>
    </dgm:pt>
    <dgm:pt modelId="{B755059E-CAA0-4804-BCBB-0C652EF95A1E}" type="parTrans" cxnId="{3AB46915-1084-45A1-B3A9-49BC3EB05EA6}">
      <dgm:prSet/>
      <dgm:spPr/>
      <dgm:t>
        <a:bodyPr/>
        <a:lstStyle/>
        <a:p>
          <a:endParaRPr lang="en-US"/>
        </a:p>
      </dgm:t>
    </dgm:pt>
    <dgm:pt modelId="{4188D28C-73AA-415B-8949-6A194C1AB0F1}" type="sibTrans" cxnId="{3AB46915-1084-45A1-B3A9-49BC3EB05EA6}">
      <dgm:prSet/>
      <dgm:spPr/>
      <dgm:t>
        <a:bodyPr/>
        <a:lstStyle/>
        <a:p>
          <a:endParaRPr lang="en-US"/>
        </a:p>
      </dgm:t>
    </dgm:pt>
    <dgm:pt modelId="{23C6C035-3BFC-4C1E-A118-318BA8F22F57}">
      <dgm:prSet/>
      <dgm:spPr/>
      <dgm:t>
        <a:bodyPr/>
        <a:lstStyle/>
        <a:p>
          <a:r>
            <a:rPr lang="en-US"/>
            <a:t>People who identify as religious more than those who don’t</a:t>
          </a:r>
        </a:p>
      </dgm:t>
    </dgm:pt>
    <dgm:pt modelId="{56DBD6EF-F7C3-4EB5-B350-36306BAFBFFA}" type="parTrans" cxnId="{45C5514A-B543-4E7C-BDC9-C96DC74D7468}">
      <dgm:prSet/>
      <dgm:spPr/>
      <dgm:t>
        <a:bodyPr/>
        <a:lstStyle/>
        <a:p>
          <a:endParaRPr lang="en-US"/>
        </a:p>
      </dgm:t>
    </dgm:pt>
    <dgm:pt modelId="{E7B11EA0-AA40-4941-A357-6ED3683208DC}" type="sibTrans" cxnId="{45C5514A-B543-4E7C-BDC9-C96DC74D7468}">
      <dgm:prSet/>
      <dgm:spPr/>
      <dgm:t>
        <a:bodyPr/>
        <a:lstStyle/>
        <a:p>
          <a:endParaRPr lang="en-US"/>
        </a:p>
      </dgm:t>
    </dgm:pt>
    <dgm:pt modelId="{A4DAC873-DA15-49F0-8954-B0F24D7C5D02}">
      <dgm:prSet/>
      <dgm:spPr/>
      <dgm:t>
        <a:bodyPr/>
        <a:lstStyle/>
        <a:p>
          <a:r>
            <a:rPr lang="en-US"/>
            <a:t>High on Agreeableness and Honesty Humility</a:t>
          </a:r>
        </a:p>
      </dgm:t>
    </dgm:pt>
    <dgm:pt modelId="{F67592E5-00F4-4CB1-A859-2C16F5D67CC7}" type="parTrans" cxnId="{1DCDDB89-8DBB-416A-A11F-FC056D8E7D4F}">
      <dgm:prSet/>
      <dgm:spPr/>
      <dgm:t>
        <a:bodyPr/>
        <a:lstStyle/>
        <a:p>
          <a:endParaRPr lang="en-US"/>
        </a:p>
      </dgm:t>
    </dgm:pt>
    <dgm:pt modelId="{C11E6894-2983-47A8-8D2D-7B18BE076D8E}" type="sibTrans" cxnId="{1DCDDB89-8DBB-416A-A11F-FC056D8E7D4F}">
      <dgm:prSet/>
      <dgm:spPr/>
      <dgm:t>
        <a:bodyPr/>
        <a:lstStyle/>
        <a:p>
          <a:endParaRPr lang="en-US"/>
        </a:p>
      </dgm:t>
    </dgm:pt>
    <dgm:pt modelId="{3A37E7B7-9A9D-468A-A98E-959512BF5B9B}">
      <dgm:prSet/>
      <dgm:spPr/>
      <dgm:t>
        <a:bodyPr/>
        <a:lstStyle/>
        <a:p>
          <a:r>
            <a:rPr lang="en-US"/>
            <a:t>Machiavellianism , psychopathy, and Narcissism associated with less prosocial behavior</a:t>
          </a:r>
        </a:p>
      </dgm:t>
    </dgm:pt>
    <dgm:pt modelId="{D14EE37B-4058-4911-8684-3178B3B6B8E4}" type="parTrans" cxnId="{DE8C650E-7CA0-454F-A990-02116BE7EF16}">
      <dgm:prSet/>
      <dgm:spPr/>
      <dgm:t>
        <a:bodyPr/>
        <a:lstStyle/>
        <a:p>
          <a:endParaRPr lang="en-US"/>
        </a:p>
      </dgm:t>
    </dgm:pt>
    <dgm:pt modelId="{BB1AC983-A071-442A-A76E-9803D8154528}" type="sibTrans" cxnId="{DE8C650E-7CA0-454F-A990-02116BE7EF16}">
      <dgm:prSet/>
      <dgm:spPr/>
      <dgm:t>
        <a:bodyPr/>
        <a:lstStyle/>
        <a:p>
          <a:endParaRPr lang="en-US"/>
        </a:p>
      </dgm:t>
    </dgm:pt>
    <dgm:pt modelId="{D7066DCB-8BF6-4A55-9E0C-009B86E761A7}" type="pres">
      <dgm:prSet presAssocID="{6C0097BE-1A31-454E-929A-0A72296CFDBA}" presName="linear" presStyleCnt="0">
        <dgm:presLayoutVars>
          <dgm:animLvl val="lvl"/>
          <dgm:resizeHandles val="exact"/>
        </dgm:presLayoutVars>
      </dgm:prSet>
      <dgm:spPr/>
    </dgm:pt>
    <dgm:pt modelId="{8F276D1D-220C-4C96-8D3F-32D69AFB9D97}" type="pres">
      <dgm:prSet presAssocID="{7853D611-14B1-46C9-A44B-5EAFF216E8A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EFF24FD-08F9-49CD-A3F1-1B0B80C53D24}" type="pres">
      <dgm:prSet presAssocID="{42CFA206-DA88-4312-AD45-6E27FFB931A1}" presName="spacer" presStyleCnt="0"/>
      <dgm:spPr/>
    </dgm:pt>
    <dgm:pt modelId="{26D2C600-FC6E-4693-AD92-D22D5A459B38}" type="pres">
      <dgm:prSet presAssocID="{C30D292C-BF1F-4DB3-B525-1EBD17CFDA3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866F9EF-A7B8-4397-A724-671A66EB9200}" type="pres">
      <dgm:prSet presAssocID="{4188D28C-73AA-415B-8949-6A194C1AB0F1}" presName="spacer" presStyleCnt="0"/>
      <dgm:spPr/>
    </dgm:pt>
    <dgm:pt modelId="{38A47654-0E32-4B15-83C4-5DF409D5D249}" type="pres">
      <dgm:prSet presAssocID="{23C6C035-3BFC-4C1E-A118-318BA8F22F5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4010077-8EC6-4766-8C9B-4D89E7A897CB}" type="pres">
      <dgm:prSet presAssocID="{E7B11EA0-AA40-4941-A357-6ED3683208DC}" presName="spacer" presStyleCnt="0"/>
      <dgm:spPr/>
    </dgm:pt>
    <dgm:pt modelId="{469791FD-E2C5-4797-B883-0EE6C515A37C}" type="pres">
      <dgm:prSet presAssocID="{A4DAC873-DA15-49F0-8954-B0F24D7C5D0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257E5C8-B570-4CC3-89DE-7AEC125C0C02}" type="pres">
      <dgm:prSet presAssocID="{C11E6894-2983-47A8-8D2D-7B18BE076D8E}" presName="spacer" presStyleCnt="0"/>
      <dgm:spPr/>
    </dgm:pt>
    <dgm:pt modelId="{87D89EC9-98BA-424F-96DC-A004450C3185}" type="pres">
      <dgm:prSet presAssocID="{3A37E7B7-9A9D-468A-A98E-959512BF5B9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8ED3902-62D3-4A81-8A8E-107865427478}" type="presOf" srcId="{3A37E7B7-9A9D-468A-A98E-959512BF5B9B}" destId="{87D89EC9-98BA-424F-96DC-A004450C3185}" srcOrd="0" destOrd="0" presId="urn:microsoft.com/office/officeart/2005/8/layout/vList2"/>
    <dgm:cxn modelId="{58BEE703-8D44-454F-86EF-1E902B49157C}" type="presOf" srcId="{7853D611-14B1-46C9-A44B-5EAFF216E8A6}" destId="{8F276D1D-220C-4C96-8D3F-32D69AFB9D97}" srcOrd="0" destOrd="0" presId="urn:microsoft.com/office/officeart/2005/8/layout/vList2"/>
    <dgm:cxn modelId="{DE8C650E-7CA0-454F-A990-02116BE7EF16}" srcId="{6C0097BE-1A31-454E-929A-0A72296CFDBA}" destId="{3A37E7B7-9A9D-468A-A98E-959512BF5B9B}" srcOrd="4" destOrd="0" parTransId="{D14EE37B-4058-4911-8684-3178B3B6B8E4}" sibTransId="{BB1AC983-A071-442A-A76E-9803D8154528}"/>
    <dgm:cxn modelId="{3AB46915-1084-45A1-B3A9-49BC3EB05EA6}" srcId="{6C0097BE-1A31-454E-929A-0A72296CFDBA}" destId="{C30D292C-BF1F-4DB3-B525-1EBD17CFDA32}" srcOrd="1" destOrd="0" parTransId="{B755059E-CAA0-4804-BCBB-0C652EF95A1E}" sibTransId="{4188D28C-73AA-415B-8949-6A194C1AB0F1}"/>
    <dgm:cxn modelId="{45C5514A-B543-4E7C-BDC9-C96DC74D7468}" srcId="{6C0097BE-1A31-454E-929A-0A72296CFDBA}" destId="{23C6C035-3BFC-4C1E-A118-318BA8F22F57}" srcOrd="2" destOrd="0" parTransId="{56DBD6EF-F7C3-4EB5-B350-36306BAFBFFA}" sibTransId="{E7B11EA0-AA40-4941-A357-6ED3683208DC}"/>
    <dgm:cxn modelId="{1DCDDB89-8DBB-416A-A11F-FC056D8E7D4F}" srcId="{6C0097BE-1A31-454E-929A-0A72296CFDBA}" destId="{A4DAC873-DA15-49F0-8954-B0F24D7C5D02}" srcOrd="3" destOrd="0" parTransId="{F67592E5-00F4-4CB1-A859-2C16F5D67CC7}" sibTransId="{C11E6894-2983-47A8-8D2D-7B18BE076D8E}"/>
    <dgm:cxn modelId="{644B4798-6615-41F2-A238-2AA257C7E3B1}" srcId="{6C0097BE-1A31-454E-929A-0A72296CFDBA}" destId="{7853D611-14B1-46C9-A44B-5EAFF216E8A6}" srcOrd="0" destOrd="0" parTransId="{DFBE2649-E9D1-4A76-867F-E5B04951F0D8}" sibTransId="{42CFA206-DA88-4312-AD45-6E27FFB931A1}"/>
    <dgm:cxn modelId="{4DD7789A-F02D-49FD-A20E-897B8BE734CA}" type="presOf" srcId="{C30D292C-BF1F-4DB3-B525-1EBD17CFDA32}" destId="{26D2C600-FC6E-4693-AD92-D22D5A459B38}" srcOrd="0" destOrd="0" presId="urn:microsoft.com/office/officeart/2005/8/layout/vList2"/>
    <dgm:cxn modelId="{72A17E9E-1253-44F0-9A47-027DE47993B0}" type="presOf" srcId="{6C0097BE-1A31-454E-929A-0A72296CFDBA}" destId="{D7066DCB-8BF6-4A55-9E0C-009B86E761A7}" srcOrd="0" destOrd="0" presId="urn:microsoft.com/office/officeart/2005/8/layout/vList2"/>
    <dgm:cxn modelId="{46BB63A2-BCB1-41B5-A17A-BC89996D88AB}" type="presOf" srcId="{23C6C035-3BFC-4C1E-A118-318BA8F22F57}" destId="{38A47654-0E32-4B15-83C4-5DF409D5D249}" srcOrd="0" destOrd="0" presId="urn:microsoft.com/office/officeart/2005/8/layout/vList2"/>
    <dgm:cxn modelId="{EC83A3EA-5131-4BE1-9BC7-7A4EADF4BC14}" type="presOf" srcId="{A4DAC873-DA15-49F0-8954-B0F24D7C5D02}" destId="{469791FD-E2C5-4797-B883-0EE6C515A37C}" srcOrd="0" destOrd="0" presId="urn:microsoft.com/office/officeart/2005/8/layout/vList2"/>
    <dgm:cxn modelId="{08AD0354-4E09-4C95-BD2B-454D5F7D557E}" type="presParOf" srcId="{D7066DCB-8BF6-4A55-9E0C-009B86E761A7}" destId="{8F276D1D-220C-4C96-8D3F-32D69AFB9D97}" srcOrd="0" destOrd="0" presId="urn:microsoft.com/office/officeart/2005/8/layout/vList2"/>
    <dgm:cxn modelId="{9A4B4FBF-84A8-4029-8109-6AB4D78820FC}" type="presParOf" srcId="{D7066DCB-8BF6-4A55-9E0C-009B86E761A7}" destId="{8EFF24FD-08F9-49CD-A3F1-1B0B80C53D24}" srcOrd="1" destOrd="0" presId="urn:microsoft.com/office/officeart/2005/8/layout/vList2"/>
    <dgm:cxn modelId="{C4D6F505-F2A0-405D-A574-82F81B19DDEA}" type="presParOf" srcId="{D7066DCB-8BF6-4A55-9E0C-009B86E761A7}" destId="{26D2C600-FC6E-4693-AD92-D22D5A459B38}" srcOrd="2" destOrd="0" presId="urn:microsoft.com/office/officeart/2005/8/layout/vList2"/>
    <dgm:cxn modelId="{0D013EE5-29A8-4FE7-A66B-A19DBBB51AAA}" type="presParOf" srcId="{D7066DCB-8BF6-4A55-9E0C-009B86E761A7}" destId="{A866F9EF-A7B8-4397-A724-671A66EB9200}" srcOrd="3" destOrd="0" presId="urn:microsoft.com/office/officeart/2005/8/layout/vList2"/>
    <dgm:cxn modelId="{CDD9639E-907B-49ED-9D48-C95CF1395831}" type="presParOf" srcId="{D7066DCB-8BF6-4A55-9E0C-009B86E761A7}" destId="{38A47654-0E32-4B15-83C4-5DF409D5D249}" srcOrd="4" destOrd="0" presId="urn:microsoft.com/office/officeart/2005/8/layout/vList2"/>
    <dgm:cxn modelId="{104F71EB-4A77-4D5D-8DBA-C1038E09393F}" type="presParOf" srcId="{D7066DCB-8BF6-4A55-9E0C-009B86E761A7}" destId="{14010077-8EC6-4766-8C9B-4D89E7A897CB}" srcOrd="5" destOrd="0" presId="urn:microsoft.com/office/officeart/2005/8/layout/vList2"/>
    <dgm:cxn modelId="{6CC1036F-23FD-4437-AEE8-6FE7CE2255A8}" type="presParOf" srcId="{D7066DCB-8BF6-4A55-9E0C-009B86E761A7}" destId="{469791FD-E2C5-4797-B883-0EE6C515A37C}" srcOrd="6" destOrd="0" presId="urn:microsoft.com/office/officeart/2005/8/layout/vList2"/>
    <dgm:cxn modelId="{3C45C163-369C-4B99-99C6-02B44380379A}" type="presParOf" srcId="{D7066DCB-8BF6-4A55-9E0C-009B86E761A7}" destId="{C257E5C8-B570-4CC3-89DE-7AEC125C0C02}" srcOrd="7" destOrd="0" presId="urn:microsoft.com/office/officeart/2005/8/layout/vList2"/>
    <dgm:cxn modelId="{444C4CB9-1063-4A09-99F0-D76948F00F20}" type="presParOf" srcId="{D7066DCB-8BF6-4A55-9E0C-009B86E761A7}" destId="{87D89EC9-98BA-424F-96DC-A004450C318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A8A5532-7FA5-47C2-AAF9-44E39F6D70A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64D5E8-15A8-4272-855E-FC2DD326EA15}">
      <dgm:prSet/>
      <dgm:spPr/>
      <dgm:t>
        <a:bodyPr/>
        <a:lstStyle/>
        <a:p>
          <a:r>
            <a:rPr lang="en-US"/>
            <a:t>In a sample of males, participants more cooperative after completing stressful task              von Dawans et al., 2012</a:t>
          </a:r>
        </a:p>
      </dgm:t>
    </dgm:pt>
    <dgm:pt modelId="{BBD68A37-641D-49C6-8EC5-BDD46FEDC5EB}" type="parTrans" cxnId="{F7239E51-2B4D-4FB4-B284-A20770B30A12}">
      <dgm:prSet/>
      <dgm:spPr/>
      <dgm:t>
        <a:bodyPr/>
        <a:lstStyle/>
        <a:p>
          <a:endParaRPr lang="en-US"/>
        </a:p>
      </dgm:t>
    </dgm:pt>
    <dgm:pt modelId="{55901C00-D9B8-4F9A-BA35-D04D32FD9C95}" type="sibTrans" cxnId="{F7239E51-2B4D-4FB4-B284-A20770B30A12}">
      <dgm:prSet/>
      <dgm:spPr/>
      <dgm:t>
        <a:bodyPr/>
        <a:lstStyle/>
        <a:p>
          <a:endParaRPr lang="en-US"/>
        </a:p>
      </dgm:t>
    </dgm:pt>
    <dgm:pt modelId="{5BD4B29C-78E6-4138-81E4-8D6E188317DA}">
      <dgm:prSet/>
      <dgm:spPr/>
      <dgm:t>
        <a:bodyPr/>
        <a:lstStyle/>
        <a:p>
          <a:r>
            <a:rPr lang="en-US"/>
            <a:t>More likely to be prosocial when experiencing positive emotions                                    Aknin et al., 2018</a:t>
          </a:r>
        </a:p>
      </dgm:t>
    </dgm:pt>
    <dgm:pt modelId="{590FBC14-7277-4358-B33F-FDED4F978071}" type="parTrans" cxnId="{0E9A6665-54AA-45D7-92A5-50980A6BF6CE}">
      <dgm:prSet/>
      <dgm:spPr/>
      <dgm:t>
        <a:bodyPr/>
        <a:lstStyle/>
        <a:p>
          <a:endParaRPr lang="en-US"/>
        </a:p>
      </dgm:t>
    </dgm:pt>
    <dgm:pt modelId="{C12E348A-EEB7-487F-8B79-9308B35A5D9D}" type="sibTrans" cxnId="{0E9A6665-54AA-45D7-92A5-50980A6BF6CE}">
      <dgm:prSet/>
      <dgm:spPr/>
      <dgm:t>
        <a:bodyPr/>
        <a:lstStyle/>
        <a:p>
          <a:endParaRPr lang="en-US"/>
        </a:p>
      </dgm:t>
    </dgm:pt>
    <dgm:pt modelId="{39D159BF-0A0D-48ED-A164-4B6E498E5AED}">
      <dgm:prSet/>
      <dgm:spPr/>
      <dgm:t>
        <a:bodyPr/>
        <a:lstStyle/>
        <a:p>
          <a:r>
            <a:rPr lang="en-US"/>
            <a:t>Subjective well-being in community is associated with “extraordinary” altruism</a:t>
          </a:r>
        </a:p>
      </dgm:t>
    </dgm:pt>
    <dgm:pt modelId="{F592CD94-88A2-4A53-A23C-EC488D20562B}" type="parTrans" cxnId="{B2FF3EF7-29F5-4927-ACD0-84EA2E722223}">
      <dgm:prSet/>
      <dgm:spPr/>
      <dgm:t>
        <a:bodyPr/>
        <a:lstStyle/>
        <a:p>
          <a:endParaRPr lang="en-US"/>
        </a:p>
      </dgm:t>
    </dgm:pt>
    <dgm:pt modelId="{2ACB74BA-8AA9-41D9-9721-3417D9ADC226}" type="sibTrans" cxnId="{B2FF3EF7-29F5-4927-ACD0-84EA2E722223}">
      <dgm:prSet/>
      <dgm:spPr/>
      <dgm:t>
        <a:bodyPr/>
        <a:lstStyle/>
        <a:p>
          <a:endParaRPr lang="en-US"/>
        </a:p>
      </dgm:t>
    </dgm:pt>
    <dgm:pt modelId="{5D5B480C-8672-4F01-896C-1821CC3EAFB5}">
      <dgm:prSet/>
      <dgm:spPr/>
      <dgm:t>
        <a:bodyPr/>
        <a:lstStyle/>
        <a:p>
          <a:r>
            <a:rPr lang="en-US"/>
            <a:t>Statewide rates of altruistic kidney donation correlated with statewide rates of subjective well-being  </a:t>
          </a:r>
        </a:p>
      </dgm:t>
    </dgm:pt>
    <dgm:pt modelId="{F683A289-7456-4F6D-AE51-DA8480A3D105}" type="parTrans" cxnId="{04EA1F9E-5ED6-4E6A-B8F0-338B235D0901}">
      <dgm:prSet/>
      <dgm:spPr/>
      <dgm:t>
        <a:bodyPr/>
        <a:lstStyle/>
        <a:p>
          <a:endParaRPr lang="en-US"/>
        </a:p>
      </dgm:t>
    </dgm:pt>
    <dgm:pt modelId="{836F68D3-5EC3-477B-867B-9FCD9E27D5F7}" type="sibTrans" cxnId="{04EA1F9E-5ED6-4E6A-B8F0-338B235D0901}">
      <dgm:prSet/>
      <dgm:spPr/>
      <dgm:t>
        <a:bodyPr/>
        <a:lstStyle/>
        <a:p>
          <a:endParaRPr lang="en-US"/>
        </a:p>
      </dgm:t>
    </dgm:pt>
    <dgm:pt modelId="{E537B299-80E0-4900-B4CA-ACCA4DBB2874}">
      <dgm:prSet/>
      <dgm:spPr/>
      <dgm:t>
        <a:bodyPr/>
        <a:lstStyle/>
        <a:p>
          <a:r>
            <a:rPr lang="en-US"/>
            <a:t>Brethel-Haurwitz &amp; March, 2013</a:t>
          </a:r>
        </a:p>
      </dgm:t>
    </dgm:pt>
    <dgm:pt modelId="{36D83707-4BEF-4823-8A89-090E6E88273B}" type="parTrans" cxnId="{86614788-33C5-4178-8ED3-27115178D1EA}">
      <dgm:prSet/>
      <dgm:spPr/>
      <dgm:t>
        <a:bodyPr/>
        <a:lstStyle/>
        <a:p>
          <a:endParaRPr lang="en-US"/>
        </a:p>
      </dgm:t>
    </dgm:pt>
    <dgm:pt modelId="{9234558C-D3F9-49A3-A028-DD8F9CEA9A68}" type="sibTrans" cxnId="{86614788-33C5-4178-8ED3-27115178D1EA}">
      <dgm:prSet/>
      <dgm:spPr/>
      <dgm:t>
        <a:bodyPr/>
        <a:lstStyle/>
        <a:p>
          <a:endParaRPr lang="en-US"/>
        </a:p>
      </dgm:t>
    </dgm:pt>
    <dgm:pt modelId="{C9C6D67D-4521-499B-9FF6-9B4B77186185}" type="pres">
      <dgm:prSet presAssocID="{CA8A5532-7FA5-47C2-AAF9-44E39F6D70A1}" presName="linear" presStyleCnt="0">
        <dgm:presLayoutVars>
          <dgm:animLvl val="lvl"/>
          <dgm:resizeHandles val="exact"/>
        </dgm:presLayoutVars>
      </dgm:prSet>
      <dgm:spPr/>
    </dgm:pt>
    <dgm:pt modelId="{C2DE7CFE-703A-4EE4-A81E-4A95A573E283}" type="pres">
      <dgm:prSet presAssocID="{8364D5E8-15A8-4272-855E-FC2DD326EA1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0398647-B1B4-42B9-9857-10A96F72E45A}" type="pres">
      <dgm:prSet presAssocID="{55901C00-D9B8-4F9A-BA35-D04D32FD9C95}" presName="spacer" presStyleCnt="0"/>
      <dgm:spPr/>
    </dgm:pt>
    <dgm:pt modelId="{CC176CF9-FE00-42EA-ABC8-E8868A46E325}" type="pres">
      <dgm:prSet presAssocID="{5BD4B29C-78E6-4138-81E4-8D6E188317D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1ADF3DC-A257-49FE-9C8B-0D9B3C1E3DFE}" type="pres">
      <dgm:prSet presAssocID="{C12E348A-EEB7-487F-8B79-9308B35A5D9D}" presName="spacer" presStyleCnt="0"/>
      <dgm:spPr/>
    </dgm:pt>
    <dgm:pt modelId="{540FF35A-95B7-43C0-AAB3-57E9A6C647B1}" type="pres">
      <dgm:prSet presAssocID="{39D159BF-0A0D-48ED-A164-4B6E498E5AE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B20049B-9BFF-40A2-B093-FEB20CBAFCD4}" type="pres">
      <dgm:prSet presAssocID="{39D159BF-0A0D-48ED-A164-4B6E498E5AE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EC33D3E-E375-46E2-9D7B-9C286493B405}" type="presOf" srcId="{8364D5E8-15A8-4272-855E-FC2DD326EA15}" destId="{C2DE7CFE-703A-4EE4-A81E-4A95A573E283}" srcOrd="0" destOrd="0" presId="urn:microsoft.com/office/officeart/2005/8/layout/vList2"/>
    <dgm:cxn modelId="{E512E960-C108-4021-B95B-A46B22B9E1B5}" type="presOf" srcId="{5BD4B29C-78E6-4138-81E4-8D6E188317DA}" destId="{CC176CF9-FE00-42EA-ABC8-E8868A46E325}" srcOrd="0" destOrd="0" presId="urn:microsoft.com/office/officeart/2005/8/layout/vList2"/>
    <dgm:cxn modelId="{0E9A6665-54AA-45D7-92A5-50980A6BF6CE}" srcId="{CA8A5532-7FA5-47C2-AAF9-44E39F6D70A1}" destId="{5BD4B29C-78E6-4138-81E4-8D6E188317DA}" srcOrd="1" destOrd="0" parTransId="{590FBC14-7277-4358-B33F-FDED4F978071}" sibTransId="{C12E348A-EEB7-487F-8B79-9308B35A5D9D}"/>
    <dgm:cxn modelId="{F7239E51-2B4D-4FB4-B284-A20770B30A12}" srcId="{CA8A5532-7FA5-47C2-AAF9-44E39F6D70A1}" destId="{8364D5E8-15A8-4272-855E-FC2DD326EA15}" srcOrd="0" destOrd="0" parTransId="{BBD68A37-641D-49C6-8EC5-BDD46FEDC5EB}" sibTransId="{55901C00-D9B8-4F9A-BA35-D04D32FD9C95}"/>
    <dgm:cxn modelId="{EFBB0459-D1BA-42B1-95A5-3B37E7969CA5}" type="presOf" srcId="{CA8A5532-7FA5-47C2-AAF9-44E39F6D70A1}" destId="{C9C6D67D-4521-499B-9FF6-9B4B77186185}" srcOrd="0" destOrd="0" presId="urn:microsoft.com/office/officeart/2005/8/layout/vList2"/>
    <dgm:cxn modelId="{86614788-33C5-4178-8ED3-27115178D1EA}" srcId="{39D159BF-0A0D-48ED-A164-4B6E498E5AED}" destId="{E537B299-80E0-4900-B4CA-ACCA4DBB2874}" srcOrd="1" destOrd="0" parTransId="{36D83707-4BEF-4823-8A89-090E6E88273B}" sibTransId="{9234558C-D3F9-49A3-A028-DD8F9CEA9A68}"/>
    <dgm:cxn modelId="{CEFDAE9B-9E4B-4B02-AF73-8371F2ECB16C}" type="presOf" srcId="{E537B299-80E0-4900-B4CA-ACCA4DBB2874}" destId="{5B20049B-9BFF-40A2-B093-FEB20CBAFCD4}" srcOrd="0" destOrd="1" presId="urn:microsoft.com/office/officeart/2005/8/layout/vList2"/>
    <dgm:cxn modelId="{04EA1F9E-5ED6-4E6A-B8F0-338B235D0901}" srcId="{39D159BF-0A0D-48ED-A164-4B6E498E5AED}" destId="{5D5B480C-8672-4F01-896C-1821CC3EAFB5}" srcOrd="0" destOrd="0" parTransId="{F683A289-7456-4F6D-AE51-DA8480A3D105}" sibTransId="{836F68D3-5EC3-477B-867B-9FCD9E27D5F7}"/>
    <dgm:cxn modelId="{C5270CB8-427B-4A25-8329-59AB5288F85D}" type="presOf" srcId="{5D5B480C-8672-4F01-896C-1821CC3EAFB5}" destId="{5B20049B-9BFF-40A2-B093-FEB20CBAFCD4}" srcOrd="0" destOrd="0" presId="urn:microsoft.com/office/officeart/2005/8/layout/vList2"/>
    <dgm:cxn modelId="{DD025EE2-4E81-4063-AFAA-BDDBA1E40C29}" type="presOf" srcId="{39D159BF-0A0D-48ED-A164-4B6E498E5AED}" destId="{540FF35A-95B7-43C0-AAB3-57E9A6C647B1}" srcOrd="0" destOrd="0" presId="urn:microsoft.com/office/officeart/2005/8/layout/vList2"/>
    <dgm:cxn modelId="{B2FF3EF7-29F5-4927-ACD0-84EA2E722223}" srcId="{CA8A5532-7FA5-47C2-AAF9-44E39F6D70A1}" destId="{39D159BF-0A0D-48ED-A164-4B6E498E5AED}" srcOrd="2" destOrd="0" parTransId="{F592CD94-88A2-4A53-A23C-EC488D20562B}" sibTransId="{2ACB74BA-8AA9-41D9-9721-3417D9ADC226}"/>
    <dgm:cxn modelId="{86DEDD68-E08A-4EF8-86CB-13DE60942CDC}" type="presParOf" srcId="{C9C6D67D-4521-499B-9FF6-9B4B77186185}" destId="{C2DE7CFE-703A-4EE4-A81E-4A95A573E283}" srcOrd="0" destOrd="0" presId="urn:microsoft.com/office/officeart/2005/8/layout/vList2"/>
    <dgm:cxn modelId="{6C30795D-1D25-49FD-ADFE-CB9903E8E454}" type="presParOf" srcId="{C9C6D67D-4521-499B-9FF6-9B4B77186185}" destId="{C0398647-B1B4-42B9-9857-10A96F72E45A}" srcOrd="1" destOrd="0" presId="urn:microsoft.com/office/officeart/2005/8/layout/vList2"/>
    <dgm:cxn modelId="{E365D558-69D4-47C4-914F-5A779316C2B0}" type="presParOf" srcId="{C9C6D67D-4521-499B-9FF6-9B4B77186185}" destId="{CC176CF9-FE00-42EA-ABC8-E8868A46E325}" srcOrd="2" destOrd="0" presId="urn:microsoft.com/office/officeart/2005/8/layout/vList2"/>
    <dgm:cxn modelId="{3202C8E8-24AB-4A01-BC48-C5607364EAD2}" type="presParOf" srcId="{C9C6D67D-4521-499B-9FF6-9B4B77186185}" destId="{91ADF3DC-A257-49FE-9C8B-0D9B3C1E3DFE}" srcOrd="3" destOrd="0" presId="urn:microsoft.com/office/officeart/2005/8/layout/vList2"/>
    <dgm:cxn modelId="{2F9EDCB8-FF8F-483D-86D9-517FC026EF74}" type="presParOf" srcId="{C9C6D67D-4521-499B-9FF6-9B4B77186185}" destId="{540FF35A-95B7-43C0-AAB3-57E9A6C647B1}" srcOrd="4" destOrd="0" presId="urn:microsoft.com/office/officeart/2005/8/layout/vList2"/>
    <dgm:cxn modelId="{1AF62A88-3722-444E-91B6-B02C601A005D}" type="presParOf" srcId="{C9C6D67D-4521-499B-9FF6-9B4B77186185}" destId="{5B20049B-9BFF-40A2-B093-FEB20CBAFCD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CF214AC-50D7-4370-B149-76D4A19D5BD9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9BE52F5-C9ED-424B-A9F4-BCB31A2B2ED7}">
      <dgm:prSet/>
      <dgm:spPr/>
      <dgm:t>
        <a:bodyPr/>
        <a:lstStyle/>
        <a:p>
          <a:r>
            <a:rPr lang="en-US"/>
            <a:t>Meta-analytic evidence suggests kindness interventions are linked to improved well-being for the helper</a:t>
          </a:r>
        </a:p>
      </dgm:t>
    </dgm:pt>
    <dgm:pt modelId="{ABC4FC93-9B35-49C4-9B09-E14F9F04E451}" type="parTrans" cxnId="{1B82A283-75F3-4A9F-ACAD-7366B0D7E12F}">
      <dgm:prSet/>
      <dgm:spPr/>
      <dgm:t>
        <a:bodyPr/>
        <a:lstStyle/>
        <a:p>
          <a:endParaRPr lang="en-US"/>
        </a:p>
      </dgm:t>
    </dgm:pt>
    <dgm:pt modelId="{5760C559-8F15-4FD6-947D-42E871DFAC22}" type="sibTrans" cxnId="{1B82A283-75F3-4A9F-ACAD-7366B0D7E12F}">
      <dgm:prSet/>
      <dgm:spPr/>
      <dgm:t>
        <a:bodyPr/>
        <a:lstStyle/>
        <a:p>
          <a:endParaRPr lang="en-US"/>
        </a:p>
      </dgm:t>
    </dgm:pt>
    <dgm:pt modelId="{D95E1001-ED8E-4311-A17E-B20088E9118E}">
      <dgm:prSet/>
      <dgm:spPr/>
      <dgm:t>
        <a:bodyPr/>
        <a:lstStyle/>
        <a:p>
          <a:r>
            <a:rPr lang="en-US"/>
            <a:t>Small to medium sized increases in well-being</a:t>
          </a:r>
        </a:p>
      </dgm:t>
    </dgm:pt>
    <dgm:pt modelId="{55125A82-1D4A-4D88-A0F1-37C1BAF2E3F0}" type="parTrans" cxnId="{7D27B668-A9D6-4D89-A57B-F6479DE67655}">
      <dgm:prSet/>
      <dgm:spPr/>
      <dgm:t>
        <a:bodyPr/>
        <a:lstStyle/>
        <a:p>
          <a:endParaRPr lang="en-US"/>
        </a:p>
      </dgm:t>
    </dgm:pt>
    <dgm:pt modelId="{C9A9A5F0-E567-4449-88D0-5200213F248B}" type="sibTrans" cxnId="{7D27B668-A9D6-4D89-A57B-F6479DE67655}">
      <dgm:prSet/>
      <dgm:spPr/>
      <dgm:t>
        <a:bodyPr/>
        <a:lstStyle/>
        <a:p>
          <a:endParaRPr lang="en-US"/>
        </a:p>
      </dgm:t>
    </dgm:pt>
    <dgm:pt modelId="{4F01B9A8-9FD1-49C3-9BB4-95B86E7DD222}">
      <dgm:prSet/>
      <dgm:spPr/>
      <dgm:t>
        <a:bodyPr/>
        <a:lstStyle/>
        <a:p>
          <a:r>
            <a:rPr lang="en-US"/>
            <a:t>Strength of effect not impacted by sex, age, type of intervention, control conditions, or outcome measure</a:t>
          </a:r>
        </a:p>
      </dgm:t>
    </dgm:pt>
    <dgm:pt modelId="{C10763E2-BF62-4034-B780-17111AADF136}" type="parTrans" cxnId="{34BA27A0-322F-4A2F-8F90-73B0C244F429}">
      <dgm:prSet/>
      <dgm:spPr/>
      <dgm:t>
        <a:bodyPr/>
        <a:lstStyle/>
        <a:p>
          <a:endParaRPr lang="en-US"/>
        </a:p>
      </dgm:t>
    </dgm:pt>
    <dgm:pt modelId="{6C48DB93-2347-4077-8946-4C8B8B7AC4E7}" type="sibTrans" cxnId="{34BA27A0-322F-4A2F-8F90-73B0C244F429}">
      <dgm:prSet/>
      <dgm:spPr/>
      <dgm:t>
        <a:bodyPr/>
        <a:lstStyle/>
        <a:p>
          <a:endParaRPr lang="en-US"/>
        </a:p>
      </dgm:t>
    </dgm:pt>
    <dgm:pt modelId="{15C4A3BC-3838-4A2E-8446-13D09650BCAD}">
      <dgm:prSet/>
      <dgm:spPr/>
      <dgm:t>
        <a:bodyPr/>
        <a:lstStyle/>
        <a:p>
          <a:r>
            <a:rPr lang="en-US"/>
            <a:t>Effects attenuated by:</a:t>
          </a:r>
        </a:p>
      </dgm:t>
    </dgm:pt>
    <dgm:pt modelId="{A7865E81-E1D8-466A-9028-4F4D0CDCFA13}" type="parTrans" cxnId="{E2758B72-58DC-4BF7-8F05-03EA27D89067}">
      <dgm:prSet/>
      <dgm:spPr/>
      <dgm:t>
        <a:bodyPr/>
        <a:lstStyle/>
        <a:p>
          <a:endParaRPr lang="en-US"/>
        </a:p>
      </dgm:t>
    </dgm:pt>
    <dgm:pt modelId="{264A9293-34ED-46B1-B0D3-25D8464163A0}" type="sibTrans" cxnId="{E2758B72-58DC-4BF7-8F05-03EA27D89067}">
      <dgm:prSet/>
      <dgm:spPr/>
      <dgm:t>
        <a:bodyPr/>
        <a:lstStyle/>
        <a:p>
          <a:endParaRPr lang="en-US"/>
        </a:p>
      </dgm:t>
    </dgm:pt>
    <dgm:pt modelId="{9691B736-ABA7-4E91-8DA9-CBC0461D4A3A}">
      <dgm:prSet/>
      <dgm:spPr/>
      <dgm:t>
        <a:bodyPr/>
        <a:lstStyle/>
        <a:p>
          <a:r>
            <a:rPr lang="en-US"/>
            <a:t>Engaging in prosocial behaviors for self-oriented reasons</a:t>
          </a:r>
        </a:p>
      </dgm:t>
    </dgm:pt>
    <dgm:pt modelId="{0366F49F-7D42-4627-9A73-27B0E5861E32}" type="parTrans" cxnId="{1EBE00B1-C379-4929-8B2B-969CA88CB6AC}">
      <dgm:prSet/>
      <dgm:spPr/>
      <dgm:t>
        <a:bodyPr/>
        <a:lstStyle/>
        <a:p>
          <a:endParaRPr lang="en-US"/>
        </a:p>
      </dgm:t>
    </dgm:pt>
    <dgm:pt modelId="{00559460-B3B4-459F-9DBD-353EA0416BEF}" type="sibTrans" cxnId="{1EBE00B1-C379-4929-8B2B-969CA88CB6AC}">
      <dgm:prSet/>
      <dgm:spPr/>
      <dgm:t>
        <a:bodyPr/>
        <a:lstStyle/>
        <a:p>
          <a:endParaRPr lang="en-US"/>
        </a:p>
      </dgm:t>
    </dgm:pt>
    <dgm:pt modelId="{807BA422-E59A-4B45-B0A6-21AEFE13936F}">
      <dgm:prSet/>
      <dgm:spPr/>
      <dgm:t>
        <a:bodyPr/>
        <a:lstStyle/>
        <a:p>
          <a:r>
            <a:rPr lang="en-US"/>
            <a:t>Feeling obligated to engage in prosocial behaviors</a:t>
          </a:r>
        </a:p>
      </dgm:t>
    </dgm:pt>
    <dgm:pt modelId="{B6CA08C5-9915-4CF1-B1B0-646953DFFD70}" type="parTrans" cxnId="{A5330F1A-8595-4C16-8B17-331FDA296C1B}">
      <dgm:prSet/>
      <dgm:spPr/>
      <dgm:t>
        <a:bodyPr/>
        <a:lstStyle/>
        <a:p>
          <a:endParaRPr lang="en-US"/>
        </a:p>
      </dgm:t>
    </dgm:pt>
    <dgm:pt modelId="{5E432705-6C54-44EA-BAF1-A91591C9AC21}" type="sibTrans" cxnId="{A5330F1A-8595-4C16-8B17-331FDA296C1B}">
      <dgm:prSet/>
      <dgm:spPr/>
      <dgm:t>
        <a:bodyPr/>
        <a:lstStyle/>
        <a:p>
          <a:endParaRPr lang="en-US"/>
        </a:p>
      </dgm:t>
    </dgm:pt>
    <dgm:pt modelId="{EC362455-F199-4CF1-847C-E647B5763290}" type="pres">
      <dgm:prSet presAssocID="{3CF214AC-50D7-4370-B149-76D4A19D5BD9}" presName="Name0" presStyleCnt="0">
        <dgm:presLayoutVars>
          <dgm:dir/>
          <dgm:animLvl val="lvl"/>
          <dgm:resizeHandles val="exact"/>
        </dgm:presLayoutVars>
      </dgm:prSet>
      <dgm:spPr/>
    </dgm:pt>
    <dgm:pt modelId="{B19CA14B-5393-48FA-9BB1-E945592D6CC5}" type="pres">
      <dgm:prSet presAssocID="{99BE52F5-C9ED-424B-A9F4-BCB31A2B2ED7}" presName="linNode" presStyleCnt="0"/>
      <dgm:spPr/>
    </dgm:pt>
    <dgm:pt modelId="{F1382060-4E91-4996-852E-A3181B64810F}" type="pres">
      <dgm:prSet presAssocID="{99BE52F5-C9ED-424B-A9F4-BCB31A2B2ED7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00D2A170-9EC8-4F58-8F79-B9964FF62B68}" type="pres">
      <dgm:prSet presAssocID="{99BE52F5-C9ED-424B-A9F4-BCB31A2B2ED7}" presName="descendantText" presStyleLbl="alignAccFollowNode1" presStyleIdx="0" presStyleCnt="2">
        <dgm:presLayoutVars>
          <dgm:bulletEnabled val="1"/>
        </dgm:presLayoutVars>
      </dgm:prSet>
      <dgm:spPr/>
    </dgm:pt>
    <dgm:pt modelId="{71BE71C3-2A47-4AD5-9088-B3294BF30BDD}" type="pres">
      <dgm:prSet presAssocID="{5760C559-8F15-4FD6-947D-42E871DFAC22}" presName="sp" presStyleCnt="0"/>
      <dgm:spPr/>
    </dgm:pt>
    <dgm:pt modelId="{0E719AF5-0F8E-4DC5-8AED-0ADAE6F5F7F2}" type="pres">
      <dgm:prSet presAssocID="{15C4A3BC-3838-4A2E-8446-13D09650BCAD}" presName="linNode" presStyleCnt="0"/>
      <dgm:spPr/>
    </dgm:pt>
    <dgm:pt modelId="{FA71EB6D-BFCF-4088-9F58-3DA3F0913820}" type="pres">
      <dgm:prSet presAssocID="{15C4A3BC-3838-4A2E-8446-13D09650BCAD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73F2B80C-702D-4912-AA92-52882D918101}" type="pres">
      <dgm:prSet presAssocID="{15C4A3BC-3838-4A2E-8446-13D09650BCAD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CD3FA08-E89F-42B5-9F69-EB8050A0B06C}" type="presOf" srcId="{4F01B9A8-9FD1-49C3-9BB4-95B86E7DD222}" destId="{00D2A170-9EC8-4F58-8F79-B9964FF62B68}" srcOrd="0" destOrd="1" presId="urn:microsoft.com/office/officeart/2005/8/layout/vList5"/>
    <dgm:cxn modelId="{A5330F1A-8595-4C16-8B17-331FDA296C1B}" srcId="{15C4A3BC-3838-4A2E-8446-13D09650BCAD}" destId="{807BA422-E59A-4B45-B0A6-21AEFE13936F}" srcOrd="1" destOrd="0" parTransId="{B6CA08C5-9915-4CF1-B1B0-646953DFFD70}" sibTransId="{5E432705-6C54-44EA-BAF1-A91591C9AC21}"/>
    <dgm:cxn modelId="{1F1CC128-1D81-466B-9C29-C557B05BFE1A}" type="presOf" srcId="{807BA422-E59A-4B45-B0A6-21AEFE13936F}" destId="{73F2B80C-702D-4912-AA92-52882D918101}" srcOrd="0" destOrd="1" presId="urn:microsoft.com/office/officeart/2005/8/layout/vList5"/>
    <dgm:cxn modelId="{68C4733E-2014-4785-961C-8543AB0FBCFD}" type="presOf" srcId="{9691B736-ABA7-4E91-8DA9-CBC0461D4A3A}" destId="{73F2B80C-702D-4912-AA92-52882D918101}" srcOrd="0" destOrd="0" presId="urn:microsoft.com/office/officeart/2005/8/layout/vList5"/>
    <dgm:cxn modelId="{DBA6055C-A795-4DB1-98D6-D12FB1FDCDAA}" type="presOf" srcId="{99BE52F5-C9ED-424B-A9F4-BCB31A2B2ED7}" destId="{F1382060-4E91-4996-852E-A3181B64810F}" srcOrd="0" destOrd="0" presId="urn:microsoft.com/office/officeart/2005/8/layout/vList5"/>
    <dgm:cxn modelId="{9A52B147-EFB6-4A92-83D7-FAC10EB9ABB4}" type="presOf" srcId="{3CF214AC-50D7-4370-B149-76D4A19D5BD9}" destId="{EC362455-F199-4CF1-847C-E647B5763290}" srcOrd="0" destOrd="0" presId="urn:microsoft.com/office/officeart/2005/8/layout/vList5"/>
    <dgm:cxn modelId="{7D27B668-A9D6-4D89-A57B-F6479DE67655}" srcId="{99BE52F5-C9ED-424B-A9F4-BCB31A2B2ED7}" destId="{D95E1001-ED8E-4311-A17E-B20088E9118E}" srcOrd="0" destOrd="0" parTransId="{55125A82-1D4A-4D88-A0F1-37C1BAF2E3F0}" sibTransId="{C9A9A5F0-E567-4449-88D0-5200213F248B}"/>
    <dgm:cxn modelId="{E2758B72-58DC-4BF7-8F05-03EA27D89067}" srcId="{3CF214AC-50D7-4370-B149-76D4A19D5BD9}" destId="{15C4A3BC-3838-4A2E-8446-13D09650BCAD}" srcOrd="1" destOrd="0" parTransId="{A7865E81-E1D8-466A-9028-4F4D0CDCFA13}" sibTransId="{264A9293-34ED-46B1-B0D3-25D8464163A0}"/>
    <dgm:cxn modelId="{1B82A283-75F3-4A9F-ACAD-7366B0D7E12F}" srcId="{3CF214AC-50D7-4370-B149-76D4A19D5BD9}" destId="{99BE52F5-C9ED-424B-A9F4-BCB31A2B2ED7}" srcOrd="0" destOrd="0" parTransId="{ABC4FC93-9B35-49C4-9B09-E14F9F04E451}" sibTransId="{5760C559-8F15-4FD6-947D-42E871DFAC22}"/>
    <dgm:cxn modelId="{34BA27A0-322F-4A2F-8F90-73B0C244F429}" srcId="{99BE52F5-C9ED-424B-A9F4-BCB31A2B2ED7}" destId="{4F01B9A8-9FD1-49C3-9BB4-95B86E7DD222}" srcOrd="1" destOrd="0" parTransId="{C10763E2-BF62-4034-B780-17111AADF136}" sibTransId="{6C48DB93-2347-4077-8946-4C8B8B7AC4E7}"/>
    <dgm:cxn modelId="{2321C9A6-7720-44D0-BE90-A375EA886EA6}" type="presOf" srcId="{D95E1001-ED8E-4311-A17E-B20088E9118E}" destId="{00D2A170-9EC8-4F58-8F79-B9964FF62B68}" srcOrd="0" destOrd="0" presId="urn:microsoft.com/office/officeart/2005/8/layout/vList5"/>
    <dgm:cxn modelId="{1EBE00B1-C379-4929-8B2B-969CA88CB6AC}" srcId="{15C4A3BC-3838-4A2E-8446-13D09650BCAD}" destId="{9691B736-ABA7-4E91-8DA9-CBC0461D4A3A}" srcOrd="0" destOrd="0" parTransId="{0366F49F-7D42-4627-9A73-27B0E5861E32}" sibTransId="{00559460-B3B4-459F-9DBD-353EA0416BEF}"/>
    <dgm:cxn modelId="{06A770CD-C2C5-4393-9046-2A1409117BD3}" type="presOf" srcId="{15C4A3BC-3838-4A2E-8446-13D09650BCAD}" destId="{FA71EB6D-BFCF-4088-9F58-3DA3F0913820}" srcOrd="0" destOrd="0" presId="urn:microsoft.com/office/officeart/2005/8/layout/vList5"/>
    <dgm:cxn modelId="{6FF0D94F-9251-45BD-966A-149F917C1D55}" type="presParOf" srcId="{EC362455-F199-4CF1-847C-E647B5763290}" destId="{B19CA14B-5393-48FA-9BB1-E945592D6CC5}" srcOrd="0" destOrd="0" presId="urn:microsoft.com/office/officeart/2005/8/layout/vList5"/>
    <dgm:cxn modelId="{4A95C26C-78E0-489D-9B61-E9D79F6D9D2B}" type="presParOf" srcId="{B19CA14B-5393-48FA-9BB1-E945592D6CC5}" destId="{F1382060-4E91-4996-852E-A3181B64810F}" srcOrd="0" destOrd="0" presId="urn:microsoft.com/office/officeart/2005/8/layout/vList5"/>
    <dgm:cxn modelId="{C03E3096-1F01-4108-9399-E3C59833798B}" type="presParOf" srcId="{B19CA14B-5393-48FA-9BB1-E945592D6CC5}" destId="{00D2A170-9EC8-4F58-8F79-B9964FF62B68}" srcOrd="1" destOrd="0" presId="urn:microsoft.com/office/officeart/2005/8/layout/vList5"/>
    <dgm:cxn modelId="{FC3352C7-DC8F-4A32-AB4A-840D49C01A3D}" type="presParOf" srcId="{EC362455-F199-4CF1-847C-E647B5763290}" destId="{71BE71C3-2A47-4AD5-9088-B3294BF30BDD}" srcOrd="1" destOrd="0" presId="urn:microsoft.com/office/officeart/2005/8/layout/vList5"/>
    <dgm:cxn modelId="{9195C77A-0437-4872-8CAD-48ACBEF17756}" type="presParOf" srcId="{EC362455-F199-4CF1-847C-E647B5763290}" destId="{0E719AF5-0F8E-4DC5-8AED-0ADAE6F5F7F2}" srcOrd="2" destOrd="0" presId="urn:microsoft.com/office/officeart/2005/8/layout/vList5"/>
    <dgm:cxn modelId="{F032399B-9A4D-4FD2-B482-F98E19EE31B1}" type="presParOf" srcId="{0E719AF5-0F8E-4DC5-8AED-0ADAE6F5F7F2}" destId="{FA71EB6D-BFCF-4088-9F58-3DA3F0913820}" srcOrd="0" destOrd="0" presId="urn:microsoft.com/office/officeart/2005/8/layout/vList5"/>
    <dgm:cxn modelId="{4F63E193-D82A-42AA-B9D4-83587522EBB5}" type="presParOf" srcId="{0E719AF5-0F8E-4DC5-8AED-0ADAE6F5F7F2}" destId="{73F2B80C-702D-4912-AA92-52882D91810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463720C-7CE3-45DB-87CA-DBD515FC64A8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73B1066-3956-4652-899C-A5F5CF8647E6}">
      <dgm:prSet/>
      <dgm:spPr/>
      <dgm:t>
        <a:bodyPr/>
        <a:lstStyle/>
        <a:p>
          <a:r>
            <a:rPr lang="en-US"/>
            <a:t>Warm uplifting feeling that you get when you see unexpected acts of human goodness, kindness, courage, or compassion</a:t>
          </a:r>
        </a:p>
      </dgm:t>
    </dgm:pt>
    <dgm:pt modelId="{BA706826-E5A4-4609-B7DB-8CD934866B49}" type="parTrans" cxnId="{F6041E55-04E3-46C0-848F-719218A4347E}">
      <dgm:prSet/>
      <dgm:spPr/>
      <dgm:t>
        <a:bodyPr/>
        <a:lstStyle/>
        <a:p>
          <a:endParaRPr lang="en-US"/>
        </a:p>
      </dgm:t>
    </dgm:pt>
    <dgm:pt modelId="{22F2A970-BC56-4236-980A-B4DF960141CF}" type="sibTrans" cxnId="{F6041E55-04E3-46C0-848F-719218A4347E}">
      <dgm:prSet/>
      <dgm:spPr/>
      <dgm:t>
        <a:bodyPr/>
        <a:lstStyle/>
        <a:p>
          <a:endParaRPr lang="en-US"/>
        </a:p>
      </dgm:t>
    </dgm:pt>
    <dgm:pt modelId="{7A8517FF-DC84-4DF9-A52C-3D0CF349FB02}">
      <dgm:prSet/>
      <dgm:spPr/>
      <dgm:t>
        <a:bodyPr/>
        <a:lstStyle/>
        <a:p>
          <a:r>
            <a:rPr lang="en-US"/>
            <a:t>Provides evidence of morality, human decency, pride, community, etc. </a:t>
          </a:r>
        </a:p>
      </dgm:t>
    </dgm:pt>
    <dgm:pt modelId="{C5934A81-9FB4-40E7-A04F-E28506ABBF0D}" type="parTrans" cxnId="{C673037A-BEE2-41DE-947C-89E5A225B15F}">
      <dgm:prSet/>
      <dgm:spPr/>
      <dgm:t>
        <a:bodyPr/>
        <a:lstStyle/>
        <a:p>
          <a:endParaRPr lang="en-US"/>
        </a:p>
      </dgm:t>
    </dgm:pt>
    <dgm:pt modelId="{88574B4D-976E-4CE2-9779-1CE673CF99B6}" type="sibTrans" cxnId="{C673037A-BEE2-41DE-947C-89E5A225B15F}">
      <dgm:prSet/>
      <dgm:spPr/>
      <dgm:t>
        <a:bodyPr/>
        <a:lstStyle/>
        <a:p>
          <a:endParaRPr lang="en-US"/>
        </a:p>
      </dgm:t>
    </dgm:pt>
    <dgm:pt modelId="{96316546-6A74-4FA5-A119-F9FC223774FC}">
      <dgm:prSet/>
      <dgm:spPr/>
      <dgm:t>
        <a:bodyPr/>
        <a:lstStyle/>
        <a:p>
          <a:r>
            <a:rPr lang="en-US"/>
            <a:t>Opposite of social disgust</a:t>
          </a:r>
        </a:p>
      </dgm:t>
    </dgm:pt>
    <dgm:pt modelId="{A5DC9A25-5487-4DDA-BEE8-E5F86C27E36D}" type="parTrans" cxnId="{AF2F4437-341E-4F34-9812-5D06968FC088}">
      <dgm:prSet/>
      <dgm:spPr/>
      <dgm:t>
        <a:bodyPr/>
        <a:lstStyle/>
        <a:p>
          <a:endParaRPr lang="en-US"/>
        </a:p>
      </dgm:t>
    </dgm:pt>
    <dgm:pt modelId="{81AAA61A-F151-4330-9308-40D5A23F8647}" type="sibTrans" cxnId="{AF2F4437-341E-4F34-9812-5D06968FC088}">
      <dgm:prSet/>
      <dgm:spPr/>
      <dgm:t>
        <a:bodyPr/>
        <a:lstStyle/>
        <a:p>
          <a:endParaRPr lang="en-US"/>
        </a:p>
      </dgm:t>
    </dgm:pt>
    <dgm:pt modelId="{FC906664-0D0C-4079-9633-29E5BA5FEFF7}">
      <dgm:prSet/>
      <dgm:spPr/>
      <dgm:t>
        <a:bodyPr/>
        <a:lstStyle/>
        <a:p>
          <a:r>
            <a:rPr lang="en-US"/>
            <a:t>Described as being touched, inspired, or moved</a:t>
          </a:r>
        </a:p>
      </dgm:t>
    </dgm:pt>
    <dgm:pt modelId="{AF502C00-48B9-4519-9C13-17076FCCE880}" type="parTrans" cxnId="{A52E00CE-1C1D-4AB4-A182-D7044F45CA07}">
      <dgm:prSet/>
      <dgm:spPr/>
      <dgm:t>
        <a:bodyPr/>
        <a:lstStyle/>
        <a:p>
          <a:endParaRPr lang="en-US"/>
        </a:p>
      </dgm:t>
    </dgm:pt>
    <dgm:pt modelId="{908FABC7-50CA-4771-862A-1432DB4C9080}" type="sibTrans" cxnId="{A52E00CE-1C1D-4AB4-A182-D7044F45CA07}">
      <dgm:prSet/>
      <dgm:spPr/>
      <dgm:t>
        <a:bodyPr/>
        <a:lstStyle/>
        <a:p>
          <a:endParaRPr lang="en-US"/>
        </a:p>
      </dgm:t>
    </dgm:pt>
    <dgm:pt modelId="{F9E96274-F553-42AB-9BF8-301830686202}">
      <dgm:prSet/>
      <dgm:spPr/>
      <dgm:t>
        <a:bodyPr/>
        <a:lstStyle/>
        <a:p>
          <a:r>
            <a:rPr lang="en-US"/>
            <a:t>Promotes prosocial motivation</a:t>
          </a:r>
        </a:p>
      </dgm:t>
    </dgm:pt>
    <dgm:pt modelId="{59212171-0230-4B10-8392-BC714D73EC25}" type="parTrans" cxnId="{85581A5D-6C18-4FF0-BB9E-9D5ECF78471C}">
      <dgm:prSet/>
      <dgm:spPr/>
      <dgm:t>
        <a:bodyPr/>
        <a:lstStyle/>
        <a:p>
          <a:endParaRPr lang="en-US"/>
        </a:p>
      </dgm:t>
    </dgm:pt>
    <dgm:pt modelId="{2A9EEB4C-77AE-4D25-988A-FD14127B1B60}" type="sibTrans" cxnId="{85581A5D-6C18-4FF0-BB9E-9D5ECF78471C}">
      <dgm:prSet/>
      <dgm:spPr/>
      <dgm:t>
        <a:bodyPr/>
        <a:lstStyle/>
        <a:p>
          <a:endParaRPr lang="en-US"/>
        </a:p>
      </dgm:t>
    </dgm:pt>
    <dgm:pt modelId="{7B9BF08D-4685-484F-B8D4-AD8CBAB7720C}">
      <dgm:prSet/>
      <dgm:spPr/>
      <dgm:t>
        <a:bodyPr/>
        <a:lstStyle/>
        <a:p>
          <a:r>
            <a:rPr lang="en-US"/>
            <a:t>Related to psychological growth and compassionate goals following trauma (Tingey et al., 2019)</a:t>
          </a:r>
        </a:p>
      </dgm:t>
    </dgm:pt>
    <dgm:pt modelId="{D1926270-863A-4FF0-9D20-13EBC22141E2}" type="parTrans" cxnId="{DC798851-4DA4-4311-8BDF-057F34DB81F1}">
      <dgm:prSet/>
      <dgm:spPr/>
      <dgm:t>
        <a:bodyPr/>
        <a:lstStyle/>
        <a:p>
          <a:endParaRPr lang="en-US"/>
        </a:p>
      </dgm:t>
    </dgm:pt>
    <dgm:pt modelId="{BE229BF5-5465-4D48-982E-A5BCEED2A0E8}" type="sibTrans" cxnId="{DC798851-4DA4-4311-8BDF-057F34DB81F1}">
      <dgm:prSet/>
      <dgm:spPr/>
      <dgm:t>
        <a:bodyPr/>
        <a:lstStyle/>
        <a:p>
          <a:endParaRPr lang="en-US"/>
        </a:p>
      </dgm:t>
    </dgm:pt>
    <dgm:pt modelId="{B8AD637C-7487-45C4-9696-348C5C41689A}" type="pres">
      <dgm:prSet presAssocID="{A463720C-7CE3-45DB-87CA-DBD515FC64A8}" presName="diagram" presStyleCnt="0">
        <dgm:presLayoutVars>
          <dgm:dir/>
          <dgm:resizeHandles val="exact"/>
        </dgm:presLayoutVars>
      </dgm:prSet>
      <dgm:spPr/>
    </dgm:pt>
    <dgm:pt modelId="{3BEF87BA-2D70-4837-A7A4-C2960632D244}" type="pres">
      <dgm:prSet presAssocID="{E73B1066-3956-4652-899C-A5F5CF8647E6}" presName="node" presStyleLbl="node1" presStyleIdx="0" presStyleCnt="6">
        <dgm:presLayoutVars>
          <dgm:bulletEnabled val="1"/>
        </dgm:presLayoutVars>
      </dgm:prSet>
      <dgm:spPr/>
    </dgm:pt>
    <dgm:pt modelId="{6A8350AC-4E9F-4E83-8C9C-75D07C5BE6D3}" type="pres">
      <dgm:prSet presAssocID="{22F2A970-BC56-4236-980A-B4DF960141CF}" presName="sibTrans" presStyleCnt="0"/>
      <dgm:spPr/>
    </dgm:pt>
    <dgm:pt modelId="{FBAA1B43-6227-4EC6-AA54-D5C0671A08D4}" type="pres">
      <dgm:prSet presAssocID="{7A8517FF-DC84-4DF9-A52C-3D0CF349FB02}" presName="node" presStyleLbl="node1" presStyleIdx="1" presStyleCnt="6">
        <dgm:presLayoutVars>
          <dgm:bulletEnabled val="1"/>
        </dgm:presLayoutVars>
      </dgm:prSet>
      <dgm:spPr/>
    </dgm:pt>
    <dgm:pt modelId="{72B42BD5-A6DC-403C-B820-979BB2AC8DBF}" type="pres">
      <dgm:prSet presAssocID="{88574B4D-976E-4CE2-9779-1CE673CF99B6}" presName="sibTrans" presStyleCnt="0"/>
      <dgm:spPr/>
    </dgm:pt>
    <dgm:pt modelId="{654C7C7D-1468-47D8-92B7-6907A46C5E5F}" type="pres">
      <dgm:prSet presAssocID="{96316546-6A74-4FA5-A119-F9FC223774FC}" presName="node" presStyleLbl="node1" presStyleIdx="2" presStyleCnt="6">
        <dgm:presLayoutVars>
          <dgm:bulletEnabled val="1"/>
        </dgm:presLayoutVars>
      </dgm:prSet>
      <dgm:spPr/>
    </dgm:pt>
    <dgm:pt modelId="{BC513B93-650B-4C63-AF4F-E6B5338376DE}" type="pres">
      <dgm:prSet presAssocID="{81AAA61A-F151-4330-9308-40D5A23F8647}" presName="sibTrans" presStyleCnt="0"/>
      <dgm:spPr/>
    </dgm:pt>
    <dgm:pt modelId="{2773E1AD-090D-40D1-B1AF-D29FB6389B8F}" type="pres">
      <dgm:prSet presAssocID="{FC906664-0D0C-4079-9633-29E5BA5FEFF7}" presName="node" presStyleLbl="node1" presStyleIdx="3" presStyleCnt="6">
        <dgm:presLayoutVars>
          <dgm:bulletEnabled val="1"/>
        </dgm:presLayoutVars>
      </dgm:prSet>
      <dgm:spPr/>
    </dgm:pt>
    <dgm:pt modelId="{EB0475D0-EFEA-4747-A6C3-08225C438609}" type="pres">
      <dgm:prSet presAssocID="{908FABC7-50CA-4771-862A-1432DB4C9080}" presName="sibTrans" presStyleCnt="0"/>
      <dgm:spPr/>
    </dgm:pt>
    <dgm:pt modelId="{81829035-BB39-44C3-8B3B-3B4A1B37C757}" type="pres">
      <dgm:prSet presAssocID="{F9E96274-F553-42AB-9BF8-301830686202}" presName="node" presStyleLbl="node1" presStyleIdx="4" presStyleCnt="6">
        <dgm:presLayoutVars>
          <dgm:bulletEnabled val="1"/>
        </dgm:presLayoutVars>
      </dgm:prSet>
      <dgm:spPr/>
    </dgm:pt>
    <dgm:pt modelId="{B01F5FD3-4FC9-4CB2-91AC-91D7FA4AB8E1}" type="pres">
      <dgm:prSet presAssocID="{2A9EEB4C-77AE-4D25-988A-FD14127B1B60}" presName="sibTrans" presStyleCnt="0"/>
      <dgm:spPr/>
    </dgm:pt>
    <dgm:pt modelId="{44B5ECF2-3F17-4192-8EB3-C4D6DEFC55B5}" type="pres">
      <dgm:prSet presAssocID="{7B9BF08D-4685-484F-B8D4-AD8CBAB7720C}" presName="node" presStyleLbl="node1" presStyleIdx="5" presStyleCnt="6">
        <dgm:presLayoutVars>
          <dgm:bulletEnabled val="1"/>
        </dgm:presLayoutVars>
      </dgm:prSet>
      <dgm:spPr/>
    </dgm:pt>
  </dgm:ptLst>
  <dgm:cxnLst>
    <dgm:cxn modelId="{33DCDA04-3406-4B42-A849-B612DB00200E}" type="presOf" srcId="{96316546-6A74-4FA5-A119-F9FC223774FC}" destId="{654C7C7D-1468-47D8-92B7-6907A46C5E5F}" srcOrd="0" destOrd="0" presId="urn:microsoft.com/office/officeart/2005/8/layout/default"/>
    <dgm:cxn modelId="{D8925D20-180F-45A7-B390-16A55FC2C170}" type="presOf" srcId="{7A8517FF-DC84-4DF9-A52C-3D0CF349FB02}" destId="{FBAA1B43-6227-4EC6-AA54-D5C0671A08D4}" srcOrd="0" destOrd="0" presId="urn:microsoft.com/office/officeart/2005/8/layout/default"/>
    <dgm:cxn modelId="{AF2F4437-341E-4F34-9812-5D06968FC088}" srcId="{A463720C-7CE3-45DB-87CA-DBD515FC64A8}" destId="{96316546-6A74-4FA5-A119-F9FC223774FC}" srcOrd="2" destOrd="0" parTransId="{A5DC9A25-5487-4DDA-BEE8-E5F86C27E36D}" sibTransId="{81AAA61A-F151-4330-9308-40D5A23F8647}"/>
    <dgm:cxn modelId="{85581A5D-6C18-4FF0-BB9E-9D5ECF78471C}" srcId="{A463720C-7CE3-45DB-87CA-DBD515FC64A8}" destId="{F9E96274-F553-42AB-9BF8-301830686202}" srcOrd="4" destOrd="0" parTransId="{59212171-0230-4B10-8392-BC714D73EC25}" sibTransId="{2A9EEB4C-77AE-4D25-988A-FD14127B1B60}"/>
    <dgm:cxn modelId="{B4599270-50FA-44E7-B0D8-360618F51842}" type="presOf" srcId="{F9E96274-F553-42AB-9BF8-301830686202}" destId="{81829035-BB39-44C3-8B3B-3B4A1B37C757}" srcOrd="0" destOrd="0" presId="urn:microsoft.com/office/officeart/2005/8/layout/default"/>
    <dgm:cxn modelId="{904BBD70-E87A-4730-A1E7-843DB6A51F2F}" type="presOf" srcId="{FC906664-0D0C-4079-9633-29E5BA5FEFF7}" destId="{2773E1AD-090D-40D1-B1AF-D29FB6389B8F}" srcOrd="0" destOrd="0" presId="urn:microsoft.com/office/officeart/2005/8/layout/default"/>
    <dgm:cxn modelId="{DC798851-4DA4-4311-8BDF-057F34DB81F1}" srcId="{A463720C-7CE3-45DB-87CA-DBD515FC64A8}" destId="{7B9BF08D-4685-484F-B8D4-AD8CBAB7720C}" srcOrd="5" destOrd="0" parTransId="{D1926270-863A-4FF0-9D20-13EBC22141E2}" sibTransId="{BE229BF5-5465-4D48-982E-A5BCEED2A0E8}"/>
    <dgm:cxn modelId="{F6041E55-04E3-46C0-848F-719218A4347E}" srcId="{A463720C-7CE3-45DB-87CA-DBD515FC64A8}" destId="{E73B1066-3956-4652-899C-A5F5CF8647E6}" srcOrd="0" destOrd="0" parTransId="{BA706826-E5A4-4609-B7DB-8CD934866B49}" sibTransId="{22F2A970-BC56-4236-980A-B4DF960141CF}"/>
    <dgm:cxn modelId="{C673037A-BEE2-41DE-947C-89E5A225B15F}" srcId="{A463720C-7CE3-45DB-87CA-DBD515FC64A8}" destId="{7A8517FF-DC84-4DF9-A52C-3D0CF349FB02}" srcOrd="1" destOrd="0" parTransId="{C5934A81-9FB4-40E7-A04F-E28506ABBF0D}" sibTransId="{88574B4D-976E-4CE2-9779-1CE673CF99B6}"/>
    <dgm:cxn modelId="{596FA87A-6CF5-4949-B250-D2570ADF1C02}" type="presOf" srcId="{A463720C-7CE3-45DB-87CA-DBD515FC64A8}" destId="{B8AD637C-7487-45C4-9696-348C5C41689A}" srcOrd="0" destOrd="0" presId="urn:microsoft.com/office/officeart/2005/8/layout/default"/>
    <dgm:cxn modelId="{E31C9DB6-E902-4A0E-A943-2A683D6CCBE0}" type="presOf" srcId="{E73B1066-3956-4652-899C-A5F5CF8647E6}" destId="{3BEF87BA-2D70-4837-A7A4-C2960632D244}" srcOrd="0" destOrd="0" presId="urn:microsoft.com/office/officeart/2005/8/layout/default"/>
    <dgm:cxn modelId="{A52E00CE-1C1D-4AB4-A182-D7044F45CA07}" srcId="{A463720C-7CE3-45DB-87CA-DBD515FC64A8}" destId="{FC906664-0D0C-4079-9633-29E5BA5FEFF7}" srcOrd="3" destOrd="0" parTransId="{AF502C00-48B9-4519-9C13-17076FCCE880}" sibTransId="{908FABC7-50CA-4771-862A-1432DB4C9080}"/>
    <dgm:cxn modelId="{117464DB-30B3-4206-B945-4BBC57562A04}" type="presOf" srcId="{7B9BF08D-4685-484F-B8D4-AD8CBAB7720C}" destId="{44B5ECF2-3F17-4192-8EB3-C4D6DEFC55B5}" srcOrd="0" destOrd="0" presId="urn:microsoft.com/office/officeart/2005/8/layout/default"/>
    <dgm:cxn modelId="{5199C7D9-07E3-4BE5-8189-74EC9B93E9EA}" type="presParOf" srcId="{B8AD637C-7487-45C4-9696-348C5C41689A}" destId="{3BEF87BA-2D70-4837-A7A4-C2960632D244}" srcOrd="0" destOrd="0" presId="urn:microsoft.com/office/officeart/2005/8/layout/default"/>
    <dgm:cxn modelId="{58B33585-7C6C-45E9-9CA9-E31D53DAB67D}" type="presParOf" srcId="{B8AD637C-7487-45C4-9696-348C5C41689A}" destId="{6A8350AC-4E9F-4E83-8C9C-75D07C5BE6D3}" srcOrd="1" destOrd="0" presId="urn:microsoft.com/office/officeart/2005/8/layout/default"/>
    <dgm:cxn modelId="{9EB81CDB-6A5F-4D2B-9A38-B7DC781C0E3B}" type="presParOf" srcId="{B8AD637C-7487-45C4-9696-348C5C41689A}" destId="{FBAA1B43-6227-4EC6-AA54-D5C0671A08D4}" srcOrd="2" destOrd="0" presId="urn:microsoft.com/office/officeart/2005/8/layout/default"/>
    <dgm:cxn modelId="{D4CBB899-A8FC-4850-ACCB-F24ADDB6F0D8}" type="presParOf" srcId="{B8AD637C-7487-45C4-9696-348C5C41689A}" destId="{72B42BD5-A6DC-403C-B820-979BB2AC8DBF}" srcOrd="3" destOrd="0" presId="urn:microsoft.com/office/officeart/2005/8/layout/default"/>
    <dgm:cxn modelId="{3C7B1B32-664F-4074-AB8C-B0345B4D66C9}" type="presParOf" srcId="{B8AD637C-7487-45C4-9696-348C5C41689A}" destId="{654C7C7D-1468-47D8-92B7-6907A46C5E5F}" srcOrd="4" destOrd="0" presId="urn:microsoft.com/office/officeart/2005/8/layout/default"/>
    <dgm:cxn modelId="{96E95E86-56D5-4245-B6E4-764975A37DA8}" type="presParOf" srcId="{B8AD637C-7487-45C4-9696-348C5C41689A}" destId="{BC513B93-650B-4C63-AF4F-E6B5338376DE}" srcOrd="5" destOrd="0" presId="urn:microsoft.com/office/officeart/2005/8/layout/default"/>
    <dgm:cxn modelId="{487CDFD8-6063-4AAD-B174-F69F1A3B7526}" type="presParOf" srcId="{B8AD637C-7487-45C4-9696-348C5C41689A}" destId="{2773E1AD-090D-40D1-B1AF-D29FB6389B8F}" srcOrd="6" destOrd="0" presId="urn:microsoft.com/office/officeart/2005/8/layout/default"/>
    <dgm:cxn modelId="{30B550ED-B536-4D48-B3C3-EB55CF64447A}" type="presParOf" srcId="{B8AD637C-7487-45C4-9696-348C5C41689A}" destId="{EB0475D0-EFEA-4747-A6C3-08225C438609}" srcOrd="7" destOrd="0" presId="urn:microsoft.com/office/officeart/2005/8/layout/default"/>
    <dgm:cxn modelId="{C76D0B13-07AA-4D5D-A9B2-1E4270965408}" type="presParOf" srcId="{B8AD637C-7487-45C4-9696-348C5C41689A}" destId="{81829035-BB39-44C3-8B3B-3B4A1B37C757}" srcOrd="8" destOrd="0" presId="urn:microsoft.com/office/officeart/2005/8/layout/default"/>
    <dgm:cxn modelId="{6DD23EAD-AFB5-41B3-B708-170A2B366613}" type="presParOf" srcId="{B8AD637C-7487-45C4-9696-348C5C41689A}" destId="{B01F5FD3-4FC9-4CB2-91AC-91D7FA4AB8E1}" srcOrd="9" destOrd="0" presId="urn:microsoft.com/office/officeart/2005/8/layout/default"/>
    <dgm:cxn modelId="{993FBD26-5BA7-4268-A869-5626E40C30F3}" type="presParOf" srcId="{B8AD637C-7487-45C4-9696-348C5C41689A}" destId="{44B5ECF2-3F17-4192-8EB3-C4D6DEFC55B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8E441B-9281-4CF4-AA8E-5E63390CDDAE}">
      <dsp:nvSpPr>
        <dsp:cNvPr id="0" name=""/>
        <dsp:cNvSpPr/>
      </dsp:nvSpPr>
      <dsp:spPr>
        <a:xfrm>
          <a:off x="0" y="357709"/>
          <a:ext cx="5000124" cy="1732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16560" rIns="38806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Engaging in prosocial behaviors because it benefits you to do so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Financial rewards, social capital, increased self-worth</a:t>
          </a:r>
        </a:p>
      </dsp:txBody>
      <dsp:txXfrm>
        <a:off x="0" y="357709"/>
        <a:ext cx="5000124" cy="1732500"/>
      </dsp:txXfrm>
    </dsp:sp>
    <dsp:sp modelId="{A90A8AC2-4445-40AD-8F83-06EAEBC3BFE2}">
      <dsp:nvSpPr>
        <dsp:cNvPr id="0" name=""/>
        <dsp:cNvSpPr/>
      </dsp:nvSpPr>
      <dsp:spPr>
        <a:xfrm>
          <a:off x="250006" y="62509"/>
          <a:ext cx="3500086" cy="59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Egoism-Motivated Altruism</a:t>
          </a:r>
        </a:p>
      </dsp:txBody>
      <dsp:txXfrm>
        <a:off x="278827" y="91330"/>
        <a:ext cx="3442444" cy="532758"/>
      </dsp:txXfrm>
    </dsp:sp>
    <dsp:sp modelId="{E6C9FB7B-6D9B-4F2E-808F-CBF6A1D9AE2C}">
      <dsp:nvSpPr>
        <dsp:cNvPr id="0" name=""/>
        <dsp:cNvSpPr/>
      </dsp:nvSpPr>
      <dsp:spPr>
        <a:xfrm>
          <a:off x="0" y="2493409"/>
          <a:ext cx="5000124" cy="289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16560" rIns="38806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Engaging in helping behaviors to reduce the needs of others, without consideration of costs or benefits to self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Altruism can be motivated by empathetic concern, an emotional response that occurs when we see others in need</a:t>
          </a:r>
        </a:p>
      </dsp:txBody>
      <dsp:txXfrm>
        <a:off x="0" y="2493409"/>
        <a:ext cx="5000124" cy="2898000"/>
      </dsp:txXfrm>
    </dsp:sp>
    <dsp:sp modelId="{28E192C3-07A0-4828-9292-3D325190EE38}">
      <dsp:nvSpPr>
        <dsp:cNvPr id="0" name=""/>
        <dsp:cNvSpPr/>
      </dsp:nvSpPr>
      <dsp:spPr>
        <a:xfrm>
          <a:off x="250006" y="2198209"/>
          <a:ext cx="3500086" cy="59040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Empathy-Motivated Altruism</a:t>
          </a:r>
        </a:p>
      </dsp:txBody>
      <dsp:txXfrm>
        <a:off x="278827" y="2227030"/>
        <a:ext cx="3442444" cy="532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BA6E6C-C758-451A-8963-9BF7346AE423}">
      <dsp:nvSpPr>
        <dsp:cNvPr id="0" name=""/>
        <dsp:cNvSpPr/>
      </dsp:nvSpPr>
      <dsp:spPr>
        <a:xfrm>
          <a:off x="0" y="54930"/>
          <a:ext cx="5591503" cy="15701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Healthcare workers more likely to sanitize hands when reminded it keeps patients safe than when reminded it keeps them safe (Grant &amp; Hoffman, 2011)</a:t>
          </a:r>
        </a:p>
      </dsp:txBody>
      <dsp:txXfrm>
        <a:off x="76648" y="131578"/>
        <a:ext cx="5438207" cy="1416844"/>
      </dsp:txXfrm>
    </dsp:sp>
    <dsp:sp modelId="{4FF6F7ED-658C-4CB5-88D6-E3AC4470F3BE}">
      <dsp:nvSpPr>
        <dsp:cNvPr id="0" name=""/>
        <dsp:cNvSpPr/>
      </dsp:nvSpPr>
      <dsp:spPr>
        <a:xfrm>
          <a:off x="0" y="1688430"/>
          <a:ext cx="5591503" cy="1570140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Empathy for most vulnerable in population associated with social distancing in US, UK, and Germany at beginning of COVID-19 pandemic (Pfattheicher et al., 2020)</a:t>
          </a:r>
        </a:p>
      </dsp:txBody>
      <dsp:txXfrm>
        <a:off x="76648" y="1765078"/>
        <a:ext cx="5438207" cy="1416844"/>
      </dsp:txXfrm>
    </dsp:sp>
    <dsp:sp modelId="{37924E71-E4EC-4AE8-AD09-604EECA8E928}">
      <dsp:nvSpPr>
        <dsp:cNvPr id="0" name=""/>
        <dsp:cNvSpPr/>
      </dsp:nvSpPr>
      <dsp:spPr>
        <a:xfrm>
          <a:off x="0" y="3258571"/>
          <a:ext cx="5591503" cy="774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53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Inducing empathy resulted in higher motivation to adhere to social distancing (saw video of man who couldn’t be with wife)</a:t>
          </a:r>
        </a:p>
      </dsp:txBody>
      <dsp:txXfrm>
        <a:off x="0" y="3258571"/>
        <a:ext cx="5591503" cy="774180"/>
      </dsp:txXfrm>
    </dsp:sp>
    <dsp:sp modelId="{DADDC4B8-633F-41B9-B510-3D677B5E4D6D}">
      <dsp:nvSpPr>
        <dsp:cNvPr id="0" name=""/>
        <dsp:cNvSpPr/>
      </dsp:nvSpPr>
      <dsp:spPr>
        <a:xfrm>
          <a:off x="0" y="4032751"/>
          <a:ext cx="5591503" cy="157014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Altruistic kidney donors more activation in bilateral anterior insula (empathy area)than controls when watching others experience pain (</a:t>
          </a:r>
          <a:r>
            <a:rPr lang="en-US" sz="2200" kern="1200" dirty="0" err="1"/>
            <a:t>Brethel-Haurwitz</a:t>
          </a:r>
          <a:r>
            <a:rPr lang="en-US" sz="2200" kern="1200" dirty="0"/>
            <a:t> et al., 2018)</a:t>
          </a:r>
        </a:p>
      </dsp:txBody>
      <dsp:txXfrm>
        <a:off x="76648" y="4109399"/>
        <a:ext cx="5438207" cy="1416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2F1608-1B3A-4618-A5CD-EEE872F21FD4}">
      <dsp:nvSpPr>
        <dsp:cNvPr id="0" name=""/>
        <dsp:cNvSpPr/>
      </dsp:nvSpPr>
      <dsp:spPr>
        <a:xfrm rot="5400000">
          <a:off x="2335930" y="-269781"/>
          <a:ext cx="2128307" cy="320007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Also, happier when giving away own treats to a puppet compared to giving away experimenter’s treats   (</a:t>
          </a:r>
          <a:r>
            <a:rPr lang="en-US" sz="1500" i="1" kern="1200" dirty="0"/>
            <a:t>d</a:t>
          </a:r>
          <a:r>
            <a:rPr lang="en-US" sz="1500" kern="1200" dirty="0"/>
            <a:t> = .46)   Aknin et al., 2012 </a:t>
          </a:r>
        </a:p>
      </dsp:txBody>
      <dsp:txXfrm rot="-5400000">
        <a:off x="1800045" y="369999"/>
        <a:ext cx="3096184" cy="1920517"/>
      </dsp:txXfrm>
    </dsp:sp>
    <dsp:sp modelId="{2E5C1438-6826-4293-B4D4-EABD4DAE397A}">
      <dsp:nvSpPr>
        <dsp:cNvPr id="0" name=""/>
        <dsp:cNvSpPr/>
      </dsp:nvSpPr>
      <dsp:spPr>
        <a:xfrm>
          <a:off x="0" y="66"/>
          <a:ext cx="1800044" cy="266038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Toddlers aged 19 to 23 months, coded as happier when giving treats than when receiving them (</a:t>
          </a:r>
          <a:r>
            <a:rPr lang="en-US" sz="1900" i="1" kern="1200"/>
            <a:t>d</a:t>
          </a:r>
          <a:r>
            <a:rPr lang="en-US" sz="1900" kern="1200"/>
            <a:t> = 1.12) </a:t>
          </a:r>
        </a:p>
      </dsp:txBody>
      <dsp:txXfrm>
        <a:off x="87871" y="87937"/>
        <a:ext cx="1624302" cy="2484641"/>
      </dsp:txXfrm>
    </dsp:sp>
    <dsp:sp modelId="{7F1DFA1C-E424-4B6F-A631-4E04AB9A225B}">
      <dsp:nvSpPr>
        <dsp:cNvPr id="0" name=""/>
        <dsp:cNvSpPr/>
      </dsp:nvSpPr>
      <dsp:spPr>
        <a:xfrm rot="5400000">
          <a:off x="2335930" y="2523621"/>
          <a:ext cx="2128307" cy="3200079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To relatives or non-relatives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Controlling for: age, gender, ethnicity, education, income, marital status, size of social network, functional mobility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Neither receiving help nor reciprocity related to health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Brown et al., 2005      </a:t>
          </a:r>
        </a:p>
      </dsp:txBody>
      <dsp:txXfrm rot="-5400000">
        <a:off x="1800045" y="3163402"/>
        <a:ext cx="3096184" cy="1920517"/>
      </dsp:txXfrm>
    </dsp:sp>
    <dsp:sp modelId="{FBE18CFB-816C-47ED-9057-51DC6AF8994B}">
      <dsp:nvSpPr>
        <dsp:cNvPr id="0" name=""/>
        <dsp:cNvSpPr/>
      </dsp:nvSpPr>
      <dsp:spPr>
        <a:xfrm>
          <a:off x="0" y="2793469"/>
          <a:ext cx="1800044" cy="2660383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Older adults (N = 1,118) who reported giving more help also reported being physically healthier</a:t>
          </a:r>
        </a:p>
      </dsp:txBody>
      <dsp:txXfrm>
        <a:off x="87871" y="2881340"/>
        <a:ext cx="1624302" cy="24846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152C34-2A0B-40EE-A217-11A204163F29}">
      <dsp:nvSpPr>
        <dsp:cNvPr id="0" name=""/>
        <dsp:cNvSpPr/>
      </dsp:nvSpPr>
      <dsp:spPr>
        <a:xfrm>
          <a:off x="0" y="7123"/>
          <a:ext cx="5696607" cy="21736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Older married adults (N = 846)</a:t>
          </a:r>
        </a:p>
      </dsp:txBody>
      <dsp:txXfrm>
        <a:off x="106108" y="113231"/>
        <a:ext cx="5484391" cy="1961424"/>
      </dsp:txXfrm>
    </dsp:sp>
    <dsp:sp modelId="{D3DAB556-E1BE-452D-905B-4EB57F1F6074}">
      <dsp:nvSpPr>
        <dsp:cNvPr id="0" name=""/>
        <dsp:cNvSpPr/>
      </dsp:nvSpPr>
      <dsp:spPr>
        <a:xfrm>
          <a:off x="0" y="2180764"/>
          <a:ext cx="5696607" cy="2018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867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Prosocial behavior = unpaid hours providing instrumental support to people with whom they don’t live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Stress related to increased risk of death in next 5yrs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Prosocial behavior related to decreased risk of death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Prosocial behavior moderated association between stress and death  Poulin et al., 2013</a:t>
          </a:r>
        </a:p>
      </dsp:txBody>
      <dsp:txXfrm>
        <a:off x="0" y="2180764"/>
        <a:ext cx="5696607" cy="2018250"/>
      </dsp:txXfrm>
    </dsp:sp>
    <dsp:sp modelId="{DD0580EA-8589-4AE6-936A-BB19EC54FBD2}">
      <dsp:nvSpPr>
        <dsp:cNvPr id="0" name=""/>
        <dsp:cNvSpPr/>
      </dsp:nvSpPr>
      <dsp:spPr>
        <a:xfrm>
          <a:off x="0" y="4199014"/>
          <a:ext cx="5696607" cy="217364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Providing support related to psychological benefits even for those with recent trauma (Frazier et al., 2013) and after recent loss of spouse (Brown et al., 2008)</a:t>
          </a:r>
        </a:p>
      </dsp:txBody>
      <dsp:txXfrm>
        <a:off x="106108" y="4305122"/>
        <a:ext cx="5484391" cy="19614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276D1D-220C-4C96-8D3F-32D69AFB9D97}">
      <dsp:nvSpPr>
        <dsp:cNvPr id="0" name=""/>
        <dsp:cNvSpPr/>
      </dsp:nvSpPr>
      <dsp:spPr>
        <a:xfrm>
          <a:off x="0" y="730575"/>
          <a:ext cx="5000124" cy="75477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Women more than men </a:t>
          </a:r>
        </a:p>
      </dsp:txBody>
      <dsp:txXfrm>
        <a:off x="36845" y="767420"/>
        <a:ext cx="4926434" cy="681087"/>
      </dsp:txXfrm>
    </dsp:sp>
    <dsp:sp modelId="{26D2C600-FC6E-4693-AD92-D22D5A459B38}">
      <dsp:nvSpPr>
        <dsp:cNvPr id="0" name=""/>
        <dsp:cNvSpPr/>
      </dsp:nvSpPr>
      <dsp:spPr>
        <a:xfrm>
          <a:off x="0" y="1540073"/>
          <a:ext cx="5000124" cy="754777"/>
        </a:xfrm>
        <a:prstGeom prst="roundRect">
          <a:avLst/>
        </a:prstGeom>
        <a:gradFill rotWithShape="0">
          <a:gsLst>
            <a:gs pos="0">
              <a:schemeClr val="accent2">
                <a:hueOff val="-363841"/>
                <a:satOff val="-20982"/>
                <a:lumOff val="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63841"/>
                <a:satOff val="-20982"/>
                <a:lumOff val="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63841"/>
                <a:satOff val="-20982"/>
                <a:lumOff val="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Older people more than younger people</a:t>
          </a:r>
        </a:p>
      </dsp:txBody>
      <dsp:txXfrm>
        <a:off x="36845" y="1576918"/>
        <a:ext cx="4926434" cy="681087"/>
      </dsp:txXfrm>
    </dsp:sp>
    <dsp:sp modelId="{38A47654-0E32-4B15-83C4-5DF409D5D249}">
      <dsp:nvSpPr>
        <dsp:cNvPr id="0" name=""/>
        <dsp:cNvSpPr/>
      </dsp:nvSpPr>
      <dsp:spPr>
        <a:xfrm>
          <a:off x="0" y="2349571"/>
          <a:ext cx="5000124" cy="754777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People who identify as religious more than those who don’t</a:t>
          </a:r>
        </a:p>
      </dsp:txBody>
      <dsp:txXfrm>
        <a:off x="36845" y="2386416"/>
        <a:ext cx="4926434" cy="681087"/>
      </dsp:txXfrm>
    </dsp:sp>
    <dsp:sp modelId="{469791FD-E2C5-4797-B883-0EE6C515A37C}">
      <dsp:nvSpPr>
        <dsp:cNvPr id="0" name=""/>
        <dsp:cNvSpPr/>
      </dsp:nvSpPr>
      <dsp:spPr>
        <a:xfrm>
          <a:off x="0" y="3159068"/>
          <a:ext cx="5000124" cy="754777"/>
        </a:xfrm>
        <a:prstGeom prst="roundRect">
          <a:avLst/>
        </a:prstGeom>
        <a:gradFill rotWithShape="0">
          <a:gsLst>
            <a:gs pos="0">
              <a:schemeClr val="accent2">
                <a:hueOff val="-1091522"/>
                <a:satOff val="-62946"/>
                <a:lumOff val="6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91522"/>
                <a:satOff val="-62946"/>
                <a:lumOff val="6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91522"/>
                <a:satOff val="-62946"/>
                <a:lumOff val="6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High on Agreeableness and Honesty Humility</a:t>
          </a:r>
        </a:p>
      </dsp:txBody>
      <dsp:txXfrm>
        <a:off x="36845" y="3195913"/>
        <a:ext cx="4926434" cy="681087"/>
      </dsp:txXfrm>
    </dsp:sp>
    <dsp:sp modelId="{87D89EC9-98BA-424F-96DC-A004450C3185}">
      <dsp:nvSpPr>
        <dsp:cNvPr id="0" name=""/>
        <dsp:cNvSpPr/>
      </dsp:nvSpPr>
      <dsp:spPr>
        <a:xfrm>
          <a:off x="0" y="3968566"/>
          <a:ext cx="5000124" cy="754777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Machiavellianism , psychopathy, and Narcissism associated with less prosocial behavior</a:t>
          </a:r>
        </a:p>
      </dsp:txBody>
      <dsp:txXfrm>
        <a:off x="36845" y="4005411"/>
        <a:ext cx="4926434" cy="6810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E7CFE-703A-4EE4-A81E-4A95A573E283}">
      <dsp:nvSpPr>
        <dsp:cNvPr id="0" name=""/>
        <dsp:cNvSpPr/>
      </dsp:nvSpPr>
      <dsp:spPr>
        <a:xfrm>
          <a:off x="0" y="192244"/>
          <a:ext cx="5000124" cy="126477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 a sample of males, participants more cooperative after completing stressful task              von Dawans et al., 2012</a:t>
          </a:r>
        </a:p>
      </dsp:txBody>
      <dsp:txXfrm>
        <a:off x="61741" y="253985"/>
        <a:ext cx="4876642" cy="1141288"/>
      </dsp:txXfrm>
    </dsp:sp>
    <dsp:sp modelId="{CC176CF9-FE00-42EA-ABC8-E8868A46E325}">
      <dsp:nvSpPr>
        <dsp:cNvPr id="0" name=""/>
        <dsp:cNvSpPr/>
      </dsp:nvSpPr>
      <dsp:spPr>
        <a:xfrm>
          <a:off x="0" y="1523254"/>
          <a:ext cx="5000124" cy="1264770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More likely to be prosocial when experiencing positive emotions                                    Aknin et al., 2018</a:t>
          </a:r>
        </a:p>
      </dsp:txBody>
      <dsp:txXfrm>
        <a:off x="61741" y="1584995"/>
        <a:ext cx="4876642" cy="1141288"/>
      </dsp:txXfrm>
    </dsp:sp>
    <dsp:sp modelId="{540FF35A-95B7-43C0-AAB3-57E9A6C647B1}">
      <dsp:nvSpPr>
        <dsp:cNvPr id="0" name=""/>
        <dsp:cNvSpPr/>
      </dsp:nvSpPr>
      <dsp:spPr>
        <a:xfrm>
          <a:off x="0" y="2854264"/>
          <a:ext cx="5000124" cy="126477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Subjective well-being in community is associated with “extraordinary” altruism</a:t>
          </a:r>
        </a:p>
      </dsp:txBody>
      <dsp:txXfrm>
        <a:off x="61741" y="2916005"/>
        <a:ext cx="4876642" cy="1141288"/>
      </dsp:txXfrm>
    </dsp:sp>
    <dsp:sp modelId="{5B20049B-9BFF-40A2-B093-FEB20CBAFCD4}">
      <dsp:nvSpPr>
        <dsp:cNvPr id="0" name=""/>
        <dsp:cNvSpPr/>
      </dsp:nvSpPr>
      <dsp:spPr>
        <a:xfrm>
          <a:off x="0" y="4119035"/>
          <a:ext cx="5000124" cy="1142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Statewide rates of altruistic kidney donation correlated with statewide rates of subjective well-being 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Brethel-Haurwitz &amp; March, 2013</a:t>
          </a:r>
        </a:p>
      </dsp:txBody>
      <dsp:txXfrm>
        <a:off x="0" y="4119035"/>
        <a:ext cx="5000124" cy="11426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2A170-9EC8-4F58-8F79-B9964FF62B68}">
      <dsp:nvSpPr>
        <dsp:cNvPr id="0" name=""/>
        <dsp:cNvSpPr/>
      </dsp:nvSpPr>
      <dsp:spPr>
        <a:xfrm rot="5400000">
          <a:off x="2335930" y="-269781"/>
          <a:ext cx="2128307" cy="320007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Small to medium sized increases in well-being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Strength of effect not impacted by sex, age, type of intervention, control conditions, or outcome measure</a:t>
          </a:r>
        </a:p>
      </dsp:txBody>
      <dsp:txXfrm rot="-5400000">
        <a:off x="1800045" y="369999"/>
        <a:ext cx="3096184" cy="1920517"/>
      </dsp:txXfrm>
    </dsp:sp>
    <dsp:sp modelId="{F1382060-4E91-4996-852E-A3181B64810F}">
      <dsp:nvSpPr>
        <dsp:cNvPr id="0" name=""/>
        <dsp:cNvSpPr/>
      </dsp:nvSpPr>
      <dsp:spPr>
        <a:xfrm>
          <a:off x="0" y="66"/>
          <a:ext cx="1800044" cy="266038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Meta-analytic evidence suggests kindness interventions are linked to improved well-being for the helper</a:t>
          </a:r>
        </a:p>
      </dsp:txBody>
      <dsp:txXfrm>
        <a:off x="87871" y="87937"/>
        <a:ext cx="1624302" cy="2484641"/>
      </dsp:txXfrm>
    </dsp:sp>
    <dsp:sp modelId="{73F2B80C-702D-4912-AA92-52882D918101}">
      <dsp:nvSpPr>
        <dsp:cNvPr id="0" name=""/>
        <dsp:cNvSpPr/>
      </dsp:nvSpPr>
      <dsp:spPr>
        <a:xfrm rot="5400000">
          <a:off x="2335930" y="2523621"/>
          <a:ext cx="2128307" cy="3200079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Engaging in prosocial behaviors for self-oriented reasons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Feeling obligated to engage in prosocial behaviors</a:t>
          </a:r>
        </a:p>
      </dsp:txBody>
      <dsp:txXfrm rot="-5400000">
        <a:off x="1800045" y="3163402"/>
        <a:ext cx="3096184" cy="1920517"/>
      </dsp:txXfrm>
    </dsp:sp>
    <dsp:sp modelId="{FA71EB6D-BFCF-4088-9F58-3DA3F0913820}">
      <dsp:nvSpPr>
        <dsp:cNvPr id="0" name=""/>
        <dsp:cNvSpPr/>
      </dsp:nvSpPr>
      <dsp:spPr>
        <a:xfrm>
          <a:off x="0" y="2793469"/>
          <a:ext cx="1800044" cy="2660383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Effects attenuated by:</a:t>
          </a:r>
        </a:p>
      </dsp:txBody>
      <dsp:txXfrm>
        <a:off x="87871" y="2881340"/>
        <a:ext cx="1624302" cy="248464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EF87BA-2D70-4837-A7A4-C2960632D244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Warm uplifting feeling that you get when you see unexpected acts of human goodness, kindness, courage, or compassion</a:t>
          </a:r>
        </a:p>
      </dsp:txBody>
      <dsp:txXfrm>
        <a:off x="0" y="573683"/>
        <a:ext cx="2464593" cy="1478756"/>
      </dsp:txXfrm>
    </dsp:sp>
    <dsp:sp modelId="{FBAA1B43-6227-4EC6-AA54-D5C0671A08D4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Provides evidence of morality, human decency, pride, community, etc. </a:t>
          </a:r>
        </a:p>
      </dsp:txBody>
      <dsp:txXfrm>
        <a:off x="2711053" y="573683"/>
        <a:ext cx="2464593" cy="1478756"/>
      </dsp:txXfrm>
    </dsp:sp>
    <dsp:sp modelId="{654C7C7D-1468-47D8-92B7-6907A46C5E5F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Opposite of social disgust</a:t>
          </a:r>
        </a:p>
      </dsp:txBody>
      <dsp:txXfrm>
        <a:off x="5422106" y="573683"/>
        <a:ext cx="2464593" cy="1478756"/>
      </dsp:txXfrm>
    </dsp:sp>
    <dsp:sp modelId="{2773E1AD-090D-40D1-B1AF-D29FB6389B8F}">
      <dsp:nvSpPr>
        <dsp:cNvPr id="0" name=""/>
        <dsp:cNvSpPr/>
      </dsp:nvSpPr>
      <dsp:spPr>
        <a:xfrm>
          <a:off x="0" y="2298898"/>
          <a:ext cx="2464593" cy="1478756"/>
        </a:xfrm>
        <a:prstGeom prst="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Described as being touched, inspired, or moved</a:t>
          </a:r>
        </a:p>
      </dsp:txBody>
      <dsp:txXfrm>
        <a:off x="0" y="2298898"/>
        <a:ext cx="2464593" cy="1478756"/>
      </dsp:txXfrm>
    </dsp:sp>
    <dsp:sp modelId="{81829035-BB39-44C3-8B3B-3B4A1B37C757}">
      <dsp:nvSpPr>
        <dsp:cNvPr id="0" name=""/>
        <dsp:cNvSpPr/>
      </dsp:nvSpPr>
      <dsp:spPr>
        <a:xfrm>
          <a:off x="2711053" y="2298898"/>
          <a:ext cx="2464593" cy="1478756"/>
        </a:xfrm>
        <a:prstGeom prst="rect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Promotes prosocial motivation</a:t>
          </a:r>
        </a:p>
      </dsp:txBody>
      <dsp:txXfrm>
        <a:off x="2711053" y="2298898"/>
        <a:ext cx="2464593" cy="1478756"/>
      </dsp:txXfrm>
    </dsp:sp>
    <dsp:sp modelId="{44B5ECF2-3F17-4192-8EB3-C4D6DEFC55B5}">
      <dsp:nvSpPr>
        <dsp:cNvPr id="0" name=""/>
        <dsp:cNvSpPr/>
      </dsp:nvSpPr>
      <dsp:spPr>
        <a:xfrm>
          <a:off x="5422106" y="2298898"/>
          <a:ext cx="2464593" cy="1478756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Related to psychological growth and compassionate goals following trauma (Tingey et al., 2019)</a:t>
          </a:r>
        </a:p>
      </dsp:txBody>
      <dsp:txXfrm>
        <a:off x="5422106" y="2298898"/>
        <a:ext cx="2464593" cy="14787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72A1B-196A-4155-8397-EF46A3A2FFB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B57E6-BB92-47A0-B1B1-ED183A0B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9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69A6D-8697-4D2F-B6E0-21678FE988F9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5EBDA-FB43-46D3-ADD5-6E5F4CE48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37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734381"/>
            <a:ext cx="7886700" cy="2852737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587118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4166100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02155" y="6451713"/>
            <a:ext cx="5139690" cy="276999"/>
          </a:xfrm>
        </p:spPr>
        <p:txBody>
          <a:bodyPr/>
          <a:lstStyle/>
          <a:p>
            <a:r>
              <a:rPr lang="en-US" dirty="0"/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383607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02155" y="6447131"/>
            <a:ext cx="5139690" cy="276999"/>
          </a:xfrm>
        </p:spPr>
        <p:txBody>
          <a:bodyPr/>
          <a:lstStyle/>
          <a:p>
            <a:r>
              <a:rPr lang="en-US" dirty="0"/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370656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37"/>
          <a:stretch/>
        </p:blipFill>
        <p:spPr>
          <a:xfrm>
            <a:off x="-12767" y="6322425"/>
            <a:ext cx="9156768" cy="53557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02155" y="6451713"/>
            <a:ext cx="5139690" cy="276999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The Science of Positive Psychology © Cambridge University Press 2021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9" y="6403081"/>
            <a:ext cx="1932486" cy="40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21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6" r:id="rId2"/>
    <p:sldLayoutId id="2147483657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lcajondegrisom.com/2016/12/ayudame-salvar-uno-mas-la-historia-de.html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reativecommons.org/licenses/by-nc-sa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s2-1hz1juBI?feature=oembe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r8Tr2KLGzb4?feature=oembe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bkEcLAVpmDk?feature=oembe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ft8ixxLgmao?start=207&amp;feature=oembed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1925" y="818984"/>
            <a:ext cx="5036024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Chapter 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4047" y="4960961"/>
            <a:ext cx="5291920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Prosocial Behaviors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 rot="5400000">
            <a:off x="-1371600" y="1984248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Science and Application of Positive Psychology </a:t>
            </a:r>
            <a:br>
              <a:rPr lang="en-US" sz="9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9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4177224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E750-8C6A-4A7C-9D0C-D652BE1E4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8460" y="1783959"/>
            <a:ext cx="3065480" cy="288911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700" dirty="0"/>
              <a:t>Tyler Stallings: created “Hero Bags” for homeless veterans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5391039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Content Placeholder 7" descr="A picture containing grass, sky, outdoor, plane&#10;&#10;Description automatically generated">
            <a:extLst>
              <a:ext uri="{FF2B5EF4-FFF2-40B4-BE49-F238E27FC236}">
                <a16:creationId xmlns:a16="http://schemas.microsoft.com/office/drawing/2014/main" id="{9C488256-E3AD-4AE5-9DAA-91481C55C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7" r="8435"/>
          <a:stretch/>
        </p:blipFill>
        <p:spPr>
          <a:xfrm>
            <a:off x="20" y="10"/>
            <a:ext cx="5271352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56B7CD-DA1D-4FC3-9D99-C00B3A7D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8459" y="6199631"/>
            <a:ext cx="3065478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000" kern="1200">
                <a:solidFill>
                  <a:schemeClr val="tx1">
                    <a:alpha val="80000"/>
                  </a:schemeClr>
                </a:solidFill>
                <a:latin typeface="Calibri" panose="020F0502020204030204"/>
                <a:ea typeface="+mn-ea"/>
                <a:cs typeface="+mn-cs"/>
              </a:rPr>
              <a:t>The Science and Application of Positive Psychology </a:t>
            </a:r>
            <a:br>
              <a:rPr lang="en-US" sz="1000" kern="1200">
                <a:solidFill>
                  <a:schemeClr val="tx1">
                    <a:alpha val="80000"/>
                  </a:schemeClr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1000" kern="1200">
                <a:solidFill>
                  <a:schemeClr val="tx1">
                    <a:alpha val="80000"/>
                  </a:schemeClr>
                </a:solidFill>
                <a:latin typeface="Calibri" panose="020F0502020204030204"/>
                <a:ea typeface="+mn-ea"/>
                <a:cs typeface="+mn-cs"/>
              </a:rPr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3738770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6129"/>
            <a:ext cx="4851603" cy="5925741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00"/>
          <a:stretch/>
        </p:blipFill>
        <p:spPr>
          <a:xfrm>
            <a:off x="0" y="466129"/>
            <a:ext cx="9144000" cy="5925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96F085-C060-4934-91A7-C722ED206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0" y="795320"/>
            <a:ext cx="3733482" cy="1090538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rgbClr val="000000"/>
                </a:solidFill>
              </a:rPr>
              <a:t>Why Does Prosocial Behavior Matter?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86286"/>
            <a:ext cx="4320692" cy="4666770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5AEB8-1F70-42EC-B93C-689AC043C8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2095" r="2358" b="-4"/>
          <a:stretch/>
        </p:blipFill>
        <p:spPr>
          <a:xfrm>
            <a:off x="0" y="1296327"/>
            <a:ext cx="4180350" cy="4375387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24C47-B52D-4EEF-AEC8-CFF5BBAC9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640" y="2102069"/>
            <a:ext cx="3967172" cy="3778199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Engaging in prosocial behavior: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More meaning and purpose in life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More happiness and life satisfaction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More popular in grades 3 – 8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More attractive to others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Social structure rely on prosocial behaviors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It seems like the “right” thing to do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1D7D4-CC02-45D3-8AD4-93F23656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2275" y="6337827"/>
            <a:ext cx="3967172" cy="235550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500">
                <a:solidFill>
                  <a:srgbClr val="898989"/>
                </a:solidFill>
              </a:rPr>
              <a:t>The Science and Application of Positive Psychology </a:t>
            </a:r>
            <a:br>
              <a:rPr lang="en-US" sz="500">
                <a:solidFill>
                  <a:srgbClr val="898989"/>
                </a:solidFill>
              </a:rPr>
            </a:br>
            <a:r>
              <a:rPr lang="en-US" sz="500">
                <a:solidFill>
                  <a:srgbClr val="898989"/>
                </a:solidFill>
              </a:rPr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141800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AB8E-AA09-4627-87D8-1B485C23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Altruism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F3999-BAD5-4BA9-803E-D5DE0371B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Behavior by an animal (including humans) that is not beneficial to or may be harmful to itself but that benefits others of its species</a:t>
            </a:r>
          </a:p>
          <a:p>
            <a:r>
              <a:rPr lang="en-US" dirty="0"/>
              <a:t>Types of altruism, based on evolutionary theory: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A847F4-9EA8-41C4-AAA7-0F772D164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155" y="6354798"/>
            <a:ext cx="5139690" cy="461665"/>
          </a:xfrm>
        </p:spPr>
        <p:txBody>
          <a:bodyPr/>
          <a:lstStyle/>
          <a:p>
            <a:r>
              <a:rPr lang="en-US" dirty="0"/>
              <a:t>The Science and Application of Positive Psychology </a:t>
            </a:r>
            <a:br>
              <a:rPr lang="en-US" dirty="0"/>
            </a:br>
            <a:r>
              <a:rPr lang="en-US" dirty="0"/>
              <a:t>© Cambridge University Press 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BD8B2B-003D-413A-ABC5-CE0BF7FDA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250" y="3854404"/>
            <a:ext cx="7361499" cy="187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665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C47E0-8969-4D49-AF31-43EAFE38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5600" y="1396289"/>
            <a:ext cx="37547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Desmond Doss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F74D28C-3268-4E35-8EE1-D92CB4A8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29586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Content Placeholder 5" descr="Desmond Doss&#10;&#10;Description automatically generated with medium confidence">
            <a:extLst>
              <a:ext uri="{FF2B5EF4-FFF2-40B4-BE49-F238E27FC236}">
                <a16:creationId xmlns:a16="http://schemas.microsoft.com/office/drawing/2014/main" id="{6313C68E-F9A8-426D-A399-72234C80E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0004" r="23503" b="-1"/>
          <a:stretch/>
        </p:blipFill>
        <p:spPr>
          <a:xfrm>
            <a:off x="20" y="10"/>
            <a:ext cx="4518095" cy="6857990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1301E1-C9FD-474D-B88F-739754E220AA}"/>
              </a:ext>
            </a:extLst>
          </p:cNvPr>
          <p:cNvSpPr txBox="1"/>
          <p:nvPr/>
        </p:nvSpPr>
        <p:spPr>
          <a:xfrm>
            <a:off x="4978933" y="2871982"/>
            <a:ext cx="3753055" cy="31816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The only conscientious objector to receive the Medal of Honor. He saved 75 men.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A1354-3EAB-4ADD-903E-60059997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78280" y="6199632"/>
            <a:ext cx="375475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  <a:defRPr/>
            </a:pPr>
            <a:r>
              <a:rPr lang="en-US" sz="900" kern="1200" dirty="0">
                <a:solidFill>
                  <a:schemeClr val="tx1">
                    <a:alpha val="80000"/>
                  </a:schemeClr>
                </a:solidFill>
                <a:latin typeface="Calibri" panose="020F0502020204030204"/>
                <a:ea typeface="+mn-ea"/>
                <a:cs typeface="+mn-cs"/>
              </a:rPr>
              <a:t>The Science of Positive Psychology © Cambridge University Press 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156B58-9C1A-4DEA-A817-9D1C27CB0647}"/>
              </a:ext>
            </a:extLst>
          </p:cNvPr>
          <p:cNvSpPr txBox="1"/>
          <p:nvPr/>
        </p:nvSpPr>
        <p:spPr>
          <a:xfrm>
            <a:off x="6703908" y="6657945"/>
            <a:ext cx="244009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://www.elcajondegrisom.com/2016/12/ayudame-salvar-uno-mas-la-historia-d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37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68F5F-EB6A-42FF-85E9-C8E08D81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Hacksaw Ridge Desmond Doss</a:t>
            </a:r>
          </a:p>
        </p:txBody>
      </p:sp>
      <p:pic>
        <p:nvPicPr>
          <p:cNvPr id="5" name="Online Media 4" title="Hacksaw Ridge (2016) Official Trailer – “Believe” - Andrew Garfield">
            <a:hlinkClick r:id="" action="ppaction://media"/>
            <a:extLst>
              <a:ext uri="{FF2B5EF4-FFF2-40B4-BE49-F238E27FC236}">
                <a16:creationId xmlns:a16="http://schemas.microsoft.com/office/drawing/2014/main" id="{EF530E36-78CD-4532-81E1-2A04C6B1B3B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22313" y="1825625"/>
            <a:ext cx="7700962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C899C-6F03-4057-97D7-E7558AC42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Science of Positive Psychology © Cambridge University Press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788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321E8-852B-475A-B38C-37A70E2E9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Hacksaw Ridge Desmond Doss</a:t>
            </a:r>
          </a:p>
        </p:txBody>
      </p:sp>
      <p:pic>
        <p:nvPicPr>
          <p:cNvPr id="5" name="Online Media 4" title="Hacksaw Ridge (2016) - Saving last survivors [1080p]">
            <a:hlinkClick r:id="" action="ppaction://media"/>
            <a:extLst>
              <a:ext uri="{FF2B5EF4-FFF2-40B4-BE49-F238E27FC236}">
                <a16:creationId xmlns:a16="http://schemas.microsoft.com/office/drawing/2014/main" id="{45722724-E4C3-4714-875E-4FDF6D4FC3E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22313" y="1825625"/>
            <a:ext cx="7700962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34173-89C0-4F3E-9FCA-49460E4B3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Science of Positive Psychology © Cambridge University Press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45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ED7E7-4F79-4B31-B3AF-911E959E8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000">
                <a:solidFill>
                  <a:srgbClr val="FFFFFF"/>
                </a:solidFill>
              </a:rPr>
              <a:t>Psychological Motivations for Altruism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E7FF6-556A-4FD5-AF18-F66ABAA22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1600" y="1984248"/>
            <a:ext cx="30861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rgbClr val="FFFFFF"/>
                </a:solidFill>
              </a:rPr>
              <a:t>The Science and Application of Positive Psychology </a:t>
            </a:r>
            <a:br>
              <a:rPr lang="en-US" sz="900">
                <a:solidFill>
                  <a:srgbClr val="FFFFFF"/>
                </a:solidFill>
              </a:rPr>
            </a:br>
            <a:r>
              <a:rPr lang="en-US" sz="900">
                <a:solidFill>
                  <a:srgbClr val="FFFFFF"/>
                </a:solidFill>
              </a:rPr>
              <a:t>© Cambridge University Press 2021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A9FA7EAC-6F22-7A19-F567-D8D655C7B1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419119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0801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D36A49-3BD4-4CAB-A03A-6F5764D0E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000">
                <a:solidFill>
                  <a:srgbClr val="FFFFFF"/>
                </a:solidFill>
              </a:rPr>
              <a:t>More evidence that empathy predicts altruism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FE540F-774D-42F1-91E2-5AC5E308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1600" y="1984248"/>
            <a:ext cx="30861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rgbClr val="FFFFFF"/>
                </a:solidFill>
              </a:rPr>
              <a:t>The Science and Application of Positive Psychology </a:t>
            </a:r>
            <a:br>
              <a:rPr lang="en-US" sz="900">
                <a:solidFill>
                  <a:srgbClr val="FFFFFF"/>
                </a:solidFill>
              </a:rPr>
            </a:br>
            <a:r>
              <a:rPr lang="en-US" sz="900">
                <a:solidFill>
                  <a:srgbClr val="FFFFFF"/>
                </a:solidFill>
              </a:rPr>
              <a:t>© Cambridge University Press 2021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19E50D7-7D67-8E51-A4A5-06C5851E84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9136478"/>
              </p:ext>
            </p:extLst>
          </p:nvPr>
        </p:nvGraphicFramePr>
        <p:xfrm>
          <a:off x="3290428" y="600085"/>
          <a:ext cx="5591503" cy="5657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5654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FDDC3-82B1-41C6-BBC1-4480A960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Benefits of Giving Support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54EE3-F9DD-48B0-B70A-F323F0520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1600" y="1984248"/>
            <a:ext cx="30861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rgbClr val="FFFFFF"/>
                </a:solidFill>
              </a:rPr>
              <a:t>The Science and Application of Positive Psychology </a:t>
            </a:r>
            <a:br>
              <a:rPr lang="en-US" sz="900">
                <a:solidFill>
                  <a:srgbClr val="FFFFFF"/>
                </a:solidFill>
              </a:rPr>
            </a:br>
            <a:r>
              <a:rPr lang="en-US" sz="900">
                <a:solidFill>
                  <a:srgbClr val="FFFFFF"/>
                </a:solidFill>
              </a:rPr>
              <a:t>© Cambridge University Press 2021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87C6466E-8508-0536-440A-95F5F9BB9F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129334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1177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C1B819-D4D8-4DCC-BAF6-112958991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Even More Benefits of Giving Support!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A4FF2-B856-4E39-ADB4-F1C8A3F2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1600" y="1984248"/>
            <a:ext cx="30861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rgbClr val="FFFFFF"/>
                </a:solidFill>
              </a:rPr>
              <a:t>The Science and Application of Positive Psychology </a:t>
            </a:r>
            <a:br>
              <a:rPr lang="en-US" sz="900">
                <a:solidFill>
                  <a:srgbClr val="FFFFFF"/>
                </a:solidFill>
              </a:rPr>
            </a:br>
            <a:r>
              <a:rPr lang="en-US" sz="900">
                <a:solidFill>
                  <a:srgbClr val="FFFFFF"/>
                </a:solidFill>
              </a:rPr>
              <a:t>© Cambridge University Press 2021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E7F2B0D-6172-8F70-7B11-8849AC9268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4269568"/>
              </p:ext>
            </p:extLst>
          </p:nvPr>
        </p:nvGraphicFramePr>
        <p:xfrm>
          <a:off x="3216165" y="336331"/>
          <a:ext cx="5696607" cy="6379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1715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1E7EDE-CB4A-402F-B0FB-8640C3589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2BBEB8-4077-499F-80FD-AA9827A8D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796" y="608243"/>
            <a:ext cx="2535154" cy="54450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654DE-C94B-46A3-A3B7-AE89A566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593" y="1005303"/>
            <a:ext cx="1524367" cy="442730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Journal Entry #21 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What are 3 kind things you could do today to help out another person?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686026-11D3-4668-B356-85AC098B5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4284" y="1848875"/>
            <a:ext cx="4782863" cy="278129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F3B7728-0C26-4662-B285-85C645523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53319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C367AD-9838-470A-87EF-678609CC8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935205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CF1642-4E76-4223-A010-6334380A2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4236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6F6EC2-D9AA-4B02-A16D-8483AC79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681220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75DA4-39FA-4933-8AB9-645291046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Who is Most Likely to Provide Support?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76237-F909-46A9-90FC-16072006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1600" y="1984248"/>
            <a:ext cx="30861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rgbClr val="FFFFFF"/>
                </a:solidFill>
              </a:rPr>
              <a:t>The Science and Application of Positive Psychology </a:t>
            </a:r>
            <a:br>
              <a:rPr lang="en-US" sz="900">
                <a:solidFill>
                  <a:srgbClr val="FFFFFF"/>
                </a:solidFill>
              </a:rPr>
            </a:br>
            <a:r>
              <a:rPr lang="en-US" sz="900">
                <a:solidFill>
                  <a:srgbClr val="FFFFFF"/>
                </a:solidFill>
              </a:rPr>
              <a:t>© Cambridge University Press 2021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5CB9575-D4D4-A438-488B-26AC1EBAF7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78796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2435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896" name="Rectangle 36895">
            <a:extLst>
              <a:ext uri="{FF2B5EF4-FFF2-40B4-BE49-F238E27FC236}">
                <a16:creationId xmlns:a16="http://schemas.microsoft.com/office/drawing/2014/main" id="{0AA75791-ABD6-45E2-B58A-77112BD0F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898" name="Group 36897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36899" name="Rectangle 36898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00" name="Rectangle 36899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11957" y="469448"/>
            <a:ext cx="5401864" cy="1087890"/>
          </a:xfrm>
        </p:spPr>
        <p:txBody>
          <a:bodyPr anchor="t">
            <a:normAutofit/>
          </a:bodyPr>
          <a:lstStyle/>
          <a:p>
            <a:r>
              <a:rPr lang="en-US" altLang="en-US" sz="1900"/>
              <a:t>Altruism</a:t>
            </a:r>
          </a:p>
        </p:txBody>
      </p:sp>
      <p:pic>
        <p:nvPicPr>
          <p:cNvPr id="36868" name="Picture 2" descr="https://sp.yimg.com/ib/th?id=HN.608039315178786398&amp;pid=15.1&amp;P=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1" r="22796" b="2"/>
          <a:stretch/>
        </p:blipFill>
        <p:spPr bwMode="auto">
          <a:xfrm>
            <a:off x="411960" y="2133600"/>
            <a:ext cx="1710535" cy="4172921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6612" y="2059200"/>
            <a:ext cx="2484835" cy="3783015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en-US" sz="1300">
                <a:solidFill>
                  <a:schemeClr val="tx1">
                    <a:alpha val="60000"/>
                  </a:schemeClr>
                </a:solidFill>
              </a:rPr>
              <a:t>Jason Thomas</a:t>
            </a:r>
          </a:p>
          <a:p>
            <a:pPr lvl="1">
              <a:defRPr/>
            </a:pPr>
            <a:r>
              <a:rPr lang="en-US" sz="1300">
                <a:solidFill>
                  <a:schemeClr val="tx1">
                    <a:alpha val="60000"/>
                  </a:schemeClr>
                </a:solidFill>
              </a:rPr>
              <a:t>Was in  Long Island </a:t>
            </a:r>
          </a:p>
          <a:p>
            <a:pPr lvl="1">
              <a:defRPr/>
            </a:pPr>
            <a:r>
              <a:rPr lang="en-US" sz="1300">
                <a:solidFill>
                  <a:schemeClr val="tx1">
                    <a:alpha val="60000"/>
                  </a:schemeClr>
                </a:solidFill>
              </a:rPr>
              <a:t>Had been out of Marines</a:t>
            </a:r>
          </a:p>
          <a:p>
            <a:pPr lvl="1">
              <a:defRPr/>
            </a:pPr>
            <a:r>
              <a:rPr lang="en-US" sz="1300">
                <a:solidFill>
                  <a:schemeClr val="tx1">
                    <a:alpha val="60000"/>
                  </a:schemeClr>
                </a:solidFill>
              </a:rPr>
              <a:t>Put on fatigues and drove to NYC</a:t>
            </a:r>
          </a:p>
          <a:p>
            <a:pPr>
              <a:defRPr/>
            </a:pPr>
            <a:r>
              <a:rPr lang="en-US" sz="1300">
                <a:solidFill>
                  <a:schemeClr val="tx1">
                    <a:alpha val="60000"/>
                  </a:schemeClr>
                </a:solidFill>
              </a:rPr>
              <a:t>Dave Karnes</a:t>
            </a:r>
          </a:p>
          <a:p>
            <a:pPr lvl="1">
              <a:defRPr/>
            </a:pPr>
            <a:r>
              <a:rPr lang="en-US" sz="1300">
                <a:solidFill>
                  <a:schemeClr val="tx1">
                    <a:alpha val="60000"/>
                  </a:schemeClr>
                </a:solidFill>
              </a:rPr>
              <a:t>Accountant; was in Wilton CT; left work</a:t>
            </a:r>
          </a:p>
          <a:p>
            <a:pPr lvl="1">
              <a:defRPr/>
            </a:pPr>
            <a:r>
              <a:rPr lang="en-US" sz="1300">
                <a:solidFill>
                  <a:schemeClr val="tx1">
                    <a:alpha val="60000"/>
                  </a:schemeClr>
                </a:solidFill>
              </a:rPr>
              <a:t>23yr Marine veteran </a:t>
            </a:r>
          </a:p>
          <a:p>
            <a:pPr lvl="1">
              <a:defRPr/>
            </a:pPr>
            <a:r>
              <a:rPr lang="en-US" sz="1300">
                <a:solidFill>
                  <a:schemeClr val="tx1">
                    <a:alpha val="60000"/>
                  </a:schemeClr>
                </a:solidFill>
              </a:rPr>
              <a:t>Drove to church and asked them to pray that God would lead him to survivors</a:t>
            </a:r>
          </a:p>
          <a:p>
            <a:pPr lvl="1">
              <a:defRPr/>
            </a:pPr>
            <a:r>
              <a:rPr lang="en-US" sz="1300">
                <a:solidFill>
                  <a:schemeClr val="tx1">
                    <a:alpha val="60000"/>
                  </a:schemeClr>
                </a:solidFill>
              </a:rPr>
              <a:t>Reinlisted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300">
                <a:solidFill>
                  <a:schemeClr val="tx1">
                    <a:alpha val="60000"/>
                  </a:schemeClr>
                </a:solidFill>
              </a:rPr>
              <a:t>Will Jimeno and John Mcloughlin</a:t>
            </a:r>
          </a:p>
        </p:txBody>
      </p:sp>
      <p:pic>
        <p:nvPicPr>
          <p:cNvPr id="36870" name="Picture 6" descr="https://sp.yimg.com/ib/th?id=HN.608010723570944578&amp;pid=15.1&amp;P=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0" r="22110"/>
          <a:stretch/>
        </p:blipFill>
        <p:spPr bwMode="auto">
          <a:xfrm>
            <a:off x="2257455" y="2133600"/>
            <a:ext cx="1711800" cy="4172400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4" descr="Staff Sgt. Dave W. Karne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98" r="4184"/>
          <a:stretch/>
        </p:blipFill>
        <p:spPr bwMode="auto">
          <a:xfrm>
            <a:off x="4104216" y="2133600"/>
            <a:ext cx="1711800" cy="417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4394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nline Media 4" title="World Trade Center: Two officers are finally found">
            <a:hlinkClick r:id="" action="ppaction://media"/>
            <a:extLst>
              <a:ext uri="{FF2B5EF4-FFF2-40B4-BE49-F238E27FC236}">
                <a16:creationId xmlns:a16="http://schemas.microsoft.com/office/drawing/2014/main" id="{D5602089-1206-4915-6C6F-276E9752482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96533" y="594360"/>
            <a:ext cx="8504492" cy="480536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C99E0-7E84-2086-8391-FBB2E593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Science of Positive Psychology © Cambridge University Press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48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9A8585-064E-404C-9743-64560C105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When are People Most Likely to Be Prosocial?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1DEC3D-6211-4178-AADE-01CB3FCDF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1600" y="1984248"/>
            <a:ext cx="30861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rgbClr val="FFFFFF"/>
                </a:solidFill>
              </a:rPr>
              <a:t>The Science and Application of Positive Psychology </a:t>
            </a:r>
            <a:br>
              <a:rPr lang="en-US" sz="900">
                <a:solidFill>
                  <a:srgbClr val="FFFFFF"/>
                </a:solidFill>
              </a:rPr>
            </a:br>
            <a:r>
              <a:rPr lang="en-US" sz="900">
                <a:solidFill>
                  <a:srgbClr val="FFFFFF"/>
                </a:solidFill>
              </a:rPr>
              <a:t>© Cambridge University Press 2021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BDEF6B8D-B594-B6AE-EDCD-CF7A2DCE7C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335016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3230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F1F3D-619C-54EB-786A-8031BCEC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9AAF1-FEDA-B106-4BFC-661A84150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3111E-4202-B64A-2383-7AEE103C64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Science of Positive Psychology © Cambridge University Press 2021</a:t>
            </a:r>
            <a:endParaRPr lang="en-US" dirty="0"/>
          </a:p>
        </p:txBody>
      </p:sp>
      <p:pic>
        <p:nvPicPr>
          <p:cNvPr id="5" name="Online Media 4" title="From the archives: 1982 Air Florida plane crash into icy Potomac River in Washington, D.C.">
            <a:hlinkClick r:id="" action="ppaction://media"/>
            <a:extLst>
              <a:ext uri="{FF2B5EF4-FFF2-40B4-BE49-F238E27FC236}">
                <a16:creationId xmlns:a16="http://schemas.microsoft.com/office/drawing/2014/main" id="{55E3E0B4-9CFC-2643-1B97-3A01BCC6445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5900" y="971550"/>
            <a:ext cx="87122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995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06BE109-F85A-2832-9A42-2B64B31A9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19214"/>
            <a:ext cx="6858000" cy="879762"/>
          </a:xfrm>
        </p:spPr>
        <p:txBody>
          <a:bodyPr/>
          <a:lstStyle/>
          <a:p>
            <a:r>
              <a:rPr lang="en-US" dirty="0"/>
              <a:t>https://www.santiagohs.org/apps/video/watch.jsp?v=24055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A797B-7F96-D685-8D00-93BF8EDD6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Science of Positive Psychology © Cambridge University Press 2021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B7E092-8747-7C74-6807-C426344A1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320" y="489390"/>
            <a:ext cx="5971359" cy="477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11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EB2A-7897-4ED9-B1DF-45726FC2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Prosocial Behaviors Good for 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E0882-48C0-4331-8108-1272C45CD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an undergrad sample, giving support associated with lower blood pressure                   </a:t>
            </a:r>
            <a:r>
              <a:rPr lang="en-US" sz="1600" dirty="0" err="1"/>
              <a:t>Piferi</a:t>
            </a:r>
            <a:r>
              <a:rPr lang="en-US" sz="1600" dirty="0"/>
              <a:t> &amp; Lawler, 2006</a:t>
            </a:r>
            <a:endParaRPr lang="en-US" dirty="0"/>
          </a:p>
          <a:p>
            <a:r>
              <a:rPr lang="en-US" dirty="0"/>
              <a:t>Participants assigned to engage in prosocial behavior to specific people across four weeks had decreases in the expression of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CTRA</a:t>
            </a:r>
            <a:r>
              <a:rPr lang="en-US" dirty="0"/>
              <a:t> (conserved transcriptional response to adversity) indicator genes (CTRA is a pattern of gene expression changes in immune cells that occurs in response to chronic stress, adversity, or threat)                                                       </a:t>
            </a:r>
            <a:r>
              <a:rPr lang="en-US" sz="1600" dirty="0"/>
              <a:t>Nelson-Coffey et al., 2017</a:t>
            </a:r>
            <a:endParaRPr lang="en-US" dirty="0"/>
          </a:p>
          <a:p>
            <a:pPr lvl="1"/>
            <a:r>
              <a:rPr lang="en-US" dirty="0"/>
              <a:t>No changes for those assigned to prosocial behavior toward the world, self-kindness, or neutral conditions</a:t>
            </a:r>
          </a:p>
          <a:p>
            <a:pPr lvl="1"/>
            <a:r>
              <a:rPr lang="en-US" dirty="0"/>
              <a:t>Why prosocial related to better health: engage in prosocial may lower levels of CTRA pattern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B2E53F-F8F8-413C-BA4B-FDDB415CA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155" y="6354798"/>
            <a:ext cx="5139690" cy="461665"/>
          </a:xfrm>
        </p:spPr>
        <p:txBody>
          <a:bodyPr/>
          <a:lstStyle/>
          <a:p>
            <a:r>
              <a:rPr lang="en-US" dirty="0"/>
              <a:t>The Science and Application of Positive Psychology </a:t>
            </a:r>
            <a:br>
              <a:rPr lang="en-US" dirty="0"/>
            </a:br>
            <a:r>
              <a:rPr lang="en-US" dirty="0"/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3763340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F62356-76B0-4AFE-96B4-723874A8B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000">
                <a:solidFill>
                  <a:srgbClr val="FFFFFF"/>
                </a:solidFill>
              </a:rPr>
              <a:t>Kindness Interventions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D0C54-FBC0-48DD-9620-8A98F2F9B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1600" y="1984248"/>
            <a:ext cx="30861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rgbClr val="FFFFFF"/>
                </a:solidFill>
              </a:rPr>
              <a:t>The Science and Application of Positive Psychology </a:t>
            </a:r>
            <a:br>
              <a:rPr lang="en-US" sz="900">
                <a:solidFill>
                  <a:srgbClr val="FFFFFF"/>
                </a:solidFill>
              </a:rPr>
            </a:br>
            <a:r>
              <a:rPr lang="en-US" sz="900">
                <a:solidFill>
                  <a:srgbClr val="FFFFFF"/>
                </a:solidFill>
              </a:rPr>
              <a:t>© Cambridge University Press 2021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1FAE92D-E59E-5355-F1A2-D9D2759AB4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205482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596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3D0E4-20DA-4738-82EB-ABA5B2B3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Alden &amp; Trew (2013)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  <a:gd name="connsiteX0" fmla="*/ 0 w 8140446"/>
              <a:gd name="connsiteY0" fmla="*/ 0 h 18288"/>
              <a:gd name="connsiteX1" fmla="*/ 596966 w 8140446"/>
              <a:gd name="connsiteY1" fmla="*/ 0 h 18288"/>
              <a:gd name="connsiteX2" fmla="*/ 1031123 w 8140446"/>
              <a:gd name="connsiteY2" fmla="*/ 0 h 18288"/>
              <a:gd name="connsiteX3" fmla="*/ 1872303 w 8140446"/>
              <a:gd name="connsiteY3" fmla="*/ 0 h 18288"/>
              <a:gd name="connsiteX4" fmla="*/ 2469269 w 8140446"/>
              <a:gd name="connsiteY4" fmla="*/ 0 h 18288"/>
              <a:gd name="connsiteX5" fmla="*/ 3066235 w 8140446"/>
              <a:gd name="connsiteY5" fmla="*/ 0 h 18288"/>
              <a:gd name="connsiteX6" fmla="*/ 3907414 w 8140446"/>
              <a:gd name="connsiteY6" fmla="*/ 0 h 18288"/>
              <a:gd name="connsiteX7" fmla="*/ 4422976 w 8140446"/>
              <a:gd name="connsiteY7" fmla="*/ 0 h 18288"/>
              <a:gd name="connsiteX8" fmla="*/ 5264155 w 8140446"/>
              <a:gd name="connsiteY8" fmla="*/ 0 h 18288"/>
              <a:gd name="connsiteX9" fmla="*/ 6105335 w 8140446"/>
              <a:gd name="connsiteY9" fmla="*/ 0 h 18288"/>
              <a:gd name="connsiteX10" fmla="*/ 6783705 w 8140446"/>
              <a:gd name="connsiteY10" fmla="*/ 0 h 18288"/>
              <a:gd name="connsiteX11" fmla="*/ 8140446 w 8140446"/>
              <a:gd name="connsiteY11" fmla="*/ 0 h 18288"/>
              <a:gd name="connsiteX12" fmla="*/ 8140446 w 8140446"/>
              <a:gd name="connsiteY12" fmla="*/ 18288 h 18288"/>
              <a:gd name="connsiteX13" fmla="*/ 7706289 w 8140446"/>
              <a:gd name="connsiteY13" fmla="*/ 18288 h 18288"/>
              <a:gd name="connsiteX14" fmla="*/ 6865109 w 8140446"/>
              <a:gd name="connsiteY14" fmla="*/ 18288 h 18288"/>
              <a:gd name="connsiteX15" fmla="*/ 6349548 w 8140446"/>
              <a:gd name="connsiteY15" fmla="*/ 18288 h 18288"/>
              <a:gd name="connsiteX16" fmla="*/ 5671177 w 8140446"/>
              <a:gd name="connsiteY16" fmla="*/ 18288 h 18288"/>
              <a:gd name="connsiteX17" fmla="*/ 4829998 w 8140446"/>
              <a:gd name="connsiteY17" fmla="*/ 18288 h 18288"/>
              <a:gd name="connsiteX18" fmla="*/ 4151627 w 8140446"/>
              <a:gd name="connsiteY18" fmla="*/ 18288 h 18288"/>
              <a:gd name="connsiteX19" fmla="*/ 3717470 w 8140446"/>
              <a:gd name="connsiteY19" fmla="*/ 18288 h 18288"/>
              <a:gd name="connsiteX20" fmla="*/ 3201909 w 8140446"/>
              <a:gd name="connsiteY20" fmla="*/ 18288 h 18288"/>
              <a:gd name="connsiteX21" fmla="*/ 2360729 w 8140446"/>
              <a:gd name="connsiteY21" fmla="*/ 18288 h 18288"/>
              <a:gd name="connsiteX22" fmla="*/ 1682359 w 8140446"/>
              <a:gd name="connsiteY22" fmla="*/ 18288 h 18288"/>
              <a:gd name="connsiteX23" fmla="*/ 1166797 w 8140446"/>
              <a:gd name="connsiteY23" fmla="*/ 18288 h 18288"/>
              <a:gd name="connsiteX24" fmla="*/ 0 w 8140446"/>
              <a:gd name="connsiteY24" fmla="*/ 18288 h 18288"/>
              <a:gd name="connsiteX25" fmla="*/ 0 w 8140446"/>
              <a:gd name="connsiteY2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87427" y="6231"/>
                  <a:pt x="309612" y="-26324"/>
                  <a:pt x="434157" y="0"/>
                </a:cubicBezTo>
                <a:cubicBezTo>
                  <a:pt x="536972" y="29330"/>
                  <a:pt x="959392" y="28619"/>
                  <a:pt x="1193932" y="0"/>
                </a:cubicBezTo>
                <a:cubicBezTo>
                  <a:pt x="1446097" y="13819"/>
                  <a:pt x="1471680" y="7203"/>
                  <a:pt x="1628089" y="0"/>
                </a:cubicBezTo>
                <a:cubicBezTo>
                  <a:pt x="1817415" y="4047"/>
                  <a:pt x="1949536" y="-59324"/>
                  <a:pt x="2225055" y="0"/>
                </a:cubicBezTo>
                <a:cubicBezTo>
                  <a:pt x="2520490" y="18365"/>
                  <a:pt x="2717469" y="18707"/>
                  <a:pt x="3066235" y="0"/>
                </a:cubicBezTo>
                <a:cubicBezTo>
                  <a:pt x="3437075" y="3751"/>
                  <a:pt x="3408347" y="31644"/>
                  <a:pt x="3744605" y="0"/>
                </a:cubicBezTo>
                <a:cubicBezTo>
                  <a:pt x="4097249" y="-11527"/>
                  <a:pt x="4249699" y="-32555"/>
                  <a:pt x="4504380" y="0"/>
                </a:cubicBezTo>
                <a:cubicBezTo>
                  <a:pt x="4737570" y="17980"/>
                  <a:pt x="4877497" y="1006"/>
                  <a:pt x="5101346" y="0"/>
                </a:cubicBezTo>
                <a:cubicBezTo>
                  <a:pt x="5359305" y="-15330"/>
                  <a:pt x="5447195" y="7257"/>
                  <a:pt x="5779717" y="0"/>
                </a:cubicBezTo>
                <a:cubicBezTo>
                  <a:pt x="6090019" y="-17621"/>
                  <a:pt x="6273151" y="4279"/>
                  <a:pt x="6620896" y="0"/>
                </a:cubicBezTo>
                <a:cubicBezTo>
                  <a:pt x="6968586" y="34056"/>
                  <a:pt x="6990073" y="23587"/>
                  <a:pt x="7136458" y="0"/>
                </a:cubicBezTo>
                <a:cubicBezTo>
                  <a:pt x="7320575" y="20480"/>
                  <a:pt x="7847401" y="-6173"/>
                  <a:pt x="8140446" y="0"/>
                </a:cubicBezTo>
                <a:cubicBezTo>
                  <a:pt x="8139878" y="7862"/>
                  <a:pt x="8140227" y="13269"/>
                  <a:pt x="8140446" y="18288"/>
                </a:cubicBezTo>
                <a:cubicBezTo>
                  <a:pt x="7908069" y="-20636"/>
                  <a:pt x="7683037" y="21977"/>
                  <a:pt x="7543480" y="18288"/>
                </a:cubicBezTo>
                <a:cubicBezTo>
                  <a:pt x="7393752" y="10050"/>
                  <a:pt x="7221032" y="-3229"/>
                  <a:pt x="7109323" y="18288"/>
                </a:cubicBezTo>
                <a:cubicBezTo>
                  <a:pt x="7015297" y="22483"/>
                  <a:pt x="6599332" y="40899"/>
                  <a:pt x="6430952" y="18288"/>
                </a:cubicBezTo>
                <a:cubicBezTo>
                  <a:pt x="6292915" y="-34150"/>
                  <a:pt x="6142305" y="21507"/>
                  <a:pt x="5915391" y="18288"/>
                </a:cubicBezTo>
                <a:cubicBezTo>
                  <a:pt x="5682725" y="47843"/>
                  <a:pt x="5440566" y="31420"/>
                  <a:pt x="5237020" y="18288"/>
                </a:cubicBezTo>
                <a:cubicBezTo>
                  <a:pt x="5046456" y="10577"/>
                  <a:pt x="4706449" y="51976"/>
                  <a:pt x="4558650" y="18288"/>
                </a:cubicBezTo>
                <a:cubicBezTo>
                  <a:pt x="4361396" y="-987"/>
                  <a:pt x="4145362" y="-22303"/>
                  <a:pt x="3880279" y="18288"/>
                </a:cubicBezTo>
                <a:cubicBezTo>
                  <a:pt x="3610716" y="25411"/>
                  <a:pt x="3472690" y="4008"/>
                  <a:pt x="3201909" y="18288"/>
                </a:cubicBezTo>
                <a:cubicBezTo>
                  <a:pt x="2913595" y="35097"/>
                  <a:pt x="2753317" y="-1149"/>
                  <a:pt x="2604943" y="18288"/>
                </a:cubicBezTo>
                <a:cubicBezTo>
                  <a:pt x="2450130" y="36989"/>
                  <a:pt x="1974183" y="40159"/>
                  <a:pt x="1845168" y="18288"/>
                </a:cubicBezTo>
                <a:cubicBezTo>
                  <a:pt x="1677929" y="220"/>
                  <a:pt x="1378098" y="-772"/>
                  <a:pt x="1166797" y="18288"/>
                </a:cubicBezTo>
                <a:cubicBezTo>
                  <a:pt x="921150" y="53277"/>
                  <a:pt x="327457" y="47297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36968" y="-25482"/>
                  <a:pt x="379786" y="11224"/>
                  <a:pt x="596966" y="0"/>
                </a:cubicBezTo>
                <a:cubicBezTo>
                  <a:pt x="815878" y="-21223"/>
                  <a:pt x="832062" y="11868"/>
                  <a:pt x="1031123" y="0"/>
                </a:cubicBezTo>
                <a:cubicBezTo>
                  <a:pt x="1256800" y="-30738"/>
                  <a:pt x="1658090" y="-20345"/>
                  <a:pt x="1872303" y="0"/>
                </a:cubicBezTo>
                <a:cubicBezTo>
                  <a:pt x="2115604" y="28431"/>
                  <a:pt x="2277865" y="-40642"/>
                  <a:pt x="2469269" y="0"/>
                </a:cubicBezTo>
                <a:cubicBezTo>
                  <a:pt x="2679731" y="25919"/>
                  <a:pt x="2788602" y="-6498"/>
                  <a:pt x="3066235" y="0"/>
                </a:cubicBezTo>
                <a:cubicBezTo>
                  <a:pt x="3325663" y="-14487"/>
                  <a:pt x="3706561" y="67517"/>
                  <a:pt x="3907414" y="0"/>
                </a:cubicBezTo>
                <a:cubicBezTo>
                  <a:pt x="4127229" y="-37113"/>
                  <a:pt x="4179037" y="-8167"/>
                  <a:pt x="4422976" y="0"/>
                </a:cubicBezTo>
                <a:cubicBezTo>
                  <a:pt x="4683575" y="-28486"/>
                  <a:pt x="5055803" y="-13799"/>
                  <a:pt x="5264155" y="0"/>
                </a:cubicBezTo>
                <a:cubicBezTo>
                  <a:pt x="5513566" y="14315"/>
                  <a:pt x="5735215" y="2768"/>
                  <a:pt x="6105335" y="0"/>
                </a:cubicBezTo>
                <a:cubicBezTo>
                  <a:pt x="6510913" y="-12587"/>
                  <a:pt x="6456171" y="3247"/>
                  <a:pt x="6783705" y="0"/>
                </a:cubicBezTo>
                <a:cubicBezTo>
                  <a:pt x="7057099" y="-15461"/>
                  <a:pt x="7592067" y="5384"/>
                  <a:pt x="8140446" y="0"/>
                </a:cubicBezTo>
                <a:cubicBezTo>
                  <a:pt x="8140452" y="8597"/>
                  <a:pt x="8141122" y="9732"/>
                  <a:pt x="8140446" y="18288"/>
                </a:cubicBezTo>
                <a:cubicBezTo>
                  <a:pt x="7961834" y="8406"/>
                  <a:pt x="7874097" y="10350"/>
                  <a:pt x="7706289" y="18288"/>
                </a:cubicBezTo>
                <a:cubicBezTo>
                  <a:pt x="7582508" y="-14920"/>
                  <a:pt x="7179551" y="-33111"/>
                  <a:pt x="6865109" y="18288"/>
                </a:cubicBezTo>
                <a:cubicBezTo>
                  <a:pt x="6583382" y="24117"/>
                  <a:pt x="6525821" y="36696"/>
                  <a:pt x="6349548" y="18288"/>
                </a:cubicBezTo>
                <a:cubicBezTo>
                  <a:pt x="6209953" y="10881"/>
                  <a:pt x="5959707" y="-47828"/>
                  <a:pt x="5671177" y="18288"/>
                </a:cubicBezTo>
                <a:cubicBezTo>
                  <a:pt x="5387744" y="29809"/>
                  <a:pt x="5228514" y="101507"/>
                  <a:pt x="4829998" y="18288"/>
                </a:cubicBezTo>
                <a:cubicBezTo>
                  <a:pt x="4415646" y="-28596"/>
                  <a:pt x="4343809" y="28954"/>
                  <a:pt x="4151627" y="18288"/>
                </a:cubicBezTo>
                <a:cubicBezTo>
                  <a:pt x="3950673" y="-9796"/>
                  <a:pt x="3879947" y="41143"/>
                  <a:pt x="3717470" y="18288"/>
                </a:cubicBezTo>
                <a:cubicBezTo>
                  <a:pt x="3558660" y="10110"/>
                  <a:pt x="3468854" y="29375"/>
                  <a:pt x="3201909" y="18288"/>
                </a:cubicBezTo>
                <a:cubicBezTo>
                  <a:pt x="2965673" y="10505"/>
                  <a:pt x="2568327" y="22116"/>
                  <a:pt x="2360729" y="18288"/>
                </a:cubicBezTo>
                <a:cubicBezTo>
                  <a:pt x="2171885" y="49144"/>
                  <a:pt x="1923258" y="16020"/>
                  <a:pt x="1682359" y="18288"/>
                </a:cubicBezTo>
                <a:cubicBezTo>
                  <a:pt x="1430698" y="-2378"/>
                  <a:pt x="1324229" y="-1751"/>
                  <a:pt x="1166797" y="18288"/>
                </a:cubicBezTo>
                <a:cubicBezTo>
                  <a:pt x="1001390" y="41795"/>
                  <a:pt x="324313" y="57964"/>
                  <a:pt x="0" y="18288"/>
                </a:cubicBezTo>
                <a:cubicBezTo>
                  <a:pt x="285" y="13135"/>
                  <a:pt x="532" y="5956"/>
                  <a:pt x="0" y="0"/>
                </a:cubicBezTo>
                <a:close/>
              </a:path>
              <a:path w="8140446" h="18288" fill="none" stroke="0" extrusionOk="0">
                <a:moveTo>
                  <a:pt x="0" y="0"/>
                </a:moveTo>
                <a:cubicBezTo>
                  <a:pt x="69532" y="-6557"/>
                  <a:pt x="264219" y="3919"/>
                  <a:pt x="434157" y="0"/>
                </a:cubicBezTo>
                <a:cubicBezTo>
                  <a:pt x="600013" y="9090"/>
                  <a:pt x="921449" y="-13478"/>
                  <a:pt x="1193932" y="0"/>
                </a:cubicBezTo>
                <a:cubicBezTo>
                  <a:pt x="1443592" y="14844"/>
                  <a:pt x="1471188" y="10722"/>
                  <a:pt x="1628089" y="0"/>
                </a:cubicBezTo>
                <a:cubicBezTo>
                  <a:pt x="1750006" y="-24149"/>
                  <a:pt x="1967480" y="-14904"/>
                  <a:pt x="2225055" y="0"/>
                </a:cubicBezTo>
                <a:cubicBezTo>
                  <a:pt x="2503918" y="19247"/>
                  <a:pt x="2709263" y="-16351"/>
                  <a:pt x="3066235" y="0"/>
                </a:cubicBezTo>
                <a:cubicBezTo>
                  <a:pt x="3429723" y="-1627"/>
                  <a:pt x="3399401" y="30976"/>
                  <a:pt x="3744605" y="0"/>
                </a:cubicBezTo>
                <a:cubicBezTo>
                  <a:pt x="4081920" y="-40602"/>
                  <a:pt x="4258272" y="-2441"/>
                  <a:pt x="4504380" y="0"/>
                </a:cubicBezTo>
                <a:cubicBezTo>
                  <a:pt x="4760039" y="21121"/>
                  <a:pt x="4866555" y="-1351"/>
                  <a:pt x="5101346" y="0"/>
                </a:cubicBezTo>
                <a:cubicBezTo>
                  <a:pt x="5336279" y="1859"/>
                  <a:pt x="5465100" y="30801"/>
                  <a:pt x="5779717" y="0"/>
                </a:cubicBezTo>
                <a:cubicBezTo>
                  <a:pt x="6117018" y="-2879"/>
                  <a:pt x="6273497" y="-5002"/>
                  <a:pt x="6620896" y="0"/>
                </a:cubicBezTo>
                <a:cubicBezTo>
                  <a:pt x="6972306" y="38666"/>
                  <a:pt x="6992056" y="28334"/>
                  <a:pt x="7136458" y="0"/>
                </a:cubicBezTo>
                <a:cubicBezTo>
                  <a:pt x="7325567" y="-61201"/>
                  <a:pt x="7766555" y="-88399"/>
                  <a:pt x="8140446" y="0"/>
                </a:cubicBezTo>
                <a:cubicBezTo>
                  <a:pt x="8140031" y="7748"/>
                  <a:pt x="8139515" y="13015"/>
                  <a:pt x="8140446" y="18288"/>
                </a:cubicBezTo>
                <a:cubicBezTo>
                  <a:pt x="7892673" y="-4012"/>
                  <a:pt x="7668025" y="650"/>
                  <a:pt x="7543480" y="18288"/>
                </a:cubicBezTo>
                <a:cubicBezTo>
                  <a:pt x="7406710" y="-3467"/>
                  <a:pt x="7207646" y="8893"/>
                  <a:pt x="7109323" y="18288"/>
                </a:cubicBezTo>
                <a:cubicBezTo>
                  <a:pt x="6993037" y="49011"/>
                  <a:pt x="6598723" y="59405"/>
                  <a:pt x="6430952" y="18288"/>
                </a:cubicBezTo>
                <a:cubicBezTo>
                  <a:pt x="6284771" y="15315"/>
                  <a:pt x="6162730" y="20350"/>
                  <a:pt x="5915391" y="18288"/>
                </a:cubicBezTo>
                <a:cubicBezTo>
                  <a:pt x="5684668" y="13603"/>
                  <a:pt x="5422852" y="53618"/>
                  <a:pt x="5237020" y="18288"/>
                </a:cubicBezTo>
                <a:cubicBezTo>
                  <a:pt x="5035482" y="26296"/>
                  <a:pt x="4719808" y="55145"/>
                  <a:pt x="4558650" y="18288"/>
                </a:cubicBezTo>
                <a:cubicBezTo>
                  <a:pt x="4375169" y="-35587"/>
                  <a:pt x="4137553" y="12086"/>
                  <a:pt x="3880279" y="18288"/>
                </a:cubicBezTo>
                <a:cubicBezTo>
                  <a:pt x="3624533" y="32648"/>
                  <a:pt x="3467387" y="6480"/>
                  <a:pt x="3201909" y="18288"/>
                </a:cubicBezTo>
                <a:cubicBezTo>
                  <a:pt x="2918126" y="73342"/>
                  <a:pt x="2717830" y="-17156"/>
                  <a:pt x="2604943" y="18288"/>
                </a:cubicBezTo>
                <a:cubicBezTo>
                  <a:pt x="2496133" y="44525"/>
                  <a:pt x="2003915" y="18254"/>
                  <a:pt x="1845168" y="18288"/>
                </a:cubicBezTo>
                <a:cubicBezTo>
                  <a:pt x="1694518" y="14989"/>
                  <a:pt x="1344959" y="44188"/>
                  <a:pt x="1166797" y="18288"/>
                </a:cubicBezTo>
                <a:cubicBezTo>
                  <a:pt x="935925" y="69451"/>
                  <a:pt x="319712" y="-63972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140446"/>
                      <a:gd name="connsiteY0" fmla="*/ 0 h 18288"/>
                      <a:gd name="connsiteX1" fmla="*/ 434157 w 8140446"/>
                      <a:gd name="connsiteY1" fmla="*/ 0 h 18288"/>
                      <a:gd name="connsiteX2" fmla="*/ 1193932 w 8140446"/>
                      <a:gd name="connsiteY2" fmla="*/ 0 h 18288"/>
                      <a:gd name="connsiteX3" fmla="*/ 1628089 w 8140446"/>
                      <a:gd name="connsiteY3" fmla="*/ 0 h 18288"/>
                      <a:gd name="connsiteX4" fmla="*/ 2225055 w 8140446"/>
                      <a:gd name="connsiteY4" fmla="*/ 0 h 18288"/>
                      <a:gd name="connsiteX5" fmla="*/ 3066235 w 8140446"/>
                      <a:gd name="connsiteY5" fmla="*/ 0 h 18288"/>
                      <a:gd name="connsiteX6" fmla="*/ 3744605 w 8140446"/>
                      <a:gd name="connsiteY6" fmla="*/ 0 h 18288"/>
                      <a:gd name="connsiteX7" fmla="*/ 4504380 w 8140446"/>
                      <a:gd name="connsiteY7" fmla="*/ 0 h 18288"/>
                      <a:gd name="connsiteX8" fmla="*/ 5101346 w 8140446"/>
                      <a:gd name="connsiteY8" fmla="*/ 0 h 18288"/>
                      <a:gd name="connsiteX9" fmla="*/ 5779717 w 8140446"/>
                      <a:gd name="connsiteY9" fmla="*/ 0 h 18288"/>
                      <a:gd name="connsiteX10" fmla="*/ 6620896 w 8140446"/>
                      <a:gd name="connsiteY10" fmla="*/ 0 h 18288"/>
                      <a:gd name="connsiteX11" fmla="*/ 7136458 w 8140446"/>
                      <a:gd name="connsiteY11" fmla="*/ 0 h 18288"/>
                      <a:gd name="connsiteX12" fmla="*/ 8140446 w 8140446"/>
                      <a:gd name="connsiteY12" fmla="*/ 0 h 18288"/>
                      <a:gd name="connsiteX13" fmla="*/ 8140446 w 8140446"/>
                      <a:gd name="connsiteY13" fmla="*/ 18288 h 18288"/>
                      <a:gd name="connsiteX14" fmla="*/ 7543480 w 8140446"/>
                      <a:gd name="connsiteY14" fmla="*/ 18288 h 18288"/>
                      <a:gd name="connsiteX15" fmla="*/ 7109323 w 8140446"/>
                      <a:gd name="connsiteY15" fmla="*/ 18288 h 18288"/>
                      <a:gd name="connsiteX16" fmla="*/ 6430952 w 8140446"/>
                      <a:gd name="connsiteY16" fmla="*/ 18288 h 18288"/>
                      <a:gd name="connsiteX17" fmla="*/ 5915391 w 8140446"/>
                      <a:gd name="connsiteY17" fmla="*/ 18288 h 18288"/>
                      <a:gd name="connsiteX18" fmla="*/ 5237020 w 8140446"/>
                      <a:gd name="connsiteY18" fmla="*/ 18288 h 18288"/>
                      <a:gd name="connsiteX19" fmla="*/ 4558650 w 8140446"/>
                      <a:gd name="connsiteY19" fmla="*/ 18288 h 18288"/>
                      <a:gd name="connsiteX20" fmla="*/ 3880279 w 8140446"/>
                      <a:gd name="connsiteY20" fmla="*/ 18288 h 18288"/>
                      <a:gd name="connsiteX21" fmla="*/ 3201909 w 8140446"/>
                      <a:gd name="connsiteY21" fmla="*/ 18288 h 18288"/>
                      <a:gd name="connsiteX22" fmla="*/ 2604943 w 8140446"/>
                      <a:gd name="connsiteY22" fmla="*/ 18288 h 18288"/>
                      <a:gd name="connsiteX23" fmla="*/ 1845168 w 8140446"/>
                      <a:gd name="connsiteY23" fmla="*/ 18288 h 18288"/>
                      <a:gd name="connsiteX24" fmla="*/ 1166797 w 8140446"/>
                      <a:gd name="connsiteY24" fmla="*/ 18288 h 18288"/>
                      <a:gd name="connsiteX25" fmla="*/ 0 w 8140446"/>
                      <a:gd name="connsiteY25" fmla="*/ 18288 h 18288"/>
                      <a:gd name="connsiteX26" fmla="*/ 0 w 8140446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8140446" h="18288" fill="none" extrusionOk="0">
                        <a:moveTo>
                          <a:pt x="0" y="0"/>
                        </a:moveTo>
                        <a:cubicBezTo>
                          <a:pt x="94920" y="9103"/>
                          <a:pt x="287892" y="-4966"/>
                          <a:pt x="434157" y="0"/>
                        </a:cubicBezTo>
                        <a:cubicBezTo>
                          <a:pt x="580422" y="4966"/>
                          <a:pt x="943595" y="-14182"/>
                          <a:pt x="1193932" y="0"/>
                        </a:cubicBezTo>
                        <a:cubicBezTo>
                          <a:pt x="1444270" y="14182"/>
                          <a:pt x="1472129" y="5523"/>
                          <a:pt x="1628089" y="0"/>
                        </a:cubicBezTo>
                        <a:cubicBezTo>
                          <a:pt x="1784049" y="-5523"/>
                          <a:pt x="1962419" y="-17322"/>
                          <a:pt x="2225055" y="0"/>
                        </a:cubicBezTo>
                        <a:cubicBezTo>
                          <a:pt x="2487691" y="17322"/>
                          <a:pt x="2700681" y="1311"/>
                          <a:pt x="3066235" y="0"/>
                        </a:cubicBezTo>
                        <a:cubicBezTo>
                          <a:pt x="3431789" y="-1311"/>
                          <a:pt x="3405662" y="25081"/>
                          <a:pt x="3744605" y="0"/>
                        </a:cubicBezTo>
                        <a:cubicBezTo>
                          <a:pt x="4083548" y="-25081"/>
                          <a:pt x="4265111" y="-11945"/>
                          <a:pt x="4504380" y="0"/>
                        </a:cubicBezTo>
                        <a:cubicBezTo>
                          <a:pt x="4743649" y="11945"/>
                          <a:pt x="4860394" y="-2832"/>
                          <a:pt x="5101346" y="0"/>
                        </a:cubicBezTo>
                        <a:cubicBezTo>
                          <a:pt x="5342298" y="2832"/>
                          <a:pt x="5456387" y="23676"/>
                          <a:pt x="5779717" y="0"/>
                        </a:cubicBezTo>
                        <a:cubicBezTo>
                          <a:pt x="6103047" y="-23676"/>
                          <a:pt x="6270379" y="-37291"/>
                          <a:pt x="6620896" y="0"/>
                        </a:cubicBezTo>
                        <a:cubicBezTo>
                          <a:pt x="6971413" y="37291"/>
                          <a:pt x="6989068" y="24674"/>
                          <a:pt x="7136458" y="0"/>
                        </a:cubicBezTo>
                        <a:cubicBezTo>
                          <a:pt x="7283848" y="-24674"/>
                          <a:pt x="7752532" y="-22436"/>
                          <a:pt x="8140446" y="0"/>
                        </a:cubicBezTo>
                        <a:cubicBezTo>
                          <a:pt x="8140314" y="7702"/>
                          <a:pt x="8140234" y="13511"/>
                          <a:pt x="8140446" y="18288"/>
                        </a:cubicBezTo>
                        <a:cubicBezTo>
                          <a:pt x="7906329" y="-3043"/>
                          <a:pt x="7681180" y="27465"/>
                          <a:pt x="7543480" y="18288"/>
                        </a:cubicBezTo>
                        <a:cubicBezTo>
                          <a:pt x="7405780" y="9111"/>
                          <a:pt x="7216607" y="3660"/>
                          <a:pt x="7109323" y="18288"/>
                        </a:cubicBezTo>
                        <a:cubicBezTo>
                          <a:pt x="7002039" y="32916"/>
                          <a:pt x="6576231" y="42692"/>
                          <a:pt x="6430952" y="18288"/>
                        </a:cubicBezTo>
                        <a:cubicBezTo>
                          <a:pt x="6285673" y="-6116"/>
                          <a:pt x="6138840" y="34521"/>
                          <a:pt x="5915391" y="18288"/>
                        </a:cubicBezTo>
                        <a:cubicBezTo>
                          <a:pt x="5691942" y="2055"/>
                          <a:pt x="5459460" y="51666"/>
                          <a:pt x="5237020" y="18288"/>
                        </a:cubicBezTo>
                        <a:cubicBezTo>
                          <a:pt x="5014580" y="-15090"/>
                          <a:pt x="4747677" y="40449"/>
                          <a:pt x="4558650" y="18288"/>
                        </a:cubicBezTo>
                        <a:cubicBezTo>
                          <a:pt x="4369623" y="-3873"/>
                          <a:pt x="4146061" y="12568"/>
                          <a:pt x="3880279" y="18288"/>
                        </a:cubicBezTo>
                        <a:cubicBezTo>
                          <a:pt x="3614497" y="24008"/>
                          <a:pt x="3473808" y="-12908"/>
                          <a:pt x="3201909" y="18288"/>
                        </a:cubicBezTo>
                        <a:cubicBezTo>
                          <a:pt x="2930010" y="49484"/>
                          <a:pt x="2728175" y="-3430"/>
                          <a:pt x="2604943" y="18288"/>
                        </a:cubicBezTo>
                        <a:cubicBezTo>
                          <a:pt x="2481711" y="40006"/>
                          <a:pt x="2004334" y="26952"/>
                          <a:pt x="1845168" y="18288"/>
                        </a:cubicBezTo>
                        <a:cubicBezTo>
                          <a:pt x="1686003" y="9624"/>
                          <a:pt x="1375070" y="37580"/>
                          <a:pt x="1166797" y="18288"/>
                        </a:cubicBezTo>
                        <a:cubicBezTo>
                          <a:pt x="958524" y="-1004"/>
                          <a:pt x="342846" y="888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8140446" h="18288" stroke="0" extrusionOk="0">
                        <a:moveTo>
                          <a:pt x="0" y="0"/>
                        </a:moveTo>
                        <a:cubicBezTo>
                          <a:pt x="142435" y="-24533"/>
                          <a:pt x="380026" y="17447"/>
                          <a:pt x="596966" y="0"/>
                        </a:cubicBezTo>
                        <a:cubicBezTo>
                          <a:pt x="813906" y="-17447"/>
                          <a:pt x="830530" y="13462"/>
                          <a:pt x="1031123" y="0"/>
                        </a:cubicBezTo>
                        <a:cubicBezTo>
                          <a:pt x="1231716" y="-13462"/>
                          <a:pt x="1634038" y="0"/>
                          <a:pt x="1872303" y="0"/>
                        </a:cubicBezTo>
                        <a:cubicBezTo>
                          <a:pt x="2110568" y="0"/>
                          <a:pt x="2261934" y="-25727"/>
                          <a:pt x="2469269" y="0"/>
                        </a:cubicBezTo>
                        <a:cubicBezTo>
                          <a:pt x="2676604" y="25727"/>
                          <a:pt x="2790440" y="16284"/>
                          <a:pt x="3066235" y="0"/>
                        </a:cubicBezTo>
                        <a:cubicBezTo>
                          <a:pt x="3342030" y="-16284"/>
                          <a:pt x="3685603" y="41976"/>
                          <a:pt x="3907414" y="0"/>
                        </a:cubicBezTo>
                        <a:cubicBezTo>
                          <a:pt x="4129225" y="-41976"/>
                          <a:pt x="4177416" y="-7598"/>
                          <a:pt x="4422976" y="0"/>
                        </a:cubicBezTo>
                        <a:cubicBezTo>
                          <a:pt x="4668536" y="7598"/>
                          <a:pt x="5023499" y="-28058"/>
                          <a:pt x="5264155" y="0"/>
                        </a:cubicBezTo>
                        <a:cubicBezTo>
                          <a:pt x="5504811" y="28058"/>
                          <a:pt x="5703675" y="13288"/>
                          <a:pt x="6105335" y="0"/>
                        </a:cubicBezTo>
                        <a:cubicBezTo>
                          <a:pt x="6506995" y="-13288"/>
                          <a:pt x="6455516" y="-5124"/>
                          <a:pt x="6783705" y="0"/>
                        </a:cubicBezTo>
                        <a:cubicBezTo>
                          <a:pt x="7111894" y="5124"/>
                          <a:pt x="7512856" y="10604"/>
                          <a:pt x="8140446" y="0"/>
                        </a:cubicBezTo>
                        <a:cubicBezTo>
                          <a:pt x="8140458" y="8833"/>
                          <a:pt x="8140986" y="9830"/>
                          <a:pt x="8140446" y="18288"/>
                        </a:cubicBezTo>
                        <a:cubicBezTo>
                          <a:pt x="7959314" y="3345"/>
                          <a:pt x="7870113" y="10437"/>
                          <a:pt x="7706289" y="18288"/>
                        </a:cubicBezTo>
                        <a:cubicBezTo>
                          <a:pt x="7542465" y="26139"/>
                          <a:pt x="7157940" y="17482"/>
                          <a:pt x="6865109" y="18288"/>
                        </a:cubicBezTo>
                        <a:cubicBezTo>
                          <a:pt x="6572278" y="19094"/>
                          <a:pt x="6524256" y="38051"/>
                          <a:pt x="6349548" y="18288"/>
                        </a:cubicBezTo>
                        <a:cubicBezTo>
                          <a:pt x="6174840" y="-1475"/>
                          <a:pt x="5951624" y="174"/>
                          <a:pt x="5671177" y="18288"/>
                        </a:cubicBezTo>
                        <a:cubicBezTo>
                          <a:pt x="5390730" y="36402"/>
                          <a:pt x="5222992" y="60058"/>
                          <a:pt x="4829998" y="18288"/>
                        </a:cubicBezTo>
                        <a:cubicBezTo>
                          <a:pt x="4437004" y="-23482"/>
                          <a:pt x="4344181" y="39087"/>
                          <a:pt x="4151627" y="18288"/>
                        </a:cubicBezTo>
                        <a:cubicBezTo>
                          <a:pt x="3959073" y="-2511"/>
                          <a:pt x="3886970" y="32875"/>
                          <a:pt x="3717470" y="18288"/>
                        </a:cubicBezTo>
                        <a:cubicBezTo>
                          <a:pt x="3547970" y="3701"/>
                          <a:pt x="3451521" y="31872"/>
                          <a:pt x="3201909" y="18288"/>
                        </a:cubicBezTo>
                        <a:cubicBezTo>
                          <a:pt x="2952297" y="4704"/>
                          <a:pt x="2543413" y="6029"/>
                          <a:pt x="2360729" y="18288"/>
                        </a:cubicBezTo>
                        <a:cubicBezTo>
                          <a:pt x="2178045" y="30547"/>
                          <a:pt x="1906056" y="25847"/>
                          <a:pt x="1682359" y="18288"/>
                        </a:cubicBezTo>
                        <a:cubicBezTo>
                          <a:pt x="1458662" y="10730"/>
                          <a:pt x="1330405" y="8046"/>
                          <a:pt x="1166797" y="18288"/>
                        </a:cubicBezTo>
                        <a:cubicBezTo>
                          <a:pt x="1003189" y="28530"/>
                          <a:pt x="278098" y="19533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3A798-D960-439A-BB12-9A7BA4E0D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Undergraduate students with elevated social anxiety in 4-week intervention</a:t>
            </a:r>
          </a:p>
          <a:p>
            <a:r>
              <a:rPr lang="en-US" sz="1900"/>
              <a:t>Randomized to:</a:t>
            </a:r>
          </a:p>
          <a:p>
            <a:pPr lvl="1"/>
            <a:r>
              <a:rPr lang="en-US" sz="1900"/>
              <a:t>Acts of Kindness (AK) 3x/day for 2 days/week</a:t>
            </a:r>
          </a:p>
          <a:p>
            <a:pPr lvl="1"/>
            <a:r>
              <a:rPr lang="en-US" sz="1900"/>
              <a:t>Behavioral Experiments (BE) 2 days/week</a:t>
            </a:r>
          </a:p>
          <a:p>
            <a:pPr lvl="1"/>
            <a:r>
              <a:rPr lang="en-US" sz="1900"/>
              <a:t>Life Details (LD) – record 3 events/day for 2 days/week</a:t>
            </a:r>
          </a:p>
          <a:p>
            <a:r>
              <a:rPr lang="en-US" sz="1900"/>
              <a:t>Participants in AK greater increases in PA and relationship satisfaction and decreases in efforts to avoid negative social consequences than BE &amp; LD</a:t>
            </a:r>
          </a:p>
          <a:p>
            <a:r>
              <a:rPr lang="en-US" sz="1900"/>
              <a:t>No group differences in NA or social approach behaviors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53917-8CBB-46D0-BCA0-A29E4050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and Application of Positive Psychology </a:t>
            </a:r>
            <a:br>
              <a:rPr lang="en-US" sz="900"/>
            </a:br>
            <a:r>
              <a:rPr lang="en-US" sz="900"/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3806411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BD959-6701-4890-A77E-EA6147DFF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Compassionate Goals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  <a:gd name="connsiteX0" fmla="*/ 0 w 8140446"/>
              <a:gd name="connsiteY0" fmla="*/ 0 h 18288"/>
              <a:gd name="connsiteX1" fmla="*/ 596966 w 8140446"/>
              <a:gd name="connsiteY1" fmla="*/ 0 h 18288"/>
              <a:gd name="connsiteX2" fmla="*/ 1031123 w 8140446"/>
              <a:gd name="connsiteY2" fmla="*/ 0 h 18288"/>
              <a:gd name="connsiteX3" fmla="*/ 1872303 w 8140446"/>
              <a:gd name="connsiteY3" fmla="*/ 0 h 18288"/>
              <a:gd name="connsiteX4" fmla="*/ 2469269 w 8140446"/>
              <a:gd name="connsiteY4" fmla="*/ 0 h 18288"/>
              <a:gd name="connsiteX5" fmla="*/ 3066235 w 8140446"/>
              <a:gd name="connsiteY5" fmla="*/ 0 h 18288"/>
              <a:gd name="connsiteX6" fmla="*/ 3907414 w 8140446"/>
              <a:gd name="connsiteY6" fmla="*/ 0 h 18288"/>
              <a:gd name="connsiteX7" fmla="*/ 4422976 w 8140446"/>
              <a:gd name="connsiteY7" fmla="*/ 0 h 18288"/>
              <a:gd name="connsiteX8" fmla="*/ 5264155 w 8140446"/>
              <a:gd name="connsiteY8" fmla="*/ 0 h 18288"/>
              <a:gd name="connsiteX9" fmla="*/ 6105335 w 8140446"/>
              <a:gd name="connsiteY9" fmla="*/ 0 h 18288"/>
              <a:gd name="connsiteX10" fmla="*/ 6783705 w 8140446"/>
              <a:gd name="connsiteY10" fmla="*/ 0 h 18288"/>
              <a:gd name="connsiteX11" fmla="*/ 8140446 w 8140446"/>
              <a:gd name="connsiteY11" fmla="*/ 0 h 18288"/>
              <a:gd name="connsiteX12" fmla="*/ 8140446 w 8140446"/>
              <a:gd name="connsiteY12" fmla="*/ 18288 h 18288"/>
              <a:gd name="connsiteX13" fmla="*/ 7706289 w 8140446"/>
              <a:gd name="connsiteY13" fmla="*/ 18288 h 18288"/>
              <a:gd name="connsiteX14" fmla="*/ 6865109 w 8140446"/>
              <a:gd name="connsiteY14" fmla="*/ 18288 h 18288"/>
              <a:gd name="connsiteX15" fmla="*/ 6349548 w 8140446"/>
              <a:gd name="connsiteY15" fmla="*/ 18288 h 18288"/>
              <a:gd name="connsiteX16" fmla="*/ 5671177 w 8140446"/>
              <a:gd name="connsiteY16" fmla="*/ 18288 h 18288"/>
              <a:gd name="connsiteX17" fmla="*/ 4829998 w 8140446"/>
              <a:gd name="connsiteY17" fmla="*/ 18288 h 18288"/>
              <a:gd name="connsiteX18" fmla="*/ 4151627 w 8140446"/>
              <a:gd name="connsiteY18" fmla="*/ 18288 h 18288"/>
              <a:gd name="connsiteX19" fmla="*/ 3717470 w 8140446"/>
              <a:gd name="connsiteY19" fmla="*/ 18288 h 18288"/>
              <a:gd name="connsiteX20" fmla="*/ 3201909 w 8140446"/>
              <a:gd name="connsiteY20" fmla="*/ 18288 h 18288"/>
              <a:gd name="connsiteX21" fmla="*/ 2360729 w 8140446"/>
              <a:gd name="connsiteY21" fmla="*/ 18288 h 18288"/>
              <a:gd name="connsiteX22" fmla="*/ 1682359 w 8140446"/>
              <a:gd name="connsiteY22" fmla="*/ 18288 h 18288"/>
              <a:gd name="connsiteX23" fmla="*/ 1166797 w 8140446"/>
              <a:gd name="connsiteY23" fmla="*/ 18288 h 18288"/>
              <a:gd name="connsiteX24" fmla="*/ 0 w 8140446"/>
              <a:gd name="connsiteY24" fmla="*/ 18288 h 18288"/>
              <a:gd name="connsiteX25" fmla="*/ 0 w 8140446"/>
              <a:gd name="connsiteY2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87427" y="6231"/>
                  <a:pt x="309612" y="-26324"/>
                  <a:pt x="434157" y="0"/>
                </a:cubicBezTo>
                <a:cubicBezTo>
                  <a:pt x="536972" y="29330"/>
                  <a:pt x="959392" y="28619"/>
                  <a:pt x="1193932" y="0"/>
                </a:cubicBezTo>
                <a:cubicBezTo>
                  <a:pt x="1446097" y="13819"/>
                  <a:pt x="1471680" y="7203"/>
                  <a:pt x="1628089" y="0"/>
                </a:cubicBezTo>
                <a:cubicBezTo>
                  <a:pt x="1817415" y="4047"/>
                  <a:pt x="1949536" y="-59324"/>
                  <a:pt x="2225055" y="0"/>
                </a:cubicBezTo>
                <a:cubicBezTo>
                  <a:pt x="2520490" y="18365"/>
                  <a:pt x="2717469" y="18707"/>
                  <a:pt x="3066235" y="0"/>
                </a:cubicBezTo>
                <a:cubicBezTo>
                  <a:pt x="3437075" y="3751"/>
                  <a:pt x="3408347" y="31644"/>
                  <a:pt x="3744605" y="0"/>
                </a:cubicBezTo>
                <a:cubicBezTo>
                  <a:pt x="4097249" y="-11527"/>
                  <a:pt x="4249699" y="-32555"/>
                  <a:pt x="4504380" y="0"/>
                </a:cubicBezTo>
                <a:cubicBezTo>
                  <a:pt x="4737570" y="17980"/>
                  <a:pt x="4877497" y="1006"/>
                  <a:pt x="5101346" y="0"/>
                </a:cubicBezTo>
                <a:cubicBezTo>
                  <a:pt x="5359305" y="-15330"/>
                  <a:pt x="5447195" y="7257"/>
                  <a:pt x="5779717" y="0"/>
                </a:cubicBezTo>
                <a:cubicBezTo>
                  <a:pt x="6090019" y="-17621"/>
                  <a:pt x="6273151" y="4279"/>
                  <a:pt x="6620896" y="0"/>
                </a:cubicBezTo>
                <a:cubicBezTo>
                  <a:pt x="6968586" y="34056"/>
                  <a:pt x="6990073" y="23587"/>
                  <a:pt x="7136458" y="0"/>
                </a:cubicBezTo>
                <a:cubicBezTo>
                  <a:pt x="7320575" y="20480"/>
                  <a:pt x="7847401" y="-6173"/>
                  <a:pt x="8140446" y="0"/>
                </a:cubicBezTo>
                <a:cubicBezTo>
                  <a:pt x="8139878" y="7862"/>
                  <a:pt x="8140227" y="13269"/>
                  <a:pt x="8140446" y="18288"/>
                </a:cubicBezTo>
                <a:cubicBezTo>
                  <a:pt x="7908069" y="-20636"/>
                  <a:pt x="7683037" y="21977"/>
                  <a:pt x="7543480" y="18288"/>
                </a:cubicBezTo>
                <a:cubicBezTo>
                  <a:pt x="7393752" y="10050"/>
                  <a:pt x="7221032" y="-3229"/>
                  <a:pt x="7109323" y="18288"/>
                </a:cubicBezTo>
                <a:cubicBezTo>
                  <a:pt x="7015297" y="22483"/>
                  <a:pt x="6599332" y="40899"/>
                  <a:pt x="6430952" y="18288"/>
                </a:cubicBezTo>
                <a:cubicBezTo>
                  <a:pt x="6292915" y="-34150"/>
                  <a:pt x="6142305" y="21507"/>
                  <a:pt x="5915391" y="18288"/>
                </a:cubicBezTo>
                <a:cubicBezTo>
                  <a:pt x="5682725" y="47843"/>
                  <a:pt x="5440566" y="31420"/>
                  <a:pt x="5237020" y="18288"/>
                </a:cubicBezTo>
                <a:cubicBezTo>
                  <a:pt x="5046456" y="10577"/>
                  <a:pt x="4706449" y="51976"/>
                  <a:pt x="4558650" y="18288"/>
                </a:cubicBezTo>
                <a:cubicBezTo>
                  <a:pt x="4361396" y="-987"/>
                  <a:pt x="4145362" y="-22303"/>
                  <a:pt x="3880279" y="18288"/>
                </a:cubicBezTo>
                <a:cubicBezTo>
                  <a:pt x="3610716" y="25411"/>
                  <a:pt x="3472690" y="4008"/>
                  <a:pt x="3201909" y="18288"/>
                </a:cubicBezTo>
                <a:cubicBezTo>
                  <a:pt x="2913595" y="35097"/>
                  <a:pt x="2753317" y="-1149"/>
                  <a:pt x="2604943" y="18288"/>
                </a:cubicBezTo>
                <a:cubicBezTo>
                  <a:pt x="2450130" y="36989"/>
                  <a:pt x="1974183" y="40159"/>
                  <a:pt x="1845168" y="18288"/>
                </a:cubicBezTo>
                <a:cubicBezTo>
                  <a:pt x="1677929" y="220"/>
                  <a:pt x="1378098" y="-772"/>
                  <a:pt x="1166797" y="18288"/>
                </a:cubicBezTo>
                <a:cubicBezTo>
                  <a:pt x="921150" y="53277"/>
                  <a:pt x="327457" y="47297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36968" y="-25482"/>
                  <a:pt x="379786" y="11224"/>
                  <a:pt x="596966" y="0"/>
                </a:cubicBezTo>
                <a:cubicBezTo>
                  <a:pt x="815878" y="-21223"/>
                  <a:pt x="832062" y="11868"/>
                  <a:pt x="1031123" y="0"/>
                </a:cubicBezTo>
                <a:cubicBezTo>
                  <a:pt x="1256800" y="-30738"/>
                  <a:pt x="1658090" y="-20345"/>
                  <a:pt x="1872303" y="0"/>
                </a:cubicBezTo>
                <a:cubicBezTo>
                  <a:pt x="2115604" y="28431"/>
                  <a:pt x="2277865" y="-40642"/>
                  <a:pt x="2469269" y="0"/>
                </a:cubicBezTo>
                <a:cubicBezTo>
                  <a:pt x="2679731" y="25919"/>
                  <a:pt x="2788602" y="-6498"/>
                  <a:pt x="3066235" y="0"/>
                </a:cubicBezTo>
                <a:cubicBezTo>
                  <a:pt x="3325663" y="-14487"/>
                  <a:pt x="3706561" y="67517"/>
                  <a:pt x="3907414" y="0"/>
                </a:cubicBezTo>
                <a:cubicBezTo>
                  <a:pt x="4127229" y="-37113"/>
                  <a:pt x="4179037" y="-8167"/>
                  <a:pt x="4422976" y="0"/>
                </a:cubicBezTo>
                <a:cubicBezTo>
                  <a:pt x="4683575" y="-28486"/>
                  <a:pt x="5055803" y="-13799"/>
                  <a:pt x="5264155" y="0"/>
                </a:cubicBezTo>
                <a:cubicBezTo>
                  <a:pt x="5513566" y="14315"/>
                  <a:pt x="5735215" y="2768"/>
                  <a:pt x="6105335" y="0"/>
                </a:cubicBezTo>
                <a:cubicBezTo>
                  <a:pt x="6510913" y="-12587"/>
                  <a:pt x="6456171" y="3247"/>
                  <a:pt x="6783705" y="0"/>
                </a:cubicBezTo>
                <a:cubicBezTo>
                  <a:pt x="7057099" y="-15461"/>
                  <a:pt x="7592067" y="5384"/>
                  <a:pt x="8140446" y="0"/>
                </a:cubicBezTo>
                <a:cubicBezTo>
                  <a:pt x="8140452" y="8597"/>
                  <a:pt x="8141122" y="9732"/>
                  <a:pt x="8140446" y="18288"/>
                </a:cubicBezTo>
                <a:cubicBezTo>
                  <a:pt x="7961834" y="8406"/>
                  <a:pt x="7874097" y="10350"/>
                  <a:pt x="7706289" y="18288"/>
                </a:cubicBezTo>
                <a:cubicBezTo>
                  <a:pt x="7582508" y="-14920"/>
                  <a:pt x="7179551" y="-33111"/>
                  <a:pt x="6865109" y="18288"/>
                </a:cubicBezTo>
                <a:cubicBezTo>
                  <a:pt x="6583382" y="24117"/>
                  <a:pt x="6525821" y="36696"/>
                  <a:pt x="6349548" y="18288"/>
                </a:cubicBezTo>
                <a:cubicBezTo>
                  <a:pt x="6209953" y="10881"/>
                  <a:pt x="5959707" y="-47828"/>
                  <a:pt x="5671177" y="18288"/>
                </a:cubicBezTo>
                <a:cubicBezTo>
                  <a:pt x="5387744" y="29809"/>
                  <a:pt x="5228514" y="101507"/>
                  <a:pt x="4829998" y="18288"/>
                </a:cubicBezTo>
                <a:cubicBezTo>
                  <a:pt x="4415646" y="-28596"/>
                  <a:pt x="4343809" y="28954"/>
                  <a:pt x="4151627" y="18288"/>
                </a:cubicBezTo>
                <a:cubicBezTo>
                  <a:pt x="3950673" y="-9796"/>
                  <a:pt x="3879947" y="41143"/>
                  <a:pt x="3717470" y="18288"/>
                </a:cubicBezTo>
                <a:cubicBezTo>
                  <a:pt x="3558660" y="10110"/>
                  <a:pt x="3468854" y="29375"/>
                  <a:pt x="3201909" y="18288"/>
                </a:cubicBezTo>
                <a:cubicBezTo>
                  <a:pt x="2965673" y="10505"/>
                  <a:pt x="2568327" y="22116"/>
                  <a:pt x="2360729" y="18288"/>
                </a:cubicBezTo>
                <a:cubicBezTo>
                  <a:pt x="2171885" y="49144"/>
                  <a:pt x="1923258" y="16020"/>
                  <a:pt x="1682359" y="18288"/>
                </a:cubicBezTo>
                <a:cubicBezTo>
                  <a:pt x="1430698" y="-2378"/>
                  <a:pt x="1324229" y="-1751"/>
                  <a:pt x="1166797" y="18288"/>
                </a:cubicBezTo>
                <a:cubicBezTo>
                  <a:pt x="1001390" y="41795"/>
                  <a:pt x="324313" y="57964"/>
                  <a:pt x="0" y="18288"/>
                </a:cubicBezTo>
                <a:cubicBezTo>
                  <a:pt x="285" y="13135"/>
                  <a:pt x="532" y="5956"/>
                  <a:pt x="0" y="0"/>
                </a:cubicBezTo>
                <a:close/>
              </a:path>
              <a:path w="8140446" h="18288" fill="none" stroke="0" extrusionOk="0">
                <a:moveTo>
                  <a:pt x="0" y="0"/>
                </a:moveTo>
                <a:cubicBezTo>
                  <a:pt x="69532" y="-6557"/>
                  <a:pt x="264219" y="3919"/>
                  <a:pt x="434157" y="0"/>
                </a:cubicBezTo>
                <a:cubicBezTo>
                  <a:pt x="600013" y="9090"/>
                  <a:pt x="921449" y="-13478"/>
                  <a:pt x="1193932" y="0"/>
                </a:cubicBezTo>
                <a:cubicBezTo>
                  <a:pt x="1443592" y="14844"/>
                  <a:pt x="1471188" y="10722"/>
                  <a:pt x="1628089" y="0"/>
                </a:cubicBezTo>
                <a:cubicBezTo>
                  <a:pt x="1750006" y="-24149"/>
                  <a:pt x="1967480" y="-14904"/>
                  <a:pt x="2225055" y="0"/>
                </a:cubicBezTo>
                <a:cubicBezTo>
                  <a:pt x="2503918" y="19247"/>
                  <a:pt x="2709263" y="-16351"/>
                  <a:pt x="3066235" y="0"/>
                </a:cubicBezTo>
                <a:cubicBezTo>
                  <a:pt x="3429723" y="-1627"/>
                  <a:pt x="3399401" y="30976"/>
                  <a:pt x="3744605" y="0"/>
                </a:cubicBezTo>
                <a:cubicBezTo>
                  <a:pt x="4081920" y="-40602"/>
                  <a:pt x="4258272" y="-2441"/>
                  <a:pt x="4504380" y="0"/>
                </a:cubicBezTo>
                <a:cubicBezTo>
                  <a:pt x="4760039" y="21121"/>
                  <a:pt x="4866555" y="-1351"/>
                  <a:pt x="5101346" y="0"/>
                </a:cubicBezTo>
                <a:cubicBezTo>
                  <a:pt x="5336279" y="1859"/>
                  <a:pt x="5465100" y="30801"/>
                  <a:pt x="5779717" y="0"/>
                </a:cubicBezTo>
                <a:cubicBezTo>
                  <a:pt x="6117018" y="-2879"/>
                  <a:pt x="6273497" y="-5002"/>
                  <a:pt x="6620896" y="0"/>
                </a:cubicBezTo>
                <a:cubicBezTo>
                  <a:pt x="6972306" y="38666"/>
                  <a:pt x="6992056" y="28334"/>
                  <a:pt x="7136458" y="0"/>
                </a:cubicBezTo>
                <a:cubicBezTo>
                  <a:pt x="7325567" y="-61201"/>
                  <a:pt x="7766555" y="-88399"/>
                  <a:pt x="8140446" y="0"/>
                </a:cubicBezTo>
                <a:cubicBezTo>
                  <a:pt x="8140031" y="7748"/>
                  <a:pt x="8139515" y="13015"/>
                  <a:pt x="8140446" y="18288"/>
                </a:cubicBezTo>
                <a:cubicBezTo>
                  <a:pt x="7892673" y="-4012"/>
                  <a:pt x="7668025" y="650"/>
                  <a:pt x="7543480" y="18288"/>
                </a:cubicBezTo>
                <a:cubicBezTo>
                  <a:pt x="7406710" y="-3467"/>
                  <a:pt x="7207646" y="8893"/>
                  <a:pt x="7109323" y="18288"/>
                </a:cubicBezTo>
                <a:cubicBezTo>
                  <a:pt x="6993037" y="49011"/>
                  <a:pt x="6598723" y="59405"/>
                  <a:pt x="6430952" y="18288"/>
                </a:cubicBezTo>
                <a:cubicBezTo>
                  <a:pt x="6284771" y="15315"/>
                  <a:pt x="6162730" y="20350"/>
                  <a:pt x="5915391" y="18288"/>
                </a:cubicBezTo>
                <a:cubicBezTo>
                  <a:pt x="5684668" y="13603"/>
                  <a:pt x="5422852" y="53618"/>
                  <a:pt x="5237020" y="18288"/>
                </a:cubicBezTo>
                <a:cubicBezTo>
                  <a:pt x="5035482" y="26296"/>
                  <a:pt x="4719808" y="55145"/>
                  <a:pt x="4558650" y="18288"/>
                </a:cubicBezTo>
                <a:cubicBezTo>
                  <a:pt x="4375169" y="-35587"/>
                  <a:pt x="4137553" y="12086"/>
                  <a:pt x="3880279" y="18288"/>
                </a:cubicBezTo>
                <a:cubicBezTo>
                  <a:pt x="3624533" y="32648"/>
                  <a:pt x="3467387" y="6480"/>
                  <a:pt x="3201909" y="18288"/>
                </a:cubicBezTo>
                <a:cubicBezTo>
                  <a:pt x="2918126" y="73342"/>
                  <a:pt x="2717830" y="-17156"/>
                  <a:pt x="2604943" y="18288"/>
                </a:cubicBezTo>
                <a:cubicBezTo>
                  <a:pt x="2496133" y="44525"/>
                  <a:pt x="2003915" y="18254"/>
                  <a:pt x="1845168" y="18288"/>
                </a:cubicBezTo>
                <a:cubicBezTo>
                  <a:pt x="1694518" y="14989"/>
                  <a:pt x="1344959" y="44188"/>
                  <a:pt x="1166797" y="18288"/>
                </a:cubicBezTo>
                <a:cubicBezTo>
                  <a:pt x="935925" y="69451"/>
                  <a:pt x="319712" y="-63972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140446"/>
                      <a:gd name="connsiteY0" fmla="*/ 0 h 18288"/>
                      <a:gd name="connsiteX1" fmla="*/ 434157 w 8140446"/>
                      <a:gd name="connsiteY1" fmla="*/ 0 h 18288"/>
                      <a:gd name="connsiteX2" fmla="*/ 1193932 w 8140446"/>
                      <a:gd name="connsiteY2" fmla="*/ 0 h 18288"/>
                      <a:gd name="connsiteX3" fmla="*/ 1628089 w 8140446"/>
                      <a:gd name="connsiteY3" fmla="*/ 0 h 18288"/>
                      <a:gd name="connsiteX4" fmla="*/ 2225055 w 8140446"/>
                      <a:gd name="connsiteY4" fmla="*/ 0 h 18288"/>
                      <a:gd name="connsiteX5" fmla="*/ 3066235 w 8140446"/>
                      <a:gd name="connsiteY5" fmla="*/ 0 h 18288"/>
                      <a:gd name="connsiteX6" fmla="*/ 3744605 w 8140446"/>
                      <a:gd name="connsiteY6" fmla="*/ 0 h 18288"/>
                      <a:gd name="connsiteX7" fmla="*/ 4504380 w 8140446"/>
                      <a:gd name="connsiteY7" fmla="*/ 0 h 18288"/>
                      <a:gd name="connsiteX8" fmla="*/ 5101346 w 8140446"/>
                      <a:gd name="connsiteY8" fmla="*/ 0 h 18288"/>
                      <a:gd name="connsiteX9" fmla="*/ 5779717 w 8140446"/>
                      <a:gd name="connsiteY9" fmla="*/ 0 h 18288"/>
                      <a:gd name="connsiteX10" fmla="*/ 6620896 w 8140446"/>
                      <a:gd name="connsiteY10" fmla="*/ 0 h 18288"/>
                      <a:gd name="connsiteX11" fmla="*/ 7136458 w 8140446"/>
                      <a:gd name="connsiteY11" fmla="*/ 0 h 18288"/>
                      <a:gd name="connsiteX12" fmla="*/ 8140446 w 8140446"/>
                      <a:gd name="connsiteY12" fmla="*/ 0 h 18288"/>
                      <a:gd name="connsiteX13" fmla="*/ 8140446 w 8140446"/>
                      <a:gd name="connsiteY13" fmla="*/ 18288 h 18288"/>
                      <a:gd name="connsiteX14" fmla="*/ 7543480 w 8140446"/>
                      <a:gd name="connsiteY14" fmla="*/ 18288 h 18288"/>
                      <a:gd name="connsiteX15" fmla="*/ 7109323 w 8140446"/>
                      <a:gd name="connsiteY15" fmla="*/ 18288 h 18288"/>
                      <a:gd name="connsiteX16" fmla="*/ 6430952 w 8140446"/>
                      <a:gd name="connsiteY16" fmla="*/ 18288 h 18288"/>
                      <a:gd name="connsiteX17" fmla="*/ 5915391 w 8140446"/>
                      <a:gd name="connsiteY17" fmla="*/ 18288 h 18288"/>
                      <a:gd name="connsiteX18" fmla="*/ 5237020 w 8140446"/>
                      <a:gd name="connsiteY18" fmla="*/ 18288 h 18288"/>
                      <a:gd name="connsiteX19" fmla="*/ 4558650 w 8140446"/>
                      <a:gd name="connsiteY19" fmla="*/ 18288 h 18288"/>
                      <a:gd name="connsiteX20" fmla="*/ 3880279 w 8140446"/>
                      <a:gd name="connsiteY20" fmla="*/ 18288 h 18288"/>
                      <a:gd name="connsiteX21" fmla="*/ 3201909 w 8140446"/>
                      <a:gd name="connsiteY21" fmla="*/ 18288 h 18288"/>
                      <a:gd name="connsiteX22" fmla="*/ 2604943 w 8140446"/>
                      <a:gd name="connsiteY22" fmla="*/ 18288 h 18288"/>
                      <a:gd name="connsiteX23" fmla="*/ 1845168 w 8140446"/>
                      <a:gd name="connsiteY23" fmla="*/ 18288 h 18288"/>
                      <a:gd name="connsiteX24" fmla="*/ 1166797 w 8140446"/>
                      <a:gd name="connsiteY24" fmla="*/ 18288 h 18288"/>
                      <a:gd name="connsiteX25" fmla="*/ 0 w 8140446"/>
                      <a:gd name="connsiteY25" fmla="*/ 18288 h 18288"/>
                      <a:gd name="connsiteX26" fmla="*/ 0 w 8140446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8140446" h="18288" fill="none" extrusionOk="0">
                        <a:moveTo>
                          <a:pt x="0" y="0"/>
                        </a:moveTo>
                        <a:cubicBezTo>
                          <a:pt x="94920" y="9103"/>
                          <a:pt x="287892" y="-4966"/>
                          <a:pt x="434157" y="0"/>
                        </a:cubicBezTo>
                        <a:cubicBezTo>
                          <a:pt x="580422" y="4966"/>
                          <a:pt x="943595" y="-14182"/>
                          <a:pt x="1193932" y="0"/>
                        </a:cubicBezTo>
                        <a:cubicBezTo>
                          <a:pt x="1444270" y="14182"/>
                          <a:pt x="1472129" y="5523"/>
                          <a:pt x="1628089" y="0"/>
                        </a:cubicBezTo>
                        <a:cubicBezTo>
                          <a:pt x="1784049" y="-5523"/>
                          <a:pt x="1962419" y="-17322"/>
                          <a:pt x="2225055" y="0"/>
                        </a:cubicBezTo>
                        <a:cubicBezTo>
                          <a:pt x="2487691" y="17322"/>
                          <a:pt x="2700681" y="1311"/>
                          <a:pt x="3066235" y="0"/>
                        </a:cubicBezTo>
                        <a:cubicBezTo>
                          <a:pt x="3431789" y="-1311"/>
                          <a:pt x="3405662" y="25081"/>
                          <a:pt x="3744605" y="0"/>
                        </a:cubicBezTo>
                        <a:cubicBezTo>
                          <a:pt x="4083548" y="-25081"/>
                          <a:pt x="4265111" y="-11945"/>
                          <a:pt x="4504380" y="0"/>
                        </a:cubicBezTo>
                        <a:cubicBezTo>
                          <a:pt x="4743649" y="11945"/>
                          <a:pt x="4860394" y="-2832"/>
                          <a:pt x="5101346" y="0"/>
                        </a:cubicBezTo>
                        <a:cubicBezTo>
                          <a:pt x="5342298" y="2832"/>
                          <a:pt x="5456387" y="23676"/>
                          <a:pt x="5779717" y="0"/>
                        </a:cubicBezTo>
                        <a:cubicBezTo>
                          <a:pt x="6103047" y="-23676"/>
                          <a:pt x="6270379" y="-37291"/>
                          <a:pt x="6620896" y="0"/>
                        </a:cubicBezTo>
                        <a:cubicBezTo>
                          <a:pt x="6971413" y="37291"/>
                          <a:pt x="6989068" y="24674"/>
                          <a:pt x="7136458" y="0"/>
                        </a:cubicBezTo>
                        <a:cubicBezTo>
                          <a:pt x="7283848" y="-24674"/>
                          <a:pt x="7752532" y="-22436"/>
                          <a:pt x="8140446" y="0"/>
                        </a:cubicBezTo>
                        <a:cubicBezTo>
                          <a:pt x="8140314" y="7702"/>
                          <a:pt x="8140234" y="13511"/>
                          <a:pt x="8140446" y="18288"/>
                        </a:cubicBezTo>
                        <a:cubicBezTo>
                          <a:pt x="7906329" y="-3043"/>
                          <a:pt x="7681180" y="27465"/>
                          <a:pt x="7543480" y="18288"/>
                        </a:cubicBezTo>
                        <a:cubicBezTo>
                          <a:pt x="7405780" y="9111"/>
                          <a:pt x="7216607" y="3660"/>
                          <a:pt x="7109323" y="18288"/>
                        </a:cubicBezTo>
                        <a:cubicBezTo>
                          <a:pt x="7002039" y="32916"/>
                          <a:pt x="6576231" y="42692"/>
                          <a:pt x="6430952" y="18288"/>
                        </a:cubicBezTo>
                        <a:cubicBezTo>
                          <a:pt x="6285673" y="-6116"/>
                          <a:pt x="6138840" y="34521"/>
                          <a:pt x="5915391" y="18288"/>
                        </a:cubicBezTo>
                        <a:cubicBezTo>
                          <a:pt x="5691942" y="2055"/>
                          <a:pt x="5459460" y="51666"/>
                          <a:pt x="5237020" y="18288"/>
                        </a:cubicBezTo>
                        <a:cubicBezTo>
                          <a:pt x="5014580" y="-15090"/>
                          <a:pt x="4747677" y="40449"/>
                          <a:pt x="4558650" y="18288"/>
                        </a:cubicBezTo>
                        <a:cubicBezTo>
                          <a:pt x="4369623" y="-3873"/>
                          <a:pt x="4146061" y="12568"/>
                          <a:pt x="3880279" y="18288"/>
                        </a:cubicBezTo>
                        <a:cubicBezTo>
                          <a:pt x="3614497" y="24008"/>
                          <a:pt x="3473808" y="-12908"/>
                          <a:pt x="3201909" y="18288"/>
                        </a:cubicBezTo>
                        <a:cubicBezTo>
                          <a:pt x="2930010" y="49484"/>
                          <a:pt x="2728175" y="-3430"/>
                          <a:pt x="2604943" y="18288"/>
                        </a:cubicBezTo>
                        <a:cubicBezTo>
                          <a:pt x="2481711" y="40006"/>
                          <a:pt x="2004334" y="26952"/>
                          <a:pt x="1845168" y="18288"/>
                        </a:cubicBezTo>
                        <a:cubicBezTo>
                          <a:pt x="1686003" y="9624"/>
                          <a:pt x="1375070" y="37580"/>
                          <a:pt x="1166797" y="18288"/>
                        </a:cubicBezTo>
                        <a:cubicBezTo>
                          <a:pt x="958524" y="-1004"/>
                          <a:pt x="342846" y="888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8140446" h="18288" stroke="0" extrusionOk="0">
                        <a:moveTo>
                          <a:pt x="0" y="0"/>
                        </a:moveTo>
                        <a:cubicBezTo>
                          <a:pt x="142435" y="-24533"/>
                          <a:pt x="380026" y="17447"/>
                          <a:pt x="596966" y="0"/>
                        </a:cubicBezTo>
                        <a:cubicBezTo>
                          <a:pt x="813906" y="-17447"/>
                          <a:pt x="830530" y="13462"/>
                          <a:pt x="1031123" y="0"/>
                        </a:cubicBezTo>
                        <a:cubicBezTo>
                          <a:pt x="1231716" y="-13462"/>
                          <a:pt x="1634038" y="0"/>
                          <a:pt x="1872303" y="0"/>
                        </a:cubicBezTo>
                        <a:cubicBezTo>
                          <a:pt x="2110568" y="0"/>
                          <a:pt x="2261934" y="-25727"/>
                          <a:pt x="2469269" y="0"/>
                        </a:cubicBezTo>
                        <a:cubicBezTo>
                          <a:pt x="2676604" y="25727"/>
                          <a:pt x="2790440" y="16284"/>
                          <a:pt x="3066235" y="0"/>
                        </a:cubicBezTo>
                        <a:cubicBezTo>
                          <a:pt x="3342030" y="-16284"/>
                          <a:pt x="3685603" y="41976"/>
                          <a:pt x="3907414" y="0"/>
                        </a:cubicBezTo>
                        <a:cubicBezTo>
                          <a:pt x="4129225" y="-41976"/>
                          <a:pt x="4177416" y="-7598"/>
                          <a:pt x="4422976" y="0"/>
                        </a:cubicBezTo>
                        <a:cubicBezTo>
                          <a:pt x="4668536" y="7598"/>
                          <a:pt x="5023499" y="-28058"/>
                          <a:pt x="5264155" y="0"/>
                        </a:cubicBezTo>
                        <a:cubicBezTo>
                          <a:pt x="5504811" y="28058"/>
                          <a:pt x="5703675" y="13288"/>
                          <a:pt x="6105335" y="0"/>
                        </a:cubicBezTo>
                        <a:cubicBezTo>
                          <a:pt x="6506995" y="-13288"/>
                          <a:pt x="6455516" y="-5124"/>
                          <a:pt x="6783705" y="0"/>
                        </a:cubicBezTo>
                        <a:cubicBezTo>
                          <a:pt x="7111894" y="5124"/>
                          <a:pt x="7512856" y="10604"/>
                          <a:pt x="8140446" y="0"/>
                        </a:cubicBezTo>
                        <a:cubicBezTo>
                          <a:pt x="8140458" y="8833"/>
                          <a:pt x="8140986" y="9830"/>
                          <a:pt x="8140446" y="18288"/>
                        </a:cubicBezTo>
                        <a:cubicBezTo>
                          <a:pt x="7959314" y="3345"/>
                          <a:pt x="7870113" y="10437"/>
                          <a:pt x="7706289" y="18288"/>
                        </a:cubicBezTo>
                        <a:cubicBezTo>
                          <a:pt x="7542465" y="26139"/>
                          <a:pt x="7157940" y="17482"/>
                          <a:pt x="6865109" y="18288"/>
                        </a:cubicBezTo>
                        <a:cubicBezTo>
                          <a:pt x="6572278" y="19094"/>
                          <a:pt x="6524256" y="38051"/>
                          <a:pt x="6349548" y="18288"/>
                        </a:cubicBezTo>
                        <a:cubicBezTo>
                          <a:pt x="6174840" y="-1475"/>
                          <a:pt x="5951624" y="174"/>
                          <a:pt x="5671177" y="18288"/>
                        </a:cubicBezTo>
                        <a:cubicBezTo>
                          <a:pt x="5390730" y="36402"/>
                          <a:pt x="5222992" y="60058"/>
                          <a:pt x="4829998" y="18288"/>
                        </a:cubicBezTo>
                        <a:cubicBezTo>
                          <a:pt x="4437004" y="-23482"/>
                          <a:pt x="4344181" y="39087"/>
                          <a:pt x="4151627" y="18288"/>
                        </a:cubicBezTo>
                        <a:cubicBezTo>
                          <a:pt x="3959073" y="-2511"/>
                          <a:pt x="3886970" y="32875"/>
                          <a:pt x="3717470" y="18288"/>
                        </a:cubicBezTo>
                        <a:cubicBezTo>
                          <a:pt x="3547970" y="3701"/>
                          <a:pt x="3451521" y="31872"/>
                          <a:pt x="3201909" y="18288"/>
                        </a:cubicBezTo>
                        <a:cubicBezTo>
                          <a:pt x="2952297" y="4704"/>
                          <a:pt x="2543413" y="6029"/>
                          <a:pt x="2360729" y="18288"/>
                        </a:cubicBezTo>
                        <a:cubicBezTo>
                          <a:pt x="2178045" y="30547"/>
                          <a:pt x="1906056" y="25847"/>
                          <a:pt x="1682359" y="18288"/>
                        </a:cubicBezTo>
                        <a:cubicBezTo>
                          <a:pt x="1458662" y="10730"/>
                          <a:pt x="1330405" y="8046"/>
                          <a:pt x="1166797" y="18288"/>
                        </a:cubicBezTo>
                        <a:cubicBezTo>
                          <a:pt x="1003189" y="28530"/>
                          <a:pt x="278098" y="19533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6731B-FC9B-4902-A5B5-A9EC5E17F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Self-image goals: focus on constructing and maintaining images of the self</a:t>
            </a:r>
          </a:p>
          <a:p>
            <a:r>
              <a:rPr lang="en-US" sz="1900"/>
              <a:t>Compassionate goals: focus on supporting others and ensuring that you aren’t causing harm</a:t>
            </a:r>
          </a:p>
          <a:p>
            <a:pPr lvl="1"/>
            <a:r>
              <a:rPr lang="en-US" sz="1900"/>
              <a:t>What is good for others is also good for you</a:t>
            </a:r>
          </a:p>
          <a:p>
            <a:pPr lvl="1"/>
            <a:r>
              <a:rPr lang="en-US" sz="1900"/>
              <a:t>More satisfying relationships</a:t>
            </a:r>
          </a:p>
          <a:p>
            <a:pPr lvl="1"/>
            <a:r>
              <a:rPr lang="en-US" sz="1900"/>
              <a:t>Tend to be held in higher esteem by others</a:t>
            </a:r>
          </a:p>
          <a:p>
            <a:pPr lvl="1"/>
            <a:r>
              <a:rPr lang="en-US" sz="1900"/>
              <a:t>Related to decreases in symptoms of depression and anxiety over 10-weeks in college students (Crocker et al., 2010) </a:t>
            </a:r>
          </a:p>
          <a:p>
            <a:pPr lvl="1"/>
            <a:r>
              <a:rPr lang="en-US" sz="1900"/>
              <a:t>In those diagnosed with depression or anxiety disorders, associated with fewer daily symptoms and perceptions of support from others over 10 days (Erickson et al., 2017)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F3BAC-1DCE-4EFB-893E-0B53AEB5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and Application of Positive Psychology </a:t>
            </a:r>
            <a:br>
              <a:rPr lang="en-US" sz="900"/>
            </a:br>
            <a:r>
              <a:rPr lang="en-US" sz="900"/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1103875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F92F6D3-37E8-56B2-B4F3-FCC59408E6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FF7E7-785D-4DE2-B976-A4F61A688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Moral Elevation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BD5DA-875C-4ACE-867F-672337552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and Application of Positive Psychology </a:t>
            </a:r>
            <a:br>
              <a:rPr lang="en-US" sz="900"/>
            </a:br>
            <a:r>
              <a:rPr lang="en-US" sz="900"/>
              <a:t>© Cambridge University Press 2021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4574711-E259-C88D-359C-669A58C90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745373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004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93D62-5512-4814-919A-F11EC1480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300">
                <a:solidFill>
                  <a:srgbClr val="FFFFFF"/>
                </a:solidFill>
              </a:rPr>
              <a:t>Singularity Effect of Identifiable Victims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3F76B-47D6-4D28-97DD-8F3A09741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Tendency to have stronger reactions to and more willingness to help an identified individual as opposed to a group with the same need</a:t>
            </a:r>
          </a:p>
          <a:p>
            <a:r>
              <a:rPr lang="en-US" sz="1900"/>
              <a:t>People tend to be relatively insensitive to the scale or scope of need/crisis</a:t>
            </a:r>
          </a:p>
          <a:p>
            <a:r>
              <a:rPr lang="en-US" sz="1900"/>
              <a:t>Participants with collectivistic values less likely to demonstrate this effect</a:t>
            </a:r>
          </a:p>
          <a:p>
            <a:pPr lvl="1"/>
            <a:r>
              <a:rPr lang="en-US" sz="1900"/>
              <a:t>More likely to contribute to group than those with less collectivistic values</a:t>
            </a:r>
          </a:p>
          <a:p>
            <a:pPr lvl="1"/>
            <a:r>
              <a:rPr lang="en-US" sz="1900"/>
              <a:t>When primed with collectivistic values – using we, us, ours – more likely to donate to group than individual</a:t>
            </a:r>
          </a:p>
          <a:p>
            <a:pPr marL="457200" lvl="1" indent="0">
              <a:buNone/>
            </a:pPr>
            <a:r>
              <a:rPr lang="en-US" sz="1900"/>
              <a:t>                                                                                        Kogut et al., 2015</a:t>
            </a:r>
          </a:p>
          <a:p>
            <a:endParaRPr lang="en-US" sz="1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BD6E11-AEAC-48CA-82DF-03DCFB278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and Application of Positive Psychology </a:t>
            </a:r>
            <a:br>
              <a:rPr lang="en-US" sz="900"/>
            </a:br>
            <a:r>
              <a:rPr lang="en-US" sz="900"/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1828934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F5FA861B6BEB4497E30226FB654B7F" ma:contentTypeVersion="14" ma:contentTypeDescription="Create a new document." ma:contentTypeScope="" ma:versionID="5446b6abc1174e76b1ecf231e0511309">
  <xsd:schema xmlns:xsd="http://www.w3.org/2001/XMLSchema" xmlns:xs="http://www.w3.org/2001/XMLSchema" xmlns:p="http://schemas.microsoft.com/office/2006/metadata/properties" xmlns:ns3="098d3ce3-1732-4665-af2b-0c47aa6f0599" xmlns:ns4="6ebc9d44-dfc5-41fa-9646-f594d8bccd35" targetNamespace="http://schemas.microsoft.com/office/2006/metadata/properties" ma:root="true" ma:fieldsID="6ac3cd6cbff858ee08bb67d456e99cb1" ns3:_="" ns4:_="">
    <xsd:import namespace="098d3ce3-1732-4665-af2b-0c47aa6f0599"/>
    <xsd:import namespace="6ebc9d44-dfc5-41fa-9646-f594d8bccd3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d3ce3-1732-4665-af2b-0c47aa6f05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bc9d44-dfc5-41fa-9646-f594d8bccd3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A77D237-49E5-43D1-BBAE-C65D674315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8d3ce3-1732-4665-af2b-0c47aa6f0599"/>
    <ds:schemaRef ds:uri="6ebc9d44-dfc5-41fa-9646-f594d8bccd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14F560-3B9A-438C-83B1-6E3F72FA08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9FC689-0397-489D-B6C4-918490A97925}">
  <ds:schemaRefs>
    <ds:schemaRef ds:uri="6ebc9d44-dfc5-41fa-9646-f594d8bccd35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98d3ce3-1732-4665-af2b-0c47aa6f0599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5307</TotalTime>
  <Words>1531</Words>
  <Application>Microsoft Office PowerPoint</Application>
  <PresentationFormat>On-screen Show (4:3)</PresentationFormat>
  <Paragraphs>136</Paragraphs>
  <Slides>24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Wingdings</vt:lpstr>
      <vt:lpstr>Office Theme</vt:lpstr>
      <vt:lpstr>Chapter 12</vt:lpstr>
      <vt:lpstr>Tyler Stallings: created “Hero Bags” for homeless veterans</vt:lpstr>
      <vt:lpstr>Why Does Prosocial Behavior Matter?</vt:lpstr>
      <vt:lpstr>Altruism</vt:lpstr>
      <vt:lpstr>Desmond Doss</vt:lpstr>
      <vt:lpstr>Hacksaw Ridge Desmond Doss</vt:lpstr>
      <vt:lpstr>Hacksaw Ridge Desmond Doss</vt:lpstr>
      <vt:lpstr>Psychological Motivations for Altruism</vt:lpstr>
      <vt:lpstr>More evidence that empathy predicts altruism</vt:lpstr>
      <vt:lpstr>Benefits of Giving Support</vt:lpstr>
      <vt:lpstr>Even More Benefits of Giving Support!</vt:lpstr>
      <vt:lpstr>Journal Entry #21  What are 3 kind things you could do today to help out another person?</vt:lpstr>
      <vt:lpstr>Who is Most Likely to Provide Support?</vt:lpstr>
      <vt:lpstr>Altruism</vt:lpstr>
      <vt:lpstr>PowerPoint Presentation</vt:lpstr>
      <vt:lpstr>When are People Most Likely to Be Prosocial?</vt:lpstr>
      <vt:lpstr>PowerPoint Presentation</vt:lpstr>
      <vt:lpstr>PowerPoint Presentation</vt:lpstr>
      <vt:lpstr>Why Are Prosocial Behaviors Good for Us?</vt:lpstr>
      <vt:lpstr>Kindness Interventions</vt:lpstr>
      <vt:lpstr>Alden &amp; Trew (2013)</vt:lpstr>
      <vt:lpstr>Compassionate Goals</vt:lpstr>
      <vt:lpstr>Moral Elevation</vt:lpstr>
      <vt:lpstr>Singularity Effect of Identifiable Victims</vt:lpstr>
    </vt:vector>
  </TitlesOfParts>
  <Company>Cambridge University Press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Jane Adams</dc:creator>
  <cp:lastModifiedBy>Traver, Holly</cp:lastModifiedBy>
  <cp:revision>41</cp:revision>
  <dcterms:created xsi:type="dcterms:W3CDTF">2021-07-26T18:02:28Z</dcterms:created>
  <dcterms:modified xsi:type="dcterms:W3CDTF">2025-05-31T14:29:47Z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0x01010031F5FA861B6BEB4497E30226FB654B7F</vt:lpwstr>
  </property>
</Properties>
</file>