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39"/>
  </p:notesMasterIdLst>
  <p:handoutMasterIdLst>
    <p:handoutMasterId r:id="rId40"/>
  </p:handoutMasterIdLst>
  <p:sldIdLst>
    <p:sldId id="259" r:id="rId5"/>
    <p:sldId id="257" r:id="rId6"/>
    <p:sldId id="290" r:id="rId7"/>
    <p:sldId id="301" r:id="rId8"/>
    <p:sldId id="305" r:id="rId9"/>
    <p:sldId id="308" r:id="rId10"/>
    <p:sldId id="309" r:id="rId11"/>
    <p:sldId id="303" r:id="rId12"/>
    <p:sldId id="304" r:id="rId13"/>
    <p:sldId id="283" r:id="rId14"/>
    <p:sldId id="258" r:id="rId15"/>
    <p:sldId id="261" r:id="rId16"/>
    <p:sldId id="263" r:id="rId17"/>
    <p:sldId id="279" r:id="rId18"/>
    <p:sldId id="269" r:id="rId19"/>
    <p:sldId id="264" r:id="rId20"/>
    <p:sldId id="286" r:id="rId21"/>
    <p:sldId id="288" r:id="rId22"/>
    <p:sldId id="265" r:id="rId23"/>
    <p:sldId id="267" r:id="rId24"/>
    <p:sldId id="300" r:id="rId25"/>
    <p:sldId id="281" r:id="rId26"/>
    <p:sldId id="284" r:id="rId27"/>
    <p:sldId id="296" r:id="rId28"/>
    <p:sldId id="302" r:id="rId29"/>
    <p:sldId id="298" r:id="rId30"/>
    <p:sldId id="292" r:id="rId31"/>
    <p:sldId id="293" r:id="rId32"/>
    <p:sldId id="294" r:id="rId33"/>
    <p:sldId id="285" r:id="rId34"/>
    <p:sldId id="268" r:id="rId35"/>
    <p:sldId id="282" r:id="rId36"/>
    <p:sldId id="299" r:id="rId37"/>
    <p:sldId id="28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Feldman" initials="DF" lastIdx="1" clrIdx="0">
    <p:extLst>
      <p:ext uri="{19B8F6BF-5375-455C-9EA6-DF929625EA0E}">
        <p15:presenceInfo xmlns:p15="http://schemas.microsoft.com/office/powerpoint/2012/main" userId="S::dbfeldman@scu.edu::2146c507-7dca-4e59-a797-b2590d3704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DF062B-789E-4745-A5AA-C4D65D2AE223}" v="1" dt="2022-02-09T10:20:35.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0" autoAdjust="0"/>
    <p:restoredTop sz="95365" autoAdjust="0"/>
  </p:normalViewPr>
  <p:slideViewPr>
    <p:cSldViewPr snapToGrid="0">
      <p:cViewPr varScale="1">
        <p:scale>
          <a:sx n="42" d="100"/>
          <a:sy n="42" d="100"/>
        </p:scale>
        <p:origin x="518"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17A547-E244-4D7D-AA82-567AB539D373}"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9CF5748D-1FA2-4284-8F6B-0D77E0F3B54B}">
      <dgm:prSet custT="1"/>
      <dgm:spPr/>
      <dgm:t>
        <a:bodyPr/>
        <a:lstStyle/>
        <a:p>
          <a:pPr>
            <a:lnSpc>
              <a:spcPct val="100000"/>
            </a:lnSpc>
            <a:defRPr cap="all"/>
          </a:pPr>
          <a:r>
            <a:rPr lang="en-US" sz="1600" dirty="0"/>
            <a:t>Be as specific as possible—specificity is key to fostering gratitude. “I’m grateful that my co-workers brought me soup when I was sick on Tuesday” will be more effective than “I’m grateful for my co-workers.”</a:t>
          </a:r>
        </a:p>
      </dgm:t>
    </dgm:pt>
    <dgm:pt modelId="{B39BEE90-6C0A-408C-B883-149356FBE922}" type="parTrans" cxnId="{3C2841AC-C853-425B-9CCF-F607CE22FBFA}">
      <dgm:prSet/>
      <dgm:spPr/>
      <dgm:t>
        <a:bodyPr/>
        <a:lstStyle/>
        <a:p>
          <a:endParaRPr lang="en-US"/>
        </a:p>
      </dgm:t>
    </dgm:pt>
    <dgm:pt modelId="{CFAB2065-0BE2-4936-910C-197B055E697C}" type="sibTrans" cxnId="{3C2841AC-C853-425B-9CCF-F607CE22FBFA}">
      <dgm:prSet/>
      <dgm:spPr/>
      <dgm:t>
        <a:bodyPr/>
        <a:lstStyle/>
        <a:p>
          <a:endParaRPr lang="en-US"/>
        </a:p>
      </dgm:t>
    </dgm:pt>
    <dgm:pt modelId="{D56DB58D-6D27-40E5-97CA-1E188BE79BF8}">
      <dgm:prSet custT="1"/>
      <dgm:spPr/>
      <dgm:t>
        <a:bodyPr/>
        <a:lstStyle/>
        <a:p>
          <a:pPr>
            <a:lnSpc>
              <a:spcPct val="100000"/>
            </a:lnSpc>
            <a:defRPr cap="all"/>
          </a:pPr>
          <a:r>
            <a:rPr lang="en-US" sz="1600" dirty="0"/>
            <a:t>Go for depth over breadth. Elaborating in detail about a particular person or thing for which you’re grateful carries more benefits than a superficial list of many things.</a:t>
          </a:r>
        </a:p>
      </dgm:t>
    </dgm:pt>
    <dgm:pt modelId="{1BB05F96-6915-46B9-AC07-6B309114E4ED}" type="parTrans" cxnId="{08737420-7A15-46F1-B4AC-82CEF0908F2C}">
      <dgm:prSet/>
      <dgm:spPr/>
      <dgm:t>
        <a:bodyPr/>
        <a:lstStyle/>
        <a:p>
          <a:endParaRPr lang="en-US"/>
        </a:p>
      </dgm:t>
    </dgm:pt>
    <dgm:pt modelId="{FFF9CD48-85DD-4C14-BB20-1B4E9AD900CC}" type="sibTrans" cxnId="{08737420-7A15-46F1-B4AC-82CEF0908F2C}">
      <dgm:prSet/>
      <dgm:spPr/>
      <dgm:t>
        <a:bodyPr/>
        <a:lstStyle/>
        <a:p>
          <a:endParaRPr lang="en-US"/>
        </a:p>
      </dgm:t>
    </dgm:pt>
    <dgm:pt modelId="{7A0595C3-16EF-4024-9E6C-CFE901E2B515}">
      <dgm:prSet custT="1"/>
      <dgm:spPr/>
      <dgm:t>
        <a:bodyPr/>
        <a:lstStyle/>
        <a:p>
          <a:pPr>
            <a:lnSpc>
              <a:spcPct val="100000"/>
            </a:lnSpc>
            <a:defRPr cap="all"/>
          </a:pPr>
          <a:r>
            <a:rPr lang="en-US" sz="1600" dirty="0"/>
            <a:t>Get personal. Focusing on people to whom you are grateful has more of an impact than focusing on things for which you are grateful</a:t>
          </a:r>
          <a:r>
            <a:rPr lang="en-US" sz="1200" dirty="0"/>
            <a:t>.</a:t>
          </a:r>
        </a:p>
      </dgm:t>
    </dgm:pt>
    <dgm:pt modelId="{2502F7CC-6ECC-4594-A8D7-CAFD641FB91F}" type="parTrans" cxnId="{B86DECA1-E0AF-4FF0-8D63-F73783F1D786}">
      <dgm:prSet/>
      <dgm:spPr/>
      <dgm:t>
        <a:bodyPr/>
        <a:lstStyle/>
        <a:p>
          <a:endParaRPr lang="en-US"/>
        </a:p>
      </dgm:t>
    </dgm:pt>
    <dgm:pt modelId="{F4B0619C-6785-4913-ADA7-ACBFD50DC62B}" type="sibTrans" cxnId="{B86DECA1-E0AF-4FF0-8D63-F73783F1D786}">
      <dgm:prSet/>
      <dgm:spPr/>
      <dgm:t>
        <a:bodyPr/>
        <a:lstStyle/>
        <a:p>
          <a:endParaRPr lang="en-US"/>
        </a:p>
      </dgm:t>
    </dgm:pt>
    <dgm:pt modelId="{F579DF5D-64EA-4534-89FD-34FACCD570C3}">
      <dgm:prSet custT="1"/>
      <dgm:spPr/>
      <dgm:t>
        <a:bodyPr/>
        <a:lstStyle/>
        <a:p>
          <a:pPr>
            <a:lnSpc>
              <a:spcPct val="100000"/>
            </a:lnSpc>
            <a:defRPr cap="all"/>
          </a:pPr>
          <a:r>
            <a:rPr lang="en-US" sz="1600" dirty="0"/>
            <a:t>Try subtraction, not just addition. Consider what your life would be like without certain people or things. Be grateful for the negative outcomes you avoided, escaped, prevented, or turned into something positive—try not to take that good fortune for granted.</a:t>
          </a:r>
        </a:p>
      </dgm:t>
    </dgm:pt>
    <dgm:pt modelId="{66EC5FE7-3FAA-4DE4-B73B-D236E4623347}" type="parTrans" cxnId="{D123E6B3-04BC-407C-9B00-00C0A28177A7}">
      <dgm:prSet/>
      <dgm:spPr/>
      <dgm:t>
        <a:bodyPr/>
        <a:lstStyle/>
        <a:p>
          <a:endParaRPr lang="en-US"/>
        </a:p>
      </dgm:t>
    </dgm:pt>
    <dgm:pt modelId="{D7C164B1-DE55-409A-BC37-FE78726A8F3C}" type="sibTrans" cxnId="{D123E6B3-04BC-407C-9B00-00C0A28177A7}">
      <dgm:prSet/>
      <dgm:spPr/>
      <dgm:t>
        <a:bodyPr/>
        <a:lstStyle/>
        <a:p>
          <a:endParaRPr lang="en-US"/>
        </a:p>
      </dgm:t>
    </dgm:pt>
    <dgm:pt modelId="{75CB5623-A5D2-4AC4-9D38-EE37F57A8A61}" type="pres">
      <dgm:prSet presAssocID="{B317A547-E244-4D7D-AA82-567AB539D373}" presName="root" presStyleCnt="0">
        <dgm:presLayoutVars>
          <dgm:dir/>
          <dgm:resizeHandles val="exact"/>
        </dgm:presLayoutVars>
      </dgm:prSet>
      <dgm:spPr/>
    </dgm:pt>
    <dgm:pt modelId="{1B8FDED5-CA90-41CF-BB31-F69A3F2529CD}" type="pres">
      <dgm:prSet presAssocID="{9CF5748D-1FA2-4284-8F6B-0D77E0F3B54B}" presName="compNode" presStyleCnt="0"/>
      <dgm:spPr/>
    </dgm:pt>
    <dgm:pt modelId="{55953309-29FB-44E5-A7E7-A5D680E75CFD}" type="pres">
      <dgm:prSet presAssocID="{9CF5748D-1FA2-4284-8F6B-0D77E0F3B54B}" presName="iconBgRect" presStyleLbl="bgShp" presStyleIdx="0" presStyleCnt="4"/>
      <dgm:spPr/>
    </dgm:pt>
    <dgm:pt modelId="{F745AAA3-62EB-427D-9F23-3FF9311AB55B}" type="pres">
      <dgm:prSet presAssocID="{9CF5748D-1FA2-4284-8F6B-0D77E0F3B5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ve Letter"/>
        </a:ext>
      </dgm:extLst>
    </dgm:pt>
    <dgm:pt modelId="{37B3FC41-B7A7-47EC-993E-E7843A633A8B}" type="pres">
      <dgm:prSet presAssocID="{9CF5748D-1FA2-4284-8F6B-0D77E0F3B54B}" presName="spaceRect" presStyleCnt="0"/>
      <dgm:spPr/>
    </dgm:pt>
    <dgm:pt modelId="{BE41106D-71D2-4684-B575-07ED8AEE7B93}" type="pres">
      <dgm:prSet presAssocID="{9CF5748D-1FA2-4284-8F6B-0D77E0F3B54B}" presName="textRect" presStyleLbl="revTx" presStyleIdx="0" presStyleCnt="4" custScaleY="111312">
        <dgm:presLayoutVars>
          <dgm:chMax val="1"/>
          <dgm:chPref val="1"/>
        </dgm:presLayoutVars>
      </dgm:prSet>
      <dgm:spPr/>
    </dgm:pt>
    <dgm:pt modelId="{04774E46-CD36-41F3-AF36-847A8A37A136}" type="pres">
      <dgm:prSet presAssocID="{CFAB2065-0BE2-4936-910C-197B055E697C}" presName="sibTrans" presStyleCnt="0"/>
      <dgm:spPr/>
    </dgm:pt>
    <dgm:pt modelId="{504954B0-C62C-4DB7-AF5B-1DDD065936C6}" type="pres">
      <dgm:prSet presAssocID="{D56DB58D-6D27-40E5-97CA-1E188BE79BF8}" presName="compNode" presStyleCnt="0"/>
      <dgm:spPr/>
    </dgm:pt>
    <dgm:pt modelId="{CC46F4C8-302B-4247-8AD0-A36006051DB4}" type="pres">
      <dgm:prSet presAssocID="{D56DB58D-6D27-40E5-97CA-1E188BE79BF8}" presName="iconBgRect" presStyleLbl="bgShp" presStyleIdx="1" presStyleCnt="4"/>
      <dgm:spPr/>
    </dgm:pt>
    <dgm:pt modelId="{F19C8619-4067-4E99-8D8E-5D48149483A8}" type="pres">
      <dgm:prSet presAssocID="{D56DB58D-6D27-40E5-97CA-1E188BE79BF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otes"/>
        </a:ext>
      </dgm:extLst>
    </dgm:pt>
    <dgm:pt modelId="{895A4E01-13C8-488A-ACCC-D4A36DD30E70}" type="pres">
      <dgm:prSet presAssocID="{D56DB58D-6D27-40E5-97CA-1E188BE79BF8}" presName="spaceRect" presStyleCnt="0"/>
      <dgm:spPr/>
    </dgm:pt>
    <dgm:pt modelId="{5859268B-FAA2-4670-869D-40D1D9E92784}" type="pres">
      <dgm:prSet presAssocID="{D56DB58D-6D27-40E5-97CA-1E188BE79BF8}" presName="textRect" presStyleLbl="revTx" presStyleIdx="1" presStyleCnt="4">
        <dgm:presLayoutVars>
          <dgm:chMax val="1"/>
          <dgm:chPref val="1"/>
        </dgm:presLayoutVars>
      </dgm:prSet>
      <dgm:spPr/>
    </dgm:pt>
    <dgm:pt modelId="{AA3AE0BE-E448-40A9-BC9D-70DB343C17F3}" type="pres">
      <dgm:prSet presAssocID="{FFF9CD48-85DD-4C14-BB20-1B4E9AD900CC}" presName="sibTrans" presStyleCnt="0"/>
      <dgm:spPr/>
    </dgm:pt>
    <dgm:pt modelId="{5E1ECF7D-A36F-483B-B4EF-931B496722E5}" type="pres">
      <dgm:prSet presAssocID="{7A0595C3-16EF-4024-9E6C-CFE901E2B515}" presName="compNode" presStyleCnt="0"/>
      <dgm:spPr/>
    </dgm:pt>
    <dgm:pt modelId="{066A348E-1857-4AE2-A6A2-AA22336238B9}" type="pres">
      <dgm:prSet presAssocID="{7A0595C3-16EF-4024-9E6C-CFE901E2B515}" presName="iconBgRect" presStyleLbl="bgShp" presStyleIdx="2" presStyleCnt="4"/>
      <dgm:spPr/>
    </dgm:pt>
    <dgm:pt modelId="{3B5A3B0A-C774-4692-A59A-968A68194A23}" type="pres">
      <dgm:prSet presAssocID="{7A0595C3-16EF-4024-9E6C-CFE901E2B51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ngel Face with Solid Fill"/>
        </a:ext>
      </dgm:extLst>
    </dgm:pt>
    <dgm:pt modelId="{3FB8B94F-40D0-4E11-8AFA-4975C9ACE5D9}" type="pres">
      <dgm:prSet presAssocID="{7A0595C3-16EF-4024-9E6C-CFE901E2B515}" presName="spaceRect" presStyleCnt="0"/>
      <dgm:spPr/>
    </dgm:pt>
    <dgm:pt modelId="{47AC6D5C-42F7-41A9-A4A2-53361F4E2489}" type="pres">
      <dgm:prSet presAssocID="{7A0595C3-16EF-4024-9E6C-CFE901E2B515}" presName="textRect" presStyleLbl="revTx" presStyleIdx="2" presStyleCnt="4">
        <dgm:presLayoutVars>
          <dgm:chMax val="1"/>
          <dgm:chPref val="1"/>
        </dgm:presLayoutVars>
      </dgm:prSet>
      <dgm:spPr/>
    </dgm:pt>
    <dgm:pt modelId="{C54794BB-B3A2-43A8-BB48-0B186A1D9248}" type="pres">
      <dgm:prSet presAssocID="{F4B0619C-6785-4913-ADA7-ACBFD50DC62B}" presName="sibTrans" presStyleCnt="0"/>
      <dgm:spPr/>
    </dgm:pt>
    <dgm:pt modelId="{A864FE7A-F4D3-4D09-9DA1-49378A068BEB}" type="pres">
      <dgm:prSet presAssocID="{F579DF5D-64EA-4534-89FD-34FACCD570C3}" presName="compNode" presStyleCnt="0"/>
      <dgm:spPr/>
    </dgm:pt>
    <dgm:pt modelId="{3B51675C-F53D-4AE9-A792-7E8CAA168FEE}" type="pres">
      <dgm:prSet presAssocID="{F579DF5D-64EA-4534-89FD-34FACCD570C3}" presName="iconBgRect" presStyleLbl="bgShp" presStyleIdx="3" presStyleCnt="4"/>
      <dgm:spPr/>
    </dgm:pt>
    <dgm:pt modelId="{C731C467-F92B-4A38-9692-0682BDAD242F}" type="pres">
      <dgm:prSet presAssocID="{F579DF5D-64EA-4534-89FD-34FACCD570C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thematics"/>
        </a:ext>
      </dgm:extLst>
    </dgm:pt>
    <dgm:pt modelId="{06C8757C-A1C1-44A4-AD1F-D66D4988B3F8}" type="pres">
      <dgm:prSet presAssocID="{F579DF5D-64EA-4534-89FD-34FACCD570C3}" presName="spaceRect" presStyleCnt="0"/>
      <dgm:spPr/>
    </dgm:pt>
    <dgm:pt modelId="{AC6AB2FC-F192-4FCA-88D3-C39D4BF59339}" type="pres">
      <dgm:prSet presAssocID="{F579DF5D-64EA-4534-89FD-34FACCD570C3}" presName="textRect" presStyleLbl="revTx" presStyleIdx="3" presStyleCnt="4" custScaleX="109701">
        <dgm:presLayoutVars>
          <dgm:chMax val="1"/>
          <dgm:chPref val="1"/>
        </dgm:presLayoutVars>
      </dgm:prSet>
      <dgm:spPr/>
    </dgm:pt>
  </dgm:ptLst>
  <dgm:cxnLst>
    <dgm:cxn modelId="{20081810-6E79-4D15-9537-19F0602EEA4D}" type="presOf" srcId="{B317A547-E244-4D7D-AA82-567AB539D373}" destId="{75CB5623-A5D2-4AC4-9D38-EE37F57A8A61}" srcOrd="0" destOrd="0" presId="urn:microsoft.com/office/officeart/2018/5/layout/IconCircleLabelList"/>
    <dgm:cxn modelId="{08737420-7A15-46F1-B4AC-82CEF0908F2C}" srcId="{B317A547-E244-4D7D-AA82-567AB539D373}" destId="{D56DB58D-6D27-40E5-97CA-1E188BE79BF8}" srcOrd="1" destOrd="0" parTransId="{1BB05F96-6915-46B9-AC07-6B309114E4ED}" sibTransId="{FFF9CD48-85DD-4C14-BB20-1B4E9AD900CC}"/>
    <dgm:cxn modelId="{B2409730-4C2C-46F6-BCEB-50C8CECDC992}" type="presOf" srcId="{F579DF5D-64EA-4534-89FD-34FACCD570C3}" destId="{AC6AB2FC-F192-4FCA-88D3-C39D4BF59339}" srcOrd="0" destOrd="0" presId="urn:microsoft.com/office/officeart/2018/5/layout/IconCircleLabelList"/>
    <dgm:cxn modelId="{005CF569-EFF0-4A92-AC6A-8971E6178DEB}" type="presOf" srcId="{D56DB58D-6D27-40E5-97CA-1E188BE79BF8}" destId="{5859268B-FAA2-4670-869D-40D1D9E92784}" srcOrd="0" destOrd="0" presId="urn:microsoft.com/office/officeart/2018/5/layout/IconCircleLabelList"/>
    <dgm:cxn modelId="{634D337C-5FA9-4131-A66B-0DAFC3166BBF}" type="presOf" srcId="{9CF5748D-1FA2-4284-8F6B-0D77E0F3B54B}" destId="{BE41106D-71D2-4684-B575-07ED8AEE7B93}" srcOrd="0" destOrd="0" presId="urn:microsoft.com/office/officeart/2018/5/layout/IconCircleLabelList"/>
    <dgm:cxn modelId="{B86DECA1-E0AF-4FF0-8D63-F73783F1D786}" srcId="{B317A547-E244-4D7D-AA82-567AB539D373}" destId="{7A0595C3-16EF-4024-9E6C-CFE901E2B515}" srcOrd="2" destOrd="0" parTransId="{2502F7CC-6ECC-4594-A8D7-CAFD641FB91F}" sibTransId="{F4B0619C-6785-4913-ADA7-ACBFD50DC62B}"/>
    <dgm:cxn modelId="{3C2841AC-C853-425B-9CCF-F607CE22FBFA}" srcId="{B317A547-E244-4D7D-AA82-567AB539D373}" destId="{9CF5748D-1FA2-4284-8F6B-0D77E0F3B54B}" srcOrd="0" destOrd="0" parTransId="{B39BEE90-6C0A-408C-B883-149356FBE922}" sibTransId="{CFAB2065-0BE2-4936-910C-197B055E697C}"/>
    <dgm:cxn modelId="{D123E6B3-04BC-407C-9B00-00C0A28177A7}" srcId="{B317A547-E244-4D7D-AA82-567AB539D373}" destId="{F579DF5D-64EA-4534-89FD-34FACCD570C3}" srcOrd="3" destOrd="0" parTransId="{66EC5FE7-3FAA-4DE4-B73B-D236E4623347}" sibTransId="{D7C164B1-DE55-409A-BC37-FE78726A8F3C}"/>
    <dgm:cxn modelId="{1599AEC2-E6DA-40D0-94BA-F275C589C18B}" type="presOf" srcId="{7A0595C3-16EF-4024-9E6C-CFE901E2B515}" destId="{47AC6D5C-42F7-41A9-A4A2-53361F4E2489}" srcOrd="0" destOrd="0" presId="urn:microsoft.com/office/officeart/2018/5/layout/IconCircleLabelList"/>
    <dgm:cxn modelId="{77D8A4D9-A251-40FB-AC8C-8D9F09F9D325}" type="presParOf" srcId="{75CB5623-A5D2-4AC4-9D38-EE37F57A8A61}" destId="{1B8FDED5-CA90-41CF-BB31-F69A3F2529CD}" srcOrd="0" destOrd="0" presId="urn:microsoft.com/office/officeart/2018/5/layout/IconCircleLabelList"/>
    <dgm:cxn modelId="{552E8234-0D08-468F-BBEE-7F3765C1D430}" type="presParOf" srcId="{1B8FDED5-CA90-41CF-BB31-F69A3F2529CD}" destId="{55953309-29FB-44E5-A7E7-A5D680E75CFD}" srcOrd="0" destOrd="0" presId="urn:microsoft.com/office/officeart/2018/5/layout/IconCircleLabelList"/>
    <dgm:cxn modelId="{61099F2D-29EC-47AE-A7D7-25D44D274768}" type="presParOf" srcId="{1B8FDED5-CA90-41CF-BB31-F69A3F2529CD}" destId="{F745AAA3-62EB-427D-9F23-3FF9311AB55B}" srcOrd="1" destOrd="0" presId="urn:microsoft.com/office/officeart/2018/5/layout/IconCircleLabelList"/>
    <dgm:cxn modelId="{28D6ABAC-C600-4C38-9186-83315D531E25}" type="presParOf" srcId="{1B8FDED5-CA90-41CF-BB31-F69A3F2529CD}" destId="{37B3FC41-B7A7-47EC-993E-E7843A633A8B}" srcOrd="2" destOrd="0" presId="urn:microsoft.com/office/officeart/2018/5/layout/IconCircleLabelList"/>
    <dgm:cxn modelId="{5514AF18-5A33-452B-8318-E5ADEA745756}" type="presParOf" srcId="{1B8FDED5-CA90-41CF-BB31-F69A3F2529CD}" destId="{BE41106D-71D2-4684-B575-07ED8AEE7B93}" srcOrd="3" destOrd="0" presId="urn:microsoft.com/office/officeart/2018/5/layout/IconCircleLabelList"/>
    <dgm:cxn modelId="{A4DE10EC-AB91-4621-B942-47A5FD3900C3}" type="presParOf" srcId="{75CB5623-A5D2-4AC4-9D38-EE37F57A8A61}" destId="{04774E46-CD36-41F3-AF36-847A8A37A136}" srcOrd="1" destOrd="0" presId="urn:microsoft.com/office/officeart/2018/5/layout/IconCircleLabelList"/>
    <dgm:cxn modelId="{F7BD8B7D-09F8-46BA-9E62-00C876D1D6C3}" type="presParOf" srcId="{75CB5623-A5D2-4AC4-9D38-EE37F57A8A61}" destId="{504954B0-C62C-4DB7-AF5B-1DDD065936C6}" srcOrd="2" destOrd="0" presId="urn:microsoft.com/office/officeart/2018/5/layout/IconCircleLabelList"/>
    <dgm:cxn modelId="{41AB4DE5-6343-46C1-80EB-2DFE07EFEF90}" type="presParOf" srcId="{504954B0-C62C-4DB7-AF5B-1DDD065936C6}" destId="{CC46F4C8-302B-4247-8AD0-A36006051DB4}" srcOrd="0" destOrd="0" presId="urn:microsoft.com/office/officeart/2018/5/layout/IconCircleLabelList"/>
    <dgm:cxn modelId="{FA9C36A6-ECE3-4BDC-9A3B-838453D2B895}" type="presParOf" srcId="{504954B0-C62C-4DB7-AF5B-1DDD065936C6}" destId="{F19C8619-4067-4E99-8D8E-5D48149483A8}" srcOrd="1" destOrd="0" presId="urn:microsoft.com/office/officeart/2018/5/layout/IconCircleLabelList"/>
    <dgm:cxn modelId="{60413F33-0B94-4113-9600-76B5B032DE63}" type="presParOf" srcId="{504954B0-C62C-4DB7-AF5B-1DDD065936C6}" destId="{895A4E01-13C8-488A-ACCC-D4A36DD30E70}" srcOrd="2" destOrd="0" presId="urn:microsoft.com/office/officeart/2018/5/layout/IconCircleLabelList"/>
    <dgm:cxn modelId="{FE1060F5-8873-46E0-AAAA-7C4A5CEC1E1E}" type="presParOf" srcId="{504954B0-C62C-4DB7-AF5B-1DDD065936C6}" destId="{5859268B-FAA2-4670-869D-40D1D9E92784}" srcOrd="3" destOrd="0" presId="urn:microsoft.com/office/officeart/2018/5/layout/IconCircleLabelList"/>
    <dgm:cxn modelId="{FE038F9E-861D-4EFE-A95F-C99DE97EA7A2}" type="presParOf" srcId="{75CB5623-A5D2-4AC4-9D38-EE37F57A8A61}" destId="{AA3AE0BE-E448-40A9-BC9D-70DB343C17F3}" srcOrd="3" destOrd="0" presId="urn:microsoft.com/office/officeart/2018/5/layout/IconCircleLabelList"/>
    <dgm:cxn modelId="{E27BEDE6-B135-4549-B970-5D9DA0912B1F}" type="presParOf" srcId="{75CB5623-A5D2-4AC4-9D38-EE37F57A8A61}" destId="{5E1ECF7D-A36F-483B-B4EF-931B496722E5}" srcOrd="4" destOrd="0" presId="urn:microsoft.com/office/officeart/2018/5/layout/IconCircleLabelList"/>
    <dgm:cxn modelId="{F71D1C09-7FDB-43CA-9F95-7677EE34A87D}" type="presParOf" srcId="{5E1ECF7D-A36F-483B-B4EF-931B496722E5}" destId="{066A348E-1857-4AE2-A6A2-AA22336238B9}" srcOrd="0" destOrd="0" presId="urn:microsoft.com/office/officeart/2018/5/layout/IconCircleLabelList"/>
    <dgm:cxn modelId="{B143F8B8-423A-412E-A78B-1E1870BBC0E5}" type="presParOf" srcId="{5E1ECF7D-A36F-483B-B4EF-931B496722E5}" destId="{3B5A3B0A-C774-4692-A59A-968A68194A23}" srcOrd="1" destOrd="0" presId="urn:microsoft.com/office/officeart/2018/5/layout/IconCircleLabelList"/>
    <dgm:cxn modelId="{20F5CE3A-C427-4F5B-992E-B3723F7D78EA}" type="presParOf" srcId="{5E1ECF7D-A36F-483B-B4EF-931B496722E5}" destId="{3FB8B94F-40D0-4E11-8AFA-4975C9ACE5D9}" srcOrd="2" destOrd="0" presId="urn:microsoft.com/office/officeart/2018/5/layout/IconCircleLabelList"/>
    <dgm:cxn modelId="{5A755951-ADEA-4E7C-9DDE-F7DD48314395}" type="presParOf" srcId="{5E1ECF7D-A36F-483B-B4EF-931B496722E5}" destId="{47AC6D5C-42F7-41A9-A4A2-53361F4E2489}" srcOrd="3" destOrd="0" presId="urn:microsoft.com/office/officeart/2018/5/layout/IconCircleLabelList"/>
    <dgm:cxn modelId="{76D345EE-8EFF-492F-81AA-685A75A194E5}" type="presParOf" srcId="{75CB5623-A5D2-4AC4-9D38-EE37F57A8A61}" destId="{C54794BB-B3A2-43A8-BB48-0B186A1D9248}" srcOrd="5" destOrd="0" presId="urn:microsoft.com/office/officeart/2018/5/layout/IconCircleLabelList"/>
    <dgm:cxn modelId="{9ABF27D8-5E21-4E5E-B64D-D1A07CE8537C}" type="presParOf" srcId="{75CB5623-A5D2-4AC4-9D38-EE37F57A8A61}" destId="{A864FE7A-F4D3-4D09-9DA1-49378A068BEB}" srcOrd="6" destOrd="0" presId="urn:microsoft.com/office/officeart/2018/5/layout/IconCircleLabelList"/>
    <dgm:cxn modelId="{EB551B00-084A-44C6-BBF4-782727E2170C}" type="presParOf" srcId="{A864FE7A-F4D3-4D09-9DA1-49378A068BEB}" destId="{3B51675C-F53D-4AE9-A792-7E8CAA168FEE}" srcOrd="0" destOrd="0" presId="urn:microsoft.com/office/officeart/2018/5/layout/IconCircleLabelList"/>
    <dgm:cxn modelId="{A51B76A0-8C45-4A42-9474-B1783C2F36FB}" type="presParOf" srcId="{A864FE7A-F4D3-4D09-9DA1-49378A068BEB}" destId="{C731C467-F92B-4A38-9692-0682BDAD242F}" srcOrd="1" destOrd="0" presId="urn:microsoft.com/office/officeart/2018/5/layout/IconCircleLabelList"/>
    <dgm:cxn modelId="{E9693B52-53BE-46CC-8BA3-EF23077EDF28}" type="presParOf" srcId="{A864FE7A-F4D3-4D09-9DA1-49378A068BEB}" destId="{06C8757C-A1C1-44A4-AD1F-D66D4988B3F8}" srcOrd="2" destOrd="0" presId="urn:microsoft.com/office/officeart/2018/5/layout/IconCircleLabelList"/>
    <dgm:cxn modelId="{A8CD769C-77C6-4012-9BF8-260B1D111992}" type="presParOf" srcId="{A864FE7A-F4D3-4D09-9DA1-49378A068BEB}" destId="{AC6AB2FC-F192-4FCA-88D3-C39D4BF5933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AF6C432-9F7F-40FE-B853-4452D8BA962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76DE521-2F48-4BD6-A763-38B953DDAC6E}">
      <dgm:prSet custT="1"/>
      <dgm:spPr/>
      <dgm:t>
        <a:bodyPr/>
        <a:lstStyle/>
        <a:p>
          <a:pPr>
            <a:lnSpc>
              <a:spcPct val="100000"/>
            </a:lnSpc>
          </a:pPr>
          <a:r>
            <a:rPr lang="en-US" sz="1800" dirty="0"/>
            <a:t>See good things as “gifts.” Thinking of the good things in your life as gifts guards against taking them for granted. Try to relish and savor the gifts you’ve received.</a:t>
          </a:r>
        </a:p>
      </dgm:t>
    </dgm:pt>
    <dgm:pt modelId="{8C114831-16A8-4C81-BE88-DE600E870636}" type="parTrans" cxnId="{A354967F-73A8-485C-BD14-F272C6B49469}">
      <dgm:prSet/>
      <dgm:spPr/>
      <dgm:t>
        <a:bodyPr/>
        <a:lstStyle/>
        <a:p>
          <a:endParaRPr lang="en-US"/>
        </a:p>
      </dgm:t>
    </dgm:pt>
    <dgm:pt modelId="{F63F1A16-761D-4C7B-B9A6-433383DD2E07}" type="sibTrans" cxnId="{A354967F-73A8-485C-BD14-F272C6B49469}">
      <dgm:prSet/>
      <dgm:spPr/>
      <dgm:t>
        <a:bodyPr/>
        <a:lstStyle/>
        <a:p>
          <a:endParaRPr lang="en-US"/>
        </a:p>
      </dgm:t>
    </dgm:pt>
    <dgm:pt modelId="{4AE61882-7A35-4910-941F-8784044C318E}">
      <dgm:prSet/>
      <dgm:spPr/>
      <dgm:t>
        <a:bodyPr/>
        <a:lstStyle/>
        <a:p>
          <a:pPr>
            <a:lnSpc>
              <a:spcPct val="100000"/>
            </a:lnSpc>
          </a:pPr>
          <a:r>
            <a:rPr lang="en-US"/>
            <a:t>Savor surprises. Try to record events that were unexpected or surprising, as these tend to elicit stronger levels of gratitude.</a:t>
          </a:r>
        </a:p>
      </dgm:t>
    </dgm:pt>
    <dgm:pt modelId="{5C240199-2889-48D2-BD23-24C9249F6C3C}" type="parTrans" cxnId="{0ED5CEE7-6DF0-46BE-A22A-4566EE3853B3}">
      <dgm:prSet/>
      <dgm:spPr/>
      <dgm:t>
        <a:bodyPr/>
        <a:lstStyle/>
        <a:p>
          <a:endParaRPr lang="en-US"/>
        </a:p>
      </dgm:t>
    </dgm:pt>
    <dgm:pt modelId="{0DFE8DD4-5D88-4625-B95E-1885DEC202F6}" type="sibTrans" cxnId="{0ED5CEE7-6DF0-46BE-A22A-4566EE3853B3}">
      <dgm:prSet/>
      <dgm:spPr/>
      <dgm:t>
        <a:bodyPr/>
        <a:lstStyle/>
        <a:p>
          <a:endParaRPr lang="en-US"/>
        </a:p>
      </dgm:t>
    </dgm:pt>
    <dgm:pt modelId="{6EF758F9-AA87-46E0-A471-6E059CD22DCF}">
      <dgm:prSet/>
      <dgm:spPr/>
      <dgm:t>
        <a:bodyPr/>
        <a:lstStyle/>
        <a:p>
          <a:pPr>
            <a:lnSpc>
              <a:spcPct val="100000"/>
            </a:lnSpc>
          </a:pPr>
          <a:r>
            <a:rPr lang="en-US" dirty="0"/>
            <a:t>Revise if you repeat. Writing about some of the same people and things is OK, but zero in on a different aspect in detail.</a:t>
          </a:r>
        </a:p>
      </dgm:t>
    </dgm:pt>
    <dgm:pt modelId="{E1CE4B8F-19EE-40D9-9EED-0427D365C6A0}" type="parTrans" cxnId="{5C1DD4D7-BB25-49C9-B1C4-A0BBEC426825}">
      <dgm:prSet/>
      <dgm:spPr/>
      <dgm:t>
        <a:bodyPr/>
        <a:lstStyle/>
        <a:p>
          <a:endParaRPr lang="en-US"/>
        </a:p>
      </dgm:t>
    </dgm:pt>
    <dgm:pt modelId="{8E3DB1B9-DB40-41D6-93B3-5A9E7E405BB3}" type="sibTrans" cxnId="{5C1DD4D7-BB25-49C9-B1C4-A0BBEC426825}">
      <dgm:prSet/>
      <dgm:spPr/>
      <dgm:t>
        <a:bodyPr/>
        <a:lstStyle/>
        <a:p>
          <a:endParaRPr lang="en-US"/>
        </a:p>
      </dgm:t>
    </dgm:pt>
    <dgm:pt modelId="{35DD3A45-D162-41A9-971A-C58583462763}">
      <dgm:prSet/>
      <dgm:spPr/>
      <dgm:t>
        <a:bodyPr/>
        <a:lstStyle/>
        <a:p>
          <a:pPr>
            <a:lnSpc>
              <a:spcPct val="100000"/>
            </a:lnSpc>
          </a:pPr>
          <a:r>
            <a:rPr lang="en-US"/>
            <a:t>Write regularly. Whether you write daily or every other day, commit to a regular time to journal, then honor that commitment.</a:t>
          </a:r>
        </a:p>
      </dgm:t>
    </dgm:pt>
    <dgm:pt modelId="{804CDC5A-6C20-4C8E-8C3D-BD2A7484CA15}" type="parTrans" cxnId="{DA53871F-D583-49DE-A1A6-A3AF506D5BD5}">
      <dgm:prSet/>
      <dgm:spPr/>
      <dgm:t>
        <a:bodyPr/>
        <a:lstStyle/>
        <a:p>
          <a:endParaRPr lang="en-US"/>
        </a:p>
      </dgm:t>
    </dgm:pt>
    <dgm:pt modelId="{17169E24-CC07-42FB-A2A0-8D99110BD2DF}" type="sibTrans" cxnId="{DA53871F-D583-49DE-A1A6-A3AF506D5BD5}">
      <dgm:prSet/>
      <dgm:spPr/>
      <dgm:t>
        <a:bodyPr/>
        <a:lstStyle/>
        <a:p>
          <a:endParaRPr lang="en-US"/>
        </a:p>
      </dgm:t>
    </dgm:pt>
    <dgm:pt modelId="{77588B7B-CA30-4ED8-878B-EF396EC243DB}" type="pres">
      <dgm:prSet presAssocID="{9AF6C432-9F7F-40FE-B853-4452D8BA962E}" presName="root" presStyleCnt="0">
        <dgm:presLayoutVars>
          <dgm:dir/>
          <dgm:resizeHandles val="exact"/>
        </dgm:presLayoutVars>
      </dgm:prSet>
      <dgm:spPr/>
    </dgm:pt>
    <dgm:pt modelId="{5A499615-3670-481F-8412-3C02729EED23}" type="pres">
      <dgm:prSet presAssocID="{776DE521-2F48-4BD6-A763-38B953DDAC6E}" presName="compNode" presStyleCnt="0"/>
      <dgm:spPr/>
    </dgm:pt>
    <dgm:pt modelId="{7F993989-C8B4-4645-8F5E-642599A51182}" type="pres">
      <dgm:prSet presAssocID="{776DE521-2F48-4BD6-A763-38B953DDAC6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cking"/>
        </a:ext>
      </dgm:extLst>
    </dgm:pt>
    <dgm:pt modelId="{9244F634-339E-4407-97A1-44E9E452C6FC}" type="pres">
      <dgm:prSet presAssocID="{776DE521-2F48-4BD6-A763-38B953DDAC6E}" presName="spaceRect" presStyleCnt="0"/>
      <dgm:spPr/>
    </dgm:pt>
    <dgm:pt modelId="{37D87F84-EF26-4F40-95F8-FA1CA014897A}" type="pres">
      <dgm:prSet presAssocID="{776DE521-2F48-4BD6-A763-38B953DDAC6E}" presName="textRect" presStyleLbl="revTx" presStyleIdx="0" presStyleCnt="4">
        <dgm:presLayoutVars>
          <dgm:chMax val="1"/>
          <dgm:chPref val="1"/>
        </dgm:presLayoutVars>
      </dgm:prSet>
      <dgm:spPr/>
    </dgm:pt>
    <dgm:pt modelId="{B3DA25B0-F7B4-4EAE-A270-309B3C0E17F4}" type="pres">
      <dgm:prSet presAssocID="{F63F1A16-761D-4C7B-B9A6-433383DD2E07}" presName="sibTrans" presStyleCnt="0"/>
      <dgm:spPr/>
    </dgm:pt>
    <dgm:pt modelId="{3E896395-1386-4F94-86CA-F5B7C1B8D172}" type="pres">
      <dgm:prSet presAssocID="{4AE61882-7A35-4910-941F-8784044C318E}" presName="compNode" presStyleCnt="0"/>
      <dgm:spPr/>
    </dgm:pt>
    <dgm:pt modelId="{25A06800-DFA1-4A5D-830A-8DF81F95B8F9}" type="pres">
      <dgm:prSet presAssocID="{4AE61882-7A35-4910-941F-8784044C318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nfused Person"/>
        </a:ext>
      </dgm:extLst>
    </dgm:pt>
    <dgm:pt modelId="{63573027-1159-455B-B830-B23F8B38BB0E}" type="pres">
      <dgm:prSet presAssocID="{4AE61882-7A35-4910-941F-8784044C318E}" presName="spaceRect" presStyleCnt="0"/>
      <dgm:spPr/>
    </dgm:pt>
    <dgm:pt modelId="{DAB444B7-F4BF-429A-A737-F65D47B07192}" type="pres">
      <dgm:prSet presAssocID="{4AE61882-7A35-4910-941F-8784044C318E}" presName="textRect" presStyleLbl="revTx" presStyleIdx="1" presStyleCnt="4">
        <dgm:presLayoutVars>
          <dgm:chMax val="1"/>
          <dgm:chPref val="1"/>
        </dgm:presLayoutVars>
      </dgm:prSet>
      <dgm:spPr/>
    </dgm:pt>
    <dgm:pt modelId="{96D83461-1F07-43D1-ACDC-EFE19AF01577}" type="pres">
      <dgm:prSet presAssocID="{0DFE8DD4-5D88-4625-B95E-1885DEC202F6}" presName="sibTrans" presStyleCnt="0"/>
      <dgm:spPr/>
    </dgm:pt>
    <dgm:pt modelId="{54A50677-04A2-4E29-A579-5C219B548F03}" type="pres">
      <dgm:prSet presAssocID="{6EF758F9-AA87-46E0-A471-6E059CD22DCF}" presName="compNode" presStyleCnt="0"/>
      <dgm:spPr/>
    </dgm:pt>
    <dgm:pt modelId="{E3985737-7263-4028-9EE0-9617BA838D1C}" type="pres">
      <dgm:prSet presAssocID="{6EF758F9-AA87-46E0-A471-6E059CD22DCF}" presName="iconRect" presStyleLbl="node1" presStyleIdx="2" presStyleCnt="4" custLinFactNeighborY="437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pen Quotation Mark"/>
        </a:ext>
      </dgm:extLst>
    </dgm:pt>
    <dgm:pt modelId="{34E31830-75AA-4B32-BC14-C02CD97DAD4A}" type="pres">
      <dgm:prSet presAssocID="{6EF758F9-AA87-46E0-A471-6E059CD22DCF}" presName="spaceRect" presStyleCnt="0"/>
      <dgm:spPr/>
    </dgm:pt>
    <dgm:pt modelId="{00C0848A-6E41-4937-AD25-EAEEDB0073DF}" type="pres">
      <dgm:prSet presAssocID="{6EF758F9-AA87-46E0-A471-6E059CD22DCF}" presName="textRect" presStyleLbl="revTx" presStyleIdx="2" presStyleCnt="4">
        <dgm:presLayoutVars>
          <dgm:chMax val="1"/>
          <dgm:chPref val="1"/>
        </dgm:presLayoutVars>
      </dgm:prSet>
      <dgm:spPr/>
    </dgm:pt>
    <dgm:pt modelId="{B07FCAD9-D8E3-41F6-9B71-AE50A086EDC9}" type="pres">
      <dgm:prSet presAssocID="{8E3DB1B9-DB40-41D6-93B3-5A9E7E405BB3}" presName="sibTrans" presStyleCnt="0"/>
      <dgm:spPr/>
    </dgm:pt>
    <dgm:pt modelId="{98136564-D9AE-41E0-A080-B973F7291BF8}" type="pres">
      <dgm:prSet presAssocID="{35DD3A45-D162-41A9-971A-C58583462763}" presName="compNode" presStyleCnt="0"/>
      <dgm:spPr/>
    </dgm:pt>
    <dgm:pt modelId="{48046D06-CC9D-46A3-A39B-01E48E8BDCEB}" type="pres">
      <dgm:prSet presAssocID="{35DD3A45-D162-41A9-971A-C5858346276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encil"/>
        </a:ext>
      </dgm:extLst>
    </dgm:pt>
    <dgm:pt modelId="{5A8E23D9-33E6-4E88-8EB4-0ADC9FE3CCB6}" type="pres">
      <dgm:prSet presAssocID="{35DD3A45-D162-41A9-971A-C58583462763}" presName="spaceRect" presStyleCnt="0"/>
      <dgm:spPr/>
    </dgm:pt>
    <dgm:pt modelId="{2C47D07C-FA56-463D-9AE2-69D262A3E337}" type="pres">
      <dgm:prSet presAssocID="{35DD3A45-D162-41A9-971A-C58583462763}" presName="textRect" presStyleLbl="revTx" presStyleIdx="3" presStyleCnt="4">
        <dgm:presLayoutVars>
          <dgm:chMax val="1"/>
          <dgm:chPref val="1"/>
        </dgm:presLayoutVars>
      </dgm:prSet>
      <dgm:spPr/>
    </dgm:pt>
  </dgm:ptLst>
  <dgm:cxnLst>
    <dgm:cxn modelId="{73518907-C3D4-45C6-993C-EFC8F8A9EF9B}" type="presOf" srcId="{9AF6C432-9F7F-40FE-B853-4452D8BA962E}" destId="{77588B7B-CA30-4ED8-878B-EF396EC243DB}" srcOrd="0" destOrd="0" presId="urn:microsoft.com/office/officeart/2018/2/layout/IconLabelList"/>
    <dgm:cxn modelId="{DA53871F-D583-49DE-A1A6-A3AF506D5BD5}" srcId="{9AF6C432-9F7F-40FE-B853-4452D8BA962E}" destId="{35DD3A45-D162-41A9-971A-C58583462763}" srcOrd="3" destOrd="0" parTransId="{804CDC5A-6C20-4C8E-8C3D-BD2A7484CA15}" sibTransId="{17169E24-CC07-42FB-A2A0-8D99110BD2DF}"/>
    <dgm:cxn modelId="{3F660A6A-A69D-4351-989D-8EE9ACD3DD06}" type="presOf" srcId="{776DE521-2F48-4BD6-A763-38B953DDAC6E}" destId="{37D87F84-EF26-4F40-95F8-FA1CA014897A}" srcOrd="0" destOrd="0" presId="urn:microsoft.com/office/officeart/2018/2/layout/IconLabelList"/>
    <dgm:cxn modelId="{A354967F-73A8-485C-BD14-F272C6B49469}" srcId="{9AF6C432-9F7F-40FE-B853-4452D8BA962E}" destId="{776DE521-2F48-4BD6-A763-38B953DDAC6E}" srcOrd="0" destOrd="0" parTransId="{8C114831-16A8-4C81-BE88-DE600E870636}" sibTransId="{F63F1A16-761D-4C7B-B9A6-433383DD2E07}"/>
    <dgm:cxn modelId="{C8F9D08D-7EB7-424F-BCF6-6AF0D9D7C4E4}" type="presOf" srcId="{6EF758F9-AA87-46E0-A471-6E059CD22DCF}" destId="{00C0848A-6E41-4937-AD25-EAEEDB0073DF}" srcOrd="0" destOrd="0" presId="urn:microsoft.com/office/officeart/2018/2/layout/IconLabelList"/>
    <dgm:cxn modelId="{5C1DD4D7-BB25-49C9-B1C4-A0BBEC426825}" srcId="{9AF6C432-9F7F-40FE-B853-4452D8BA962E}" destId="{6EF758F9-AA87-46E0-A471-6E059CD22DCF}" srcOrd="2" destOrd="0" parTransId="{E1CE4B8F-19EE-40D9-9EED-0427D365C6A0}" sibTransId="{8E3DB1B9-DB40-41D6-93B3-5A9E7E405BB3}"/>
    <dgm:cxn modelId="{0ED5CEE7-6DF0-46BE-A22A-4566EE3853B3}" srcId="{9AF6C432-9F7F-40FE-B853-4452D8BA962E}" destId="{4AE61882-7A35-4910-941F-8784044C318E}" srcOrd="1" destOrd="0" parTransId="{5C240199-2889-48D2-BD23-24C9249F6C3C}" sibTransId="{0DFE8DD4-5D88-4625-B95E-1885DEC202F6}"/>
    <dgm:cxn modelId="{EA796EF6-40C0-496B-ACF8-C6ED144488E9}" type="presOf" srcId="{35DD3A45-D162-41A9-971A-C58583462763}" destId="{2C47D07C-FA56-463D-9AE2-69D262A3E337}" srcOrd="0" destOrd="0" presId="urn:microsoft.com/office/officeart/2018/2/layout/IconLabelList"/>
    <dgm:cxn modelId="{F23A6DFD-4C78-446C-A681-99E9F7D7F4DC}" type="presOf" srcId="{4AE61882-7A35-4910-941F-8784044C318E}" destId="{DAB444B7-F4BF-429A-A737-F65D47B07192}" srcOrd="0" destOrd="0" presId="urn:microsoft.com/office/officeart/2018/2/layout/IconLabelList"/>
    <dgm:cxn modelId="{25E3EE04-50E3-44D3-AD7B-6D3D9D42AB35}" type="presParOf" srcId="{77588B7B-CA30-4ED8-878B-EF396EC243DB}" destId="{5A499615-3670-481F-8412-3C02729EED23}" srcOrd="0" destOrd="0" presId="urn:microsoft.com/office/officeart/2018/2/layout/IconLabelList"/>
    <dgm:cxn modelId="{E495E1F5-2D41-4629-8682-1A7CBC2AEB2E}" type="presParOf" srcId="{5A499615-3670-481F-8412-3C02729EED23}" destId="{7F993989-C8B4-4645-8F5E-642599A51182}" srcOrd="0" destOrd="0" presId="urn:microsoft.com/office/officeart/2018/2/layout/IconLabelList"/>
    <dgm:cxn modelId="{5061F524-CFC9-4A08-965B-22335F7A793D}" type="presParOf" srcId="{5A499615-3670-481F-8412-3C02729EED23}" destId="{9244F634-339E-4407-97A1-44E9E452C6FC}" srcOrd="1" destOrd="0" presId="urn:microsoft.com/office/officeart/2018/2/layout/IconLabelList"/>
    <dgm:cxn modelId="{5E6A16CC-61E0-4699-8CC0-AA6763446C45}" type="presParOf" srcId="{5A499615-3670-481F-8412-3C02729EED23}" destId="{37D87F84-EF26-4F40-95F8-FA1CA014897A}" srcOrd="2" destOrd="0" presId="urn:microsoft.com/office/officeart/2018/2/layout/IconLabelList"/>
    <dgm:cxn modelId="{8E1ED281-C9B9-4F88-A841-1227C8B25AD3}" type="presParOf" srcId="{77588B7B-CA30-4ED8-878B-EF396EC243DB}" destId="{B3DA25B0-F7B4-4EAE-A270-309B3C0E17F4}" srcOrd="1" destOrd="0" presId="urn:microsoft.com/office/officeart/2018/2/layout/IconLabelList"/>
    <dgm:cxn modelId="{0A78019D-C5B8-443E-A9EC-341328CC32B0}" type="presParOf" srcId="{77588B7B-CA30-4ED8-878B-EF396EC243DB}" destId="{3E896395-1386-4F94-86CA-F5B7C1B8D172}" srcOrd="2" destOrd="0" presId="urn:microsoft.com/office/officeart/2018/2/layout/IconLabelList"/>
    <dgm:cxn modelId="{BD637937-91F1-42CE-8A4D-B37018C3E9AE}" type="presParOf" srcId="{3E896395-1386-4F94-86CA-F5B7C1B8D172}" destId="{25A06800-DFA1-4A5D-830A-8DF81F95B8F9}" srcOrd="0" destOrd="0" presId="urn:microsoft.com/office/officeart/2018/2/layout/IconLabelList"/>
    <dgm:cxn modelId="{8F6A954E-144C-4478-828B-52C06D015EC0}" type="presParOf" srcId="{3E896395-1386-4F94-86CA-F5B7C1B8D172}" destId="{63573027-1159-455B-B830-B23F8B38BB0E}" srcOrd="1" destOrd="0" presId="urn:microsoft.com/office/officeart/2018/2/layout/IconLabelList"/>
    <dgm:cxn modelId="{2E1D9CEC-1CA0-4694-A74D-0F79BCDB5AB8}" type="presParOf" srcId="{3E896395-1386-4F94-86CA-F5B7C1B8D172}" destId="{DAB444B7-F4BF-429A-A737-F65D47B07192}" srcOrd="2" destOrd="0" presId="urn:microsoft.com/office/officeart/2018/2/layout/IconLabelList"/>
    <dgm:cxn modelId="{FA629864-2805-425E-9D13-8A37F1D819CE}" type="presParOf" srcId="{77588B7B-CA30-4ED8-878B-EF396EC243DB}" destId="{96D83461-1F07-43D1-ACDC-EFE19AF01577}" srcOrd="3" destOrd="0" presId="urn:microsoft.com/office/officeart/2018/2/layout/IconLabelList"/>
    <dgm:cxn modelId="{9943004A-E9C9-42C9-B66C-A8990E1A8302}" type="presParOf" srcId="{77588B7B-CA30-4ED8-878B-EF396EC243DB}" destId="{54A50677-04A2-4E29-A579-5C219B548F03}" srcOrd="4" destOrd="0" presId="urn:microsoft.com/office/officeart/2018/2/layout/IconLabelList"/>
    <dgm:cxn modelId="{C6EF4CD9-AB9F-48A2-B1FB-77F1E77A9CA8}" type="presParOf" srcId="{54A50677-04A2-4E29-A579-5C219B548F03}" destId="{E3985737-7263-4028-9EE0-9617BA838D1C}" srcOrd="0" destOrd="0" presId="urn:microsoft.com/office/officeart/2018/2/layout/IconLabelList"/>
    <dgm:cxn modelId="{16C68646-84DE-4B6D-B9DC-9F6C72842318}" type="presParOf" srcId="{54A50677-04A2-4E29-A579-5C219B548F03}" destId="{34E31830-75AA-4B32-BC14-C02CD97DAD4A}" srcOrd="1" destOrd="0" presId="urn:microsoft.com/office/officeart/2018/2/layout/IconLabelList"/>
    <dgm:cxn modelId="{5C7FD7D8-2E5F-4045-8D40-3BC89BC5710E}" type="presParOf" srcId="{54A50677-04A2-4E29-A579-5C219B548F03}" destId="{00C0848A-6E41-4937-AD25-EAEEDB0073DF}" srcOrd="2" destOrd="0" presId="urn:microsoft.com/office/officeart/2018/2/layout/IconLabelList"/>
    <dgm:cxn modelId="{3DBE09BC-9020-454B-A34B-7A1ECCEB8E3F}" type="presParOf" srcId="{77588B7B-CA30-4ED8-878B-EF396EC243DB}" destId="{B07FCAD9-D8E3-41F6-9B71-AE50A086EDC9}" srcOrd="5" destOrd="0" presId="urn:microsoft.com/office/officeart/2018/2/layout/IconLabelList"/>
    <dgm:cxn modelId="{AAEA9050-6C90-4A34-A389-EDFFF840ACC2}" type="presParOf" srcId="{77588B7B-CA30-4ED8-878B-EF396EC243DB}" destId="{98136564-D9AE-41E0-A080-B973F7291BF8}" srcOrd="6" destOrd="0" presId="urn:microsoft.com/office/officeart/2018/2/layout/IconLabelList"/>
    <dgm:cxn modelId="{71BD6ED6-D844-4EC8-A96C-A2ADE672978F}" type="presParOf" srcId="{98136564-D9AE-41E0-A080-B973F7291BF8}" destId="{48046D06-CC9D-46A3-A39B-01E48E8BDCEB}" srcOrd="0" destOrd="0" presId="urn:microsoft.com/office/officeart/2018/2/layout/IconLabelList"/>
    <dgm:cxn modelId="{130DBCC1-AB10-4733-A8FB-E5E97BA2E866}" type="presParOf" srcId="{98136564-D9AE-41E0-A080-B973F7291BF8}" destId="{5A8E23D9-33E6-4E88-8EB4-0ADC9FE3CCB6}" srcOrd="1" destOrd="0" presId="urn:microsoft.com/office/officeart/2018/2/layout/IconLabelList"/>
    <dgm:cxn modelId="{2F54726B-4B35-4BAE-A946-9A02DA50A61C}" type="presParOf" srcId="{98136564-D9AE-41E0-A080-B973F7291BF8}" destId="{2C47D07C-FA56-463D-9AE2-69D262A3E33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A2012E-BB15-427E-8F04-F2DB5581848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1CFB806-99C7-443E-BBE3-5B3349141D99}">
      <dgm:prSet/>
      <dgm:spPr/>
      <dgm:t>
        <a:bodyPr/>
        <a:lstStyle/>
        <a:p>
          <a:r>
            <a:rPr lang="en-US" i="1"/>
            <a:t>The</a:t>
          </a:r>
          <a:r>
            <a:rPr lang="en-US"/>
            <a:t> </a:t>
          </a:r>
          <a:r>
            <a:rPr lang="en-US" i="1"/>
            <a:t>pleasant life</a:t>
          </a:r>
          <a:r>
            <a:rPr lang="en-US"/>
            <a:t>: Maximizing pleasurable experiences in one’s life through developing the skills to bring these about. </a:t>
          </a:r>
        </a:p>
      </dgm:t>
    </dgm:pt>
    <dgm:pt modelId="{39C4C2EC-9AB4-47D4-B42F-419BD6F68828}" type="parTrans" cxnId="{D0A3E8EB-8A1C-4E0C-86A7-337E426007D1}">
      <dgm:prSet/>
      <dgm:spPr/>
      <dgm:t>
        <a:bodyPr/>
        <a:lstStyle/>
        <a:p>
          <a:endParaRPr lang="en-US"/>
        </a:p>
      </dgm:t>
    </dgm:pt>
    <dgm:pt modelId="{4BB5BA71-53E7-4D5E-BB23-328B4B3D854E}" type="sibTrans" cxnId="{D0A3E8EB-8A1C-4E0C-86A7-337E426007D1}">
      <dgm:prSet/>
      <dgm:spPr/>
      <dgm:t>
        <a:bodyPr/>
        <a:lstStyle/>
        <a:p>
          <a:endParaRPr lang="en-US"/>
        </a:p>
      </dgm:t>
    </dgm:pt>
    <dgm:pt modelId="{E0528317-FFE7-4341-A6B3-BFAFEA6988AD}">
      <dgm:prSet/>
      <dgm:spPr/>
      <dgm:t>
        <a:bodyPr/>
        <a:lstStyle/>
        <a:p>
          <a:r>
            <a:rPr lang="en-US" i="1"/>
            <a:t>The</a:t>
          </a:r>
          <a:r>
            <a:rPr lang="en-US"/>
            <a:t> </a:t>
          </a:r>
          <a:r>
            <a:rPr lang="en-US" i="1"/>
            <a:t>good life</a:t>
          </a:r>
          <a:r>
            <a:rPr lang="en-US"/>
            <a:t>: Orchestrating one’s life to routinely engage in activities that draw on one’s personal strengths.</a:t>
          </a:r>
        </a:p>
      </dgm:t>
    </dgm:pt>
    <dgm:pt modelId="{E9EA453B-08D1-4D3B-A0AC-651AF49C1ACE}" type="parTrans" cxnId="{965F4881-F8A6-4330-AC5B-63490032BAF1}">
      <dgm:prSet/>
      <dgm:spPr/>
      <dgm:t>
        <a:bodyPr/>
        <a:lstStyle/>
        <a:p>
          <a:endParaRPr lang="en-US"/>
        </a:p>
      </dgm:t>
    </dgm:pt>
    <dgm:pt modelId="{9A9FC2FB-9D02-4976-AA21-B4966C15F122}" type="sibTrans" cxnId="{965F4881-F8A6-4330-AC5B-63490032BAF1}">
      <dgm:prSet/>
      <dgm:spPr/>
      <dgm:t>
        <a:bodyPr/>
        <a:lstStyle/>
        <a:p>
          <a:endParaRPr lang="en-US"/>
        </a:p>
      </dgm:t>
    </dgm:pt>
    <dgm:pt modelId="{B6EA1706-E4EF-4C55-9078-358FF5DA0FB7}">
      <dgm:prSet/>
      <dgm:spPr/>
      <dgm:t>
        <a:bodyPr/>
        <a:lstStyle/>
        <a:p>
          <a:r>
            <a:rPr lang="en-US" i="1"/>
            <a:t>The</a:t>
          </a:r>
          <a:r>
            <a:rPr lang="en-US"/>
            <a:t> </a:t>
          </a:r>
          <a:r>
            <a:rPr lang="en-US" i="1"/>
            <a:t>meaningful life</a:t>
          </a:r>
          <a:r>
            <a:rPr lang="en-US"/>
            <a:t>: Pursuing goals that one believes are meaningful or allow for a connection with something larger than oneself.</a:t>
          </a:r>
        </a:p>
      </dgm:t>
    </dgm:pt>
    <dgm:pt modelId="{7B717C75-53EC-445A-AA30-E6E84BCE5BBA}" type="parTrans" cxnId="{6A8C3F89-8753-44C4-A946-B982534B4249}">
      <dgm:prSet/>
      <dgm:spPr/>
      <dgm:t>
        <a:bodyPr/>
        <a:lstStyle/>
        <a:p>
          <a:endParaRPr lang="en-US"/>
        </a:p>
      </dgm:t>
    </dgm:pt>
    <dgm:pt modelId="{39E1B99D-3F91-45CF-8367-DACC3908A5D0}" type="sibTrans" cxnId="{6A8C3F89-8753-44C4-A946-B982534B4249}">
      <dgm:prSet/>
      <dgm:spPr/>
      <dgm:t>
        <a:bodyPr/>
        <a:lstStyle/>
        <a:p>
          <a:endParaRPr lang="en-US"/>
        </a:p>
      </dgm:t>
    </dgm:pt>
    <dgm:pt modelId="{04074ADA-9AEB-4775-AB29-8FE9C0E50A88}" type="pres">
      <dgm:prSet presAssocID="{05A2012E-BB15-427E-8F04-F2DB55818480}" presName="linear" presStyleCnt="0">
        <dgm:presLayoutVars>
          <dgm:animLvl val="lvl"/>
          <dgm:resizeHandles val="exact"/>
        </dgm:presLayoutVars>
      </dgm:prSet>
      <dgm:spPr/>
    </dgm:pt>
    <dgm:pt modelId="{A826AB75-AED4-4B10-98E6-1F2284D90BE2}" type="pres">
      <dgm:prSet presAssocID="{F1CFB806-99C7-443E-BBE3-5B3349141D99}" presName="parentText" presStyleLbl="node1" presStyleIdx="0" presStyleCnt="3">
        <dgm:presLayoutVars>
          <dgm:chMax val="0"/>
          <dgm:bulletEnabled val="1"/>
        </dgm:presLayoutVars>
      </dgm:prSet>
      <dgm:spPr/>
    </dgm:pt>
    <dgm:pt modelId="{1D82E0DF-3719-4217-A8FA-9522B90587BE}" type="pres">
      <dgm:prSet presAssocID="{4BB5BA71-53E7-4D5E-BB23-328B4B3D854E}" presName="spacer" presStyleCnt="0"/>
      <dgm:spPr/>
    </dgm:pt>
    <dgm:pt modelId="{B970E0E9-7EDE-4AFF-96C6-93FC3EF8552D}" type="pres">
      <dgm:prSet presAssocID="{E0528317-FFE7-4341-A6B3-BFAFEA6988AD}" presName="parentText" presStyleLbl="node1" presStyleIdx="1" presStyleCnt="3">
        <dgm:presLayoutVars>
          <dgm:chMax val="0"/>
          <dgm:bulletEnabled val="1"/>
        </dgm:presLayoutVars>
      </dgm:prSet>
      <dgm:spPr/>
    </dgm:pt>
    <dgm:pt modelId="{0844FF55-D4CB-4FBF-8DC6-540C8B356024}" type="pres">
      <dgm:prSet presAssocID="{9A9FC2FB-9D02-4976-AA21-B4966C15F122}" presName="spacer" presStyleCnt="0"/>
      <dgm:spPr/>
    </dgm:pt>
    <dgm:pt modelId="{1853970F-0539-406D-B171-66780987578C}" type="pres">
      <dgm:prSet presAssocID="{B6EA1706-E4EF-4C55-9078-358FF5DA0FB7}" presName="parentText" presStyleLbl="node1" presStyleIdx="2" presStyleCnt="3">
        <dgm:presLayoutVars>
          <dgm:chMax val="0"/>
          <dgm:bulletEnabled val="1"/>
        </dgm:presLayoutVars>
      </dgm:prSet>
      <dgm:spPr/>
    </dgm:pt>
  </dgm:ptLst>
  <dgm:cxnLst>
    <dgm:cxn modelId="{965F4881-F8A6-4330-AC5B-63490032BAF1}" srcId="{05A2012E-BB15-427E-8F04-F2DB55818480}" destId="{E0528317-FFE7-4341-A6B3-BFAFEA6988AD}" srcOrd="1" destOrd="0" parTransId="{E9EA453B-08D1-4D3B-A0AC-651AF49C1ACE}" sibTransId="{9A9FC2FB-9D02-4976-AA21-B4966C15F122}"/>
    <dgm:cxn modelId="{6A8C3F89-8753-44C4-A946-B982534B4249}" srcId="{05A2012E-BB15-427E-8F04-F2DB55818480}" destId="{B6EA1706-E4EF-4C55-9078-358FF5DA0FB7}" srcOrd="2" destOrd="0" parTransId="{7B717C75-53EC-445A-AA30-E6E84BCE5BBA}" sibTransId="{39E1B99D-3F91-45CF-8367-DACC3908A5D0}"/>
    <dgm:cxn modelId="{DFCE5997-2187-499E-BA7F-5DB86B907784}" type="presOf" srcId="{E0528317-FFE7-4341-A6B3-BFAFEA6988AD}" destId="{B970E0E9-7EDE-4AFF-96C6-93FC3EF8552D}" srcOrd="0" destOrd="0" presId="urn:microsoft.com/office/officeart/2005/8/layout/vList2"/>
    <dgm:cxn modelId="{24DFACA1-2CCE-468F-8523-CCAA09E5ABE1}" type="presOf" srcId="{05A2012E-BB15-427E-8F04-F2DB55818480}" destId="{04074ADA-9AEB-4775-AB29-8FE9C0E50A88}" srcOrd="0" destOrd="0" presId="urn:microsoft.com/office/officeart/2005/8/layout/vList2"/>
    <dgm:cxn modelId="{C27D0FC9-976C-428F-8D7D-42015024ABDB}" type="presOf" srcId="{F1CFB806-99C7-443E-BBE3-5B3349141D99}" destId="{A826AB75-AED4-4B10-98E6-1F2284D90BE2}" srcOrd="0" destOrd="0" presId="urn:microsoft.com/office/officeart/2005/8/layout/vList2"/>
    <dgm:cxn modelId="{D0A3E8EB-8A1C-4E0C-86A7-337E426007D1}" srcId="{05A2012E-BB15-427E-8F04-F2DB55818480}" destId="{F1CFB806-99C7-443E-BBE3-5B3349141D99}" srcOrd="0" destOrd="0" parTransId="{39C4C2EC-9AB4-47D4-B42F-419BD6F68828}" sibTransId="{4BB5BA71-53E7-4D5E-BB23-328B4B3D854E}"/>
    <dgm:cxn modelId="{5AA9C8EF-56B2-4174-8DE5-1E2B9B685C51}" type="presOf" srcId="{B6EA1706-E4EF-4C55-9078-358FF5DA0FB7}" destId="{1853970F-0539-406D-B171-66780987578C}" srcOrd="0" destOrd="0" presId="urn:microsoft.com/office/officeart/2005/8/layout/vList2"/>
    <dgm:cxn modelId="{8934A374-027A-403D-9DE8-66F53B57D914}" type="presParOf" srcId="{04074ADA-9AEB-4775-AB29-8FE9C0E50A88}" destId="{A826AB75-AED4-4B10-98E6-1F2284D90BE2}" srcOrd="0" destOrd="0" presId="urn:microsoft.com/office/officeart/2005/8/layout/vList2"/>
    <dgm:cxn modelId="{820F569E-ACC4-47E6-973C-ADF5E7A731BE}" type="presParOf" srcId="{04074ADA-9AEB-4775-AB29-8FE9C0E50A88}" destId="{1D82E0DF-3719-4217-A8FA-9522B90587BE}" srcOrd="1" destOrd="0" presId="urn:microsoft.com/office/officeart/2005/8/layout/vList2"/>
    <dgm:cxn modelId="{E7C8E7FB-35D8-4447-A240-4C3193231D8F}" type="presParOf" srcId="{04074ADA-9AEB-4775-AB29-8FE9C0E50A88}" destId="{B970E0E9-7EDE-4AFF-96C6-93FC3EF8552D}" srcOrd="2" destOrd="0" presId="urn:microsoft.com/office/officeart/2005/8/layout/vList2"/>
    <dgm:cxn modelId="{DC011C5B-1BC5-4E3A-A0BE-0CC3B97C0252}" type="presParOf" srcId="{04074ADA-9AEB-4775-AB29-8FE9C0E50A88}" destId="{0844FF55-D4CB-4FBF-8DC6-540C8B356024}" srcOrd="3" destOrd="0" presId="urn:microsoft.com/office/officeart/2005/8/layout/vList2"/>
    <dgm:cxn modelId="{26828D68-9871-46EB-8EED-223FA6A63EC5}" type="presParOf" srcId="{04074ADA-9AEB-4775-AB29-8FE9C0E50A88}" destId="{1853970F-0539-406D-B171-66780987578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953309-29FB-44E5-A7E7-A5D680E75CFD}">
      <dsp:nvSpPr>
        <dsp:cNvPr id="0" name=""/>
        <dsp:cNvSpPr/>
      </dsp:nvSpPr>
      <dsp:spPr>
        <a:xfrm>
          <a:off x="744700" y="415"/>
          <a:ext cx="1033664" cy="103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45AAA3-62EB-427D-9F23-3FF9311AB55B}">
      <dsp:nvSpPr>
        <dsp:cNvPr id="0" name=""/>
        <dsp:cNvSpPr/>
      </dsp:nvSpPr>
      <dsp:spPr>
        <a:xfrm>
          <a:off x="964989" y="220704"/>
          <a:ext cx="593085" cy="5930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41106D-71D2-4684-B575-07ED8AEE7B93}">
      <dsp:nvSpPr>
        <dsp:cNvPr id="0" name=""/>
        <dsp:cNvSpPr/>
      </dsp:nvSpPr>
      <dsp:spPr>
        <a:xfrm>
          <a:off x="414267" y="1144101"/>
          <a:ext cx="1694531" cy="4171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Be as specific as possible—specificity is key to fostering gratitude. “I’m grateful that my co-workers brought me soup when I was sick on Tuesday” will be more effective than “I’m grateful for my co-workers.”</a:t>
          </a:r>
        </a:p>
      </dsp:txBody>
      <dsp:txXfrm>
        <a:off x="414267" y="1144101"/>
        <a:ext cx="1694531" cy="4171043"/>
      </dsp:txXfrm>
    </dsp:sp>
    <dsp:sp modelId="{CC46F4C8-302B-4247-8AD0-A36006051DB4}">
      <dsp:nvSpPr>
        <dsp:cNvPr id="0" name=""/>
        <dsp:cNvSpPr/>
      </dsp:nvSpPr>
      <dsp:spPr>
        <a:xfrm>
          <a:off x="2735775" y="106385"/>
          <a:ext cx="1033664" cy="103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C8619-4067-4E99-8D8E-5D48149483A8}">
      <dsp:nvSpPr>
        <dsp:cNvPr id="0" name=""/>
        <dsp:cNvSpPr/>
      </dsp:nvSpPr>
      <dsp:spPr>
        <a:xfrm>
          <a:off x="2956064" y="326674"/>
          <a:ext cx="593085" cy="5930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59268B-FAA2-4670-869D-40D1D9E92784}">
      <dsp:nvSpPr>
        <dsp:cNvPr id="0" name=""/>
        <dsp:cNvSpPr/>
      </dsp:nvSpPr>
      <dsp:spPr>
        <a:xfrm>
          <a:off x="2405341" y="1462010"/>
          <a:ext cx="1694531" cy="3747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Go for depth over breadth. Elaborating in detail about a particular person or thing for which you’re grateful carries more benefits than a superficial list of many things.</a:t>
          </a:r>
        </a:p>
      </dsp:txBody>
      <dsp:txXfrm>
        <a:off x="2405341" y="1462010"/>
        <a:ext cx="1694531" cy="3747164"/>
      </dsp:txXfrm>
    </dsp:sp>
    <dsp:sp modelId="{066A348E-1857-4AE2-A6A2-AA22336238B9}">
      <dsp:nvSpPr>
        <dsp:cNvPr id="0" name=""/>
        <dsp:cNvSpPr/>
      </dsp:nvSpPr>
      <dsp:spPr>
        <a:xfrm>
          <a:off x="4726849" y="106385"/>
          <a:ext cx="1033664" cy="103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5A3B0A-C774-4692-A59A-968A68194A23}">
      <dsp:nvSpPr>
        <dsp:cNvPr id="0" name=""/>
        <dsp:cNvSpPr/>
      </dsp:nvSpPr>
      <dsp:spPr>
        <a:xfrm>
          <a:off x="4947138" y="326674"/>
          <a:ext cx="593085" cy="5930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AC6D5C-42F7-41A9-A4A2-53361F4E2489}">
      <dsp:nvSpPr>
        <dsp:cNvPr id="0" name=""/>
        <dsp:cNvSpPr/>
      </dsp:nvSpPr>
      <dsp:spPr>
        <a:xfrm>
          <a:off x="4396415" y="1462010"/>
          <a:ext cx="1694531" cy="3747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Get personal. Focusing on people to whom you are grateful has more of an impact than focusing on things for which you are grateful</a:t>
          </a:r>
          <a:r>
            <a:rPr lang="en-US" sz="1200" kern="1200" dirty="0"/>
            <a:t>.</a:t>
          </a:r>
        </a:p>
      </dsp:txBody>
      <dsp:txXfrm>
        <a:off x="4396415" y="1462010"/>
        <a:ext cx="1694531" cy="3747164"/>
      </dsp:txXfrm>
    </dsp:sp>
    <dsp:sp modelId="{3B51675C-F53D-4AE9-A792-7E8CAA168FEE}">
      <dsp:nvSpPr>
        <dsp:cNvPr id="0" name=""/>
        <dsp:cNvSpPr/>
      </dsp:nvSpPr>
      <dsp:spPr>
        <a:xfrm>
          <a:off x="6800116" y="106385"/>
          <a:ext cx="1033664" cy="10336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31C467-F92B-4A38-9692-0682BDAD242F}">
      <dsp:nvSpPr>
        <dsp:cNvPr id="0" name=""/>
        <dsp:cNvSpPr/>
      </dsp:nvSpPr>
      <dsp:spPr>
        <a:xfrm>
          <a:off x="7020405" y="326674"/>
          <a:ext cx="593085" cy="59308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6AB2FC-F192-4FCA-88D3-C39D4BF59339}">
      <dsp:nvSpPr>
        <dsp:cNvPr id="0" name=""/>
        <dsp:cNvSpPr/>
      </dsp:nvSpPr>
      <dsp:spPr>
        <a:xfrm>
          <a:off x="6387489" y="1462010"/>
          <a:ext cx="1858917" cy="3747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Try subtraction, not just addition. Consider what your life would be like without certain people or things. Be grateful for the negative outcomes you avoided, escaped, prevented, or turned into something positive—try not to take that good fortune for granted.</a:t>
          </a:r>
        </a:p>
      </dsp:txBody>
      <dsp:txXfrm>
        <a:off x="6387489" y="1462010"/>
        <a:ext cx="1858917" cy="3747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993989-C8B4-4645-8F5E-642599A51182}">
      <dsp:nvSpPr>
        <dsp:cNvPr id="0" name=""/>
        <dsp:cNvSpPr/>
      </dsp:nvSpPr>
      <dsp:spPr>
        <a:xfrm>
          <a:off x="481140" y="544772"/>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D87F84-EF26-4F40-95F8-FA1CA014897A}">
      <dsp:nvSpPr>
        <dsp:cNvPr id="0" name=""/>
        <dsp:cNvSpPr/>
      </dsp:nvSpPr>
      <dsp:spPr>
        <a:xfrm>
          <a:off x="2092" y="1951292"/>
          <a:ext cx="1741992" cy="274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See good things as “gifts.” Thinking of the good things in your life as gifts guards against taking them for granted. Try to relish and savor the gifts you’ve received.</a:t>
          </a:r>
        </a:p>
      </dsp:txBody>
      <dsp:txXfrm>
        <a:off x="2092" y="1951292"/>
        <a:ext cx="1741992" cy="2743637"/>
      </dsp:txXfrm>
    </dsp:sp>
    <dsp:sp modelId="{25A06800-DFA1-4A5D-830A-8DF81F95B8F9}">
      <dsp:nvSpPr>
        <dsp:cNvPr id="0" name=""/>
        <dsp:cNvSpPr/>
      </dsp:nvSpPr>
      <dsp:spPr>
        <a:xfrm>
          <a:off x="2527981" y="544772"/>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B444B7-F4BF-429A-A737-F65D47B07192}">
      <dsp:nvSpPr>
        <dsp:cNvPr id="0" name=""/>
        <dsp:cNvSpPr/>
      </dsp:nvSpPr>
      <dsp:spPr>
        <a:xfrm>
          <a:off x="2048933" y="1951292"/>
          <a:ext cx="1741992" cy="274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Savor surprises. Try to record events that were unexpected or surprising, as these tend to elicit stronger levels of gratitude.</a:t>
          </a:r>
        </a:p>
      </dsp:txBody>
      <dsp:txXfrm>
        <a:off x="2048933" y="1951292"/>
        <a:ext cx="1741992" cy="2743637"/>
      </dsp:txXfrm>
    </dsp:sp>
    <dsp:sp modelId="{E3985737-7263-4028-9EE0-9617BA838D1C}">
      <dsp:nvSpPr>
        <dsp:cNvPr id="0" name=""/>
        <dsp:cNvSpPr/>
      </dsp:nvSpPr>
      <dsp:spPr>
        <a:xfrm>
          <a:off x="4574822" y="579060"/>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C0848A-6E41-4937-AD25-EAEEDB0073DF}">
      <dsp:nvSpPr>
        <dsp:cNvPr id="0" name=""/>
        <dsp:cNvSpPr/>
      </dsp:nvSpPr>
      <dsp:spPr>
        <a:xfrm>
          <a:off x="4095774" y="1951292"/>
          <a:ext cx="1741992" cy="274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dirty="0"/>
            <a:t>Revise if you repeat. Writing about some of the same people and things is OK, but zero in on a different aspect in detail.</a:t>
          </a:r>
        </a:p>
      </dsp:txBody>
      <dsp:txXfrm>
        <a:off x="4095774" y="1951292"/>
        <a:ext cx="1741992" cy="2743637"/>
      </dsp:txXfrm>
    </dsp:sp>
    <dsp:sp modelId="{48046D06-CC9D-46A3-A39B-01E48E8BDCEB}">
      <dsp:nvSpPr>
        <dsp:cNvPr id="0" name=""/>
        <dsp:cNvSpPr/>
      </dsp:nvSpPr>
      <dsp:spPr>
        <a:xfrm>
          <a:off x="6621662" y="544772"/>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47D07C-FA56-463D-9AE2-69D262A3E337}">
      <dsp:nvSpPr>
        <dsp:cNvPr id="0" name=""/>
        <dsp:cNvSpPr/>
      </dsp:nvSpPr>
      <dsp:spPr>
        <a:xfrm>
          <a:off x="6142615" y="1951292"/>
          <a:ext cx="1741992" cy="27436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pPr>
          <a:r>
            <a:rPr lang="en-US" sz="1900" kern="1200"/>
            <a:t>Write regularly. Whether you write daily or every other day, commit to a regular time to journal, then honor that commitment.</a:t>
          </a:r>
        </a:p>
      </dsp:txBody>
      <dsp:txXfrm>
        <a:off x="6142615" y="1951292"/>
        <a:ext cx="1741992" cy="27436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26AB75-AED4-4B10-98E6-1F2284D90BE2}">
      <dsp:nvSpPr>
        <dsp:cNvPr id="0" name=""/>
        <dsp:cNvSpPr/>
      </dsp:nvSpPr>
      <dsp:spPr>
        <a:xfrm>
          <a:off x="0" y="113904"/>
          <a:ext cx="4697730" cy="171288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i="1" kern="1200"/>
            <a:t>The</a:t>
          </a:r>
          <a:r>
            <a:rPr lang="en-US" sz="2400" kern="1200"/>
            <a:t> </a:t>
          </a:r>
          <a:r>
            <a:rPr lang="en-US" sz="2400" i="1" kern="1200"/>
            <a:t>pleasant life</a:t>
          </a:r>
          <a:r>
            <a:rPr lang="en-US" sz="2400" kern="1200"/>
            <a:t>: Maximizing pleasurable experiences in one’s life through developing the skills to bring these about. </a:t>
          </a:r>
        </a:p>
      </dsp:txBody>
      <dsp:txXfrm>
        <a:off x="83616" y="197520"/>
        <a:ext cx="4530498" cy="1545648"/>
      </dsp:txXfrm>
    </dsp:sp>
    <dsp:sp modelId="{B970E0E9-7EDE-4AFF-96C6-93FC3EF8552D}">
      <dsp:nvSpPr>
        <dsp:cNvPr id="0" name=""/>
        <dsp:cNvSpPr/>
      </dsp:nvSpPr>
      <dsp:spPr>
        <a:xfrm>
          <a:off x="0" y="1895904"/>
          <a:ext cx="4697730" cy="1712880"/>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i="1" kern="1200"/>
            <a:t>The</a:t>
          </a:r>
          <a:r>
            <a:rPr lang="en-US" sz="2400" kern="1200"/>
            <a:t> </a:t>
          </a:r>
          <a:r>
            <a:rPr lang="en-US" sz="2400" i="1" kern="1200"/>
            <a:t>good life</a:t>
          </a:r>
          <a:r>
            <a:rPr lang="en-US" sz="2400" kern="1200"/>
            <a:t>: Orchestrating one’s life to routinely engage in activities that draw on one’s personal strengths.</a:t>
          </a:r>
        </a:p>
      </dsp:txBody>
      <dsp:txXfrm>
        <a:off x="83616" y="1979520"/>
        <a:ext cx="4530498" cy="1545648"/>
      </dsp:txXfrm>
    </dsp:sp>
    <dsp:sp modelId="{1853970F-0539-406D-B171-66780987578C}">
      <dsp:nvSpPr>
        <dsp:cNvPr id="0" name=""/>
        <dsp:cNvSpPr/>
      </dsp:nvSpPr>
      <dsp:spPr>
        <a:xfrm>
          <a:off x="0" y="3677904"/>
          <a:ext cx="4697730" cy="1712880"/>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i="1" kern="1200"/>
            <a:t>The</a:t>
          </a:r>
          <a:r>
            <a:rPr lang="en-US" sz="2400" kern="1200"/>
            <a:t> </a:t>
          </a:r>
          <a:r>
            <a:rPr lang="en-US" sz="2400" i="1" kern="1200"/>
            <a:t>meaningful life</a:t>
          </a:r>
          <a:r>
            <a:rPr lang="en-US" sz="2400" kern="1200"/>
            <a:t>: Pursuing goals that one believes are meaningful or allow for a connection with something larger than oneself.</a:t>
          </a:r>
        </a:p>
      </dsp:txBody>
      <dsp:txXfrm>
        <a:off x="83616" y="3761520"/>
        <a:ext cx="4530498" cy="154564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dirty="0"/>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1/8/2025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dirty="0"/>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12</a:t>
            </a:fld>
            <a:endParaRPr lang="en-US" dirty="0"/>
          </a:p>
        </p:txBody>
      </p:sp>
    </p:spTree>
    <p:extLst>
      <p:ext uri="{BB962C8B-B14F-4D97-AF65-F5344CB8AC3E}">
        <p14:creationId xmlns:p14="http://schemas.microsoft.com/office/powerpoint/2010/main" val="147566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13</a:t>
            </a:fld>
            <a:endParaRPr lang="en-US" dirty="0"/>
          </a:p>
        </p:txBody>
      </p:sp>
    </p:spTree>
    <p:extLst>
      <p:ext uri="{BB962C8B-B14F-4D97-AF65-F5344CB8AC3E}">
        <p14:creationId xmlns:p14="http://schemas.microsoft.com/office/powerpoint/2010/main" val="1265106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14</a:t>
            </a:fld>
            <a:endParaRPr lang="en-US" dirty="0"/>
          </a:p>
        </p:txBody>
      </p:sp>
    </p:spTree>
    <p:extLst>
      <p:ext uri="{BB962C8B-B14F-4D97-AF65-F5344CB8AC3E}">
        <p14:creationId xmlns:p14="http://schemas.microsoft.com/office/powerpoint/2010/main" val="17815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lumMod val="20000"/>
            <a:lumOff val="80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5"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tint val="7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greatergood.berkeley.edu/quizzes/take_quiz/gratitude"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bin"/><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www.ted.com/talks/sam_berns_my_philosophy_for_a_happy_life" TargetMode="External"/><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4426AB7-D619-4515-962A-BC83909EC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434E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E47DF98-723F-4AAC-ABCF-CACBC438F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880" y="256540"/>
            <a:ext cx="8778240" cy="63652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EA29FC7C-9308-4FDE-8DCA-405668055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1700" y="5768204"/>
            <a:ext cx="4800600" cy="0"/>
          </a:xfrm>
          <a:prstGeom prst="line">
            <a:avLst/>
          </a:prstGeom>
          <a:ln>
            <a:solidFill>
              <a:srgbClr val="434E3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2485" y="4277356"/>
            <a:ext cx="7475220" cy="1560320"/>
          </a:xfrm>
        </p:spPr>
        <p:txBody>
          <a:bodyPr vert="horz" lIns="91440" tIns="45720" rIns="91440" bIns="45720" rtlCol="0" anchor="b">
            <a:normAutofit/>
          </a:bodyPr>
          <a:lstStyle/>
          <a:p>
            <a:r>
              <a:rPr lang="en-US" sz="5000">
                <a:solidFill>
                  <a:srgbClr val="434E36"/>
                </a:solidFill>
              </a:rPr>
              <a:t>Chapter 1</a:t>
            </a:r>
          </a:p>
        </p:txBody>
      </p:sp>
      <p:sp>
        <p:nvSpPr>
          <p:cNvPr id="3" name="Text Placeholder 2"/>
          <p:cNvSpPr>
            <a:spLocks noGrp="1"/>
          </p:cNvSpPr>
          <p:nvPr>
            <p:ph type="body" idx="1"/>
          </p:nvPr>
        </p:nvSpPr>
        <p:spPr>
          <a:xfrm>
            <a:off x="1282147" y="5799489"/>
            <a:ext cx="6575895" cy="440822"/>
          </a:xfrm>
        </p:spPr>
        <p:txBody>
          <a:bodyPr vert="horz" lIns="91440" tIns="45720" rIns="91440" bIns="45720" rtlCol="0">
            <a:normAutofit/>
          </a:bodyPr>
          <a:lstStyle/>
          <a:p>
            <a:r>
              <a:rPr lang="en-US" sz="1700">
                <a:solidFill>
                  <a:srgbClr val="434E36"/>
                </a:solidFill>
              </a:rPr>
              <a:t>What Is Positive Psychology and Why Do We Need It? </a:t>
            </a:r>
          </a:p>
        </p:txBody>
      </p:sp>
      <p:pic>
        <p:nvPicPr>
          <p:cNvPr id="5" name="Picture 4">
            <a:extLst>
              <a:ext uri="{FF2B5EF4-FFF2-40B4-BE49-F238E27FC236}">
                <a16:creationId xmlns:a16="http://schemas.microsoft.com/office/drawing/2014/main" id="{A8BA6BCD-E491-4AB8-A1D7-5392BB7AC8FD}"/>
              </a:ext>
            </a:extLst>
          </p:cNvPr>
          <p:cNvPicPr>
            <a:picLocks noChangeAspect="1"/>
          </p:cNvPicPr>
          <p:nvPr/>
        </p:nvPicPr>
        <p:blipFill rotWithShape="1">
          <a:blip r:embed="rId2"/>
          <a:srcRect t="22016" r="2" b="8821"/>
          <a:stretch/>
        </p:blipFill>
        <p:spPr>
          <a:xfrm>
            <a:off x="182880" y="256540"/>
            <a:ext cx="8778240" cy="3764276"/>
          </a:xfrm>
          <a:prstGeom prst="rect">
            <a:avLst/>
          </a:prstGeom>
        </p:spPr>
      </p:pic>
      <p:sp>
        <p:nvSpPr>
          <p:cNvPr id="4" name="Footer Placeholder 3"/>
          <p:cNvSpPr>
            <a:spLocks noGrp="1"/>
          </p:cNvSpPr>
          <p:nvPr>
            <p:ph type="ftr" sz="quarter" idx="10"/>
          </p:nvPr>
        </p:nvSpPr>
        <p:spPr>
          <a:xfrm>
            <a:off x="3028950" y="6259585"/>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rgbClr val="434E36"/>
                </a:solidFill>
                <a:latin typeface="Calibri" panose="020F0502020204030204"/>
                <a:ea typeface="+mn-ea"/>
                <a:cs typeface="+mn-cs"/>
              </a:rPr>
              <a:t>The Science and Application of Positive Psychology </a:t>
            </a:r>
            <a:br>
              <a:rPr lang="en-US" sz="900" kern="1200">
                <a:solidFill>
                  <a:srgbClr val="434E36"/>
                </a:solidFill>
                <a:latin typeface="Calibri" panose="020F0502020204030204"/>
                <a:ea typeface="+mn-ea"/>
                <a:cs typeface="+mn-cs"/>
              </a:rPr>
            </a:br>
            <a:r>
              <a:rPr lang="en-US" sz="900" kern="1200">
                <a:solidFill>
                  <a:srgbClr val="434E36"/>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417722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5557" y="634181"/>
            <a:ext cx="4939868" cy="1286160"/>
          </a:xfrm>
        </p:spPr>
        <p:txBody>
          <a:bodyPr anchor="b">
            <a:normAutofit/>
          </a:bodyPr>
          <a:lstStyle/>
          <a:p>
            <a:r>
              <a:rPr lang="en-US" sz="4100" dirty="0"/>
              <a:t>What is positive psychology?</a:t>
            </a:r>
          </a:p>
        </p:txBody>
      </p:sp>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8B7650"/>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pic>
        <p:nvPicPr>
          <p:cNvPr id="5" name="Picture 4">
            <a:extLst>
              <a:ext uri="{FF2B5EF4-FFF2-40B4-BE49-F238E27FC236}">
                <a16:creationId xmlns:a16="http://schemas.microsoft.com/office/drawing/2014/main" id="{CF7DFDC8-1562-1E43-E94F-6D293D8ACFD5}"/>
              </a:ext>
            </a:extLst>
          </p:cNvPr>
          <p:cNvPicPr>
            <a:picLocks noChangeAspect="1"/>
          </p:cNvPicPr>
          <p:nvPr/>
        </p:nvPicPr>
        <p:blipFill>
          <a:blip r:embed="rId2"/>
          <a:stretch>
            <a:fillRect/>
          </a:stretch>
        </p:blipFill>
        <p:spPr>
          <a:xfrm>
            <a:off x="1347767" y="2115117"/>
            <a:ext cx="7038588" cy="3769121"/>
          </a:xfrm>
          <a:prstGeom prst="rect">
            <a:avLst/>
          </a:prstGeom>
        </p:spPr>
      </p:pic>
      <p:sp>
        <p:nvSpPr>
          <p:cNvPr id="7" name="TextBox 6">
            <a:extLst>
              <a:ext uri="{FF2B5EF4-FFF2-40B4-BE49-F238E27FC236}">
                <a16:creationId xmlns:a16="http://schemas.microsoft.com/office/drawing/2014/main" id="{8914D8CD-F411-4FE5-1E00-7A5999B2E8D1}"/>
              </a:ext>
            </a:extLst>
          </p:cNvPr>
          <p:cNvSpPr txBox="1"/>
          <p:nvPr/>
        </p:nvSpPr>
        <p:spPr>
          <a:xfrm flipH="1">
            <a:off x="4767942" y="634180"/>
            <a:ext cx="4127863" cy="1384995"/>
          </a:xfrm>
          <a:prstGeom prst="rect">
            <a:avLst/>
          </a:prstGeom>
          <a:noFill/>
        </p:spPr>
        <p:txBody>
          <a:bodyPr wrap="square" rtlCol="0">
            <a:spAutoFit/>
          </a:bodyPr>
          <a:lstStyle/>
          <a:p>
            <a:r>
              <a:rPr lang="en-US" sz="2800" i="1" dirty="0">
                <a:solidFill>
                  <a:schemeClr val="accent5"/>
                </a:solidFill>
              </a:rPr>
              <a:t>Positive psychology</a:t>
            </a:r>
            <a:r>
              <a:rPr lang="en-US" sz="2800" dirty="0">
                <a:solidFill>
                  <a:schemeClr val="accent5"/>
                </a:solidFill>
              </a:rPr>
              <a:t>: The scientific study of optimal human functioning</a:t>
            </a:r>
            <a:r>
              <a:rPr lang="en-US" sz="1800" dirty="0">
                <a:solidFill>
                  <a:schemeClr val="accent5"/>
                </a:solidFill>
              </a:rPr>
              <a:t>.</a:t>
            </a:r>
          </a:p>
        </p:txBody>
      </p:sp>
    </p:spTree>
    <p:extLst>
      <p:ext uri="{BB962C8B-B14F-4D97-AF65-F5344CB8AC3E}">
        <p14:creationId xmlns:p14="http://schemas.microsoft.com/office/powerpoint/2010/main" val="151950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077724" y="-2401326"/>
            <a:ext cx="1354979" cy="8062627"/>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p:cNvPicPr>
            <a:picLocks noChangeAspect="1"/>
          </p:cNvPicPr>
          <p:nvPr/>
        </p:nvPicPr>
        <p:blipFill>
          <a:blip r:embed="rId2"/>
          <a:stretch>
            <a:fillRect/>
          </a:stretch>
        </p:blipFill>
        <p:spPr>
          <a:xfrm>
            <a:off x="965200" y="3081338"/>
            <a:ext cx="4899025" cy="2579688"/>
          </a:xfrm>
          <a:prstGeom prst="rect">
            <a:avLst/>
          </a:prstGeom>
        </p:spPr>
      </p:pic>
      <p:pic>
        <p:nvPicPr>
          <p:cNvPr id="5" name="Content Placeholder 4" descr="&quot;The HAPPINESS of your life depends upon the quality of YO… | Flick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32488" y="3081338"/>
            <a:ext cx="2579688" cy="2579688"/>
          </a:xfrm>
        </p:spPr>
      </p:pic>
      <p:sp>
        <p:nvSpPr>
          <p:cNvPr id="2" name="Title 1"/>
          <p:cNvSpPr>
            <a:spLocks noGrp="1"/>
          </p:cNvSpPr>
          <p:nvPr>
            <p:ph type="title"/>
          </p:nvPr>
        </p:nvSpPr>
        <p:spPr>
          <a:xfrm>
            <a:off x="965199" y="1204109"/>
            <a:ext cx="7517548" cy="857894"/>
          </a:xfrm>
        </p:spPr>
        <p:txBody>
          <a:bodyPr>
            <a:normAutofit/>
          </a:bodyPr>
          <a:lstStyle/>
          <a:p>
            <a:r>
              <a:rPr lang="en-US" sz="3500">
                <a:solidFill>
                  <a:srgbClr val="FFFFFF"/>
                </a:solidFill>
              </a:rPr>
              <a:t>Words of Wisdom…</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prstClr val="black">
                    <a:tint val="75000"/>
                  </a:prstClr>
                </a:solidFill>
              </a:rPr>
              <a:t>The Science of Positive Psychology © Cambridge University Press 2021</a:t>
            </a:r>
          </a:p>
        </p:txBody>
      </p:sp>
    </p:spTree>
    <p:extLst>
      <p:ext uri="{BB962C8B-B14F-4D97-AF65-F5344CB8AC3E}">
        <p14:creationId xmlns:p14="http://schemas.microsoft.com/office/powerpoint/2010/main" val="2796949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3383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FCB0847-C689-A9C0-51AC-706BFD1F5673}"/>
              </a:ext>
            </a:extLst>
          </p:cNvPr>
          <p:cNvPicPr>
            <a:picLocks noChangeAspect="1"/>
          </p:cNvPicPr>
          <p:nvPr/>
        </p:nvPicPr>
        <p:blipFill>
          <a:blip r:embed="rId2"/>
          <a:stretch>
            <a:fillRect/>
          </a:stretch>
        </p:blipFill>
        <p:spPr>
          <a:xfrm>
            <a:off x="1786466" y="643467"/>
            <a:ext cx="5571066" cy="5571066"/>
          </a:xfrm>
          <a:prstGeom prst="rect">
            <a:avLst/>
          </a:prstGeom>
        </p:spPr>
      </p:pic>
      <p:sp>
        <p:nvSpPr>
          <p:cNvPr id="4" name="Footer Placeholder 3">
            <a:extLst>
              <a:ext uri="{FF2B5EF4-FFF2-40B4-BE49-F238E27FC236}">
                <a16:creationId xmlns:a16="http://schemas.microsoft.com/office/drawing/2014/main" id="{33FB8A6A-FA89-B896-CE1F-C9565E563084}"/>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284225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8BEE-0288-93C5-63E6-3C4DCF5FE20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0B5B61E-4477-1832-C751-88322308A05A}"/>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B1F888DB-4D53-1016-EEB8-D987CEC11397}"/>
              </a:ext>
            </a:extLst>
          </p:cNvPr>
          <p:cNvSpPr>
            <a:spLocks noGrp="1"/>
          </p:cNvSpPr>
          <p:nvPr>
            <p:ph type="ftr" sz="quarter" idx="10"/>
          </p:nvPr>
        </p:nvSpPr>
        <p:spPr/>
        <p:txBody>
          <a:bodyPr/>
          <a:lstStyle/>
          <a:p>
            <a:r>
              <a:rPr lang="en-US"/>
              <a:t>The Science of Positive Psychology © Cambridge University Press 2021</a:t>
            </a:r>
            <a:endParaRPr lang="en-US" dirty="0"/>
          </a:p>
        </p:txBody>
      </p:sp>
      <p:pic>
        <p:nvPicPr>
          <p:cNvPr id="5" name="Picture 4">
            <a:extLst>
              <a:ext uri="{FF2B5EF4-FFF2-40B4-BE49-F238E27FC236}">
                <a16:creationId xmlns:a16="http://schemas.microsoft.com/office/drawing/2014/main" id="{FB8DE785-1C5F-1E5D-20AC-5E93A306DD4A}"/>
              </a:ext>
            </a:extLst>
          </p:cNvPr>
          <p:cNvPicPr>
            <a:picLocks noChangeAspect="1"/>
          </p:cNvPicPr>
          <p:nvPr/>
        </p:nvPicPr>
        <p:blipFill>
          <a:blip r:embed="rId2"/>
          <a:srcRect/>
          <a:stretch/>
        </p:blipFill>
        <p:spPr>
          <a:xfrm>
            <a:off x="20" y="10"/>
            <a:ext cx="12191980" cy="6857990"/>
          </a:xfrm>
          <a:prstGeom prst="rect">
            <a:avLst/>
          </a:prstGeom>
        </p:spPr>
      </p:pic>
    </p:spTree>
    <p:extLst>
      <p:ext uri="{BB962C8B-B14F-4D97-AF65-F5344CB8AC3E}">
        <p14:creationId xmlns:p14="http://schemas.microsoft.com/office/powerpoint/2010/main" val="2279424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Gratitude?</a:t>
            </a:r>
          </a:p>
        </p:txBody>
      </p:sp>
      <p:sp>
        <p:nvSpPr>
          <p:cNvPr id="3" name="Content Placeholder 2"/>
          <p:cNvSpPr>
            <a:spLocks noGrp="1"/>
          </p:cNvSpPr>
          <p:nvPr>
            <p:ph idx="1"/>
          </p:nvPr>
        </p:nvSpPr>
        <p:spPr>
          <a:xfrm>
            <a:off x="740569" y="1690692"/>
            <a:ext cx="5895362" cy="3896154"/>
          </a:xfrm>
        </p:spPr>
        <p:txBody>
          <a:bodyPr>
            <a:normAutofit fontScale="92500" lnSpcReduction="20000"/>
          </a:bodyPr>
          <a:lstStyle/>
          <a:p>
            <a:r>
              <a:rPr lang="en-US" dirty="0"/>
              <a:t>Robert Emmons, leading scientific expert on gratitude</a:t>
            </a:r>
          </a:p>
          <a:p>
            <a:r>
              <a:rPr lang="en-US" dirty="0"/>
              <a:t>2 Key Components to Gratitude</a:t>
            </a:r>
          </a:p>
          <a:p>
            <a:pPr lvl="1"/>
            <a:r>
              <a:rPr lang="en-US" dirty="0"/>
              <a:t>1. It’s an affirmation of goodness. We affirm that there are good things in the world, gifts and benefits we’ve received</a:t>
            </a:r>
          </a:p>
          <a:p>
            <a:pPr lvl="2"/>
            <a:r>
              <a:rPr lang="en-US" dirty="0"/>
              <a:t>Does not ignore complaints, burdens or hassles</a:t>
            </a:r>
          </a:p>
          <a:p>
            <a:pPr lvl="1"/>
            <a:r>
              <a:rPr lang="en-US" dirty="0"/>
              <a:t>2. Figuring out where that goodness comes from…outside of ourselves. True gratitude involves a humble dependence on others…we acknowledge that other people (or higher powers) give us many gifts to help us achieve the goodness in our lives</a:t>
            </a:r>
          </a:p>
          <a:p>
            <a:pPr lvl="1"/>
            <a:endParaRPr lang="en-US" dirty="0"/>
          </a:p>
        </p:txBody>
      </p:sp>
      <p:sp>
        <p:nvSpPr>
          <p:cNvPr id="4" name="TextBox 3"/>
          <p:cNvSpPr txBox="1"/>
          <p:nvPr/>
        </p:nvSpPr>
        <p:spPr>
          <a:xfrm>
            <a:off x="2410692" y="5586845"/>
            <a:ext cx="5997287" cy="300082"/>
          </a:xfrm>
          <a:prstGeom prst="rect">
            <a:avLst/>
          </a:prstGeom>
          <a:noFill/>
        </p:spPr>
        <p:txBody>
          <a:bodyPr wrap="square" rtlCol="0">
            <a:spAutoFit/>
          </a:bodyPr>
          <a:lstStyle/>
          <a:p>
            <a:r>
              <a:rPr lang="en-US" sz="1350" dirty="0"/>
              <a:t>http://greatergood.berkeley.edu/article/item/why_gratitude_is_good</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7850" y="2688650"/>
            <a:ext cx="2143125" cy="1900238"/>
          </a:xfrm>
          <a:prstGeom prst="rect">
            <a:avLst/>
          </a:prstGeom>
        </p:spPr>
      </p:pic>
    </p:spTree>
    <p:extLst>
      <p:ext uri="{BB962C8B-B14F-4D97-AF65-F5344CB8AC3E}">
        <p14:creationId xmlns:p14="http://schemas.microsoft.com/office/powerpoint/2010/main" val="202992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BEE7-03FD-46E8-8918-B57C4EDD124A}"/>
              </a:ext>
            </a:extLst>
          </p:cNvPr>
          <p:cNvSpPr>
            <a:spLocks noGrp="1"/>
          </p:cNvSpPr>
          <p:nvPr>
            <p:ph type="title"/>
          </p:nvPr>
        </p:nvSpPr>
        <p:spPr>
          <a:xfrm>
            <a:off x="628650" y="365128"/>
            <a:ext cx="7886700" cy="1325563"/>
          </a:xfrm>
        </p:spPr>
        <p:txBody>
          <a:bodyPr anchor="ctr">
            <a:normAutofit/>
          </a:bodyPr>
          <a:lstStyle/>
          <a:p>
            <a:r>
              <a:rPr lang="en-US"/>
              <a:t>Journal Entry #1  </a:t>
            </a:r>
            <a:br>
              <a:rPr lang="en-US"/>
            </a:br>
            <a:r>
              <a:rPr lang="en-US"/>
              <a:t>“Gratitude Quiz”</a:t>
            </a:r>
          </a:p>
        </p:txBody>
      </p:sp>
      <p:sp>
        <p:nvSpPr>
          <p:cNvPr id="3" name="Content Placeholder 2">
            <a:extLst>
              <a:ext uri="{FF2B5EF4-FFF2-40B4-BE49-F238E27FC236}">
                <a16:creationId xmlns:a16="http://schemas.microsoft.com/office/drawing/2014/main" id="{B96C7C5B-5A00-441F-977E-CD8EE6D26ADD}"/>
              </a:ext>
            </a:extLst>
          </p:cNvPr>
          <p:cNvSpPr>
            <a:spLocks noGrp="1"/>
          </p:cNvSpPr>
          <p:nvPr>
            <p:ph idx="1"/>
          </p:nvPr>
        </p:nvSpPr>
        <p:spPr>
          <a:xfrm>
            <a:off x="628650" y="1825625"/>
            <a:ext cx="3848100" cy="4351338"/>
          </a:xfrm>
        </p:spPr>
        <p:txBody>
          <a:bodyPr>
            <a:normAutofit/>
          </a:bodyPr>
          <a:lstStyle/>
          <a:p>
            <a:pPr marL="0" indent="0">
              <a:buNone/>
            </a:pPr>
            <a:r>
              <a:rPr lang="en-US" dirty="0">
                <a:hlinkClick r:id="rId2"/>
              </a:rPr>
              <a:t>https://greatergood.berkeley.edu/quizzes/take_quiz/gratitude</a:t>
            </a:r>
            <a:endParaRPr lang="en-US" dirty="0"/>
          </a:p>
        </p:txBody>
      </p:sp>
      <p:sp>
        <p:nvSpPr>
          <p:cNvPr id="21" name="Footer Placeholder 3">
            <a:extLst>
              <a:ext uri="{FF2B5EF4-FFF2-40B4-BE49-F238E27FC236}">
                <a16:creationId xmlns:a16="http://schemas.microsoft.com/office/drawing/2014/main" id="{7B224618-1323-B5D5-C600-2EE10FD2CE6F}"/>
              </a:ext>
            </a:extLst>
          </p:cNvPr>
          <p:cNvSpPr>
            <a:spLocks noGrp="1"/>
          </p:cNvSpPr>
          <p:nvPr>
            <p:ph type="ftr" sz="quarter" idx="11"/>
          </p:nvPr>
        </p:nvSpPr>
        <p:spPr>
          <a:xfrm>
            <a:off x="2002155" y="6447131"/>
            <a:ext cx="5139690" cy="276999"/>
          </a:xfrm>
        </p:spPr>
        <p:txBody>
          <a:bodyPr/>
          <a:lstStyle/>
          <a:p>
            <a:pPr>
              <a:spcAft>
                <a:spcPts val="600"/>
              </a:spcAft>
            </a:pPr>
            <a:r>
              <a:rPr lang="en-US"/>
              <a:t>The Science of Positive Psychology © Cambridge University Press 2021</a:t>
            </a:r>
          </a:p>
        </p:txBody>
      </p:sp>
      <p:pic>
        <p:nvPicPr>
          <p:cNvPr id="16" name="Picture 15" descr="Writing an appointment on a paper agenda">
            <a:extLst>
              <a:ext uri="{FF2B5EF4-FFF2-40B4-BE49-F238E27FC236}">
                <a16:creationId xmlns:a16="http://schemas.microsoft.com/office/drawing/2014/main" id="{F62AEB5F-0ACA-39B5-57E7-95B8A89CDDD9}"/>
              </a:ext>
            </a:extLst>
          </p:cNvPr>
          <p:cNvPicPr>
            <a:picLocks noChangeAspect="1"/>
          </p:cNvPicPr>
          <p:nvPr/>
        </p:nvPicPr>
        <p:blipFill rotWithShape="1">
          <a:blip r:embed="rId3"/>
          <a:srcRect r="40969" b="-1"/>
          <a:stretch/>
        </p:blipFill>
        <p:spPr>
          <a:xfrm>
            <a:off x="4667250" y="1825625"/>
            <a:ext cx="3848100" cy="4351338"/>
          </a:xfrm>
          <a:prstGeom prst="rect">
            <a:avLst/>
          </a:prstGeom>
          <a:noFill/>
        </p:spPr>
      </p:pic>
    </p:spTree>
    <p:extLst>
      <p:ext uri="{BB962C8B-B14F-4D97-AF65-F5344CB8AC3E}">
        <p14:creationId xmlns:p14="http://schemas.microsoft.com/office/powerpoint/2010/main" val="404827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146AC-697E-5761-A17F-71B7273B9742}"/>
              </a:ext>
            </a:extLst>
          </p:cNvPr>
          <p:cNvSpPr>
            <a:spLocks noGrp="1"/>
          </p:cNvSpPr>
          <p:nvPr>
            <p:ph type="title"/>
          </p:nvPr>
        </p:nvSpPr>
        <p:spPr>
          <a:xfrm>
            <a:off x="628650" y="170818"/>
            <a:ext cx="7886700" cy="960752"/>
          </a:xfrm>
        </p:spPr>
        <p:txBody>
          <a:bodyPr/>
          <a:lstStyle/>
          <a:p>
            <a:pPr algn="ctr"/>
            <a:r>
              <a:rPr lang="en-US" dirty="0">
                <a:solidFill>
                  <a:schemeClr val="accent5"/>
                </a:solidFill>
              </a:rPr>
              <a:t>Gratitude Journaling</a:t>
            </a:r>
          </a:p>
        </p:txBody>
      </p:sp>
      <p:graphicFrame>
        <p:nvGraphicFramePr>
          <p:cNvPr id="7" name="Content Placeholder 2">
            <a:extLst>
              <a:ext uri="{FF2B5EF4-FFF2-40B4-BE49-F238E27FC236}">
                <a16:creationId xmlns:a16="http://schemas.microsoft.com/office/drawing/2014/main" id="{656A85AC-4271-9CDD-84D1-6FA1A01353AC}"/>
              </a:ext>
            </a:extLst>
          </p:cNvPr>
          <p:cNvGraphicFramePr>
            <a:graphicFrameLocks noGrp="1"/>
          </p:cNvGraphicFramePr>
          <p:nvPr>
            <p:ph idx="1"/>
            <p:extLst>
              <p:ext uri="{D42A27DB-BD31-4B8C-83A1-F6EECF244321}">
                <p14:modId xmlns:p14="http://schemas.microsoft.com/office/powerpoint/2010/main" val="1997268631"/>
              </p:ext>
            </p:extLst>
          </p:nvPr>
        </p:nvGraphicFramePr>
        <p:xfrm>
          <a:off x="326571" y="1131570"/>
          <a:ext cx="8660675" cy="5315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88FD47EA-5554-BC3D-07CF-7D57570CAEC5}"/>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3305213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50D8B-2E72-FCDF-1BB7-8FD8B02087AA}"/>
              </a:ext>
            </a:extLst>
          </p:cNvPr>
          <p:cNvSpPr>
            <a:spLocks noGrp="1"/>
          </p:cNvSpPr>
          <p:nvPr>
            <p:ph type="title"/>
          </p:nvPr>
        </p:nvSpPr>
        <p:spPr/>
        <p:txBody>
          <a:bodyPr/>
          <a:lstStyle/>
          <a:p>
            <a:pPr algn="ctr"/>
            <a:r>
              <a:rPr lang="en-US" dirty="0">
                <a:solidFill>
                  <a:schemeClr val="accent5"/>
                </a:solidFill>
              </a:rPr>
              <a:t>Gratitude Journaling </a:t>
            </a:r>
          </a:p>
        </p:txBody>
      </p:sp>
      <p:graphicFrame>
        <p:nvGraphicFramePr>
          <p:cNvPr id="6" name="Content Placeholder 2">
            <a:extLst>
              <a:ext uri="{FF2B5EF4-FFF2-40B4-BE49-F238E27FC236}">
                <a16:creationId xmlns:a16="http://schemas.microsoft.com/office/drawing/2014/main" id="{31FAE6E7-0B85-F813-4BF0-0801E1D9C3AA}"/>
              </a:ext>
            </a:extLst>
          </p:cNvPr>
          <p:cNvGraphicFramePr>
            <a:graphicFrameLocks noGrp="1"/>
          </p:cNvGraphicFramePr>
          <p:nvPr>
            <p:ph idx="1"/>
            <p:extLst>
              <p:ext uri="{D42A27DB-BD31-4B8C-83A1-F6EECF244321}">
                <p14:modId xmlns:p14="http://schemas.microsoft.com/office/powerpoint/2010/main" val="2902581049"/>
              </p:ext>
            </p:extLst>
          </p:nvPr>
        </p:nvGraphicFramePr>
        <p:xfrm>
          <a:off x="628650" y="937260"/>
          <a:ext cx="7886700" cy="52397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11D9EE0F-DCAD-4918-2F20-9E79B1B81A29}"/>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241488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9144000" cy="68613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92416F2-BC84-4D7C-80C6-6296C10C3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596503" y="981075"/>
            <a:ext cx="7950994" cy="4552949"/>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1152822" y="1428750"/>
            <a:ext cx="6838356" cy="2105026"/>
          </a:xfrm>
        </p:spPr>
        <p:txBody>
          <a:bodyPr vert="horz" lIns="91440" tIns="45720" rIns="91440" bIns="45720" rtlCol="0" anchor="b">
            <a:normAutofit/>
          </a:bodyPr>
          <a:lstStyle/>
          <a:p>
            <a:r>
              <a:rPr lang="en-US" sz="5600" kern="1200">
                <a:solidFill>
                  <a:schemeClr val="bg1"/>
                </a:solidFill>
                <a:latin typeface="+mj-lt"/>
                <a:ea typeface="+mj-ea"/>
                <a:cs typeface="+mj-cs"/>
              </a:rPr>
              <a:t>History and Scope</a:t>
            </a:r>
            <a:br>
              <a:rPr lang="en-US" sz="5600" kern="1200">
                <a:solidFill>
                  <a:schemeClr val="bg1"/>
                </a:solidFill>
                <a:latin typeface="+mj-lt"/>
                <a:ea typeface="+mj-ea"/>
                <a:cs typeface="+mj-cs"/>
              </a:rPr>
            </a:br>
            <a:r>
              <a:rPr lang="en-US" sz="5600" kern="1200">
                <a:solidFill>
                  <a:schemeClr val="bg1"/>
                </a:solidFill>
                <a:latin typeface="+mj-lt"/>
                <a:ea typeface="+mj-ea"/>
                <a:cs typeface="+mj-cs"/>
              </a:rPr>
              <a:t>of Positive Psychology</a:t>
            </a:r>
          </a:p>
        </p:txBody>
      </p:sp>
      <p:cxnSp>
        <p:nvCxnSpPr>
          <p:cNvPr id="13" name="Straight Connector 12">
            <a:extLst>
              <a:ext uri="{FF2B5EF4-FFF2-40B4-BE49-F238E27FC236}">
                <a16:creationId xmlns:a16="http://schemas.microsoft.com/office/drawing/2014/main" id="{2330623A-AB89-4E04-AC9A-2BAFBF85AE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514600" y="3771366"/>
            <a:ext cx="4114800" cy="0"/>
          </a:xfrm>
          <a:prstGeom prst="line">
            <a:avLst/>
          </a:prstGeom>
          <a:ln w="22225">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3028950" y="615971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chemeClr val="tx1">
                    <a:lumMod val="75000"/>
                    <a:lumOff val="25000"/>
                  </a:schemeClr>
                </a:solidFill>
                <a:latin typeface="+mn-lt"/>
                <a:ea typeface="+mn-ea"/>
                <a:cs typeface="+mn-cs"/>
              </a:rPr>
              <a:t>The Science and Application of Positive Psychology </a:t>
            </a:r>
            <a:br>
              <a:rPr lang="en-US" sz="900" kern="1200">
                <a:solidFill>
                  <a:schemeClr val="tx1">
                    <a:lumMod val="75000"/>
                    <a:lumOff val="25000"/>
                  </a:schemeClr>
                </a:solidFill>
                <a:latin typeface="+mn-lt"/>
                <a:ea typeface="+mn-ea"/>
                <a:cs typeface="+mn-cs"/>
              </a:rPr>
            </a:br>
            <a:r>
              <a:rPr lang="en-US" sz="900" kern="1200">
                <a:solidFill>
                  <a:schemeClr val="tx1">
                    <a:lumMod val="75000"/>
                    <a:lumOff val="25000"/>
                  </a:schemeClr>
                </a:solidFill>
                <a:latin typeface="+mn-lt"/>
                <a:ea typeface="+mn-ea"/>
                <a:cs typeface="+mn-cs"/>
              </a:rPr>
              <a:t>© Cambridge University Press 2021</a:t>
            </a:r>
          </a:p>
        </p:txBody>
      </p:sp>
    </p:spTree>
    <p:extLst>
      <p:ext uri="{BB962C8B-B14F-4D97-AF65-F5344CB8AC3E}">
        <p14:creationId xmlns:p14="http://schemas.microsoft.com/office/powerpoint/2010/main" val="2011060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888" y="129288"/>
            <a:ext cx="7886700" cy="1751764"/>
          </a:xfrm>
        </p:spPr>
        <p:txBody>
          <a:bodyPr anchor="ctr">
            <a:normAutofit/>
          </a:bodyPr>
          <a:lstStyle/>
          <a:p>
            <a:r>
              <a:rPr lang="en-US" dirty="0"/>
              <a:t>History of positive psychology</a:t>
            </a:r>
          </a:p>
        </p:txBody>
      </p:sp>
      <p:sp>
        <p:nvSpPr>
          <p:cNvPr id="3" name="Content Placeholder 2"/>
          <p:cNvSpPr>
            <a:spLocks noGrp="1"/>
          </p:cNvSpPr>
          <p:nvPr>
            <p:ph type="body" idx="1"/>
          </p:nvPr>
        </p:nvSpPr>
        <p:spPr>
          <a:xfrm>
            <a:off x="623888" y="2142310"/>
            <a:ext cx="4653506" cy="3918856"/>
          </a:xfrm>
        </p:spPr>
        <p:txBody>
          <a:bodyPr>
            <a:normAutofit/>
          </a:bodyPr>
          <a:lstStyle/>
          <a:p>
            <a:r>
              <a:rPr lang="en-US" sz="2400" dirty="0"/>
              <a:t>Many trace the “official” beginning of the discipline to 1996, when Martin Seligman made positive psychology the theme of his term as American Psychological Association (APA) president.</a:t>
            </a:r>
          </a:p>
          <a:p>
            <a:r>
              <a:rPr lang="en-US" sz="2400" dirty="0"/>
              <a:t>But, human strengths and what it means to lead a “good” life have been topics explored by philosophers and spiritual leaders for millennia.</a:t>
            </a:r>
          </a:p>
          <a:p>
            <a:endParaRPr lang="en-US" sz="1800" dirty="0"/>
          </a:p>
        </p:txBody>
      </p:sp>
      <p:sp>
        <p:nvSpPr>
          <p:cNvPr id="4" name="Footer Placeholder 3"/>
          <p:cNvSpPr>
            <a:spLocks noGrp="1"/>
          </p:cNvSpPr>
          <p:nvPr>
            <p:ph type="ftr" sz="quarter" idx="10"/>
          </p:nvPr>
        </p:nvSpPr>
        <p:spPr>
          <a:xfrm>
            <a:off x="2002155" y="6451713"/>
            <a:ext cx="5139690" cy="276999"/>
          </a:xfrm>
        </p:spPr>
        <p:txBody>
          <a:bodyPr anchor="ctr">
            <a:normAutofit/>
          </a:bodyPr>
          <a:lstStyle/>
          <a:p>
            <a:pPr>
              <a:lnSpc>
                <a:spcPct val="90000"/>
              </a:lnSpc>
              <a:spcAft>
                <a:spcPts val="600"/>
              </a:spcAft>
            </a:pPr>
            <a:r>
              <a:rPr lang="en-US" sz="600"/>
              <a:t>The Science and Application of Positive Psychology </a:t>
            </a:r>
            <a:br>
              <a:rPr lang="en-US" sz="600"/>
            </a:br>
            <a:r>
              <a:rPr lang="en-US" sz="600"/>
              <a:t>© Cambridge University Press 2021</a:t>
            </a:r>
          </a:p>
        </p:txBody>
      </p:sp>
      <p:pic>
        <p:nvPicPr>
          <p:cNvPr id="5" name="Picture 4">
            <a:extLst>
              <a:ext uri="{FF2B5EF4-FFF2-40B4-BE49-F238E27FC236}">
                <a16:creationId xmlns:a16="http://schemas.microsoft.com/office/drawing/2014/main" id="{A368EE31-B9BF-62F9-4503-05720ABC5B48}"/>
              </a:ext>
            </a:extLst>
          </p:cNvPr>
          <p:cNvPicPr>
            <a:picLocks noChangeAspect="1"/>
          </p:cNvPicPr>
          <p:nvPr/>
        </p:nvPicPr>
        <p:blipFill>
          <a:blip r:embed="rId2"/>
          <a:stretch>
            <a:fillRect/>
          </a:stretch>
        </p:blipFill>
        <p:spPr>
          <a:xfrm>
            <a:off x="5811021" y="2271599"/>
            <a:ext cx="2661648" cy="3141617"/>
          </a:xfrm>
          <a:prstGeom prst="rect">
            <a:avLst/>
          </a:prstGeom>
        </p:spPr>
      </p:pic>
    </p:spTree>
    <p:extLst>
      <p:ext uri="{BB962C8B-B14F-4D97-AF65-F5344CB8AC3E}">
        <p14:creationId xmlns:p14="http://schemas.microsoft.com/office/powerpoint/2010/main" val="3362203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3724072" y="629268"/>
            <a:ext cx="4939868" cy="1286160"/>
          </a:xfrm>
        </p:spPr>
        <p:txBody>
          <a:bodyPr anchor="b">
            <a:normAutofit/>
          </a:bodyPr>
          <a:lstStyle/>
          <a:p>
            <a:r>
              <a:rPr lang="en-US" sz="4100"/>
              <a:t>Humanistic psychology</a:t>
            </a:r>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724073" y="2115118"/>
            <a:ext cx="5272782" cy="4108702"/>
          </a:xfrm>
        </p:spPr>
        <p:txBody>
          <a:bodyPr>
            <a:noAutofit/>
          </a:bodyPr>
          <a:lstStyle/>
          <a:p>
            <a:r>
              <a:rPr lang="en-US" sz="2000" dirty="0"/>
              <a:t>Humanistic psychology predated positive psychology, and included scholars like Abraham Maslow, Erich Fromm, and Carl Rogers.</a:t>
            </a:r>
          </a:p>
          <a:p>
            <a:r>
              <a:rPr lang="en-US" sz="2000" dirty="0"/>
              <a:t>Humanists were interested in optimal human functioning, but tended to use different methods:</a:t>
            </a:r>
          </a:p>
          <a:p>
            <a:pPr lvl="1"/>
            <a:r>
              <a:rPr lang="en-US" sz="2000" dirty="0"/>
              <a:t>Humanistic psychologists used </a:t>
            </a:r>
            <a:r>
              <a:rPr lang="en-US" sz="2000" i="1" dirty="0"/>
              <a:t>phenomenological </a:t>
            </a:r>
            <a:r>
              <a:rPr lang="en-US" sz="2000" dirty="0"/>
              <a:t>methods, relying primarily on introspection and subjective reports.</a:t>
            </a:r>
          </a:p>
          <a:p>
            <a:pPr lvl="1"/>
            <a:r>
              <a:rPr lang="en-US" sz="2000" dirty="0"/>
              <a:t>Positive psychologists favor experimental methods and more objective measures.</a:t>
            </a:r>
          </a:p>
        </p:txBody>
      </p:sp>
      <p:pic>
        <p:nvPicPr>
          <p:cNvPr id="9" name="Picture 8" descr="Colourful carved figures of humans">
            <a:extLst>
              <a:ext uri="{FF2B5EF4-FFF2-40B4-BE49-F238E27FC236}">
                <a16:creationId xmlns:a16="http://schemas.microsoft.com/office/drawing/2014/main" id="{9109C76F-9A6E-7D5F-620C-CE9F09FFA283}"/>
              </a:ext>
            </a:extLst>
          </p:cNvPr>
          <p:cNvPicPr>
            <a:picLocks noChangeAspect="1"/>
          </p:cNvPicPr>
          <p:nvPr/>
        </p:nvPicPr>
        <p:blipFill rotWithShape="1">
          <a:blip r:embed="rId3"/>
          <a:srcRect l="32056" r="31823" b="-1"/>
          <a:stretch/>
        </p:blipFill>
        <p:spPr>
          <a:xfrm>
            <a:off x="20" y="10"/>
            <a:ext cx="3476673" cy="6857990"/>
          </a:xfrm>
          <a:prstGeom prst="rect">
            <a:avLst/>
          </a:prstGeom>
          <a:effectLst/>
        </p:spPr>
      </p:pic>
      <p:cxnSp>
        <p:nvCxnSpPr>
          <p:cNvPr id="13" name="Straight Connector 1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F39C10"/>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2424255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p:txBody>
          <a:bodyPr/>
          <a:lstStyle/>
          <a:p>
            <a:r>
              <a:rPr lang="en-US" dirty="0"/>
              <a:t>Scope of positive psychology</a:t>
            </a:r>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pic>
        <p:nvPicPr>
          <p:cNvPr id="35" name="Picture 34" descr="Diagram&#10;&#10;Description automatically generated">
            <a:extLst>
              <a:ext uri="{FF2B5EF4-FFF2-40B4-BE49-F238E27FC236}">
                <a16:creationId xmlns:a16="http://schemas.microsoft.com/office/drawing/2014/main" id="{43666982-84DC-A249-A0D6-1EBE3E30DA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189" y="2292917"/>
            <a:ext cx="7339264" cy="3491750"/>
          </a:xfrm>
          <a:prstGeom prst="rect">
            <a:avLst/>
          </a:prstGeom>
        </p:spPr>
      </p:pic>
      <p:sp>
        <p:nvSpPr>
          <p:cNvPr id="36" name="Rectangle 35">
            <a:extLst>
              <a:ext uri="{FF2B5EF4-FFF2-40B4-BE49-F238E27FC236}">
                <a16:creationId xmlns:a16="http://schemas.microsoft.com/office/drawing/2014/main" id="{C22CDB0C-0640-D247-B232-0ACD35F8F0E2}"/>
              </a:ext>
            </a:extLst>
          </p:cNvPr>
          <p:cNvSpPr/>
          <p:nvPr/>
        </p:nvSpPr>
        <p:spPr>
          <a:xfrm>
            <a:off x="971547" y="1859139"/>
            <a:ext cx="4572000" cy="646331"/>
          </a:xfrm>
          <a:prstGeom prst="rect">
            <a:avLst/>
          </a:prstGeom>
        </p:spPr>
        <p:txBody>
          <a:bodyPr>
            <a:spAutoFit/>
          </a:bodyPr>
          <a:lstStyle/>
          <a:p>
            <a:r>
              <a:rPr lang="en-US" b="1" dirty="0">
                <a:latin typeface="Calibri" panose="020F0502020204030204" pitchFamily="34" charset="0"/>
                <a:cs typeface="Calibri" panose="020F0502020204030204" pitchFamily="34" charset="0"/>
              </a:rPr>
              <a:t>Psychology’s subdisciplines and the level of human functioning they typically study </a:t>
            </a:r>
          </a:p>
        </p:txBody>
      </p:sp>
    </p:spTree>
    <p:extLst>
      <p:ext uri="{BB962C8B-B14F-4D97-AF65-F5344CB8AC3E}">
        <p14:creationId xmlns:p14="http://schemas.microsoft.com/office/powerpoint/2010/main" val="1359540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p:txBody>
          <a:bodyPr/>
          <a:lstStyle/>
          <a:p>
            <a:r>
              <a:rPr lang="en-US" dirty="0"/>
              <a:t>Positive psychology is interdisciplinary</a:t>
            </a:r>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graphicFrame>
        <p:nvGraphicFramePr>
          <p:cNvPr id="3" name="Table 2">
            <a:extLst>
              <a:ext uri="{FF2B5EF4-FFF2-40B4-BE49-F238E27FC236}">
                <a16:creationId xmlns:a16="http://schemas.microsoft.com/office/drawing/2014/main" id="{34564F5A-5D21-B84F-B90A-DBD63A42686A}"/>
              </a:ext>
            </a:extLst>
          </p:cNvPr>
          <p:cNvGraphicFramePr>
            <a:graphicFrameLocks noGrp="1"/>
          </p:cNvGraphicFramePr>
          <p:nvPr>
            <p:extLst>
              <p:ext uri="{D42A27DB-BD31-4B8C-83A1-F6EECF244321}">
                <p14:modId xmlns:p14="http://schemas.microsoft.com/office/powerpoint/2010/main" val="2586744145"/>
              </p:ext>
            </p:extLst>
          </p:nvPr>
        </p:nvGraphicFramePr>
        <p:xfrm>
          <a:off x="729701" y="2841058"/>
          <a:ext cx="7435425" cy="3175920"/>
        </p:xfrm>
        <a:graphic>
          <a:graphicData uri="http://schemas.openxmlformats.org/drawingml/2006/table">
            <a:tbl>
              <a:tblPr firstCol="1" bandRow="1">
                <a:tableStyleId>{5C22544A-7EE6-4342-B048-85BDC9FD1C3A}</a:tableStyleId>
              </a:tblPr>
              <a:tblGrid>
                <a:gridCol w="3614850">
                  <a:extLst>
                    <a:ext uri="{9D8B030D-6E8A-4147-A177-3AD203B41FA5}">
                      <a16:colId xmlns:a16="http://schemas.microsoft.com/office/drawing/2014/main" val="1711181590"/>
                    </a:ext>
                  </a:extLst>
                </a:gridCol>
                <a:gridCol w="3820575">
                  <a:extLst>
                    <a:ext uri="{9D8B030D-6E8A-4147-A177-3AD203B41FA5}">
                      <a16:colId xmlns:a16="http://schemas.microsoft.com/office/drawing/2014/main" val="1607600926"/>
                    </a:ext>
                  </a:extLst>
                </a:gridCol>
              </a:tblGrid>
              <a:tr h="524027">
                <a:tc>
                  <a:txBody>
                    <a:bodyPr/>
                    <a:lstStyle/>
                    <a:p>
                      <a:pPr marL="0" marR="0">
                        <a:spcBef>
                          <a:spcPts val="0"/>
                        </a:spcBef>
                        <a:spcAft>
                          <a:spcPts val="0"/>
                        </a:spcAft>
                      </a:pPr>
                      <a:r>
                        <a:rPr lang="en-US" sz="1400" dirty="0">
                          <a:effectLst/>
                        </a:rPr>
                        <a:t>Clinical Psychology</a:t>
                      </a:r>
                      <a:endParaRPr lang="en-US" sz="1400" dirty="0">
                        <a:effectLst/>
                        <a:latin typeface="Times New Roman" panose="02020603050405020304" pitchFamily="18" charset="0"/>
                        <a:ea typeface="Times New Roman" panose="02020603050405020304" pitchFamily="18" charset="0"/>
                      </a:endParaRPr>
                    </a:p>
                  </a:txBody>
                  <a:tcPr marL="71458" marR="71458" marT="0" marB="0"/>
                </a:tc>
                <a:tc>
                  <a:txBody>
                    <a:bodyPr/>
                    <a:lstStyle/>
                    <a:p>
                      <a:pPr marL="0" marR="0">
                        <a:spcBef>
                          <a:spcPts val="0"/>
                        </a:spcBef>
                        <a:spcAft>
                          <a:spcPts val="0"/>
                        </a:spcAft>
                      </a:pPr>
                      <a:r>
                        <a:rPr lang="en-US" sz="1400" dirty="0">
                          <a:effectLst/>
                        </a:rPr>
                        <a:t>The role of positive psychology constructs in treating or preventing psychological dysfunction</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2275092801"/>
                  </a:ext>
                </a:extLst>
              </a:tr>
              <a:tr h="539906">
                <a:tc>
                  <a:txBody>
                    <a:bodyPr/>
                    <a:lstStyle/>
                    <a:p>
                      <a:pPr marL="0" marR="0">
                        <a:spcBef>
                          <a:spcPts val="0"/>
                        </a:spcBef>
                        <a:spcAft>
                          <a:spcPts val="0"/>
                        </a:spcAft>
                      </a:pPr>
                      <a:r>
                        <a:rPr lang="en-US" sz="1400" dirty="0">
                          <a:effectLst/>
                        </a:rPr>
                        <a:t>Social Psychology</a:t>
                      </a:r>
                    </a:p>
                  </a:txBody>
                  <a:tcPr marL="71458" marR="71458" marT="0" marB="0"/>
                </a:tc>
                <a:tc>
                  <a:txBody>
                    <a:bodyPr/>
                    <a:lstStyle/>
                    <a:p>
                      <a:pPr marL="0" marR="0">
                        <a:spcBef>
                          <a:spcPts val="0"/>
                        </a:spcBef>
                        <a:spcAft>
                          <a:spcPts val="0"/>
                        </a:spcAft>
                      </a:pPr>
                      <a:r>
                        <a:rPr lang="en-US" sz="1400" dirty="0">
                          <a:effectLst/>
                        </a:rPr>
                        <a:t>Social influences on positive experiences, affect, and behavior</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736092200"/>
                  </a:ext>
                </a:extLst>
              </a:tr>
              <a:tr h="524027">
                <a:tc>
                  <a:txBody>
                    <a:bodyPr/>
                    <a:lstStyle/>
                    <a:p>
                      <a:pPr marL="0" marR="0">
                        <a:spcBef>
                          <a:spcPts val="0"/>
                        </a:spcBef>
                        <a:spcAft>
                          <a:spcPts val="0"/>
                        </a:spcAft>
                      </a:pPr>
                      <a:r>
                        <a:rPr lang="en-US" sz="1400" dirty="0">
                          <a:effectLst/>
                        </a:rPr>
                        <a:t>Personality Psychology</a:t>
                      </a:r>
                      <a:endParaRPr lang="en-US" sz="1400" dirty="0">
                        <a:effectLst/>
                        <a:latin typeface="Times New Roman" panose="02020603050405020304" pitchFamily="18" charset="0"/>
                        <a:ea typeface="Times New Roman" panose="02020603050405020304" pitchFamily="18" charset="0"/>
                      </a:endParaRPr>
                    </a:p>
                  </a:txBody>
                  <a:tcPr marL="71458" marR="71458" marT="0" marB="0"/>
                </a:tc>
                <a:tc>
                  <a:txBody>
                    <a:bodyPr/>
                    <a:lstStyle/>
                    <a:p>
                      <a:pPr marL="0" marR="0">
                        <a:spcBef>
                          <a:spcPts val="0"/>
                        </a:spcBef>
                        <a:spcAft>
                          <a:spcPts val="0"/>
                        </a:spcAft>
                      </a:pPr>
                      <a:r>
                        <a:rPr lang="en-US" sz="1400" dirty="0">
                          <a:effectLst/>
                        </a:rPr>
                        <a:t>The role of personality in positive experiences, affect, and behavior; positive personality traits</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659997479"/>
                  </a:ext>
                </a:extLst>
              </a:tr>
              <a:tr h="539906">
                <a:tc>
                  <a:txBody>
                    <a:bodyPr/>
                    <a:lstStyle/>
                    <a:p>
                      <a:pPr marL="0" marR="0">
                        <a:spcBef>
                          <a:spcPts val="0"/>
                        </a:spcBef>
                        <a:spcAft>
                          <a:spcPts val="0"/>
                        </a:spcAft>
                      </a:pPr>
                      <a:r>
                        <a:rPr lang="en-US" sz="1400" dirty="0">
                          <a:effectLst/>
                        </a:rPr>
                        <a:t>Developmental Psychology</a:t>
                      </a:r>
                    </a:p>
                  </a:txBody>
                  <a:tcPr marL="71458" marR="71458" marT="0" marB="0"/>
                </a:tc>
                <a:tc>
                  <a:txBody>
                    <a:bodyPr/>
                    <a:lstStyle/>
                    <a:p>
                      <a:pPr marL="0" marR="0">
                        <a:spcBef>
                          <a:spcPts val="0"/>
                        </a:spcBef>
                        <a:spcAft>
                          <a:spcPts val="0"/>
                        </a:spcAft>
                      </a:pPr>
                      <a:r>
                        <a:rPr lang="en-US" sz="1400" dirty="0">
                          <a:effectLst/>
                        </a:rPr>
                        <a:t>The process of developing positive traits, affective and behavioral tendencies throughout the lifespan</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1854026611"/>
                  </a:ext>
                </a:extLst>
              </a:tr>
              <a:tr h="524027">
                <a:tc>
                  <a:txBody>
                    <a:bodyPr/>
                    <a:lstStyle/>
                    <a:p>
                      <a:pPr marL="0" marR="0">
                        <a:spcBef>
                          <a:spcPts val="0"/>
                        </a:spcBef>
                        <a:spcAft>
                          <a:spcPts val="0"/>
                        </a:spcAft>
                      </a:pPr>
                      <a:r>
                        <a:rPr lang="en-US" sz="1400" dirty="0">
                          <a:effectLst/>
                        </a:rPr>
                        <a:t>Industrial/Organizational Psychology</a:t>
                      </a:r>
                      <a:endParaRPr lang="en-US" sz="1400" dirty="0">
                        <a:effectLst/>
                        <a:latin typeface="Times New Roman" panose="02020603050405020304" pitchFamily="18" charset="0"/>
                        <a:ea typeface="Times New Roman" panose="02020603050405020304" pitchFamily="18" charset="0"/>
                      </a:endParaRPr>
                    </a:p>
                  </a:txBody>
                  <a:tcPr marL="71458" marR="71458" marT="0" marB="0"/>
                </a:tc>
                <a:tc>
                  <a:txBody>
                    <a:bodyPr/>
                    <a:lstStyle/>
                    <a:p>
                      <a:pPr marL="0" marR="0">
                        <a:spcBef>
                          <a:spcPts val="0"/>
                        </a:spcBef>
                        <a:spcAft>
                          <a:spcPts val="0"/>
                        </a:spcAft>
                      </a:pPr>
                      <a:r>
                        <a:rPr lang="en-US" sz="1400" dirty="0">
                          <a:effectLst/>
                        </a:rPr>
                        <a:t>The role of positive psychology constructs in organizations, companies, and industry</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808867904"/>
                  </a:ext>
                </a:extLst>
              </a:tr>
              <a:tr h="524027">
                <a:tc>
                  <a:txBody>
                    <a:bodyPr/>
                    <a:lstStyle/>
                    <a:p>
                      <a:pPr marL="0" marR="0">
                        <a:spcBef>
                          <a:spcPts val="0"/>
                        </a:spcBef>
                        <a:spcAft>
                          <a:spcPts val="0"/>
                        </a:spcAft>
                      </a:pPr>
                      <a:r>
                        <a:rPr lang="en-US" sz="1400" dirty="0">
                          <a:effectLst/>
                        </a:rPr>
                        <a:t>Neuroscience</a:t>
                      </a:r>
                      <a:endParaRPr lang="en-US" sz="1400" dirty="0">
                        <a:effectLst/>
                        <a:latin typeface="Times New Roman" panose="02020603050405020304" pitchFamily="18" charset="0"/>
                        <a:ea typeface="Times New Roman" panose="02020603050405020304" pitchFamily="18" charset="0"/>
                      </a:endParaRPr>
                    </a:p>
                  </a:txBody>
                  <a:tcPr marL="71458" marR="71458" marT="0" marB="0"/>
                </a:tc>
                <a:tc>
                  <a:txBody>
                    <a:bodyPr/>
                    <a:lstStyle/>
                    <a:p>
                      <a:pPr marL="0" marR="0">
                        <a:spcBef>
                          <a:spcPts val="0"/>
                        </a:spcBef>
                        <a:spcAft>
                          <a:spcPts val="0"/>
                        </a:spcAft>
                      </a:pPr>
                      <a:r>
                        <a:rPr lang="en-US" sz="1400" dirty="0">
                          <a:effectLst/>
                        </a:rPr>
                        <a:t>The roles of the brain and nervous system in positive traits, experiences, affect, and behavior</a:t>
                      </a:r>
                    </a:p>
                    <a:p>
                      <a:pPr marL="0" marR="0">
                        <a:spcBef>
                          <a:spcPts val="0"/>
                        </a:spcBef>
                        <a:spcAft>
                          <a:spcPts val="0"/>
                        </a:spcAft>
                      </a:pPr>
                      <a:r>
                        <a:rPr lang="en-US" sz="600" dirty="0">
                          <a:effectLst/>
                        </a:rPr>
                        <a:t> </a:t>
                      </a:r>
                      <a:endParaRPr lang="en-US" sz="600" dirty="0">
                        <a:effectLst/>
                        <a:latin typeface="Times New Roman" panose="02020603050405020304" pitchFamily="18" charset="0"/>
                        <a:ea typeface="Times New Roman" panose="02020603050405020304" pitchFamily="18" charset="0"/>
                      </a:endParaRPr>
                    </a:p>
                  </a:txBody>
                  <a:tcPr marL="71458" marR="71458" marT="0" marB="0"/>
                </a:tc>
                <a:extLst>
                  <a:ext uri="{0D108BD9-81ED-4DB2-BD59-A6C34878D82A}">
                    <a16:rowId xmlns:a16="http://schemas.microsoft.com/office/drawing/2014/main" val="1282017371"/>
                  </a:ext>
                </a:extLst>
              </a:tr>
            </a:tbl>
          </a:graphicData>
        </a:graphic>
      </p:graphicFrame>
      <p:sp>
        <p:nvSpPr>
          <p:cNvPr id="5" name="Rectangle 1">
            <a:extLst>
              <a:ext uri="{FF2B5EF4-FFF2-40B4-BE49-F238E27FC236}">
                <a16:creationId xmlns:a16="http://schemas.microsoft.com/office/drawing/2014/main" id="{43B9BBE0-E7DB-D24B-A869-E5E608F388DC}"/>
              </a:ext>
            </a:extLst>
          </p:cNvPr>
          <p:cNvSpPr>
            <a:spLocks noChangeArrowheads="1"/>
          </p:cNvSpPr>
          <p:nvPr/>
        </p:nvSpPr>
        <p:spPr bwMode="auto">
          <a:xfrm>
            <a:off x="680939" y="2005586"/>
            <a:ext cx="6580648"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00350" algn="l"/>
              </a:tabLst>
              <a:defRPr>
                <a:solidFill>
                  <a:schemeClr val="tx1"/>
                </a:solidFill>
                <a:latin typeface="Arial" panose="020B0604020202020204" pitchFamily="34" charset="0"/>
              </a:defRPr>
            </a:lvl1pPr>
            <a:lvl2pPr eaLnBrk="0" fontAlgn="base" hangingPunct="0">
              <a:spcBef>
                <a:spcPct val="0"/>
              </a:spcBef>
              <a:spcAft>
                <a:spcPct val="0"/>
              </a:spcAft>
              <a:tabLst>
                <a:tab pos="2800350" algn="l"/>
              </a:tabLst>
              <a:defRPr>
                <a:solidFill>
                  <a:schemeClr val="tx1"/>
                </a:solidFill>
                <a:latin typeface="Arial" panose="020B0604020202020204" pitchFamily="34" charset="0"/>
              </a:defRPr>
            </a:lvl2pPr>
            <a:lvl3pPr eaLnBrk="0" fontAlgn="base" hangingPunct="0">
              <a:spcBef>
                <a:spcPct val="0"/>
              </a:spcBef>
              <a:spcAft>
                <a:spcPct val="0"/>
              </a:spcAft>
              <a:tabLst>
                <a:tab pos="2800350" algn="l"/>
              </a:tabLst>
              <a:defRPr>
                <a:solidFill>
                  <a:schemeClr val="tx1"/>
                </a:solidFill>
                <a:latin typeface="Arial" panose="020B0604020202020204" pitchFamily="34" charset="0"/>
              </a:defRPr>
            </a:lvl3pPr>
            <a:lvl4pPr eaLnBrk="0" fontAlgn="base" hangingPunct="0">
              <a:spcBef>
                <a:spcPct val="0"/>
              </a:spcBef>
              <a:spcAft>
                <a:spcPct val="0"/>
              </a:spcAft>
              <a:tabLst>
                <a:tab pos="2800350" algn="l"/>
              </a:tabLst>
              <a:defRPr>
                <a:solidFill>
                  <a:schemeClr val="tx1"/>
                </a:solidFill>
                <a:latin typeface="Arial" panose="020B0604020202020204" pitchFamily="34" charset="0"/>
              </a:defRPr>
            </a:lvl4pPr>
            <a:lvl5pPr eaLnBrk="0" fontAlgn="base" hangingPunct="0">
              <a:spcBef>
                <a:spcPct val="0"/>
              </a:spcBef>
              <a:spcAft>
                <a:spcPct val="0"/>
              </a:spcAft>
              <a:tabLst>
                <a:tab pos="2800350" algn="l"/>
              </a:tabLst>
              <a:defRPr>
                <a:solidFill>
                  <a:schemeClr val="tx1"/>
                </a:solidFill>
                <a:latin typeface="Arial" panose="020B0604020202020204" pitchFamily="34" charset="0"/>
              </a:defRPr>
            </a:lvl5pPr>
            <a:lvl6pPr eaLnBrk="0" fontAlgn="base" hangingPunct="0">
              <a:spcBef>
                <a:spcPct val="0"/>
              </a:spcBef>
              <a:spcAft>
                <a:spcPct val="0"/>
              </a:spcAft>
              <a:tabLst>
                <a:tab pos="2800350" algn="l"/>
              </a:tabLst>
              <a:defRPr>
                <a:solidFill>
                  <a:schemeClr val="tx1"/>
                </a:solidFill>
                <a:latin typeface="Arial" panose="020B0604020202020204" pitchFamily="34" charset="0"/>
              </a:defRPr>
            </a:lvl6pPr>
            <a:lvl7pPr eaLnBrk="0" fontAlgn="base" hangingPunct="0">
              <a:spcBef>
                <a:spcPct val="0"/>
              </a:spcBef>
              <a:spcAft>
                <a:spcPct val="0"/>
              </a:spcAft>
              <a:tabLst>
                <a:tab pos="2800350" algn="l"/>
              </a:tabLst>
              <a:defRPr>
                <a:solidFill>
                  <a:schemeClr val="tx1"/>
                </a:solidFill>
                <a:latin typeface="Arial" panose="020B0604020202020204" pitchFamily="34" charset="0"/>
              </a:defRPr>
            </a:lvl7pPr>
            <a:lvl8pPr eaLnBrk="0" fontAlgn="base" hangingPunct="0">
              <a:spcBef>
                <a:spcPct val="0"/>
              </a:spcBef>
              <a:spcAft>
                <a:spcPct val="0"/>
              </a:spcAft>
              <a:tabLst>
                <a:tab pos="2800350" algn="l"/>
              </a:tabLst>
              <a:defRPr>
                <a:solidFill>
                  <a:schemeClr val="tx1"/>
                </a:solidFill>
                <a:latin typeface="Arial" panose="020B0604020202020204" pitchFamily="34" charset="0"/>
              </a:defRPr>
            </a:lvl8pPr>
            <a:lvl9pPr eaLnBrk="0" fontAlgn="base" hangingPunct="0">
              <a:spcBef>
                <a:spcPct val="0"/>
              </a:spcBef>
              <a:spcAft>
                <a:spcPct val="0"/>
              </a:spcAft>
              <a:tabLst>
                <a:tab pos="280035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800350" algn="l"/>
              </a:tabLst>
            </a:pPr>
            <a:r>
              <a:rPr kumimoji="0" lang="en-US" altLang="en-US" b="1"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How Researchers from Different Subdisciplines Might </a:t>
            </a:r>
          </a:p>
          <a:p>
            <a:pPr marL="0" marR="0" lvl="0" indent="0" algn="l" defTabSz="914400" rtl="0" eaLnBrk="0" fontAlgn="base" latinLnBrk="0" hangingPunct="0">
              <a:lnSpc>
                <a:spcPct val="100000"/>
              </a:lnSpc>
              <a:spcBef>
                <a:spcPct val="0"/>
              </a:spcBef>
              <a:spcAft>
                <a:spcPct val="0"/>
              </a:spcAft>
              <a:buClrTx/>
              <a:buSzTx/>
              <a:buFontTx/>
              <a:buNone/>
              <a:tabLst>
                <a:tab pos="2800350" algn="l"/>
              </a:tabLst>
            </a:pPr>
            <a:r>
              <a:rPr kumimoji="0" lang="en-US" altLang="en-US" b="1"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Approach Positive Psychology</a:t>
            </a:r>
          </a:p>
          <a:p>
            <a:pPr marL="0" marR="0" lvl="0" indent="0" algn="l" defTabSz="914400" rtl="0" eaLnBrk="0" fontAlgn="base" latinLnBrk="0" hangingPunct="0">
              <a:lnSpc>
                <a:spcPct val="100000"/>
              </a:lnSpc>
              <a:spcBef>
                <a:spcPct val="0"/>
              </a:spcBef>
              <a:spcAft>
                <a:spcPct val="0"/>
              </a:spcAft>
              <a:buClrTx/>
              <a:buSzTx/>
              <a:buFontTx/>
              <a:buNone/>
              <a:tabLst>
                <a:tab pos="2800350" algn="l"/>
              </a:tabLst>
            </a:pPr>
            <a:endParaRPr kumimoji="0" lang="en-US" altLang="en-US" sz="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800350" algn="l"/>
              </a:tabLst>
            </a:pPr>
            <a:r>
              <a:rPr kumimoji="0" lang="en-US" altLang="en-US" sz="110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Sub-discipline of Psychology	                           Possible Topics of Interest in Positive Psychology</a:t>
            </a:r>
            <a:endParaRPr kumimoji="0" lang="en-US" altLang="en-US" sz="11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478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7F7D7B8D-EF99-4CA1-AB1E-4C0C04740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2917370"/>
            <a:ext cx="9143999" cy="3940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487836" y="4559523"/>
            <a:ext cx="8176104" cy="1236440"/>
          </a:xfrm>
          <a:noFill/>
        </p:spPr>
        <p:txBody>
          <a:bodyPr vert="horz" lIns="91440" tIns="45720" rIns="91440" bIns="45720" rtlCol="0" anchor="b">
            <a:normAutofit/>
          </a:bodyPr>
          <a:lstStyle/>
          <a:p>
            <a:r>
              <a:rPr lang="en-US">
                <a:solidFill>
                  <a:schemeClr val="bg1"/>
                </a:solidFill>
              </a:rPr>
              <a:t>Well-being</a:t>
            </a:r>
          </a:p>
        </p:txBody>
      </p:sp>
      <p:pic>
        <p:nvPicPr>
          <p:cNvPr id="3" name="Picture 2">
            <a:extLst>
              <a:ext uri="{FF2B5EF4-FFF2-40B4-BE49-F238E27FC236}">
                <a16:creationId xmlns:a16="http://schemas.microsoft.com/office/drawing/2014/main" id="{4B1C6FDF-5F69-4F32-8546-AC6D30B9534D}"/>
              </a:ext>
            </a:extLst>
          </p:cNvPr>
          <p:cNvPicPr>
            <a:picLocks noChangeAspect="1"/>
          </p:cNvPicPr>
          <p:nvPr/>
        </p:nvPicPr>
        <p:blipFill rotWithShape="1">
          <a:blip r:embed="rId2"/>
          <a:srcRect t="3994" b="2813"/>
          <a:stretch/>
        </p:blipFill>
        <p:spPr>
          <a:xfrm>
            <a:off x="20" y="1"/>
            <a:ext cx="9143979" cy="4239482"/>
          </a:xfrm>
          <a:prstGeom prst="rect">
            <a:avLst/>
          </a:prstGeom>
        </p:spPr>
      </p:pic>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chemeClr val="bg1">
                    <a:alpha val="80000"/>
                  </a:schemeClr>
                </a:solidFill>
                <a:latin typeface="Calibri" panose="020F0502020204030204"/>
                <a:ea typeface="+mn-ea"/>
                <a:cs typeface="+mn-cs"/>
              </a:rPr>
              <a:t>The Science and Application of Positive Psychology </a:t>
            </a:r>
            <a:br>
              <a:rPr lang="en-US" sz="900" kern="1200">
                <a:solidFill>
                  <a:schemeClr val="bg1">
                    <a:alpha val="80000"/>
                  </a:schemeClr>
                </a:solidFill>
                <a:latin typeface="Calibri" panose="020F0502020204030204"/>
                <a:ea typeface="+mn-ea"/>
                <a:cs typeface="+mn-cs"/>
              </a:rPr>
            </a:br>
            <a:r>
              <a:rPr lang="en-US" sz="900" kern="1200">
                <a:solidFill>
                  <a:schemeClr val="bg1">
                    <a:alpha val="80000"/>
                  </a:schemeClr>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2976536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closeup photo of an open book">
            <a:extLst>
              <a:ext uri="{FF2B5EF4-FFF2-40B4-BE49-F238E27FC236}">
                <a16:creationId xmlns:a16="http://schemas.microsoft.com/office/drawing/2014/main" id="{4F39E470-9F16-1088-AD21-9A61EE6B08C9}"/>
              </a:ext>
            </a:extLst>
          </p:cNvPr>
          <p:cNvPicPr>
            <a:picLocks noChangeAspect="1"/>
          </p:cNvPicPr>
          <p:nvPr/>
        </p:nvPicPr>
        <p:blipFill rotWithShape="1">
          <a:blip r:embed="rId2">
            <a:duotone>
              <a:prstClr val="black"/>
              <a:schemeClr val="tx2">
                <a:tint val="45000"/>
                <a:satMod val="400000"/>
              </a:schemeClr>
            </a:duotone>
          </a:blip>
          <a:srcRect l="6217" r="5449" b="-1"/>
          <a:stretch/>
        </p:blipFill>
        <p:spPr>
          <a:xfrm>
            <a:off x="20" y="10"/>
            <a:ext cx="9143980" cy="6857990"/>
          </a:xfrm>
          <a:prstGeom prst="rect">
            <a:avLst/>
          </a:prstGeom>
        </p:spPr>
      </p:pic>
      <p:sp>
        <p:nvSpPr>
          <p:cNvPr id="10" name="Rectangle 9">
            <a:extLst>
              <a:ext uri="{FF2B5EF4-FFF2-40B4-BE49-F238E27FC236}">
                <a16:creationId xmlns:a16="http://schemas.microsoft.com/office/drawing/2014/main" id="{B4147794-66B7-4CDE-BC75-BBDC48B2F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9610" y="0"/>
            <a:ext cx="5788590" cy="685800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3038166" y="365758"/>
            <a:ext cx="5088195" cy="1828800"/>
          </a:xfrm>
        </p:spPr>
        <p:txBody>
          <a:bodyPr>
            <a:normAutofit/>
          </a:bodyPr>
          <a:lstStyle/>
          <a:p>
            <a:r>
              <a:rPr lang="en-US" sz="4200">
                <a:solidFill>
                  <a:schemeClr val="tx1">
                    <a:lumMod val="85000"/>
                    <a:lumOff val="15000"/>
                  </a:schemeClr>
                </a:solidFill>
              </a:rPr>
              <a:t>Well-being</a:t>
            </a:r>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038166" y="2324100"/>
            <a:ext cx="5088195" cy="3875087"/>
          </a:xfrm>
        </p:spPr>
        <p:txBody>
          <a:bodyPr>
            <a:normAutofit/>
          </a:bodyPr>
          <a:lstStyle/>
          <a:p>
            <a:r>
              <a:rPr lang="en-US" sz="1900"/>
              <a:t>One of the major goals of positive psychology is to identify the factors that contribute to psychological well-being. </a:t>
            </a:r>
          </a:p>
          <a:p>
            <a:r>
              <a:rPr lang="en-US" sz="1900"/>
              <a:t>Two general types:</a:t>
            </a:r>
          </a:p>
          <a:p>
            <a:pPr lvl="1"/>
            <a:r>
              <a:rPr lang="en-US" sz="1900" i="1"/>
              <a:t>Hedonic well-being</a:t>
            </a:r>
            <a:r>
              <a:rPr lang="en-US" sz="1900"/>
              <a:t>: Experiencing high levels of pleasure and low levels of displeasure.</a:t>
            </a:r>
          </a:p>
          <a:p>
            <a:pPr lvl="1"/>
            <a:r>
              <a:rPr lang="en-US" sz="1900" i="1"/>
              <a:t>Eudaimonic well-being</a:t>
            </a:r>
            <a:r>
              <a:rPr lang="en-US" sz="1900"/>
              <a:t>: Actualizing one’s potentials or finding a sense of purpose in life.</a:t>
            </a:r>
          </a:p>
          <a:p>
            <a:r>
              <a:rPr lang="en-US" sz="1900"/>
              <a:t>It is possible to experience one without the other, though they are often correlated.</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a:off x="3028950" y="6356350"/>
            <a:ext cx="4471075" cy="365125"/>
          </a:xfrm>
        </p:spPr>
        <p:txBody>
          <a:bodyPr>
            <a:normAutofit/>
          </a:bodyPr>
          <a:lstStyle/>
          <a:p>
            <a:pPr algn="l">
              <a:lnSpc>
                <a:spcPct val="90000"/>
              </a:lnSpc>
              <a:spcAft>
                <a:spcPts val="600"/>
              </a:spcAft>
            </a:pPr>
            <a:r>
              <a:rPr lang="en-US" sz="900">
                <a:solidFill>
                  <a:prstClr val="black">
                    <a:lumMod val="50000"/>
                    <a:lumOff val="50000"/>
                  </a:prstClr>
                </a:solidFill>
              </a:rPr>
              <a:t>The Science and Application of Positive Psychology </a:t>
            </a:r>
            <a:br>
              <a:rPr lang="en-US" sz="900">
                <a:solidFill>
                  <a:prstClr val="black">
                    <a:lumMod val="50000"/>
                    <a:lumOff val="50000"/>
                  </a:prstClr>
                </a:solidFill>
              </a:rPr>
            </a:br>
            <a:r>
              <a:rPr lang="en-US" sz="900">
                <a:solidFill>
                  <a:prstClr val="black">
                    <a:lumMod val="50000"/>
                    <a:lumOff val="50000"/>
                  </a:prstClr>
                </a:solidFill>
              </a:rPr>
              <a:t>© Cambridge University Press 2021</a:t>
            </a:r>
          </a:p>
        </p:txBody>
      </p:sp>
      <p:sp>
        <p:nvSpPr>
          <p:cNvPr id="12" name="Rectangle 11">
            <a:extLst>
              <a:ext uri="{FF2B5EF4-FFF2-40B4-BE49-F238E27FC236}">
                <a16:creationId xmlns:a16="http://schemas.microsoft.com/office/drawing/2014/main" id="{41202E79-1236-4DF8-9921-F47A0B079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8200" y="0"/>
            <a:ext cx="685800" cy="6858000"/>
          </a:xfrm>
          <a:prstGeom prst="rect">
            <a:avLst/>
          </a:prstGeom>
          <a:solidFill>
            <a:schemeClr val="tx1">
              <a:lumMod val="85000"/>
              <a:lumOff val="1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5953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lowchart: Document 14">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3400426"/>
          </a:xfrm>
          <a:prstGeom prst="flowChartDocument">
            <a:avLst/>
          </a:prstGeom>
          <a:solidFill>
            <a:srgbClr val="8B66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171162"/>
            <a:ext cx="2286000" cy="2371148"/>
          </a:xfrm>
        </p:spPr>
        <p:txBody>
          <a:bodyPr vert="horz" lIns="91440" tIns="45720" rIns="91440" bIns="45720" rtlCol="0" anchor="ctr">
            <a:normAutofit/>
          </a:bodyPr>
          <a:lstStyle/>
          <a:p>
            <a:r>
              <a:rPr lang="en-US" sz="2800" kern="1200" dirty="0">
                <a:solidFill>
                  <a:srgbClr val="FFFFFF"/>
                </a:solidFill>
                <a:latin typeface="+mj-lt"/>
                <a:ea typeface="+mj-ea"/>
                <a:cs typeface="+mj-cs"/>
              </a:rPr>
              <a:t>Well-Being Journal Entry #2</a:t>
            </a:r>
            <a:br>
              <a:rPr lang="en-US" sz="2800" kern="1200" dirty="0">
                <a:solidFill>
                  <a:srgbClr val="FFFFFF"/>
                </a:solidFill>
                <a:latin typeface="+mj-lt"/>
                <a:ea typeface="+mj-ea"/>
                <a:cs typeface="+mj-cs"/>
              </a:rPr>
            </a:br>
            <a:r>
              <a:rPr lang="en-US" sz="2800" kern="1200" dirty="0">
                <a:solidFill>
                  <a:srgbClr val="FFFFFF"/>
                </a:solidFill>
                <a:latin typeface="+mj-lt"/>
                <a:ea typeface="+mj-ea"/>
                <a:cs typeface="+mj-cs"/>
              </a:rPr>
              <a:t>What Makes You Happy?</a:t>
            </a:r>
          </a:p>
        </p:txBody>
      </p:sp>
      <p:pic>
        <p:nvPicPr>
          <p:cNvPr id="5" name="Content Placeholder 4"/>
          <p:cNvPicPr>
            <a:picLocks noGrp="1" noChangeAspect="1"/>
          </p:cNvPicPr>
          <p:nvPr>
            <p:ph idx="1"/>
          </p:nvPr>
        </p:nvPicPr>
        <p:blipFill>
          <a:blip r:embed="rId2"/>
          <a:stretch>
            <a:fillRect/>
          </a:stretch>
        </p:blipFill>
        <p:spPr>
          <a:xfrm>
            <a:off x="3155949" y="1362993"/>
            <a:ext cx="5510653" cy="4132989"/>
          </a:xfrm>
          <a:prstGeom prst="rect">
            <a:avLst/>
          </a:prstGeom>
        </p:spPr>
      </p:pic>
      <p:sp>
        <p:nvSpPr>
          <p:cNvPr id="4" name="Footer Placeholder 3"/>
          <p:cNvSpPr>
            <a:spLocks noGrp="1"/>
          </p:cNvSpPr>
          <p:nvPr>
            <p:ph type="ftr" sz="quarter" idx="11"/>
          </p:nvPr>
        </p:nvSpPr>
        <p:spPr>
          <a:xfrm>
            <a:off x="628650" y="6356350"/>
            <a:ext cx="4470713" cy="365125"/>
          </a:xfrm>
          <a:noFill/>
        </p:spPr>
        <p:txBody>
          <a:bodyPr vert="horz" lIns="91440" tIns="45720" rIns="91440" bIns="45720" rtlCol="0" anchor="ctr">
            <a:normAutofit/>
          </a:bodyPr>
          <a:lstStyle/>
          <a:p>
            <a:pPr algn="l" defTabSz="914400">
              <a:spcAft>
                <a:spcPts val="600"/>
              </a:spcAft>
            </a:pPr>
            <a:r>
              <a:rPr lang="en-US" sz="1100" kern="1200">
                <a:solidFill>
                  <a:schemeClr val="tx1">
                    <a:tint val="75000"/>
                  </a:schemeClr>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1083848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dirty="0"/>
              <a:t>Top Things That Make Us Happy</a:t>
            </a:r>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
        <p:nvSpPr>
          <p:cNvPr id="5" name="Oval 4"/>
          <p:cNvSpPr/>
          <p:nvPr/>
        </p:nvSpPr>
        <p:spPr>
          <a:xfrm>
            <a:off x="6046471" y="1589804"/>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Forgiveness</a:t>
            </a:r>
          </a:p>
        </p:txBody>
      </p:sp>
      <p:graphicFrame>
        <p:nvGraphicFramePr>
          <p:cNvPr id="6" name="Object 5"/>
          <p:cNvGraphicFramePr>
            <a:graphicFrameLocks noChangeAspect="1"/>
          </p:cNvGraphicFramePr>
          <p:nvPr>
            <p:extLst>
              <p:ext uri="{D42A27DB-BD31-4B8C-83A1-F6EECF244321}">
                <p14:modId xmlns:p14="http://schemas.microsoft.com/office/powerpoint/2010/main" val="1422155910"/>
              </p:ext>
            </p:extLst>
          </p:nvPr>
        </p:nvGraphicFramePr>
        <p:xfrm>
          <a:off x="98425" y="98425"/>
          <a:ext cx="817563" cy="561975"/>
        </p:xfrm>
        <a:graphic>
          <a:graphicData uri="http://schemas.openxmlformats.org/presentationml/2006/ole">
            <mc:AlternateContent xmlns:mc="http://schemas.openxmlformats.org/markup-compatibility/2006">
              <mc:Choice xmlns:v="urn:schemas-microsoft-com:vml" Requires="v">
                <p:oleObj name="Packager Shell Object" showAsIcon="1" r:id="rId2" imgW="816840" imgH="562680" progId="Package">
                  <p:embed/>
                </p:oleObj>
              </mc:Choice>
              <mc:Fallback>
                <p:oleObj name="Packager Shell Object" showAsIcon="1" r:id="rId2" imgW="816840" imgH="562680" progId="Package">
                  <p:embed/>
                  <p:pic>
                    <p:nvPicPr>
                      <p:cNvPr id="0" name=""/>
                      <p:cNvPicPr/>
                      <p:nvPr/>
                    </p:nvPicPr>
                    <p:blipFill>
                      <a:blip r:embed="rId3"/>
                      <a:stretch>
                        <a:fillRect/>
                      </a:stretch>
                    </p:blipFill>
                    <p:spPr>
                      <a:xfrm>
                        <a:off x="98425" y="98425"/>
                        <a:ext cx="817563" cy="561975"/>
                      </a:xfrm>
                      <a:prstGeom prst="rect">
                        <a:avLst/>
                      </a:prstGeom>
                    </p:spPr>
                  </p:pic>
                </p:oleObj>
              </mc:Fallback>
            </mc:AlternateContent>
          </a:graphicData>
        </a:graphic>
      </p:graphicFrame>
      <p:sp>
        <p:nvSpPr>
          <p:cNvPr id="7" name="Oval 6"/>
          <p:cNvSpPr/>
          <p:nvPr/>
        </p:nvSpPr>
        <p:spPr>
          <a:xfrm>
            <a:off x="6042223" y="3174814"/>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Meaningful work</a:t>
            </a:r>
          </a:p>
        </p:txBody>
      </p:sp>
      <p:sp>
        <p:nvSpPr>
          <p:cNvPr id="8" name="Oval 7"/>
          <p:cNvSpPr/>
          <p:nvPr/>
        </p:nvSpPr>
        <p:spPr>
          <a:xfrm>
            <a:off x="3187199" y="1287136"/>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Positive thinking</a:t>
            </a:r>
          </a:p>
        </p:txBody>
      </p:sp>
      <p:sp>
        <p:nvSpPr>
          <p:cNvPr id="9" name="Oval 8"/>
          <p:cNvSpPr/>
          <p:nvPr/>
        </p:nvSpPr>
        <p:spPr>
          <a:xfrm>
            <a:off x="3103581" y="4203627"/>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Practice Gratitude</a:t>
            </a:r>
          </a:p>
        </p:txBody>
      </p:sp>
      <p:pic>
        <p:nvPicPr>
          <p:cNvPr id="10" name="Picture 9"/>
          <p:cNvPicPr>
            <a:picLocks noChangeAspect="1"/>
          </p:cNvPicPr>
          <p:nvPr/>
        </p:nvPicPr>
        <p:blipFill>
          <a:blip r:embed="rId4"/>
          <a:stretch>
            <a:fillRect/>
          </a:stretch>
        </p:blipFill>
        <p:spPr>
          <a:xfrm>
            <a:off x="6037975" y="4697029"/>
            <a:ext cx="2859272" cy="1304657"/>
          </a:xfrm>
          <a:prstGeom prst="rect">
            <a:avLst/>
          </a:prstGeom>
        </p:spPr>
      </p:pic>
      <p:sp>
        <p:nvSpPr>
          <p:cNvPr id="12" name="Oval 11"/>
          <p:cNvSpPr/>
          <p:nvPr/>
        </p:nvSpPr>
        <p:spPr>
          <a:xfrm>
            <a:off x="327927" y="1672836"/>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Personal freedom</a:t>
            </a:r>
          </a:p>
        </p:txBody>
      </p:sp>
      <p:sp>
        <p:nvSpPr>
          <p:cNvPr id="13" name="Oval 12"/>
          <p:cNvSpPr/>
          <p:nvPr/>
        </p:nvSpPr>
        <p:spPr>
          <a:xfrm>
            <a:off x="3103581" y="2713007"/>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Religion</a:t>
            </a:r>
          </a:p>
        </p:txBody>
      </p:sp>
      <p:sp>
        <p:nvSpPr>
          <p:cNvPr id="14" name="Oval 13"/>
          <p:cNvSpPr/>
          <p:nvPr/>
        </p:nvSpPr>
        <p:spPr>
          <a:xfrm>
            <a:off x="336423" y="3183389"/>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Giving to others/helping others</a:t>
            </a:r>
          </a:p>
        </p:txBody>
      </p:sp>
      <p:sp>
        <p:nvSpPr>
          <p:cNvPr id="15" name="Oval 14"/>
          <p:cNvSpPr/>
          <p:nvPr/>
        </p:nvSpPr>
        <p:spPr>
          <a:xfrm>
            <a:off x="336423" y="4781434"/>
            <a:ext cx="2850776" cy="12909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Good health</a:t>
            </a:r>
          </a:p>
        </p:txBody>
      </p:sp>
    </p:spTree>
    <p:extLst>
      <p:ext uri="{BB962C8B-B14F-4D97-AF65-F5344CB8AC3E}">
        <p14:creationId xmlns:p14="http://schemas.microsoft.com/office/powerpoint/2010/main" val="2498918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54"/>
            <a:ext cx="9144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C0A46-1EE2-4B9D-ABD6-4BD410CA63AB}"/>
              </a:ext>
            </a:extLst>
          </p:cNvPr>
          <p:cNvSpPr>
            <a:spLocks noGrp="1"/>
          </p:cNvSpPr>
          <p:nvPr>
            <p:ph type="title"/>
          </p:nvPr>
        </p:nvSpPr>
        <p:spPr>
          <a:xfrm>
            <a:off x="3429000" y="601744"/>
            <a:ext cx="5086350" cy="1338696"/>
          </a:xfrm>
        </p:spPr>
        <p:txBody>
          <a:bodyPr>
            <a:normAutofit/>
          </a:bodyPr>
          <a:lstStyle/>
          <a:p>
            <a:r>
              <a:rPr lang="en-US" dirty="0"/>
              <a:t>Subjective well-being</a:t>
            </a:r>
          </a:p>
        </p:txBody>
      </p:sp>
      <p:pic>
        <p:nvPicPr>
          <p:cNvPr id="6" name="Picture 5" descr="Large skydiving group mid-air">
            <a:extLst>
              <a:ext uri="{FF2B5EF4-FFF2-40B4-BE49-F238E27FC236}">
                <a16:creationId xmlns:a16="http://schemas.microsoft.com/office/drawing/2014/main" id="{EDBCBE5A-0309-B1AB-B2E5-27AEEFE396C5}"/>
              </a:ext>
            </a:extLst>
          </p:cNvPr>
          <p:cNvPicPr>
            <a:picLocks noChangeAspect="1"/>
          </p:cNvPicPr>
          <p:nvPr/>
        </p:nvPicPr>
        <p:blipFill rotWithShape="1">
          <a:blip r:embed="rId2"/>
          <a:srcRect l="36931" r="35763"/>
          <a:stretch/>
        </p:blipFill>
        <p:spPr>
          <a:xfrm>
            <a:off x="20" y="10"/>
            <a:ext cx="281604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B96CFBFF-DC32-40F9-AB0E-E63E36C0D124}"/>
              </a:ext>
            </a:extLst>
          </p:cNvPr>
          <p:cNvSpPr>
            <a:spLocks noGrp="1"/>
          </p:cNvSpPr>
          <p:nvPr>
            <p:ph idx="1"/>
          </p:nvPr>
        </p:nvSpPr>
        <p:spPr>
          <a:xfrm>
            <a:off x="3429000" y="2201958"/>
            <a:ext cx="5086350" cy="3900730"/>
          </a:xfrm>
        </p:spPr>
        <p:txBody>
          <a:bodyPr anchor="t">
            <a:normAutofit/>
          </a:bodyPr>
          <a:lstStyle/>
          <a:p>
            <a:r>
              <a:rPr lang="en-US" sz="2400" dirty="0"/>
              <a:t>A version of hedonic well-being often used in positive psychology is </a:t>
            </a:r>
            <a:r>
              <a:rPr lang="en-US" sz="2400" i="1" dirty="0"/>
              <a:t>subjective well-being</a:t>
            </a:r>
            <a:r>
              <a:rPr lang="en-US" sz="2400" dirty="0"/>
              <a:t> (Diener, 2000), which states that well-being is composed of three factors: </a:t>
            </a:r>
          </a:p>
          <a:p>
            <a:pPr marL="914400" lvl="1" indent="-457200">
              <a:buFont typeface="+mj-lt"/>
              <a:buAutoNum type="arabicPeriod"/>
            </a:pPr>
            <a:r>
              <a:rPr lang="en-US" dirty="0"/>
              <a:t>High levels of positive affect</a:t>
            </a:r>
          </a:p>
          <a:p>
            <a:pPr marL="914400" lvl="1" indent="-457200">
              <a:buFont typeface="+mj-lt"/>
              <a:buAutoNum type="arabicPeriod"/>
            </a:pPr>
            <a:r>
              <a:rPr lang="en-US" dirty="0"/>
              <a:t>Low levels of negative affect</a:t>
            </a:r>
          </a:p>
          <a:p>
            <a:pPr marL="914400" lvl="1" indent="-457200">
              <a:buFont typeface="+mj-lt"/>
              <a:buAutoNum type="arabicPeriod"/>
            </a:pPr>
            <a:r>
              <a:rPr lang="en-US" dirty="0"/>
              <a:t>High levels of life satisfaction (the cognitive evaluation of one’s life).</a:t>
            </a:r>
          </a:p>
          <a:p>
            <a:endParaRPr lang="en-US" sz="1700" dirty="0"/>
          </a:p>
          <a:p>
            <a:pPr marL="0" indent="0">
              <a:buNone/>
            </a:pPr>
            <a:endParaRPr lang="en-US" sz="1700" dirty="0"/>
          </a:p>
        </p:txBody>
      </p:sp>
      <p:sp>
        <p:nvSpPr>
          <p:cNvPr id="4" name="Footer Placeholder 3">
            <a:extLst>
              <a:ext uri="{FF2B5EF4-FFF2-40B4-BE49-F238E27FC236}">
                <a16:creationId xmlns:a16="http://schemas.microsoft.com/office/drawing/2014/main" id="{E6BDA14F-9330-4045-9491-4909A828DAF6}"/>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22424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3724072" y="629268"/>
            <a:ext cx="4939868" cy="1286160"/>
          </a:xfrm>
        </p:spPr>
        <p:txBody>
          <a:bodyPr anchor="b">
            <a:normAutofit/>
          </a:bodyPr>
          <a:lstStyle/>
          <a:p>
            <a:r>
              <a:rPr lang="en-US" dirty="0"/>
              <a:t>Authentic happiness</a:t>
            </a:r>
          </a:p>
        </p:txBody>
      </p:sp>
      <p:sp>
        <p:nvSpPr>
          <p:cNvPr id="3" name="Content Placeholder 2">
            <a:extLst>
              <a:ext uri="{FF2B5EF4-FFF2-40B4-BE49-F238E27FC236}">
                <a16:creationId xmlns:a16="http://schemas.microsoft.com/office/drawing/2014/main" id="{93D7ED35-D335-4FED-B445-6377734134DA}"/>
              </a:ext>
            </a:extLst>
          </p:cNvPr>
          <p:cNvSpPr>
            <a:spLocks noGrp="1"/>
          </p:cNvSpPr>
          <p:nvPr>
            <p:ph idx="1"/>
          </p:nvPr>
        </p:nvSpPr>
        <p:spPr>
          <a:xfrm>
            <a:off x="3724073" y="2438400"/>
            <a:ext cx="4939867" cy="3785419"/>
          </a:xfrm>
        </p:spPr>
        <p:txBody>
          <a:bodyPr>
            <a:normAutofit/>
          </a:bodyPr>
          <a:lstStyle/>
          <a:p>
            <a:r>
              <a:rPr lang="en-US" sz="2400" dirty="0"/>
              <a:t>Seligman (2004) proposed a model of psychological well-being, known as </a:t>
            </a:r>
            <a:r>
              <a:rPr lang="en-US" sz="2400" i="1" dirty="0"/>
              <a:t>authentic happiness</a:t>
            </a:r>
            <a:r>
              <a:rPr lang="en-US" sz="2400" dirty="0"/>
              <a:t>,</a:t>
            </a:r>
            <a:r>
              <a:rPr lang="en-US" sz="2400" b="1" dirty="0"/>
              <a:t> </a:t>
            </a:r>
            <a:r>
              <a:rPr lang="en-US" sz="2400" dirty="0"/>
              <a:t>that attempts to bridge the hedonic and </a:t>
            </a:r>
            <a:r>
              <a:rPr lang="en-US" sz="2400" dirty="0" err="1"/>
              <a:t>eudaimonic</a:t>
            </a:r>
            <a:r>
              <a:rPr lang="en-US" sz="2400" dirty="0"/>
              <a:t> perspectives. </a:t>
            </a:r>
          </a:p>
          <a:p>
            <a:r>
              <a:rPr lang="en-US" sz="2400" dirty="0"/>
              <a:t>According to this model, happiness</a:t>
            </a:r>
            <a:r>
              <a:rPr lang="en-US" sz="2400" i="1" dirty="0"/>
              <a:t> </a:t>
            </a:r>
            <a:r>
              <a:rPr lang="en-US" sz="2400" dirty="0"/>
              <a:t>is achieved through three routes:</a:t>
            </a:r>
          </a:p>
          <a:p>
            <a:pPr marL="0" indent="0">
              <a:buNone/>
            </a:pPr>
            <a:endParaRPr lang="en-US" sz="1700" dirty="0"/>
          </a:p>
          <a:p>
            <a:pPr lvl="1"/>
            <a:endParaRPr lang="en-US" sz="1700" dirty="0"/>
          </a:p>
        </p:txBody>
      </p:sp>
      <p:pic>
        <p:nvPicPr>
          <p:cNvPr id="6" name="Picture 5" descr="White puzzle with one red piece">
            <a:extLst>
              <a:ext uri="{FF2B5EF4-FFF2-40B4-BE49-F238E27FC236}">
                <a16:creationId xmlns:a16="http://schemas.microsoft.com/office/drawing/2014/main" id="{0BF81826-2244-1769-779B-46E7F255A689}"/>
              </a:ext>
            </a:extLst>
          </p:cNvPr>
          <p:cNvPicPr>
            <a:picLocks noChangeAspect="1"/>
          </p:cNvPicPr>
          <p:nvPr/>
        </p:nvPicPr>
        <p:blipFill rotWithShape="1">
          <a:blip r:embed="rId2"/>
          <a:srcRect l="36544" r="34940"/>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A9221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63023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393555" y="620392"/>
            <a:ext cx="2856201" cy="5504688"/>
          </a:xfrm>
        </p:spPr>
        <p:txBody>
          <a:bodyPr>
            <a:normAutofit/>
          </a:bodyPr>
          <a:lstStyle/>
          <a:p>
            <a:r>
              <a:rPr lang="en-US" sz="5200">
                <a:solidFill>
                  <a:schemeClr val="accent5"/>
                </a:solidFill>
              </a:rPr>
              <a:t>Authentic happiness</a:t>
            </a:r>
          </a:p>
        </p:txBody>
      </p: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graphicFrame>
        <p:nvGraphicFramePr>
          <p:cNvPr id="6" name="Content Placeholder 2">
            <a:extLst>
              <a:ext uri="{FF2B5EF4-FFF2-40B4-BE49-F238E27FC236}">
                <a16:creationId xmlns:a16="http://schemas.microsoft.com/office/drawing/2014/main" id="{30D7EDA0-2FF5-4077-1F94-4A180832B670}"/>
              </a:ext>
            </a:extLst>
          </p:cNvPr>
          <p:cNvGraphicFramePr>
            <a:graphicFrameLocks noGrp="1"/>
          </p:cNvGraphicFramePr>
          <p:nvPr>
            <p:ph idx="1"/>
            <p:extLst>
              <p:ext uri="{D42A27DB-BD31-4B8C-83A1-F6EECF244321}">
                <p14:modId xmlns:p14="http://schemas.microsoft.com/office/powerpoint/2010/main" val="3408210969"/>
              </p:ext>
            </p:extLst>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82647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noFill/>
        </p:spPr>
        <p:txBody>
          <a:bodyPr/>
          <a:lstStyle/>
          <a:p>
            <a:r>
              <a:rPr lang="en-US" dirty="0"/>
              <a:t>PERMA</a:t>
            </a:r>
          </a:p>
        </p:txBody>
      </p:sp>
      <p:sp>
        <p:nvSpPr>
          <p:cNvPr id="3" name="Content Placeholder 2">
            <a:extLst>
              <a:ext uri="{FF2B5EF4-FFF2-40B4-BE49-F238E27FC236}">
                <a16:creationId xmlns:a16="http://schemas.microsoft.com/office/drawing/2014/main" id="{93D7ED35-D335-4FED-B445-6377734134DA}"/>
              </a:ext>
            </a:extLst>
          </p:cNvPr>
          <p:cNvSpPr>
            <a:spLocks noGrp="1"/>
          </p:cNvSpPr>
          <p:nvPr>
            <p:ph idx="1"/>
          </p:nvPr>
        </p:nvSpPr>
        <p:spPr/>
        <p:txBody>
          <a:bodyPr>
            <a:normAutofit lnSpcReduction="10000"/>
          </a:bodyPr>
          <a:lstStyle/>
          <a:p>
            <a:r>
              <a:rPr lang="en-US" dirty="0"/>
              <a:t>Later, Seligman expanded the authentic happiness model, relabeling it with the acronym PERMA to represent the five core elements theorized to contribute to a good life:</a:t>
            </a:r>
          </a:p>
          <a:p>
            <a:pPr lvl="1"/>
            <a:r>
              <a:rPr lang="en-US" dirty="0"/>
              <a:t>The pleasant life, good life, and meaningful life were renamed </a:t>
            </a:r>
            <a:r>
              <a:rPr lang="en-US" i="1" dirty="0"/>
              <a:t>positive emotions</a:t>
            </a:r>
            <a:r>
              <a:rPr lang="en-US" dirty="0"/>
              <a:t>, </a:t>
            </a:r>
            <a:r>
              <a:rPr lang="en-US" i="1" dirty="0"/>
              <a:t>engagement</a:t>
            </a:r>
            <a:r>
              <a:rPr lang="en-US" dirty="0"/>
              <a:t>, and </a:t>
            </a:r>
            <a:r>
              <a:rPr lang="en-US" i="1" dirty="0"/>
              <a:t>meaning</a:t>
            </a:r>
            <a:r>
              <a:rPr lang="en-US" dirty="0"/>
              <a:t>.</a:t>
            </a:r>
          </a:p>
          <a:p>
            <a:pPr lvl="1"/>
            <a:r>
              <a:rPr lang="en-US" dirty="0"/>
              <a:t>The first new element, </a:t>
            </a:r>
            <a:r>
              <a:rPr lang="en-US" i="1" dirty="0"/>
              <a:t>relationships</a:t>
            </a:r>
            <a:r>
              <a:rPr lang="en-US" dirty="0"/>
              <a:t>, acknowledges that most of us can’t bring about happiness completely on our own, but rather have a need to connect with others. </a:t>
            </a:r>
          </a:p>
          <a:p>
            <a:pPr lvl="1"/>
            <a:r>
              <a:rPr lang="en-US" dirty="0"/>
              <a:t>The final new element, </a:t>
            </a:r>
            <a:r>
              <a:rPr lang="en-US" i="1" dirty="0"/>
              <a:t>accomplishment</a:t>
            </a:r>
            <a:r>
              <a:rPr lang="en-US" dirty="0"/>
              <a:t>, acknowledges that we often derive a sense of well-being from achieving our goals, leading to experiences of pride and fulfillment.  </a:t>
            </a:r>
          </a:p>
          <a:p>
            <a:endParaRPr lang="en-US" dirty="0"/>
          </a:p>
          <a:p>
            <a:pPr lvl="1"/>
            <a:endParaRPr lang="en-US" dirty="0"/>
          </a:p>
        </p:txBody>
      </p: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499027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noFill/>
        </p:spPr>
        <p:txBody>
          <a:bodyPr/>
          <a:lstStyle/>
          <a:p>
            <a:r>
              <a:rPr lang="en-US" dirty="0"/>
              <a:t>PERMA</a:t>
            </a:r>
          </a:p>
        </p:txBody>
      </p: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pic>
        <p:nvPicPr>
          <p:cNvPr id="9" name="Picture 8" descr="Diagram&#10;&#10;Description automatically generated">
            <a:extLst>
              <a:ext uri="{FF2B5EF4-FFF2-40B4-BE49-F238E27FC236}">
                <a16:creationId xmlns:a16="http://schemas.microsoft.com/office/drawing/2014/main" id="{AC9765BB-AB66-274E-8623-8C0C54A66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4775" y="1647887"/>
            <a:ext cx="6477000" cy="4425461"/>
          </a:xfrm>
          <a:prstGeom prst="rect">
            <a:avLst/>
          </a:prstGeom>
        </p:spPr>
      </p:pic>
    </p:spTree>
    <p:extLst>
      <p:ext uri="{BB962C8B-B14F-4D97-AF65-F5344CB8AC3E}">
        <p14:creationId xmlns:p14="http://schemas.microsoft.com/office/powerpoint/2010/main" val="29592536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6"/>
            <a:ext cx="4939868" cy="1676603"/>
          </a:xfrm>
        </p:spPr>
        <p:txBody>
          <a:bodyPr>
            <a:normAutofit/>
          </a:bodyPr>
          <a:lstStyle/>
          <a:p>
            <a:pPr>
              <a:defRPr/>
            </a:pPr>
            <a:r>
              <a:rPr lang="en-US" sz="4700"/>
              <a:t>Thoughts from Seligman</a:t>
            </a:r>
          </a:p>
        </p:txBody>
      </p:sp>
      <p:sp>
        <p:nvSpPr>
          <p:cNvPr id="3" name="Content Placeholder 2"/>
          <p:cNvSpPr>
            <a:spLocks noGrp="1"/>
          </p:cNvSpPr>
          <p:nvPr>
            <p:ph idx="1"/>
          </p:nvPr>
        </p:nvSpPr>
        <p:spPr>
          <a:xfrm>
            <a:off x="3724073" y="2438400"/>
            <a:ext cx="4939867" cy="3785419"/>
          </a:xfrm>
        </p:spPr>
        <p:txBody>
          <a:bodyPr>
            <a:normAutofit/>
          </a:bodyPr>
          <a:lstStyle/>
          <a:p>
            <a:pPr>
              <a:defRPr/>
            </a:pPr>
            <a:r>
              <a:rPr lang="en-US" sz="1800"/>
              <a:t>Need a psychology of rising to the occasion…thought of this as a missing piece in the jigsaw puzzle of predicting human behavior</a:t>
            </a:r>
          </a:p>
          <a:p>
            <a:pPr>
              <a:defRPr/>
            </a:pPr>
            <a:r>
              <a:rPr lang="en-US" sz="1800"/>
              <a:t>We measure behavior in absence of real-world challenges, and try to predict what a person </a:t>
            </a:r>
            <a:r>
              <a:rPr lang="en-US" sz="1800" i="1"/>
              <a:t>would</a:t>
            </a:r>
            <a:r>
              <a:rPr lang="en-US" sz="1800"/>
              <a:t> do</a:t>
            </a:r>
          </a:p>
          <a:p>
            <a:pPr lvl="1">
              <a:defRPr/>
            </a:pPr>
            <a:r>
              <a:rPr lang="en-US" sz="1800"/>
              <a:t>Correlation between IQ and performance…but some people with high IQ fail, and some with lower IQ succeed life challenges</a:t>
            </a:r>
          </a:p>
          <a:p>
            <a:pPr>
              <a:defRPr/>
            </a:pPr>
            <a:r>
              <a:rPr lang="en-US" sz="1800"/>
              <a:t>Harry Truman effect</a:t>
            </a:r>
          </a:p>
          <a:p>
            <a:pPr lvl="1">
              <a:defRPr/>
            </a:pPr>
            <a:r>
              <a:rPr lang="en-US" sz="1800"/>
              <a:t>We have all strengths we may not </a:t>
            </a:r>
          </a:p>
          <a:p>
            <a:pPr marL="457200" lvl="1" indent="0">
              <a:buFont typeface="Courier New" panose="02070309020205020404" pitchFamily="49" charset="0"/>
              <a:buNone/>
              <a:defRPr/>
            </a:pPr>
            <a:r>
              <a:rPr lang="en-US" sz="1800"/>
              <a:t>even know about until we are challenged</a:t>
            </a:r>
          </a:p>
          <a:p>
            <a:pPr>
              <a:defRPr/>
            </a:pPr>
            <a:endParaRPr lang="en-US" sz="1800"/>
          </a:p>
        </p:txBody>
      </p:sp>
      <p:pic>
        <p:nvPicPr>
          <p:cNvPr id="20485" name="Picture 4"/>
          <p:cNvPicPr>
            <a:picLocks noChangeAspect="1"/>
          </p:cNvPicPr>
          <p:nvPr/>
        </p:nvPicPr>
        <p:blipFill rotWithShape="1">
          <a:blip r:embed="rId2">
            <a:extLst>
              <a:ext uri="{28A0092B-C50C-407E-A947-70E740481C1C}">
                <a14:useLocalDpi xmlns:a14="http://schemas.microsoft.com/office/drawing/2010/main" val="0"/>
              </a:ext>
            </a:extLst>
          </a:blip>
          <a:srcRect l="11338" r="28825"/>
          <a:stretch/>
        </p:blipFill>
        <p:spPr bwMode="auto">
          <a:xfrm>
            <a:off x="20" y="10"/>
            <a:ext cx="3476673" cy="6857990"/>
          </a:xfrm>
          <a:prstGeom prst="rect">
            <a:avLst/>
          </a:prstGeom>
          <a:noFill/>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a:xfrm>
            <a:off x="3724072" y="6356350"/>
            <a:ext cx="3104351" cy="365125"/>
          </a:xfrm>
        </p:spPr>
        <p:txBody>
          <a:bodyPr>
            <a:normAutofit/>
          </a:bodyPr>
          <a:lstStyle/>
          <a:p>
            <a:pPr algn="l">
              <a:spcAft>
                <a:spcPts val="600"/>
              </a:spcAft>
              <a:defRPr/>
            </a:pPr>
            <a:r>
              <a:rPr lang="en-US" dirty="0"/>
              <a:t>Authentic Happiness by Seligman (2002)</a:t>
            </a:r>
            <a:endParaRPr lang="en-US"/>
          </a:p>
          <a:p>
            <a:pPr algn="l">
              <a:spcAft>
                <a:spcPts val="600"/>
              </a:spcAft>
              <a:defRPr/>
            </a:pPr>
            <a:endParaRPr lang="en-US"/>
          </a:p>
        </p:txBody>
      </p:sp>
    </p:spTree>
    <p:extLst>
      <p:ext uri="{BB962C8B-B14F-4D97-AF65-F5344CB8AC3E}">
        <p14:creationId xmlns:p14="http://schemas.microsoft.com/office/powerpoint/2010/main" val="3231647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94ED4E-30DF-8DB8-6BAA-51248352A037}"/>
              </a:ext>
            </a:extLst>
          </p:cNvPr>
          <p:cNvPicPr>
            <a:picLocks noChangeAspect="1"/>
          </p:cNvPicPr>
          <p:nvPr/>
        </p:nvPicPr>
        <p:blipFill>
          <a:blip r:embed="rId2"/>
          <a:stretch>
            <a:fillRect/>
          </a:stretch>
        </p:blipFill>
        <p:spPr>
          <a:xfrm>
            <a:off x="2545801" y="426566"/>
            <a:ext cx="3797849" cy="4991253"/>
          </a:xfrm>
          <a:prstGeom prst="rect">
            <a:avLst/>
          </a:prstGeom>
        </p:spPr>
      </p:pic>
      <p:sp>
        <p:nvSpPr>
          <p:cNvPr id="4" name="Footer Placeholder 3">
            <a:extLst>
              <a:ext uri="{FF2B5EF4-FFF2-40B4-BE49-F238E27FC236}">
                <a16:creationId xmlns:a16="http://schemas.microsoft.com/office/drawing/2014/main" id="{FAF5D8D7-8E68-38D8-0071-EE88DDC84099}"/>
              </a:ext>
            </a:extLst>
          </p:cNvPr>
          <p:cNvSpPr>
            <a:spLocks noGrp="1"/>
          </p:cNvSpPr>
          <p:nvPr>
            <p:ph type="ftr" sz="quarter" idx="10"/>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3535240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pPr>
              <a:defRPr/>
            </a:pPr>
            <a:r>
              <a:rPr lang="en-US" dirty="0"/>
              <a:t>Seligman’s shift</a:t>
            </a:r>
          </a:p>
        </p:txBody>
      </p:sp>
      <p:sp>
        <p:nvSpPr>
          <p:cNvPr id="24579" name="Content Placeholder 2"/>
          <p:cNvSpPr>
            <a:spLocks noGrp="1"/>
          </p:cNvSpPr>
          <p:nvPr>
            <p:ph idx="1"/>
          </p:nvPr>
        </p:nvSpPr>
        <p:spPr>
          <a:xfrm>
            <a:off x="3724073" y="2438400"/>
            <a:ext cx="4939867" cy="3785419"/>
          </a:xfrm>
        </p:spPr>
        <p:txBody>
          <a:bodyPr>
            <a:normAutofit/>
          </a:bodyPr>
          <a:lstStyle/>
          <a:p>
            <a:r>
              <a:rPr lang="en-US" altLang="en-US" sz="2000" dirty="0"/>
              <a:t>Where did the shift from pathology to prevention come from?</a:t>
            </a:r>
          </a:p>
          <a:p>
            <a:r>
              <a:rPr lang="en-US" altLang="en-US" sz="2000" dirty="0"/>
              <a:t>Seligman known for research on learned helplessness</a:t>
            </a:r>
          </a:p>
          <a:p>
            <a:pPr lvl="1"/>
            <a:r>
              <a:rPr lang="en-US" altLang="en-US" sz="2000" dirty="0"/>
              <a:t>BUT…not all rats and dogs became helpless, not all people became helpless with insolvable problems or inescapable noise</a:t>
            </a:r>
          </a:p>
          <a:p>
            <a:pPr lvl="2"/>
            <a:r>
              <a:rPr lang="en-US" altLang="en-US" dirty="0"/>
              <a:t>1 out of 3 never gives up!</a:t>
            </a:r>
          </a:p>
          <a:p>
            <a:pPr lvl="2"/>
            <a:r>
              <a:rPr lang="en-US" altLang="en-US" dirty="0"/>
              <a:t>And…1 out of 8 is helpless to begin with </a:t>
            </a:r>
          </a:p>
        </p:txBody>
      </p:sp>
      <p:pic>
        <p:nvPicPr>
          <p:cNvPr id="24581" name="Picture 24580" descr="The mouse inside transparent cube looking up">
            <a:extLst>
              <a:ext uri="{FF2B5EF4-FFF2-40B4-BE49-F238E27FC236}">
                <a16:creationId xmlns:a16="http://schemas.microsoft.com/office/drawing/2014/main" id="{0723F370-A5B7-8C6C-3EF6-4B081BA99DEB}"/>
              </a:ext>
            </a:extLst>
          </p:cNvPr>
          <p:cNvPicPr>
            <a:picLocks noChangeAspect="1"/>
          </p:cNvPicPr>
          <p:nvPr/>
        </p:nvPicPr>
        <p:blipFill rotWithShape="1">
          <a:blip r:embed="rId2"/>
          <a:srcRect l="41184" r="20795"/>
          <a:stretch/>
        </p:blipFill>
        <p:spPr>
          <a:xfrm>
            <a:off x="20" y="10"/>
            <a:ext cx="3476673" cy="6857990"/>
          </a:xfrm>
          <a:prstGeom prst="rect">
            <a:avLst/>
          </a:prstGeom>
          <a:effectLst/>
        </p:spPr>
      </p:pic>
      <p:cxnSp>
        <p:nvCxnSpPr>
          <p:cNvPr id="24585" name="Straight Connector 2458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798BB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91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3" name="Rectangle 16392">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899" y="851517"/>
            <a:ext cx="3848096" cy="1461778"/>
          </a:xfrm>
        </p:spPr>
        <p:txBody>
          <a:bodyPr vert="horz" lIns="91440" tIns="45720" rIns="91440" bIns="45720" rtlCol="0" anchor="ctr">
            <a:normAutofit/>
          </a:bodyPr>
          <a:lstStyle/>
          <a:p>
            <a:pPr>
              <a:defRPr/>
            </a:pPr>
            <a:r>
              <a:rPr lang="en-US" sz="3500" kern="1200">
                <a:solidFill>
                  <a:schemeClr val="tx1"/>
                </a:solidFill>
                <a:latin typeface="+mj-lt"/>
                <a:ea typeface="+mj-ea"/>
                <a:cs typeface="+mj-cs"/>
              </a:rPr>
              <a:t>School Sisters of </a:t>
            </a:r>
            <a:br>
              <a:rPr lang="en-US" sz="3500" kern="1200">
                <a:solidFill>
                  <a:schemeClr val="tx1"/>
                </a:solidFill>
                <a:latin typeface="+mj-lt"/>
                <a:ea typeface="+mj-ea"/>
                <a:cs typeface="+mj-cs"/>
              </a:rPr>
            </a:br>
            <a:r>
              <a:rPr lang="en-US" sz="3500" kern="1200">
                <a:solidFill>
                  <a:schemeClr val="tx1"/>
                </a:solidFill>
                <a:latin typeface="+mj-lt"/>
                <a:ea typeface="+mj-ea"/>
                <a:cs typeface="+mj-cs"/>
              </a:rPr>
              <a:t>Notre Dame 1932</a:t>
            </a:r>
          </a:p>
        </p:txBody>
      </p:sp>
      <p:sp>
        <p:nvSpPr>
          <p:cNvPr id="4" name="Footer Placeholder 3"/>
          <p:cNvSpPr>
            <a:spLocks noGrp="1"/>
          </p:cNvSpPr>
          <p:nvPr>
            <p:ph type="ftr" sz="quarter" idx="11"/>
          </p:nvPr>
        </p:nvSpPr>
        <p:spPr>
          <a:xfrm>
            <a:off x="5904738" y="384048"/>
            <a:ext cx="2907792" cy="365125"/>
          </a:xfrm>
        </p:spPr>
        <p:txBody>
          <a:bodyPr vert="horz" lIns="91440" tIns="45720" rIns="91440" bIns="45720" rtlCol="0" anchor="ctr">
            <a:normAutofit/>
          </a:bodyPr>
          <a:lstStyle/>
          <a:p>
            <a:pPr algn="r" defTabSz="914400">
              <a:spcAft>
                <a:spcPts val="600"/>
              </a:spcAft>
              <a:defRPr/>
            </a:pPr>
            <a:r>
              <a:rPr lang="en-US" sz="1000" kern="1200">
                <a:solidFill>
                  <a:schemeClr val="tx1">
                    <a:alpha val="80000"/>
                  </a:schemeClr>
                </a:solidFill>
                <a:latin typeface="+mn-lt"/>
                <a:ea typeface="+mn-ea"/>
                <a:cs typeface="+mn-cs"/>
              </a:rPr>
              <a:t>Authentic Happiness by Seligman (2002)</a:t>
            </a:r>
          </a:p>
        </p:txBody>
      </p:sp>
      <p:sp>
        <p:nvSpPr>
          <p:cNvPr id="9" name="Content Placeholder 2"/>
          <p:cNvSpPr txBox="1">
            <a:spLocks/>
          </p:cNvSpPr>
          <p:nvPr/>
        </p:nvSpPr>
        <p:spPr bwMode="auto">
          <a:xfrm>
            <a:off x="723900" y="2081048"/>
            <a:ext cx="3301562" cy="39254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rgbClr val="7F7F7F"/>
                </a:solidFill>
                <a:latin typeface="+mj-lt"/>
                <a:ea typeface="+mn-ea"/>
                <a:cs typeface="+mn-cs"/>
              </a:defRPr>
            </a:lvl1pPr>
            <a:lvl2pPr marL="742950" indent="-28575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3pPr>
            <a:lvl4pPr marL="1600200" indent="-22860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114300" indent="0" algn="ctr" defTabSz="914400" eaLnBrk="1" hangingPunct="1">
              <a:lnSpc>
                <a:spcPct val="90000"/>
              </a:lnSpc>
              <a:buNone/>
              <a:defRPr/>
            </a:pPr>
            <a:r>
              <a:rPr lang="en-US" sz="2000" b="1" dirty="0" err="1">
                <a:solidFill>
                  <a:schemeClr val="tx1"/>
                </a:solidFill>
                <a:latin typeface="+mn-lt"/>
              </a:rPr>
              <a:t>Ceclia</a:t>
            </a:r>
            <a:r>
              <a:rPr lang="en-US" sz="2000" b="1" dirty="0">
                <a:solidFill>
                  <a:schemeClr val="tx1"/>
                </a:solidFill>
                <a:latin typeface="+mn-lt"/>
              </a:rPr>
              <a:t> </a:t>
            </a:r>
            <a:r>
              <a:rPr lang="en-US" sz="2000" b="1" dirty="0" err="1">
                <a:solidFill>
                  <a:schemeClr val="tx1"/>
                </a:solidFill>
                <a:latin typeface="+mn-lt"/>
              </a:rPr>
              <a:t>O’Payne</a:t>
            </a:r>
            <a:r>
              <a:rPr lang="en-US" sz="2000" b="1" dirty="0">
                <a:solidFill>
                  <a:schemeClr val="tx1"/>
                </a:solidFill>
                <a:latin typeface="+mn-lt"/>
              </a:rPr>
              <a:t> Autobiographical sketch</a:t>
            </a:r>
          </a:p>
          <a:p>
            <a:pPr marL="0" indent="0" defTabSz="914400" eaLnBrk="1" hangingPunct="1">
              <a:lnSpc>
                <a:spcPct val="90000"/>
              </a:lnSpc>
              <a:buNone/>
              <a:defRPr/>
            </a:pPr>
            <a:r>
              <a:rPr lang="en-US" sz="2000" dirty="0">
                <a:solidFill>
                  <a:schemeClr val="tx1"/>
                </a:solidFill>
                <a:latin typeface="+mn-lt"/>
              </a:rPr>
              <a:t>“God started my life off well by bestowing upon me grace of inestimable value…The past year which I spent as a candidate studying at Notre Dame has been a very happy one. Now I look forward with eager joy to receiving the Holy Habit of Our Lady and to a life of union with Love Divine.”</a:t>
            </a:r>
          </a:p>
        </p:txBody>
      </p:sp>
      <p:sp>
        <p:nvSpPr>
          <p:cNvPr id="16395" name="Freeform: Shape 16394">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2777" y="851518"/>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388" name="Picture 4" descr="Sisters of Notre Dame de Namu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1497" y="2473165"/>
            <a:ext cx="2413000" cy="24819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7555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899" y="851517"/>
            <a:ext cx="3848096" cy="1461778"/>
          </a:xfrm>
        </p:spPr>
        <p:txBody>
          <a:bodyPr vert="horz" lIns="91440" tIns="45720" rIns="91440" bIns="45720" rtlCol="0" anchor="ctr">
            <a:normAutofit/>
          </a:bodyPr>
          <a:lstStyle/>
          <a:p>
            <a:pPr>
              <a:defRPr/>
            </a:pPr>
            <a:r>
              <a:rPr lang="en-US" sz="3500" kern="1200">
                <a:solidFill>
                  <a:schemeClr val="tx1"/>
                </a:solidFill>
                <a:latin typeface="+mj-lt"/>
                <a:ea typeface="+mj-ea"/>
                <a:cs typeface="+mj-cs"/>
              </a:rPr>
              <a:t>School Sisters of </a:t>
            </a:r>
            <a:br>
              <a:rPr lang="en-US" sz="3500" kern="1200">
                <a:solidFill>
                  <a:schemeClr val="tx1"/>
                </a:solidFill>
                <a:latin typeface="+mj-lt"/>
                <a:ea typeface="+mj-ea"/>
                <a:cs typeface="+mj-cs"/>
              </a:rPr>
            </a:br>
            <a:r>
              <a:rPr lang="en-US" sz="3500" kern="1200">
                <a:solidFill>
                  <a:schemeClr val="tx1"/>
                </a:solidFill>
                <a:latin typeface="+mj-lt"/>
                <a:ea typeface="+mj-ea"/>
                <a:cs typeface="+mj-cs"/>
              </a:rPr>
              <a:t>Notre Dame 1932</a:t>
            </a:r>
          </a:p>
        </p:txBody>
      </p:sp>
      <p:sp>
        <p:nvSpPr>
          <p:cNvPr id="4" name="Footer Placeholder 3"/>
          <p:cNvSpPr>
            <a:spLocks noGrp="1"/>
          </p:cNvSpPr>
          <p:nvPr>
            <p:ph type="ftr" sz="quarter" idx="11"/>
          </p:nvPr>
        </p:nvSpPr>
        <p:spPr>
          <a:xfrm>
            <a:off x="5904738" y="384048"/>
            <a:ext cx="2907792" cy="365125"/>
          </a:xfrm>
        </p:spPr>
        <p:txBody>
          <a:bodyPr vert="horz" lIns="91440" tIns="45720" rIns="91440" bIns="45720" rtlCol="0" anchor="ctr">
            <a:normAutofit/>
          </a:bodyPr>
          <a:lstStyle/>
          <a:p>
            <a:pPr algn="r" defTabSz="914400">
              <a:spcAft>
                <a:spcPts val="600"/>
              </a:spcAft>
              <a:defRPr/>
            </a:pPr>
            <a:r>
              <a:rPr lang="en-US" sz="1000" kern="1200">
                <a:solidFill>
                  <a:schemeClr val="tx1">
                    <a:alpha val="80000"/>
                  </a:schemeClr>
                </a:solidFill>
                <a:latin typeface="+mn-lt"/>
                <a:ea typeface="+mn-ea"/>
                <a:cs typeface="+mn-cs"/>
              </a:rPr>
              <a:t>Authentic Happiness by Seligman (2002)</a:t>
            </a:r>
          </a:p>
          <a:p>
            <a:pPr algn="r" defTabSz="914400">
              <a:spcAft>
                <a:spcPts val="600"/>
              </a:spcAft>
              <a:defRPr/>
            </a:pPr>
            <a:endParaRPr lang="en-US" sz="1000" kern="1200">
              <a:solidFill>
                <a:schemeClr val="tx1">
                  <a:alpha val="80000"/>
                </a:schemeClr>
              </a:solidFill>
              <a:latin typeface="+mn-lt"/>
              <a:ea typeface="+mn-ea"/>
              <a:cs typeface="+mn-cs"/>
            </a:endParaRPr>
          </a:p>
        </p:txBody>
      </p:sp>
      <p:sp>
        <p:nvSpPr>
          <p:cNvPr id="9" name="Content Placeholder 2"/>
          <p:cNvSpPr txBox="1">
            <a:spLocks/>
          </p:cNvSpPr>
          <p:nvPr/>
        </p:nvSpPr>
        <p:spPr bwMode="auto">
          <a:xfrm>
            <a:off x="723899" y="2186469"/>
            <a:ext cx="3036258" cy="35362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rgbClr val="7F7F7F"/>
                </a:solidFill>
                <a:latin typeface="+mj-lt"/>
                <a:ea typeface="+mn-ea"/>
                <a:cs typeface="+mn-cs"/>
              </a:defRPr>
            </a:lvl1pPr>
            <a:lvl2pPr marL="742950" indent="-28575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3pPr>
            <a:lvl4pPr marL="1600200" indent="-228600" algn="l" rtl="0" eaLnBrk="0" fontAlgn="base" hangingPunct="0">
              <a:spcBef>
                <a:spcPct val="20000"/>
              </a:spcBef>
              <a:spcAft>
                <a:spcPct val="0"/>
              </a:spcAft>
              <a:buFont typeface="Courier New" panose="02070309020205020404" pitchFamily="49" charset="0"/>
              <a:buChar char="o"/>
              <a:defRPr sz="1600" kern="1200">
                <a:solidFill>
                  <a:srgbClr val="7F7F7F"/>
                </a:solidFill>
                <a:latin typeface="+mj-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114300" indent="0" algn="ctr" defTabSz="914400" eaLnBrk="1" hangingPunct="1">
              <a:lnSpc>
                <a:spcPct val="90000"/>
              </a:lnSpc>
              <a:buNone/>
              <a:defRPr/>
            </a:pPr>
            <a:r>
              <a:rPr lang="en-US" sz="2000" b="1" dirty="0">
                <a:solidFill>
                  <a:schemeClr val="tx1"/>
                </a:solidFill>
                <a:latin typeface="+mn-lt"/>
              </a:rPr>
              <a:t>Marguerite Donnelly Autobiographical sketch</a:t>
            </a:r>
          </a:p>
          <a:p>
            <a:pPr marL="0" indent="0" defTabSz="914400" eaLnBrk="1" hangingPunct="1">
              <a:lnSpc>
                <a:spcPct val="90000"/>
              </a:lnSpc>
              <a:buNone/>
              <a:defRPr/>
            </a:pPr>
            <a:r>
              <a:rPr lang="en-US" sz="2000" dirty="0">
                <a:solidFill>
                  <a:schemeClr val="tx1"/>
                </a:solidFill>
                <a:latin typeface="+mn-lt"/>
              </a:rPr>
              <a:t>“I was born on September 26, 1909, the eldest of seven children, five girls and two boys…My candidate year was spent in the motherhouse, teaching chemistry and second year Latin at Notre Dame Institute. With God’s grace, I intend to do my best for our Order, for the spread of religion and for my personal sanctification.”</a:t>
            </a:r>
          </a:p>
        </p:txBody>
      </p:sp>
      <p:sp>
        <p:nvSpPr>
          <p:cNvPr id="17419" name="Freeform: Shape 17418">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2777" y="851518"/>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412" name="Picture 4" descr="Sisters of Notre Dame de Namu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1497" y="2473165"/>
            <a:ext cx="2413000" cy="24819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2652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2" name="Rectangle 18441">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899" y="851517"/>
            <a:ext cx="3848096" cy="1461778"/>
          </a:xfrm>
        </p:spPr>
        <p:txBody>
          <a:bodyPr vert="horz" lIns="91440" tIns="45720" rIns="91440" bIns="45720" rtlCol="0" anchor="ctr">
            <a:normAutofit/>
          </a:bodyPr>
          <a:lstStyle/>
          <a:p>
            <a:pPr>
              <a:defRPr/>
            </a:pPr>
            <a:r>
              <a:rPr lang="en-US" sz="3500" kern="1200">
                <a:solidFill>
                  <a:schemeClr val="tx1"/>
                </a:solidFill>
                <a:latin typeface="+mj-lt"/>
                <a:ea typeface="+mj-ea"/>
                <a:cs typeface="+mj-cs"/>
              </a:rPr>
              <a:t>School Sisters of </a:t>
            </a:r>
            <a:br>
              <a:rPr lang="en-US" sz="3500" kern="1200">
                <a:solidFill>
                  <a:schemeClr val="tx1"/>
                </a:solidFill>
                <a:latin typeface="+mj-lt"/>
                <a:ea typeface="+mj-ea"/>
                <a:cs typeface="+mj-cs"/>
              </a:rPr>
            </a:br>
            <a:r>
              <a:rPr lang="en-US" sz="3500" kern="1200">
                <a:solidFill>
                  <a:schemeClr val="tx1"/>
                </a:solidFill>
                <a:latin typeface="+mj-lt"/>
                <a:ea typeface="+mj-ea"/>
                <a:cs typeface="+mj-cs"/>
              </a:rPr>
              <a:t>Notre Dame 1932</a:t>
            </a:r>
          </a:p>
        </p:txBody>
      </p:sp>
      <p:sp>
        <p:nvSpPr>
          <p:cNvPr id="4" name="Footer Placeholder 3"/>
          <p:cNvSpPr>
            <a:spLocks noGrp="1"/>
          </p:cNvSpPr>
          <p:nvPr>
            <p:ph type="ftr" sz="quarter" idx="11"/>
          </p:nvPr>
        </p:nvSpPr>
        <p:spPr>
          <a:xfrm>
            <a:off x="5904738" y="384048"/>
            <a:ext cx="2907792" cy="365125"/>
          </a:xfrm>
        </p:spPr>
        <p:txBody>
          <a:bodyPr vert="horz" lIns="91440" tIns="45720" rIns="91440" bIns="45720" rtlCol="0" anchor="ctr">
            <a:normAutofit/>
          </a:bodyPr>
          <a:lstStyle/>
          <a:p>
            <a:pPr algn="r" defTabSz="914400">
              <a:spcAft>
                <a:spcPts val="600"/>
              </a:spcAft>
              <a:defRPr/>
            </a:pPr>
            <a:r>
              <a:rPr lang="en-US" sz="1000" kern="1200">
                <a:solidFill>
                  <a:schemeClr val="tx1">
                    <a:alpha val="80000"/>
                  </a:schemeClr>
                </a:solidFill>
                <a:latin typeface="+mn-lt"/>
                <a:ea typeface="+mn-ea"/>
                <a:cs typeface="+mn-cs"/>
              </a:rPr>
              <a:t>Authentic Happiness by Seligman (2002)</a:t>
            </a:r>
          </a:p>
          <a:p>
            <a:pPr algn="r" defTabSz="914400">
              <a:spcAft>
                <a:spcPts val="600"/>
              </a:spcAft>
              <a:defRPr/>
            </a:pPr>
            <a:endParaRPr lang="en-US" sz="1000" kern="1200">
              <a:solidFill>
                <a:schemeClr val="tx1">
                  <a:alpha val="80000"/>
                </a:schemeClr>
              </a:solidFill>
              <a:latin typeface="+mn-lt"/>
              <a:ea typeface="+mn-ea"/>
              <a:cs typeface="+mn-cs"/>
            </a:endParaRPr>
          </a:p>
        </p:txBody>
      </p:sp>
      <p:sp>
        <p:nvSpPr>
          <p:cNvPr id="18437" name="Content Placeholder 2"/>
          <p:cNvSpPr txBox="1">
            <a:spLocks/>
          </p:cNvSpPr>
          <p:nvPr/>
        </p:nvSpPr>
        <p:spPr bwMode="auto">
          <a:xfrm>
            <a:off x="723899" y="2470248"/>
            <a:ext cx="3648403" cy="353623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Autofit/>
          </a:bodyPr>
          <a:lstStyle>
            <a:lvl1pPr marL="342900" indent="-342900">
              <a:spcBef>
                <a:spcPct val="20000"/>
              </a:spcBef>
              <a:buFont typeface="Arial" panose="020B0604020202020204" pitchFamily="34" charset="0"/>
              <a:buChar char="•"/>
              <a:defRPr sz="2400">
                <a:solidFill>
                  <a:srgbClr val="7F7F7F"/>
                </a:solidFill>
                <a:latin typeface="Century Gothic" panose="020B0502020202020204" pitchFamily="34" charset="0"/>
              </a:defRPr>
            </a:lvl1pPr>
            <a:lvl2pPr marL="742950" indent="-285750">
              <a:spcBef>
                <a:spcPct val="20000"/>
              </a:spcBef>
              <a:buFont typeface="Courier New" panose="02070309020205020404" pitchFamily="49" charset="0"/>
              <a:buChar char="o"/>
              <a:defRPr sz="1600">
                <a:solidFill>
                  <a:srgbClr val="7F7F7F"/>
                </a:solidFill>
                <a:latin typeface="Century Gothic" panose="020B0502020202020204" pitchFamily="34" charset="0"/>
              </a:defRPr>
            </a:lvl2pPr>
            <a:lvl3pPr marL="1143000" indent="-228600">
              <a:spcBef>
                <a:spcPct val="20000"/>
              </a:spcBef>
              <a:buFont typeface="Arial" panose="020B0604020202020204" pitchFamily="34" charset="0"/>
              <a:buChar char="•"/>
              <a:defRPr sz="1600">
                <a:solidFill>
                  <a:srgbClr val="7F7F7F"/>
                </a:solidFill>
                <a:latin typeface="Century Gothic" panose="020B0502020202020204" pitchFamily="34" charset="0"/>
              </a:defRPr>
            </a:lvl3pPr>
            <a:lvl4pPr marL="1600200" indent="-228600">
              <a:spcBef>
                <a:spcPct val="20000"/>
              </a:spcBef>
              <a:buFont typeface="Courier New" panose="02070309020205020404" pitchFamily="49" charset="0"/>
              <a:buChar char="o"/>
              <a:defRPr sz="1600">
                <a:solidFill>
                  <a:srgbClr val="7F7F7F"/>
                </a:solidFill>
                <a:latin typeface="Century Gothic" panose="020B0502020202020204" pitchFamily="34" charset="0"/>
              </a:defRPr>
            </a:lvl4pPr>
            <a:lvl5pPr marL="2057400" indent="-228600">
              <a:spcBef>
                <a:spcPct val="20000"/>
              </a:spcBef>
              <a:buFont typeface="Arial" panose="020B0604020202020204" pitchFamily="34" charset="0"/>
              <a:buChar char="•"/>
              <a:defRPr sz="1600">
                <a:solidFill>
                  <a:srgbClr val="7F7F7F"/>
                </a:solidFill>
                <a:latin typeface="Century Gothic" panose="020B0502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600">
                <a:solidFill>
                  <a:srgbClr val="7F7F7F"/>
                </a:solidFill>
                <a:latin typeface="Century Gothic" panose="020B0502020202020204" pitchFamily="34" charset="0"/>
              </a:defRPr>
            </a:lvl9pPr>
          </a:lstStyle>
          <a:p>
            <a:pPr indent="-228600" defTabSz="914400">
              <a:lnSpc>
                <a:spcPct val="90000"/>
              </a:lnSpc>
            </a:pPr>
            <a:r>
              <a:rPr lang="en-US" altLang="en-US" sz="2000" dirty="0">
                <a:solidFill>
                  <a:schemeClr val="tx1"/>
                </a:solidFill>
                <a:latin typeface="+mn-lt"/>
              </a:rPr>
              <a:t>Sketches were rated in the amount of positive feeling</a:t>
            </a:r>
          </a:p>
          <a:p>
            <a:pPr lvl="1" indent="-228600" defTabSz="914400">
              <a:lnSpc>
                <a:spcPct val="90000"/>
              </a:lnSpc>
              <a:buFont typeface="Arial" panose="020B0604020202020204" pitchFamily="34" charset="0"/>
              <a:buChar char="•"/>
            </a:pPr>
            <a:r>
              <a:rPr lang="en-US" altLang="en-US" sz="2000" dirty="0">
                <a:solidFill>
                  <a:schemeClr val="tx1"/>
                </a:solidFill>
                <a:latin typeface="+mn-lt"/>
              </a:rPr>
              <a:t>Most cheerful quarter: 90% alive at age 85, 54% at age 94</a:t>
            </a:r>
          </a:p>
          <a:p>
            <a:pPr lvl="1" indent="-228600" defTabSz="914400">
              <a:lnSpc>
                <a:spcPct val="90000"/>
              </a:lnSpc>
              <a:buFont typeface="Arial" panose="020B0604020202020204" pitchFamily="34" charset="0"/>
              <a:buChar char="•"/>
            </a:pPr>
            <a:r>
              <a:rPr lang="en-US" altLang="en-US" sz="2000" dirty="0">
                <a:solidFill>
                  <a:schemeClr val="tx1"/>
                </a:solidFill>
                <a:latin typeface="+mn-lt"/>
              </a:rPr>
              <a:t>Least cheerful quarter: 34% alive at age 85, 11% at age 94</a:t>
            </a:r>
          </a:p>
          <a:p>
            <a:pPr indent="-228600" defTabSz="914400">
              <a:lnSpc>
                <a:spcPct val="90000"/>
              </a:lnSpc>
            </a:pPr>
            <a:r>
              <a:rPr lang="en-US" altLang="en-US" sz="2000" dirty="0">
                <a:solidFill>
                  <a:schemeClr val="tx1"/>
                </a:solidFill>
                <a:latin typeface="+mn-lt"/>
              </a:rPr>
              <a:t>Cecilia </a:t>
            </a:r>
            <a:r>
              <a:rPr lang="en-US" altLang="en-US" sz="2000" dirty="0" err="1">
                <a:solidFill>
                  <a:schemeClr val="tx1"/>
                </a:solidFill>
                <a:latin typeface="+mn-lt"/>
              </a:rPr>
              <a:t>O’Payne</a:t>
            </a:r>
            <a:r>
              <a:rPr lang="en-US" altLang="en-US" sz="2000" dirty="0">
                <a:solidFill>
                  <a:schemeClr val="tx1"/>
                </a:solidFill>
                <a:latin typeface="+mn-lt"/>
              </a:rPr>
              <a:t> (lived over 98 years)</a:t>
            </a:r>
          </a:p>
          <a:p>
            <a:pPr indent="-228600" defTabSz="914400">
              <a:lnSpc>
                <a:spcPct val="90000"/>
              </a:lnSpc>
            </a:pPr>
            <a:r>
              <a:rPr lang="en-US" altLang="en-US" sz="2000" dirty="0">
                <a:solidFill>
                  <a:schemeClr val="tx1"/>
                </a:solidFill>
                <a:latin typeface="+mn-lt"/>
              </a:rPr>
              <a:t>Marguerite Donnelly (died at 59)</a:t>
            </a:r>
          </a:p>
        </p:txBody>
      </p:sp>
      <p:sp>
        <p:nvSpPr>
          <p:cNvPr id="18444" name="Freeform: Shape 18443">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2777" y="851518"/>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436" name="Picture 4" descr="Sisters of Notre Dame de Namu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51497" y="2473165"/>
            <a:ext cx="2413000" cy="24819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0536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85341" y="365125"/>
            <a:ext cx="3630007" cy="1807305"/>
          </a:xfrm>
        </p:spPr>
        <p:txBody>
          <a:bodyPr>
            <a:normAutofit/>
          </a:bodyPr>
          <a:lstStyle/>
          <a:p>
            <a:r>
              <a:rPr lang="en-US" sz="4100" dirty="0"/>
              <a:t>Well-Being Journal Entry #3</a:t>
            </a:r>
          </a:p>
        </p:txBody>
      </p:sp>
      <p:pic>
        <p:nvPicPr>
          <p:cNvPr id="17" name="Picture 16" descr="Close-up of open book against blurred bookshelf background">
            <a:extLst>
              <a:ext uri="{FF2B5EF4-FFF2-40B4-BE49-F238E27FC236}">
                <a16:creationId xmlns:a16="http://schemas.microsoft.com/office/drawing/2014/main" id="{60D679A5-FA56-73E5-A3EB-A800519F4267}"/>
              </a:ext>
            </a:extLst>
          </p:cNvPr>
          <p:cNvPicPr>
            <a:picLocks noChangeAspect="1"/>
          </p:cNvPicPr>
          <p:nvPr/>
        </p:nvPicPr>
        <p:blipFill rotWithShape="1">
          <a:blip r:embed="rId2"/>
          <a:srcRect l="34396" r="20953" b="-1"/>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p:cNvSpPr>
            <a:spLocks noGrp="1"/>
          </p:cNvSpPr>
          <p:nvPr>
            <p:ph idx="1"/>
          </p:nvPr>
        </p:nvSpPr>
        <p:spPr>
          <a:xfrm>
            <a:off x="4885341" y="2333297"/>
            <a:ext cx="3630007" cy="3843666"/>
          </a:xfrm>
        </p:spPr>
        <p:txBody>
          <a:bodyPr>
            <a:normAutofit/>
          </a:bodyPr>
          <a:lstStyle/>
          <a:p>
            <a:pPr lvl="0"/>
            <a:r>
              <a:rPr lang="en-US" sz="1700"/>
              <a:t>Your Philosophy for a Happy Life –Watch the TED talk titled “My philosophy for a happy life” by Sam Berns (</a:t>
            </a:r>
            <a:r>
              <a:rPr lang="en-US" sz="1700" u="sng">
                <a:hlinkClick r:id="rId3"/>
              </a:rPr>
              <a:t>https://www.ted.com/talks/sam_berns_my_philosophy_for_a_happy_life</a:t>
            </a:r>
            <a:r>
              <a:rPr lang="en-US" sz="1700" u="sng"/>
              <a:t>). </a:t>
            </a:r>
            <a:r>
              <a:rPr lang="en-US" sz="1700"/>
              <a:t>After watching, write a paragraph on what you would consider your personal philosophy for a happy life. </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of Positive Psychology © Cambridge University Press 2021</a:t>
            </a:r>
          </a:p>
        </p:txBody>
      </p:sp>
    </p:spTree>
    <p:extLst>
      <p:ext uri="{BB962C8B-B14F-4D97-AF65-F5344CB8AC3E}">
        <p14:creationId xmlns:p14="http://schemas.microsoft.com/office/powerpoint/2010/main" val="3603817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717E5B-2C1D-4094-9D25-6FF6FBD92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1219200"/>
            <a:ext cx="3383128" cy="380455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7FCAD187-9A77-4071-A7EA-AF60F59E8ED2}"/>
              </a:ext>
            </a:extLst>
          </p:cNvPr>
          <p:cNvSpPr>
            <a:spLocks noGrp="1"/>
          </p:cNvSpPr>
          <p:nvPr>
            <p:ph type="title"/>
          </p:nvPr>
        </p:nvSpPr>
        <p:spPr>
          <a:xfrm>
            <a:off x="854283" y="2090114"/>
            <a:ext cx="2537167" cy="2481886"/>
          </a:xfrm>
        </p:spPr>
        <p:txBody>
          <a:bodyPr>
            <a:normAutofit/>
          </a:bodyPr>
          <a:lstStyle/>
          <a:p>
            <a:pPr algn="ctr"/>
            <a:r>
              <a:rPr lang="en-US" sz="4100"/>
              <a:t>Culture and positive psychology</a:t>
            </a:r>
          </a:p>
        </p:txBody>
      </p:sp>
      <p:sp>
        <p:nvSpPr>
          <p:cNvPr id="3" name="Content Placeholder 2">
            <a:extLst>
              <a:ext uri="{FF2B5EF4-FFF2-40B4-BE49-F238E27FC236}">
                <a16:creationId xmlns:a16="http://schemas.microsoft.com/office/drawing/2014/main" id="{A3F155C5-E6D9-4198-85EF-6E477CB01BA9}"/>
              </a:ext>
            </a:extLst>
          </p:cNvPr>
          <p:cNvSpPr>
            <a:spLocks noGrp="1"/>
          </p:cNvSpPr>
          <p:nvPr>
            <p:ph idx="1"/>
          </p:nvPr>
        </p:nvSpPr>
        <p:spPr>
          <a:xfrm>
            <a:off x="3963760" y="964850"/>
            <a:ext cx="4551590" cy="4928300"/>
          </a:xfrm>
        </p:spPr>
        <p:txBody>
          <a:bodyPr anchor="ctr">
            <a:normAutofit/>
          </a:bodyPr>
          <a:lstStyle/>
          <a:p>
            <a:r>
              <a:rPr lang="en-US" sz="1700"/>
              <a:t>Because of a Western cultural bias in the field of psychology in general, most empirical research within positive psychology concerns Western views of well-being. </a:t>
            </a:r>
          </a:p>
          <a:p>
            <a:r>
              <a:rPr lang="en-US" sz="1700"/>
              <a:t>Of course, philosophical and spiritual thinking about well-being hasn’t been restricted to Western culture. For millennia, Eastern philosophers and spiritual leaders have addressed factors believed to contribute to well-being.</a:t>
            </a:r>
          </a:p>
          <a:p>
            <a:r>
              <a:rPr lang="en-US" sz="1700"/>
              <a:t>In addition to this Western cultural bias, research too often includes biased samples that underrepresent persons of color, non-Christian religious views, individuals from the LGBTQ+ community, and other important groups. Although researchers today are increasingly honoring more diverse cultural perspectives in their work, there is still much work to be done.</a:t>
            </a:r>
          </a:p>
        </p:txBody>
      </p:sp>
      <p:sp>
        <p:nvSpPr>
          <p:cNvPr id="4" name="Footer Placeholder 3">
            <a:extLst>
              <a:ext uri="{FF2B5EF4-FFF2-40B4-BE49-F238E27FC236}">
                <a16:creationId xmlns:a16="http://schemas.microsoft.com/office/drawing/2014/main" id="{A09A803D-86D8-49BF-84D2-831135E47CD5}"/>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379006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AD187-9A77-4071-A7EA-AF60F59E8ED2}"/>
              </a:ext>
            </a:extLst>
          </p:cNvPr>
          <p:cNvSpPr>
            <a:spLocks noGrp="1"/>
          </p:cNvSpPr>
          <p:nvPr>
            <p:ph type="title"/>
          </p:nvPr>
        </p:nvSpPr>
        <p:spPr/>
        <p:txBody>
          <a:bodyPr/>
          <a:lstStyle/>
          <a:p>
            <a:r>
              <a:rPr lang="en-US" dirty="0"/>
              <a:t>Culture and positive psychology</a:t>
            </a:r>
          </a:p>
        </p:txBody>
      </p:sp>
      <p:sp>
        <p:nvSpPr>
          <p:cNvPr id="4" name="Footer Placeholder 3">
            <a:extLst>
              <a:ext uri="{FF2B5EF4-FFF2-40B4-BE49-F238E27FC236}">
                <a16:creationId xmlns:a16="http://schemas.microsoft.com/office/drawing/2014/main" id="{A09A803D-86D8-49BF-84D2-831135E47CD5}"/>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graphicFrame>
        <p:nvGraphicFramePr>
          <p:cNvPr id="6" name="Table 6">
            <a:extLst>
              <a:ext uri="{FF2B5EF4-FFF2-40B4-BE49-F238E27FC236}">
                <a16:creationId xmlns:a16="http://schemas.microsoft.com/office/drawing/2014/main" id="{F2404DC7-D1CE-104F-BC18-595CF3170969}"/>
              </a:ext>
            </a:extLst>
          </p:cNvPr>
          <p:cNvGraphicFramePr>
            <a:graphicFrameLocks noGrp="1"/>
          </p:cNvGraphicFramePr>
          <p:nvPr>
            <p:extLst>
              <p:ext uri="{D42A27DB-BD31-4B8C-83A1-F6EECF244321}">
                <p14:modId xmlns:p14="http://schemas.microsoft.com/office/powerpoint/2010/main" val="1357829996"/>
              </p:ext>
            </p:extLst>
          </p:nvPr>
        </p:nvGraphicFramePr>
        <p:xfrm>
          <a:off x="766010" y="3303563"/>
          <a:ext cx="7439527" cy="2477168"/>
        </p:xfrm>
        <a:graphic>
          <a:graphicData uri="http://schemas.openxmlformats.org/drawingml/2006/table">
            <a:tbl>
              <a:tblPr firstRow="1" bandRow="1">
                <a:tableStyleId>{5C22544A-7EE6-4342-B048-85BDC9FD1C3A}</a:tableStyleId>
              </a:tblPr>
              <a:tblGrid>
                <a:gridCol w="3658519">
                  <a:extLst>
                    <a:ext uri="{9D8B030D-6E8A-4147-A177-3AD203B41FA5}">
                      <a16:colId xmlns:a16="http://schemas.microsoft.com/office/drawing/2014/main" val="3145171418"/>
                    </a:ext>
                  </a:extLst>
                </a:gridCol>
                <a:gridCol w="3781008">
                  <a:extLst>
                    <a:ext uri="{9D8B030D-6E8A-4147-A177-3AD203B41FA5}">
                      <a16:colId xmlns:a16="http://schemas.microsoft.com/office/drawing/2014/main" val="4020541948"/>
                    </a:ext>
                  </a:extLst>
                </a:gridCol>
              </a:tblGrid>
              <a:tr h="496723">
                <a:tc>
                  <a:txBody>
                    <a:bodyPr/>
                    <a:lstStyle/>
                    <a:p>
                      <a:r>
                        <a:rPr lang="en-US" sz="2400" b="0" dirty="0"/>
                        <a:t>Eastern Culture</a:t>
                      </a:r>
                    </a:p>
                  </a:txBody>
                  <a:tcPr marL="122480" marR="122480" marT="61240" marB="61240"/>
                </a:tc>
                <a:tc>
                  <a:txBody>
                    <a:bodyPr/>
                    <a:lstStyle/>
                    <a:p>
                      <a:r>
                        <a:rPr lang="en-US" sz="2400" b="0" dirty="0"/>
                        <a:t>Western Culture</a:t>
                      </a:r>
                    </a:p>
                  </a:txBody>
                  <a:tcPr marL="122480" marR="122480" marT="61240" marB="61240"/>
                </a:tc>
                <a:extLst>
                  <a:ext uri="{0D108BD9-81ED-4DB2-BD59-A6C34878D82A}">
                    <a16:rowId xmlns:a16="http://schemas.microsoft.com/office/drawing/2014/main" val="3344612261"/>
                  </a:ext>
                </a:extLst>
              </a:tr>
              <a:tr h="496723">
                <a:tc>
                  <a:txBody>
                    <a:bodyPr/>
                    <a:lstStyle/>
                    <a:p>
                      <a:r>
                        <a:rPr lang="en-US" sz="2400" b="0" dirty="0"/>
                        <a:t>self-transcendence</a:t>
                      </a:r>
                    </a:p>
                  </a:txBody>
                  <a:tcPr marL="122480" marR="122480" marT="61240" marB="61240"/>
                </a:tc>
                <a:tc>
                  <a:txBody>
                    <a:bodyPr/>
                    <a:lstStyle/>
                    <a:p>
                      <a:r>
                        <a:rPr lang="en-US" sz="2400" b="0" dirty="0"/>
                        <a:t>self-enhancement</a:t>
                      </a:r>
                    </a:p>
                  </a:txBody>
                  <a:tcPr marL="122480" marR="122480" marT="61240" marB="61240"/>
                </a:tc>
                <a:extLst>
                  <a:ext uri="{0D108BD9-81ED-4DB2-BD59-A6C34878D82A}">
                    <a16:rowId xmlns:a16="http://schemas.microsoft.com/office/drawing/2014/main" val="2890170217"/>
                  </a:ext>
                </a:extLst>
              </a:tr>
              <a:tr h="496723">
                <a:tc>
                  <a:txBody>
                    <a:bodyPr/>
                    <a:lstStyle/>
                    <a:p>
                      <a:r>
                        <a:rPr lang="en-US" sz="2400" b="0" dirty="0"/>
                        <a:t>harmony</a:t>
                      </a:r>
                    </a:p>
                  </a:txBody>
                  <a:tcPr marL="122480" marR="122480" marT="61240" marB="61240"/>
                </a:tc>
                <a:tc>
                  <a:txBody>
                    <a:bodyPr/>
                    <a:lstStyle/>
                    <a:p>
                      <a:r>
                        <a:rPr lang="en-US" sz="2400" b="0" dirty="0"/>
                        <a:t>mastery</a:t>
                      </a:r>
                    </a:p>
                  </a:txBody>
                  <a:tcPr marL="122480" marR="122480" marT="61240" marB="61240"/>
                </a:tc>
                <a:extLst>
                  <a:ext uri="{0D108BD9-81ED-4DB2-BD59-A6C34878D82A}">
                    <a16:rowId xmlns:a16="http://schemas.microsoft.com/office/drawing/2014/main" val="3101151143"/>
                  </a:ext>
                </a:extLst>
              </a:tr>
              <a:tr h="490276">
                <a:tc>
                  <a:txBody>
                    <a:bodyPr/>
                    <a:lstStyle/>
                    <a:p>
                      <a:r>
                        <a:rPr lang="en-US" sz="2400" b="0" dirty="0"/>
                        <a:t>contentment</a:t>
                      </a:r>
                    </a:p>
                  </a:txBody>
                  <a:tcPr marL="122480" marR="122480" marT="61240" marB="61240"/>
                </a:tc>
                <a:tc>
                  <a:txBody>
                    <a:bodyPr/>
                    <a:lstStyle/>
                    <a:p>
                      <a:r>
                        <a:rPr lang="en-US" sz="2400" b="0" dirty="0"/>
                        <a:t>satisfaction</a:t>
                      </a:r>
                    </a:p>
                  </a:txBody>
                  <a:tcPr marL="122480" marR="122480" marT="61240" marB="61240"/>
                </a:tc>
                <a:extLst>
                  <a:ext uri="{0D108BD9-81ED-4DB2-BD59-A6C34878D82A}">
                    <a16:rowId xmlns:a16="http://schemas.microsoft.com/office/drawing/2014/main" val="4187650190"/>
                  </a:ext>
                </a:extLst>
              </a:tr>
              <a:tr h="496723">
                <a:tc>
                  <a:txBody>
                    <a:bodyPr/>
                    <a:lstStyle/>
                    <a:p>
                      <a:r>
                        <a:rPr lang="en-US" sz="2400" b="0" dirty="0"/>
                        <a:t>valuing suffering</a:t>
                      </a:r>
                    </a:p>
                  </a:txBody>
                  <a:tcPr marL="122480" marR="122480" marT="61240" marB="61240"/>
                </a:tc>
                <a:tc>
                  <a:txBody>
                    <a:bodyPr/>
                    <a:lstStyle/>
                    <a:p>
                      <a:r>
                        <a:rPr lang="en-US" sz="2400" b="0" dirty="0"/>
                        <a:t>avoiding suffering</a:t>
                      </a:r>
                    </a:p>
                  </a:txBody>
                  <a:tcPr marL="122480" marR="122480" marT="61240" marB="61240"/>
                </a:tc>
                <a:extLst>
                  <a:ext uri="{0D108BD9-81ED-4DB2-BD59-A6C34878D82A}">
                    <a16:rowId xmlns:a16="http://schemas.microsoft.com/office/drawing/2014/main" val="2201772625"/>
                  </a:ext>
                </a:extLst>
              </a:tr>
            </a:tbl>
          </a:graphicData>
        </a:graphic>
      </p:graphicFrame>
      <p:sp>
        <p:nvSpPr>
          <p:cNvPr id="7" name="TextBox 6">
            <a:extLst>
              <a:ext uri="{FF2B5EF4-FFF2-40B4-BE49-F238E27FC236}">
                <a16:creationId xmlns:a16="http://schemas.microsoft.com/office/drawing/2014/main" id="{698DAE71-8F5B-E146-B5EA-BD3BA0267D56}"/>
              </a:ext>
            </a:extLst>
          </p:cNvPr>
          <p:cNvSpPr txBox="1"/>
          <p:nvPr/>
        </p:nvSpPr>
        <p:spPr>
          <a:xfrm>
            <a:off x="717883" y="1527630"/>
            <a:ext cx="7090610" cy="1908215"/>
          </a:xfrm>
          <a:prstGeom prst="rect">
            <a:avLst/>
          </a:prstGeom>
          <a:noFill/>
        </p:spPr>
        <p:txBody>
          <a:bodyPr wrap="square" rtlCol="0">
            <a:spAutoFit/>
          </a:bodyPr>
          <a:lstStyle/>
          <a:p>
            <a:pPr marL="285750" indent="-285750">
              <a:buFont typeface="Arial" panose="020B0604020202020204" pitchFamily="34" charset="0"/>
              <a:buChar char="•"/>
            </a:pPr>
            <a:r>
              <a:rPr lang="en-US" sz="2000" dirty="0"/>
              <a:t>Eastern worldviews are not all the same, of course. Spiritual and philosophic traditions abound, including schools of Buddhism, Confucianism, Hinduism, Shintoism, Taoism, and others. </a:t>
            </a:r>
          </a:p>
          <a:p>
            <a:pPr marL="285750" indent="-285750">
              <a:buFont typeface="Arial" panose="020B0604020202020204" pitchFamily="34" charset="0"/>
              <a:buChar char="•"/>
            </a:pPr>
            <a:r>
              <a:rPr lang="en-US" sz="2000" dirty="0"/>
              <a:t>These varied approaches to life, however, share certain ideas about well-being that broadly contrast with Western views:</a:t>
            </a:r>
          </a:p>
          <a:p>
            <a:endParaRPr lang="en-US" dirty="0"/>
          </a:p>
        </p:txBody>
      </p:sp>
    </p:spTree>
    <p:extLst>
      <p:ext uri="{BB962C8B-B14F-4D97-AF65-F5344CB8AC3E}">
        <p14:creationId xmlns:p14="http://schemas.microsoft.com/office/powerpoint/2010/main" val="124650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a:stretch>
            <a:fillRect/>
          </a:stretch>
        </p:blipFill>
        <p:spPr>
          <a:xfrm>
            <a:off x="2106802" y="643467"/>
            <a:ext cx="4930394" cy="5571066"/>
          </a:xfrm>
          <a:prstGeom prst="rect">
            <a:avLst/>
          </a:prstGeom>
        </p:spPr>
      </p:pic>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36984376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Words of Wisdom…</a:t>
            </a:r>
          </a:p>
        </p:txBody>
      </p:sp>
      <p:pic>
        <p:nvPicPr>
          <p:cNvPr id="5" name="Content Placeholder 4" descr="A Precious Privilege – A Pondering Mind"/>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144" y="1825625"/>
            <a:ext cx="7735712" cy="4351338"/>
          </a:xfr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38942558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9FC689-0397-489D-B6C4-918490A97925}">
  <ds:schemaRefs>
    <ds:schemaRef ds:uri="098d3ce3-1732-4665-af2b-0c47aa6f0599"/>
    <ds:schemaRef ds:uri="http://schemas.microsoft.com/office/2006/metadata/properties"/>
    <ds:schemaRef ds:uri="http://schemas.microsoft.com/office/2006/documentManagement/types"/>
    <ds:schemaRef ds:uri="http://purl.org/dc/dcmitype/"/>
    <ds:schemaRef ds:uri="http://purl.org/dc/terms/"/>
    <ds:schemaRef ds:uri="http://purl.org/dc/elements/1.1/"/>
    <ds:schemaRef ds:uri="http://schemas.microsoft.com/office/infopath/2007/PartnerControls"/>
    <ds:schemaRef ds:uri="http://schemas.openxmlformats.org/package/2006/metadata/core-properties"/>
    <ds:schemaRef ds:uri="6ebc9d44-dfc5-41fa-9646-f594d8bccd35"/>
    <ds:schemaRef ds:uri="http://www.w3.org/XML/1998/namespace"/>
  </ds:schemaRefs>
</ds:datastoreItem>
</file>

<file path=customXml/itemProps2.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14F560-3B9A-438C-83B1-6E3F72FA08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2224</TotalTime>
  <Words>2119</Words>
  <Application>Microsoft Office PowerPoint</Application>
  <PresentationFormat>On-screen Show (4:3)</PresentationFormat>
  <Paragraphs>176</Paragraphs>
  <Slides>34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Century Schoolbook</vt:lpstr>
      <vt:lpstr>Courier New</vt:lpstr>
      <vt:lpstr>Times New Roman</vt:lpstr>
      <vt:lpstr>Office Theme</vt:lpstr>
      <vt:lpstr>Packager Shell Object</vt:lpstr>
      <vt:lpstr>Chapter 1</vt:lpstr>
      <vt:lpstr>What is positive psychology?</vt:lpstr>
      <vt:lpstr>Words of Wisdom…</vt:lpstr>
      <vt:lpstr>PowerPoint Presentation</vt:lpstr>
      <vt:lpstr>PowerPoint Presentation</vt:lpstr>
      <vt:lpstr>What is Gratitude?</vt:lpstr>
      <vt:lpstr>Journal Entry #1   “Gratitude Quiz”</vt:lpstr>
      <vt:lpstr>Gratitude Journaling</vt:lpstr>
      <vt:lpstr>Gratitude Journaling </vt:lpstr>
      <vt:lpstr>History and Scope of Positive Psychology</vt:lpstr>
      <vt:lpstr>History of positive psychology</vt:lpstr>
      <vt:lpstr>Humanistic psychology</vt:lpstr>
      <vt:lpstr>Scope of positive psychology</vt:lpstr>
      <vt:lpstr>Positive psychology is interdisciplinary</vt:lpstr>
      <vt:lpstr>Well-being</vt:lpstr>
      <vt:lpstr>Well-being</vt:lpstr>
      <vt:lpstr>Well-Being Journal Entry #2 What Makes You Happy?</vt:lpstr>
      <vt:lpstr>Top Things That Make Us Happy</vt:lpstr>
      <vt:lpstr>Subjective well-being</vt:lpstr>
      <vt:lpstr>Authentic happiness</vt:lpstr>
      <vt:lpstr>Authentic happiness</vt:lpstr>
      <vt:lpstr>PERMA</vt:lpstr>
      <vt:lpstr>PERMA</vt:lpstr>
      <vt:lpstr>Thoughts from Seligman</vt:lpstr>
      <vt:lpstr>PowerPoint Presentation</vt:lpstr>
      <vt:lpstr>Seligman’s shift</vt:lpstr>
      <vt:lpstr>School Sisters of  Notre Dame 1932</vt:lpstr>
      <vt:lpstr>School Sisters of  Notre Dame 1932</vt:lpstr>
      <vt:lpstr>School Sisters of  Notre Dame 1932</vt:lpstr>
      <vt:lpstr>Well-Being Journal Entry #3</vt:lpstr>
      <vt:lpstr>Culture and positive psychology</vt:lpstr>
      <vt:lpstr>Culture and positive psychology</vt:lpstr>
      <vt:lpstr>PowerPoint Presentation</vt:lpstr>
      <vt:lpstr>Words of Wisdom…</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52</cp:revision>
  <dcterms:created xsi:type="dcterms:W3CDTF">2021-07-26T18:02:28Z</dcterms:created>
  <dcterms:modified xsi:type="dcterms:W3CDTF">2025-01-08T19:02:42Z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