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40"/>
  </p:notesMasterIdLst>
  <p:handoutMasterIdLst>
    <p:handoutMasterId r:id="rId41"/>
  </p:handoutMasterIdLst>
  <p:sldIdLst>
    <p:sldId id="259" r:id="rId5"/>
    <p:sldId id="279" r:id="rId6"/>
    <p:sldId id="278" r:id="rId7"/>
    <p:sldId id="260" r:id="rId8"/>
    <p:sldId id="261" r:id="rId9"/>
    <p:sldId id="262" r:id="rId10"/>
    <p:sldId id="263" r:id="rId11"/>
    <p:sldId id="280" r:id="rId12"/>
    <p:sldId id="281" r:id="rId13"/>
    <p:sldId id="264" r:id="rId14"/>
    <p:sldId id="265" r:id="rId15"/>
    <p:sldId id="266" r:id="rId16"/>
    <p:sldId id="267" r:id="rId17"/>
    <p:sldId id="268" r:id="rId18"/>
    <p:sldId id="269" r:id="rId19"/>
    <p:sldId id="270" r:id="rId20"/>
    <p:sldId id="271" r:id="rId21"/>
    <p:sldId id="282" r:id="rId22"/>
    <p:sldId id="272" r:id="rId23"/>
    <p:sldId id="283" r:id="rId24"/>
    <p:sldId id="291" r:id="rId25"/>
    <p:sldId id="292" r:id="rId26"/>
    <p:sldId id="293" r:id="rId27"/>
    <p:sldId id="290" r:id="rId28"/>
    <p:sldId id="273" r:id="rId29"/>
    <p:sldId id="277" r:id="rId30"/>
    <p:sldId id="274" r:id="rId31"/>
    <p:sldId id="275" r:id="rId32"/>
    <p:sldId id="276" r:id="rId33"/>
    <p:sldId id="284" r:id="rId34"/>
    <p:sldId id="285" r:id="rId35"/>
    <p:sldId id="286" r:id="rId36"/>
    <p:sldId id="287" r:id="rId37"/>
    <p:sldId id="288" r:id="rId38"/>
    <p:sldId id="289"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56" autoAdjust="0"/>
    <p:restoredTop sz="92448" autoAdjust="0"/>
  </p:normalViewPr>
  <p:slideViewPr>
    <p:cSldViewPr snapToGrid="0">
      <p:cViewPr varScale="1">
        <p:scale>
          <a:sx n="34" d="100"/>
          <a:sy n="34" d="100"/>
        </p:scale>
        <p:origin x="1594" y="2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294B13-A480-4B8E-8131-F249FDEB9E9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50E6F5B-4A58-4E8F-835E-FF8FF2197464}">
      <dgm:prSet/>
      <dgm:spPr/>
      <dgm:t>
        <a:bodyPr/>
        <a:lstStyle/>
        <a:p>
          <a:r>
            <a:rPr lang="en-US"/>
            <a:t>Helps us create environments where talent and giftedness can flourish</a:t>
          </a:r>
        </a:p>
      </dgm:t>
    </dgm:pt>
    <dgm:pt modelId="{7BEA769C-B79D-4B1E-A135-EAB67E29C95D}" type="parTrans" cxnId="{631A26B7-7716-4FCD-B2EE-D594E03952F0}">
      <dgm:prSet/>
      <dgm:spPr/>
      <dgm:t>
        <a:bodyPr/>
        <a:lstStyle/>
        <a:p>
          <a:endParaRPr lang="en-US"/>
        </a:p>
      </dgm:t>
    </dgm:pt>
    <dgm:pt modelId="{CC49FBF3-0229-4761-B845-9821971BFFEF}" type="sibTrans" cxnId="{631A26B7-7716-4FCD-B2EE-D594E03952F0}">
      <dgm:prSet/>
      <dgm:spPr/>
      <dgm:t>
        <a:bodyPr/>
        <a:lstStyle/>
        <a:p>
          <a:endParaRPr lang="en-US"/>
        </a:p>
      </dgm:t>
    </dgm:pt>
    <dgm:pt modelId="{9B575ADB-223B-4B9D-8364-F46551877905}">
      <dgm:prSet/>
      <dgm:spPr/>
      <dgm:t>
        <a:bodyPr/>
        <a:lstStyle/>
        <a:p>
          <a:r>
            <a:rPr lang="en-US"/>
            <a:t>Witnessing excellence may lead to admiration and the urge for self-improvement</a:t>
          </a:r>
        </a:p>
      </dgm:t>
    </dgm:pt>
    <dgm:pt modelId="{344B0987-7CF7-4070-A657-A6EEBD7BF856}" type="parTrans" cxnId="{D9DA5E53-B25B-44A8-B970-02A09B063D6A}">
      <dgm:prSet/>
      <dgm:spPr/>
      <dgm:t>
        <a:bodyPr/>
        <a:lstStyle/>
        <a:p>
          <a:endParaRPr lang="en-US"/>
        </a:p>
      </dgm:t>
    </dgm:pt>
    <dgm:pt modelId="{778A9732-7AA1-4753-B8A8-55AFC5826522}" type="sibTrans" cxnId="{D9DA5E53-B25B-44A8-B970-02A09B063D6A}">
      <dgm:prSet/>
      <dgm:spPr/>
      <dgm:t>
        <a:bodyPr/>
        <a:lstStyle/>
        <a:p>
          <a:endParaRPr lang="en-US"/>
        </a:p>
      </dgm:t>
    </dgm:pt>
    <dgm:pt modelId="{06175B53-C56F-4872-B710-ACAF749D3CFF}">
      <dgm:prSet/>
      <dgm:spPr/>
      <dgm:t>
        <a:bodyPr/>
        <a:lstStyle/>
        <a:p>
          <a:r>
            <a:rPr lang="en-US"/>
            <a:t>Ensures that we continue to advance as a society and community</a:t>
          </a:r>
        </a:p>
      </dgm:t>
    </dgm:pt>
    <dgm:pt modelId="{1133E202-DA9F-4594-9997-9D6609F0232D}" type="parTrans" cxnId="{279C98B5-8C9D-4179-96F2-366AF2C8C813}">
      <dgm:prSet/>
      <dgm:spPr/>
      <dgm:t>
        <a:bodyPr/>
        <a:lstStyle/>
        <a:p>
          <a:endParaRPr lang="en-US"/>
        </a:p>
      </dgm:t>
    </dgm:pt>
    <dgm:pt modelId="{DC17264B-CDB8-49F8-94B9-424D54E0F88F}" type="sibTrans" cxnId="{279C98B5-8C9D-4179-96F2-366AF2C8C813}">
      <dgm:prSet/>
      <dgm:spPr/>
      <dgm:t>
        <a:bodyPr/>
        <a:lstStyle/>
        <a:p>
          <a:endParaRPr lang="en-US"/>
        </a:p>
      </dgm:t>
    </dgm:pt>
    <dgm:pt modelId="{4B3D0A58-0A4B-4A16-BD15-E2BDFC53876A}" type="pres">
      <dgm:prSet presAssocID="{6B294B13-A480-4B8E-8131-F249FDEB9E92}" presName="vert0" presStyleCnt="0">
        <dgm:presLayoutVars>
          <dgm:dir/>
          <dgm:animOne val="branch"/>
          <dgm:animLvl val="lvl"/>
        </dgm:presLayoutVars>
      </dgm:prSet>
      <dgm:spPr/>
    </dgm:pt>
    <dgm:pt modelId="{A190AA27-DB9D-4E35-9CBE-C7ACBB827A79}" type="pres">
      <dgm:prSet presAssocID="{350E6F5B-4A58-4E8F-835E-FF8FF2197464}" presName="thickLine" presStyleLbl="alignNode1" presStyleIdx="0" presStyleCnt="3"/>
      <dgm:spPr/>
    </dgm:pt>
    <dgm:pt modelId="{224DBD68-6FB7-4AC2-8E0B-6AA4F43441D8}" type="pres">
      <dgm:prSet presAssocID="{350E6F5B-4A58-4E8F-835E-FF8FF2197464}" presName="horz1" presStyleCnt="0"/>
      <dgm:spPr/>
    </dgm:pt>
    <dgm:pt modelId="{2CB96DAD-4CDD-494C-BB36-FAFC5E88A91F}" type="pres">
      <dgm:prSet presAssocID="{350E6F5B-4A58-4E8F-835E-FF8FF2197464}" presName="tx1" presStyleLbl="revTx" presStyleIdx="0" presStyleCnt="3"/>
      <dgm:spPr/>
    </dgm:pt>
    <dgm:pt modelId="{A44F209A-C9CB-464A-800A-7FF202A0885B}" type="pres">
      <dgm:prSet presAssocID="{350E6F5B-4A58-4E8F-835E-FF8FF2197464}" presName="vert1" presStyleCnt="0"/>
      <dgm:spPr/>
    </dgm:pt>
    <dgm:pt modelId="{49A27604-83CB-490E-B3A1-D1B3F6863D0A}" type="pres">
      <dgm:prSet presAssocID="{9B575ADB-223B-4B9D-8364-F46551877905}" presName="thickLine" presStyleLbl="alignNode1" presStyleIdx="1" presStyleCnt="3"/>
      <dgm:spPr/>
    </dgm:pt>
    <dgm:pt modelId="{B357D37E-34F5-405C-8EE6-932C2DFA6D79}" type="pres">
      <dgm:prSet presAssocID="{9B575ADB-223B-4B9D-8364-F46551877905}" presName="horz1" presStyleCnt="0"/>
      <dgm:spPr/>
    </dgm:pt>
    <dgm:pt modelId="{F0C3B70E-02B0-40D5-BF80-912FE451FD6D}" type="pres">
      <dgm:prSet presAssocID="{9B575ADB-223B-4B9D-8364-F46551877905}" presName="tx1" presStyleLbl="revTx" presStyleIdx="1" presStyleCnt="3"/>
      <dgm:spPr/>
    </dgm:pt>
    <dgm:pt modelId="{D2F4E246-2470-486F-BF05-6C611E9306D4}" type="pres">
      <dgm:prSet presAssocID="{9B575ADB-223B-4B9D-8364-F46551877905}" presName="vert1" presStyleCnt="0"/>
      <dgm:spPr/>
    </dgm:pt>
    <dgm:pt modelId="{3E29C839-5B8A-49FE-80A5-26F0332375F7}" type="pres">
      <dgm:prSet presAssocID="{06175B53-C56F-4872-B710-ACAF749D3CFF}" presName="thickLine" presStyleLbl="alignNode1" presStyleIdx="2" presStyleCnt="3"/>
      <dgm:spPr/>
    </dgm:pt>
    <dgm:pt modelId="{070F2E50-ABE7-4BFD-AD11-BF36BB54D4D5}" type="pres">
      <dgm:prSet presAssocID="{06175B53-C56F-4872-B710-ACAF749D3CFF}" presName="horz1" presStyleCnt="0"/>
      <dgm:spPr/>
    </dgm:pt>
    <dgm:pt modelId="{9E64A059-FA74-40C6-8C67-C3B07236BE49}" type="pres">
      <dgm:prSet presAssocID="{06175B53-C56F-4872-B710-ACAF749D3CFF}" presName="tx1" presStyleLbl="revTx" presStyleIdx="2" presStyleCnt="3"/>
      <dgm:spPr/>
    </dgm:pt>
    <dgm:pt modelId="{09062BDD-9369-4C88-846E-FFC551186E73}" type="pres">
      <dgm:prSet presAssocID="{06175B53-C56F-4872-B710-ACAF749D3CFF}" presName="vert1" presStyleCnt="0"/>
      <dgm:spPr/>
    </dgm:pt>
  </dgm:ptLst>
  <dgm:cxnLst>
    <dgm:cxn modelId="{71771D00-51CC-4C36-A316-710D03B4804F}" type="presOf" srcId="{6B294B13-A480-4B8E-8131-F249FDEB9E92}" destId="{4B3D0A58-0A4B-4A16-BD15-E2BDFC53876A}" srcOrd="0" destOrd="0" presId="urn:microsoft.com/office/officeart/2008/layout/LinedList"/>
    <dgm:cxn modelId="{5DCD5412-F22D-400A-925B-684520A11BA7}" type="presOf" srcId="{350E6F5B-4A58-4E8F-835E-FF8FF2197464}" destId="{2CB96DAD-4CDD-494C-BB36-FAFC5E88A91F}" srcOrd="0" destOrd="0" presId="urn:microsoft.com/office/officeart/2008/layout/LinedList"/>
    <dgm:cxn modelId="{CB01092E-B8ED-42AE-934F-85861889DC85}" type="presOf" srcId="{06175B53-C56F-4872-B710-ACAF749D3CFF}" destId="{9E64A059-FA74-40C6-8C67-C3B07236BE49}" srcOrd="0" destOrd="0" presId="urn:microsoft.com/office/officeart/2008/layout/LinedList"/>
    <dgm:cxn modelId="{D9DA5E53-B25B-44A8-B970-02A09B063D6A}" srcId="{6B294B13-A480-4B8E-8131-F249FDEB9E92}" destId="{9B575ADB-223B-4B9D-8364-F46551877905}" srcOrd="1" destOrd="0" parTransId="{344B0987-7CF7-4070-A657-A6EEBD7BF856}" sibTransId="{778A9732-7AA1-4753-B8A8-55AFC5826522}"/>
    <dgm:cxn modelId="{279C98B5-8C9D-4179-96F2-366AF2C8C813}" srcId="{6B294B13-A480-4B8E-8131-F249FDEB9E92}" destId="{06175B53-C56F-4872-B710-ACAF749D3CFF}" srcOrd="2" destOrd="0" parTransId="{1133E202-DA9F-4594-9997-9D6609F0232D}" sibTransId="{DC17264B-CDB8-49F8-94B9-424D54E0F88F}"/>
    <dgm:cxn modelId="{631A26B7-7716-4FCD-B2EE-D594E03952F0}" srcId="{6B294B13-A480-4B8E-8131-F249FDEB9E92}" destId="{350E6F5B-4A58-4E8F-835E-FF8FF2197464}" srcOrd="0" destOrd="0" parTransId="{7BEA769C-B79D-4B1E-A135-EAB67E29C95D}" sibTransId="{CC49FBF3-0229-4761-B845-9821971BFFEF}"/>
    <dgm:cxn modelId="{7243FCC7-4537-45BF-9A1F-81233ED3CB0A}" type="presOf" srcId="{9B575ADB-223B-4B9D-8364-F46551877905}" destId="{F0C3B70E-02B0-40D5-BF80-912FE451FD6D}" srcOrd="0" destOrd="0" presId="urn:microsoft.com/office/officeart/2008/layout/LinedList"/>
    <dgm:cxn modelId="{671224C1-185A-4E64-9AEA-DBC4118D5189}" type="presParOf" srcId="{4B3D0A58-0A4B-4A16-BD15-E2BDFC53876A}" destId="{A190AA27-DB9D-4E35-9CBE-C7ACBB827A79}" srcOrd="0" destOrd="0" presId="urn:microsoft.com/office/officeart/2008/layout/LinedList"/>
    <dgm:cxn modelId="{2A1C17EF-5A46-4C0C-AB36-E365349E64B7}" type="presParOf" srcId="{4B3D0A58-0A4B-4A16-BD15-E2BDFC53876A}" destId="{224DBD68-6FB7-4AC2-8E0B-6AA4F43441D8}" srcOrd="1" destOrd="0" presId="urn:microsoft.com/office/officeart/2008/layout/LinedList"/>
    <dgm:cxn modelId="{7E53BC45-877C-4CE0-ACC3-E2041C3EA01A}" type="presParOf" srcId="{224DBD68-6FB7-4AC2-8E0B-6AA4F43441D8}" destId="{2CB96DAD-4CDD-494C-BB36-FAFC5E88A91F}" srcOrd="0" destOrd="0" presId="urn:microsoft.com/office/officeart/2008/layout/LinedList"/>
    <dgm:cxn modelId="{F1C28665-C6F3-4492-8CA0-9926E3C67CA9}" type="presParOf" srcId="{224DBD68-6FB7-4AC2-8E0B-6AA4F43441D8}" destId="{A44F209A-C9CB-464A-800A-7FF202A0885B}" srcOrd="1" destOrd="0" presId="urn:microsoft.com/office/officeart/2008/layout/LinedList"/>
    <dgm:cxn modelId="{26869EA7-0BFC-4726-B717-3E1B52ABCBAC}" type="presParOf" srcId="{4B3D0A58-0A4B-4A16-BD15-E2BDFC53876A}" destId="{49A27604-83CB-490E-B3A1-D1B3F6863D0A}" srcOrd="2" destOrd="0" presId="urn:microsoft.com/office/officeart/2008/layout/LinedList"/>
    <dgm:cxn modelId="{2D4DACDB-2CE7-4B69-8CB3-7516F48AA6C5}" type="presParOf" srcId="{4B3D0A58-0A4B-4A16-BD15-E2BDFC53876A}" destId="{B357D37E-34F5-405C-8EE6-932C2DFA6D79}" srcOrd="3" destOrd="0" presId="urn:microsoft.com/office/officeart/2008/layout/LinedList"/>
    <dgm:cxn modelId="{BB9C1AB4-2971-4F17-B358-F647EF660C21}" type="presParOf" srcId="{B357D37E-34F5-405C-8EE6-932C2DFA6D79}" destId="{F0C3B70E-02B0-40D5-BF80-912FE451FD6D}" srcOrd="0" destOrd="0" presId="urn:microsoft.com/office/officeart/2008/layout/LinedList"/>
    <dgm:cxn modelId="{D623A354-3B6D-4D8E-8895-CEE6B0FF2D32}" type="presParOf" srcId="{B357D37E-34F5-405C-8EE6-932C2DFA6D79}" destId="{D2F4E246-2470-486F-BF05-6C611E9306D4}" srcOrd="1" destOrd="0" presId="urn:microsoft.com/office/officeart/2008/layout/LinedList"/>
    <dgm:cxn modelId="{97F16ECA-AFBD-46D5-8697-91F3887F4157}" type="presParOf" srcId="{4B3D0A58-0A4B-4A16-BD15-E2BDFC53876A}" destId="{3E29C839-5B8A-49FE-80A5-26F0332375F7}" srcOrd="4" destOrd="0" presId="urn:microsoft.com/office/officeart/2008/layout/LinedList"/>
    <dgm:cxn modelId="{32FE94FD-A9FD-493F-B5EA-6086265CF1DD}" type="presParOf" srcId="{4B3D0A58-0A4B-4A16-BD15-E2BDFC53876A}" destId="{070F2E50-ABE7-4BFD-AD11-BF36BB54D4D5}" srcOrd="5" destOrd="0" presId="urn:microsoft.com/office/officeart/2008/layout/LinedList"/>
    <dgm:cxn modelId="{70EEF66F-3E9A-4D27-A2D0-9CDA780A9D6E}" type="presParOf" srcId="{070F2E50-ABE7-4BFD-AD11-BF36BB54D4D5}" destId="{9E64A059-FA74-40C6-8C67-C3B07236BE49}" srcOrd="0" destOrd="0" presId="urn:microsoft.com/office/officeart/2008/layout/LinedList"/>
    <dgm:cxn modelId="{C76FFA85-D9EF-4DA0-BD0D-E93A7E4EEC36}" type="presParOf" srcId="{070F2E50-ABE7-4BFD-AD11-BF36BB54D4D5}" destId="{09062BDD-9369-4C88-846E-FFC551186E7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3D19E5-4CC7-4DCE-ADEA-88542470BF7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B1C0F86-E891-4D4C-BD5D-4E21C35CBD27}">
      <dgm:prSet/>
      <dgm:spPr/>
      <dgm:t>
        <a:bodyPr/>
        <a:lstStyle/>
        <a:p>
          <a:r>
            <a:rPr lang="en-US"/>
            <a:t>High Cognitive Abilities Consortium (11,000 identical and fraternal twin pairs)</a:t>
          </a:r>
        </a:p>
      </dgm:t>
    </dgm:pt>
    <dgm:pt modelId="{718D7BCD-1BEE-441D-B08E-39679EC11B99}" type="parTrans" cxnId="{5DDE207C-9C8A-4FC2-AD22-62A9ACA269F2}">
      <dgm:prSet/>
      <dgm:spPr/>
      <dgm:t>
        <a:bodyPr/>
        <a:lstStyle/>
        <a:p>
          <a:endParaRPr lang="en-US"/>
        </a:p>
      </dgm:t>
    </dgm:pt>
    <dgm:pt modelId="{BAB13370-61EF-4154-98F8-F453EA99AAB7}" type="sibTrans" cxnId="{5DDE207C-9C8A-4FC2-AD22-62A9ACA269F2}">
      <dgm:prSet/>
      <dgm:spPr/>
      <dgm:t>
        <a:bodyPr/>
        <a:lstStyle/>
        <a:p>
          <a:endParaRPr lang="en-US"/>
        </a:p>
      </dgm:t>
    </dgm:pt>
    <dgm:pt modelId="{9143743C-4E7A-4BD5-B63B-2BC5AF425DAF}">
      <dgm:prSet/>
      <dgm:spPr/>
      <dgm:t>
        <a:bodyPr/>
        <a:lstStyle/>
        <a:p>
          <a:r>
            <a:rPr lang="en-US"/>
            <a:t>Heritability estimate of high intelligence (top 15%) = 50%</a:t>
          </a:r>
        </a:p>
      </dgm:t>
    </dgm:pt>
    <dgm:pt modelId="{62CE81B3-95A4-4211-8F18-0A18B499DE8C}" type="parTrans" cxnId="{0A933909-2483-443E-BD28-354D2461E079}">
      <dgm:prSet/>
      <dgm:spPr/>
      <dgm:t>
        <a:bodyPr/>
        <a:lstStyle/>
        <a:p>
          <a:endParaRPr lang="en-US"/>
        </a:p>
      </dgm:t>
    </dgm:pt>
    <dgm:pt modelId="{4E1DB084-BBBF-47E6-88D0-B3651CA7B617}" type="sibTrans" cxnId="{0A933909-2483-443E-BD28-354D2461E079}">
      <dgm:prSet/>
      <dgm:spPr/>
      <dgm:t>
        <a:bodyPr/>
        <a:lstStyle/>
        <a:p>
          <a:endParaRPr lang="en-US"/>
        </a:p>
      </dgm:t>
    </dgm:pt>
    <dgm:pt modelId="{0604CB45-539A-4923-AF9D-3BE91F5F4838}">
      <dgm:prSet/>
      <dgm:spPr/>
      <dgm:t>
        <a:bodyPr/>
        <a:lstStyle/>
        <a:p>
          <a:r>
            <a:rPr lang="en-US"/>
            <a:t>Heritability estimate of intelligence (whole sample) = 55%</a:t>
          </a:r>
        </a:p>
      </dgm:t>
    </dgm:pt>
    <dgm:pt modelId="{A084AC90-2C81-470C-9674-954A4319E1E2}" type="parTrans" cxnId="{6E5D7FEA-83CE-43FF-9EC0-920FF78EA66A}">
      <dgm:prSet/>
      <dgm:spPr/>
      <dgm:t>
        <a:bodyPr/>
        <a:lstStyle/>
        <a:p>
          <a:endParaRPr lang="en-US"/>
        </a:p>
      </dgm:t>
    </dgm:pt>
    <dgm:pt modelId="{DC640A66-3AE3-4B28-8CCE-16E185378CF4}" type="sibTrans" cxnId="{6E5D7FEA-83CE-43FF-9EC0-920FF78EA66A}">
      <dgm:prSet/>
      <dgm:spPr/>
      <dgm:t>
        <a:bodyPr/>
        <a:lstStyle/>
        <a:p>
          <a:endParaRPr lang="en-US"/>
        </a:p>
      </dgm:t>
    </dgm:pt>
    <dgm:pt modelId="{B893D555-6166-459C-9B0D-95E197AD267E}">
      <dgm:prSet/>
      <dgm:spPr/>
      <dgm:t>
        <a:bodyPr/>
        <a:lstStyle/>
        <a:p>
          <a:r>
            <a:rPr lang="en-US"/>
            <a:t>Swedish men joining military between 1968 – 2010</a:t>
          </a:r>
        </a:p>
      </dgm:t>
    </dgm:pt>
    <dgm:pt modelId="{BDFB4DA3-76DA-4EF9-8A1D-3EFE61AD5BD7}" type="parTrans" cxnId="{B433ECAA-0EE8-4F56-8A46-52CEF631AEF0}">
      <dgm:prSet/>
      <dgm:spPr/>
      <dgm:t>
        <a:bodyPr/>
        <a:lstStyle/>
        <a:p>
          <a:endParaRPr lang="en-US"/>
        </a:p>
      </dgm:t>
    </dgm:pt>
    <dgm:pt modelId="{913250EB-099D-44B9-B60A-65BB4DCDC6A3}" type="sibTrans" cxnId="{B433ECAA-0EE8-4F56-8A46-52CEF631AEF0}">
      <dgm:prSet/>
      <dgm:spPr/>
      <dgm:t>
        <a:bodyPr/>
        <a:lstStyle/>
        <a:p>
          <a:endParaRPr lang="en-US"/>
        </a:p>
      </dgm:t>
    </dgm:pt>
    <dgm:pt modelId="{0EF9EACB-7DF4-461A-8365-3ED15085F9CB}">
      <dgm:prSet/>
      <dgm:spPr/>
      <dgm:t>
        <a:bodyPr/>
        <a:lstStyle/>
        <a:p>
          <a:r>
            <a:rPr lang="en-US"/>
            <a:t>Identical and fraternal twins as well as non-twin brothers</a:t>
          </a:r>
        </a:p>
      </dgm:t>
    </dgm:pt>
    <dgm:pt modelId="{9F696650-A797-48AE-8198-71FA32B63000}" type="parTrans" cxnId="{9C670A11-6580-4573-BCCD-A3C0524A570E}">
      <dgm:prSet/>
      <dgm:spPr/>
      <dgm:t>
        <a:bodyPr/>
        <a:lstStyle/>
        <a:p>
          <a:endParaRPr lang="en-US"/>
        </a:p>
      </dgm:t>
    </dgm:pt>
    <dgm:pt modelId="{FD06EE12-8F7D-4A74-AABE-7507312C264B}" type="sibTrans" cxnId="{9C670A11-6580-4573-BCCD-A3C0524A570E}">
      <dgm:prSet/>
      <dgm:spPr/>
      <dgm:t>
        <a:bodyPr/>
        <a:lstStyle/>
        <a:p>
          <a:endParaRPr lang="en-US"/>
        </a:p>
      </dgm:t>
    </dgm:pt>
    <dgm:pt modelId="{C6E962FD-61B9-4115-9169-BCA3AC54B594}">
      <dgm:prSet/>
      <dgm:spPr/>
      <dgm:t>
        <a:bodyPr/>
        <a:lstStyle/>
        <a:p>
          <a:r>
            <a:rPr lang="en-US"/>
            <a:t>Based on twin analyses, high intelligence (top 5%) heritability estimate = 44% </a:t>
          </a:r>
        </a:p>
      </dgm:t>
    </dgm:pt>
    <dgm:pt modelId="{43B853B9-FC45-4D2B-ADA0-75A6609CAD8E}" type="parTrans" cxnId="{2CCA1B41-2355-4DDE-9DF6-15CC49457410}">
      <dgm:prSet/>
      <dgm:spPr/>
      <dgm:t>
        <a:bodyPr/>
        <a:lstStyle/>
        <a:p>
          <a:endParaRPr lang="en-US"/>
        </a:p>
      </dgm:t>
    </dgm:pt>
    <dgm:pt modelId="{5B5320D2-756C-46EC-8A2D-0EAD7AF79C50}" type="sibTrans" cxnId="{2CCA1B41-2355-4DDE-9DF6-15CC49457410}">
      <dgm:prSet/>
      <dgm:spPr/>
      <dgm:t>
        <a:bodyPr/>
        <a:lstStyle/>
        <a:p>
          <a:endParaRPr lang="en-US"/>
        </a:p>
      </dgm:t>
    </dgm:pt>
    <dgm:pt modelId="{1EF86080-7D6F-4A2C-948F-5C01930520B1}" type="pres">
      <dgm:prSet presAssocID="{393D19E5-4CC7-4DCE-ADEA-88542470BF7D}" presName="linear" presStyleCnt="0">
        <dgm:presLayoutVars>
          <dgm:animLvl val="lvl"/>
          <dgm:resizeHandles val="exact"/>
        </dgm:presLayoutVars>
      </dgm:prSet>
      <dgm:spPr/>
    </dgm:pt>
    <dgm:pt modelId="{05D8960C-FE64-43BA-BA1D-0699416A4A70}" type="pres">
      <dgm:prSet presAssocID="{0B1C0F86-E891-4D4C-BD5D-4E21C35CBD27}" presName="parentText" presStyleLbl="node1" presStyleIdx="0" presStyleCnt="2">
        <dgm:presLayoutVars>
          <dgm:chMax val="0"/>
          <dgm:bulletEnabled val="1"/>
        </dgm:presLayoutVars>
      </dgm:prSet>
      <dgm:spPr/>
    </dgm:pt>
    <dgm:pt modelId="{023911F5-DFF2-49F3-88A5-323AD1565B4C}" type="pres">
      <dgm:prSet presAssocID="{0B1C0F86-E891-4D4C-BD5D-4E21C35CBD27}" presName="childText" presStyleLbl="revTx" presStyleIdx="0" presStyleCnt="2">
        <dgm:presLayoutVars>
          <dgm:bulletEnabled val="1"/>
        </dgm:presLayoutVars>
      </dgm:prSet>
      <dgm:spPr/>
    </dgm:pt>
    <dgm:pt modelId="{6A1C0C9F-322E-4B87-B856-7F18F48EE592}" type="pres">
      <dgm:prSet presAssocID="{B893D555-6166-459C-9B0D-95E197AD267E}" presName="parentText" presStyleLbl="node1" presStyleIdx="1" presStyleCnt="2">
        <dgm:presLayoutVars>
          <dgm:chMax val="0"/>
          <dgm:bulletEnabled val="1"/>
        </dgm:presLayoutVars>
      </dgm:prSet>
      <dgm:spPr/>
    </dgm:pt>
    <dgm:pt modelId="{7E0C2604-748D-4834-A8D1-095B239A4A66}" type="pres">
      <dgm:prSet presAssocID="{B893D555-6166-459C-9B0D-95E197AD267E}" presName="childText" presStyleLbl="revTx" presStyleIdx="1" presStyleCnt="2">
        <dgm:presLayoutVars>
          <dgm:bulletEnabled val="1"/>
        </dgm:presLayoutVars>
      </dgm:prSet>
      <dgm:spPr/>
    </dgm:pt>
  </dgm:ptLst>
  <dgm:cxnLst>
    <dgm:cxn modelId="{AD979A02-A573-4F40-A5E4-3336C4F7CDB8}" type="presOf" srcId="{9143743C-4E7A-4BD5-B63B-2BC5AF425DAF}" destId="{023911F5-DFF2-49F3-88A5-323AD1565B4C}" srcOrd="0" destOrd="0" presId="urn:microsoft.com/office/officeart/2005/8/layout/vList2"/>
    <dgm:cxn modelId="{0A933909-2483-443E-BD28-354D2461E079}" srcId="{0B1C0F86-E891-4D4C-BD5D-4E21C35CBD27}" destId="{9143743C-4E7A-4BD5-B63B-2BC5AF425DAF}" srcOrd="0" destOrd="0" parTransId="{62CE81B3-95A4-4211-8F18-0A18B499DE8C}" sibTransId="{4E1DB084-BBBF-47E6-88D0-B3651CA7B617}"/>
    <dgm:cxn modelId="{9C670A11-6580-4573-BCCD-A3C0524A570E}" srcId="{B893D555-6166-459C-9B0D-95E197AD267E}" destId="{0EF9EACB-7DF4-461A-8365-3ED15085F9CB}" srcOrd="0" destOrd="0" parTransId="{9F696650-A797-48AE-8198-71FA32B63000}" sibTransId="{FD06EE12-8F7D-4A74-AABE-7507312C264B}"/>
    <dgm:cxn modelId="{F466A960-45E0-4255-93A1-423E517896DB}" type="presOf" srcId="{C6E962FD-61B9-4115-9169-BCA3AC54B594}" destId="{7E0C2604-748D-4834-A8D1-095B239A4A66}" srcOrd="0" destOrd="1" presId="urn:microsoft.com/office/officeart/2005/8/layout/vList2"/>
    <dgm:cxn modelId="{2CCA1B41-2355-4DDE-9DF6-15CC49457410}" srcId="{B893D555-6166-459C-9B0D-95E197AD267E}" destId="{C6E962FD-61B9-4115-9169-BCA3AC54B594}" srcOrd="1" destOrd="0" parTransId="{43B853B9-FC45-4D2B-ADA0-75A6609CAD8E}" sibTransId="{5B5320D2-756C-46EC-8A2D-0EAD7AF79C50}"/>
    <dgm:cxn modelId="{5976EF63-BBB3-48E2-9849-50CEE932DE54}" type="presOf" srcId="{0604CB45-539A-4923-AF9D-3BE91F5F4838}" destId="{023911F5-DFF2-49F3-88A5-323AD1565B4C}" srcOrd="0" destOrd="1" presId="urn:microsoft.com/office/officeart/2005/8/layout/vList2"/>
    <dgm:cxn modelId="{D0FB0553-8B49-4441-AB42-CEF14F451F9F}" type="presOf" srcId="{B893D555-6166-459C-9B0D-95E197AD267E}" destId="{6A1C0C9F-322E-4B87-B856-7F18F48EE592}" srcOrd="0" destOrd="0" presId="urn:microsoft.com/office/officeart/2005/8/layout/vList2"/>
    <dgm:cxn modelId="{5DDE207C-9C8A-4FC2-AD22-62A9ACA269F2}" srcId="{393D19E5-4CC7-4DCE-ADEA-88542470BF7D}" destId="{0B1C0F86-E891-4D4C-BD5D-4E21C35CBD27}" srcOrd="0" destOrd="0" parTransId="{718D7BCD-1BEE-441D-B08E-39679EC11B99}" sibTransId="{BAB13370-61EF-4154-98F8-F453EA99AAB7}"/>
    <dgm:cxn modelId="{13C14484-1763-4BA2-8795-537F279C2371}" type="presOf" srcId="{393D19E5-4CC7-4DCE-ADEA-88542470BF7D}" destId="{1EF86080-7D6F-4A2C-948F-5C01930520B1}" srcOrd="0" destOrd="0" presId="urn:microsoft.com/office/officeart/2005/8/layout/vList2"/>
    <dgm:cxn modelId="{B433ECAA-0EE8-4F56-8A46-52CEF631AEF0}" srcId="{393D19E5-4CC7-4DCE-ADEA-88542470BF7D}" destId="{B893D555-6166-459C-9B0D-95E197AD267E}" srcOrd="1" destOrd="0" parTransId="{BDFB4DA3-76DA-4EF9-8A1D-3EFE61AD5BD7}" sibTransId="{913250EB-099D-44B9-B60A-65BB4DCDC6A3}"/>
    <dgm:cxn modelId="{625842D0-2E2C-4C3C-B2CB-E1C11E30E43F}" type="presOf" srcId="{0B1C0F86-E891-4D4C-BD5D-4E21C35CBD27}" destId="{05D8960C-FE64-43BA-BA1D-0699416A4A70}" srcOrd="0" destOrd="0" presId="urn:microsoft.com/office/officeart/2005/8/layout/vList2"/>
    <dgm:cxn modelId="{6E5D7FEA-83CE-43FF-9EC0-920FF78EA66A}" srcId="{0B1C0F86-E891-4D4C-BD5D-4E21C35CBD27}" destId="{0604CB45-539A-4923-AF9D-3BE91F5F4838}" srcOrd="1" destOrd="0" parTransId="{A084AC90-2C81-470C-9674-954A4319E1E2}" sibTransId="{DC640A66-3AE3-4B28-8CCE-16E185378CF4}"/>
    <dgm:cxn modelId="{0BA21DEF-6E2C-4AB8-A465-9368D3F27E9F}" type="presOf" srcId="{0EF9EACB-7DF4-461A-8365-3ED15085F9CB}" destId="{7E0C2604-748D-4834-A8D1-095B239A4A66}" srcOrd="0" destOrd="0" presId="urn:microsoft.com/office/officeart/2005/8/layout/vList2"/>
    <dgm:cxn modelId="{3414645F-8767-428C-AD06-E40ABD3FDBAD}" type="presParOf" srcId="{1EF86080-7D6F-4A2C-948F-5C01930520B1}" destId="{05D8960C-FE64-43BA-BA1D-0699416A4A70}" srcOrd="0" destOrd="0" presId="urn:microsoft.com/office/officeart/2005/8/layout/vList2"/>
    <dgm:cxn modelId="{701B1231-253A-4688-ABDD-00A4DE5F667E}" type="presParOf" srcId="{1EF86080-7D6F-4A2C-948F-5C01930520B1}" destId="{023911F5-DFF2-49F3-88A5-323AD1565B4C}" srcOrd="1" destOrd="0" presId="urn:microsoft.com/office/officeart/2005/8/layout/vList2"/>
    <dgm:cxn modelId="{DF9ED346-D0D5-42F0-9889-A426F20A7AEC}" type="presParOf" srcId="{1EF86080-7D6F-4A2C-948F-5C01930520B1}" destId="{6A1C0C9F-322E-4B87-B856-7F18F48EE592}" srcOrd="2" destOrd="0" presId="urn:microsoft.com/office/officeart/2005/8/layout/vList2"/>
    <dgm:cxn modelId="{5228A201-15E9-406F-9EA8-810A597DF2C9}" type="presParOf" srcId="{1EF86080-7D6F-4A2C-948F-5C01930520B1}" destId="{7E0C2604-748D-4834-A8D1-095B239A4A6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45F364-DF8B-41BE-8187-CB880373C8FA}"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24EFA89B-F665-4DB4-866F-5632B5EC063D}">
      <dgm:prSet/>
      <dgm:spPr/>
      <dgm:t>
        <a:bodyPr/>
        <a:lstStyle/>
        <a:p>
          <a:r>
            <a:rPr lang="en-US"/>
            <a:t>Twin study from 7 European countries (N = 37,051)</a:t>
          </a:r>
        </a:p>
      </dgm:t>
    </dgm:pt>
    <dgm:pt modelId="{49DD98E9-7997-4256-8B76-84FC4F12A75A}" type="parTrans" cxnId="{F5B9FB95-A30D-414F-B407-578F479B7131}">
      <dgm:prSet/>
      <dgm:spPr/>
      <dgm:t>
        <a:bodyPr/>
        <a:lstStyle/>
        <a:p>
          <a:endParaRPr lang="en-US"/>
        </a:p>
      </dgm:t>
    </dgm:pt>
    <dgm:pt modelId="{467F62F5-9E0D-4257-9554-F63E11D71655}" type="sibTrans" cxnId="{F5B9FB95-A30D-414F-B407-578F479B7131}">
      <dgm:prSet/>
      <dgm:spPr/>
      <dgm:t>
        <a:bodyPr/>
        <a:lstStyle/>
        <a:p>
          <a:endParaRPr lang="en-US"/>
        </a:p>
      </dgm:t>
    </dgm:pt>
    <dgm:pt modelId="{D2B25F19-BA3C-46F9-945F-7F0F74231F2E}">
      <dgm:prSet/>
      <dgm:spPr/>
      <dgm:t>
        <a:bodyPr/>
        <a:lstStyle/>
        <a:p>
          <a:r>
            <a:rPr lang="en-US"/>
            <a:t>Heritability estimate for tendency to engage in athletics for leisure ranged from 48% to 71%</a:t>
          </a:r>
        </a:p>
      </dgm:t>
    </dgm:pt>
    <dgm:pt modelId="{6FE653F5-6F04-4C0D-A9C8-D12143B076EB}" type="parTrans" cxnId="{19AD4DBD-9A53-47D6-9D97-88544FC9BBB4}">
      <dgm:prSet/>
      <dgm:spPr/>
      <dgm:t>
        <a:bodyPr/>
        <a:lstStyle/>
        <a:p>
          <a:endParaRPr lang="en-US"/>
        </a:p>
      </dgm:t>
    </dgm:pt>
    <dgm:pt modelId="{F496CBC3-BDD4-4B3D-B503-FA37DA66ADE8}" type="sibTrans" cxnId="{19AD4DBD-9A53-47D6-9D97-88544FC9BBB4}">
      <dgm:prSet/>
      <dgm:spPr/>
      <dgm:t>
        <a:bodyPr/>
        <a:lstStyle/>
        <a:p>
          <a:endParaRPr lang="en-US"/>
        </a:p>
      </dgm:t>
    </dgm:pt>
    <dgm:pt modelId="{F07FB773-861D-435E-8877-70A114587EBE}">
      <dgm:prSet/>
      <dgm:spPr/>
      <dgm:t>
        <a:bodyPr/>
        <a:lstStyle/>
        <a:p>
          <a:r>
            <a:rPr lang="en-US"/>
            <a:t>Muscle mass and explosive strength have high heritability estimates</a:t>
          </a:r>
        </a:p>
      </dgm:t>
    </dgm:pt>
    <dgm:pt modelId="{6EEDB09B-E058-486E-A775-8A3A40B67478}" type="parTrans" cxnId="{9F0FD3F7-FA33-4766-ACCD-EE501295A81C}">
      <dgm:prSet/>
      <dgm:spPr/>
      <dgm:t>
        <a:bodyPr/>
        <a:lstStyle/>
        <a:p>
          <a:endParaRPr lang="en-US"/>
        </a:p>
      </dgm:t>
    </dgm:pt>
    <dgm:pt modelId="{48AB3D21-D6F5-4AA9-A278-46E40E12D489}" type="sibTrans" cxnId="{9F0FD3F7-FA33-4766-ACCD-EE501295A81C}">
      <dgm:prSet/>
      <dgm:spPr/>
      <dgm:t>
        <a:bodyPr/>
        <a:lstStyle/>
        <a:p>
          <a:endParaRPr lang="en-US"/>
        </a:p>
      </dgm:t>
    </dgm:pt>
    <dgm:pt modelId="{BED1BF61-8841-4CDB-AC3B-39EADEE5C0FB}" type="pres">
      <dgm:prSet presAssocID="{0945F364-DF8B-41BE-8187-CB880373C8FA}" presName="linear" presStyleCnt="0">
        <dgm:presLayoutVars>
          <dgm:animLvl val="lvl"/>
          <dgm:resizeHandles val="exact"/>
        </dgm:presLayoutVars>
      </dgm:prSet>
      <dgm:spPr/>
    </dgm:pt>
    <dgm:pt modelId="{18320401-6F29-46BF-A91A-14E79D45A58C}" type="pres">
      <dgm:prSet presAssocID="{24EFA89B-F665-4DB4-866F-5632B5EC063D}" presName="parentText" presStyleLbl="node1" presStyleIdx="0" presStyleCnt="2">
        <dgm:presLayoutVars>
          <dgm:chMax val="0"/>
          <dgm:bulletEnabled val="1"/>
        </dgm:presLayoutVars>
      </dgm:prSet>
      <dgm:spPr/>
    </dgm:pt>
    <dgm:pt modelId="{DC660D4E-E289-4DF7-B672-3854FD716DC3}" type="pres">
      <dgm:prSet presAssocID="{24EFA89B-F665-4DB4-866F-5632B5EC063D}" presName="childText" presStyleLbl="revTx" presStyleIdx="0" presStyleCnt="1">
        <dgm:presLayoutVars>
          <dgm:bulletEnabled val="1"/>
        </dgm:presLayoutVars>
      </dgm:prSet>
      <dgm:spPr/>
    </dgm:pt>
    <dgm:pt modelId="{B6407A67-936E-4A22-B99D-F23520A5C6A5}" type="pres">
      <dgm:prSet presAssocID="{F07FB773-861D-435E-8877-70A114587EBE}" presName="parentText" presStyleLbl="node1" presStyleIdx="1" presStyleCnt="2">
        <dgm:presLayoutVars>
          <dgm:chMax val="0"/>
          <dgm:bulletEnabled val="1"/>
        </dgm:presLayoutVars>
      </dgm:prSet>
      <dgm:spPr/>
    </dgm:pt>
  </dgm:ptLst>
  <dgm:cxnLst>
    <dgm:cxn modelId="{5E18881B-EEB7-4007-9883-C10461C8F897}" type="presOf" srcId="{0945F364-DF8B-41BE-8187-CB880373C8FA}" destId="{BED1BF61-8841-4CDB-AC3B-39EADEE5C0FB}" srcOrd="0" destOrd="0" presId="urn:microsoft.com/office/officeart/2005/8/layout/vList2"/>
    <dgm:cxn modelId="{F5B9FB95-A30D-414F-B407-578F479B7131}" srcId="{0945F364-DF8B-41BE-8187-CB880373C8FA}" destId="{24EFA89B-F665-4DB4-866F-5632B5EC063D}" srcOrd="0" destOrd="0" parTransId="{49DD98E9-7997-4256-8B76-84FC4F12A75A}" sibTransId="{467F62F5-9E0D-4257-9554-F63E11D71655}"/>
    <dgm:cxn modelId="{8887059F-37CD-4D3C-B379-5AFADCFF9BBF}" type="presOf" srcId="{F07FB773-861D-435E-8877-70A114587EBE}" destId="{B6407A67-936E-4A22-B99D-F23520A5C6A5}" srcOrd="0" destOrd="0" presId="urn:microsoft.com/office/officeart/2005/8/layout/vList2"/>
    <dgm:cxn modelId="{19AD4DBD-9A53-47D6-9D97-88544FC9BBB4}" srcId="{24EFA89B-F665-4DB4-866F-5632B5EC063D}" destId="{D2B25F19-BA3C-46F9-945F-7F0F74231F2E}" srcOrd="0" destOrd="0" parTransId="{6FE653F5-6F04-4C0D-A9C8-D12143B076EB}" sibTransId="{F496CBC3-BDD4-4B3D-B503-FA37DA66ADE8}"/>
    <dgm:cxn modelId="{AB7748D1-0A96-474A-8B12-2C222AB495F2}" type="presOf" srcId="{24EFA89B-F665-4DB4-866F-5632B5EC063D}" destId="{18320401-6F29-46BF-A91A-14E79D45A58C}" srcOrd="0" destOrd="0" presId="urn:microsoft.com/office/officeart/2005/8/layout/vList2"/>
    <dgm:cxn modelId="{0A97A7F2-93F2-492B-8D32-466D876A8F24}" type="presOf" srcId="{D2B25F19-BA3C-46F9-945F-7F0F74231F2E}" destId="{DC660D4E-E289-4DF7-B672-3854FD716DC3}" srcOrd="0" destOrd="0" presId="urn:microsoft.com/office/officeart/2005/8/layout/vList2"/>
    <dgm:cxn modelId="{9F0FD3F7-FA33-4766-ACCD-EE501295A81C}" srcId="{0945F364-DF8B-41BE-8187-CB880373C8FA}" destId="{F07FB773-861D-435E-8877-70A114587EBE}" srcOrd="1" destOrd="0" parTransId="{6EEDB09B-E058-486E-A775-8A3A40B67478}" sibTransId="{48AB3D21-D6F5-4AA9-A278-46E40E12D489}"/>
    <dgm:cxn modelId="{5A33A937-C313-4BFF-A06A-367770251BD9}" type="presParOf" srcId="{BED1BF61-8841-4CDB-AC3B-39EADEE5C0FB}" destId="{18320401-6F29-46BF-A91A-14E79D45A58C}" srcOrd="0" destOrd="0" presId="urn:microsoft.com/office/officeart/2005/8/layout/vList2"/>
    <dgm:cxn modelId="{A82B9DEF-9AC1-4DAE-B460-928999B1D976}" type="presParOf" srcId="{BED1BF61-8841-4CDB-AC3B-39EADEE5C0FB}" destId="{DC660D4E-E289-4DF7-B672-3854FD716DC3}" srcOrd="1" destOrd="0" presId="urn:microsoft.com/office/officeart/2005/8/layout/vList2"/>
    <dgm:cxn modelId="{0FC0F4F8-E3AF-42F8-A393-C2E310B7EF3E}" type="presParOf" srcId="{BED1BF61-8841-4CDB-AC3B-39EADEE5C0FB}" destId="{B6407A67-936E-4A22-B99D-F23520A5C6A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4D3D4A-C1BC-4AD5-97F1-F398D6DC46F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BA772524-FA55-4F61-8FAA-5F35E47A80CB}">
      <dgm:prSet/>
      <dgm:spPr/>
      <dgm:t>
        <a:bodyPr/>
        <a:lstStyle/>
        <a:p>
          <a:r>
            <a:rPr lang="en-US"/>
            <a:t>Relative age effect is the advantage of being born earlier in your age cohort</a:t>
          </a:r>
        </a:p>
      </dgm:t>
    </dgm:pt>
    <dgm:pt modelId="{62475CB0-CD69-44DA-B0DD-5020F38BA093}" type="parTrans" cxnId="{B20BFE27-4EA2-44ED-BA79-23DA2499AE80}">
      <dgm:prSet/>
      <dgm:spPr/>
      <dgm:t>
        <a:bodyPr/>
        <a:lstStyle/>
        <a:p>
          <a:endParaRPr lang="en-US"/>
        </a:p>
      </dgm:t>
    </dgm:pt>
    <dgm:pt modelId="{F3938178-03DB-4F85-8CCE-A0BF28A56F35}" type="sibTrans" cxnId="{B20BFE27-4EA2-44ED-BA79-23DA2499AE80}">
      <dgm:prSet/>
      <dgm:spPr/>
      <dgm:t>
        <a:bodyPr/>
        <a:lstStyle/>
        <a:p>
          <a:endParaRPr lang="en-US"/>
        </a:p>
      </dgm:t>
    </dgm:pt>
    <dgm:pt modelId="{16F3AC9D-13B6-41B3-B519-1B7F78AB7822}">
      <dgm:prSet/>
      <dgm:spPr/>
      <dgm:t>
        <a:bodyPr/>
        <a:lstStyle/>
        <a:p>
          <a:r>
            <a:rPr lang="en-US"/>
            <a:t>Older, more physically mature young people tend to be better athletes and students than their younger peers</a:t>
          </a:r>
        </a:p>
      </dgm:t>
    </dgm:pt>
    <dgm:pt modelId="{A50EA885-C84E-4794-91D8-F2A1019D8BCB}" type="parTrans" cxnId="{046BAC02-AE95-4675-A995-8BADB4D99738}">
      <dgm:prSet/>
      <dgm:spPr/>
      <dgm:t>
        <a:bodyPr/>
        <a:lstStyle/>
        <a:p>
          <a:endParaRPr lang="en-US"/>
        </a:p>
      </dgm:t>
    </dgm:pt>
    <dgm:pt modelId="{5174E2B8-817F-400C-AD64-963F5B10CA1D}" type="sibTrans" cxnId="{046BAC02-AE95-4675-A995-8BADB4D99738}">
      <dgm:prSet/>
      <dgm:spPr/>
      <dgm:t>
        <a:bodyPr/>
        <a:lstStyle/>
        <a:p>
          <a:endParaRPr lang="en-US"/>
        </a:p>
      </dgm:t>
    </dgm:pt>
    <dgm:pt modelId="{D824AF55-9088-4C33-B198-D984A90E71EE}">
      <dgm:prSet/>
      <dgm:spPr/>
      <dgm:t>
        <a:bodyPr/>
        <a:lstStyle/>
        <a:p>
          <a:r>
            <a:rPr lang="en-US"/>
            <a:t>Vincent &amp; Glamser (2006) found RAE was more pronounced in male soccer players than female</a:t>
          </a:r>
        </a:p>
      </dgm:t>
    </dgm:pt>
    <dgm:pt modelId="{19C490D9-DF92-4463-AC9B-E86EEE37347A}" type="parTrans" cxnId="{0F55B9AA-709C-4D98-991F-8D6590555DA0}">
      <dgm:prSet/>
      <dgm:spPr/>
      <dgm:t>
        <a:bodyPr/>
        <a:lstStyle/>
        <a:p>
          <a:endParaRPr lang="en-US"/>
        </a:p>
      </dgm:t>
    </dgm:pt>
    <dgm:pt modelId="{B0B171C0-9E03-455D-AD69-014608FECD45}" type="sibTrans" cxnId="{0F55B9AA-709C-4D98-991F-8D6590555DA0}">
      <dgm:prSet/>
      <dgm:spPr/>
      <dgm:t>
        <a:bodyPr/>
        <a:lstStyle/>
        <a:p>
          <a:endParaRPr lang="en-US"/>
        </a:p>
      </dgm:t>
    </dgm:pt>
    <dgm:pt modelId="{5764AE29-E8DD-44FF-B685-BF812737679E}">
      <dgm:prSet/>
      <dgm:spPr/>
      <dgm:t>
        <a:bodyPr/>
        <a:lstStyle/>
        <a:p>
          <a:r>
            <a:rPr lang="en-US"/>
            <a:t>May negatively impact younger players in early development</a:t>
          </a:r>
        </a:p>
      </dgm:t>
    </dgm:pt>
    <dgm:pt modelId="{A189A3CB-634D-4376-B414-2B6983C65B78}" type="parTrans" cxnId="{4330C227-9C96-4756-A678-6A18BE1955E9}">
      <dgm:prSet/>
      <dgm:spPr/>
      <dgm:t>
        <a:bodyPr/>
        <a:lstStyle/>
        <a:p>
          <a:endParaRPr lang="en-US"/>
        </a:p>
      </dgm:t>
    </dgm:pt>
    <dgm:pt modelId="{91ED9595-4BF1-40BB-9E8B-DF346688BD22}" type="sibTrans" cxnId="{4330C227-9C96-4756-A678-6A18BE1955E9}">
      <dgm:prSet/>
      <dgm:spPr/>
      <dgm:t>
        <a:bodyPr/>
        <a:lstStyle/>
        <a:p>
          <a:endParaRPr lang="en-US"/>
        </a:p>
      </dgm:t>
    </dgm:pt>
    <dgm:pt modelId="{5847156E-1CD7-49C6-9807-51CD124A6B1B}">
      <dgm:prSet/>
      <dgm:spPr/>
      <dgm:t>
        <a:bodyPr/>
        <a:lstStyle/>
        <a:p>
          <a:r>
            <a:rPr lang="en-US"/>
            <a:t>But those who continue in the sport may benefit later</a:t>
          </a:r>
        </a:p>
      </dgm:t>
    </dgm:pt>
    <dgm:pt modelId="{3D4C7AC4-1D8E-4DC8-96B9-7BF117AE78FC}" type="parTrans" cxnId="{1F6E17EF-1615-4901-89F0-10B69533D6C0}">
      <dgm:prSet/>
      <dgm:spPr/>
      <dgm:t>
        <a:bodyPr/>
        <a:lstStyle/>
        <a:p>
          <a:endParaRPr lang="en-US"/>
        </a:p>
      </dgm:t>
    </dgm:pt>
    <dgm:pt modelId="{A525AF4E-519C-4E1C-A9D4-9C5B19F49841}" type="sibTrans" cxnId="{1F6E17EF-1615-4901-89F0-10B69533D6C0}">
      <dgm:prSet/>
      <dgm:spPr/>
      <dgm:t>
        <a:bodyPr/>
        <a:lstStyle/>
        <a:p>
          <a:endParaRPr lang="en-US"/>
        </a:p>
      </dgm:t>
    </dgm:pt>
    <dgm:pt modelId="{C4B7972F-3DF3-44FD-BF93-BF3268A8B12B}" type="pres">
      <dgm:prSet presAssocID="{8C4D3D4A-C1BC-4AD5-97F1-F398D6DC46F8}" presName="linear" presStyleCnt="0">
        <dgm:presLayoutVars>
          <dgm:animLvl val="lvl"/>
          <dgm:resizeHandles val="exact"/>
        </dgm:presLayoutVars>
      </dgm:prSet>
      <dgm:spPr/>
    </dgm:pt>
    <dgm:pt modelId="{7E7D39B3-DD9C-4393-9B1E-DDAB56C3BC89}" type="pres">
      <dgm:prSet presAssocID="{BA772524-FA55-4F61-8FAA-5F35E47A80CB}" presName="parentText" presStyleLbl="node1" presStyleIdx="0" presStyleCnt="3">
        <dgm:presLayoutVars>
          <dgm:chMax val="0"/>
          <dgm:bulletEnabled val="1"/>
        </dgm:presLayoutVars>
      </dgm:prSet>
      <dgm:spPr/>
    </dgm:pt>
    <dgm:pt modelId="{F9C1A8A6-4C32-4D24-8F3A-2E11A50C04F4}" type="pres">
      <dgm:prSet presAssocID="{F3938178-03DB-4F85-8CCE-A0BF28A56F35}" presName="spacer" presStyleCnt="0"/>
      <dgm:spPr/>
    </dgm:pt>
    <dgm:pt modelId="{2AF17F04-6733-4CB9-B2C1-5DE68E5E3682}" type="pres">
      <dgm:prSet presAssocID="{16F3AC9D-13B6-41B3-B519-1B7F78AB7822}" presName="parentText" presStyleLbl="node1" presStyleIdx="1" presStyleCnt="3">
        <dgm:presLayoutVars>
          <dgm:chMax val="0"/>
          <dgm:bulletEnabled val="1"/>
        </dgm:presLayoutVars>
      </dgm:prSet>
      <dgm:spPr/>
    </dgm:pt>
    <dgm:pt modelId="{DA3A9522-E2E4-4F93-8CE6-8966FC7391C9}" type="pres">
      <dgm:prSet presAssocID="{16F3AC9D-13B6-41B3-B519-1B7F78AB7822}" presName="childText" presStyleLbl="revTx" presStyleIdx="0" presStyleCnt="2">
        <dgm:presLayoutVars>
          <dgm:bulletEnabled val="1"/>
        </dgm:presLayoutVars>
      </dgm:prSet>
      <dgm:spPr/>
    </dgm:pt>
    <dgm:pt modelId="{1AAC3425-EA82-460A-A3F2-9511E2A3AFA5}" type="pres">
      <dgm:prSet presAssocID="{5764AE29-E8DD-44FF-B685-BF812737679E}" presName="parentText" presStyleLbl="node1" presStyleIdx="2" presStyleCnt="3">
        <dgm:presLayoutVars>
          <dgm:chMax val="0"/>
          <dgm:bulletEnabled val="1"/>
        </dgm:presLayoutVars>
      </dgm:prSet>
      <dgm:spPr/>
    </dgm:pt>
    <dgm:pt modelId="{8CD34019-7354-43AE-A738-FB931D05F661}" type="pres">
      <dgm:prSet presAssocID="{5764AE29-E8DD-44FF-B685-BF812737679E}" presName="childText" presStyleLbl="revTx" presStyleIdx="1" presStyleCnt="2">
        <dgm:presLayoutVars>
          <dgm:bulletEnabled val="1"/>
        </dgm:presLayoutVars>
      </dgm:prSet>
      <dgm:spPr/>
    </dgm:pt>
  </dgm:ptLst>
  <dgm:cxnLst>
    <dgm:cxn modelId="{046BAC02-AE95-4675-A995-8BADB4D99738}" srcId="{8C4D3D4A-C1BC-4AD5-97F1-F398D6DC46F8}" destId="{16F3AC9D-13B6-41B3-B519-1B7F78AB7822}" srcOrd="1" destOrd="0" parTransId="{A50EA885-C84E-4794-91D8-F2A1019D8BCB}" sibTransId="{5174E2B8-817F-400C-AD64-963F5B10CA1D}"/>
    <dgm:cxn modelId="{B753DC22-0492-4667-A9BB-616FD706215F}" type="presOf" srcId="{8C4D3D4A-C1BC-4AD5-97F1-F398D6DC46F8}" destId="{C4B7972F-3DF3-44FD-BF93-BF3268A8B12B}" srcOrd="0" destOrd="0" presId="urn:microsoft.com/office/officeart/2005/8/layout/vList2"/>
    <dgm:cxn modelId="{4330C227-9C96-4756-A678-6A18BE1955E9}" srcId="{8C4D3D4A-C1BC-4AD5-97F1-F398D6DC46F8}" destId="{5764AE29-E8DD-44FF-B685-BF812737679E}" srcOrd="2" destOrd="0" parTransId="{A189A3CB-634D-4376-B414-2B6983C65B78}" sibTransId="{91ED9595-4BF1-40BB-9E8B-DF346688BD22}"/>
    <dgm:cxn modelId="{B20BFE27-4EA2-44ED-BA79-23DA2499AE80}" srcId="{8C4D3D4A-C1BC-4AD5-97F1-F398D6DC46F8}" destId="{BA772524-FA55-4F61-8FAA-5F35E47A80CB}" srcOrd="0" destOrd="0" parTransId="{62475CB0-CD69-44DA-B0DD-5020F38BA093}" sibTransId="{F3938178-03DB-4F85-8CCE-A0BF28A56F35}"/>
    <dgm:cxn modelId="{4C3CE134-AAE1-4F5C-A88E-68BAD25EB026}" type="presOf" srcId="{BA772524-FA55-4F61-8FAA-5F35E47A80CB}" destId="{7E7D39B3-DD9C-4393-9B1E-DDAB56C3BC89}" srcOrd="0" destOrd="0" presId="urn:microsoft.com/office/officeart/2005/8/layout/vList2"/>
    <dgm:cxn modelId="{A3EBDC3A-0A3F-4FDE-AF16-8716C68532A7}" type="presOf" srcId="{5764AE29-E8DD-44FF-B685-BF812737679E}" destId="{1AAC3425-EA82-460A-A3F2-9511E2A3AFA5}" srcOrd="0" destOrd="0" presId="urn:microsoft.com/office/officeart/2005/8/layout/vList2"/>
    <dgm:cxn modelId="{1F93F972-2A90-4B60-93B9-D41F97B23649}" type="presOf" srcId="{5847156E-1CD7-49C6-9807-51CD124A6B1B}" destId="{8CD34019-7354-43AE-A738-FB931D05F661}" srcOrd="0" destOrd="0" presId="urn:microsoft.com/office/officeart/2005/8/layout/vList2"/>
    <dgm:cxn modelId="{AC5F10A3-EEFC-4A88-AA52-A89624B2189D}" type="presOf" srcId="{16F3AC9D-13B6-41B3-B519-1B7F78AB7822}" destId="{2AF17F04-6733-4CB9-B2C1-5DE68E5E3682}" srcOrd="0" destOrd="0" presId="urn:microsoft.com/office/officeart/2005/8/layout/vList2"/>
    <dgm:cxn modelId="{0F55B9AA-709C-4D98-991F-8D6590555DA0}" srcId="{16F3AC9D-13B6-41B3-B519-1B7F78AB7822}" destId="{D824AF55-9088-4C33-B198-D984A90E71EE}" srcOrd="0" destOrd="0" parTransId="{19C490D9-DF92-4463-AC9B-E86EEE37347A}" sibTransId="{B0B171C0-9E03-455D-AD69-014608FECD45}"/>
    <dgm:cxn modelId="{5FB180D5-FB1A-4B50-AB7A-2B7269115B36}" type="presOf" srcId="{D824AF55-9088-4C33-B198-D984A90E71EE}" destId="{DA3A9522-E2E4-4F93-8CE6-8966FC7391C9}" srcOrd="0" destOrd="0" presId="urn:microsoft.com/office/officeart/2005/8/layout/vList2"/>
    <dgm:cxn modelId="{1F6E17EF-1615-4901-89F0-10B69533D6C0}" srcId="{5764AE29-E8DD-44FF-B685-BF812737679E}" destId="{5847156E-1CD7-49C6-9807-51CD124A6B1B}" srcOrd="0" destOrd="0" parTransId="{3D4C7AC4-1D8E-4DC8-96B9-7BF117AE78FC}" sibTransId="{A525AF4E-519C-4E1C-A9D4-9C5B19F49841}"/>
    <dgm:cxn modelId="{6F86C93B-3475-4466-82B8-AA24EF327EAD}" type="presParOf" srcId="{C4B7972F-3DF3-44FD-BF93-BF3268A8B12B}" destId="{7E7D39B3-DD9C-4393-9B1E-DDAB56C3BC89}" srcOrd="0" destOrd="0" presId="urn:microsoft.com/office/officeart/2005/8/layout/vList2"/>
    <dgm:cxn modelId="{DDAA85C3-8B95-44A3-8911-1BFECFE0B128}" type="presParOf" srcId="{C4B7972F-3DF3-44FD-BF93-BF3268A8B12B}" destId="{F9C1A8A6-4C32-4D24-8F3A-2E11A50C04F4}" srcOrd="1" destOrd="0" presId="urn:microsoft.com/office/officeart/2005/8/layout/vList2"/>
    <dgm:cxn modelId="{7D81D66D-3D0E-4C83-9084-E0C12326D6EC}" type="presParOf" srcId="{C4B7972F-3DF3-44FD-BF93-BF3268A8B12B}" destId="{2AF17F04-6733-4CB9-B2C1-5DE68E5E3682}" srcOrd="2" destOrd="0" presId="urn:microsoft.com/office/officeart/2005/8/layout/vList2"/>
    <dgm:cxn modelId="{F92BF1E1-BE8C-4994-BF26-A19A6E75A416}" type="presParOf" srcId="{C4B7972F-3DF3-44FD-BF93-BF3268A8B12B}" destId="{DA3A9522-E2E4-4F93-8CE6-8966FC7391C9}" srcOrd="3" destOrd="0" presId="urn:microsoft.com/office/officeart/2005/8/layout/vList2"/>
    <dgm:cxn modelId="{21332B36-D6D6-4B8E-9087-8D6893E2ECAF}" type="presParOf" srcId="{C4B7972F-3DF3-44FD-BF93-BF3268A8B12B}" destId="{1AAC3425-EA82-460A-A3F2-9511E2A3AFA5}" srcOrd="4" destOrd="0" presId="urn:microsoft.com/office/officeart/2005/8/layout/vList2"/>
    <dgm:cxn modelId="{49466E1A-3D4B-4CB9-93B5-C13DFC7A34DD}" type="presParOf" srcId="{C4B7972F-3DF3-44FD-BF93-BF3268A8B12B}" destId="{8CD34019-7354-43AE-A738-FB931D05F66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2BEF5E-285F-4E96-9C2F-9E94CA71F23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A9DC496-4DCA-433B-BD82-D4E9E681ABED}">
      <dgm:prSet/>
      <dgm:spPr/>
      <dgm:t>
        <a:bodyPr/>
        <a:lstStyle/>
        <a:p>
          <a:r>
            <a:rPr lang="en-US"/>
            <a:t>Performance and expertise tend to improve over time</a:t>
          </a:r>
        </a:p>
      </dgm:t>
    </dgm:pt>
    <dgm:pt modelId="{DD95BCBC-B1DE-4521-8D3F-4DDE330208BF}" type="parTrans" cxnId="{AC8A24E4-E750-4054-9968-B21534721D1D}">
      <dgm:prSet/>
      <dgm:spPr/>
      <dgm:t>
        <a:bodyPr/>
        <a:lstStyle/>
        <a:p>
          <a:endParaRPr lang="en-US"/>
        </a:p>
      </dgm:t>
    </dgm:pt>
    <dgm:pt modelId="{BC8854E9-BB9B-4AE9-ABC0-8FD33269B219}" type="sibTrans" cxnId="{AC8A24E4-E750-4054-9968-B21534721D1D}">
      <dgm:prSet/>
      <dgm:spPr/>
      <dgm:t>
        <a:bodyPr/>
        <a:lstStyle/>
        <a:p>
          <a:endParaRPr lang="en-US"/>
        </a:p>
      </dgm:t>
    </dgm:pt>
    <dgm:pt modelId="{4D0F6FB0-07DC-4292-AE0F-8826BA230244}">
      <dgm:prSet/>
      <dgm:spPr/>
      <dgm:t>
        <a:bodyPr/>
        <a:lstStyle/>
        <a:p>
          <a:r>
            <a:rPr lang="en-US"/>
            <a:t>Innate abilities cannot fully explain talent and giftedness</a:t>
          </a:r>
        </a:p>
      </dgm:t>
    </dgm:pt>
    <dgm:pt modelId="{FB2DB5E0-7679-4829-9D2C-0CB8771D54DF}" type="parTrans" cxnId="{78A2C471-7CEA-4F9E-922F-AB7D158F40BA}">
      <dgm:prSet/>
      <dgm:spPr/>
      <dgm:t>
        <a:bodyPr/>
        <a:lstStyle/>
        <a:p>
          <a:endParaRPr lang="en-US"/>
        </a:p>
      </dgm:t>
    </dgm:pt>
    <dgm:pt modelId="{7080FA54-5CB9-465D-8AE2-B72C5E1CE819}" type="sibTrans" cxnId="{78A2C471-7CEA-4F9E-922F-AB7D158F40BA}">
      <dgm:prSet/>
      <dgm:spPr/>
      <dgm:t>
        <a:bodyPr/>
        <a:lstStyle/>
        <a:p>
          <a:endParaRPr lang="en-US"/>
        </a:p>
      </dgm:t>
    </dgm:pt>
    <dgm:pt modelId="{35BA10D3-AA0E-45CB-96C8-985689330C6A}">
      <dgm:prSet/>
      <dgm:spPr/>
      <dgm:t>
        <a:bodyPr/>
        <a:lstStyle/>
        <a:p>
          <a:r>
            <a:rPr lang="en-US"/>
            <a:t>Argued that a particular type of training and preparedness is necessary for excellence</a:t>
          </a:r>
        </a:p>
      </dgm:t>
    </dgm:pt>
    <dgm:pt modelId="{B68D47EC-F5EB-4B50-89C4-58775731AD00}" type="parTrans" cxnId="{72D4E2F3-4742-4378-892A-9AED9702222E}">
      <dgm:prSet/>
      <dgm:spPr/>
      <dgm:t>
        <a:bodyPr/>
        <a:lstStyle/>
        <a:p>
          <a:endParaRPr lang="en-US"/>
        </a:p>
      </dgm:t>
    </dgm:pt>
    <dgm:pt modelId="{CDB5BB69-2AD3-400F-B232-27781A163459}" type="sibTrans" cxnId="{72D4E2F3-4742-4378-892A-9AED9702222E}">
      <dgm:prSet/>
      <dgm:spPr/>
      <dgm:t>
        <a:bodyPr/>
        <a:lstStyle/>
        <a:p>
          <a:endParaRPr lang="en-US"/>
        </a:p>
      </dgm:t>
    </dgm:pt>
    <dgm:pt modelId="{553A1899-50B5-4060-9FEF-7D61BF80F3D0}">
      <dgm:prSet/>
      <dgm:spPr/>
      <dgm:t>
        <a:bodyPr/>
        <a:lstStyle/>
        <a:p>
          <a:r>
            <a:rPr lang="en-US"/>
            <a:t>Activities relevant for deliberate practice:</a:t>
          </a:r>
        </a:p>
      </dgm:t>
    </dgm:pt>
    <dgm:pt modelId="{2DFB888F-5B3D-4039-ABAD-19F421763282}" type="parTrans" cxnId="{1A820D2B-EBC3-4E78-A1BF-52359E8AB775}">
      <dgm:prSet/>
      <dgm:spPr/>
      <dgm:t>
        <a:bodyPr/>
        <a:lstStyle/>
        <a:p>
          <a:endParaRPr lang="en-US"/>
        </a:p>
      </dgm:t>
    </dgm:pt>
    <dgm:pt modelId="{1641D3E7-D421-41C1-BB55-0ED1D534F3AA}" type="sibTrans" cxnId="{1A820D2B-EBC3-4E78-A1BF-52359E8AB775}">
      <dgm:prSet/>
      <dgm:spPr/>
      <dgm:t>
        <a:bodyPr/>
        <a:lstStyle/>
        <a:p>
          <a:endParaRPr lang="en-US"/>
        </a:p>
      </dgm:t>
    </dgm:pt>
    <dgm:pt modelId="{CD36A48A-9472-45A6-8814-04FA73B287AE}">
      <dgm:prSet/>
      <dgm:spPr/>
      <dgm:t>
        <a:bodyPr/>
        <a:lstStyle/>
        <a:p>
          <a:r>
            <a:rPr lang="en-US"/>
            <a:t>Variability in objective performance outcomes</a:t>
          </a:r>
        </a:p>
      </dgm:t>
    </dgm:pt>
    <dgm:pt modelId="{3792B1AD-49FA-4D02-8E89-145AA67B076A}" type="parTrans" cxnId="{860403B8-CED5-4366-93D1-DD7A0AE86FA2}">
      <dgm:prSet/>
      <dgm:spPr/>
      <dgm:t>
        <a:bodyPr/>
        <a:lstStyle/>
        <a:p>
          <a:endParaRPr lang="en-US"/>
        </a:p>
      </dgm:t>
    </dgm:pt>
    <dgm:pt modelId="{24046E35-C859-4B4F-B862-387C5A18EEED}" type="sibTrans" cxnId="{860403B8-CED5-4366-93D1-DD7A0AE86FA2}">
      <dgm:prSet/>
      <dgm:spPr/>
      <dgm:t>
        <a:bodyPr/>
        <a:lstStyle/>
        <a:p>
          <a:endParaRPr lang="en-US"/>
        </a:p>
      </dgm:t>
    </dgm:pt>
    <dgm:pt modelId="{A6296D18-C025-4DED-BE5E-FD344AE24F9F}">
      <dgm:prSet/>
      <dgm:spPr/>
      <dgm:t>
        <a:bodyPr/>
        <a:lstStyle/>
        <a:p>
          <a:r>
            <a:rPr lang="en-US"/>
            <a:t>Person is motivated to work for the activity</a:t>
          </a:r>
        </a:p>
      </dgm:t>
    </dgm:pt>
    <dgm:pt modelId="{7F40EF8E-7584-47B9-AD91-92187520CBE2}" type="parTrans" cxnId="{76A5D48D-4500-4CB5-8B6B-89F1B6863D97}">
      <dgm:prSet/>
      <dgm:spPr/>
      <dgm:t>
        <a:bodyPr/>
        <a:lstStyle/>
        <a:p>
          <a:endParaRPr lang="en-US"/>
        </a:p>
      </dgm:t>
    </dgm:pt>
    <dgm:pt modelId="{FDA45022-6CAB-4551-ACF9-7E886D58A3D6}" type="sibTrans" cxnId="{76A5D48D-4500-4CB5-8B6B-89F1B6863D97}">
      <dgm:prSet/>
      <dgm:spPr/>
      <dgm:t>
        <a:bodyPr/>
        <a:lstStyle/>
        <a:p>
          <a:endParaRPr lang="en-US"/>
        </a:p>
      </dgm:t>
    </dgm:pt>
    <dgm:pt modelId="{6E4D0527-71D8-467C-985C-641408D8CA00}">
      <dgm:prSet/>
      <dgm:spPr/>
      <dgm:t>
        <a:bodyPr/>
        <a:lstStyle/>
        <a:p>
          <a:r>
            <a:rPr lang="en-US"/>
            <a:t>Person wants to improve performance</a:t>
          </a:r>
        </a:p>
      </dgm:t>
    </dgm:pt>
    <dgm:pt modelId="{CEC5A03C-2AF7-4D3E-B920-8F113ABB1BC8}" type="parTrans" cxnId="{CFF4EE7A-BCE2-400D-9FAF-A83B493E6756}">
      <dgm:prSet/>
      <dgm:spPr/>
      <dgm:t>
        <a:bodyPr/>
        <a:lstStyle/>
        <a:p>
          <a:endParaRPr lang="en-US"/>
        </a:p>
      </dgm:t>
    </dgm:pt>
    <dgm:pt modelId="{52BC5995-96C4-42A3-ACE9-21DEA7B3E720}" type="sibTrans" cxnId="{CFF4EE7A-BCE2-400D-9FAF-A83B493E6756}">
      <dgm:prSet/>
      <dgm:spPr/>
      <dgm:t>
        <a:bodyPr/>
        <a:lstStyle/>
        <a:p>
          <a:endParaRPr lang="en-US"/>
        </a:p>
      </dgm:t>
    </dgm:pt>
    <dgm:pt modelId="{7DD5DAB4-AFC9-4581-9712-BEA560248A52}" type="pres">
      <dgm:prSet presAssocID="{CD2BEF5E-285F-4E96-9C2F-9E94CA71F237}" presName="linear" presStyleCnt="0">
        <dgm:presLayoutVars>
          <dgm:animLvl val="lvl"/>
          <dgm:resizeHandles val="exact"/>
        </dgm:presLayoutVars>
      </dgm:prSet>
      <dgm:spPr/>
    </dgm:pt>
    <dgm:pt modelId="{249AC700-0EB3-4943-959C-9010A9F1D590}" type="pres">
      <dgm:prSet presAssocID="{9A9DC496-4DCA-433B-BD82-D4E9E681ABED}" presName="parentText" presStyleLbl="node1" presStyleIdx="0" presStyleCnt="2">
        <dgm:presLayoutVars>
          <dgm:chMax val="0"/>
          <dgm:bulletEnabled val="1"/>
        </dgm:presLayoutVars>
      </dgm:prSet>
      <dgm:spPr/>
    </dgm:pt>
    <dgm:pt modelId="{BBDB4A97-8FF4-40F0-99BD-807BB56B1E6D}" type="pres">
      <dgm:prSet presAssocID="{9A9DC496-4DCA-433B-BD82-D4E9E681ABED}" presName="childText" presStyleLbl="revTx" presStyleIdx="0" presStyleCnt="2">
        <dgm:presLayoutVars>
          <dgm:bulletEnabled val="1"/>
        </dgm:presLayoutVars>
      </dgm:prSet>
      <dgm:spPr/>
    </dgm:pt>
    <dgm:pt modelId="{3FA1E0BC-66CD-4826-9E9A-B45BBC3E1155}" type="pres">
      <dgm:prSet presAssocID="{553A1899-50B5-4060-9FEF-7D61BF80F3D0}" presName="parentText" presStyleLbl="node1" presStyleIdx="1" presStyleCnt="2">
        <dgm:presLayoutVars>
          <dgm:chMax val="0"/>
          <dgm:bulletEnabled val="1"/>
        </dgm:presLayoutVars>
      </dgm:prSet>
      <dgm:spPr/>
    </dgm:pt>
    <dgm:pt modelId="{AF02E9BF-F7E4-41B7-ADEB-172D66CBDF88}" type="pres">
      <dgm:prSet presAssocID="{553A1899-50B5-4060-9FEF-7D61BF80F3D0}" presName="childText" presStyleLbl="revTx" presStyleIdx="1" presStyleCnt="2">
        <dgm:presLayoutVars>
          <dgm:bulletEnabled val="1"/>
        </dgm:presLayoutVars>
      </dgm:prSet>
      <dgm:spPr/>
    </dgm:pt>
  </dgm:ptLst>
  <dgm:cxnLst>
    <dgm:cxn modelId="{879E811A-FB3C-43D9-914C-53566912C2F5}" type="presOf" srcId="{4D0F6FB0-07DC-4292-AE0F-8826BA230244}" destId="{BBDB4A97-8FF4-40F0-99BD-807BB56B1E6D}" srcOrd="0" destOrd="0" presId="urn:microsoft.com/office/officeart/2005/8/layout/vList2"/>
    <dgm:cxn modelId="{C33BCA23-CACD-4E97-A0A6-744A809E3226}" type="presOf" srcId="{CD2BEF5E-285F-4E96-9C2F-9E94CA71F237}" destId="{7DD5DAB4-AFC9-4581-9712-BEA560248A52}" srcOrd="0" destOrd="0" presId="urn:microsoft.com/office/officeart/2005/8/layout/vList2"/>
    <dgm:cxn modelId="{1A820D2B-EBC3-4E78-A1BF-52359E8AB775}" srcId="{CD2BEF5E-285F-4E96-9C2F-9E94CA71F237}" destId="{553A1899-50B5-4060-9FEF-7D61BF80F3D0}" srcOrd="1" destOrd="0" parTransId="{2DFB888F-5B3D-4039-ABAD-19F421763282}" sibTransId="{1641D3E7-D421-41C1-BB55-0ED1D534F3AA}"/>
    <dgm:cxn modelId="{BA7A915D-098D-436A-9B59-78D20E90E1BB}" type="presOf" srcId="{CD36A48A-9472-45A6-8814-04FA73B287AE}" destId="{AF02E9BF-F7E4-41B7-ADEB-172D66CBDF88}" srcOrd="0" destOrd="0" presId="urn:microsoft.com/office/officeart/2005/8/layout/vList2"/>
    <dgm:cxn modelId="{2179B150-8074-49E8-AA23-EDE268C9F976}" type="presOf" srcId="{35BA10D3-AA0E-45CB-96C8-985689330C6A}" destId="{BBDB4A97-8FF4-40F0-99BD-807BB56B1E6D}" srcOrd="0" destOrd="1" presId="urn:microsoft.com/office/officeart/2005/8/layout/vList2"/>
    <dgm:cxn modelId="{78A2C471-7CEA-4F9E-922F-AB7D158F40BA}" srcId="{9A9DC496-4DCA-433B-BD82-D4E9E681ABED}" destId="{4D0F6FB0-07DC-4292-AE0F-8826BA230244}" srcOrd="0" destOrd="0" parTransId="{FB2DB5E0-7679-4829-9D2C-0CB8771D54DF}" sibTransId="{7080FA54-5CB9-465D-8AE2-B72C5E1CE819}"/>
    <dgm:cxn modelId="{CFF4EE7A-BCE2-400D-9FAF-A83B493E6756}" srcId="{553A1899-50B5-4060-9FEF-7D61BF80F3D0}" destId="{6E4D0527-71D8-467C-985C-641408D8CA00}" srcOrd="2" destOrd="0" parTransId="{CEC5A03C-2AF7-4D3E-B920-8F113ABB1BC8}" sibTransId="{52BC5995-96C4-42A3-ACE9-21DEA7B3E720}"/>
    <dgm:cxn modelId="{76A5D48D-4500-4CB5-8B6B-89F1B6863D97}" srcId="{553A1899-50B5-4060-9FEF-7D61BF80F3D0}" destId="{A6296D18-C025-4DED-BE5E-FD344AE24F9F}" srcOrd="1" destOrd="0" parTransId="{7F40EF8E-7584-47B9-AD91-92187520CBE2}" sibTransId="{FDA45022-6CAB-4551-ACF9-7E886D58A3D6}"/>
    <dgm:cxn modelId="{BE8F959E-2D53-44DD-8A6C-49FB02DDE31B}" type="presOf" srcId="{6E4D0527-71D8-467C-985C-641408D8CA00}" destId="{AF02E9BF-F7E4-41B7-ADEB-172D66CBDF88}" srcOrd="0" destOrd="2" presId="urn:microsoft.com/office/officeart/2005/8/layout/vList2"/>
    <dgm:cxn modelId="{56E89E9E-2123-4F5D-8103-4AA53AB36ABD}" type="presOf" srcId="{553A1899-50B5-4060-9FEF-7D61BF80F3D0}" destId="{3FA1E0BC-66CD-4826-9E9A-B45BBC3E1155}" srcOrd="0" destOrd="0" presId="urn:microsoft.com/office/officeart/2005/8/layout/vList2"/>
    <dgm:cxn modelId="{860403B8-CED5-4366-93D1-DD7A0AE86FA2}" srcId="{553A1899-50B5-4060-9FEF-7D61BF80F3D0}" destId="{CD36A48A-9472-45A6-8814-04FA73B287AE}" srcOrd="0" destOrd="0" parTransId="{3792B1AD-49FA-4D02-8E89-145AA67B076A}" sibTransId="{24046E35-C859-4B4F-B862-387C5A18EEED}"/>
    <dgm:cxn modelId="{209CE1CB-83F0-4C83-9806-B39C7151EEA8}" type="presOf" srcId="{9A9DC496-4DCA-433B-BD82-D4E9E681ABED}" destId="{249AC700-0EB3-4943-959C-9010A9F1D590}" srcOrd="0" destOrd="0" presId="urn:microsoft.com/office/officeart/2005/8/layout/vList2"/>
    <dgm:cxn modelId="{7F17B7E0-42F1-4F22-A528-934F2973BB7F}" type="presOf" srcId="{A6296D18-C025-4DED-BE5E-FD344AE24F9F}" destId="{AF02E9BF-F7E4-41B7-ADEB-172D66CBDF88}" srcOrd="0" destOrd="1" presId="urn:microsoft.com/office/officeart/2005/8/layout/vList2"/>
    <dgm:cxn modelId="{AC8A24E4-E750-4054-9968-B21534721D1D}" srcId="{CD2BEF5E-285F-4E96-9C2F-9E94CA71F237}" destId="{9A9DC496-4DCA-433B-BD82-D4E9E681ABED}" srcOrd="0" destOrd="0" parTransId="{DD95BCBC-B1DE-4521-8D3F-4DDE330208BF}" sibTransId="{BC8854E9-BB9B-4AE9-ABC0-8FD33269B219}"/>
    <dgm:cxn modelId="{72D4E2F3-4742-4378-892A-9AED9702222E}" srcId="{9A9DC496-4DCA-433B-BD82-D4E9E681ABED}" destId="{35BA10D3-AA0E-45CB-96C8-985689330C6A}" srcOrd="1" destOrd="0" parTransId="{B68D47EC-F5EB-4B50-89C4-58775731AD00}" sibTransId="{CDB5BB69-2AD3-400F-B232-27781A163459}"/>
    <dgm:cxn modelId="{D955D6FD-831E-4C91-9970-47CE122746F6}" type="presParOf" srcId="{7DD5DAB4-AFC9-4581-9712-BEA560248A52}" destId="{249AC700-0EB3-4943-959C-9010A9F1D590}" srcOrd="0" destOrd="0" presId="urn:microsoft.com/office/officeart/2005/8/layout/vList2"/>
    <dgm:cxn modelId="{84DE39A7-E044-4730-AAA1-6608AD3EB365}" type="presParOf" srcId="{7DD5DAB4-AFC9-4581-9712-BEA560248A52}" destId="{BBDB4A97-8FF4-40F0-99BD-807BB56B1E6D}" srcOrd="1" destOrd="0" presId="urn:microsoft.com/office/officeart/2005/8/layout/vList2"/>
    <dgm:cxn modelId="{99DB5A32-6C17-4B1D-A229-EF1380A4C337}" type="presParOf" srcId="{7DD5DAB4-AFC9-4581-9712-BEA560248A52}" destId="{3FA1E0BC-66CD-4826-9E9A-B45BBC3E1155}" srcOrd="2" destOrd="0" presId="urn:microsoft.com/office/officeart/2005/8/layout/vList2"/>
    <dgm:cxn modelId="{A2EA4051-D26B-4159-8EB9-1F3D04DB2396}" type="presParOf" srcId="{7DD5DAB4-AFC9-4581-9712-BEA560248A52}" destId="{AF02E9BF-F7E4-41B7-ADEB-172D66CBDF8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30567BD-ED38-4685-8240-41565A56F47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B556320A-F915-4F60-8C09-206DE261432E}">
      <dgm:prSet/>
      <dgm:spPr/>
      <dgm:t>
        <a:bodyPr/>
        <a:lstStyle/>
        <a:p>
          <a:r>
            <a:rPr lang="en-US"/>
            <a:t>Prestigious music school in Germany; Study of violin students</a:t>
          </a:r>
        </a:p>
      </dgm:t>
    </dgm:pt>
    <dgm:pt modelId="{C6B5C3D2-5F78-4F29-8C60-221389CA9BE8}" type="parTrans" cxnId="{9C116B90-BB77-4540-8139-9F605E2907FC}">
      <dgm:prSet/>
      <dgm:spPr/>
      <dgm:t>
        <a:bodyPr/>
        <a:lstStyle/>
        <a:p>
          <a:endParaRPr lang="en-US"/>
        </a:p>
      </dgm:t>
    </dgm:pt>
    <dgm:pt modelId="{0F358DF3-852D-4B97-9699-A0D37950FFF8}" type="sibTrans" cxnId="{9C116B90-BB77-4540-8139-9F605E2907FC}">
      <dgm:prSet/>
      <dgm:spPr/>
      <dgm:t>
        <a:bodyPr/>
        <a:lstStyle/>
        <a:p>
          <a:endParaRPr lang="en-US"/>
        </a:p>
      </dgm:t>
    </dgm:pt>
    <dgm:pt modelId="{1B73F8C5-CF5F-4EFB-ADB2-0EE2EC06369C}">
      <dgm:prSet/>
      <dgm:spPr/>
      <dgm:t>
        <a:bodyPr/>
        <a:lstStyle/>
        <a:p>
          <a:r>
            <a:rPr lang="en-US"/>
            <a:t>Instructors asked to nominate:</a:t>
          </a:r>
        </a:p>
      </dgm:t>
    </dgm:pt>
    <dgm:pt modelId="{E38EF67D-AF05-4F8C-9DE8-18078357B842}" type="parTrans" cxnId="{07804FDB-21F3-49E7-BDF1-2FE1C584FF1A}">
      <dgm:prSet/>
      <dgm:spPr/>
      <dgm:t>
        <a:bodyPr/>
        <a:lstStyle/>
        <a:p>
          <a:endParaRPr lang="en-US"/>
        </a:p>
      </dgm:t>
    </dgm:pt>
    <dgm:pt modelId="{26B3CF8C-8F23-40BF-AD71-4E25385A2FF9}" type="sibTrans" cxnId="{07804FDB-21F3-49E7-BDF1-2FE1C584FF1A}">
      <dgm:prSet/>
      <dgm:spPr/>
      <dgm:t>
        <a:bodyPr/>
        <a:lstStyle/>
        <a:p>
          <a:endParaRPr lang="en-US"/>
        </a:p>
      </dgm:t>
    </dgm:pt>
    <dgm:pt modelId="{82285B78-E6A6-47EF-B871-6EEFAD6CD40F}">
      <dgm:prSet/>
      <dgm:spPr/>
      <dgm:t>
        <a:bodyPr/>
        <a:lstStyle/>
        <a:p>
          <a:r>
            <a:rPr lang="en-US"/>
            <a:t>“The Best”: Potential for international career as soloist</a:t>
          </a:r>
        </a:p>
      </dgm:t>
    </dgm:pt>
    <dgm:pt modelId="{668E13ED-F3E1-4B05-A55E-23A6C5345A39}" type="parTrans" cxnId="{797A9675-C421-4230-9C0F-A6A352980294}">
      <dgm:prSet/>
      <dgm:spPr/>
      <dgm:t>
        <a:bodyPr/>
        <a:lstStyle/>
        <a:p>
          <a:endParaRPr lang="en-US"/>
        </a:p>
      </dgm:t>
    </dgm:pt>
    <dgm:pt modelId="{F8044702-AC39-4ED5-9E14-3485FAEFC674}" type="sibTrans" cxnId="{797A9675-C421-4230-9C0F-A6A352980294}">
      <dgm:prSet/>
      <dgm:spPr/>
      <dgm:t>
        <a:bodyPr/>
        <a:lstStyle/>
        <a:p>
          <a:endParaRPr lang="en-US"/>
        </a:p>
      </dgm:t>
    </dgm:pt>
    <dgm:pt modelId="{202C4002-04B1-470E-94B1-A65EE84A91D2}">
      <dgm:prSet/>
      <dgm:spPr/>
      <dgm:t>
        <a:bodyPr/>
        <a:lstStyle/>
        <a:p>
          <a:r>
            <a:rPr lang="en-US"/>
            <a:t>“The Good”: Quite good but not as good as “the best”</a:t>
          </a:r>
        </a:p>
      </dgm:t>
    </dgm:pt>
    <dgm:pt modelId="{2BE65863-1A06-4868-A395-6F1EC9EDFBE5}" type="parTrans" cxnId="{BBA3D3BA-B8C7-400B-8850-34E62324CA16}">
      <dgm:prSet/>
      <dgm:spPr/>
      <dgm:t>
        <a:bodyPr/>
        <a:lstStyle/>
        <a:p>
          <a:endParaRPr lang="en-US"/>
        </a:p>
      </dgm:t>
    </dgm:pt>
    <dgm:pt modelId="{CAA62BB2-CD1F-4C5B-911A-B2D86909156B}" type="sibTrans" cxnId="{BBA3D3BA-B8C7-400B-8850-34E62324CA16}">
      <dgm:prSet/>
      <dgm:spPr/>
      <dgm:t>
        <a:bodyPr/>
        <a:lstStyle/>
        <a:p>
          <a:endParaRPr lang="en-US"/>
        </a:p>
      </dgm:t>
    </dgm:pt>
    <dgm:pt modelId="{E56713D8-18B4-456E-8D3B-0B997A5FF639}">
      <dgm:prSet/>
      <dgm:spPr/>
      <dgm:t>
        <a:bodyPr/>
        <a:lstStyle/>
        <a:p>
          <a:r>
            <a:rPr lang="en-US"/>
            <a:t>Third group drawn from music education department at same school – “teachers”</a:t>
          </a:r>
        </a:p>
      </dgm:t>
    </dgm:pt>
    <dgm:pt modelId="{CAA6EB6F-E2FE-4B0C-A8FC-7315E8D95191}" type="parTrans" cxnId="{D186DDE7-0BCF-4C78-94AD-4260D2634FCE}">
      <dgm:prSet/>
      <dgm:spPr/>
      <dgm:t>
        <a:bodyPr/>
        <a:lstStyle/>
        <a:p>
          <a:endParaRPr lang="en-US"/>
        </a:p>
      </dgm:t>
    </dgm:pt>
    <dgm:pt modelId="{26BF6544-AE66-45D9-A1B4-F92EB20D29DE}" type="sibTrans" cxnId="{D186DDE7-0BCF-4C78-94AD-4260D2634FCE}">
      <dgm:prSet/>
      <dgm:spPr/>
      <dgm:t>
        <a:bodyPr/>
        <a:lstStyle/>
        <a:p>
          <a:endParaRPr lang="en-US"/>
        </a:p>
      </dgm:t>
    </dgm:pt>
    <dgm:pt modelId="{72F54109-7446-4548-8EAB-11B3B8574693}">
      <dgm:prSet/>
      <dgm:spPr/>
      <dgm:t>
        <a:bodyPr/>
        <a:lstStyle/>
        <a:p>
          <a:r>
            <a:rPr lang="en-US"/>
            <a:t>10 in each group</a:t>
          </a:r>
        </a:p>
      </dgm:t>
    </dgm:pt>
    <dgm:pt modelId="{1F58C5EE-FD6D-4EB5-B8E0-4A516932EF83}" type="parTrans" cxnId="{51B75A00-7363-48D2-AF3F-38C478EC9AFD}">
      <dgm:prSet/>
      <dgm:spPr/>
      <dgm:t>
        <a:bodyPr/>
        <a:lstStyle/>
        <a:p>
          <a:endParaRPr lang="en-US"/>
        </a:p>
      </dgm:t>
    </dgm:pt>
    <dgm:pt modelId="{7BD0A715-EB63-4F5E-A02C-78D2925BC8B1}" type="sibTrans" cxnId="{51B75A00-7363-48D2-AF3F-38C478EC9AFD}">
      <dgm:prSet/>
      <dgm:spPr/>
      <dgm:t>
        <a:bodyPr/>
        <a:lstStyle/>
        <a:p>
          <a:endParaRPr lang="en-US"/>
        </a:p>
      </dgm:t>
    </dgm:pt>
    <dgm:pt modelId="{97A40E56-F6AB-4B06-A53E-AE133BF4D17E}">
      <dgm:prSet/>
      <dgm:spPr/>
      <dgm:t>
        <a:bodyPr/>
        <a:lstStyle/>
        <a:p>
          <a:r>
            <a:rPr lang="en-US"/>
            <a:t>Interviewed</a:t>
          </a:r>
        </a:p>
      </dgm:t>
    </dgm:pt>
    <dgm:pt modelId="{B280EE4B-4D83-4BF4-B0F9-BF9622EA7209}" type="parTrans" cxnId="{622B436E-B775-4E64-86EA-5EA32E3AA1A5}">
      <dgm:prSet/>
      <dgm:spPr/>
      <dgm:t>
        <a:bodyPr/>
        <a:lstStyle/>
        <a:p>
          <a:endParaRPr lang="en-US"/>
        </a:p>
      </dgm:t>
    </dgm:pt>
    <dgm:pt modelId="{2D41AFF7-28E5-4A11-805B-212E95AB0045}" type="sibTrans" cxnId="{622B436E-B775-4E64-86EA-5EA32E3AA1A5}">
      <dgm:prSet/>
      <dgm:spPr/>
      <dgm:t>
        <a:bodyPr/>
        <a:lstStyle/>
        <a:p>
          <a:endParaRPr lang="en-US"/>
        </a:p>
      </dgm:t>
    </dgm:pt>
    <dgm:pt modelId="{EC3C2E29-4764-4C8B-9049-65A30DCC2983}">
      <dgm:prSet/>
      <dgm:spPr/>
      <dgm:t>
        <a:bodyPr/>
        <a:lstStyle/>
        <a:p>
          <a:r>
            <a:rPr lang="en-US"/>
            <a:t>Completed daily reports of activities</a:t>
          </a:r>
        </a:p>
      </dgm:t>
    </dgm:pt>
    <dgm:pt modelId="{6CB1C45F-FC00-4F25-B470-67AC05929D6D}" type="parTrans" cxnId="{3E32BF14-4008-4926-BD6B-96F8256AB062}">
      <dgm:prSet/>
      <dgm:spPr/>
      <dgm:t>
        <a:bodyPr/>
        <a:lstStyle/>
        <a:p>
          <a:endParaRPr lang="en-US"/>
        </a:p>
      </dgm:t>
    </dgm:pt>
    <dgm:pt modelId="{C7E54C42-29D7-482E-B523-48B0B25CA4A3}" type="sibTrans" cxnId="{3E32BF14-4008-4926-BD6B-96F8256AB062}">
      <dgm:prSet/>
      <dgm:spPr/>
      <dgm:t>
        <a:bodyPr/>
        <a:lstStyle/>
        <a:p>
          <a:endParaRPr lang="en-US"/>
        </a:p>
      </dgm:t>
    </dgm:pt>
    <dgm:pt modelId="{69EC86CC-A151-4494-8017-4D25B41753A5}" type="pres">
      <dgm:prSet presAssocID="{730567BD-ED38-4685-8240-41565A56F47C}" presName="linear" presStyleCnt="0">
        <dgm:presLayoutVars>
          <dgm:animLvl val="lvl"/>
          <dgm:resizeHandles val="exact"/>
        </dgm:presLayoutVars>
      </dgm:prSet>
      <dgm:spPr/>
    </dgm:pt>
    <dgm:pt modelId="{F40028F0-D759-4187-9D14-53D2240159D2}" type="pres">
      <dgm:prSet presAssocID="{B556320A-F915-4F60-8C09-206DE261432E}" presName="parentText" presStyleLbl="node1" presStyleIdx="0" presStyleCnt="4">
        <dgm:presLayoutVars>
          <dgm:chMax val="0"/>
          <dgm:bulletEnabled val="1"/>
        </dgm:presLayoutVars>
      </dgm:prSet>
      <dgm:spPr/>
    </dgm:pt>
    <dgm:pt modelId="{DAF8C3A9-815B-4C67-BC04-3456610E849A}" type="pres">
      <dgm:prSet presAssocID="{0F358DF3-852D-4B97-9699-A0D37950FFF8}" presName="spacer" presStyleCnt="0"/>
      <dgm:spPr/>
    </dgm:pt>
    <dgm:pt modelId="{B26FA7F1-0D35-4978-B41F-C9A83C308A3E}" type="pres">
      <dgm:prSet presAssocID="{1B73F8C5-CF5F-4EFB-ADB2-0EE2EC06369C}" presName="parentText" presStyleLbl="node1" presStyleIdx="1" presStyleCnt="4">
        <dgm:presLayoutVars>
          <dgm:chMax val="0"/>
          <dgm:bulletEnabled val="1"/>
        </dgm:presLayoutVars>
      </dgm:prSet>
      <dgm:spPr/>
    </dgm:pt>
    <dgm:pt modelId="{6F5BFD92-DABB-4932-861E-DF3BCBEB15DC}" type="pres">
      <dgm:prSet presAssocID="{1B73F8C5-CF5F-4EFB-ADB2-0EE2EC06369C}" presName="childText" presStyleLbl="revTx" presStyleIdx="0" presStyleCnt="2">
        <dgm:presLayoutVars>
          <dgm:bulletEnabled val="1"/>
        </dgm:presLayoutVars>
      </dgm:prSet>
      <dgm:spPr/>
    </dgm:pt>
    <dgm:pt modelId="{A64D8DBF-7C28-4819-88D8-930F8AB59AB4}" type="pres">
      <dgm:prSet presAssocID="{E56713D8-18B4-456E-8D3B-0B997A5FF639}" presName="parentText" presStyleLbl="node1" presStyleIdx="2" presStyleCnt="4">
        <dgm:presLayoutVars>
          <dgm:chMax val="0"/>
          <dgm:bulletEnabled val="1"/>
        </dgm:presLayoutVars>
      </dgm:prSet>
      <dgm:spPr/>
    </dgm:pt>
    <dgm:pt modelId="{ED612772-E34D-4187-BB9E-CF1FCDAE54DF}" type="pres">
      <dgm:prSet presAssocID="{26BF6544-AE66-45D9-A1B4-F92EB20D29DE}" presName="spacer" presStyleCnt="0"/>
      <dgm:spPr/>
    </dgm:pt>
    <dgm:pt modelId="{7BCC0AB1-36D6-4A79-9AC2-0261B00DC3B1}" type="pres">
      <dgm:prSet presAssocID="{72F54109-7446-4548-8EAB-11B3B8574693}" presName="parentText" presStyleLbl="node1" presStyleIdx="3" presStyleCnt="4">
        <dgm:presLayoutVars>
          <dgm:chMax val="0"/>
          <dgm:bulletEnabled val="1"/>
        </dgm:presLayoutVars>
      </dgm:prSet>
      <dgm:spPr/>
    </dgm:pt>
    <dgm:pt modelId="{D0C305A5-9F01-4555-9201-C60D33D7FE39}" type="pres">
      <dgm:prSet presAssocID="{72F54109-7446-4548-8EAB-11B3B8574693}" presName="childText" presStyleLbl="revTx" presStyleIdx="1" presStyleCnt="2">
        <dgm:presLayoutVars>
          <dgm:bulletEnabled val="1"/>
        </dgm:presLayoutVars>
      </dgm:prSet>
      <dgm:spPr/>
    </dgm:pt>
  </dgm:ptLst>
  <dgm:cxnLst>
    <dgm:cxn modelId="{51B75A00-7363-48D2-AF3F-38C478EC9AFD}" srcId="{730567BD-ED38-4685-8240-41565A56F47C}" destId="{72F54109-7446-4548-8EAB-11B3B8574693}" srcOrd="3" destOrd="0" parTransId="{1F58C5EE-FD6D-4EB5-B8E0-4A516932EF83}" sibTransId="{7BD0A715-EB63-4F5E-A02C-78D2925BC8B1}"/>
    <dgm:cxn modelId="{69E28810-9D6E-4B2B-A49E-B7E76B13A1F7}" type="presOf" srcId="{72F54109-7446-4548-8EAB-11B3B8574693}" destId="{7BCC0AB1-36D6-4A79-9AC2-0261B00DC3B1}" srcOrd="0" destOrd="0" presId="urn:microsoft.com/office/officeart/2005/8/layout/vList2"/>
    <dgm:cxn modelId="{3E32BF14-4008-4926-BD6B-96F8256AB062}" srcId="{72F54109-7446-4548-8EAB-11B3B8574693}" destId="{EC3C2E29-4764-4C8B-9049-65A30DCC2983}" srcOrd="1" destOrd="0" parTransId="{6CB1C45F-FC00-4F25-B470-67AC05929D6D}" sibTransId="{C7E54C42-29D7-482E-B523-48B0B25CA4A3}"/>
    <dgm:cxn modelId="{91852762-A2DC-430F-AEA7-567C47CE5673}" type="presOf" srcId="{B556320A-F915-4F60-8C09-206DE261432E}" destId="{F40028F0-D759-4187-9D14-53D2240159D2}" srcOrd="0" destOrd="0" presId="urn:microsoft.com/office/officeart/2005/8/layout/vList2"/>
    <dgm:cxn modelId="{622B436E-B775-4E64-86EA-5EA32E3AA1A5}" srcId="{72F54109-7446-4548-8EAB-11B3B8574693}" destId="{97A40E56-F6AB-4B06-A53E-AE133BF4D17E}" srcOrd="0" destOrd="0" parTransId="{B280EE4B-4D83-4BF4-B0F9-BF9622EA7209}" sibTransId="{2D41AFF7-28E5-4A11-805B-212E95AB0045}"/>
    <dgm:cxn modelId="{492EE473-69B3-482D-980B-F4B2959D7F2C}" type="presOf" srcId="{97A40E56-F6AB-4B06-A53E-AE133BF4D17E}" destId="{D0C305A5-9F01-4555-9201-C60D33D7FE39}" srcOrd="0" destOrd="0" presId="urn:microsoft.com/office/officeart/2005/8/layout/vList2"/>
    <dgm:cxn modelId="{797A9675-C421-4230-9C0F-A6A352980294}" srcId="{1B73F8C5-CF5F-4EFB-ADB2-0EE2EC06369C}" destId="{82285B78-E6A6-47EF-B871-6EEFAD6CD40F}" srcOrd="0" destOrd="0" parTransId="{668E13ED-F3E1-4B05-A55E-23A6C5345A39}" sibTransId="{F8044702-AC39-4ED5-9E14-3485FAEFC674}"/>
    <dgm:cxn modelId="{59827189-AA2B-4015-96E8-70BC0CBFBD8D}" type="presOf" srcId="{82285B78-E6A6-47EF-B871-6EEFAD6CD40F}" destId="{6F5BFD92-DABB-4932-861E-DF3BCBEB15DC}" srcOrd="0" destOrd="0" presId="urn:microsoft.com/office/officeart/2005/8/layout/vList2"/>
    <dgm:cxn modelId="{9C116B90-BB77-4540-8139-9F605E2907FC}" srcId="{730567BD-ED38-4685-8240-41565A56F47C}" destId="{B556320A-F915-4F60-8C09-206DE261432E}" srcOrd="0" destOrd="0" parTransId="{C6B5C3D2-5F78-4F29-8C60-221389CA9BE8}" sibTransId="{0F358DF3-852D-4B97-9699-A0D37950FFF8}"/>
    <dgm:cxn modelId="{2C0AF191-7952-4C1D-B024-BFA2D39E2BA3}" type="presOf" srcId="{202C4002-04B1-470E-94B1-A65EE84A91D2}" destId="{6F5BFD92-DABB-4932-861E-DF3BCBEB15DC}" srcOrd="0" destOrd="1" presId="urn:microsoft.com/office/officeart/2005/8/layout/vList2"/>
    <dgm:cxn modelId="{BBA3D3BA-B8C7-400B-8850-34E62324CA16}" srcId="{1B73F8C5-CF5F-4EFB-ADB2-0EE2EC06369C}" destId="{202C4002-04B1-470E-94B1-A65EE84A91D2}" srcOrd="1" destOrd="0" parTransId="{2BE65863-1A06-4868-A395-6F1EC9EDFBE5}" sibTransId="{CAA62BB2-CD1F-4C5B-911A-B2D86909156B}"/>
    <dgm:cxn modelId="{887FF7CB-40B9-4643-82A7-A0F4376EF734}" type="presOf" srcId="{EC3C2E29-4764-4C8B-9049-65A30DCC2983}" destId="{D0C305A5-9F01-4555-9201-C60D33D7FE39}" srcOrd="0" destOrd="1" presId="urn:microsoft.com/office/officeart/2005/8/layout/vList2"/>
    <dgm:cxn modelId="{40E029D2-FCE4-4E63-B0D5-034A485F79F6}" type="presOf" srcId="{1B73F8C5-CF5F-4EFB-ADB2-0EE2EC06369C}" destId="{B26FA7F1-0D35-4978-B41F-C9A83C308A3E}" srcOrd="0" destOrd="0" presId="urn:microsoft.com/office/officeart/2005/8/layout/vList2"/>
    <dgm:cxn modelId="{07804FDB-21F3-49E7-BDF1-2FE1C584FF1A}" srcId="{730567BD-ED38-4685-8240-41565A56F47C}" destId="{1B73F8C5-CF5F-4EFB-ADB2-0EE2EC06369C}" srcOrd="1" destOrd="0" parTransId="{E38EF67D-AF05-4F8C-9DE8-18078357B842}" sibTransId="{26B3CF8C-8F23-40BF-AD71-4E25385A2FF9}"/>
    <dgm:cxn modelId="{1CECC3E1-2EC2-4367-8268-546FE8AAFEC9}" type="presOf" srcId="{730567BD-ED38-4685-8240-41565A56F47C}" destId="{69EC86CC-A151-4494-8017-4D25B41753A5}" srcOrd="0" destOrd="0" presId="urn:microsoft.com/office/officeart/2005/8/layout/vList2"/>
    <dgm:cxn modelId="{D186DDE7-0BCF-4C78-94AD-4260D2634FCE}" srcId="{730567BD-ED38-4685-8240-41565A56F47C}" destId="{E56713D8-18B4-456E-8D3B-0B997A5FF639}" srcOrd="2" destOrd="0" parTransId="{CAA6EB6F-E2FE-4B0C-A8FC-7315E8D95191}" sibTransId="{26BF6544-AE66-45D9-A1B4-F92EB20D29DE}"/>
    <dgm:cxn modelId="{A63849F5-C4DE-4DA8-9239-7F8D7D8B68BC}" type="presOf" srcId="{E56713D8-18B4-456E-8D3B-0B997A5FF639}" destId="{A64D8DBF-7C28-4819-88D8-930F8AB59AB4}" srcOrd="0" destOrd="0" presId="urn:microsoft.com/office/officeart/2005/8/layout/vList2"/>
    <dgm:cxn modelId="{10B7C52B-EAAA-47FF-A021-C014C62E8AEA}" type="presParOf" srcId="{69EC86CC-A151-4494-8017-4D25B41753A5}" destId="{F40028F0-D759-4187-9D14-53D2240159D2}" srcOrd="0" destOrd="0" presId="urn:microsoft.com/office/officeart/2005/8/layout/vList2"/>
    <dgm:cxn modelId="{A390AE14-B65F-4501-9061-9B63C4AA53A6}" type="presParOf" srcId="{69EC86CC-A151-4494-8017-4D25B41753A5}" destId="{DAF8C3A9-815B-4C67-BC04-3456610E849A}" srcOrd="1" destOrd="0" presId="urn:microsoft.com/office/officeart/2005/8/layout/vList2"/>
    <dgm:cxn modelId="{03A5E584-8DD8-4906-B54C-5472EFF8BE7E}" type="presParOf" srcId="{69EC86CC-A151-4494-8017-4D25B41753A5}" destId="{B26FA7F1-0D35-4978-B41F-C9A83C308A3E}" srcOrd="2" destOrd="0" presId="urn:microsoft.com/office/officeart/2005/8/layout/vList2"/>
    <dgm:cxn modelId="{9DF158A8-E537-47C9-96FA-D2FF00036CFF}" type="presParOf" srcId="{69EC86CC-A151-4494-8017-4D25B41753A5}" destId="{6F5BFD92-DABB-4932-861E-DF3BCBEB15DC}" srcOrd="3" destOrd="0" presId="urn:microsoft.com/office/officeart/2005/8/layout/vList2"/>
    <dgm:cxn modelId="{C8F32A85-F26E-4EA4-A6FD-79B3C1C3A66E}" type="presParOf" srcId="{69EC86CC-A151-4494-8017-4D25B41753A5}" destId="{A64D8DBF-7C28-4819-88D8-930F8AB59AB4}" srcOrd="4" destOrd="0" presId="urn:microsoft.com/office/officeart/2005/8/layout/vList2"/>
    <dgm:cxn modelId="{FE10D614-CBE4-41FC-AB7C-7115F56A71FC}" type="presParOf" srcId="{69EC86CC-A151-4494-8017-4D25B41753A5}" destId="{ED612772-E34D-4187-BB9E-CF1FCDAE54DF}" srcOrd="5" destOrd="0" presId="urn:microsoft.com/office/officeart/2005/8/layout/vList2"/>
    <dgm:cxn modelId="{643EA596-8FA9-4887-B710-3830D7BAFF8F}" type="presParOf" srcId="{69EC86CC-A151-4494-8017-4D25B41753A5}" destId="{7BCC0AB1-36D6-4A79-9AC2-0261B00DC3B1}" srcOrd="6" destOrd="0" presId="urn:microsoft.com/office/officeart/2005/8/layout/vList2"/>
    <dgm:cxn modelId="{793076A5-2638-4AB8-8BD7-DAC8A89C8121}" type="presParOf" srcId="{69EC86CC-A151-4494-8017-4D25B41753A5}" destId="{D0C305A5-9F01-4555-9201-C60D33D7FE39}"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BAAA9A3-1A8C-4570-876E-E893EE78FBF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2F9B4536-7DBB-457D-8990-3FFEE5F35526}">
      <dgm:prSet/>
      <dgm:spPr/>
      <dgm:t>
        <a:bodyPr/>
        <a:lstStyle/>
        <a:p>
          <a:r>
            <a:rPr lang="en-US"/>
            <a:t>No differences in:</a:t>
          </a:r>
        </a:p>
      </dgm:t>
    </dgm:pt>
    <dgm:pt modelId="{F2F26A29-82EB-4FCF-AECA-1CA438428008}" type="parTrans" cxnId="{DB9CA914-A52A-4269-BFCB-413167BBA1C9}">
      <dgm:prSet/>
      <dgm:spPr/>
      <dgm:t>
        <a:bodyPr/>
        <a:lstStyle/>
        <a:p>
          <a:endParaRPr lang="en-US"/>
        </a:p>
      </dgm:t>
    </dgm:pt>
    <dgm:pt modelId="{FAE21888-474E-4EA8-B244-784FF908BC0F}" type="sibTrans" cxnId="{DB9CA914-A52A-4269-BFCB-413167BBA1C9}">
      <dgm:prSet/>
      <dgm:spPr/>
      <dgm:t>
        <a:bodyPr/>
        <a:lstStyle/>
        <a:p>
          <a:endParaRPr lang="en-US"/>
        </a:p>
      </dgm:t>
    </dgm:pt>
    <dgm:pt modelId="{4515BAE3-DC06-4C53-B3EE-8B8491F53204}">
      <dgm:prSet/>
      <dgm:spPr/>
      <dgm:t>
        <a:bodyPr/>
        <a:lstStyle/>
        <a:p>
          <a:r>
            <a:rPr lang="en-US"/>
            <a:t>Age started playing (M = 8)</a:t>
          </a:r>
        </a:p>
      </dgm:t>
    </dgm:pt>
    <dgm:pt modelId="{120CB84E-FE31-4208-B6BD-EE2B9C5B45E2}" type="parTrans" cxnId="{537D8E96-4298-48CF-9F03-94B7376F72BD}">
      <dgm:prSet/>
      <dgm:spPr/>
      <dgm:t>
        <a:bodyPr/>
        <a:lstStyle/>
        <a:p>
          <a:endParaRPr lang="en-US"/>
        </a:p>
      </dgm:t>
    </dgm:pt>
    <dgm:pt modelId="{E56F2667-E235-434C-8F91-B44B9B61935F}" type="sibTrans" cxnId="{537D8E96-4298-48CF-9F03-94B7376F72BD}">
      <dgm:prSet/>
      <dgm:spPr/>
      <dgm:t>
        <a:bodyPr/>
        <a:lstStyle/>
        <a:p>
          <a:endParaRPr lang="en-US"/>
        </a:p>
      </dgm:t>
    </dgm:pt>
    <dgm:pt modelId="{048434EA-7C89-4144-9D93-CC9217878506}">
      <dgm:prSet/>
      <dgm:spPr/>
      <dgm:t>
        <a:bodyPr/>
        <a:lstStyle/>
        <a:p>
          <a:r>
            <a:rPr lang="en-US"/>
            <a:t>Age at decision to be a professional musician (M = 15)</a:t>
          </a:r>
        </a:p>
      </dgm:t>
    </dgm:pt>
    <dgm:pt modelId="{C3C76DB5-03B7-4634-9E64-7E3E48F5D99E}" type="parTrans" cxnId="{DAB554A8-F893-4CAA-BBC0-EC9F99F74BB8}">
      <dgm:prSet/>
      <dgm:spPr/>
      <dgm:t>
        <a:bodyPr/>
        <a:lstStyle/>
        <a:p>
          <a:endParaRPr lang="en-US"/>
        </a:p>
      </dgm:t>
    </dgm:pt>
    <dgm:pt modelId="{214DC0DB-A31E-4AA7-8839-F5AB95798024}" type="sibTrans" cxnId="{DAB554A8-F893-4CAA-BBC0-EC9F99F74BB8}">
      <dgm:prSet/>
      <dgm:spPr/>
      <dgm:t>
        <a:bodyPr/>
        <a:lstStyle/>
        <a:p>
          <a:endParaRPr lang="en-US"/>
        </a:p>
      </dgm:t>
    </dgm:pt>
    <dgm:pt modelId="{19FB13F3-8797-4DD3-888B-87ECBB687FFC}">
      <dgm:prSet/>
      <dgm:spPr/>
      <dgm:t>
        <a:bodyPr/>
        <a:lstStyle/>
        <a:p>
          <a:r>
            <a:rPr lang="en-US"/>
            <a:t>Number of music teachers</a:t>
          </a:r>
        </a:p>
      </dgm:t>
    </dgm:pt>
    <dgm:pt modelId="{98DFA042-417C-4B55-9112-4E124A9EC338}" type="parTrans" cxnId="{5609C801-DDAD-4DC3-AA71-48699C752644}">
      <dgm:prSet/>
      <dgm:spPr/>
      <dgm:t>
        <a:bodyPr/>
        <a:lstStyle/>
        <a:p>
          <a:endParaRPr lang="en-US"/>
        </a:p>
      </dgm:t>
    </dgm:pt>
    <dgm:pt modelId="{157C277D-09A2-4AFE-9B96-2168D2DEA818}" type="sibTrans" cxnId="{5609C801-DDAD-4DC3-AA71-48699C752644}">
      <dgm:prSet/>
      <dgm:spPr/>
      <dgm:t>
        <a:bodyPr/>
        <a:lstStyle/>
        <a:p>
          <a:endParaRPr lang="en-US"/>
        </a:p>
      </dgm:t>
    </dgm:pt>
    <dgm:pt modelId="{CDDC82F0-EDC3-4CE0-974A-2370BC19B609}">
      <dgm:prSet/>
      <dgm:spPr/>
      <dgm:t>
        <a:bodyPr/>
        <a:lstStyle/>
        <a:p>
          <a:r>
            <a:rPr lang="en-US"/>
            <a:t>Number of other instruments played</a:t>
          </a:r>
        </a:p>
      </dgm:t>
    </dgm:pt>
    <dgm:pt modelId="{D8E896DA-02F2-4BE4-8E4C-61F4BFB8D883}" type="parTrans" cxnId="{3DDF2B1D-042E-4C91-89CC-29905621961B}">
      <dgm:prSet/>
      <dgm:spPr/>
      <dgm:t>
        <a:bodyPr/>
        <a:lstStyle/>
        <a:p>
          <a:endParaRPr lang="en-US"/>
        </a:p>
      </dgm:t>
    </dgm:pt>
    <dgm:pt modelId="{0DE6C110-0CFE-4197-B91B-BA619EDB3BD4}" type="sibTrans" cxnId="{3DDF2B1D-042E-4C91-89CC-29905621961B}">
      <dgm:prSet/>
      <dgm:spPr/>
      <dgm:t>
        <a:bodyPr/>
        <a:lstStyle/>
        <a:p>
          <a:endParaRPr lang="en-US"/>
        </a:p>
      </dgm:t>
    </dgm:pt>
    <dgm:pt modelId="{6C7952B7-7BC3-4812-90B1-CEB50E8AF29D}">
      <dgm:prSet/>
      <dgm:spPr/>
      <dgm:t>
        <a:bodyPr/>
        <a:lstStyle/>
        <a:p>
          <a:r>
            <a:rPr lang="en-US"/>
            <a:t>Time spent practicing alone: Best &amp; Good &gt; Teachers (ave 24.3 hrs/week vs 9.3 hrs/week)</a:t>
          </a:r>
        </a:p>
      </dgm:t>
    </dgm:pt>
    <dgm:pt modelId="{69B7D044-F2BC-438B-82CC-B5D411BCA1F3}" type="parTrans" cxnId="{2F0F6391-CFAE-4EBB-AC51-F622DC13EC58}">
      <dgm:prSet/>
      <dgm:spPr/>
      <dgm:t>
        <a:bodyPr/>
        <a:lstStyle/>
        <a:p>
          <a:endParaRPr lang="en-US"/>
        </a:p>
      </dgm:t>
    </dgm:pt>
    <dgm:pt modelId="{F139CF6D-F687-44CA-A369-4B59CC1C0696}" type="sibTrans" cxnId="{2F0F6391-CFAE-4EBB-AC51-F622DC13EC58}">
      <dgm:prSet/>
      <dgm:spPr/>
      <dgm:t>
        <a:bodyPr/>
        <a:lstStyle/>
        <a:p>
          <a:endParaRPr lang="en-US"/>
        </a:p>
      </dgm:t>
    </dgm:pt>
    <dgm:pt modelId="{5C592711-9E8F-4E68-A648-1C6C1771BE6C}">
      <dgm:prSet/>
      <dgm:spPr/>
      <dgm:t>
        <a:bodyPr/>
        <a:lstStyle/>
        <a:p>
          <a:r>
            <a:rPr lang="en-US"/>
            <a:t>Number of practice sessions: Best &amp; Good &gt; Teachers (3x more practice sessions)</a:t>
          </a:r>
        </a:p>
      </dgm:t>
    </dgm:pt>
    <dgm:pt modelId="{6F2EE02E-6DC5-4BBA-AFBB-2820D781A735}" type="parTrans" cxnId="{F87AE271-8E65-484B-A641-452AE597E7FB}">
      <dgm:prSet/>
      <dgm:spPr/>
      <dgm:t>
        <a:bodyPr/>
        <a:lstStyle/>
        <a:p>
          <a:endParaRPr lang="en-US"/>
        </a:p>
      </dgm:t>
    </dgm:pt>
    <dgm:pt modelId="{A7176067-038F-4602-BC76-008B90DCE7B0}" type="sibTrans" cxnId="{F87AE271-8E65-484B-A641-452AE597E7FB}">
      <dgm:prSet/>
      <dgm:spPr/>
      <dgm:t>
        <a:bodyPr/>
        <a:lstStyle/>
        <a:p>
          <a:endParaRPr lang="en-US"/>
        </a:p>
      </dgm:t>
    </dgm:pt>
    <dgm:pt modelId="{C1366060-43E5-4A20-A1D9-A6586155AE60}">
      <dgm:prSet/>
      <dgm:spPr/>
      <dgm:t>
        <a:bodyPr/>
        <a:lstStyle/>
        <a:p>
          <a:r>
            <a:rPr lang="en-US"/>
            <a:t>Hours of practice per week before age 18: Best &gt; Good &amp; Teachers</a:t>
          </a:r>
        </a:p>
      </dgm:t>
    </dgm:pt>
    <dgm:pt modelId="{B503976D-D469-49FD-93DB-1C201CC0A34E}" type="parTrans" cxnId="{6F3BCCA6-6BAC-4864-9B45-BBA56004A724}">
      <dgm:prSet/>
      <dgm:spPr/>
      <dgm:t>
        <a:bodyPr/>
        <a:lstStyle/>
        <a:p>
          <a:endParaRPr lang="en-US"/>
        </a:p>
      </dgm:t>
    </dgm:pt>
    <dgm:pt modelId="{7FEE0555-D9B2-491F-AC10-8A6F07ED9F0E}" type="sibTrans" cxnId="{6F3BCCA6-6BAC-4864-9B45-BBA56004A724}">
      <dgm:prSet/>
      <dgm:spPr/>
      <dgm:t>
        <a:bodyPr/>
        <a:lstStyle/>
        <a:p>
          <a:endParaRPr lang="en-US"/>
        </a:p>
      </dgm:t>
    </dgm:pt>
    <dgm:pt modelId="{4F861B4D-07E7-4CE2-9242-972B152E33B0}" type="pres">
      <dgm:prSet presAssocID="{0BAAA9A3-1A8C-4570-876E-E893EE78FBF9}" presName="linear" presStyleCnt="0">
        <dgm:presLayoutVars>
          <dgm:animLvl val="lvl"/>
          <dgm:resizeHandles val="exact"/>
        </dgm:presLayoutVars>
      </dgm:prSet>
      <dgm:spPr/>
    </dgm:pt>
    <dgm:pt modelId="{B742053F-5E3C-446D-AA4B-7D5B3C89F7E5}" type="pres">
      <dgm:prSet presAssocID="{2F9B4536-7DBB-457D-8990-3FFEE5F35526}" presName="parentText" presStyleLbl="node1" presStyleIdx="0" presStyleCnt="4">
        <dgm:presLayoutVars>
          <dgm:chMax val="0"/>
          <dgm:bulletEnabled val="1"/>
        </dgm:presLayoutVars>
      </dgm:prSet>
      <dgm:spPr/>
    </dgm:pt>
    <dgm:pt modelId="{448C1319-C569-484D-8849-1CEFAA75FD30}" type="pres">
      <dgm:prSet presAssocID="{2F9B4536-7DBB-457D-8990-3FFEE5F35526}" presName="childText" presStyleLbl="revTx" presStyleIdx="0" presStyleCnt="1">
        <dgm:presLayoutVars>
          <dgm:bulletEnabled val="1"/>
        </dgm:presLayoutVars>
      </dgm:prSet>
      <dgm:spPr/>
    </dgm:pt>
    <dgm:pt modelId="{C36064C8-C511-486D-8877-B5ADED17D570}" type="pres">
      <dgm:prSet presAssocID="{6C7952B7-7BC3-4812-90B1-CEB50E8AF29D}" presName="parentText" presStyleLbl="node1" presStyleIdx="1" presStyleCnt="4">
        <dgm:presLayoutVars>
          <dgm:chMax val="0"/>
          <dgm:bulletEnabled val="1"/>
        </dgm:presLayoutVars>
      </dgm:prSet>
      <dgm:spPr/>
    </dgm:pt>
    <dgm:pt modelId="{C0A2283C-D6F0-4DA1-8474-7DC2CC9437A9}" type="pres">
      <dgm:prSet presAssocID="{F139CF6D-F687-44CA-A369-4B59CC1C0696}" presName="spacer" presStyleCnt="0"/>
      <dgm:spPr/>
    </dgm:pt>
    <dgm:pt modelId="{E9ED3C3A-F4D3-4C6B-B5AF-634695AE10BF}" type="pres">
      <dgm:prSet presAssocID="{5C592711-9E8F-4E68-A648-1C6C1771BE6C}" presName="parentText" presStyleLbl="node1" presStyleIdx="2" presStyleCnt="4">
        <dgm:presLayoutVars>
          <dgm:chMax val="0"/>
          <dgm:bulletEnabled val="1"/>
        </dgm:presLayoutVars>
      </dgm:prSet>
      <dgm:spPr/>
    </dgm:pt>
    <dgm:pt modelId="{8013B73E-E069-4789-A47E-AA5A3500D909}" type="pres">
      <dgm:prSet presAssocID="{A7176067-038F-4602-BC76-008B90DCE7B0}" presName="spacer" presStyleCnt="0"/>
      <dgm:spPr/>
    </dgm:pt>
    <dgm:pt modelId="{47E25E1D-375F-48B9-A69B-AB590D3F70B6}" type="pres">
      <dgm:prSet presAssocID="{C1366060-43E5-4A20-A1D9-A6586155AE60}" presName="parentText" presStyleLbl="node1" presStyleIdx="3" presStyleCnt="4">
        <dgm:presLayoutVars>
          <dgm:chMax val="0"/>
          <dgm:bulletEnabled val="1"/>
        </dgm:presLayoutVars>
      </dgm:prSet>
      <dgm:spPr/>
    </dgm:pt>
  </dgm:ptLst>
  <dgm:cxnLst>
    <dgm:cxn modelId="{5609C801-DDAD-4DC3-AA71-48699C752644}" srcId="{2F9B4536-7DBB-457D-8990-3FFEE5F35526}" destId="{19FB13F3-8797-4DD3-888B-87ECBB687FFC}" srcOrd="2" destOrd="0" parTransId="{98DFA042-417C-4B55-9112-4E124A9EC338}" sibTransId="{157C277D-09A2-4AFE-9B96-2168D2DEA818}"/>
    <dgm:cxn modelId="{DB9CA914-A52A-4269-BFCB-413167BBA1C9}" srcId="{0BAAA9A3-1A8C-4570-876E-E893EE78FBF9}" destId="{2F9B4536-7DBB-457D-8990-3FFEE5F35526}" srcOrd="0" destOrd="0" parTransId="{F2F26A29-82EB-4FCF-AECA-1CA438428008}" sibTransId="{FAE21888-474E-4EA8-B244-784FF908BC0F}"/>
    <dgm:cxn modelId="{3DDF2B1D-042E-4C91-89CC-29905621961B}" srcId="{2F9B4536-7DBB-457D-8990-3FFEE5F35526}" destId="{CDDC82F0-EDC3-4CE0-974A-2370BC19B609}" srcOrd="3" destOrd="0" parTransId="{D8E896DA-02F2-4BE4-8E4C-61F4BFB8D883}" sibTransId="{0DE6C110-0CFE-4197-B91B-BA619EDB3BD4}"/>
    <dgm:cxn modelId="{99FBF828-345C-4E9E-86A7-A9AD7C285558}" type="presOf" srcId="{6C7952B7-7BC3-4812-90B1-CEB50E8AF29D}" destId="{C36064C8-C511-486D-8877-B5ADED17D570}" srcOrd="0" destOrd="0" presId="urn:microsoft.com/office/officeart/2005/8/layout/vList2"/>
    <dgm:cxn modelId="{9837B64C-E060-47FB-8D73-B67ED3C35DB3}" type="presOf" srcId="{0BAAA9A3-1A8C-4570-876E-E893EE78FBF9}" destId="{4F861B4D-07E7-4CE2-9242-972B152E33B0}" srcOrd="0" destOrd="0" presId="urn:microsoft.com/office/officeart/2005/8/layout/vList2"/>
    <dgm:cxn modelId="{F87AE271-8E65-484B-A641-452AE597E7FB}" srcId="{0BAAA9A3-1A8C-4570-876E-E893EE78FBF9}" destId="{5C592711-9E8F-4E68-A648-1C6C1771BE6C}" srcOrd="2" destOrd="0" parTransId="{6F2EE02E-6DC5-4BBA-AFBB-2820D781A735}" sibTransId="{A7176067-038F-4602-BC76-008B90DCE7B0}"/>
    <dgm:cxn modelId="{053FBF54-3939-4E3B-A9BF-7B3B395D535A}" type="presOf" srcId="{CDDC82F0-EDC3-4CE0-974A-2370BC19B609}" destId="{448C1319-C569-484D-8849-1CEFAA75FD30}" srcOrd="0" destOrd="3" presId="urn:microsoft.com/office/officeart/2005/8/layout/vList2"/>
    <dgm:cxn modelId="{B19E867B-C1CA-4871-86F5-9E700EEEA66D}" type="presOf" srcId="{4515BAE3-DC06-4C53-B3EE-8B8491F53204}" destId="{448C1319-C569-484D-8849-1CEFAA75FD30}" srcOrd="0" destOrd="0" presId="urn:microsoft.com/office/officeart/2005/8/layout/vList2"/>
    <dgm:cxn modelId="{681EBF8F-C4E2-4623-89DC-FCF194E966A7}" type="presOf" srcId="{19FB13F3-8797-4DD3-888B-87ECBB687FFC}" destId="{448C1319-C569-484D-8849-1CEFAA75FD30}" srcOrd="0" destOrd="2" presId="urn:microsoft.com/office/officeart/2005/8/layout/vList2"/>
    <dgm:cxn modelId="{2F0F6391-CFAE-4EBB-AC51-F622DC13EC58}" srcId="{0BAAA9A3-1A8C-4570-876E-E893EE78FBF9}" destId="{6C7952B7-7BC3-4812-90B1-CEB50E8AF29D}" srcOrd="1" destOrd="0" parTransId="{69B7D044-F2BC-438B-82CC-B5D411BCA1F3}" sibTransId="{F139CF6D-F687-44CA-A369-4B59CC1C0696}"/>
    <dgm:cxn modelId="{537D8E96-4298-48CF-9F03-94B7376F72BD}" srcId="{2F9B4536-7DBB-457D-8990-3FFEE5F35526}" destId="{4515BAE3-DC06-4C53-B3EE-8B8491F53204}" srcOrd="0" destOrd="0" parTransId="{120CB84E-FE31-4208-B6BD-EE2B9C5B45E2}" sibTransId="{E56F2667-E235-434C-8F91-B44B9B61935F}"/>
    <dgm:cxn modelId="{0DE5D39D-762B-43E4-A87F-12A74B77C582}" type="presOf" srcId="{C1366060-43E5-4A20-A1D9-A6586155AE60}" destId="{47E25E1D-375F-48B9-A69B-AB590D3F70B6}" srcOrd="0" destOrd="0" presId="urn:microsoft.com/office/officeart/2005/8/layout/vList2"/>
    <dgm:cxn modelId="{6F3BCCA6-6BAC-4864-9B45-BBA56004A724}" srcId="{0BAAA9A3-1A8C-4570-876E-E893EE78FBF9}" destId="{C1366060-43E5-4A20-A1D9-A6586155AE60}" srcOrd="3" destOrd="0" parTransId="{B503976D-D469-49FD-93DB-1C201CC0A34E}" sibTransId="{7FEE0555-D9B2-491F-AC10-8A6F07ED9F0E}"/>
    <dgm:cxn modelId="{DAB554A8-F893-4CAA-BBC0-EC9F99F74BB8}" srcId="{2F9B4536-7DBB-457D-8990-3FFEE5F35526}" destId="{048434EA-7C89-4144-9D93-CC9217878506}" srcOrd="1" destOrd="0" parTransId="{C3C76DB5-03B7-4634-9E64-7E3E48F5D99E}" sibTransId="{214DC0DB-A31E-4AA7-8839-F5AB95798024}"/>
    <dgm:cxn modelId="{503C41A9-6F28-41F1-96E4-E64999105378}" type="presOf" srcId="{2F9B4536-7DBB-457D-8990-3FFEE5F35526}" destId="{B742053F-5E3C-446D-AA4B-7D5B3C89F7E5}" srcOrd="0" destOrd="0" presId="urn:microsoft.com/office/officeart/2005/8/layout/vList2"/>
    <dgm:cxn modelId="{F83569D6-B0CA-48D4-84F6-B29BEFF18221}" type="presOf" srcId="{5C592711-9E8F-4E68-A648-1C6C1771BE6C}" destId="{E9ED3C3A-F4D3-4C6B-B5AF-634695AE10BF}" srcOrd="0" destOrd="0" presId="urn:microsoft.com/office/officeart/2005/8/layout/vList2"/>
    <dgm:cxn modelId="{336DE6EF-92FF-41CA-A099-18B4B12CE46E}" type="presOf" srcId="{048434EA-7C89-4144-9D93-CC9217878506}" destId="{448C1319-C569-484D-8849-1CEFAA75FD30}" srcOrd="0" destOrd="1" presId="urn:microsoft.com/office/officeart/2005/8/layout/vList2"/>
    <dgm:cxn modelId="{C6FD6602-0DA6-4A12-ACCE-087C8FBB7602}" type="presParOf" srcId="{4F861B4D-07E7-4CE2-9242-972B152E33B0}" destId="{B742053F-5E3C-446D-AA4B-7D5B3C89F7E5}" srcOrd="0" destOrd="0" presId="urn:microsoft.com/office/officeart/2005/8/layout/vList2"/>
    <dgm:cxn modelId="{426BB754-104F-4820-B654-07E1DE4F4840}" type="presParOf" srcId="{4F861B4D-07E7-4CE2-9242-972B152E33B0}" destId="{448C1319-C569-484D-8849-1CEFAA75FD30}" srcOrd="1" destOrd="0" presId="urn:microsoft.com/office/officeart/2005/8/layout/vList2"/>
    <dgm:cxn modelId="{DBF6448A-0BA0-47E0-B823-685EA76DCB30}" type="presParOf" srcId="{4F861B4D-07E7-4CE2-9242-972B152E33B0}" destId="{C36064C8-C511-486D-8877-B5ADED17D570}" srcOrd="2" destOrd="0" presId="urn:microsoft.com/office/officeart/2005/8/layout/vList2"/>
    <dgm:cxn modelId="{75A265F6-5BBF-4702-BF40-B0E76DE0471F}" type="presParOf" srcId="{4F861B4D-07E7-4CE2-9242-972B152E33B0}" destId="{C0A2283C-D6F0-4DA1-8474-7DC2CC9437A9}" srcOrd="3" destOrd="0" presId="urn:microsoft.com/office/officeart/2005/8/layout/vList2"/>
    <dgm:cxn modelId="{F8C126A3-AF89-4666-A618-F2A7C7A083F4}" type="presParOf" srcId="{4F861B4D-07E7-4CE2-9242-972B152E33B0}" destId="{E9ED3C3A-F4D3-4C6B-B5AF-634695AE10BF}" srcOrd="4" destOrd="0" presId="urn:microsoft.com/office/officeart/2005/8/layout/vList2"/>
    <dgm:cxn modelId="{EE41013B-8A7A-48A6-92D5-DCAF7B397737}" type="presParOf" srcId="{4F861B4D-07E7-4CE2-9242-972B152E33B0}" destId="{8013B73E-E069-4789-A47E-AA5A3500D909}" srcOrd="5" destOrd="0" presId="urn:microsoft.com/office/officeart/2005/8/layout/vList2"/>
    <dgm:cxn modelId="{F7A3A4E5-3A09-4FCA-A5BF-BB98F8E6420F}" type="presParOf" srcId="{4F861B4D-07E7-4CE2-9242-972B152E33B0}" destId="{47E25E1D-375F-48B9-A69B-AB590D3F70B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0F1BF3C-5F9D-4208-9240-9DD5C04F1DF8}"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EAB9EA03-1D04-48B7-BC46-CD3DA49CF9C0}">
      <dgm:prSet/>
      <dgm:spPr/>
      <dgm:t>
        <a:bodyPr/>
        <a:lstStyle/>
        <a:p>
          <a:r>
            <a:rPr lang="en-US"/>
            <a:t>Over-practice</a:t>
          </a:r>
        </a:p>
      </dgm:t>
    </dgm:pt>
    <dgm:pt modelId="{66116217-FBA1-4861-9963-83B7A58494E9}" type="parTrans" cxnId="{13A262E7-FA4C-4E2A-B7C4-494F6F751830}">
      <dgm:prSet/>
      <dgm:spPr/>
      <dgm:t>
        <a:bodyPr/>
        <a:lstStyle/>
        <a:p>
          <a:endParaRPr lang="en-US"/>
        </a:p>
      </dgm:t>
    </dgm:pt>
    <dgm:pt modelId="{E44D7F1B-D249-41C7-B362-A04D40DE8D3E}" type="sibTrans" cxnId="{13A262E7-FA4C-4E2A-B7C4-494F6F751830}">
      <dgm:prSet/>
      <dgm:spPr/>
      <dgm:t>
        <a:bodyPr/>
        <a:lstStyle/>
        <a:p>
          <a:endParaRPr lang="en-US"/>
        </a:p>
      </dgm:t>
    </dgm:pt>
    <dgm:pt modelId="{DDCEEEFE-90E5-49B5-B4E8-5198AD246833}">
      <dgm:prSet/>
      <dgm:spPr/>
      <dgm:t>
        <a:bodyPr/>
        <a:lstStyle/>
        <a:p>
          <a:r>
            <a:rPr lang="en-US"/>
            <a:t>Over-practice can be harmful</a:t>
          </a:r>
        </a:p>
      </dgm:t>
    </dgm:pt>
    <dgm:pt modelId="{C6CB0D2F-54CF-42B0-8BCC-5B55C7CECFA7}" type="parTrans" cxnId="{F49C6DF9-DB36-4EA5-9D63-4BAD0FDA630D}">
      <dgm:prSet/>
      <dgm:spPr/>
      <dgm:t>
        <a:bodyPr/>
        <a:lstStyle/>
        <a:p>
          <a:endParaRPr lang="en-US"/>
        </a:p>
      </dgm:t>
    </dgm:pt>
    <dgm:pt modelId="{E3F93150-5DF6-47B4-95D0-30B14ABF2776}" type="sibTrans" cxnId="{F49C6DF9-DB36-4EA5-9D63-4BAD0FDA630D}">
      <dgm:prSet/>
      <dgm:spPr/>
      <dgm:t>
        <a:bodyPr/>
        <a:lstStyle/>
        <a:p>
          <a:endParaRPr lang="en-US"/>
        </a:p>
      </dgm:t>
    </dgm:pt>
    <dgm:pt modelId="{EC0A58DB-9B57-4D5A-A1B3-B55C99BE204A}">
      <dgm:prSet/>
      <dgm:spPr/>
      <dgm:t>
        <a:bodyPr/>
        <a:lstStyle/>
        <a:p>
          <a:r>
            <a:rPr lang="en-US"/>
            <a:t>This is a recognized danger to what is known as overtraining</a:t>
          </a:r>
        </a:p>
      </dgm:t>
    </dgm:pt>
    <dgm:pt modelId="{7FB850F6-80DA-46CE-8D15-3566A72111F1}" type="parTrans" cxnId="{B55ACB3A-0D4D-46C3-B5CB-F0376FD81476}">
      <dgm:prSet/>
      <dgm:spPr/>
      <dgm:t>
        <a:bodyPr/>
        <a:lstStyle/>
        <a:p>
          <a:endParaRPr lang="en-US"/>
        </a:p>
      </dgm:t>
    </dgm:pt>
    <dgm:pt modelId="{1019EA17-FF75-4AF7-922C-CCE180984AA9}" type="sibTrans" cxnId="{B55ACB3A-0D4D-46C3-B5CB-F0376FD81476}">
      <dgm:prSet/>
      <dgm:spPr/>
      <dgm:t>
        <a:bodyPr/>
        <a:lstStyle/>
        <a:p>
          <a:endParaRPr lang="en-US"/>
        </a:p>
      </dgm:t>
    </dgm:pt>
    <dgm:pt modelId="{4FFC4768-94C7-45F1-B6C9-3EE22AFC33DA}">
      <dgm:prSet/>
      <dgm:spPr/>
      <dgm:t>
        <a:bodyPr/>
        <a:lstStyle/>
        <a:p>
          <a:r>
            <a:rPr lang="en-US"/>
            <a:t>Excellence requires sensible balance of hard work and rest (those who achieve high levels of excellence tend to practice about 4hrs/day)</a:t>
          </a:r>
        </a:p>
      </dgm:t>
    </dgm:pt>
    <dgm:pt modelId="{3A57AE8F-8D67-45E1-A4E8-519060E2DBFF}" type="parTrans" cxnId="{4634DBF2-3247-421D-A612-34BDFEC0BF99}">
      <dgm:prSet/>
      <dgm:spPr/>
      <dgm:t>
        <a:bodyPr/>
        <a:lstStyle/>
        <a:p>
          <a:endParaRPr lang="en-US"/>
        </a:p>
      </dgm:t>
    </dgm:pt>
    <dgm:pt modelId="{4AEB7D74-E78A-494B-A989-3D928DED2081}" type="sibTrans" cxnId="{4634DBF2-3247-421D-A612-34BDFEC0BF99}">
      <dgm:prSet/>
      <dgm:spPr/>
      <dgm:t>
        <a:bodyPr/>
        <a:lstStyle/>
        <a:p>
          <a:endParaRPr lang="en-US"/>
        </a:p>
      </dgm:t>
    </dgm:pt>
    <dgm:pt modelId="{92B2588E-E657-46A3-A09C-94017B2224A4}" type="pres">
      <dgm:prSet presAssocID="{80F1BF3C-5F9D-4208-9240-9DD5C04F1DF8}" presName="linear" presStyleCnt="0">
        <dgm:presLayoutVars>
          <dgm:dir/>
          <dgm:animLvl val="lvl"/>
          <dgm:resizeHandles val="exact"/>
        </dgm:presLayoutVars>
      </dgm:prSet>
      <dgm:spPr/>
    </dgm:pt>
    <dgm:pt modelId="{996C7B78-C3FE-44D2-BBA3-DF4BB2DE332D}" type="pres">
      <dgm:prSet presAssocID="{EAB9EA03-1D04-48B7-BC46-CD3DA49CF9C0}" presName="parentLin" presStyleCnt="0"/>
      <dgm:spPr/>
    </dgm:pt>
    <dgm:pt modelId="{C6DC88AC-FD4E-4392-89F3-6A5D4B5FBCBA}" type="pres">
      <dgm:prSet presAssocID="{EAB9EA03-1D04-48B7-BC46-CD3DA49CF9C0}" presName="parentLeftMargin" presStyleLbl="node1" presStyleIdx="0" presStyleCnt="2"/>
      <dgm:spPr/>
    </dgm:pt>
    <dgm:pt modelId="{6929FAE9-6691-4C79-82C6-230045295CA7}" type="pres">
      <dgm:prSet presAssocID="{EAB9EA03-1D04-48B7-BC46-CD3DA49CF9C0}" presName="parentText" presStyleLbl="node1" presStyleIdx="0" presStyleCnt="2">
        <dgm:presLayoutVars>
          <dgm:chMax val="0"/>
          <dgm:bulletEnabled val="1"/>
        </dgm:presLayoutVars>
      </dgm:prSet>
      <dgm:spPr/>
    </dgm:pt>
    <dgm:pt modelId="{CB10A6C6-285B-40C2-9E33-FF5628D2FB7E}" type="pres">
      <dgm:prSet presAssocID="{EAB9EA03-1D04-48B7-BC46-CD3DA49CF9C0}" presName="negativeSpace" presStyleCnt="0"/>
      <dgm:spPr/>
    </dgm:pt>
    <dgm:pt modelId="{342290EB-6BBD-4C55-8494-ABEF9E4576EC}" type="pres">
      <dgm:prSet presAssocID="{EAB9EA03-1D04-48B7-BC46-CD3DA49CF9C0}" presName="childText" presStyleLbl="conFgAcc1" presStyleIdx="0" presStyleCnt="2">
        <dgm:presLayoutVars>
          <dgm:bulletEnabled val="1"/>
        </dgm:presLayoutVars>
      </dgm:prSet>
      <dgm:spPr/>
    </dgm:pt>
    <dgm:pt modelId="{6406533E-30F7-4379-9441-D211CCC19C4E}" type="pres">
      <dgm:prSet presAssocID="{E44D7F1B-D249-41C7-B362-A04D40DE8D3E}" presName="spaceBetweenRectangles" presStyleCnt="0"/>
      <dgm:spPr/>
    </dgm:pt>
    <dgm:pt modelId="{ECCBD1B9-349C-4DAE-AF00-25230D1C18EC}" type="pres">
      <dgm:prSet presAssocID="{DDCEEEFE-90E5-49B5-B4E8-5198AD246833}" presName="parentLin" presStyleCnt="0"/>
      <dgm:spPr/>
    </dgm:pt>
    <dgm:pt modelId="{AC01E0AA-3332-404D-95CE-FAE448F12835}" type="pres">
      <dgm:prSet presAssocID="{DDCEEEFE-90E5-49B5-B4E8-5198AD246833}" presName="parentLeftMargin" presStyleLbl="node1" presStyleIdx="0" presStyleCnt="2"/>
      <dgm:spPr/>
    </dgm:pt>
    <dgm:pt modelId="{9396B9CD-B4DD-49F9-ADE7-2B837F0098A6}" type="pres">
      <dgm:prSet presAssocID="{DDCEEEFE-90E5-49B5-B4E8-5198AD246833}" presName="parentText" presStyleLbl="node1" presStyleIdx="1" presStyleCnt="2">
        <dgm:presLayoutVars>
          <dgm:chMax val="0"/>
          <dgm:bulletEnabled val="1"/>
        </dgm:presLayoutVars>
      </dgm:prSet>
      <dgm:spPr/>
    </dgm:pt>
    <dgm:pt modelId="{66C6FE0A-575F-474F-A741-3F7F68CD7355}" type="pres">
      <dgm:prSet presAssocID="{DDCEEEFE-90E5-49B5-B4E8-5198AD246833}" presName="negativeSpace" presStyleCnt="0"/>
      <dgm:spPr/>
    </dgm:pt>
    <dgm:pt modelId="{D775C3C8-3AB2-4C01-A318-E7524E5AB37A}" type="pres">
      <dgm:prSet presAssocID="{DDCEEEFE-90E5-49B5-B4E8-5198AD246833}" presName="childText" presStyleLbl="conFgAcc1" presStyleIdx="1" presStyleCnt="2">
        <dgm:presLayoutVars>
          <dgm:bulletEnabled val="1"/>
        </dgm:presLayoutVars>
      </dgm:prSet>
      <dgm:spPr/>
    </dgm:pt>
  </dgm:ptLst>
  <dgm:cxnLst>
    <dgm:cxn modelId="{BBC9E308-AFF8-4ADF-AF56-F61A5370E4EB}" type="presOf" srcId="{4FFC4768-94C7-45F1-B6C9-3EE22AFC33DA}" destId="{D775C3C8-3AB2-4C01-A318-E7524E5AB37A}" srcOrd="0" destOrd="1" presId="urn:microsoft.com/office/officeart/2005/8/layout/list1"/>
    <dgm:cxn modelId="{048F2E18-F58F-4142-AB61-73F0A9342087}" type="presOf" srcId="{EAB9EA03-1D04-48B7-BC46-CD3DA49CF9C0}" destId="{C6DC88AC-FD4E-4392-89F3-6A5D4B5FBCBA}" srcOrd="0" destOrd="0" presId="urn:microsoft.com/office/officeart/2005/8/layout/list1"/>
    <dgm:cxn modelId="{1BD80C25-3D73-44F1-B66B-6D21F7C051FB}" type="presOf" srcId="{EAB9EA03-1D04-48B7-BC46-CD3DA49CF9C0}" destId="{6929FAE9-6691-4C79-82C6-230045295CA7}" srcOrd="1" destOrd="0" presId="urn:microsoft.com/office/officeart/2005/8/layout/list1"/>
    <dgm:cxn modelId="{B55ACB3A-0D4D-46C3-B5CB-F0376FD81476}" srcId="{DDCEEEFE-90E5-49B5-B4E8-5198AD246833}" destId="{EC0A58DB-9B57-4D5A-A1B3-B55C99BE204A}" srcOrd="0" destOrd="0" parTransId="{7FB850F6-80DA-46CE-8D15-3566A72111F1}" sibTransId="{1019EA17-FF75-4AF7-922C-CCE180984AA9}"/>
    <dgm:cxn modelId="{3790E66A-EE95-4F56-883A-29098E6EB790}" type="presOf" srcId="{EC0A58DB-9B57-4D5A-A1B3-B55C99BE204A}" destId="{D775C3C8-3AB2-4C01-A318-E7524E5AB37A}" srcOrd="0" destOrd="0" presId="urn:microsoft.com/office/officeart/2005/8/layout/list1"/>
    <dgm:cxn modelId="{3E271BBF-DFA5-415A-8958-E97F919F1BC9}" type="presOf" srcId="{80F1BF3C-5F9D-4208-9240-9DD5C04F1DF8}" destId="{92B2588E-E657-46A3-A09C-94017B2224A4}" srcOrd="0" destOrd="0" presId="urn:microsoft.com/office/officeart/2005/8/layout/list1"/>
    <dgm:cxn modelId="{3F5804C6-166E-4BD1-BF18-E34505C1BCAE}" type="presOf" srcId="{DDCEEEFE-90E5-49B5-B4E8-5198AD246833}" destId="{9396B9CD-B4DD-49F9-ADE7-2B837F0098A6}" srcOrd="1" destOrd="0" presId="urn:microsoft.com/office/officeart/2005/8/layout/list1"/>
    <dgm:cxn modelId="{0882A8D2-5D60-4D35-A860-9DE23655AEC2}" type="presOf" srcId="{DDCEEEFE-90E5-49B5-B4E8-5198AD246833}" destId="{AC01E0AA-3332-404D-95CE-FAE448F12835}" srcOrd="0" destOrd="0" presId="urn:microsoft.com/office/officeart/2005/8/layout/list1"/>
    <dgm:cxn modelId="{13A262E7-FA4C-4E2A-B7C4-494F6F751830}" srcId="{80F1BF3C-5F9D-4208-9240-9DD5C04F1DF8}" destId="{EAB9EA03-1D04-48B7-BC46-CD3DA49CF9C0}" srcOrd="0" destOrd="0" parTransId="{66116217-FBA1-4861-9963-83B7A58494E9}" sibTransId="{E44D7F1B-D249-41C7-B362-A04D40DE8D3E}"/>
    <dgm:cxn modelId="{4634DBF2-3247-421D-A612-34BDFEC0BF99}" srcId="{DDCEEEFE-90E5-49B5-B4E8-5198AD246833}" destId="{4FFC4768-94C7-45F1-B6C9-3EE22AFC33DA}" srcOrd="1" destOrd="0" parTransId="{3A57AE8F-8D67-45E1-A4E8-519060E2DBFF}" sibTransId="{4AEB7D74-E78A-494B-A989-3D928DED2081}"/>
    <dgm:cxn modelId="{F49C6DF9-DB36-4EA5-9D63-4BAD0FDA630D}" srcId="{80F1BF3C-5F9D-4208-9240-9DD5C04F1DF8}" destId="{DDCEEEFE-90E5-49B5-B4E8-5198AD246833}" srcOrd="1" destOrd="0" parTransId="{C6CB0D2F-54CF-42B0-8BCC-5B55C7CECFA7}" sibTransId="{E3F93150-5DF6-47B4-95D0-30B14ABF2776}"/>
    <dgm:cxn modelId="{14525331-7723-4EB9-88DB-AF76794278B7}" type="presParOf" srcId="{92B2588E-E657-46A3-A09C-94017B2224A4}" destId="{996C7B78-C3FE-44D2-BBA3-DF4BB2DE332D}" srcOrd="0" destOrd="0" presId="urn:microsoft.com/office/officeart/2005/8/layout/list1"/>
    <dgm:cxn modelId="{5B68B6FB-787F-48A0-B1EE-27FE1AB9491E}" type="presParOf" srcId="{996C7B78-C3FE-44D2-BBA3-DF4BB2DE332D}" destId="{C6DC88AC-FD4E-4392-89F3-6A5D4B5FBCBA}" srcOrd="0" destOrd="0" presId="urn:microsoft.com/office/officeart/2005/8/layout/list1"/>
    <dgm:cxn modelId="{DF7BA925-FC91-42F8-82C0-6AF019BA984F}" type="presParOf" srcId="{996C7B78-C3FE-44D2-BBA3-DF4BB2DE332D}" destId="{6929FAE9-6691-4C79-82C6-230045295CA7}" srcOrd="1" destOrd="0" presId="urn:microsoft.com/office/officeart/2005/8/layout/list1"/>
    <dgm:cxn modelId="{11352B2A-C67E-4B11-BDA4-875A802BFFD7}" type="presParOf" srcId="{92B2588E-E657-46A3-A09C-94017B2224A4}" destId="{CB10A6C6-285B-40C2-9E33-FF5628D2FB7E}" srcOrd="1" destOrd="0" presId="urn:microsoft.com/office/officeart/2005/8/layout/list1"/>
    <dgm:cxn modelId="{EDAB5DB5-C9AB-45E6-BC3C-2E1A40C33A34}" type="presParOf" srcId="{92B2588E-E657-46A3-A09C-94017B2224A4}" destId="{342290EB-6BBD-4C55-8494-ABEF9E4576EC}" srcOrd="2" destOrd="0" presId="urn:microsoft.com/office/officeart/2005/8/layout/list1"/>
    <dgm:cxn modelId="{5FF99D95-AF9C-4D51-9855-8867D7B4F3CD}" type="presParOf" srcId="{92B2588E-E657-46A3-A09C-94017B2224A4}" destId="{6406533E-30F7-4379-9441-D211CCC19C4E}" srcOrd="3" destOrd="0" presId="urn:microsoft.com/office/officeart/2005/8/layout/list1"/>
    <dgm:cxn modelId="{D1D9157C-E8C2-4A18-A14D-06D369A4F71C}" type="presParOf" srcId="{92B2588E-E657-46A3-A09C-94017B2224A4}" destId="{ECCBD1B9-349C-4DAE-AF00-25230D1C18EC}" srcOrd="4" destOrd="0" presId="urn:microsoft.com/office/officeart/2005/8/layout/list1"/>
    <dgm:cxn modelId="{6975C48E-ED9D-4A43-86BC-D23F68D07A3D}" type="presParOf" srcId="{ECCBD1B9-349C-4DAE-AF00-25230D1C18EC}" destId="{AC01E0AA-3332-404D-95CE-FAE448F12835}" srcOrd="0" destOrd="0" presId="urn:microsoft.com/office/officeart/2005/8/layout/list1"/>
    <dgm:cxn modelId="{D0D963DA-C59F-42F3-A546-8ABEC18EBA40}" type="presParOf" srcId="{ECCBD1B9-349C-4DAE-AF00-25230D1C18EC}" destId="{9396B9CD-B4DD-49F9-ADE7-2B837F0098A6}" srcOrd="1" destOrd="0" presId="urn:microsoft.com/office/officeart/2005/8/layout/list1"/>
    <dgm:cxn modelId="{0271E8A7-90AA-4D9E-86B1-6B912A570517}" type="presParOf" srcId="{92B2588E-E657-46A3-A09C-94017B2224A4}" destId="{66C6FE0A-575F-474F-A741-3F7F68CD7355}" srcOrd="5" destOrd="0" presId="urn:microsoft.com/office/officeart/2005/8/layout/list1"/>
    <dgm:cxn modelId="{64B79894-0DE3-406C-A22F-47A395A23A56}" type="presParOf" srcId="{92B2588E-E657-46A3-A09C-94017B2224A4}" destId="{D775C3C8-3AB2-4C01-A318-E7524E5AB37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3A5484-F74A-48E0-A1E1-5A79973AC00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BBF701E-B2F6-486F-A3EC-93EFCDC4A6F8}">
      <dgm:prSet/>
      <dgm:spPr/>
      <dgm:t>
        <a:bodyPr/>
        <a:lstStyle/>
        <a:p>
          <a:r>
            <a:rPr lang="en-US"/>
            <a:t>Move away from standardized tests for entry into gifted and talented programs</a:t>
          </a:r>
        </a:p>
      </dgm:t>
    </dgm:pt>
    <dgm:pt modelId="{3AA1D7D8-3E6C-47DE-84C0-CAB9DEF779B7}" type="parTrans" cxnId="{D3A6BBF5-AFD0-4553-BF7D-1150DFC7E771}">
      <dgm:prSet/>
      <dgm:spPr/>
      <dgm:t>
        <a:bodyPr/>
        <a:lstStyle/>
        <a:p>
          <a:endParaRPr lang="en-US"/>
        </a:p>
      </dgm:t>
    </dgm:pt>
    <dgm:pt modelId="{A95A4601-2136-4FBD-BEE7-33CB29391E17}" type="sibTrans" cxnId="{D3A6BBF5-AFD0-4553-BF7D-1150DFC7E771}">
      <dgm:prSet/>
      <dgm:spPr/>
      <dgm:t>
        <a:bodyPr/>
        <a:lstStyle/>
        <a:p>
          <a:endParaRPr lang="en-US"/>
        </a:p>
      </dgm:t>
    </dgm:pt>
    <dgm:pt modelId="{B3116416-E28C-4AB7-9712-A5CDC908AF64}">
      <dgm:prSet/>
      <dgm:spPr/>
      <dgm:t>
        <a:bodyPr/>
        <a:lstStyle/>
        <a:p>
          <a:r>
            <a:rPr lang="en-US"/>
            <a:t>Instead:</a:t>
          </a:r>
        </a:p>
      </dgm:t>
    </dgm:pt>
    <dgm:pt modelId="{65A1861B-4607-4CAE-87EA-F8D32F6B0AD0}" type="parTrans" cxnId="{E6FE3E0F-B87D-4147-A74C-801931420225}">
      <dgm:prSet/>
      <dgm:spPr/>
      <dgm:t>
        <a:bodyPr/>
        <a:lstStyle/>
        <a:p>
          <a:endParaRPr lang="en-US"/>
        </a:p>
      </dgm:t>
    </dgm:pt>
    <dgm:pt modelId="{15327F88-7E8F-4EAE-80BE-784A70DBA22A}" type="sibTrans" cxnId="{E6FE3E0F-B87D-4147-A74C-801931420225}">
      <dgm:prSet/>
      <dgm:spPr/>
      <dgm:t>
        <a:bodyPr/>
        <a:lstStyle/>
        <a:p>
          <a:endParaRPr lang="en-US"/>
        </a:p>
      </dgm:t>
    </dgm:pt>
    <dgm:pt modelId="{327FE9A9-2BF9-4CD8-813C-EF0CED4D55D0}">
      <dgm:prSet/>
      <dgm:spPr/>
      <dgm:t>
        <a:bodyPr/>
        <a:lstStyle/>
        <a:p>
          <a:r>
            <a:rPr lang="en-US"/>
            <a:t>Projects as initial entry into assessment</a:t>
          </a:r>
        </a:p>
      </dgm:t>
    </dgm:pt>
    <dgm:pt modelId="{35344D41-7E98-4A2D-8E6E-DE8AEC1FDCAE}" type="parTrans" cxnId="{1D1757C7-7BA7-4513-A474-DDC46B054552}">
      <dgm:prSet/>
      <dgm:spPr/>
      <dgm:t>
        <a:bodyPr/>
        <a:lstStyle/>
        <a:p>
          <a:endParaRPr lang="en-US"/>
        </a:p>
      </dgm:t>
    </dgm:pt>
    <dgm:pt modelId="{4A42F221-A7FC-44BD-A1D4-08363DF46F30}" type="sibTrans" cxnId="{1D1757C7-7BA7-4513-A474-DDC46B054552}">
      <dgm:prSet/>
      <dgm:spPr/>
      <dgm:t>
        <a:bodyPr/>
        <a:lstStyle/>
        <a:p>
          <a:endParaRPr lang="en-US"/>
        </a:p>
      </dgm:t>
    </dgm:pt>
    <dgm:pt modelId="{E6176E5C-BABE-424E-9CA2-714DAAAF9A4F}">
      <dgm:prSet/>
      <dgm:spPr/>
      <dgm:t>
        <a:bodyPr/>
        <a:lstStyle/>
        <a:p>
          <a:r>
            <a:rPr lang="en-US"/>
            <a:t>Accelerated, challenging curriculum to identify students</a:t>
          </a:r>
        </a:p>
      </dgm:t>
    </dgm:pt>
    <dgm:pt modelId="{461EA195-AB3B-4F15-B197-ADB90DEDFB21}" type="parTrans" cxnId="{32244857-7299-4352-B6B7-E08FE2D54323}">
      <dgm:prSet/>
      <dgm:spPr/>
      <dgm:t>
        <a:bodyPr/>
        <a:lstStyle/>
        <a:p>
          <a:endParaRPr lang="en-US"/>
        </a:p>
      </dgm:t>
    </dgm:pt>
    <dgm:pt modelId="{480AA4BF-71B8-4FA5-B230-98E35491E1A1}" type="sibTrans" cxnId="{32244857-7299-4352-B6B7-E08FE2D54323}">
      <dgm:prSet/>
      <dgm:spPr/>
      <dgm:t>
        <a:bodyPr/>
        <a:lstStyle/>
        <a:p>
          <a:endParaRPr lang="en-US"/>
        </a:p>
      </dgm:t>
    </dgm:pt>
    <dgm:pt modelId="{5ADF8710-E054-4C42-B14B-6DACD1431365}">
      <dgm:prSet/>
      <dgm:spPr/>
      <dgm:t>
        <a:bodyPr/>
        <a:lstStyle/>
        <a:p>
          <a:r>
            <a:rPr lang="en-US"/>
            <a:t>Scholastic mentorship and preparation programs</a:t>
          </a:r>
        </a:p>
      </dgm:t>
    </dgm:pt>
    <dgm:pt modelId="{649B8883-F3FF-4C62-AC38-5C36CEA49135}" type="parTrans" cxnId="{3099A1BE-7782-4851-8DA4-11511B3CBC14}">
      <dgm:prSet/>
      <dgm:spPr/>
      <dgm:t>
        <a:bodyPr/>
        <a:lstStyle/>
        <a:p>
          <a:endParaRPr lang="en-US"/>
        </a:p>
      </dgm:t>
    </dgm:pt>
    <dgm:pt modelId="{1393903B-1DD8-44FF-A314-0202F11B1B63}" type="sibTrans" cxnId="{3099A1BE-7782-4851-8DA4-11511B3CBC14}">
      <dgm:prSet/>
      <dgm:spPr/>
      <dgm:t>
        <a:bodyPr/>
        <a:lstStyle/>
        <a:p>
          <a:endParaRPr lang="en-US"/>
        </a:p>
      </dgm:t>
    </dgm:pt>
    <dgm:pt modelId="{7016B28D-90FD-460D-A274-88BCEBD371E6}">
      <dgm:prSet/>
      <dgm:spPr/>
      <dgm:t>
        <a:bodyPr/>
        <a:lstStyle/>
        <a:p>
          <a:r>
            <a:rPr lang="en-US"/>
            <a:t>Reveal the “hidden curriculum”</a:t>
          </a:r>
        </a:p>
      </dgm:t>
    </dgm:pt>
    <dgm:pt modelId="{7D3C99D4-B77D-4B64-AFD9-7F1986844B81}" type="parTrans" cxnId="{2E4D056D-EE16-4C34-99B7-0107E5FF3886}">
      <dgm:prSet/>
      <dgm:spPr/>
      <dgm:t>
        <a:bodyPr/>
        <a:lstStyle/>
        <a:p>
          <a:endParaRPr lang="en-US"/>
        </a:p>
      </dgm:t>
    </dgm:pt>
    <dgm:pt modelId="{73329673-5B24-41BE-8235-204B8173EF91}" type="sibTrans" cxnId="{2E4D056D-EE16-4C34-99B7-0107E5FF3886}">
      <dgm:prSet/>
      <dgm:spPr/>
      <dgm:t>
        <a:bodyPr/>
        <a:lstStyle/>
        <a:p>
          <a:endParaRPr lang="en-US"/>
        </a:p>
      </dgm:t>
    </dgm:pt>
    <dgm:pt modelId="{3E6014C3-876D-4DC2-9626-DAC1C4F2E7EA}">
      <dgm:prSet/>
      <dgm:spPr/>
      <dgm:t>
        <a:bodyPr/>
        <a:lstStyle/>
        <a:p>
          <a:r>
            <a:rPr lang="en-US"/>
            <a:t>High School to College prep programs</a:t>
          </a:r>
        </a:p>
      </dgm:t>
    </dgm:pt>
    <dgm:pt modelId="{BA0C2FC8-4B83-440D-A6F6-645F7BC07290}" type="parTrans" cxnId="{5C9DC48C-A7A4-4A03-A3F0-D8145D4840E1}">
      <dgm:prSet/>
      <dgm:spPr/>
      <dgm:t>
        <a:bodyPr/>
        <a:lstStyle/>
        <a:p>
          <a:endParaRPr lang="en-US"/>
        </a:p>
      </dgm:t>
    </dgm:pt>
    <dgm:pt modelId="{18ABF960-3A86-41FF-A341-DB3347563CD7}" type="sibTrans" cxnId="{5C9DC48C-A7A4-4A03-A3F0-D8145D4840E1}">
      <dgm:prSet/>
      <dgm:spPr/>
      <dgm:t>
        <a:bodyPr/>
        <a:lstStyle/>
        <a:p>
          <a:endParaRPr lang="en-US"/>
        </a:p>
      </dgm:t>
    </dgm:pt>
    <dgm:pt modelId="{7E9C88E8-FD33-478C-BE76-F0E42BD84A17}">
      <dgm:prSet/>
      <dgm:spPr/>
      <dgm:t>
        <a:bodyPr/>
        <a:lstStyle/>
        <a:p>
          <a:r>
            <a:rPr lang="en-US"/>
            <a:t>College to Graduate/Professional school programs</a:t>
          </a:r>
        </a:p>
      </dgm:t>
    </dgm:pt>
    <dgm:pt modelId="{861CE616-756B-4916-A938-96BBB7774E8A}" type="parTrans" cxnId="{8A7C44EA-C476-4B6A-8925-2A929CA40CF5}">
      <dgm:prSet/>
      <dgm:spPr/>
      <dgm:t>
        <a:bodyPr/>
        <a:lstStyle/>
        <a:p>
          <a:endParaRPr lang="en-US"/>
        </a:p>
      </dgm:t>
    </dgm:pt>
    <dgm:pt modelId="{6AF331D5-230D-4017-A609-D0360B0E8798}" type="sibTrans" cxnId="{8A7C44EA-C476-4B6A-8925-2A929CA40CF5}">
      <dgm:prSet/>
      <dgm:spPr/>
      <dgm:t>
        <a:bodyPr/>
        <a:lstStyle/>
        <a:p>
          <a:endParaRPr lang="en-US"/>
        </a:p>
      </dgm:t>
    </dgm:pt>
    <dgm:pt modelId="{6772BEC5-3F92-4AAE-9EED-50DFD34EABC6}" type="pres">
      <dgm:prSet presAssocID="{983A5484-F74A-48E0-A1E1-5A79973AC005}" presName="linear" presStyleCnt="0">
        <dgm:presLayoutVars>
          <dgm:animLvl val="lvl"/>
          <dgm:resizeHandles val="exact"/>
        </dgm:presLayoutVars>
      </dgm:prSet>
      <dgm:spPr/>
    </dgm:pt>
    <dgm:pt modelId="{D7D8E5C5-5743-4C46-816A-418F7166F769}" type="pres">
      <dgm:prSet presAssocID="{9BBF701E-B2F6-486F-A3EC-93EFCDC4A6F8}" presName="parentText" presStyleLbl="node1" presStyleIdx="0" presStyleCnt="3">
        <dgm:presLayoutVars>
          <dgm:chMax val="0"/>
          <dgm:bulletEnabled val="1"/>
        </dgm:presLayoutVars>
      </dgm:prSet>
      <dgm:spPr/>
    </dgm:pt>
    <dgm:pt modelId="{D3863F40-1FE4-41B7-ABA4-556FF48E6553}" type="pres">
      <dgm:prSet presAssocID="{A95A4601-2136-4FBD-BEE7-33CB29391E17}" presName="spacer" presStyleCnt="0"/>
      <dgm:spPr/>
    </dgm:pt>
    <dgm:pt modelId="{5719C12F-06AB-4AA8-8525-91072C77907C}" type="pres">
      <dgm:prSet presAssocID="{B3116416-E28C-4AB7-9712-A5CDC908AF64}" presName="parentText" presStyleLbl="node1" presStyleIdx="1" presStyleCnt="3">
        <dgm:presLayoutVars>
          <dgm:chMax val="0"/>
          <dgm:bulletEnabled val="1"/>
        </dgm:presLayoutVars>
      </dgm:prSet>
      <dgm:spPr/>
    </dgm:pt>
    <dgm:pt modelId="{4B8A0B77-09E4-43D3-8938-2A909FD63F3F}" type="pres">
      <dgm:prSet presAssocID="{B3116416-E28C-4AB7-9712-A5CDC908AF64}" presName="childText" presStyleLbl="revTx" presStyleIdx="0" presStyleCnt="2">
        <dgm:presLayoutVars>
          <dgm:bulletEnabled val="1"/>
        </dgm:presLayoutVars>
      </dgm:prSet>
      <dgm:spPr/>
    </dgm:pt>
    <dgm:pt modelId="{1B20E544-B8F2-491C-A423-8D2AFE9369FB}" type="pres">
      <dgm:prSet presAssocID="{5ADF8710-E054-4C42-B14B-6DACD1431365}" presName="parentText" presStyleLbl="node1" presStyleIdx="2" presStyleCnt="3">
        <dgm:presLayoutVars>
          <dgm:chMax val="0"/>
          <dgm:bulletEnabled val="1"/>
        </dgm:presLayoutVars>
      </dgm:prSet>
      <dgm:spPr/>
    </dgm:pt>
    <dgm:pt modelId="{BC55BB53-C2D9-40A0-8E17-1C1B92E5211F}" type="pres">
      <dgm:prSet presAssocID="{5ADF8710-E054-4C42-B14B-6DACD1431365}" presName="childText" presStyleLbl="revTx" presStyleIdx="1" presStyleCnt="2">
        <dgm:presLayoutVars>
          <dgm:bulletEnabled val="1"/>
        </dgm:presLayoutVars>
      </dgm:prSet>
      <dgm:spPr/>
    </dgm:pt>
  </dgm:ptLst>
  <dgm:cxnLst>
    <dgm:cxn modelId="{E6FE3E0F-B87D-4147-A74C-801931420225}" srcId="{983A5484-F74A-48E0-A1E1-5A79973AC005}" destId="{B3116416-E28C-4AB7-9712-A5CDC908AF64}" srcOrd="1" destOrd="0" parTransId="{65A1861B-4607-4CAE-87EA-F8D32F6B0AD0}" sibTransId="{15327F88-7E8F-4EAE-80BE-784A70DBA22A}"/>
    <dgm:cxn modelId="{C16B3222-6D1C-4C26-8B7C-959A164A8976}" type="presOf" srcId="{9BBF701E-B2F6-486F-A3EC-93EFCDC4A6F8}" destId="{D7D8E5C5-5743-4C46-816A-418F7166F769}" srcOrd="0" destOrd="0" presId="urn:microsoft.com/office/officeart/2005/8/layout/vList2"/>
    <dgm:cxn modelId="{32D09F2C-C654-4ADF-ACCE-A971F46A16FF}" type="presOf" srcId="{7E9C88E8-FD33-478C-BE76-F0E42BD84A17}" destId="{BC55BB53-C2D9-40A0-8E17-1C1B92E5211F}" srcOrd="0" destOrd="2" presId="urn:microsoft.com/office/officeart/2005/8/layout/vList2"/>
    <dgm:cxn modelId="{2E4D056D-EE16-4C34-99B7-0107E5FF3886}" srcId="{5ADF8710-E054-4C42-B14B-6DACD1431365}" destId="{7016B28D-90FD-460D-A274-88BCEBD371E6}" srcOrd="0" destOrd="0" parTransId="{7D3C99D4-B77D-4B64-AFD9-7F1986844B81}" sibTransId="{73329673-5B24-41BE-8235-204B8173EF91}"/>
    <dgm:cxn modelId="{32244857-7299-4352-B6B7-E08FE2D54323}" srcId="{B3116416-E28C-4AB7-9712-A5CDC908AF64}" destId="{E6176E5C-BABE-424E-9CA2-714DAAAF9A4F}" srcOrd="1" destOrd="0" parTransId="{461EA195-AB3B-4F15-B197-ADB90DEDFB21}" sibTransId="{480AA4BF-71B8-4FA5-B230-98E35491E1A1}"/>
    <dgm:cxn modelId="{06A08284-DC93-406E-99C0-1F5E7A4F35D2}" type="presOf" srcId="{7016B28D-90FD-460D-A274-88BCEBD371E6}" destId="{BC55BB53-C2D9-40A0-8E17-1C1B92E5211F}" srcOrd="0" destOrd="0" presId="urn:microsoft.com/office/officeart/2005/8/layout/vList2"/>
    <dgm:cxn modelId="{5C9DC48C-A7A4-4A03-A3F0-D8145D4840E1}" srcId="{5ADF8710-E054-4C42-B14B-6DACD1431365}" destId="{3E6014C3-876D-4DC2-9626-DAC1C4F2E7EA}" srcOrd="1" destOrd="0" parTransId="{BA0C2FC8-4B83-440D-A6F6-645F7BC07290}" sibTransId="{18ABF960-3A86-41FF-A341-DB3347563CD7}"/>
    <dgm:cxn modelId="{99D3C593-99E1-4550-805A-8EB4DC30C11E}" type="presOf" srcId="{5ADF8710-E054-4C42-B14B-6DACD1431365}" destId="{1B20E544-B8F2-491C-A423-8D2AFE9369FB}" srcOrd="0" destOrd="0" presId="urn:microsoft.com/office/officeart/2005/8/layout/vList2"/>
    <dgm:cxn modelId="{90F08CA8-EA0F-45E5-95D7-A5D284DC91B1}" type="presOf" srcId="{3E6014C3-876D-4DC2-9626-DAC1C4F2E7EA}" destId="{BC55BB53-C2D9-40A0-8E17-1C1B92E5211F}" srcOrd="0" destOrd="1" presId="urn:microsoft.com/office/officeart/2005/8/layout/vList2"/>
    <dgm:cxn modelId="{629022B1-E75D-45E9-A646-A12F2BCDFC74}" type="presOf" srcId="{327FE9A9-2BF9-4CD8-813C-EF0CED4D55D0}" destId="{4B8A0B77-09E4-43D3-8938-2A909FD63F3F}" srcOrd="0" destOrd="0" presId="urn:microsoft.com/office/officeart/2005/8/layout/vList2"/>
    <dgm:cxn modelId="{23AC3AB4-D370-4DD2-9B3A-AB63C9730DCE}" type="presOf" srcId="{983A5484-F74A-48E0-A1E1-5A79973AC005}" destId="{6772BEC5-3F92-4AAE-9EED-50DFD34EABC6}" srcOrd="0" destOrd="0" presId="urn:microsoft.com/office/officeart/2005/8/layout/vList2"/>
    <dgm:cxn modelId="{DECA96B8-5A2F-428E-837A-23804AD3A6F6}" type="presOf" srcId="{E6176E5C-BABE-424E-9CA2-714DAAAF9A4F}" destId="{4B8A0B77-09E4-43D3-8938-2A909FD63F3F}" srcOrd="0" destOrd="1" presId="urn:microsoft.com/office/officeart/2005/8/layout/vList2"/>
    <dgm:cxn modelId="{3099A1BE-7782-4851-8DA4-11511B3CBC14}" srcId="{983A5484-F74A-48E0-A1E1-5A79973AC005}" destId="{5ADF8710-E054-4C42-B14B-6DACD1431365}" srcOrd="2" destOrd="0" parTransId="{649B8883-F3FF-4C62-AC38-5C36CEA49135}" sibTransId="{1393903B-1DD8-44FF-A314-0202F11B1B63}"/>
    <dgm:cxn modelId="{1D1757C7-7BA7-4513-A474-DDC46B054552}" srcId="{B3116416-E28C-4AB7-9712-A5CDC908AF64}" destId="{327FE9A9-2BF9-4CD8-813C-EF0CED4D55D0}" srcOrd="0" destOrd="0" parTransId="{35344D41-7E98-4A2D-8E6E-DE8AEC1FDCAE}" sibTransId="{4A42F221-A7FC-44BD-A1D4-08363DF46F30}"/>
    <dgm:cxn modelId="{B1A070DC-AAE6-4C20-9344-8378AC459648}" type="presOf" srcId="{B3116416-E28C-4AB7-9712-A5CDC908AF64}" destId="{5719C12F-06AB-4AA8-8525-91072C77907C}" srcOrd="0" destOrd="0" presId="urn:microsoft.com/office/officeart/2005/8/layout/vList2"/>
    <dgm:cxn modelId="{8A7C44EA-C476-4B6A-8925-2A929CA40CF5}" srcId="{5ADF8710-E054-4C42-B14B-6DACD1431365}" destId="{7E9C88E8-FD33-478C-BE76-F0E42BD84A17}" srcOrd="2" destOrd="0" parTransId="{861CE616-756B-4916-A938-96BBB7774E8A}" sibTransId="{6AF331D5-230D-4017-A609-D0360B0E8798}"/>
    <dgm:cxn modelId="{D3A6BBF5-AFD0-4553-BF7D-1150DFC7E771}" srcId="{983A5484-F74A-48E0-A1E1-5A79973AC005}" destId="{9BBF701E-B2F6-486F-A3EC-93EFCDC4A6F8}" srcOrd="0" destOrd="0" parTransId="{3AA1D7D8-3E6C-47DE-84C0-CAB9DEF779B7}" sibTransId="{A95A4601-2136-4FBD-BEE7-33CB29391E17}"/>
    <dgm:cxn modelId="{368AA71E-D6F6-421E-B582-102D76940F4E}" type="presParOf" srcId="{6772BEC5-3F92-4AAE-9EED-50DFD34EABC6}" destId="{D7D8E5C5-5743-4C46-816A-418F7166F769}" srcOrd="0" destOrd="0" presId="urn:microsoft.com/office/officeart/2005/8/layout/vList2"/>
    <dgm:cxn modelId="{0A3C2EA8-0806-4869-951A-A1DBE86E498A}" type="presParOf" srcId="{6772BEC5-3F92-4AAE-9EED-50DFD34EABC6}" destId="{D3863F40-1FE4-41B7-ABA4-556FF48E6553}" srcOrd="1" destOrd="0" presId="urn:microsoft.com/office/officeart/2005/8/layout/vList2"/>
    <dgm:cxn modelId="{62CFC565-BA7E-48F4-86B2-E579663D0D6F}" type="presParOf" srcId="{6772BEC5-3F92-4AAE-9EED-50DFD34EABC6}" destId="{5719C12F-06AB-4AA8-8525-91072C77907C}" srcOrd="2" destOrd="0" presId="urn:microsoft.com/office/officeart/2005/8/layout/vList2"/>
    <dgm:cxn modelId="{903366E2-45C8-4430-98FA-E3EC4110975F}" type="presParOf" srcId="{6772BEC5-3F92-4AAE-9EED-50DFD34EABC6}" destId="{4B8A0B77-09E4-43D3-8938-2A909FD63F3F}" srcOrd="3" destOrd="0" presId="urn:microsoft.com/office/officeart/2005/8/layout/vList2"/>
    <dgm:cxn modelId="{7BC1603A-7076-44DC-BBF3-2C298D2A4367}" type="presParOf" srcId="{6772BEC5-3F92-4AAE-9EED-50DFD34EABC6}" destId="{1B20E544-B8F2-491C-A423-8D2AFE9369FB}" srcOrd="4" destOrd="0" presId="urn:microsoft.com/office/officeart/2005/8/layout/vList2"/>
    <dgm:cxn modelId="{AE2F9AFB-B0E4-4287-8AFD-ED34C2201F74}" type="presParOf" srcId="{6772BEC5-3F92-4AAE-9EED-50DFD34EABC6}" destId="{BC55BB53-C2D9-40A0-8E17-1C1B92E5211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0AA27-DB9D-4E35-9CBE-C7ACBB827A79}">
      <dsp:nvSpPr>
        <dsp:cNvPr id="0" name=""/>
        <dsp:cNvSpPr/>
      </dsp:nvSpPr>
      <dsp:spPr>
        <a:xfrm>
          <a:off x="0" y="2703"/>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B96DAD-4CDD-494C-BB36-FAFC5E88A91F}">
      <dsp:nvSpPr>
        <dsp:cNvPr id="0" name=""/>
        <dsp:cNvSpPr/>
      </dsp:nvSpPr>
      <dsp:spPr>
        <a:xfrm>
          <a:off x="0" y="2703"/>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Helps us create environments where talent and giftedness can flourish</a:t>
          </a:r>
        </a:p>
      </dsp:txBody>
      <dsp:txXfrm>
        <a:off x="0" y="2703"/>
        <a:ext cx="5175384" cy="1843578"/>
      </dsp:txXfrm>
    </dsp:sp>
    <dsp:sp modelId="{49A27604-83CB-490E-B3A1-D1B3F6863D0A}">
      <dsp:nvSpPr>
        <dsp:cNvPr id="0" name=""/>
        <dsp:cNvSpPr/>
      </dsp:nvSpPr>
      <dsp:spPr>
        <a:xfrm>
          <a:off x="0" y="1846281"/>
          <a:ext cx="5175384"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C3B70E-02B0-40D5-BF80-912FE451FD6D}">
      <dsp:nvSpPr>
        <dsp:cNvPr id="0" name=""/>
        <dsp:cNvSpPr/>
      </dsp:nvSpPr>
      <dsp:spPr>
        <a:xfrm>
          <a:off x="0" y="1846281"/>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Witnessing excellence may lead to admiration and the urge for self-improvement</a:t>
          </a:r>
        </a:p>
      </dsp:txBody>
      <dsp:txXfrm>
        <a:off x="0" y="1846281"/>
        <a:ext cx="5175384" cy="1843578"/>
      </dsp:txXfrm>
    </dsp:sp>
    <dsp:sp modelId="{3E29C839-5B8A-49FE-80A5-26F0332375F7}">
      <dsp:nvSpPr>
        <dsp:cNvPr id="0" name=""/>
        <dsp:cNvSpPr/>
      </dsp:nvSpPr>
      <dsp:spPr>
        <a:xfrm>
          <a:off x="0" y="3689859"/>
          <a:ext cx="517538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64A059-FA74-40C6-8C67-C3B07236BE49}">
      <dsp:nvSpPr>
        <dsp:cNvPr id="0" name=""/>
        <dsp:cNvSpPr/>
      </dsp:nvSpPr>
      <dsp:spPr>
        <a:xfrm>
          <a:off x="0" y="3689859"/>
          <a:ext cx="5175384"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Ensures that we continue to advance as a society and community</a:t>
          </a:r>
        </a:p>
      </dsp:txBody>
      <dsp:txXfrm>
        <a:off x="0" y="3689859"/>
        <a:ext cx="5175384" cy="18435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D8960C-FE64-43BA-BA1D-0699416A4A70}">
      <dsp:nvSpPr>
        <dsp:cNvPr id="0" name=""/>
        <dsp:cNvSpPr/>
      </dsp:nvSpPr>
      <dsp:spPr>
        <a:xfrm>
          <a:off x="0" y="32449"/>
          <a:ext cx="5000124" cy="14297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High Cognitive Abilities Consortium (11,000 identical and fraternal twin pairs)</a:t>
          </a:r>
        </a:p>
      </dsp:txBody>
      <dsp:txXfrm>
        <a:off x="69794" y="102243"/>
        <a:ext cx="4860536" cy="1290152"/>
      </dsp:txXfrm>
    </dsp:sp>
    <dsp:sp modelId="{023911F5-DFF2-49F3-88A5-323AD1565B4C}">
      <dsp:nvSpPr>
        <dsp:cNvPr id="0" name=""/>
        <dsp:cNvSpPr/>
      </dsp:nvSpPr>
      <dsp:spPr>
        <a:xfrm>
          <a:off x="0" y="1462190"/>
          <a:ext cx="5000124" cy="126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Heritability estimate of high intelligence (top 15%) = 50%</a:t>
          </a:r>
        </a:p>
        <a:p>
          <a:pPr marL="228600" lvl="1" indent="-228600" algn="l" defTabSz="889000">
            <a:lnSpc>
              <a:spcPct val="90000"/>
            </a:lnSpc>
            <a:spcBef>
              <a:spcPct val="0"/>
            </a:spcBef>
            <a:spcAft>
              <a:spcPct val="20000"/>
            </a:spcAft>
            <a:buChar char="•"/>
          </a:pPr>
          <a:r>
            <a:rPr lang="en-US" sz="2000" kern="1200"/>
            <a:t>Heritability estimate of intelligence (whole sample) = 55%</a:t>
          </a:r>
        </a:p>
      </dsp:txBody>
      <dsp:txXfrm>
        <a:off x="0" y="1462190"/>
        <a:ext cx="5000124" cy="1264770"/>
      </dsp:txXfrm>
    </dsp:sp>
    <dsp:sp modelId="{6A1C0C9F-322E-4B87-B856-7F18F48EE592}">
      <dsp:nvSpPr>
        <dsp:cNvPr id="0" name=""/>
        <dsp:cNvSpPr/>
      </dsp:nvSpPr>
      <dsp:spPr>
        <a:xfrm>
          <a:off x="0" y="2726960"/>
          <a:ext cx="5000124" cy="14297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Swedish men joining military between 1968 – 2010</a:t>
          </a:r>
        </a:p>
      </dsp:txBody>
      <dsp:txXfrm>
        <a:off x="69794" y="2796754"/>
        <a:ext cx="4860536" cy="1290152"/>
      </dsp:txXfrm>
    </dsp:sp>
    <dsp:sp modelId="{7E0C2604-748D-4834-A8D1-095B239A4A66}">
      <dsp:nvSpPr>
        <dsp:cNvPr id="0" name=""/>
        <dsp:cNvSpPr/>
      </dsp:nvSpPr>
      <dsp:spPr>
        <a:xfrm>
          <a:off x="0" y="4156700"/>
          <a:ext cx="5000124" cy="126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Identical and fraternal twins as well as non-twin brothers</a:t>
          </a:r>
        </a:p>
        <a:p>
          <a:pPr marL="228600" lvl="1" indent="-228600" algn="l" defTabSz="889000">
            <a:lnSpc>
              <a:spcPct val="90000"/>
            </a:lnSpc>
            <a:spcBef>
              <a:spcPct val="0"/>
            </a:spcBef>
            <a:spcAft>
              <a:spcPct val="20000"/>
            </a:spcAft>
            <a:buChar char="•"/>
          </a:pPr>
          <a:r>
            <a:rPr lang="en-US" sz="2000" kern="1200"/>
            <a:t>Based on twin analyses, high intelligence (top 5%) heritability estimate = 44% </a:t>
          </a:r>
        </a:p>
      </dsp:txBody>
      <dsp:txXfrm>
        <a:off x="0" y="4156700"/>
        <a:ext cx="5000124" cy="12647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20401-6F29-46BF-A91A-14E79D45A58C}">
      <dsp:nvSpPr>
        <dsp:cNvPr id="0" name=""/>
        <dsp:cNvSpPr/>
      </dsp:nvSpPr>
      <dsp:spPr>
        <a:xfrm>
          <a:off x="0" y="47929"/>
          <a:ext cx="5000124" cy="18696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Twin study from 7 European countries (N = 37,051)</a:t>
          </a:r>
        </a:p>
      </dsp:txBody>
      <dsp:txXfrm>
        <a:off x="91269" y="139198"/>
        <a:ext cx="4817586" cy="1687122"/>
      </dsp:txXfrm>
    </dsp:sp>
    <dsp:sp modelId="{DC660D4E-E289-4DF7-B672-3854FD716DC3}">
      <dsp:nvSpPr>
        <dsp:cNvPr id="0" name=""/>
        <dsp:cNvSpPr/>
      </dsp:nvSpPr>
      <dsp:spPr>
        <a:xfrm>
          <a:off x="0" y="1917589"/>
          <a:ext cx="5000124" cy="1618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Heritability estimate for tendency to engage in athletics for leisure ranged from 48% to 71%</a:t>
          </a:r>
        </a:p>
      </dsp:txBody>
      <dsp:txXfrm>
        <a:off x="0" y="1917589"/>
        <a:ext cx="5000124" cy="1618740"/>
      </dsp:txXfrm>
    </dsp:sp>
    <dsp:sp modelId="{B6407A67-936E-4A22-B99D-F23520A5C6A5}">
      <dsp:nvSpPr>
        <dsp:cNvPr id="0" name=""/>
        <dsp:cNvSpPr/>
      </dsp:nvSpPr>
      <dsp:spPr>
        <a:xfrm>
          <a:off x="0" y="3536330"/>
          <a:ext cx="5000124" cy="18696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Muscle mass and explosive strength have high heritability estimates</a:t>
          </a:r>
        </a:p>
      </dsp:txBody>
      <dsp:txXfrm>
        <a:off x="91269" y="3627599"/>
        <a:ext cx="4817586" cy="16871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D39B3-DD9C-4393-9B1E-DDAB56C3BC89}">
      <dsp:nvSpPr>
        <dsp:cNvPr id="0" name=""/>
        <dsp:cNvSpPr/>
      </dsp:nvSpPr>
      <dsp:spPr>
        <a:xfrm>
          <a:off x="0" y="192568"/>
          <a:ext cx="5000124" cy="128663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Relative age effect is the advantage of being born earlier in your age cohort</a:t>
          </a:r>
        </a:p>
      </dsp:txBody>
      <dsp:txXfrm>
        <a:off x="62808" y="255376"/>
        <a:ext cx="4874508" cy="1161018"/>
      </dsp:txXfrm>
    </dsp:sp>
    <dsp:sp modelId="{2AF17F04-6733-4CB9-B2C1-5DE68E5E3682}">
      <dsp:nvSpPr>
        <dsp:cNvPr id="0" name=""/>
        <dsp:cNvSpPr/>
      </dsp:nvSpPr>
      <dsp:spPr>
        <a:xfrm>
          <a:off x="0" y="1545442"/>
          <a:ext cx="5000124" cy="1286634"/>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Older, more physically mature young people tend to be better athletes and students than their younger peers</a:t>
          </a:r>
        </a:p>
      </dsp:txBody>
      <dsp:txXfrm>
        <a:off x="62808" y="1608250"/>
        <a:ext cx="4874508" cy="1161018"/>
      </dsp:txXfrm>
    </dsp:sp>
    <dsp:sp modelId="{DA3A9522-E2E4-4F93-8CE6-8966FC7391C9}">
      <dsp:nvSpPr>
        <dsp:cNvPr id="0" name=""/>
        <dsp:cNvSpPr/>
      </dsp:nvSpPr>
      <dsp:spPr>
        <a:xfrm>
          <a:off x="0" y="2832077"/>
          <a:ext cx="5000124"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Vincent &amp; Glamser (2006) found RAE was more pronounced in male soccer players than female</a:t>
          </a:r>
        </a:p>
      </dsp:txBody>
      <dsp:txXfrm>
        <a:off x="0" y="2832077"/>
        <a:ext cx="5000124" cy="571320"/>
      </dsp:txXfrm>
    </dsp:sp>
    <dsp:sp modelId="{1AAC3425-EA82-460A-A3F2-9511E2A3AFA5}">
      <dsp:nvSpPr>
        <dsp:cNvPr id="0" name=""/>
        <dsp:cNvSpPr/>
      </dsp:nvSpPr>
      <dsp:spPr>
        <a:xfrm>
          <a:off x="0" y="3403397"/>
          <a:ext cx="5000124" cy="1286634"/>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May negatively impact younger players in early development</a:t>
          </a:r>
        </a:p>
      </dsp:txBody>
      <dsp:txXfrm>
        <a:off x="62808" y="3466205"/>
        <a:ext cx="4874508" cy="1161018"/>
      </dsp:txXfrm>
    </dsp:sp>
    <dsp:sp modelId="{8CD34019-7354-43AE-A738-FB931D05F661}">
      <dsp:nvSpPr>
        <dsp:cNvPr id="0" name=""/>
        <dsp:cNvSpPr/>
      </dsp:nvSpPr>
      <dsp:spPr>
        <a:xfrm>
          <a:off x="0" y="4690031"/>
          <a:ext cx="5000124"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But those who continue in the sport may benefit later</a:t>
          </a:r>
        </a:p>
      </dsp:txBody>
      <dsp:txXfrm>
        <a:off x="0" y="4690031"/>
        <a:ext cx="5000124" cy="5713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AC700-0EB3-4943-959C-9010A9F1D590}">
      <dsp:nvSpPr>
        <dsp:cNvPr id="0" name=""/>
        <dsp:cNvSpPr/>
      </dsp:nvSpPr>
      <dsp:spPr>
        <a:xfrm>
          <a:off x="0" y="4145"/>
          <a:ext cx="5000124" cy="10740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Performance and expertise tend to improve over time</a:t>
          </a:r>
        </a:p>
      </dsp:txBody>
      <dsp:txXfrm>
        <a:off x="52431" y="56576"/>
        <a:ext cx="4895262" cy="969198"/>
      </dsp:txXfrm>
    </dsp:sp>
    <dsp:sp modelId="{BBDB4A97-8FF4-40F0-99BD-807BB56B1E6D}">
      <dsp:nvSpPr>
        <dsp:cNvPr id="0" name=""/>
        <dsp:cNvSpPr/>
      </dsp:nvSpPr>
      <dsp:spPr>
        <a:xfrm>
          <a:off x="0" y="1078205"/>
          <a:ext cx="5000124" cy="1620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Innate abilities cannot fully explain talent and giftedness</a:t>
          </a:r>
        </a:p>
        <a:p>
          <a:pPr marL="228600" lvl="1" indent="-228600" algn="l" defTabSz="933450">
            <a:lnSpc>
              <a:spcPct val="90000"/>
            </a:lnSpc>
            <a:spcBef>
              <a:spcPct val="0"/>
            </a:spcBef>
            <a:spcAft>
              <a:spcPct val="20000"/>
            </a:spcAft>
            <a:buChar char="•"/>
          </a:pPr>
          <a:r>
            <a:rPr lang="en-US" sz="2100" kern="1200"/>
            <a:t>Argued that a particular type of training and preparedness is necessary for excellence</a:t>
          </a:r>
        </a:p>
      </dsp:txBody>
      <dsp:txXfrm>
        <a:off x="0" y="1078205"/>
        <a:ext cx="5000124" cy="1620809"/>
      </dsp:txXfrm>
    </dsp:sp>
    <dsp:sp modelId="{3FA1E0BC-66CD-4826-9E9A-B45BBC3E1155}">
      <dsp:nvSpPr>
        <dsp:cNvPr id="0" name=""/>
        <dsp:cNvSpPr/>
      </dsp:nvSpPr>
      <dsp:spPr>
        <a:xfrm>
          <a:off x="0" y="2699014"/>
          <a:ext cx="5000124" cy="10740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Activities relevant for deliberate practice:</a:t>
          </a:r>
        </a:p>
      </dsp:txBody>
      <dsp:txXfrm>
        <a:off x="52431" y="2751445"/>
        <a:ext cx="4895262" cy="969198"/>
      </dsp:txXfrm>
    </dsp:sp>
    <dsp:sp modelId="{AF02E9BF-F7E4-41B7-ADEB-172D66CBDF88}">
      <dsp:nvSpPr>
        <dsp:cNvPr id="0" name=""/>
        <dsp:cNvSpPr/>
      </dsp:nvSpPr>
      <dsp:spPr>
        <a:xfrm>
          <a:off x="0" y="3773075"/>
          <a:ext cx="5000124" cy="1676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Variability in objective performance outcomes</a:t>
          </a:r>
        </a:p>
        <a:p>
          <a:pPr marL="228600" lvl="1" indent="-228600" algn="l" defTabSz="933450">
            <a:lnSpc>
              <a:spcPct val="90000"/>
            </a:lnSpc>
            <a:spcBef>
              <a:spcPct val="0"/>
            </a:spcBef>
            <a:spcAft>
              <a:spcPct val="20000"/>
            </a:spcAft>
            <a:buChar char="•"/>
          </a:pPr>
          <a:r>
            <a:rPr lang="en-US" sz="2100" kern="1200"/>
            <a:t>Person is motivated to work for the activity</a:t>
          </a:r>
        </a:p>
        <a:p>
          <a:pPr marL="228600" lvl="1" indent="-228600" algn="l" defTabSz="933450">
            <a:lnSpc>
              <a:spcPct val="90000"/>
            </a:lnSpc>
            <a:spcBef>
              <a:spcPct val="0"/>
            </a:spcBef>
            <a:spcAft>
              <a:spcPct val="20000"/>
            </a:spcAft>
            <a:buChar char="•"/>
          </a:pPr>
          <a:r>
            <a:rPr lang="en-US" sz="2100" kern="1200"/>
            <a:t>Person wants to improve performance</a:t>
          </a:r>
        </a:p>
      </dsp:txBody>
      <dsp:txXfrm>
        <a:off x="0" y="3773075"/>
        <a:ext cx="5000124" cy="16766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028F0-D759-4187-9D14-53D2240159D2}">
      <dsp:nvSpPr>
        <dsp:cNvPr id="0" name=""/>
        <dsp:cNvSpPr/>
      </dsp:nvSpPr>
      <dsp:spPr>
        <a:xfrm>
          <a:off x="0" y="82174"/>
          <a:ext cx="5000124" cy="8751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Prestigious music school in Germany; Study of violin students</a:t>
          </a:r>
        </a:p>
      </dsp:txBody>
      <dsp:txXfrm>
        <a:off x="42722" y="124896"/>
        <a:ext cx="4914680" cy="789716"/>
      </dsp:txXfrm>
    </dsp:sp>
    <dsp:sp modelId="{B26FA7F1-0D35-4978-B41F-C9A83C308A3E}">
      <dsp:nvSpPr>
        <dsp:cNvPr id="0" name=""/>
        <dsp:cNvSpPr/>
      </dsp:nvSpPr>
      <dsp:spPr>
        <a:xfrm>
          <a:off x="0" y="1020694"/>
          <a:ext cx="5000124" cy="875160"/>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Instructors asked to nominate:</a:t>
          </a:r>
        </a:p>
      </dsp:txBody>
      <dsp:txXfrm>
        <a:off x="42722" y="1063416"/>
        <a:ext cx="4914680" cy="789716"/>
      </dsp:txXfrm>
    </dsp:sp>
    <dsp:sp modelId="{6F5BFD92-DABB-4932-861E-DF3BCBEB15DC}">
      <dsp:nvSpPr>
        <dsp:cNvPr id="0" name=""/>
        <dsp:cNvSpPr/>
      </dsp:nvSpPr>
      <dsp:spPr>
        <a:xfrm>
          <a:off x="0" y="1895854"/>
          <a:ext cx="5000124" cy="107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“The Best”: Potential for international career as soloist</a:t>
          </a:r>
        </a:p>
        <a:p>
          <a:pPr marL="171450" lvl="1" indent="-171450" algn="l" defTabSz="755650">
            <a:lnSpc>
              <a:spcPct val="90000"/>
            </a:lnSpc>
            <a:spcBef>
              <a:spcPct val="0"/>
            </a:spcBef>
            <a:spcAft>
              <a:spcPct val="20000"/>
            </a:spcAft>
            <a:buChar char="•"/>
          </a:pPr>
          <a:r>
            <a:rPr lang="en-US" sz="1700" kern="1200"/>
            <a:t>“The Good”: Quite good but not as good as “the best”</a:t>
          </a:r>
        </a:p>
      </dsp:txBody>
      <dsp:txXfrm>
        <a:off x="0" y="1895854"/>
        <a:ext cx="5000124" cy="1070190"/>
      </dsp:txXfrm>
    </dsp:sp>
    <dsp:sp modelId="{A64D8DBF-7C28-4819-88D8-930F8AB59AB4}">
      <dsp:nvSpPr>
        <dsp:cNvPr id="0" name=""/>
        <dsp:cNvSpPr/>
      </dsp:nvSpPr>
      <dsp:spPr>
        <a:xfrm>
          <a:off x="0" y="2966045"/>
          <a:ext cx="5000124" cy="875160"/>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Third group drawn from music education department at same school – “teachers”</a:t>
          </a:r>
        </a:p>
      </dsp:txBody>
      <dsp:txXfrm>
        <a:off x="42722" y="3008767"/>
        <a:ext cx="4914680" cy="789716"/>
      </dsp:txXfrm>
    </dsp:sp>
    <dsp:sp modelId="{7BCC0AB1-36D6-4A79-9AC2-0261B00DC3B1}">
      <dsp:nvSpPr>
        <dsp:cNvPr id="0" name=""/>
        <dsp:cNvSpPr/>
      </dsp:nvSpPr>
      <dsp:spPr>
        <a:xfrm>
          <a:off x="0" y="3904565"/>
          <a:ext cx="5000124" cy="8751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10 in each group</a:t>
          </a:r>
        </a:p>
      </dsp:txBody>
      <dsp:txXfrm>
        <a:off x="42722" y="3947287"/>
        <a:ext cx="4914680" cy="789716"/>
      </dsp:txXfrm>
    </dsp:sp>
    <dsp:sp modelId="{D0C305A5-9F01-4555-9201-C60D33D7FE39}">
      <dsp:nvSpPr>
        <dsp:cNvPr id="0" name=""/>
        <dsp:cNvSpPr/>
      </dsp:nvSpPr>
      <dsp:spPr>
        <a:xfrm>
          <a:off x="0" y="4779725"/>
          <a:ext cx="5000124"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Interviewed</a:t>
          </a:r>
        </a:p>
        <a:p>
          <a:pPr marL="171450" lvl="1" indent="-171450" algn="l" defTabSz="755650">
            <a:lnSpc>
              <a:spcPct val="90000"/>
            </a:lnSpc>
            <a:spcBef>
              <a:spcPct val="0"/>
            </a:spcBef>
            <a:spcAft>
              <a:spcPct val="20000"/>
            </a:spcAft>
            <a:buChar char="•"/>
          </a:pPr>
          <a:r>
            <a:rPr lang="en-US" sz="1700" kern="1200"/>
            <a:t>Completed daily reports of activities</a:t>
          </a:r>
        </a:p>
      </dsp:txBody>
      <dsp:txXfrm>
        <a:off x="0" y="4779725"/>
        <a:ext cx="5000124" cy="5920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2053F-5E3C-446D-AA4B-7D5B3C89F7E5}">
      <dsp:nvSpPr>
        <dsp:cNvPr id="0" name=""/>
        <dsp:cNvSpPr/>
      </dsp:nvSpPr>
      <dsp:spPr>
        <a:xfrm>
          <a:off x="0" y="531803"/>
          <a:ext cx="5000124" cy="79450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No differences in:</a:t>
          </a:r>
        </a:p>
      </dsp:txBody>
      <dsp:txXfrm>
        <a:off x="38784" y="570587"/>
        <a:ext cx="4922556" cy="716935"/>
      </dsp:txXfrm>
    </dsp:sp>
    <dsp:sp modelId="{448C1319-C569-484D-8849-1CEFAA75FD30}">
      <dsp:nvSpPr>
        <dsp:cNvPr id="0" name=""/>
        <dsp:cNvSpPr/>
      </dsp:nvSpPr>
      <dsp:spPr>
        <a:xfrm>
          <a:off x="0" y="1326306"/>
          <a:ext cx="5000124" cy="109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t>Age started playing (M = 8)</a:t>
          </a:r>
        </a:p>
        <a:p>
          <a:pPr marL="171450" lvl="1" indent="-171450" algn="l" defTabSz="711200">
            <a:lnSpc>
              <a:spcPct val="90000"/>
            </a:lnSpc>
            <a:spcBef>
              <a:spcPct val="0"/>
            </a:spcBef>
            <a:spcAft>
              <a:spcPct val="20000"/>
            </a:spcAft>
            <a:buChar char="•"/>
          </a:pPr>
          <a:r>
            <a:rPr lang="en-US" sz="1600" kern="1200"/>
            <a:t>Age at decision to be a professional musician (M = 15)</a:t>
          </a:r>
        </a:p>
        <a:p>
          <a:pPr marL="171450" lvl="1" indent="-171450" algn="l" defTabSz="711200">
            <a:lnSpc>
              <a:spcPct val="90000"/>
            </a:lnSpc>
            <a:spcBef>
              <a:spcPct val="0"/>
            </a:spcBef>
            <a:spcAft>
              <a:spcPct val="20000"/>
            </a:spcAft>
            <a:buChar char="•"/>
          </a:pPr>
          <a:r>
            <a:rPr lang="en-US" sz="1600" kern="1200"/>
            <a:t>Number of music teachers</a:t>
          </a:r>
        </a:p>
        <a:p>
          <a:pPr marL="171450" lvl="1" indent="-171450" algn="l" defTabSz="711200">
            <a:lnSpc>
              <a:spcPct val="90000"/>
            </a:lnSpc>
            <a:spcBef>
              <a:spcPct val="0"/>
            </a:spcBef>
            <a:spcAft>
              <a:spcPct val="20000"/>
            </a:spcAft>
            <a:buChar char="•"/>
          </a:pPr>
          <a:r>
            <a:rPr lang="en-US" sz="1600" kern="1200"/>
            <a:t>Number of other instruments played</a:t>
          </a:r>
        </a:p>
      </dsp:txBody>
      <dsp:txXfrm>
        <a:off x="0" y="1326306"/>
        <a:ext cx="5000124" cy="1097100"/>
      </dsp:txXfrm>
    </dsp:sp>
    <dsp:sp modelId="{C36064C8-C511-486D-8877-B5ADED17D570}">
      <dsp:nvSpPr>
        <dsp:cNvPr id="0" name=""/>
        <dsp:cNvSpPr/>
      </dsp:nvSpPr>
      <dsp:spPr>
        <a:xfrm>
          <a:off x="0" y="2423406"/>
          <a:ext cx="5000124" cy="794503"/>
        </a:xfrm>
        <a:prstGeom prst="roundRect">
          <a:avLst/>
        </a:prstGeom>
        <a:gradFill rotWithShape="0">
          <a:gsLst>
            <a:gs pos="0">
              <a:schemeClr val="accent2">
                <a:hueOff val="-485121"/>
                <a:satOff val="-27976"/>
                <a:lumOff val="2876"/>
                <a:alphaOff val="0"/>
                <a:satMod val="103000"/>
                <a:lumMod val="102000"/>
                <a:tint val="94000"/>
              </a:schemeClr>
            </a:gs>
            <a:gs pos="50000">
              <a:schemeClr val="accent2">
                <a:hueOff val="-485121"/>
                <a:satOff val="-27976"/>
                <a:lumOff val="2876"/>
                <a:alphaOff val="0"/>
                <a:satMod val="110000"/>
                <a:lumMod val="100000"/>
                <a:shade val="100000"/>
              </a:schemeClr>
            </a:gs>
            <a:gs pos="100000">
              <a:schemeClr val="accent2">
                <a:hueOff val="-485121"/>
                <a:satOff val="-27976"/>
                <a:lumOff val="28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Time spent practicing alone: Best &amp; Good &gt; Teachers (ave 24.3 hrs/week vs 9.3 hrs/week)</a:t>
          </a:r>
        </a:p>
      </dsp:txBody>
      <dsp:txXfrm>
        <a:off x="38784" y="2462190"/>
        <a:ext cx="4922556" cy="716935"/>
      </dsp:txXfrm>
    </dsp:sp>
    <dsp:sp modelId="{E9ED3C3A-F4D3-4C6B-B5AF-634695AE10BF}">
      <dsp:nvSpPr>
        <dsp:cNvPr id="0" name=""/>
        <dsp:cNvSpPr/>
      </dsp:nvSpPr>
      <dsp:spPr>
        <a:xfrm>
          <a:off x="0" y="3275509"/>
          <a:ext cx="5000124" cy="794503"/>
        </a:xfrm>
        <a:prstGeom prst="roundRect">
          <a:avLst/>
        </a:prstGeom>
        <a:gradFill rotWithShape="0">
          <a:gsLst>
            <a:gs pos="0">
              <a:schemeClr val="accent2">
                <a:hueOff val="-970242"/>
                <a:satOff val="-55952"/>
                <a:lumOff val="5752"/>
                <a:alphaOff val="0"/>
                <a:satMod val="103000"/>
                <a:lumMod val="102000"/>
                <a:tint val="94000"/>
              </a:schemeClr>
            </a:gs>
            <a:gs pos="50000">
              <a:schemeClr val="accent2">
                <a:hueOff val="-970242"/>
                <a:satOff val="-55952"/>
                <a:lumOff val="5752"/>
                <a:alphaOff val="0"/>
                <a:satMod val="110000"/>
                <a:lumMod val="100000"/>
                <a:shade val="100000"/>
              </a:schemeClr>
            </a:gs>
            <a:gs pos="100000">
              <a:schemeClr val="accent2">
                <a:hueOff val="-970242"/>
                <a:satOff val="-55952"/>
                <a:lumOff val="57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Number of practice sessions: Best &amp; Good &gt; Teachers (3x more practice sessions)</a:t>
          </a:r>
        </a:p>
      </dsp:txBody>
      <dsp:txXfrm>
        <a:off x="38784" y="3314293"/>
        <a:ext cx="4922556" cy="716935"/>
      </dsp:txXfrm>
    </dsp:sp>
    <dsp:sp modelId="{47E25E1D-375F-48B9-A69B-AB590D3F70B6}">
      <dsp:nvSpPr>
        <dsp:cNvPr id="0" name=""/>
        <dsp:cNvSpPr/>
      </dsp:nvSpPr>
      <dsp:spPr>
        <a:xfrm>
          <a:off x="0" y="4127613"/>
          <a:ext cx="5000124" cy="794503"/>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Hours of practice per week before age 18: Best &gt; Good &amp; Teachers</a:t>
          </a:r>
        </a:p>
      </dsp:txBody>
      <dsp:txXfrm>
        <a:off x="38784" y="4166397"/>
        <a:ext cx="4922556" cy="7169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290EB-6BBD-4C55-8494-ABEF9E4576EC}">
      <dsp:nvSpPr>
        <dsp:cNvPr id="0" name=""/>
        <dsp:cNvSpPr/>
      </dsp:nvSpPr>
      <dsp:spPr>
        <a:xfrm>
          <a:off x="0" y="1354418"/>
          <a:ext cx="4697730" cy="478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29FAE9-6691-4C79-82C6-230045295CA7}">
      <dsp:nvSpPr>
        <dsp:cNvPr id="0" name=""/>
        <dsp:cNvSpPr/>
      </dsp:nvSpPr>
      <dsp:spPr>
        <a:xfrm>
          <a:off x="234886" y="1073978"/>
          <a:ext cx="3288411" cy="5608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294" tIns="0" rIns="124294" bIns="0" numCol="1" spcCol="1270" anchor="ctr" anchorCtr="0">
          <a:noAutofit/>
        </a:bodyPr>
        <a:lstStyle/>
        <a:p>
          <a:pPr marL="0" lvl="0" indent="0" algn="l" defTabSz="844550">
            <a:lnSpc>
              <a:spcPct val="90000"/>
            </a:lnSpc>
            <a:spcBef>
              <a:spcPct val="0"/>
            </a:spcBef>
            <a:spcAft>
              <a:spcPct val="35000"/>
            </a:spcAft>
            <a:buNone/>
          </a:pPr>
          <a:r>
            <a:rPr lang="en-US" sz="1900" kern="1200"/>
            <a:t>Over-practice</a:t>
          </a:r>
        </a:p>
      </dsp:txBody>
      <dsp:txXfrm>
        <a:off x="262266" y="1101358"/>
        <a:ext cx="3233651" cy="506120"/>
      </dsp:txXfrm>
    </dsp:sp>
    <dsp:sp modelId="{D775C3C8-3AB2-4C01-A318-E7524E5AB37A}">
      <dsp:nvSpPr>
        <dsp:cNvPr id="0" name=""/>
        <dsp:cNvSpPr/>
      </dsp:nvSpPr>
      <dsp:spPr>
        <a:xfrm>
          <a:off x="0" y="2216258"/>
          <a:ext cx="4697730" cy="221445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4596" tIns="395732" rIns="364596"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a:t>This is a recognized danger to what is known as overtraining</a:t>
          </a:r>
        </a:p>
        <a:p>
          <a:pPr marL="171450" lvl="1" indent="-171450" algn="l" defTabSz="844550">
            <a:lnSpc>
              <a:spcPct val="90000"/>
            </a:lnSpc>
            <a:spcBef>
              <a:spcPct val="0"/>
            </a:spcBef>
            <a:spcAft>
              <a:spcPct val="15000"/>
            </a:spcAft>
            <a:buChar char="•"/>
          </a:pPr>
          <a:r>
            <a:rPr lang="en-US" sz="1900" kern="1200"/>
            <a:t>Excellence requires sensible balance of hard work and rest (those who achieve high levels of excellence tend to practice about 4hrs/day)</a:t>
          </a:r>
        </a:p>
      </dsp:txBody>
      <dsp:txXfrm>
        <a:off x="0" y="2216258"/>
        <a:ext cx="4697730" cy="2214450"/>
      </dsp:txXfrm>
    </dsp:sp>
    <dsp:sp modelId="{9396B9CD-B4DD-49F9-ADE7-2B837F0098A6}">
      <dsp:nvSpPr>
        <dsp:cNvPr id="0" name=""/>
        <dsp:cNvSpPr/>
      </dsp:nvSpPr>
      <dsp:spPr>
        <a:xfrm>
          <a:off x="234886" y="1935818"/>
          <a:ext cx="3288411" cy="5608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294" tIns="0" rIns="124294" bIns="0" numCol="1" spcCol="1270" anchor="ctr" anchorCtr="0">
          <a:noAutofit/>
        </a:bodyPr>
        <a:lstStyle/>
        <a:p>
          <a:pPr marL="0" lvl="0" indent="0" algn="l" defTabSz="844550">
            <a:lnSpc>
              <a:spcPct val="90000"/>
            </a:lnSpc>
            <a:spcBef>
              <a:spcPct val="0"/>
            </a:spcBef>
            <a:spcAft>
              <a:spcPct val="35000"/>
            </a:spcAft>
            <a:buNone/>
          </a:pPr>
          <a:r>
            <a:rPr lang="en-US" sz="1900" kern="1200"/>
            <a:t>Over-practice can be harmful</a:t>
          </a:r>
        </a:p>
      </dsp:txBody>
      <dsp:txXfrm>
        <a:off x="262266" y="1963198"/>
        <a:ext cx="3233651" cy="5061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8E5C5-5743-4C46-816A-418F7166F769}">
      <dsp:nvSpPr>
        <dsp:cNvPr id="0" name=""/>
        <dsp:cNvSpPr/>
      </dsp:nvSpPr>
      <dsp:spPr>
        <a:xfrm>
          <a:off x="0" y="285912"/>
          <a:ext cx="5000124" cy="9149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Move away from standardized tests for entry into gifted and talented programs</a:t>
          </a:r>
        </a:p>
      </dsp:txBody>
      <dsp:txXfrm>
        <a:off x="44664" y="330576"/>
        <a:ext cx="4910796" cy="825612"/>
      </dsp:txXfrm>
    </dsp:sp>
    <dsp:sp modelId="{5719C12F-06AB-4AA8-8525-91072C77907C}">
      <dsp:nvSpPr>
        <dsp:cNvPr id="0" name=""/>
        <dsp:cNvSpPr/>
      </dsp:nvSpPr>
      <dsp:spPr>
        <a:xfrm>
          <a:off x="0" y="1267092"/>
          <a:ext cx="5000124" cy="91494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Instead:</a:t>
          </a:r>
        </a:p>
      </dsp:txBody>
      <dsp:txXfrm>
        <a:off x="44664" y="1311756"/>
        <a:ext cx="4910796" cy="825612"/>
      </dsp:txXfrm>
    </dsp:sp>
    <dsp:sp modelId="{4B8A0B77-09E4-43D3-8938-2A909FD63F3F}">
      <dsp:nvSpPr>
        <dsp:cNvPr id="0" name=""/>
        <dsp:cNvSpPr/>
      </dsp:nvSpPr>
      <dsp:spPr>
        <a:xfrm>
          <a:off x="0" y="2182032"/>
          <a:ext cx="5000124" cy="880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Projects as initial entry into assessment</a:t>
          </a:r>
        </a:p>
        <a:p>
          <a:pPr marL="171450" lvl="1" indent="-171450" algn="l" defTabSz="800100">
            <a:lnSpc>
              <a:spcPct val="90000"/>
            </a:lnSpc>
            <a:spcBef>
              <a:spcPct val="0"/>
            </a:spcBef>
            <a:spcAft>
              <a:spcPct val="20000"/>
            </a:spcAft>
            <a:buChar char="•"/>
          </a:pPr>
          <a:r>
            <a:rPr lang="en-US" sz="1800" kern="1200"/>
            <a:t>Accelerated, challenging curriculum to identify students</a:t>
          </a:r>
        </a:p>
      </dsp:txBody>
      <dsp:txXfrm>
        <a:off x="0" y="2182032"/>
        <a:ext cx="5000124" cy="880785"/>
      </dsp:txXfrm>
    </dsp:sp>
    <dsp:sp modelId="{1B20E544-B8F2-491C-A423-8D2AFE9369FB}">
      <dsp:nvSpPr>
        <dsp:cNvPr id="0" name=""/>
        <dsp:cNvSpPr/>
      </dsp:nvSpPr>
      <dsp:spPr>
        <a:xfrm>
          <a:off x="0" y="3062817"/>
          <a:ext cx="5000124" cy="9149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Scholastic mentorship and preparation programs</a:t>
          </a:r>
        </a:p>
      </dsp:txBody>
      <dsp:txXfrm>
        <a:off x="44664" y="3107481"/>
        <a:ext cx="4910796" cy="825612"/>
      </dsp:txXfrm>
    </dsp:sp>
    <dsp:sp modelId="{BC55BB53-C2D9-40A0-8E17-1C1B92E5211F}">
      <dsp:nvSpPr>
        <dsp:cNvPr id="0" name=""/>
        <dsp:cNvSpPr/>
      </dsp:nvSpPr>
      <dsp:spPr>
        <a:xfrm>
          <a:off x="0" y="3977757"/>
          <a:ext cx="5000124"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7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Reveal the “hidden curriculum”</a:t>
          </a:r>
        </a:p>
        <a:p>
          <a:pPr marL="171450" lvl="1" indent="-171450" algn="l" defTabSz="800100">
            <a:lnSpc>
              <a:spcPct val="90000"/>
            </a:lnSpc>
            <a:spcBef>
              <a:spcPct val="0"/>
            </a:spcBef>
            <a:spcAft>
              <a:spcPct val="20000"/>
            </a:spcAft>
            <a:buChar char="•"/>
          </a:pPr>
          <a:r>
            <a:rPr lang="en-US" sz="1800" kern="1200"/>
            <a:t>High School to College prep programs</a:t>
          </a:r>
        </a:p>
        <a:p>
          <a:pPr marL="171450" lvl="1" indent="-171450" algn="l" defTabSz="800100">
            <a:lnSpc>
              <a:spcPct val="90000"/>
            </a:lnSpc>
            <a:spcBef>
              <a:spcPct val="0"/>
            </a:spcBef>
            <a:spcAft>
              <a:spcPct val="20000"/>
            </a:spcAft>
            <a:buChar char="•"/>
          </a:pPr>
          <a:r>
            <a:rPr lang="en-US" sz="1800" kern="1200"/>
            <a:t>College to Graduate/Professional school programs</a:t>
          </a:r>
        </a:p>
      </dsp:txBody>
      <dsp:txXfrm>
        <a:off x="0" y="3977757"/>
        <a:ext cx="5000124" cy="119025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5/25/2025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5/25/2025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alpha val="34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5"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lumMod val="75000"/>
                    <a:lumOff val="2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nytimes.com/2022/09/26/style/andres-valencia-art-paintings.html"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rWuJqCwfjjc"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3.xml"/><Relationship Id="rId1" Type="http://schemas.openxmlformats.org/officeDocument/2006/relationships/video" Target="https://www.youtube.com/embed/H14bBuluwB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98460" y="1783959"/>
            <a:ext cx="3065480" cy="2889114"/>
          </a:xfrm>
        </p:spPr>
        <p:txBody>
          <a:bodyPr vert="horz" lIns="91440" tIns="45720" rIns="91440" bIns="45720" rtlCol="0" anchor="b">
            <a:normAutofit/>
          </a:bodyPr>
          <a:lstStyle/>
          <a:p>
            <a:pPr algn="l"/>
            <a:r>
              <a:rPr lang="en-US" sz="4700"/>
              <a:t>Chapter 6</a:t>
            </a:r>
          </a:p>
        </p:txBody>
      </p:sp>
      <p:sp>
        <p:nvSpPr>
          <p:cNvPr id="3" name="Text Placeholder 2"/>
          <p:cNvSpPr>
            <a:spLocks noGrp="1"/>
          </p:cNvSpPr>
          <p:nvPr>
            <p:ph type="body" idx="1"/>
          </p:nvPr>
        </p:nvSpPr>
        <p:spPr>
          <a:xfrm>
            <a:off x="5598459" y="4700734"/>
            <a:ext cx="3065478" cy="1147863"/>
          </a:xfrm>
        </p:spPr>
        <p:txBody>
          <a:bodyPr vert="horz" lIns="91440" tIns="45720" rIns="91440" bIns="45720" rtlCol="0" anchor="t">
            <a:normAutofit/>
          </a:bodyPr>
          <a:lstStyle/>
          <a:p>
            <a:pPr algn="l"/>
            <a:r>
              <a:rPr lang="en-US" sz="2800" dirty="0"/>
              <a:t>Talent and Giftedness</a:t>
            </a:r>
          </a:p>
        </p:txBody>
      </p:sp>
      <p:sp>
        <p:nvSpPr>
          <p:cNvPr id="11" name="Freeform: Shape 1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5391039"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933DBE62-1252-B46F-8951-AB7B437A3DDA}"/>
              </a:ext>
            </a:extLst>
          </p:cNvPr>
          <p:cNvPicPr>
            <a:picLocks noChangeAspect="1"/>
          </p:cNvPicPr>
          <p:nvPr/>
        </p:nvPicPr>
        <p:blipFill rotWithShape="1">
          <a:blip r:embed="rId2"/>
          <a:srcRect l="17643" r="43924"/>
          <a:stretch/>
        </p:blipFill>
        <p:spPr>
          <a:xfrm>
            <a:off x="20" y="10"/>
            <a:ext cx="5271352"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5" name="Footer Placeholder 3">
            <a:extLst>
              <a:ext uri="{FF2B5EF4-FFF2-40B4-BE49-F238E27FC236}">
                <a16:creationId xmlns:a16="http://schemas.microsoft.com/office/drawing/2014/main" id="{7A4A80B5-AB75-8D76-191F-E7679F63D82F}"/>
              </a:ext>
            </a:extLst>
          </p:cNvPr>
          <p:cNvSpPr>
            <a:spLocks noGrp="1"/>
          </p:cNvSpPr>
          <p:nvPr>
            <p:ph type="ftr" sz="quarter" idx="10"/>
          </p:nvPr>
        </p:nvSpPr>
        <p:spPr>
          <a:xfrm>
            <a:off x="5598459" y="6199631"/>
            <a:ext cx="3065478" cy="365760"/>
          </a:xfrm>
        </p:spPr>
        <p:txBody>
          <a:bodyPr vert="horz" lIns="91440" tIns="45720" rIns="91440" bIns="45720" rtlCol="0" anchor="ctr">
            <a:normAutofit/>
          </a:bodyPr>
          <a:lstStyle/>
          <a:p>
            <a:pPr algn="l" defTabSz="914400">
              <a:lnSpc>
                <a:spcPct val="90000"/>
              </a:lnSpc>
              <a:spcAft>
                <a:spcPts val="600"/>
              </a:spcAft>
              <a:defRPr/>
            </a:pPr>
            <a:r>
              <a:rPr lang="en-US" sz="1000" kern="1200">
                <a:solidFill>
                  <a:schemeClr val="tx1">
                    <a:alpha val="80000"/>
                  </a:schemeClr>
                </a:solidFill>
                <a:latin typeface="Calibri" panose="020F0502020204030204"/>
                <a:ea typeface="+mn-ea"/>
                <a:cs typeface="+mn-cs"/>
              </a:rPr>
              <a:t>The Science and Application of Positive Psychology © Cambridge University Press 2021</a:t>
            </a:r>
          </a:p>
        </p:txBody>
      </p:sp>
    </p:spTree>
    <p:extLst>
      <p:ext uri="{BB962C8B-B14F-4D97-AF65-F5344CB8AC3E}">
        <p14:creationId xmlns:p14="http://schemas.microsoft.com/office/powerpoint/2010/main" val="41772244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7845966-6EFC-468A-9CC7-BAB4B9585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0"/>
          </a:xfrm>
          <a:prstGeom prst="rect">
            <a:avLst/>
          </a:prstGeom>
          <a:solidFill>
            <a:srgbClr val="4239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75554383-98AF-4A47-BB65-705FAAA4BE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12500" r="12500"/>
          <a:stretch/>
        </p:blipFill>
        <p:spPr>
          <a:xfrm>
            <a:off x="0" y="0"/>
            <a:ext cx="9144000" cy="6858000"/>
          </a:xfrm>
          <a:prstGeom prst="rect">
            <a:avLst/>
          </a:prstGeom>
        </p:spPr>
      </p:pic>
      <p:sp>
        <p:nvSpPr>
          <p:cNvPr id="14" name="Freeform: Shape 13">
            <a:extLst>
              <a:ext uri="{FF2B5EF4-FFF2-40B4-BE49-F238E27FC236}">
                <a16:creationId xmlns:a16="http://schemas.microsoft.com/office/drawing/2014/main" id="{ADAD1991-FFD1-4E94-ABAB-7560D3300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410" y="-3970"/>
            <a:ext cx="7748362" cy="6874811"/>
          </a:xfrm>
          <a:custGeom>
            <a:avLst/>
            <a:gdLst>
              <a:gd name="connsiteX0" fmla="*/ 2232159 w 7837716"/>
              <a:gd name="connsiteY0" fmla="*/ 0 h 6858000"/>
              <a:gd name="connsiteX1" fmla="*/ 5605557 w 7837716"/>
              <a:gd name="connsiteY1" fmla="*/ 0 h 6858000"/>
              <a:gd name="connsiteX2" fmla="*/ 5617845 w 7837716"/>
              <a:gd name="connsiteY2" fmla="*/ 5384 h 6858000"/>
              <a:gd name="connsiteX3" fmla="*/ 7837716 w 7837716"/>
              <a:gd name="connsiteY3" fmla="*/ 3429000 h 6858000"/>
              <a:gd name="connsiteX4" fmla="*/ 5617845 w 7837716"/>
              <a:gd name="connsiteY4" fmla="*/ 6852616 h 6858000"/>
              <a:gd name="connsiteX5" fmla="*/ 5605557 w 7837716"/>
              <a:gd name="connsiteY5" fmla="*/ 6858000 h 6858000"/>
              <a:gd name="connsiteX6" fmla="*/ 2232159 w 7837716"/>
              <a:gd name="connsiteY6" fmla="*/ 6858000 h 6858000"/>
              <a:gd name="connsiteX7" fmla="*/ 2219871 w 7837716"/>
              <a:gd name="connsiteY7" fmla="*/ 6852616 h 6858000"/>
              <a:gd name="connsiteX8" fmla="*/ 0 w 7837716"/>
              <a:gd name="connsiteY8" fmla="*/ 3429000 h 6858000"/>
              <a:gd name="connsiteX9" fmla="*/ 2219871 w 7837716"/>
              <a:gd name="connsiteY9" fmla="*/ 53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37716" h="6858000">
                <a:moveTo>
                  <a:pt x="2232159" y="0"/>
                </a:moveTo>
                <a:lnTo>
                  <a:pt x="5605557" y="0"/>
                </a:lnTo>
                <a:lnTo>
                  <a:pt x="5617845" y="5384"/>
                </a:lnTo>
                <a:cubicBezTo>
                  <a:pt x="6931322" y="618789"/>
                  <a:pt x="7837716" y="1921305"/>
                  <a:pt x="7837716" y="3429000"/>
                </a:cubicBezTo>
                <a:cubicBezTo>
                  <a:pt x="7837716" y="4936696"/>
                  <a:pt x="6931322" y="6239212"/>
                  <a:pt x="5617845" y="6852616"/>
                </a:cubicBezTo>
                <a:lnTo>
                  <a:pt x="5605557" y="6858000"/>
                </a:lnTo>
                <a:lnTo>
                  <a:pt x="2232159" y="6858000"/>
                </a:lnTo>
                <a:lnTo>
                  <a:pt x="2219871" y="6852616"/>
                </a:lnTo>
                <a:cubicBezTo>
                  <a:pt x="906394" y="6239212"/>
                  <a:pt x="0" y="4936696"/>
                  <a:pt x="0" y="3429000"/>
                </a:cubicBezTo>
                <a:cubicBezTo>
                  <a:pt x="0" y="1921305"/>
                  <a:pt x="906394" y="618789"/>
                  <a:pt x="2219871" y="5384"/>
                </a:cubicBezTo>
                <a:close/>
              </a:path>
            </a:pathLst>
          </a:custGeom>
          <a:solidFill>
            <a:schemeClr val="bg1"/>
          </a:solidFill>
          <a:ln>
            <a:gradFill>
              <a:gsLst>
                <a:gs pos="0">
                  <a:schemeClr val="accent1">
                    <a:lumMod val="40000"/>
                    <a:lumOff val="60000"/>
                  </a:schemeClr>
                </a:gs>
                <a:gs pos="23000">
                  <a:schemeClr val="accent1">
                    <a:lumMod val="45000"/>
                    <a:lumOff val="55000"/>
                  </a:schemeClr>
                </a:gs>
                <a:gs pos="83000">
                  <a:schemeClr val="bg2">
                    <a:lumMod val="82000"/>
                  </a:schemeClr>
                </a:gs>
                <a:gs pos="100000">
                  <a:schemeClr val="bg2">
                    <a:lumMod val="87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5" name="Picture 4"/>
          <p:cNvPicPr>
            <a:picLocks noChangeAspect="1"/>
          </p:cNvPicPr>
          <p:nvPr/>
        </p:nvPicPr>
        <p:blipFill>
          <a:blip r:embed="rId3"/>
          <a:stretch>
            <a:fillRect/>
          </a:stretch>
        </p:blipFill>
        <p:spPr>
          <a:xfrm>
            <a:off x="3006481" y="1172029"/>
            <a:ext cx="3046218" cy="4513942"/>
          </a:xfrm>
          <a:prstGeom prst="rect">
            <a:avLst/>
          </a:prstGeom>
        </p:spPr>
      </p:pic>
      <p:sp>
        <p:nvSpPr>
          <p:cNvPr id="4" name="Footer Placeholder 3"/>
          <p:cNvSpPr>
            <a:spLocks noGrp="1"/>
          </p:cNvSpPr>
          <p:nvPr>
            <p:ph type="ftr" sz="quarter" idx="11"/>
          </p:nvPr>
        </p:nvSpPr>
        <p:spPr>
          <a:xfrm>
            <a:off x="2986540" y="6401991"/>
            <a:ext cx="3086100" cy="273844"/>
          </a:xfrm>
        </p:spPr>
        <p:txBody>
          <a:bodyPr vert="horz" lIns="91440" tIns="45720" rIns="91440" bIns="45720" rtlCol="0" anchor="ctr">
            <a:normAutofit/>
          </a:bodyPr>
          <a:lstStyle/>
          <a:p>
            <a:pPr defTabSz="914400">
              <a:lnSpc>
                <a:spcPct val="90000"/>
              </a:lnSpc>
              <a:spcAft>
                <a:spcPts val="600"/>
              </a:spcAft>
            </a:pPr>
            <a:r>
              <a:rPr lang="en-US" sz="700" kern="1200">
                <a:solidFill>
                  <a:schemeClr val="tx1">
                    <a:tint val="75000"/>
                  </a:schemeClr>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571125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Nature vs Nurture and Talent/Giftedness</a:t>
            </a:r>
          </a:p>
        </p:txBody>
      </p:sp>
      <p:pic>
        <p:nvPicPr>
          <p:cNvPr id="6" name="Content Placeholder 5"/>
          <p:cNvPicPr>
            <a:picLocks noGrp="1" noChangeAspect="1"/>
          </p:cNvPicPr>
          <p:nvPr>
            <p:ph idx="1"/>
          </p:nvPr>
        </p:nvPicPr>
        <p:blipFill>
          <a:blip r:embed="rId2"/>
          <a:stretch>
            <a:fillRect/>
          </a:stretch>
        </p:blipFill>
        <p:spPr>
          <a:xfrm>
            <a:off x="5873675" y="225279"/>
            <a:ext cx="3012141" cy="6024282"/>
          </a:xfrm>
          <a:prstGeom prst="rect">
            <a:avLst/>
          </a:prstGeo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pic>
        <p:nvPicPr>
          <p:cNvPr id="5" name="Picture 4"/>
          <p:cNvPicPr>
            <a:picLocks noChangeAspect="1"/>
          </p:cNvPicPr>
          <p:nvPr/>
        </p:nvPicPr>
        <p:blipFill>
          <a:blip r:embed="rId3"/>
          <a:stretch>
            <a:fillRect/>
          </a:stretch>
        </p:blipFill>
        <p:spPr>
          <a:xfrm>
            <a:off x="776791" y="2444582"/>
            <a:ext cx="4236272" cy="2989598"/>
          </a:xfrm>
          <a:prstGeom prst="rect">
            <a:avLst/>
          </a:prstGeom>
        </p:spPr>
      </p:pic>
    </p:spTree>
    <p:extLst>
      <p:ext uri="{BB962C8B-B14F-4D97-AF65-F5344CB8AC3E}">
        <p14:creationId xmlns:p14="http://schemas.microsoft.com/office/powerpoint/2010/main" val="2551820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2E84985-2927-4FFA-AA08-36D222828032}"/>
              </a:ext>
            </a:extLst>
          </p:cNvPr>
          <p:cNvSpPr>
            <a:spLocks noGrp="1"/>
          </p:cNvSpPr>
          <p:nvPr>
            <p:ph type="title"/>
          </p:nvPr>
        </p:nvSpPr>
        <p:spPr>
          <a:xfrm>
            <a:off x="476250" y="640823"/>
            <a:ext cx="2563994" cy="5583148"/>
          </a:xfrm>
        </p:spPr>
        <p:txBody>
          <a:bodyPr anchor="ctr">
            <a:normAutofit/>
          </a:bodyPr>
          <a:lstStyle/>
          <a:p>
            <a:r>
              <a:rPr lang="en-US" sz="4000"/>
              <a:t>Why is it important to study talent and giftedness?</a:t>
            </a:r>
          </a:p>
        </p:txBody>
      </p:sp>
      <p:sp>
        <p:nvSpPr>
          <p:cNvPr id="1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 name="connsiteX0" fmla="*/ 0 w 5410200"/>
              <a:gd name="connsiteY0" fmla="*/ 0 h 13716"/>
              <a:gd name="connsiteX1" fmla="*/ 622173 w 5410200"/>
              <a:gd name="connsiteY1" fmla="*/ 0 h 13716"/>
              <a:gd name="connsiteX2" fmla="*/ 1136142 w 5410200"/>
              <a:gd name="connsiteY2" fmla="*/ 0 h 13716"/>
              <a:gd name="connsiteX3" fmla="*/ 1920621 w 5410200"/>
              <a:gd name="connsiteY3" fmla="*/ 0 h 13716"/>
              <a:gd name="connsiteX4" fmla="*/ 2542794 w 5410200"/>
              <a:gd name="connsiteY4" fmla="*/ 0 h 13716"/>
              <a:gd name="connsiteX5" fmla="*/ 3164967 w 5410200"/>
              <a:gd name="connsiteY5" fmla="*/ 0 h 13716"/>
              <a:gd name="connsiteX6" fmla="*/ 3949446 w 5410200"/>
              <a:gd name="connsiteY6" fmla="*/ 0 h 13716"/>
              <a:gd name="connsiteX7" fmla="*/ 4517517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165854 w 5410200"/>
              <a:gd name="connsiteY11" fmla="*/ 13716 h 13716"/>
              <a:gd name="connsiteX12" fmla="*/ 3543681 w 5410200"/>
              <a:gd name="connsiteY12" fmla="*/ 13716 h 13716"/>
              <a:gd name="connsiteX13" fmla="*/ 2759202 w 5410200"/>
              <a:gd name="connsiteY13" fmla="*/ 13716 h 13716"/>
              <a:gd name="connsiteX14" fmla="*/ 1974723 w 5410200"/>
              <a:gd name="connsiteY14" fmla="*/ 13716 h 13716"/>
              <a:gd name="connsiteX15" fmla="*/ 1406652 w 5410200"/>
              <a:gd name="connsiteY15" fmla="*/ 13716 h 13716"/>
              <a:gd name="connsiteX16" fmla="*/ 730377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76940" y="8795"/>
                  <a:pt x="295530" y="-3818"/>
                  <a:pt x="568071" y="0"/>
                </a:cubicBezTo>
                <a:cubicBezTo>
                  <a:pt x="821049" y="-7814"/>
                  <a:pt x="977778" y="-9274"/>
                  <a:pt x="1298448" y="0"/>
                </a:cubicBezTo>
                <a:cubicBezTo>
                  <a:pt x="1590381" y="13044"/>
                  <a:pt x="1630605" y="-28"/>
                  <a:pt x="1920621" y="0"/>
                </a:cubicBezTo>
                <a:cubicBezTo>
                  <a:pt x="2206035" y="10386"/>
                  <a:pt x="2357755" y="-28028"/>
                  <a:pt x="2488692" y="0"/>
                </a:cubicBezTo>
                <a:cubicBezTo>
                  <a:pt x="2633521" y="25625"/>
                  <a:pt x="3022777" y="-45440"/>
                  <a:pt x="3219069" y="0"/>
                </a:cubicBezTo>
                <a:cubicBezTo>
                  <a:pt x="3460337" y="63290"/>
                  <a:pt x="3645640" y="26494"/>
                  <a:pt x="3895344" y="0"/>
                </a:cubicBezTo>
                <a:cubicBezTo>
                  <a:pt x="4126339" y="-535"/>
                  <a:pt x="4382665" y="-55222"/>
                  <a:pt x="4571619" y="0"/>
                </a:cubicBezTo>
                <a:cubicBezTo>
                  <a:pt x="4776405" y="-816"/>
                  <a:pt x="5201098" y="-43036"/>
                  <a:pt x="5410200" y="0"/>
                </a:cubicBezTo>
                <a:cubicBezTo>
                  <a:pt x="5409052" y="2649"/>
                  <a:pt x="5410186" y="9063"/>
                  <a:pt x="5410200" y="13716"/>
                </a:cubicBezTo>
                <a:cubicBezTo>
                  <a:pt x="5133704" y="5182"/>
                  <a:pt x="5123444" y="31477"/>
                  <a:pt x="4842129" y="13716"/>
                </a:cubicBezTo>
                <a:cubicBezTo>
                  <a:pt x="4568650" y="-219"/>
                  <a:pt x="4447390" y="8221"/>
                  <a:pt x="4328160" y="13716"/>
                </a:cubicBezTo>
                <a:cubicBezTo>
                  <a:pt x="4227436" y="28078"/>
                  <a:pt x="3754725" y="-2253"/>
                  <a:pt x="3597783" y="13716"/>
                </a:cubicBezTo>
                <a:cubicBezTo>
                  <a:pt x="3459353" y="10223"/>
                  <a:pt x="3317740" y="47315"/>
                  <a:pt x="3029712" y="13716"/>
                </a:cubicBezTo>
                <a:cubicBezTo>
                  <a:pt x="2766446" y="5245"/>
                  <a:pt x="2645518" y="35922"/>
                  <a:pt x="2299335" y="13716"/>
                </a:cubicBezTo>
                <a:cubicBezTo>
                  <a:pt x="1977844" y="23735"/>
                  <a:pt x="1781583" y="-1801"/>
                  <a:pt x="1514856" y="13716"/>
                </a:cubicBezTo>
                <a:cubicBezTo>
                  <a:pt x="1212648" y="18781"/>
                  <a:pt x="1087880" y="-4407"/>
                  <a:pt x="892683" y="13716"/>
                </a:cubicBezTo>
                <a:cubicBezTo>
                  <a:pt x="745769" y="11772"/>
                  <a:pt x="183254" y="-32062"/>
                  <a:pt x="0" y="13716"/>
                </a:cubicBezTo>
                <a:cubicBezTo>
                  <a:pt x="-907" y="9799"/>
                  <a:pt x="-75" y="7151"/>
                  <a:pt x="0" y="0"/>
                </a:cubicBezTo>
                <a:close/>
              </a:path>
              <a:path w="5410200" h="13716" stroke="0" extrusionOk="0">
                <a:moveTo>
                  <a:pt x="0" y="0"/>
                </a:moveTo>
                <a:cubicBezTo>
                  <a:pt x="269468" y="-22806"/>
                  <a:pt x="392563" y="4840"/>
                  <a:pt x="622173" y="0"/>
                </a:cubicBezTo>
                <a:cubicBezTo>
                  <a:pt x="884216" y="-2196"/>
                  <a:pt x="1034637" y="7784"/>
                  <a:pt x="1136142" y="0"/>
                </a:cubicBezTo>
                <a:cubicBezTo>
                  <a:pt x="1204956" y="5920"/>
                  <a:pt x="1559779" y="-61408"/>
                  <a:pt x="1920621" y="0"/>
                </a:cubicBezTo>
                <a:cubicBezTo>
                  <a:pt x="2280250" y="-18581"/>
                  <a:pt x="2372470" y="4128"/>
                  <a:pt x="2542794" y="0"/>
                </a:cubicBezTo>
                <a:cubicBezTo>
                  <a:pt x="2688150" y="-17189"/>
                  <a:pt x="2885478" y="-51412"/>
                  <a:pt x="3164967" y="0"/>
                </a:cubicBezTo>
                <a:cubicBezTo>
                  <a:pt x="3470933" y="16143"/>
                  <a:pt x="3588003" y="-4313"/>
                  <a:pt x="3949446" y="0"/>
                </a:cubicBezTo>
                <a:cubicBezTo>
                  <a:pt x="4331172" y="1470"/>
                  <a:pt x="4289286" y="5331"/>
                  <a:pt x="4517517" y="0"/>
                </a:cubicBezTo>
                <a:cubicBezTo>
                  <a:pt x="4736577" y="41911"/>
                  <a:pt x="5141868" y="443"/>
                  <a:pt x="5410200" y="0"/>
                </a:cubicBezTo>
                <a:cubicBezTo>
                  <a:pt x="5410845" y="2936"/>
                  <a:pt x="5409877" y="9829"/>
                  <a:pt x="5410200" y="13716"/>
                </a:cubicBezTo>
                <a:cubicBezTo>
                  <a:pt x="5130880" y="48304"/>
                  <a:pt x="5008082" y="-27188"/>
                  <a:pt x="4842129" y="13716"/>
                </a:cubicBezTo>
                <a:cubicBezTo>
                  <a:pt x="4629232" y="38478"/>
                  <a:pt x="4430159" y="43872"/>
                  <a:pt x="4165854" y="13716"/>
                </a:cubicBezTo>
                <a:cubicBezTo>
                  <a:pt x="3880517" y="17026"/>
                  <a:pt x="3820863" y="-12209"/>
                  <a:pt x="3543681" y="13716"/>
                </a:cubicBezTo>
                <a:cubicBezTo>
                  <a:pt x="3267577" y="39687"/>
                  <a:pt x="3047131" y="-8774"/>
                  <a:pt x="2759202" y="13716"/>
                </a:cubicBezTo>
                <a:cubicBezTo>
                  <a:pt x="2418778" y="17929"/>
                  <a:pt x="2206820" y="-35095"/>
                  <a:pt x="1974723" y="13716"/>
                </a:cubicBezTo>
                <a:cubicBezTo>
                  <a:pt x="1740429" y="35710"/>
                  <a:pt x="1599301" y="34493"/>
                  <a:pt x="1406652" y="13716"/>
                </a:cubicBezTo>
                <a:cubicBezTo>
                  <a:pt x="1196601" y="3966"/>
                  <a:pt x="938578" y="38717"/>
                  <a:pt x="730377" y="13716"/>
                </a:cubicBezTo>
                <a:cubicBezTo>
                  <a:pt x="524173" y="26651"/>
                  <a:pt x="336004" y="-17469"/>
                  <a:pt x="0" y="13716"/>
                </a:cubicBezTo>
                <a:cubicBezTo>
                  <a:pt x="-377" y="9245"/>
                  <a:pt x="1157" y="3819"/>
                  <a:pt x="0" y="0"/>
                </a:cubicBezTo>
                <a:close/>
              </a:path>
              <a:path w="5410200" h="13716" fill="none" stroke="0" extrusionOk="0">
                <a:moveTo>
                  <a:pt x="0" y="0"/>
                </a:moveTo>
                <a:cubicBezTo>
                  <a:pt x="148438" y="-27720"/>
                  <a:pt x="315263" y="-14841"/>
                  <a:pt x="568071" y="0"/>
                </a:cubicBezTo>
                <a:cubicBezTo>
                  <a:pt x="840209" y="21288"/>
                  <a:pt x="982180" y="-6281"/>
                  <a:pt x="1298448" y="0"/>
                </a:cubicBezTo>
                <a:cubicBezTo>
                  <a:pt x="1577021" y="13763"/>
                  <a:pt x="1630910" y="1060"/>
                  <a:pt x="1920621" y="0"/>
                </a:cubicBezTo>
                <a:cubicBezTo>
                  <a:pt x="2200928" y="-1340"/>
                  <a:pt x="2382869" y="-10369"/>
                  <a:pt x="2488692" y="0"/>
                </a:cubicBezTo>
                <a:cubicBezTo>
                  <a:pt x="2620356" y="20061"/>
                  <a:pt x="3042766" y="-74691"/>
                  <a:pt x="3219069" y="0"/>
                </a:cubicBezTo>
                <a:cubicBezTo>
                  <a:pt x="3395755" y="31704"/>
                  <a:pt x="3646717" y="33546"/>
                  <a:pt x="3895344" y="0"/>
                </a:cubicBezTo>
                <a:cubicBezTo>
                  <a:pt x="4131847" y="-43416"/>
                  <a:pt x="4371681" y="11418"/>
                  <a:pt x="4571619" y="0"/>
                </a:cubicBezTo>
                <a:cubicBezTo>
                  <a:pt x="4799447" y="47677"/>
                  <a:pt x="5212547" y="1562"/>
                  <a:pt x="5410200" y="0"/>
                </a:cubicBezTo>
                <a:cubicBezTo>
                  <a:pt x="5408905" y="2744"/>
                  <a:pt x="5410401" y="9950"/>
                  <a:pt x="5410200" y="13716"/>
                </a:cubicBezTo>
                <a:cubicBezTo>
                  <a:pt x="5139576" y="2947"/>
                  <a:pt x="5122299" y="33775"/>
                  <a:pt x="4842129" y="13716"/>
                </a:cubicBezTo>
                <a:cubicBezTo>
                  <a:pt x="4566356" y="6655"/>
                  <a:pt x="4456854" y="15426"/>
                  <a:pt x="4328160" y="13716"/>
                </a:cubicBezTo>
                <a:cubicBezTo>
                  <a:pt x="4234703" y="-822"/>
                  <a:pt x="3768176" y="-16062"/>
                  <a:pt x="3597783" y="13716"/>
                </a:cubicBezTo>
                <a:cubicBezTo>
                  <a:pt x="3430303" y="10148"/>
                  <a:pt x="3287506" y="20215"/>
                  <a:pt x="3029712" y="13716"/>
                </a:cubicBezTo>
                <a:cubicBezTo>
                  <a:pt x="2742636" y="-2421"/>
                  <a:pt x="2637847" y="18109"/>
                  <a:pt x="2299335" y="13716"/>
                </a:cubicBezTo>
                <a:cubicBezTo>
                  <a:pt x="1959433" y="-7861"/>
                  <a:pt x="1779456" y="37101"/>
                  <a:pt x="1514856" y="13716"/>
                </a:cubicBezTo>
                <a:cubicBezTo>
                  <a:pt x="1212431" y="31797"/>
                  <a:pt x="1086601" y="7282"/>
                  <a:pt x="892683" y="13716"/>
                </a:cubicBezTo>
                <a:cubicBezTo>
                  <a:pt x="721500" y="45800"/>
                  <a:pt x="194249" y="-29802"/>
                  <a:pt x="0" y="13716"/>
                </a:cubicBezTo>
                <a:cubicBezTo>
                  <a:pt x="-508" y="9800"/>
                  <a:pt x="-280" y="682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3">
            <a:extLst>
              <a:ext uri="{FF2B5EF4-FFF2-40B4-BE49-F238E27FC236}">
                <a16:creationId xmlns:a16="http://schemas.microsoft.com/office/drawing/2014/main" id="{105584A2-C1C3-4485-0FBA-675612CC49FF}"/>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 Cambridge University Press 2021</a:t>
            </a:r>
          </a:p>
        </p:txBody>
      </p:sp>
      <p:graphicFrame>
        <p:nvGraphicFramePr>
          <p:cNvPr id="9" name="Content Placeholder 5">
            <a:extLst>
              <a:ext uri="{FF2B5EF4-FFF2-40B4-BE49-F238E27FC236}">
                <a16:creationId xmlns:a16="http://schemas.microsoft.com/office/drawing/2014/main" id="{88B6224A-4576-163E-E7E6-23D16F7DD9D1}"/>
              </a:ext>
            </a:extLst>
          </p:cNvPr>
          <p:cNvGraphicFramePr>
            <a:graphicFrameLocks noGrp="1"/>
          </p:cNvGraphicFramePr>
          <p:nvPr>
            <p:ph idx="1"/>
            <p:extLst>
              <p:ext uri="{D42A27DB-BD31-4B8C-83A1-F6EECF244321}">
                <p14:modId xmlns:p14="http://schemas.microsoft.com/office/powerpoint/2010/main" val="3038683822"/>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3012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75D24-C0A2-4A3B-8522-2A754F948380}"/>
              </a:ext>
            </a:extLst>
          </p:cNvPr>
          <p:cNvSpPr>
            <a:spLocks noGrp="1"/>
          </p:cNvSpPr>
          <p:nvPr>
            <p:ph type="title"/>
          </p:nvPr>
        </p:nvSpPr>
        <p:spPr/>
        <p:txBody>
          <a:bodyPr/>
          <a:lstStyle/>
          <a:p>
            <a:r>
              <a:rPr lang="en-US" dirty="0"/>
              <a:t>Identifying Talent &amp; Giftedness</a:t>
            </a:r>
          </a:p>
        </p:txBody>
      </p:sp>
      <p:sp>
        <p:nvSpPr>
          <p:cNvPr id="3" name="Content Placeholder 2">
            <a:extLst>
              <a:ext uri="{FF2B5EF4-FFF2-40B4-BE49-F238E27FC236}">
                <a16:creationId xmlns:a16="http://schemas.microsoft.com/office/drawing/2014/main" id="{96808D29-E548-4171-BAE2-E6A856C018BD}"/>
              </a:ext>
            </a:extLst>
          </p:cNvPr>
          <p:cNvSpPr>
            <a:spLocks noGrp="1"/>
          </p:cNvSpPr>
          <p:nvPr>
            <p:ph idx="1"/>
          </p:nvPr>
        </p:nvSpPr>
        <p:spPr>
          <a:xfrm>
            <a:off x="628650" y="1690691"/>
            <a:ext cx="4330625" cy="4582759"/>
          </a:xfrm>
        </p:spPr>
        <p:txBody>
          <a:bodyPr>
            <a:normAutofit/>
          </a:bodyPr>
          <a:lstStyle/>
          <a:p>
            <a:r>
              <a:rPr lang="en-US" dirty="0"/>
              <a:t>How do we operationally define these concepts?</a:t>
            </a:r>
          </a:p>
          <a:p>
            <a:pPr lvl="1"/>
            <a:r>
              <a:rPr lang="en-US" dirty="0">
                <a:solidFill>
                  <a:schemeClr val="accent1">
                    <a:lumMod val="75000"/>
                  </a:schemeClr>
                </a:solidFill>
              </a:rPr>
              <a:t>Subjective judgments </a:t>
            </a:r>
            <a:r>
              <a:rPr lang="en-US" dirty="0"/>
              <a:t>(not sufficient for research)</a:t>
            </a:r>
          </a:p>
          <a:p>
            <a:pPr lvl="1"/>
            <a:r>
              <a:rPr lang="en-US" dirty="0">
                <a:solidFill>
                  <a:schemeClr val="accent1">
                    <a:lumMod val="75000"/>
                  </a:schemeClr>
                </a:solidFill>
              </a:rPr>
              <a:t>Standardized assessments</a:t>
            </a:r>
          </a:p>
          <a:p>
            <a:pPr lvl="2"/>
            <a:r>
              <a:rPr lang="en-US" dirty="0"/>
              <a:t>Intelligence tests for intellectual giftedness</a:t>
            </a:r>
          </a:p>
          <a:p>
            <a:pPr lvl="2"/>
            <a:r>
              <a:rPr lang="en-US" dirty="0"/>
              <a:t>Speed and agility tests in athletics </a:t>
            </a:r>
          </a:p>
          <a:p>
            <a:pPr lvl="2"/>
            <a:r>
              <a:rPr lang="en-US" dirty="0"/>
              <a:t>Standardized cases or trial materials (e.g., sales at a company, or mock trial scenarios)</a:t>
            </a:r>
          </a:p>
          <a:p>
            <a:pPr marL="457200" lvl="1" indent="0">
              <a:buNone/>
            </a:pPr>
            <a:endParaRPr lang="en-US" dirty="0"/>
          </a:p>
        </p:txBody>
      </p:sp>
      <p:sp>
        <p:nvSpPr>
          <p:cNvPr id="5" name="Footer Placeholder 3">
            <a:extLst>
              <a:ext uri="{FF2B5EF4-FFF2-40B4-BE49-F238E27FC236}">
                <a16:creationId xmlns:a16="http://schemas.microsoft.com/office/drawing/2014/main" id="{CC867C32-C42A-C312-2200-B3F9B6DE5BBA}"/>
              </a:ext>
            </a:extLst>
          </p:cNvPr>
          <p:cNvSpPr>
            <a:spLocks noGrp="1"/>
          </p:cNvSpPr>
          <p:nvPr>
            <p:ph type="ftr" sz="quarter" idx="11"/>
          </p:nvPr>
        </p:nvSpPr>
        <p:spPr>
          <a:xfrm>
            <a:off x="1894154" y="6361998"/>
            <a:ext cx="5953845" cy="461665"/>
          </a:xfrm>
        </p:spPr>
        <p:txBody>
          <a:bodyPr/>
          <a:lstStyle/>
          <a:p>
            <a:r>
              <a:rPr lang="en-US" dirty="0"/>
              <a:t>The Science and Application of Positive Psychology © Cambridge University Press 2021</a:t>
            </a:r>
          </a:p>
        </p:txBody>
      </p:sp>
      <p:pic>
        <p:nvPicPr>
          <p:cNvPr id="4" name="Picture 3"/>
          <p:cNvPicPr>
            <a:picLocks noChangeAspect="1"/>
          </p:cNvPicPr>
          <p:nvPr/>
        </p:nvPicPr>
        <p:blipFill>
          <a:blip r:embed="rId2"/>
          <a:stretch>
            <a:fillRect/>
          </a:stretch>
        </p:blipFill>
        <p:spPr>
          <a:xfrm>
            <a:off x="4871076" y="2193953"/>
            <a:ext cx="3941748" cy="3614681"/>
          </a:xfrm>
          <a:prstGeom prst="rect">
            <a:avLst/>
          </a:prstGeom>
        </p:spPr>
      </p:pic>
      <p:sp>
        <p:nvSpPr>
          <p:cNvPr id="6" name="TextBox 5"/>
          <p:cNvSpPr txBox="1"/>
          <p:nvPr/>
        </p:nvSpPr>
        <p:spPr>
          <a:xfrm>
            <a:off x="5330500" y="1691060"/>
            <a:ext cx="3022899" cy="369332"/>
          </a:xfrm>
          <a:prstGeom prst="rect">
            <a:avLst/>
          </a:prstGeom>
          <a:noFill/>
        </p:spPr>
        <p:txBody>
          <a:bodyPr wrap="square" rtlCol="0">
            <a:spAutoFit/>
          </a:bodyPr>
          <a:lstStyle/>
          <a:p>
            <a:r>
              <a:rPr lang="en-US" dirty="0" err="1">
                <a:solidFill>
                  <a:schemeClr val="accent1">
                    <a:lumMod val="75000"/>
                  </a:schemeClr>
                </a:solidFill>
              </a:rPr>
              <a:t>Weschler</a:t>
            </a:r>
            <a:r>
              <a:rPr lang="en-US" dirty="0">
                <a:solidFill>
                  <a:schemeClr val="accent1">
                    <a:lumMod val="75000"/>
                  </a:schemeClr>
                </a:solidFill>
              </a:rPr>
              <a:t> Intelligence Test</a:t>
            </a:r>
          </a:p>
        </p:txBody>
      </p:sp>
    </p:spTree>
    <p:extLst>
      <p:ext uri="{BB962C8B-B14F-4D97-AF65-F5344CB8AC3E}">
        <p14:creationId xmlns:p14="http://schemas.microsoft.com/office/powerpoint/2010/main" val="562127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3">
            <a:extLst>
              <a:ext uri="{FF2B5EF4-FFF2-40B4-BE49-F238E27FC236}">
                <a16:creationId xmlns:a16="http://schemas.microsoft.com/office/drawing/2014/main" id="{9D993BE7-55CB-9873-7EBD-FDACC5E51561}"/>
              </a:ext>
            </a:extLst>
          </p:cNvPr>
          <p:cNvSpPr>
            <a:spLocks noGrp="1"/>
          </p:cNvSpPr>
          <p:nvPr>
            <p:ph type="ftr" sz="quarter" idx="11"/>
          </p:nvPr>
        </p:nvSpPr>
        <p:spPr>
          <a:xfrm rot="5400000">
            <a:off x="-1371600" y="2002536"/>
            <a:ext cx="3086100" cy="365125"/>
          </a:xfrm>
        </p:spPr>
        <p:txBody>
          <a:bodyPr vert="horz" lIns="91440" tIns="45720" rIns="91440" bIns="45720" rtlCol="0" anchor="ctr">
            <a:normAutofit/>
          </a:bodyPr>
          <a:lstStyle/>
          <a:p>
            <a:pPr algn="l" defTabSz="914400">
              <a:lnSpc>
                <a:spcPct val="90000"/>
              </a:lnSpc>
              <a:spcAft>
                <a:spcPts val="600"/>
              </a:spcAft>
            </a:pPr>
            <a:r>
              <a:rPr lang="en-US" sz="900" kern="1200">
                <a:solidFill>
                  <a:srgbClr val="FFFFFF"/>
                </a:solidFill>
                <a:latin typeface="+mn-lt"/>
                <a:ea typeface="+mn-ea"/>
                <a:cs typeface="+mn-cs"/>
              </a:rPr>
              <a:t>The Science and Application of Positive Psychology © Cambridge University Press 2021</a:t>
            </a:r>
          </a:p>
        </p:txBody>
      </p:sp>
      <p:pic>
        <p:nvPicPr>
          <p:cNvPr id="8" name="Content Placeholder 7">
            <a:extLst>
              <a:ext uri="{FF2B5EF4-FFF2-40B4-BE49-F238E27FC236}">
                <a16:creationId xmlns:a16="http://schemas.microsoft.com/office/drawing/2014/main" id="{39049991-CAF6-4931-B80F-68F3B579CF19}"/>
              </a:ext>
            </a:extLst>
          </p:cNvPr>
          <p:cNvPicPr>
            <a:picLocks noGrp="1" noChangeAspect="1"/>
          </p:cNvPicPr>
          <p:nvPr>
            <p:ph idx="1"/>
          </p:nvPr>
        </p:nvPicPr>
        <p:blipFill>
          <a:blip r:embed="rId2"/>
          <a:stretch>
            <a:fillRect/>
          </a:stretch>
        </p:blipFill>
        <p:spPr>
          <a:xfrm>
            <a:off x="342900" y="1285416"/>
            <a:ext cx="8458200" cy="4287167"/>
          </a:xfrm>
          <a:prstGeom prst="rect">
            <a:avLst/>
          </a:prstGeom>
        </p:spPr>
      </p:pic>
    </p:spTree>
    <p:extLst>
      <p:ext uri="{BB962C8B-B14F-4D97-AF65-F5344CB8AC3E}">
        <p14:creationId xmlns:p14="http://schemas.microsoft.com/office/powerpoint/2010/main" val="71888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4265A-35E2-47D4-9146-4BB713F4743D}"/>
              </a:ext>
            </a:extLst>
          </p:cNvPr>
          <p:cNvSpPr>
            <a:spLocks noGrp="1"/>
          </p:cNvSpPr>
          <p:nvPr>
            <p:ph type="title"/>
          </p:nvPr>
        </p:nvSpPr>
        <p:spPr>
          <a:xfrm>
            <a:off x="350041" y="586855"/>
            <a:ext cx="2401025" cy="3387497"/>
          </a:xfrm>
        </p:spPr>
        <p:txBody>
          <a:bodyPr anchor="b">
            <a:normAutofit/>
          </a:bodyPr>
          <a:lstStyle/>
          <a:p>
            <a:pPr algn="r"/>
            <a:r>
              <a:rPr lang="en-US" sz="3200">
                <a:solidFill>
                  <a:srgbClr val="FFFFFF"/>
                </a:solidFill>
              </a:rPr>
              <a:t>Three Different Views on the Nature and Nurture of Talent &amp; Giftedness</a:t>
            </a:r>
          </a:p>
        </p:txBody>
      </p:sp>
      <p:sp>
        <p:nvSpPr>
          <p:cNvPr id="5" name="Footer Placeholder 3">
            <a:extLst>
              <a:ext uri="{FF2B5EF4-FFF2-40B4-BE49-F238E27FC236}">
                <a16:creationId xmlns:a16="http://schemas.microsoft.com/office/drawing/2014/main" id="{C5C421D7-F326-E442-D45F-B12187531401}"/>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4A334986-64FD-4BB4-BC7F-00C00C202C81}"/>
              </a:ext>
            </a:extLst>
          </p:cNvPr>
          <p:cNvSpPr>
            <a:spLocks noGrp="1"/>
          </p:cNvSpPr>
          <p:nvPr>
            <p:ph idx="1"/>
          </p:nvPr>
        </p:nvSpPr>
        <p:spPr>
          <a:xfrm>
            <a:off x="3607694" y="649480"/>
            <a:ext cx="4916510" cy="5546047"/>
          </a:xfrm>
        </p:spPr>
        <p:txBody>
          <a:bodyPr anchor="ctr">
            <a:normAutofit/>
          </a:bodyPr>
          <a:lstStyle/>
          <a:p>
            <a:pPr marL="514350" indent="-514350">
              <a:buFont typeface="+mj-lt"/>
              <a:buAutoNum type="arabicPeriod"/>
            </a:pPr>
            <a:r>
              <a:rPr lang="en-US" sz="2000" dirty="0"/>
              <a:t>Talent and giftedness are largely innate</a:t>
            </a:r>
          </a:p>
          <a:p>
            <a:pPr lvl="1"/>
            <a:r>
              <a:rPr lang="en-US" sz="2000" dirty="0"/>
              <a:t>Goal is to identify talented and gifted individuals early and provide necessary challenges for full realization of gifts</a:t>
            </a:r>
          </a:p>
          <a:p>
            <a:pPr marL="514350" indent="-514350">
              <a:buFont typeface="+mj-lt"/>
              <a:buAutoNum type="arabicPeriod"/>
            </a:pPr>
            <a:r>
              <a:rPr lang="en-US" sz="2000" dirty="0"/>
              <a:t>Talent and giftedness are developed</a:t>
            </a:r>
          </a:p>
          <a:p>
            <a:pPr lvl="1"/>
            <a:r>
              <a:rPr lang="en-US" sz="2000" dirty="0"/>
              <a:t>Identify the skills (e.g., persistence, flexible thinking) that allow talent and giftedness to flourish</a:t>
            </a:r>
          </a:p>
          <a:p>
            <a:pPr marL="514350" indent="-514350">
              <a:buFont typeface="+mj-lt"/>
              <a:buAutoNum type="arabicPeriod"/>
            </a:pPr>
            <a:r>
              <a:rPr lang="en-US" sz="2000" dirty="0"/>
              <a:t>Neither innate talent nor hard work is enough to truly excel in any area – need both</a:t>
            </a:r>
          </a:p>
          <a:p>
            <a:pPr lvl="1"/>
            <a:r>
              <a:rPr lang="en-US" sz="2000" dirty="0"/>
              <a:t>Identify talents and giftedness early and provide opportunities to build on skills and talents</a:t>
            </a:r>
          </a:p>
        </p:txBody>
      </p:sp>
    </p:spTree>
    <p:extLst>
      <p:ext uri="{BB962C8B-B14F-4D97-AF65-F5344CB8AC3E}">
        <p14:creationId xmlns:p14="http://schemas.microsoft.com/office/powerpoint/2010/main" val="3148309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Andres Valencia </a:t>
            </a:r>
          </a:p>
        </p:txBody>
      </p:sp>
      <p:pic>
        <p:nvPicPr>
          <p:cNvPr id="6" name="Content Placeholder 5"/>
          <p:cNvPicPr>
            <a:picLocks noGrp="1" noChangeAspect="1"/>
          </p:cNvPicPr>
          <p:nvPr>
            <p:ph idx="1"/>
          </p:nvPr>
        </p:nvPicPr>
        <p:blipFill>
          <a:blip r:embed="rId2"/>
          <a:stretch>
            <a:fillRect/>
          </a:stretch>
        </p:blipFill>
        <p:spPr>
          <a:xfrm>
            <a:off x="5167081" y="1690691"/>
            <a:ext cx="3263503" cy="4351338"/>
          </a:xfrm>
          <a:prstGeom prst="rect">
            <a:avLst/>
          </a:prstGeo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
        <p:nvSpPr>
          <p:cNvPr id="7" name="Rectangle 6"/>
          <p:cNvSpPr/>
          <p:nvPr/>
        </p:nvSpPr>
        <p:spPr>
          <a:xfrm>
            <a:off x="628650" y="5346023"/>
            <a:ext cx="4572000" cy="646331"/>
          </a:xfrm>
          <a:prstGeom prst="rect">
            <a:avLst/>
          </a:prstGeom>
        </p:spPr>
        <p:txBody>
          <a:bodyPr>
            <a:spAutoFit/>
          </a:bodyPr>
          <a:lstStyle/>
          <a:p>
            <a:r>
              <a:rPr lang="en-US" dirty="0">
                <a:hlinkClick r:id="rId3"/>
              </a:rPr>
              <a:t>https://www.nytimes.com/2022/09/26/style/andres-valencia-art-paintings.html</a:t>
            </a:r>
            <a:r>
              <a:rPr lang="en-US" dirty="0"/>
              <a:t> </a:t>
            </a:r>
          </a:p>
        </p:txBody>
      </p:sp>
      <p:sp>
        <p:nvSpPr>
          <p:cNvPr id="8" name="Oval 7"/>
          <p:cNvSpPr/>
          <p:nvPr/>
        </p:nvSpPr>
        <p:spPr>
          <a:xfrm>
            <a:off x="914399" y="1936375"/>
            <a:ext cx="2097741" cy="10327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 </a:t>
            </a:r>
            <a:r>
              <a:rPr lang="en-US" dirty="0" err="1"/>
              <a:t>yrs</a:t>
            </a:r>
            <a:r>
              <a:rPr lang="en-US" dirty="0"/>
              <a:t> old</a:t>
            </a:r>
          </a:p>
        </p:txBody>
      </p:sp>
      <p:sp>
        <p:nvSpPr>
          <p:cNvPr id="9" name="Oval 8"/>
          <p:cNvSpPr/>
          <p:nvPr/>
        </p:nvSpPr>
        <p:spPr>
          <a:xfrm>
            <a:off x="1280160" y="3345628"/>
            <a:ext cx="2840019" cy="1699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“art prodigy”</a:t>
            </a:r>
          </a:p>
          <a:p>
            <a:pPr algn="ctr"/>
            <a:r>
              <a:rPr lang="en-US" dirty="0"/>
              <a:t>“little </a:t>
            </a:r>
            <a:r>
              <a:rPr lang="en-US" dirty="0" err="1"/>
              <a:t>Picaso</a:t>
            </a:r>
            <a:r>
              <a:rPr lang="en-US" dirty="0"/>
              <a:t>”</a:t>
            </a:r>
          </a:p>
        </p:txBody>
      </p:sp>
    </p:spTree>
    <p:extLst>
      <p:ext uri="{BB962C8B-B14F-4D97-AF65-F5344CB8AC3E}">
        <p14:creationId xmlns:p14="http://schemas.microsoft.com/office/powerpoint/2010/main" val="2528459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of Talent/Giftedness…Consider this</a:t>
            </a:r>
          </a:p>
        </p:txBody>
      </p:sp>
      <p:sp>
        <p:nvSpPr>
          <p:cNvPr id="3" name="Content Placeholder 2"/>
          <p:cNvSpPr>
            <a:spLocks noGrp="1"/>
          </p:cNvSpPr>
          <p:nvPr>
            <p:ph idx="1"/>
          </p:nvPr>
        </p:nvSpPr>
        <p:spPr/>
        <p:txBody>
          <a:bodyPr/>
          <a:lstStyle/>
          <a:p>
            <a:r>
              <a:rPr lang="en-US" dirty="0"/>
              <a:t>Are we born with superior mental abilities?</a:t>
            </a:r>
          </a:p>
          <a:p>
            <a:r>
              <a:rPr lang="en-US" dirty="0"/>
              <a:t>Consider Grandmaster chess players</a:t>
            </a:r>
          </a:p>
          <a:p>
            <a:endParaRPr lang="en-US" dirty="0"/>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
        <p:nvSpPr>
          <p:cNvPr id="6" name="Rectangle 5"/>
          <p:cNvSpPr/>
          <p:nvPr/>
        </p:nvSpPr>
        <p:spPr>
          <a:xfrm>
            <a:off x="1129553" y="3105835"/>
            <a:ext cx="5728447" cy="369332"/>
          </a:xfrm>
          <a:prstGeom prst="rect">
            <a:avLst/>
          </a:prstGeom>
        </p:spPr>
        <p:txBody>
          <a:bodyPr wrap="square">
            <a:spAutoFit/>
          </a:bodyPr>
          <a:lstStyle/>
          <a:p>
            <a:r>
              <a:rPr lang="en-US" dirty="0">
                <a:hlinkClick r:id="rId2"/>
              </a:rPr>
              <a:t>https://www.youtube.com/watch?v=rWuJqCwfjjc</a:t>
            </a:r>
            <a:r>
              <a:rPr lang="en-US" dirty="0"/>
              <a:t> </a:t>
            </a:r>
          </a:p>
        </p:txBody>
      </p:sp>
      <p:pic>
        <p:nvPicPr>
          <p:cNvPr id="7" name="Picture 6"/>
          <p:cNvPicPr>
            <a:picLocks noChangeAspect="1"/>
          </p:cNvPicPr>
          <p:nvPr/>
        </p:nvPicPr>
        <p:blipFill>
          <a:blip r:embed="rId3"/>
          <a:stretch>
            <a:fillRect/>
          </a:stretch>
        </p:blipFill>
        <p:spPr>
          <a:xfrm>
            <a:off x="3338512" y="3831452"/>
            <a:ext cx="2466975" cy="1847850"/>
          </a:xfrm>
          <a:prstGeom prst="rect">
            <a:avLst/>
          </a:prstGeom>
        </p:spPr>
      </p:pic>
    </p:spTree>
    <p:extLst>
      <p:ext uri="{BB962C8B-B14F-4D97-AF65-F5344CB8AC3E}">
        <p14:creationId xmlns:p14="http://schemas.microsoft.com/office/powerpoint/2010/main" val="487004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A478E-C1CD-4242-B797-F9FDB804C924}"/>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Heritability of Extreme Intelligence</a:t>
            </a:r>
          </a:p>
        </p:txBody>
      </p:sp>
      <p:sp>
        <p:nvSpPr>
          <p:cNvPr id="5" name="Footer Placeholder 3">
            <a:extLst>
              <a:ext uri="{FF2B5EF4-FFF2-40B4-BE49-F238E27FC236}">
                <a16:creationId xmlns:a16="http://schemas.microsoft.com/office/drawing/2014/main" id="{6FF16E77-EC42-0AFD-E517-91FF60B8A6F6}"/>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D735D3D0-711B-DB49-FADC-D64EAD2DB41B}"/>
              </a:ext>
            </a:extLst>
          </p:cNvPr>
          <p:cNvGraphicFramePr>
            <a:graphicFrameLocks noGrp="1"/>
          </p:cNvGraphicFramePr>
          <p:nvPr>
            <p:ph idx="1"/>
            <p:extLst>
              <p:ext uri="{D42A27DB-BD31-4B8C-83A1-F6EECF244321}">
                <p14:modId xmlns:p14="http://schemas.microsoft.com/office/powerpoint/2010/main" val="203274496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2492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B1D70F-EB4E-4706-93A8-D1B5301E8C13}"/>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Biological Predictors of Athletic Giftedness</a:t>
            </a:r>
          </a:p>
        </p:txBody>
      </p:sp>
      <p:sp>
        <p:nvSpPr>
          <p:cNvPr id="5" name="Footer Placeholder 3">
            <a:extLst>
              <a:ext uri="{FF2B5EF4-FFF2-40B4-BE49-F238E27FC236}">
                <a16:creationId xmlns:a16="http://schemas.microsoft.com/office/drawing/2014/main" id="{C8000932-8E5E-217B-D653-6579ACE96515}"/>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488C5F0A-D60F-2E29-0108-5947F487BE1B}"/>
              </a:ext>
            </a:extLst>
          </p:cNvPr>
          <p:cNvGraphicFramePr>
            <a:graphicFrameLocks noGrp="1"/>
          </p:cNvGraphicFramePr>
          <p:nvPr>
            <p:ph idx="1"/>
            <p:extLst>
              <p:ext uri="{D42A27DB-BD31-4B8C-83A1-F6EECF244321}">
                <p14:modId xmlns:p14="http://schemas.microsoft.com/office/powerpoint/2010/main" val="793376687"/>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5982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06214-119A-4134-8B31-A4AF59D691A8}"/>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Relative Age Effect</a:t>
            </a:r>
          </a:p>
        </p:txBody>
      </p:sp>
      <p:sp>
        <p:nvSpPr>
          <p:cNvPr id="5" name="Footer Placeholder 3">
            <a:extLst>
              <a:ext uri="{FF2B5EF4-FFF2-40B4-BE49-F238E27FC236}">
                <a16:creationId xmlns:a16="http://schemas.microsoft.com/office/drawing/2014/main" id="{363C33F7-BBB0-DFA6-FEB8-01FE3B760A25}"/>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FE7F0293-116A-B0C6-0BB2-F030CA37F3A7}"/>
              </a:ext>
            </a:extLst>
          </p:cNvPr>
          <p:cNvGraphicFramePr>
            <a:graphicFrameLocks noGrp="1"/>
          </p:cNvGraphicFramePr>
          <p:nvPr>
            <p:ph idx="1"/>
            <p:extLst>
              <p:ext uri="{D42A27DB-BD31-4B8C-83A1-F6EECF244321}">
                <p14:modId xmlns:p14="http://schemas.microsoft.com/office/powerpoint/2010/main" val="4222200877"/>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973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D68CB7-7BAA-4374-8C45-BBAF34760CBE}"/>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Deliberate Practice </a:t>
            </a:r>
            <a:br>
              <a:rPr lang="en-US" sz="3500">
                <a:solidFill>
                  <a:srgbClr val="FFFFFF"/>
                </a:solidFill>
              </a:rPr>
            </a:br>
            <a:r>
              <a:rPr lang="en-US" sz="3500">
                <a:solidFill>
                  <a:srgbClr val="FFFFFF"/>
                </a:solidFill>
              </a:rPr>
              <a:t>(Ericsson et al., 1993)</a:t>
            </a:r>
          </a:p>
        </p:txBody>
      </p:sp>
      <p:sp>
        <p:nvSpPr>
          <p:cNvPr id="5" name="Footer Placeholder 3">
            <a:extLst>
              <a:ext uri="{FF2B5EF4-FFF2-40B4-BE49-F238E27FC236}">
                <a16:creationId xmlns:a16="http://schemas.microsoft.com/office/drawing/2014/main" id="{9A80C6A3-3A96-30A8-36F0-4A2820541FAD}"/>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1C2F308C-AC50-291D-8920-423139B42827}"/>
              </a:ext>
            </a:extLst>
          </p:cNvPr>
          <p:cNvGraphicFramePr>
            <a:graphicFrameLocks noGrp="1"/>
          </p:cNvGraphicFramePr>
          <p:nvPr>
            <p:ph idx="1"/>
            <p:extLst>
              <p:ext uri="{D42A27DB-BD31-4B8C-83A1-F6EECF244321}">
                <p14:modId xmlns:p14="http://schemas.microsoft.com/office/powerpoint/2010/main" val="81586241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359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4EFEF-7E62-4921-A2F8-B33600E7C654}"/>
              </a:ext>
            </a:extLst>
          </p:cNvPr>
          <p:cNvSpPr>
            <a:spLocks noGrp="1"/>
          </p:cNvSpPr>
          <p:nvPr>
            <p:ph type="title"/>
          </p:nvPr>
        </p:nvSpPr>
        <p:spPr>
          <a:xfrm>
            <a:off x="350041" y="586855"/>
            <a:ext cx="2401025" cy="3387497"/>
          </a:xfrm>
        </p:spPr>
        <p:txBody>
          <a:bodyPr anchor="b">
            <a:normAutofit/>
          </a:bodyPr>
          <a:lstStyle/>
          <a:p>
            <a:pPr algn="r"/>
            <a:r>
              <a:rPr lang="en-US" sz="3200">
                <a:solidFill>
                  <a:srgbClr val="FFFFFF"/>
                </a:solidFill>
              </a:rPr>
              <a:t>Deliberate Practice: Factors that Facilitate Improved Performance</a:t>
            </a:r>
          </a:p>
        </p:txBody>
      </p:sp>
      <p:sp>
        <p:nvSpPr>
          <p:cNvPr id="5" name="Footer Placeholder 3">
            <a:extLst>
              <a:ext uri="{FF2B5EF4-FFF2-40B4-BE49-F238E27FC236}">
                <a16:creationId xmlns:a16="http://schemas.microsoft.com/office/drawing/2014/main" id="{3668B1E5-3EA7-4E7A-85B4-4377B4C91791}"/>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46D43371-7733-4E61-A930-042C25B2D7C7}"/>
              </a:ext>
            </a:extLst>
          </p:cNvPr>
          <p:cNvSpPr>
            <a:spLocks noGrp="1"/>
          </p:cNvSpPr>
          <p:nvPr>
            <p:ph idx="1"/>
          </p:nvPr>
        </p:nvSpPr>
        <p:spPr>
          <a:xfrm>
            <a:off x="3607694" y="649480"/>
            <a:ext cx="4916510" cy="5546047"/>
          </a:xfrm>
        </p:spPr>
        <p:txBody>
          <a:bodyPr anchor="ctr">
            <a:noAutofit/>
          </a:bodyPr>
          <a:lstStyle/>
          <a:p>
            <a:r>
              <a:rPr lang="en-US" dirty="0">
                <a:solidFill>
                  <a:schemeClr val="accent5"/>
                </a:solidFill>
              </a:rPr>
              <a:t>Immediate Feedback: </a:t>
            </a:r>
            <a:r>
              <a:rPr lang="en-US" dirty="0"/>
              <a:t>Built in success and failure feedback</a:t>
            </a:r>
          </a:p>
          <a:p>
            <a:pPr lvl="1"/>
            <a:r>
              <a:rPr lang="en-US" sz="2800" dirty="0"/>
              <a:t>Examples: shooting baskets, writing code, playing SCRABBLE</a:t>
            </a:r>
          </a:p>
          <a:p>
            <a:r>
              <a:rPr lang="en-US" dirty="0">
                <a:solidFill>
                  <a:schemeClr val="accent5"/>
                </a:solidFill>
              </a:rPr>
              <a:t>Personalized feedback </a:t>
            </a:r>
            <a:r>
              <a:rPr lang="en-US" dirty="0"/>
              <a:t>from a teacher or expert</a:t>
            </a:r>
          </a:p>
          <a:p>
            <a:pPr lvl="1"/>
            <a:r>
              <a:rPr lang="en-US" sz="2800" dirty="0"/>
              <a:t>Importance emphasized in later writings</a:t>
            </a:r>
          </a:p>
          <a:p>
            <a:pPr lvl="1"/>
            <a:r>
              <a:rPr lang="en-US" sz="2800" dirty="0"/>
              <a:t>Expert is responsible for continuing to increase difficulty of practices</a:t>
            </a:r>
          </a:p>
          <a:p>
            <a:pPr lvl="1"/>
            <a:r>
              <a:rPr lang="en-US" sz="2800" dirty="0"/>
              <a:t>Skills must improve to meet continued challenges</a:t>
            </a:r>
          </a:p>
        </p:txBody>
      </p:sp>
    </p:spTree>
    <p:extLst>
      <p:ext uri="{BB962C8B-B14F-4D97-AF65-F5344CB8AC3E}">
        <p14:creationId xmlns:p14="http://schemas.microsoft.com/office/powerpoint/2010/main" val="1081873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2DEF43-EEE0-416B-A461-74DB8B15B064}"/>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Important Study: </a:t>
            </a:r>
            <a:br>
              <a:rPr lang="en-US" sz="3500">
                <a:solidFill>
                  <a:srgbClr val="FFFFFF"/>
                </a:solidFill>
              </a:rPr>
            </a:br>
            <a:r>
              <a:rPr lang="en-US" sz="3500">
                <a:solidFill>
                  <a:srgbClr val="FFFFFF"/>
                </a:solidFill>
              </a:rPr>
              <a:t>Ericsson et al., 1993</a:t>
            </a:r>
          </a:p>
        </p:txBody>
      </p:sp>
      <p:sp>
        <p:nvSpPr>
          <p:cNvPr id="5" name="Footer Placeholder 3">
            <a:extLst>
              <a:ext uri="{FF2B5EF4-FFF2-40B4-BE49-F238E27FC236}">
                <a16:creationId xmlns:a16="http://schemas.microsoft.com/office/drawing/2014/main" id="{2ED5324B-3AFB-5899-D954-B5D9B00771F0}"/>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4817FE82-F71E-5CCE-7CB9-1A300D0F8265}"/>
              </a:ext>
            </a:extLst>
          </p:cNvPr>
          <p:cNvGraphicFramePr>
            <a:graphicFrameLocks noGrp="1"/>
          </p:cNvGraphicFramePr>
          <p:nvPr>
            <p:ph idx="1"/>
            <p:extLst>
              <p:ext uri="{D42A27DB-BD31-4B8C-83A1-F6EECF244321}">
                <p14:modId xmlns:p14="http://schemas.microsoft.com/office/powerpoint/2010/main" val="154256395"/>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8661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8F4407-3819-43C5-95B5-85E84540B5C7}"/>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Findings from Ericsson et al. (1993)</a:t>
            </a:r>
          </a:p>
        </p:txBody>
      </p:sp>
      <p:sp>
        <p:nvSpPr>
          <p:cNvPr id="5" name="Footer Placeholder 3">
            <a:extLst>
              <a:ext uri="{FF2B5EF4-FFF2-40B4-BE49-F238E27FC236}">
                <a16:creationId xmlns:a16="http://schemas.microsoft.com/office/drawing/2014/main" id="{51C5118C-7F5B-77BE-F8C2-2661DDCDE202}"/>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9A996F9C-6866-C49A-D358-BC4A4A54279E}"/>
              </a:ext>
            </a:extLst>
          </p:cNvPr>
          <p:cNvGraphicFramePr>
            <a:graphicFrameLocks noGrp="1"/>
          </p:cNvGraphicFramePr>
          <p:nvPr>
            <p:ph idx="1"/>
            <p:extLst>
              <p:ext uri="{D42A27DB-BD31-4B8C-83A1-F6EECF244321}">
                <p14:modId xmlns:p14="http://schemas.microsoft.com/office/powerpoint/2010/main" val="358228490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5237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35FEBE-950D-467F-83ED-0FCA7072EFCE}"/>
              </a:ext>
            </a:extLst>
          </p:cNvPr>
          <p:cNvSpPr>
            <a:spLocks noGrp="1"/>
          </p:cNvSpPr>
          <p:nvPr>
            <p:ph type="title"/>
          </p:nvPr>
        </p:nvSpPr>
        <p:spPr>
          <a:xfrm>
            <a:off x="524784" y="248038"/>
            <a:ext cx="5297791" cy="1159200"/>
          </a:xfrm>
        </p:spPr>
        <p:txBody>
          <a:bodyPr vert="horz" lIns="91440" tIns="45720" rIns="91440" bIns="45720" rtlCol="0" anchor="ctr">
            <a:normAutofit/>
          </a:bodyPr>
          <a:lstStyle/>
          <a:p>
            <a:r>
              <a:rPr lang="en-US" sz="3500" kern="1200">
                <a:solidFill>
                  <a:srgbClr val="FFFFFF"/>
                </a:solidFill>
                <a:latin typeface="+mj-lt"/>
                <a:ea typeface="+mj-ea"/>
                <a:cs typeface="+mj-cs"/>
              </a:rPr>
              <a:t>Hours Practiced by Age 18</a:t>
            </a:r>
          </a:p>
        </p:txBody>
      </p:sp>
      <p:sp>
        <p:nvSpPr>
          <p:cNvPr id="5" name="Footer Placeholder 3">
            <a:extLst>
              <a:ext uri="{FF2B5EF4-FFF2-40B4-BE49-F238E27FC236}">
                <a16:creationId xmlns:a16="http://schemas.microsoft.com/office/drawing/2014/main" id="{F8057019-3F37-3636-3AEC-ACA4E44BE4B5}"/>
              </a:ext>
            </a:extLst>
          </p:cNvPr>
          <p:cNvSpPr>
            <a:spLocks noGrp="1"/>
          </p:cNvSpPr>
          <p:nvPr>
            <p:ph type="ftr" sz="quarter" idx="11"/>
          </p:nvPr>
        </p:nvSpPr>
        <p:spPr>
          <a:xfrm rot="5400000">
            <a:off x="-1371600" y="2002536"/>
            <a:ext cx="3086100" cy="365760"/>
          </a:xfrm>
        </p:spPr>
        <p:txBody>
          <a:bodyPr vert="horz" lIns="91440" tIns="45720" rIns="91440" bIns="45720" rtlCol="0" anchor="ctr">
            <a:normAutofit/>
          </a:bodyPr>
          <a:lstStyle/>
          <a:p>
            <a:pPr algn="l" defTabSz="914400">
              <a:lnSpc>
                <a:spcPct val="90000"/>
              </a:lnSpc>
              <a:spcAft>
                <a:spcPts val="600"/>
              </a:spcAft>
            </a:pPr>
            <a:r>
              <a:rPr lang="en-US" sz="1000" kern="1200">
                <a:solidFill>
                  <a:srgbClr val="FFFFFF"/>
                </a:solidFill>
                <a:latin typeface="+mn-lt"/>
                <a:ea typeface="+mn-ea"/>
                <a:cs typeface="+mn-cs"/>
              </a:rPr>
              <a:t>The Science and Application of Positive Psychology © Cambridge University Press 2021</a:t>
            </a:r>
          </a:p>
        </p:txBody>
      </p:sp>
      <p:pic>
        <p:nvPicPr>
          <p:cNvPr id="6" name="Content Placeholder 5">
            <a:extLst>
              <a:ext uri="{FF2B5EF4-FFF2-40B4-BE49-F238E27FC236}">
                <a16:creationId xmlns:a16="http://schemas.microsoft.com/office/drawing/2014/main" id="{CCD41F98-6468-4C9E-B8A5-E935715F5709}"/>
              </a:ext>
            </a:extLst>
          </p:cNvPr>
          <p:cNvPicPr>
            <a:picLocks noGrp="1" noChangeAspect="1"/>
          </p:cNvPicPr>
          <p:nvPr>
            <p:ph idx="1"/>
          </p:nvPr>
        </p:nvPicPr>
        <p:blipFill>
          <a:blip r:embed="rId2"/>
          <a:stretch>
            <a:fillRect/>
          </a:stretch>
        </p:blipFill>
        <p:spPr>
          <a:xfrm>
            <a:off x="324168" y="1966332"/>
            <a:ext cx="8495662" cy="4452081"/>
          </a:xfrm>
          <a:prstGeom prst="rect">
            <a:avLst/>
          </a:prstGeom>
        </p:spPr>
      </p:pic>
    </p:spTree>
    <p:extLst>
      <p:ext uri="{BB962C8B-B14F-4D97-AF65-F5344CB8AC3E}">
        <p14:creationId xmlns:p14="http://schemas.microsoft.com/office/powerpoint/2010/main" val="3376213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502020"/>
            <a:ext cx="3992787" cy="1642970"/>
          </a:xfrm>
        </p:spPr>
        <p:txBody>
          <a:bodyPr anchor="b">
            <a:normAutofit/>
          </a:bodyPr>
          <a:lstStyle/>
          <a:p>
            <a:r>
              <a:rPr lang="en-US" sz="3500"/>
              <a:t>10,000 hours claim</a:t>
            </a:r>
          </a:p>
        </p:txBody>
      </p:sp>
      <p:sp>
        <p:nvSpPr>
          <p:cNvPr id="4" name="Footer Placeholder 3"/>
          <p:cNvSpPr>
            <a:spLocks noGrp="1"/>
          </p:cNvSpPr>
          <p:nvPr>
            <p:ph type="ftr" sz="quarter" idx="11"/>
          </p:nvPr>
        </p:nvSpPr>
        <p:spPr>
          <a:xfrm rot="5400000">
            <a:off x="-1371600" y="1983972"/>
            <a:ext cx="3086100" cy="365125"/>
          </a:xfrm>
        </p:spPr>
        <p:txBody>
          <a:bodyPr>
            <a:normAutofit/>
          </a:bodyPr>
          <a:lstStyle/>
          <a:p>
            <a:pPr algn="l">
              <a:lnSpc>
                <a:spcPct val="90000"/>
              </a:lnSpc>
              <a:spcAft>
                <a:spcPts val="600"/>
              </a:spcAft>
            </a:pPr>
            <a:r>
              <a:rPr lang="en-US" sz="900">
                <a:solidFill>
                  <a:schemeClr val="tx1">
                    <a:lumMod val="50000"/>
                    <a:lumOff val="50000"/>
                  </a:schemeClr>
                </a:solidFill>
              </a:rPr>
              <a:t>The Science of Positive Psychology © Cambridge University Press 2021</a:t>
            </a:r>
          </a:p>
        </p:txBody>
      </p:sp>
      <p:sp>
        <p:nvSpPr>
          <p:cNvPr id="3" name="Content Placeholder 2"/>
          <p:cNvSpPr>
            <a:spLocks noGrp="1"/>
          </p:cNvSpPr>
          <p:nvPr>
            <p:ph idx="1"/>
          </p:nvPr>
        </p:nvSpPr>
        <p:spPr>
          <a:xfrm>
            <a:off x="858692" y="2405894"/>
            <a:ext cx="3986392" cy="3535083"/>
          </a:xfrm>
        </p:spPr>
        <p:txBody>
          <a:bodyPr anchor="t">
            <a:normAutofit/>
          </a:bodyPr>
          <a:lstStyle/>
          <a:p>
            <a:r>
              <a:rPr lang="en-US" sz="2400" dirty="0"/>
              <a:t>Ericsson has said this claim is untrue and an inaccurate representation of his research</a:t>
            </a:r>
          </a:p>
          <a:p>
            <a:r>
              <a:rPr lang="en-US" sz="2400" dirty="0"/>
              <a:t>Excellence in some skills may take more than 10,000 hours, others less than 10,000</a:t>
            </a: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p:cNvPicPr>
            <a:picLocks noChangeAspect="1"/>
          </p:cNvPicPr>
          <p:nvPr/>
        </p:nvPicPr>
        <p:blipFill>
          <a:blip r:embed="rId2"/>
          <a:stretch>
            <a:fillRect/>
          </a:stretch>
        </p:blipFill>
        <p:spPr>
          <a:xfrm>
            <a:off x="5306975" y="2565225"/>
            <a:ext cx="3127897" cy="1759442"/>
          </a:xfrm>
          <a:prstGeom prst="rect">
            <a:avLst/>
          </a:prstGeom>
        </p:spPr>
      </p:pic>
    </p:spTree>
    <p:extLst>
      <p:ext uri="{BB962C8B-B14F-4D97-AF65-F5344CB8AC3E}">
        <p14:creationId xmlns:p14="http://schemas.microsoft.com/office/powerpoint/2010/main" val="69102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F5AFB8-3BDD-4709-A55D-8EF2593F4587}"/>
              </a:ext>
            </a:extLst>
          </p:cNvPr>
          <p:cNvSpPr>
            <a:spLocks noGrp="1"/>
          </p:cNvSpPr>
          <p:nvPr>
            <p:ph type="title"/>
          </p:nvPr>
        </p:nvSpPr>
        <p:spPr>
          <a:xfrm>
            <a:off x="1028699" y="294538"/>
            <a:ext cx="7421963" cy="1033669"/>
          </a:xfrm>
        </p:spPr>
        <p:txBody>
          <a:bodyPr>
            <a:normAutofit/>
          </a:bodyPr>
          <a:lstStyle/>
          <a:p>
            <a:r>
              <a:rPr lang="en-US" sz="3200">
                <a:solidFill>
                  <a:srgbClr val="FFFFFF"/>
                </a:solidFill>
              </a:rPr>
              <a:t>Are these differences really about deliberate practice?</a:t>
            </a:r>
          </a:p>
        </p:txBody>
      </p:sp>
      <p:sp>
        <p:nvSpPr>
          <p:cNvPr id="5" name="Footer Placeholder 3">
            <a:extLst>
              <a:ext uri="{FF2B5EF4-FFF2-40B4-BE49-F238E27FC236}">
                <a16:creationId xmlns:a16="http://schemas.microsoft.com/office/drawing/2014/main" id="{A90ED5C9-F17D-E3C4-B236-CE6CDCAD17B2}"/>
              </a:ext>
            </a:extLst>
          </p:cNvPr>
          <p:cNvSpPr>
            <a:spLocks noGrp="1"/>
          </p:cNvSpPr>
          <p:nvPr>
            <p:ph type="ftr" sz="quarter" idx="11"/>
          </p:nvPr>
        </p:nvSpPr>
        <p:spPr>
          <a:xfrm rot="5400000">
            <a:off x="-1370793" y="1984248"/>
            <a:ext cx="3086099"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36B12299-DEF1-4F49-A84F-8BBB1FB0A364}"/>
              </a:ext>
            </a:extLst>
          </p:cNvPr>
          <p:cNvSpPr>
            <a:spLocks noGrp="1"/>
          </p:cNvSpPr>
          <p:nvPr>
            <p:ph idx="1"/>
          </p:nvPr>
        </p:nvSpPr>
        <p:spPr>
          <a:xfrm>
            <a:off x="1028699" y="2318197"/>
            <a:ext cx="7293023" cy="3683358"/>
          </a:xfrm>
        </p:spPr>
        <p:txBody>
          <a:bodyPr anchor="ctr">
            <a:normAutofit fontScale="92500" lnSpcReduction="10000"/>
          </a:bodyPr>
          <a:lstStyle/>
          <a:p>
            <a:r>
              <a:rPr lang="en-US" sz="2400" dirty="0"/>
              <a:t>Some have argued that innate ability increases engagement and practice </a:t>
            </a:r>
          </a:p>
          <a:p>
            <a:r>
              <a:rPr lang="en-US" sz="2400" dirty="0"/>
              <a:t>Others argue the effect sizes of deliberate practice are over-estimated (e.g., </a:t>
            </a:r>
            <a:r>
              <a:rPr lang="en-US" sz="2400" dirty="0" err="1"/>
              <a:t>Macnamara</a:t>
            </a:r>
            <a:r>
              <a:rPr lang="en-US" sz="2400" dirty="0"/>
              <a:t> et al., 2014; 2016), particularly:</a:t>
            </a:r>
          </a:p>
          <a:p>
            <a:pPr lvl="1"/>
            <a:r>
              <a:rPr lang="en-US" dirty="0"/>
              <a:t>When practice assessed in real time (instead of retrospectively)</a:t>
            </a:r>
          </a:p>
          <a:p>
            <a:pPr lvl="1"/>
            <a:r>
              <a:rPr lang="en-US" dirty="0"/>
              <a:t>At high levels of skill or expertise</a:t>
            </a:r>
          </a:p>
          <a:p>
            <a:pPr lvl="1"/>
            <a:r>
              <a:rPr lang="en-US" dirty="0"/>
              <a:t>For certain/complicated activities (e.g., education, professional activities) </a:t>
            </a:r>
          </a:p>
          <a:p>
            <a:r>
              <a:rPr lang="en-US" sz="2400" dirty="0"/>
              <a:t>Ericsson and colleagues counter many of these studies are not based on </a:t>
            </a:r>
            <a:r>
              <a:rPr lang="en-US" sz="2400" u="sng" dirty="0"/>
              <a:t>deliberate</a:t>
            </a:r>
            <a:r>
              <a:rPr lang="en-US" sz="2400" dirty="0"/>
              <a:t> practice</a:t>
            </a:r>
          </a:p>
          <a:p>
            <a:pPr lvl="1"/>
            <a:endParaRPr lang="en-US" sz="1700" dirty="0"/>
          </a:p>
        </p:txBody>
      </p:sp>
    </p:spTree>
    <p:extLst>
      <p:ext uri="{BB962C8B-B14F-4D97-AF65-F5344CB8AC3E}">
        <p14:creationId xmlns:p14="http://schemas.microsoft.com/office/powerpoint/2010/main" val="718158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199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93555" y="620392"/>
            <a:ext cx="2856201" cy="5504688"/>
          </a:xfrm>
        </p:spPr>
        <p:txBody>
          <a:bodyPr>
            <a:normAutofit/>
          </a:bodyPr>
          <a:lstStyle/>
          <a:p>
            <a:r>
              <a:rPr lang="en-US" sz="5200">
                <a:solidFill>
                  <a:schemeClr val="bg1"/>
                </a:solidFill>
              </a:rPr>
              <a:t>A note about practice…</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of Positive Psychology © Cambridge University Press 2021</a:t>
            </a:r>
          </a:p>
        </p:txBody>
      </p:sp>
      <p:graphicFrame>
        <p:nvGraphicFramePr>
          <p:cNvPr id="6" name="Content Placeholder 2">
            <a:extLst>
              <a:ext uri="{FF2B5EF4-FFF2-40B4-BE49-F238E27FC236}">
                <a16:creationId xmlns:a16="http://schemas.microsoft.com/office/drawing/2014/main" id="{0D99DB51-9A0C-6077-494E-8A46ED05117E}"/>
              </a:ext>
            </a:extLst>
          </p:cNvPr>
          <p:cNvGraphicFramePr>
            <a:graphicFrameLocks noGrp="1"/>
          </p:cNvGraphicFramePr>
          <p:nvPr>
            <p:ph idx="1"/>
            <p:extLst>
              <p:ext uri="{D42A27DB-BD31-4B8C-83A1-F6EECF244321}">
                <p14:modId xmlns:p14="http://schemas.microsoft.com/office/powerpoint/2010/main" val="1984894383"/>
              </p:ext>
            </p:extLst>
          </p:nvPr>
        </p:nvGraphicFramePr>
        <p:xfrm>
          <a:off x="4101291"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1652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3707AD-8261-4357-9C64-EEC41E832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27"/>
            <a:ext cx="4565011" cy="6858428"/>
          </a:xfrm>
          <a:prstGeom prst="rect">
            <a:avLst/>
          </a:prstGeom>
          <a:gradFill>
            <a:gsLst>
              <a:gs pos="0">
                <a:srgbClr val="000000">
                  <a:alpha val="53000"/>
                </a:srgbClr>
              </a:gs>
              <a:gs pos="82000">
                <a:schemeClr val="accent1">
                  <a:lumMod val="75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98142"/>
            <a:ext cx="9143999" cy="6359430"/>
          </a:xfrm>
          <a:prstGeom prst="rect">
            <a:avLst/>
          </a:prstGeom>
          <a:gradFill>
            <a:gsLst>
              <a:gs pos="13000">
                <a:schemeClr val="accent1">
                  <a:lumMod val="75000"/>
                  <a:alpha val="39000"/>
                </a:schemeClr>
              </a:gs>
              <a:gs pos="100000">
                <a:srgbClr val="000000">
                  <a:alpha val="32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4572000" cy="6858000"/>
          </a:xfrm>
          <a:prstGeom prst="rect">
            <a:avLst/>
          </a:prstGeom>
          <a:gradFill>
            <a:gsLst>
              <a:gs pos="13000">
                <a:srgbClr val="000000">
                  <a:alpha val="39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1B01BE8-EBAB-4286-84CC-EC07C7F95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4000" cy="6400370"/>
          </a:xfrm>
          <a:prstGeom prst="rect">
            <a:avLst/>
          </a:prstGeom>
          <a:gradFill>
            <a:gsLst>
              <a:gs pos="0">
                <a:srgbClr val="000000">
                  <a:alpha val="70000"/>
                </a:srgbClr>
              </a:gs>
              <a:gs pos="99000">
                <a:schemeClr val="accent1">
                  <a:lumMod val="75000"/>
                  <a:alpha val="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13">
            <a:extLst>
              <a:ext uri="{FF2B5EF4-FFF2-40B4-BE49-F238E27FC236}">
                <a16:creationId xmlns:a16="http://schemas.microsoft.com/office/drawing/2014/main" id="{B810725C-984E-4EC2-A5FA-A193878CB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33062" y="565200"/>
            <a:ext cx="4893880" cy="7691720"/>
          </a:xfrm>
          <a:custGeom>
            <a:avLst/>
            <a:gdLst>
              <a:gd name="connsiteX0" fmla="*/ 2065105 w 2065105"/>
              <a:gd name="connsiteY0" fmla="*/ 0 h 4139967"/>
              <a:gd name="connsiteX1" fmla="*/ 2065105 w 2065105"/>
              <a:gd name="connsiteY1" fmla="*/ 4139967 h 4139967"/>
              <a:gd name="connsiteX2" fmla="*/ 1858573 w 2065105"/>
              <a:gd name="connsiteY2" fmla="*/ 4129538 h 4139967"/>
              <a:gd name="connsiteX3" fmla="*/ 0 w 2065105"/>
              <a:gd name="connsiteY3" fmla="*/ 2069983 h 4139967"/>
              <a:gd name="connsiteX4" fmla="*/ 1858573 w 2065105"/>
              <a:gd name="connsiteY4" fmla="*/ 10428 h 4139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105" h="4139967">
                <a:moveTo>
                  <a:pt x="2065105" y="0"/>
                </a:moveTo>
                <a:lnTo>
                  <a:pt x="2065105" y="4139967"/>
                </a:lnTo>
                <a:lnTo>
                  <a:pt x="1858573" y="4129538"/>
                </a:lnTo>
                <a:cubicBezTo>
                  <a:pt x="814640" y="4023521"/>
                  <a:pt x="0" y="3141887"/>
                  <a:pt x="0" y="2069983"/>
                </a:cubicBezTo>
                <a:cubicBezTo>
                  <a:pt x="0" y="998079"/>
                  <a:pt x="814640" y="116446"/>
                  <a:pt x="1858573" y="10428"/>
                </a:cubicBezTo>
                <a:close/>
              </a:path>
            </a:pathLst>
          </a:custGeom>
          <a:gradFill flip="none" rotWithShape="1">
            <a:gsLst>
              <a:gs pos="0">
                <a:schemeClr val="accent1">
                  <a:lumMod val="50000"/>
                  <a:alpha val="0"/>
                </a:schemeClr>
              </a:gs>
              <a:gs pos="100000">
                <a:schemeClr val="accent1">
                  <a:alpha val="23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71649" y="3115264"/>
            <a:ext cx="5593081" cy="2863883"/>
          </a:xfrm>
        </p:spPr>
        <p:txBody>
          <a:bodyPr vert="horz" lIns="91440" tIns="45720" rIns="91440" bIns="45720" rtlCol="0" anchor="ctr">
            <a:normAutofit/>
          </a:bodyPr>
          <a:lstStyle/>
          <a:p>
            <a:r>
              <a:rPr lang="en-US" sz="4200" kern="1200">
                <a:solidFill>
                  <a:srgbClr val="FFFFFF"/>
                </a:solidFill>
                <a:latin typeface="+mj-lt"/>
                <a:ea typeface="+mj-ea"/>
                <a:cs typeface="+mj-cs"/>
              </a:rPr>
              <a:t>Deliberate Practice</a:t>
            </a:r>
          </a:p>
        </p:txBody>
      </p:sp>
      <p:sp>
        <p:nvSpPr>
          <p:cNvPr id="4" name="Footer Placeholder 3"/>
          <p:cNvSpPr>
            <a:spLocks noGrp="1"/>
          </p:cNvSpPr>
          <p:nvPr>
            <p:ph type="ftr" sz="quarter" idx="4294967295"/>
          </p:nvPr>
        </p:nvSpPr>
        <p:spPr>
          <a:xfrm rot="5400000">
            <a:off x="-1371600" y="1984248"/>
            <a:ext cx="3086100" cy="365125"/>
          </a:xfrm>
        </p:spPr>
        <p:txBody>
          <a:bodyPr vert="horz" lIns="91440" tIns="45720" rIns="91440" bIns="45720" rtlCol="0" anchor="ctr">
            <a:normAutofit/>
          </a:bodyPr>
          <a:lstStyle/>
          <a:p>
            <a:pPr algn="l"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1846234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4 Principles of Deliberate Practice</a:t>
            </a:r>
          </a:p>
        </p:txBody>
      </p:sp>
      <p:sp>
        <p:nvSpPr>
          <p:cNvPr id="4" name="Footer Placeholder 3"/>
          <p:cNvSpPr>
            <a:spLocks noGrp="1"/>
          </p:cNvSpPr>
          <p:nvPr>
            <p:ph type="ftr" sz="quarter" idx="11"/>
          </p:nvPr>
        </p:nvSpPr>
        <p:spPr>
          <a:xfrm rot="5400000">
            <a:off x="-1370793" y="1984248"/>
            <a:ext cx="3086099"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
        <p:nvSpPr>
          <p:cNvPr id="3" name="Content Placeholder 2"/>
          <p:cNvSpPr>
            <a:spLocks noGrp="1"/>
          </p:cNvSpPr>
          <p:nvPr>
            <p:ph idx="1"/>
          </p:nvPr>
        </p:nvSpPr>
        <p:spPr>
          <a:xfrm>
            <a:off x="1028699" y="2318197"/>
            <a:ext cx="7293023" cy="3683358"/>
          </a:xfrm>
        </p:spPr>
        <p:txBody>
          <a:bodyPr anchor="ctr">
            <a:normAutofit/>
          </a:bodyPr>
          <a:lstStyle/>
          <a:p>
            <a:r>
              <a:rPr lang="en-US" sz="2000" b="1" dirty="0"/>
              <a:t>Work on areas in need of improvement</a:t>
            </a:r>
          </a:p>
          <a:p>
            <a:pPr lvl="1"/>
            <a:r>
              <a:rPr lang="en-US" sz="2000" dirty="0"/>
              <a:t>Rather than doing things that they already do well, focus on things that are challenging</a:t>
            </a:r>
          </a:p>
          <a:p>
            <a:r>
              <a:rPr lang="en-US" sz="2000" b="1" dirty="0"/>
              <a:t>Give full concentration</a:t>
            </a:r>
          </a:p>
          <a:p>
            <a:pPr lvl="1"/>
            <a:r>
              <a:rPr lang="en-US" sz="2000" dirty="0"/>
              <a:t>Remove distractions (e.g., noise, social media, or people)</a:t>
            </a:r>
          </a:p>
          <a:p>
            <a:r>
              <a:rPr lang="en-US" sz="2000" b="1" dirty="0"/>
              <a:t>Get feedback</a:t>
            </a:r>
          </a:p>
          <a:p>
            <a:pPr lvl="1"/>
            <a:r>
              <a:rPr lang="en-US" sz="2000" dirty="0"/>
              <a:t>Notice what you did right, and what you could improve</a:t>
            </a:r>
          </a:p>
          <a:p>
            <a:r>
              <a:rPr lang="en-US" sz="2000" b="1" dirty="0"/>
              <a:t>Repeat until mastery</a:t>
            </a:r>
          </a:p>
          <a:p>
            <a:pPr lvl="1"/>
            <a:r>
              <a:rPr lang="en-US" sz="2000" dirty="0"/>
              <a:t>Continue to work on those areas in need of improvement</a:t>
            </a:r>
          </a:p>
        </p:txBody>
      </p:sp>
    </p:spTree>
    <p:extLst>
      <p:ext uri="{BB962C8B-B14F-4D97-AF65-F5344CB8AC3E}">
        <p14:creationId xmlns:p14="http://schemas.microsoft.com/office/powerpoint/2010/main" val="1317960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200">
                <a:solidFill>
                  <a:srgbClr val="FFFFFF"/>
                </a:solidFill>
              </a:rPr>
              <a:t>Things to help keep motivated to engage in deliberate practice</a:t>
            </a:r>
          </a:p>
        </p:txBody>
      </p:sp>
      <p:sp>
        <p:nvSpPr>
          <p:cNvPr id="4" name="Footer Placeholder 3"/>
          <p:cNvSpPr>
            <a:spLocks noGrp="1"/>
          </p:cNvSpPr>
          <p:nvPr>
            <p:ph type="ftr" sz="quarter" idx="11"/>
          </p:nvPr>
        </p:nvSpPr>
        <p:spPr>
          <a:xfrm rot="5400000">
            <a:off x="-1370793" y="1984248"/>
            <a:ext cx="3086099"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
        <p:nvSpPr>
          <p:cNvPr id="3" name="Content Placeholder 2"/>
          <p:cNvSpPr>
            <a:spLocks noGrp="1"/>
          </p:cNvSpPr>
          <p:nvPr>
            <p:ph idx="1"/>
          </p:nvPr>
        </p:nvSpPr>
        <p:spPr>
          <a:xfrm>
            <a:off x="1028699" y="2318197"/>
            <a:ext cx="7293023" cy="3683358"/>
          </a:xfrm>
        </p:spPr>
        <p:txBody>
          <a:bodyPr anchor="ctr">
            <a:noAutofit/>
          </a:bodyPr>
          <a:lstStyle/>
          <a:p>
            <a:r>
              <a:rPr lang="en-US" sz="2000" b="1" dirty="0"/>
              <a:t>Rethink failure</a:t>
            </a:r>
          </a:p>
          <a:p>
            <a:pPr lvl="1"/>
            <a:r>
              <a:rPr lang="en-US" sz="2000" dirty="0"/>
              <a:t>Failure is a normal part of learning  </a:t>
            </a:r>
          </a:p>
          <a:p>
            <a:r>
              <a:rPr lang="en-US" sz="2000" b="1" dirty="0"/>
              <a:t>Rethink frustration and confusion</a:t>
            </a:r>
          </a:p>
          <a:p>
            <a:pPr lvl="1"/>
            <a:r>
              <a:rPr lang="en-US" sz="2000" dirty="0"/>
              <a:t>Remember that frustration and confusion are a natural part of practice</a:t>
            </a:r>
          </a:p>
          <a:p>
            <a:r>
              <a:rPr lang="en-US" sz="2000" b="1" dirty="0"/>
              <a:t>Rethink talent</a:t>
            </a:r>
          </a:p>
          <a:p>
            <a:pPr lvl="1"/>
            <a:r>
              <a:rPr lang="en-US" sz="2000" dirty="0"/>
              <a:t>Read books, watch TV interviews, or listen to podcasts that focus on how musicians, athletes, or actors work on their craft to be successful</a:t>
            </a:r>
          </a:p>
          <a:p>
            <a:r>
              <a:rPr lang="en-US" sz="2000" b="1" dirty="0"/>
              <a:t>Share the experience</a:t>
            </a:r>
          </a:p>
          <a:p>
            <a:pPr lvl="1"/>
            <a:r>
              <a:rPr lang="en-US" sz="2000" dirty="0"/>
              <a:t>Share your experiences of failure, frustration, practice, and success with friends and family and ask them to reflect on the value of practice. Perhaps ask how they have dealt with failure.</a:t>
            </a:r>
          </a:p>
        </p:txBody>
      </p:sp>
    </p:spTree>
    <p:extLst>
      <p:ext uri="{BB962C8B-B14F-4D97-AF65-F5344CB8AC3E}">
        <p14:creationId xmlns:p14="http://schemas.microsoft.com/office/powerpoint/2010/main" val="3217999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r>
              <a:rPr lang="en-US" sz="4100" dirty="0"/>
              <a:t>Journal Entry #14: </a:t>
            </a:r>
            <a:br>
              <a:rPr lang="en-US" sz="4100" dirty="0"/>
            </a:br>
            <a:r>
              <a:rPr lang="en-US" sz="4100" dirty="0"/>
              <a:t>Deliberate Practice</a:t>
            </a:r>
          </a:p>
        </p:txBody>
      </p:sp>
      <p:sp>
        <p:nvSpPr>
          <p:cNvPr id="3" name="Content Placeholder 2"/>
          <p:cNvSpPr>
            <a:spLocks noGrp="1"/>
          </p:cNvSpPr>
          <p:nvPr>
            <p:ph idx="1"/>
          </p:nvPr>
        </p:nvSpPr>
        <p:spPr>
          <a:xfrm>
            <a:off x="3724073" y="2438400"/>
            <a:ext cx="4939867" cy="3785419"/>
          </a:xfrm>
        </p:spPr>
        <p:txBody>
          <a:bodyPr>
            <a:normAutofit/>
          </a:bodyPr>
          <a:lstStyle/>
          <a:p>
            <a:r>
              <a:rPr lang="en-US" sz="2400" dirty="0"/>
              <a:t>Reflect on a behavior or skill where you have engaged in deliberate practice. How have you used the principles of deliberate practice or stayed motivated to engage in deliberate practice? Would you do anything differently in the future?</a:t>
            </a:r>
          </a:p>
        </p:txBody>
      </p:sp>
      <p:pic>
        <p:nvPicPr>
          <p:cNvPr id="6" name="Picture 5" descr="Closeup of hands holding an open book">
            <a:extLst>
              <a:ext uri="{FF2B5EF4-FFF2-40B4-BE49-F238E27FC236}">
                <a16:creationId xmlns:a16="http://schemas.microsoft.com/office/drawing/2014/main" id="{4C8226E5-DC11-DF46-1381-E0A9D6C41972}"/>
              </a:ext>
            </a:extLst>
          </p:cNvPr>
          <p:cNvPicPr>
            <a:picLocks noChangeAspect="1"/>
          </p:cNvPicPr>
          <p:nvPr/>
        </p:nvPicPr>
        <p:blipFill rotWithShape="1">
          <a:blip r:embed="rId2"/>
          <a:srcRect l="31390" r="34770" b="-1"/>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E9CA97"/>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of Positive Psychology © Cambridge University Press 2021</a:t>
            </a:r>
          </a:p>
        </p:txBody>
      </p:sp>
    </p:spTree>
    <p:extLst>
      <p:ext uri="{BB962C8B-B14F-4D97-AF65-F5344CB8AC3E}">
        <p14:creationId xmlns:p14="http://schemas.microsoft.com/office/powerpoint/2010/main" val="437203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40FC2-539B-406E-9A96-A130C72A201A}"/>
              </a:ext>
            </a:extLst>
          </p:cNvPr>
          <p:cNvSpPr>
            <a:spLocks noGrp="1"/>
          </p:cNvSpPr>
          <p:nvPr>
            <p:ph type="title"/>
          </p:nvPr>
        </p:nvSpPr>
        <p:spPr/>
        <p:txBody>
          <a:bodyPr>
            <a:normAutofit fontScale="90000"/>
          </a:bodyPr>
          <a:lstStyle/>
          <a:p>
            <a:r>
              <a:rPr lang="en-US" dirty="0"/>
              <a:t>Longitudinal Study: Mathematically Precocious Youth (SMPY) </a:t>
            </a:r>
          </a:p>
        </p:txBody>
      </p:sp>
      <p:sp>
        <p:nvSpPr>
          <p:cNvPr id="3" name="Content Placeholder 2">
            <a:extLst>
              <a:ext uri="{FF2B5EF4-FFF2-40B4-BE49-F238E27FC236}">
                <a16:creationId xmlns:a16="http://schemas.microsoft.com/office/drawing/2014/main" id="{64E26511-6668-44BF-BEC3-0ABD3B9C96DC}"/>
              </a:ext>
            </a:extLst>
          </p:cNvPr>
          <p:cNvSpPr>
            <a:spLocks noGrp="1"/>
          </p:cNvSpPr>
          <p:nvPr>
            <p:ph idx="1"/>
          </p:nvPr>
        </p:nvSpPr>
        <p:spPr/>
        <p:txBody>
          <a:bodyPr>
            <a:normAutofit lnSpcReduction="10000"/>
          </a:bodyPr>
          <a:lstStyle/>
          <a:p>
            <a:r>
              <a:rPr lang="en-US" dirty="0"/>
              <a:t>More than 5,000 7</a:t>
            </a:r>
            <a:r>
              <a:rPr lang="en-US" baseline="30000" dirty="0"/>
              <a:t>th</a:t>
            </a:r>
            <a:r>
              <a:rPr lang="en-US" dirty="0"/>
              <a:t> and 8</a:t>
            </a:r>
            <a:r>
              <a:rPr lang="en-US" baseline="30000" dirty="0"/>
              <a:t>th</a:t>
            </a:r>
            <a:r>
              <a:rPr lang="en-US" dirty="0"/>
              <a:t> graders recruited between 1972 – 1997</a:t>
            </a:r>
          </a:p>
          <a:p>
            <a:pPr lvl="1"/>
            <a:r>
              <a:rPr lang="en-US" dirty="0"/>
              <a:t>Scored in top 3% of standardized achievement tests</a:t>
            </a:r>
          </a:p>
          <a:p>
            <a:pPr lvl="1"/>
            <a:r>
              <a:rPr lang="en-US" dirty="0"/>
              <a:t>Invited to take the SAT</a:t>
            </a:r>
          </a:p>
          <a:p>
            <a:pPr lvl="1"/>
            <a:r>
              <a:rPr lang="en-US" dirty="0"/>
              <a:t>Divided into:</a:t>
            </a:r>
          </a:p>
          <a:p>
            <a:pPr lvl="2"/>
            <a:r>
              <a:rPr lang="en-US" dirty="0"/>
              <a:t>Cohort 1 – top 1 in 100</a:t>
            </a:r>
          </a:p>
          <a:p>
            <a:pPr lvl="2"/>
            <a:r>
              <a:rPr lang="en-US" dirty="0"/>
              <a:t>Cohort 2 – top 1 in 200</a:t>
            </a:r>
          </a:p>
          <a:p>
            <a:pPr lvl="2"/>
            <a:r>
              <a:rPr lang="en-US" dirty="0"/>
              <a:t>Cohort 3 – top 1 in 10,000</a:t>
            </a:r>
          </a:p>
          <a:p>
            <a:pPr lvl="2"/>
            <a:r>
              <a:rPr lang="en-US" dirty="0"/>
              <a:t>Cohort 4 – top 3% on grade-level achievement test</a:t>
            </a:r>
          </a:p>
          <a:p>
            <a:r>
              <a:rPr lang="en-US" dirty="0"/>
              <a:t>Additional cohort of 1</a:t>
            </a:r>
            <a:r>
              <a:rPr lang="en-US" baseline="30000" dirty="0"/>
              <a:t>st</a:t>
            </a:r>
            <a:r>
              <a:rPr lang="en-US" dirty="0"/>
              <a:t> or 2</a:t>
            </a:r>
            <a:r>
              <a:rPr lang="en-US" baseline="30000" dirty="0"/>
              <a:t>nd</a:t>
            </a:r>
            <a:r>
              <a:rPr lang="en-US" dirty="0"/>
              <a:t> year graduate students in top-ranked STEM departments in the US</a:t>
            </a:r>
          </a:p>
        </p:txBody>
      </p:sp>
      <p:sp>
        <p:nvSpPr>
          <p:cNvPr id="5" name="Footer Placeholder 3">
            <a:extLst>
              <a:ext uri="{FF2B5EF4-FFF2-40B4-BE49-F238E27FC236}">
                <a16:creationId xmlns:a16="http://schemas.microsoft.com/office/drawing/2014/main" id="{1884BE52-715B-59E7-8A59-011FED36ABC7}"/>
              </a:ext>
            </a:extLst>
          </p:cNvPr>
          <p:cNvSpPr>
            <a:spLocks noGrp="1"/>
          </p:cNvSpPr>
          <p:nvPr>
            <p:ph type="ftr" sz="quarter" idx="11"/>
          </p:nvPr>
        </p:nvSpPr>
        <p:spPr>
          <a:xfrm>
            <a:off x="1894154" y="6361998"/>
            <a:ext cx="5953845" cy="461665"/>
          </a:xfrm>
        </p:spPr>
        <p:txBody>
          <a:bodyPr/>
          <a:lstStyle/>
          <a:p>
            <a:r>
              <a:rPr lang="en-US" dirty="0"/>
              <a:t>The Science and Application of Positive Psychology © Cambridge University Press 2021</a:t>
            </a:r>
          </a:p>
        </p:txBody>
      </p:sp>
    </p:spTree>
    <p:extLst>
      <p:ext uri="{BB962C8B-B14F-4D97-AF65-F5344CB8AC3E}">
        <p14:creationId xmlns:p14="http://schemas.microsoft.com/office/powerpoint/2010/main" val="2355559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92E7D-548F-463B-BEF2-B74141FE7A8A}"/>
              </a:ext>
            </a:extLst>
          </p:cNvPr>
          <p:cNvSpPr>
            <a:spLocks noGrp="1"/>
          </p:cNvSpPr>
          <p:nvPr>
            <p:ph type="title"/>
          </p:nvPr>
        </p:nvSpPr>
        <p:spPr>
          <a:xfrm>
            <a:off x="524784" y="248038"/>
            <a:ext cx="5297791" cy="1159200"/>
          </a:xfrm>
        </p:spPr>
        <p:txBody>
          <a:bodyPr vert="horz" lIns="91440" tIns="45720" rIns="91440" bIns="45720" rtlCol="0" anchor="ctr">
            <a:normAutofit/>
          </a:bodyPr>
          <a:lstStyle/>
          <a:p>
            <a:r>
              <a:rPr lang="en-US" sz="3500" kern="1200">
                <a:solidFill>
                  <a:srgbClr val="FFFFFF"/>
                </a:solidFill>
                <a:latin typeface="+mj-lt"/>
                <a:ea typeface="+mj-ea"/>
                <a:cs typeface="+mj-cs"/>
              </a:rPr>
              <a:t>SMPY Enrollment Criteria</a:t>
            </a:r>
          </a:p>
        </p:txBody>
      </p:sp>
      <p:sp>
        <p:nvSpPr>
          <p:cNvPr id="5" name="Footer Placeholder 3">
            <a:extLst>
              <a:ext uri="{FF2B5EF4-FFF2-40B4-BE49-F238E27FC236}">
                <a16:creationId xmlns:a16="http://schemas.microsoft.com/office/drawing/2014/main" id="{BBF3C5CF-B5A0-01A2-9AEA-64F8B1381B6D}"/>
              </a:ext>
            </a:extLst>
          </p:cNvPr>
          <p:cNvSpPr>
            <a:spLocks noGrp="1"/>
          </p:cNvSpPr>
          <p:nvPr>
            <p:ph type="ftr" sz="quarter" idx="11"/>
          </p:nvPr>
        </p:nvSpPr>
        <p:spPr>
          <a:xfrm rot="5400000">
            <a:off x="-1371600" y="2002536"/>
            <a:ext cx="3086100" cy="365760"/>
          </a:xfrm>
        </p:spPr>
        <p:txBody>
          <a:bodyPr vert="horz" lIns="91440" tIns="45720" rIns="91440" bIns="45720" rtlCol="0" anchor="ctr">
            <a:normAutofit/>
          </a:bodyPr>
          <a:lstStyle/>
          <a:p>
            <a:pPr algn="l" defTabSz="914400">
              <a:lnSpc>
                <a:spcPct val="90000"/>
              </a:lnSpc>
              <a:spcAft>
                <a:spcPts val="600"/>
              </a:spcAft>
            </a:pPr>
            <a:r>
              <a:rPr lang="en-US" sz="1000" kern="1200">
                <a:solidFill>
                  <a:srgbClr val="FFFFFF"/>
                </a:solidFill>
                <a:latin typeface="+mn-lt"/>
                <a:ea typeface="+mn-ea"/>
                <a:cs typeface="+mn-cs"/>
              </a:rPr>
              <a:t>The Science and Application of Positive Psychology © Cambridge University Press 2021</a:t>
            </a:r>
          </a:p>
        </p:txBody>
      </p:sp>
      <p:pic>
        <p:nvPicPr>
          <p:cNvPr id="6" name="Content Placeholder 5">
            <a:extLst>
              <a:ext uri="{FF2B5EF4-FFF2-40B4-BE49-F238E27FC236}">
                <a16:creationId xmlns:a16="http://schemas.microsoft.com/office/drawing/2014/main" id="{779D1883-31E8-4F50-858E-F4314616B07E}"/>
              </a:ext>
            </a:extLst>
          </p:cNvPr>
          <p:cNvPicPr>
            <a:picLocks noGrp="1" noChangeAspect="1"/>
          </p:cNvPicPr>
          <p:nvPr>
            <p:ph idx="1"/>
          </p:nvPr>
        </p:nvPicPr>
        <p:blipFill>
          <a:blip r:embed="rId2"/>
          <a:stretch>
            <a:fillRect/>
          </a:stretch>
        </p:blipFill>
        <p:spPr>
          <a:xfrm>
            <a:off x="324168" y="2671530"/>
            <a:ext cx="8495662" cy="3041685"/>
          </a:xfrm>
          <a:prstGeom prst="rect">
            <a:avLst/>
          </a:prstGeom>
        </p:spPr>
      </p:pic>
    </p:spTree>
    <p:extLst>
      <p:ext uri="{BB962C8B-B14F-4D97-AF65-F5344CB8AC3E}">
        <p14:creationId xmlns:p14="http://schemas.microsoft.com/office/powerpoint/2010/main" val="2699423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D2B3BA-54BC-4907-A6B5-8E69073AA132}"/>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Major Findings of SMPY</a:t>
            </a:r>
          </a:p>
        </p:txBody>
      </p:sp>
      <p:sp>
        <p:nvSpPr>
          <p:cNvPr id="5" name="Footer Placeholder 3">
            <a:extLst>
              <a:ext uri="{FF2B5EF4-FFF2-40B4-BE49-F238E27FC236}">
                <a16:creationId xmlns:a16="http://schemas.microsoft.com/office/drawing/2014/main" id="{22EDDAE5-F2B7-F456-23BE-85F4AE014CA7}"/>
              </a:ext>
            </a:extLst>
          </p:cNvPr>
          <p:cNvSpPr>
            <a:spLocks noGrp="1"/>
          </p:cNvSpPr>
          <p:nvPr>
            <p:ph type="ftr" sz="quarter" idx="11"/>
          </p:nvPr>
        </p:nvSpPr>
        <p:spPr>
          <a:xfrm rot="5400000">
            <a:off x="-1370793" y="1984248"/>
            <a:ext cx="3086099"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6A4E21E5-DBF9-42D8-AE76-C0FC84A18635}"/>
              </a:ext>
            </a:extLst>
          </p:cNvPr>
          <p:cNvSpPr>
            <a:spLocks noGrp="1"/>
          </p:cNvSpPr>
          <p:nvPr>
            <p:ph idx="1"/>
          </p:nvPr>
        </p:nvSpPr>
        <p:spPr>
          <a:xfrm>
            <a:off x="1028699" y="2318197"/>
            <a:ext cx="7293023" cy="3683358"/>
          </a:xfrm>
        </p:spPr>
        <p:txBody>
          <a:bodyPr anchor="ctr">
            <a:noAutofit/>
          </a:bodyPr>
          <a:lstStyle/>
          <a:p>
            <a:r>
              <a:rPr lang="en-US" sz="2400" dirty="0"/>
              <a:t>Doctoral degree by age 33:</a:t>
            </a:r>
          </a:p>
          <a:p>
            <a:pPr lvl="1"/>
            <a:r>
              <a:rPr lang="en-US" dirty="0"/>
              <a:t>Cohort 1: 25%</a:t>
            </a:r>
          </a:p>
          <a:p>
            <a:pPr lvl="1"/>
            <a:r>
              <a:rPr lang="en-US" dirty="0"/>
              <a:t>Cohort 2: 30%</a:t>
            </a:r>
          </a:p>
          <a:p>
            <a:pPr lvl="1"/>
            <a:r>
              <a:rPr lang="en-US" dirty="0"/>
              <a:t>Cohort 3: 50%</a:t>
            </a:r>
          </a:p>
          <a:p>
            <a:r>
              <a:rPr lang="en-US" sz="2400" dirty="0"/>
              <a:t>Compared to lowest 25% on the SAT-M, top 25% more likely to:</a:t>
            </a:r>
          </a:p>
          <a:p>
            <a:pPr lvl="1"/>
            <a:r>
              <a:rPr lang="en-US" dirty="0"/>
              <a:t>Obtain a doctorate</a:t>
            </a:r>
          </a:p>
          <a:p>
            <a:pPr lvl="1"/>
            <a:r>
              <a:rPr lang="en-US" dirty="0"/>
              <a:t>Obtain a STEM doctorate</a:t>
            </a:r>
          </a:p>
          <a:p>
            <a:pPr lvl="1"/>
            <a:r>
              <a:rPr lang="en-US" dirty="0"/>
              <a:t>Earn more money</a:t>
            </a:r>
          </a:p>
          <a:p>
            <a:r>
              <a:rPr lang="en-US" sz="2400" dirty="0"/>
              <a:t>Findings challenge the threshold theory – that after a certain level of intelligence, more intelligence doesn’t bring added benefit</a:t>
            </a:r>
          </a:p>
        </p:txBody>
      </p:sp>
    </p:spTree>
    <p:extLst>
      <p:ext uri="{BB962C8B-B14F-4D97-AF65-F5344CB8AC3E}">
        <p14:creationId xmlns:p14="http://schemas.microsoft.com/office/powerpoint/2010/main" val="1984974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0835E-4AD6-474F-AB2B-5E5B6D512D4F}"/>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The Excellence Gap</a:t>
            </a:r>
          </a:p>
        </p:txBody>
      </p:sp>
      <p:sp>
        <p:nvSpPr>
          <p:cNvPr id="5" name="Footer Placeholder 3">
            <a:extLst>
              <a:ext uri="{FF2B5EF4-FFF2-40B4-BE49-F238E27FC236}">
                <a16:creationId xmlns:a16="http://schemas.microsoft.com/office/drawing/2014/main" id="{DE2F826A-E9CB-71D8-940E-A0C976E2C6AA}"/>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sp>
        <p:nvSpPr>
          <p:cNvPr id="3" name="Content Placeholder 2">
            <a:extLst>
              <a:ext uri="{FF2B5EF4-FFF2-40B4-BE49-F238E27FC236}">
                <a16:creationId xmlns:a16="http://schemas.microsoft.com/office/drawing/2014/main" id="{B328FDD5-AA5B-45B8-B97C-007C3176E5B4}"/>
              </a:ext>
            </a:extLst>
          </p:cNvPr>
          <p:cNvSpPr>
            <a:spLocks noGrp="1"/>
          </p:cNvSpPr>
          <p:nvPr>
            <p:ph idx="1"/>
          </p:nvPr>
        </p:nvSpPr>
        <p:spPr>
          <a:xfrm>
            <a:off x="3607694" y="649480"/>
            <a:ext cx="4916510" cy="5546047"/>
          </a:xfrm>
        </p:spPr>
        <p:txBody>
          <a:bodyPr anchor="ctr">
            <a:normAutofit/>
          </a:bodyPr>
          <a:lstStyle/>
          <a:p>
            <a:r>
              <a:rPr lang="en-US" sz="2000" dirty="0"/>
              <a:t>Black, Latinx, and English-as-Second-Language (ESL) students are under-represented in gifted/talented and STEM programs at all levels</a:t>
            </a:r>
          </a:p>
          <a:p>
            <a:pPr lvl="1"/>
            <a:r>
              <a:rPr lang="en-US" sz="2000" dirty="0"/>
              <a:t>BIPOC and ESL students tend to leave gifted and talented programs at higher rates than White students</a:t>
            </a:r>
          </a:p>
          <a:p>
            <a:r>
              <a:rPr lang="en-US" sz="2000" dirty="0"/>
              <a:t>Black, Indigenous, People of Color (BIPOC) students are under-represented in STEM majors in college </a:t>
            </a:r>
          </a:p>
          <a:p>
            <a:pPr lvl="1"/>
            <a:r>
              <a:rPr lang="en-US" sz="2000" dirty="0"/>
              <a:t>Black and Latinx students equally likely to declare STEM majors but more likely to leave major/college than White students</a:t>
            </a:r>
          </a:p>
          <a:p>
            <a:pPr lvl="1"/>
            <a:r>
              <a:rPr lang="en-US" sz="2000" dirty="0"/>
              <a:t>This continues into graduate programs and medical school</a:t>
            </a:r>
          </a:p>
          <a:p>
            <a:pPr lvl="2"/>
            <a:endParaRPr lang="en-US" sz="1700" dirty="0"/>
          </a:p>
        </p:txBody>
      </p:sp>
    </p:spTree>
    <p:extLst>
      <p:ext uri="{BB962C8B-B14F-4D97-AF65-F5344CB8AC3E}">
        <p14:creationId xmlns:p14="http://schemas.microsoft.com/office/powerpoint/2010/main" val="2276010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78F8BB-DECF-44E1-9197-EF04F6C3B082}"/>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Initiatives to Address Excellence Gap </a:t>
            </a:r>
          </a:p>
        </p:txBody>
      </p:sp>
      <p:sp>
        <p:nvSpPr>
          <p:cNvPr id="5" name="Footer Placeholder 3">
            <a:extLst>
              <a:ext uri="{FF2B5EF4-FFF2-40B4-BE49-F238E27FC236}">
                <a16:creationId xmlns:a16="http://schemas.microsoft.com/office/drawing/2014/main" id="{79297CDF-1402-A063-23F0-F7C6C460A439}"/>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 Cambridge University Press 2021</a:t>
            </a:r>
          </a:p>
        </p:txBody>
      </p:sp>
      <p:graphicFrame>
        <p:nvGraphicFramePr>
          <p:cNvPr id="7" name="Content Placeholder 2">
            <a:extLst>
              <a:ext uri="{FF2B5EF4-FFF2-40B4-BE49-F238E27FC236}">
                <a16:creationId xmlns:a16="http://schemas.microsoft.com/office/drawing/2014/main" id="{9D9F9C8E-F6DC-3599-9C57-F08BDDDBE11A}"/>
              </a:ext>
            </a:extLst>
          </p:cNvPr>
          <p:cNvGraphicFramePr>
            <a:graphicFrameLocks noGrp="1"/>
          </p:cNvGraphicFramePr>
          <p:nvPr>
            <p:ph idx="1"/>
            <p:extLst>
              <p:ext uri="{D42A27DB-BD31-4B8C-83A1-F6EECF244321}">
                <p14:modId xmlns:p14="http://schemas.microsoft.com/office/powerpoint/2010/main" val="2697599941"/>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3328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r>
              <a:rPr lang="en-US" dirty="0"/>
              <a:t>Passion</a:t>
            </a:r>
          </a:p>
        </p:txBody>
      </p:sp>
      <p:sp>
        <p:nvSpPr>
          <p:cNvPr id="3" name="Content Placeholder 2"/>
          <p:cNvSpPr>
            <a:spLocks noGrp="1"/>
          </p:cNvSpPr>
          <p:nvPr>
            <p:ph idx="1"/>
          </p:nvPr>
        </p:nvSpPr>
        <p:spPr>
          <a:xfrm>
            <a:off x="3724073" y="2438400"/>
            <a:ext cx="4939867" cy="3785419"/>
          </a:xfrm>
        </p:spPr>
        <p:txBody>
          <a:bodyPr>
            <a:noAutofit/>
          </a:bodyPr>
          <a:lstStyle/>
          <a:p>
            <a:pPr lvl="0" hangingPunct="0"/>
            <a:r>
              <a:rPr lang="en-US" sz="2000" dirty="0"/>
              <a:t>Intense interest and personal commitment to an activity regarded as central to one’s self</a:t>
            </a:r>
          </a:p>
          <a:p>
            <a:pPr lvl="0" hangingPunct="0"/>
            <a:r>
              <a:rPr lang="en-US" sz="2000" dirty="0"/>
              <a:t>Dualistic model </a:t>
            </a:r>
          </a:p>
          <a:p>
            <a:pPr lvl="1" hangingPunct="0"/>
            <a:r>
              <a:rPr lang="en-US" sz="2000" dirty="0">
                <a:solidFill>
                  <a:schemeClr val="accent5"/>
                </a:solidFill>
              </a:rPr>
              <a:t>Harmonious passion</a:t>
            </a:r>
          </a:p>
          <a:p>
            <a:pPr lvl="2" hangingPunct="0"/>
            <a:r>
              <a:rPr lang="en-US" dirty="0"/>
              <a:t>Result of autonomous motivation</a:t>
            </a:r>
          </a:p>
          <a:p>
            <a:pPr lvl="2" hangingPunct="0"/>
            <a:r>
              <a:rPr lang="en-US" dirty="0"/>
              <a:t>Freely chosen</a:t>
            </a:r>
          </a:p>
          <a:p>
            <a:pPr lvl="2" hangingPunct="0"/>
            <a:r>
              <a:rPr lang="en-US" dirty="0"/>
              <a:t>“Fits” identity</a:t>
            </a:r>
          </a:p>
          <a:p>
            <a:pPr lvl="2" hangingPunct="0"/>
            <a:r>
              <a:rPr lang="en-US" dirty="0"/>
              <a:t>is engaged in joyously and effortlessly</a:t>
            </a:r>
          </a:p>
          <a:p>
            <a:pPr lvl="2" hangingPunct="0"/>
            <a:r>
              <a:rPr lang="en-US" dirty="0"/>
              <a:t>Flow is often experienced</a:t>
            </a:r>
          </a:p>
          <a:p>
            <a:pPr lvl="1" hangingPunct="0"/>
            <a:r>
              <a:rPr lang="en-US" sz="2000" dirty="0">
                <a:solidFill>
                  <a:schemeClr val="accent5"/>
                </a:solidFill>
              </a:rPr>
              <a:t>Obsessive passion</a:t>
            </a:r>
          </a:p>
        </p:txBody>
      </p:sp>
      <p:pic>
        <p:nvPicPr>
          <p:cNvPr id="7" name="Picture 5" descr="Close up image of a hand touching flowers">
            <a:extLst>
              <a:ext uri="{FF2B5EF4-FFF2-40B4-BE49-F238E27FC236}">
                <a16:creationId xmlns:a16="http://schemas.microsoft.com/office/drawing/2014/main" id="{2BAA2DDF-53B1-9F27-E5D3-9CA6D8CCDEC9}"/>
              </a:ext>
            </a:extLst>
          </p:cNvPr>
          <p:cNvPicPr>
            <a:picLocks noChangeAspect="1"/>
          </p:cNvPicPr>
          <p:nvPr/>
        </p:nvPicPr>
        <p:blipFill rotWithShape="1">
          <a:blip r:embed="rId2"/>
          <a:srcRect l="16109" r="50052" b="-1"/>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AF9469"/>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of Positive Psychology © Cambridge University Press 2021</a:t>
            </a:r>
          </a:p>
        </p:txBody>
      </p:sp>
    </p:spTree>
    <p:extLst>
      <p:ext uri="{BB962C8B-B14F-4D97-AF65-F5344CB8AC3E}">
        <p14:creationId xmlns:p14="http://schemas.microsoft.com/office/powerpoint/2010/main" val="126509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Passion</a:t>
            </a:r>
          </a:p>
        </p:txBody>
      </p:sp>
      <p:sp>
        <p:nvSpPr>
          <p:cNvPr id="4" name="Footer Placeholder 3"/>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of Positive Psychology © Cambridge University Press 2021</a:t>
            </a:r>
          </a:p>
        </p:txBody>
      </p:sp>
      <p:sp>
        <p:nvSpPr>
          <p:cNvPr id="3" name="Content Placeholder 2"/>
          <p:cNvSpPr>
            <a:spLocks noGrp="1"/>
          </p:cNvSpPr>
          <p:nvPr>
            <p:ph idx="1"/>
          </p:nvPr>
        </p:nvSpPr>
        <p:spPr>
          <a:xfrm>
            <a:off x="3607694" y="649480"/>
            <a:ext cx="4916510" cy="5546047"/>
          </a:xfrm>
        </p:spPr>
        <p:txBody>
          <a:bodyPr anchor="ctr">
            <a:normAutofit/>
          </a:bodyPr>
          <a:lstStyle/>
          <a:p>
            <a:pPr lvl="0" hangingPunct="0"/>
            <a:r>
              <a:rPr lang="en-US" sz="2400" dirty="0"/>
              <a:t>Dualistic model </a:t>
            </a:r>
          </a:p>
          <a:p>
            <a:pPr lvl="1" hangingPunct="0"/>
            <a:r>
              <a:rPr lang="en-US" dirty="0">
                <a:solidFill>
                  <a:schemeClr val="accent5"/>
                </a:solidFill>
              </a:rPr>
              <a:t>Harmonious passion</a:t>
            </a:r>
          </a:p>
          <a:p>
            <a:pPr lvl="1" hangingPunct="0"/>
            <a:r>
              <a:rPr lang="en-US" dirty="0">
                <a:solidFill>
                  <a:schemeClr val="accent5"/>
                </a:solidFill>
              </a:rPr>
              <a:t>Obsessive passion</a:t>
            </a:r>
          </a:p>
          <a:p>
            <a:pPr lvl="2" hangingPunct="0"/>
            <a:r>
              <a:rPr lang="en-US" sz="2400" dirty="0"/>
              <a:t>Results from feelings of being controlled</a:t>
            </a:r>
          </a:p>
          <a:p>
            <a:pPr lvl="2" hangingPunct="0"/>
            <a:r>
              <a:rPr lang="en-US" sz="2400" dirty="0"/>
              <a:t>Often involves rigid persistence</a:t>
            </a:r>
          </a:p>
          <a:p>
            <a:pPr lvl="2" hangingPunct="0"/>
            <a:r>
              <a:rPr lang="en-US" sz="2400" dirty="0"/>
              <a:t>May create conflicts within one’s identity and life, as well as feelings of anxiety and even shame. </a:t>
            </a:r>
          </a:p>
          <a:p>
            <a:pPr lvl="2" hangingPunct="0"/>
            <a:r>
              <a:rPr lang="en-US" sz="2400" dirty="0"/>
              <a:t>Examples: Gambling, Internet preoccupations</a:t>
            </a:r>
          </a:p>
        </p:txBody>
      </p:sp>
    </p:spTree>
    <p:extLst>
      <p:ext uri="{BB962C8B-B14F-4D97-AF65-F5344CB8AC3E}">
        <p14:creationId xmlns:p14="http://schemas.microsoft.com/office/powerpoint/2010/main" val="1079041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8" y="502021"/>
            <a:ext cx="4070644" cy="1667997"/>
          </a:xfrm>
        </p:spPr>
        <p:txBody>
          <a:bodyPr anchor="b">
            <a:normAutofit/>
          </a:bodyPr>
          <a:lstStyle/>
          <a:p>
            <a:r>
              <a:rPr lang="en-US" sz="3500"/>
              <a:t>Passion</a:t>
            </a:r>
          </a:p>
        </p:txBody>
      </p:sp>
      <p:sp>
        <p:nvSpPr>
          <p:cNvPr id="4" name="Footer Placeholder 3"/>
          <p:cNvSpPr>
            <a:spLocks noGrp="1"/>
          </p:cNvSpPr>
          <p:nvPr>
            <p:ph type="ftr" sz="quarter" idx="11"/>
          </p:nvPr>
        </p:nvSpPr>
        <p:spPr>
          <a:xfrm rot="5400000">
            <a:off x="-1370794" y="1983972"/>
            <a:ext cx="3086099" cy="365125"/>
          </a:xfrm>
        </p:spPr>
        <p:txBody>
          <a:bodyPr>
            <a:normAutofit/>
          </a:bodyPr>
          <a:lstStyle/>
          <a:p>
            <a:pPr algn="l">
              <a:lnSpc>
                <a:spcPct val="90000"/>
              </a:lnSpc>
              <a:spcAft>
                <a:spcPts val="600"/>
              </a:spcAft>
            </a:pPr>
            <a:r>
              <a:rPr lang="en-US" sz="900">
                <a:solidFill>
                  <a:schemeClr val="tx1">
                    <a:lumMod val="50000"/>
                    <a:lumOff val="50000"/>
                  </a:schemeClr>
                </a:solidFill>
              </a:rPr>
              <a:t>The Science of Positive Psychology © Cambridge University Press 2021</a:t>
            </a:r>
          </a:p>
        </p:txBody>
      </p:sp>
      <p:sp>
        <p:nvSpPr>
          <p:cNvPr id="3" name="Content Placeholder 2"/>
          <p:cNvSpPr>
            <a:spLocks noGrp="1"/>
          </p:cNvSpPr>
          <p:nvPr>
            <p:ph idx="1"/>
          </p:nvPr>
        </p:nvSpPr>
        <p:spPr>
          <a:xfrm>
            <a:off x="852298" y="2405467"/>
            <a:ext cx="4070645" cy="3535083"/>
          </a:xfrm>
        </p:spPr>
        <p:txBody>
          <a:bodyPr anchor="t">
            <a:normAutofit/>
          </a:bodyPr>
          <a:lstStyle/>
          <a:p>
            <a:pPr marL="457200" lvl="1" indent="0" hangingPunct="0">
              <a:buNone/>
            </a:pPr>
            <a:r>
              <a:rPr lang="en-US" sz="2000" dirty="0"/>
              <a:t>Harmonious passion, Obsessive passion</a:t>
            </a:r>
          </a:p>
          <a:p>
            <a:pPr lvl="2" hangingPunct="0"/>
            <a:r>
              <a:rPr lang="en-US" dirty="0"/>
              <a:t>Harmonious passion has positive effects on health and well-being</a:t>
            </a:r>
          </a:p>
          <a:p>
            <a:pPr lvl="2" hangingPunct="0"/>
            <a:r>
              <a:rPr lang="en-US" dirty="0"/>
              <a:t>Harmonious passion in sports: greatest effects if it helps meet one’s needs for autonomy, competence, relatedness, and achievement</a:t>
            </a:r>
          </a:p>
        </p:txBody>
      </p:sp>
      <p:pic>
        <p:nvPicPr>
          <p:cNvPr id="5" name="Picture 4"/>
          <p:cNvPicPr>
            <a:picLocks noChangeAspect="1"/>
          </p:cNvPicPr>
          <p:nvPr/>
        </p:nvPicPr>
        <p:blipFill rotWithShape="1">
          <a:blip r:embed="rId2"/>
          <a:srcRect l="48089" r="19263" b="-1"/>
          <a:stretch/>
        </p:blipFill>
        <p:spPr>
          <a:xfrm>
            <a:off x="5285634" y="975645"/>
            <a:ext cx="3332586"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12" name="Rectangle 1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125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pic>
        <p:nvPicPr>
          <p:cNvPr id="6" name="Picture 5"/>
          <p:cNvPicPr>
            <a:picLocks noChangeAspect="1"/>
          </p:cNvPicPr>
          <p:nvPr/>
        </p:nvPicPr>
        <p:blipFill>
          <a:blip r:embed="rId2"/>
          <a:stretch>
            <a:fillRect/>
          </a:stretch>
        </p:blipFill>
        <p:spPr>
          <a:xfrm>
            <a:off x="1065007" y="580914"/>
            <a:ext cx="7309512" cy="5474824"/>
          </a:xfrm>
          <a:prstGeom prst="rect">
            <a:avLst/>
          </a:prstGeom>
        </p:spPr>
      </p:pic>
    </p:spTree>
    <p:extLst>
      <p:ext uri="{BB962C8B-B14F-4D97-AF65-F5344CB8AC3E}">
        <p14:creationId xmlns:p14="http://schemas.microsoft.com/office/powerpoint/2010/main" val="2983404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Grit</a:t>
            </a:r>
            <a:r>
              <a:rPr lang="en-US" dirty="0"/>
              <a:t> (Angela Duckworth)</a:t>
            </a:r>
          </a:p>
        </p:txBody>
      </p:sp>
      <p:sp>
        <p:nvSpPr>
          <p:cNvPr id="3" name="Content Placeholder 2"/>
          <p:cNvSpPr>
            <a:spLocks noGrp="1"/>
          </p:cNvSpPr>
          <p:nvPr>
            <p:ph idx="1"/>
          </p:nvPr>
        </p:nvSpPr>
        <p:spPr/>
        <p:txBody>
          <a:bodyPr>
            <a:normAutofit fontScale="92500" lnSpcReduction="20000"/>
          </a:bodyPr>
          <a:lstStyle/>
          <a:p>
            <a:pPr lvl="0" hangingPunct="0"/>
            <a:r>
              <a:rPr lang="en-US" sz="3000" dirty="0"/>
              <a:t>Duckworth’s definition</a:t>
            </a:r>
          </a:p>
          <a:p>
            <a:pPr lvl="1" hangingPunct="0"/>
            <a:r>
              <a:rPr lang="en-US" sz="2800" dirty="0"/>
              <a:t>Combination of passion and persistence</a:t>
            </a:r>
          </a:p>
          <a:p>
            <a:pPr lvl="0" hangingPunct="0"/>
            <a:r>
              <a:rPr lang="en-US" sz="3000" dirty="0"/>
              <a:t>Key element responsible for higher achievement and success</a:t>
            </a:r>
          </a:p>
          <a:p>
            <a:pPr lvl="0" hangingPunct="0"/>
            <a:r>
              <a:rPr lang="en-US" sz="3000" dirty="0"/>
              <a:t>Better predictor of academic performance than both IQ and SAT scores</a:t>
            </a:r>
          </a:p>
          <a:p>
            <a:pPr lvl="0" hangingPunct="0"/>
            <a:r>
              <a:rPr lang="en-US" sz="3000" dirty="0"/>
              <a:t>Increases with age</a:t>
            </a:r>
          </a:p>
          <a:p>
            <a:pPr lvl="0" hangingPunct="0"/>
            <a:r>
              <a:rPr lang="en-US" sz="3000" dirty="0"/>
              <a:t>Effortful persistence</a:t>
            </a:r>
          </a:p>
          <a:p>
            <a:pPr lvl="1" hangingPunct="0"/>
            <a:r>
              <a:rPr lang="en-US" sz="2800" dirty="0"/>
              <a:t>A meta-analysis by </a:t>
            </a:r>
            <a:r>
              <a:rPr lang="en-US" sz="2800" dirty="0" err="1"/>
              <a:t>Credé</a:t>
            </a:r>
            <a:r>
              <a:rPr lang="en-US" sz="2800" dirty="0"/>
              <a:t>, Tynan and Harms (2017) concluded that “the primary utility of the grit construct may lie in the perseverance facet.” </a:t>
            </a:r>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pic>
        <p:nvPicPr>
          <p:cNvPr id="5" name="Picture 4"/>
          <p:cNvPicPr>
            <a:picLocks noChangeAspect="1"/>
          </p:cNvPicPr>
          <p:nvPr/>
        </p:nvPicPr>
        <p:blipFill>
          <a:blip r:embed="rId2"/>
          <a:stretch>
            <a:fillRect/>
          </a:stretch>
        </p:blipFill>
        <p:spPr>
          <a:xfrm>
            <a:off x="6388617" y="365128"/>
            <a:ext cx="2614402" cy="1460497"/>
          </a:xfrm>
          <a:prstGeom prst="rect">
            <a:avLst/>
          </a:prstGeom>
        </p:spPr>
      </p:pic>
    </p:spTree>
    <p:extLst>
      <p:ext uri="{BB962C8B-B14F-4D97-AF65-F5344CB8AC3E}">
        <p14:creationId xmlns:p14="http://schemas.microsoft.com/office/powerpoint/2010/main" val="3198708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p:cNvSpPr>
            <a:spLocks noGrp="1"/>
          </p:cNvSpPr>
          <p:nvPr>
            <p:ph type="ftr" sz="quarter" idx="11"/>
          </p:nvPr>
        </p:nvSpPr>
        <p:spPr>
          <a:xfrm rot="5400000">
            <a:off x="-1371600" y="2002536"/>
            <a:ext cx="3086100" cy="365125"/>
          </a:xfrm>
        </p:spPr>
        <p:txBody>
          <a:bodyPr vert="horz" lIns="91440" tIns="45720" rIns="91440" bIns="45720" rtlCol="0" anchor="ctr">
            <a:normAutofit/>
          </a:bodyPr>
          <a:lstStyle/>
          <a:p>
            <a:pPr algn="l"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pic>
        <p:nvPicPr>
          <p:cNvPr id="5" name="H14bBuluwB8"/>
          <p:cNvPicPr>
            <a:picLocks noGrp="1" noRot="1" noChangeAspect="1"/>
          </p:cNvPicPr>
          <p:nvPr>
            <p:ph idx="1"/>
            <a:videoFile r:link="rId1"/>
          </p:nvPr>
        </p:nvPicPr>
        <p:blipFill>
          <a:blip r:embed="rId3"/>
          <a:stretch>
            <a:fillRect/>
          </a:stretch>
        </p:blipFill>
        <p:spPr>
          <a:xfrm>
            <a:off x="609600" y="457200"/>
            <a:ext cx="7924800" cy="5943600"/>
          </a:xfrm>
          <a:prstGeom prst="rect">
            <a:avLst/>
          </a:prstGeom>
        </p:spPr>
      </p:pic>
    </p:spTree>
    <p:extLst>
      <p:ext uri="{BB962C8B-B14F-4D97-AF65-F5344CB8AC3E}">
        <p14:creationId xmlns:p14="http://schemas.microsoft.com/office/powerpoint/2010/main" val="1289503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14F560-3B9A-438C-83B1-6E3F72FA0877}">
  <ds:schemaRefs>
    <ds:schemaRef ds:uri="http://schemas.microsoft.com/sharepoint/v3/contenttype/forms"/>
  </ds:schemaRefs>
</ds:datastoreItem>
</file>

<file path=customXml/itemProps2.xml><?xml version="1.0" encoding="utf-8"?>
<ds:datastoreItem xmlns:ds="http://schemas.openxmlformats.org/officeDocument/2006/customXml" ds:itemID="{0F9FC689-0397-489D-B6C4-918490A97925}">
  <ds:schemaRefs>
    <ds:schemaRef ds:uri="http://schemas.openxmlformats.org/package/2006/metadata/core-properties"/>
    <ds:schemaRef ds:uri="6ebc9d44-dfc5-41fa-9646-f594d8bccd35"/>
    <ds:schemaRef ds:uri="http://purl.org/dc/dcmitype/"/>
    <ds:schemaRef ds:uri="http://schemas.microsoft.com/office/2006/metadata/properties"/>
    <ds:schemaRef ds:uri="http://purl.org/dc/elements/1.1/"/>
    <ds:schemaRef ds:uri="098d3ce3-1732-4665-af2b-0c47aa6f0599"/>
    <ds:schemaRef ds:uri="http://purl.org/dc/terms/"/>
    <ds:schemaRef ds:uri="http://www.w3.org/XML/1998/namespac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3824</TotalTime>
  <Words>2010</Words>
  <Application>Microsoft Office PowerPoint</Application>
  <PresentationFormat>On-screen Show (4:3)</PresentationFormat>
  <Paragraphs>219</Paragraphs>
  <Slides>35</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Chapter 6</vt:lpstr>
      <vt:lpstr>PowerPoint Presentation</vt:lpstr>
      <vt:lpstr>Nature vs Nurture and Talent/Giftedness</vt:lpstr>
      <vt:lpstr>Why is it important to study talent and giftedness?</vt:lpstr>
      <vt:lpstr>Identifying Talent &amp; Giftedness</vt:lpstr>
      <vt:lpstr>PowerPoint Presentation</vt:lpstr>
      <vt:lpstr>Three Different Views on the Nature and Nurture of Talent &amp; Giftedness</vt:lpstr>
      <vt:lpstr>Andres Valencia </vt:lpstr>
      <vt:lpstr>The Development of Talent/Giftedness…Consider this</vt:lpstr>
      <vt:lpstr>Heritability of Extreme Intelligence</vt:lpstr>
      <vt:lpstr>Biological Predictors of Athletic Giftedness</vt:lpstr>
      <vt:lpstr>Relative Age Effect</vt:lpstr>
      <vt:lpstr>Deliberate Practice  (Ericsson et al., 1993)</vt:lpstr>
      <vt:lpstr>Deliberate Practice: Factors that Facilitate Improved Performance</vt:lpstr>
      <vt:lpstr>Important Study:  Ericsson et al., 1993</vt:lpstr>
      <vt:lpstr>Findings from Ericsson et al. (1993)</vt:lpstr>
      <vt:lpstr>Hours Practiced by Age 18</vt:lpstr>
      <vt:lpstr>10,000 hours claim</vt:lpstr>
      <vt:lpstr>Are these differences really about deliberate practice?</vt:lpstr>
      <vt:lpstr>A note about practice…</vt:lpstr>
      <vt:lpstr>Deliberate Practice</vt:lpstr>
      <vt:lpstr>4 Principles of Deliberate Practice</vt:lpstr>
      <vt:lpstr>Things to help keep motivated to engage in deliberate practice</vt:lpstr>
      <vt:lpstr>Journal Entry #14:  Deliberate Practice</vt:lpstr>
      <vt:lpstr>Longitudinal Study: Mathematically Precocious Youth (SMPY) </vt:lpstr>
      <vt:lpstr>SMPY Enrollment Criteria</vt:lpstr>
      <vt:lpstr>Major Findings of SMPY</vt:lpstr>
      <vt:lpstr>The Excellence Gap</vt:lpstr>
      <vt:lpstr>Initiatives to Address Excellence Gap </vt:lpstr>
      <vt:lpstr>Passion</vt:lpstr>
      <vt:lpstr>Passion</vt:lpstr>
      <vt:lpstr>Passion</vt:lpstr>
      <vt:lpstr>PowerPoint Presentation</vt:lpstr>
      <vt:lpstr>Grit (Angela Duckworth)</vt:lpstr>
      <vt:lpstr>PowerPoint Presentation</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54</cp:revision>
  <dcterms:created xsi:type="dcterms:W3CDTF">2021-07-26T18:02:28Z</dcterms:created>
  <dcterms:modified xsi:type="dcterms:W3CDTF">2025-05-25T20:40:31Z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