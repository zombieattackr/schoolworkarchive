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5" r:id="rId5"/>
    <p:sldId id="296" r:id="rId6"/>
    <p:sldId id="320" r:id="rId7"/>
    <p:sldId id="294" r:id="rId8"/>
    <p:sldId id="314" r:id="rId9"/>
    <p:sldId id="306" r:id="rId10"/>
    <p:sldId id="259" r:id="rId11"/>
    <p:sldId id="317" r:id="rId12"/>
    <p:sldId id="313" r:id="rId13"/>
    <p:sldId id="318" r:id="rId14"/>
    <p:sldId id="319" r:id="rId15"/>
    <p:sldId id="310" r:id="rId16"/>
    <p:sldId id="31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79" autoAdjust="0"/>
  </p:normalViewPr>
  <p:slideViewPr>
    <p:cSldViewPr snapToGrid="0">
      <p:cViewPr varScale="1">
        <p:scale>
          <a:sx n="46" d="100"/>
          <a:sy n="46" d="100"/>
        </p:scale>
        <p:origin x="91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3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352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2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anchor="b">
            <a:noAutofit/>
          </a:bodyPr>
          <a:lstStyle>
            <a:lvl1pPr algn="ctr"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sz="18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5" name="Picture 14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dlxk4RFCYM" TargetMode="External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vdlxk4RFCYM?feature=oembed" TargetMode="Externa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idfC3cQq6t8?feature=oembe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Positive Psychology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260E8-21BF-1371-4767-5E86248A7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156" y="433878"/>
            <a:ext cx="3749040" cy="13258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Baskerville Old Face" panose="02020602080505020303" pitchFamily="18" charset="77"/>
                <a:cs typeface="Calibri Light"/>
              </a:rPr>
              <a:t>Everyday Positivity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Positivity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584160" y="3807892"/>
            <a:ext cx="1243661" cy="790090"/>
          </a:xfrm>
          <a:prstGeom prst="rect">
            <a:avLst/>
          </a:prstGeom>
        </p:spPr>
      </p:pic>
      <p:pic>
        <p:nvPicPr>
          <p:cNvPr id="1929" name="Picture 1928" descr="Floral leaf accent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684" y="3979120"/>
            <a:ext cx="1791038" cy="20336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57156" y="2049526"/>
            <a:ext cx="3749040" cy="430682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Meaning, Purpose</a:t>
            </a:r>
            <a:br>
              <a:rPr lang="en-US" sz="2800" dirty="0"/>
            </a:br>
            <a:r>
              <a:rPr lang="en-US" sz="2800" dirty="0"/>
              <a:t>Cultivate Attitude of Gratitude</a:t>
            </a:r>
            <a:br>
              <a:rPr lang="en-US" sz="2800" dirty="0"/>
            </a:br>
            <a:r>
              <a:rPr lang="en-US" sz="2800" dirty="0"/>
              <a:t>Mindfulness Meditation</a:t>
            </a:r>
            <a:br>
              <a:rPr lang="en-US" sz="2800" dirty="0"/>
            </a:br>
            <a:r>
              <a:rPr lang="en-US" sz="2800" dirty="0"/>
              <a:t>Altruism</a:t>
            </a:r>
            <a:br>
              <a:rPr lang="en-US" sz="2800" dirty="0"/>
            </a:br>
            <a:r>
              <a:rPr lang="en-US" sz="2800" dirty="0"/>
              <a:t>Exercise</a:t>
            </a:r>
            <a:br>
              <a:rPr lang="en-US" sz="2800" dirty="0"/>
            </a:br>
            <a:r>
              <a:rPr lang="en-US" sz="2800" dirty="0"/>
              <a:t>Eat Healthy</a:t>
            </a:r>
            <a:br>
              <a:rPr lang="en-US" sz="2800" dirty="0"/>
            </a:br>
            <a:r>
              <a:rPr lang="en-US" sz="2800" dirty="0"/>
              <a:t>Cognitive Reframing</a:t>
            </a:r>
            <a:br>
              <a:rPr lang="en-US" sz="2800" dirty="0"/>
            </a:br>
            <a:r>
              <a:rPr lang="en-US" sz="2800" dirty="0"/>
              <a:t>Learn a New Skill</a:t>
            </a:r>
            <a:br>
              <a:rPr lang="en-US" sz="2800" dirty="0"/>
            </a:br>
            <a:r>
              <a:rPr lang="en-US" sz="2800" dirty="0"/>
              <a:t>Surround Yourself with</a:t>
            </a:r>
            <a:br>
              <a:rPr lang="en-US" sz="2800" dirty="0"/>
            </a:br>
            <a:r>
              <a:rPr lang="en-US" sz="2800" dirty="0"/>
              <a:t> Loving, Kind People</a:t>
            </a:r>
            <a:endParaRPr lang="en-US" sz="2800" dirty="0">
              <a:solidFill>
                <a:schemeClr val="accent3"/>
              </a:solidFill>
              <a:latin typeface="Gill Sans Nova Light" panose="020B0302020104020203" pitchFamily="34" charset="0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7406-5839-A735-732D-5690E631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2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156" y="433878"/>
            <a:ext cx="3749040" cy="13258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Baskerville Old Face" panose="02020602080505020303" pitchFamily="18" charset="77"/>
                <a:cs typeface="Calibri Light"/>
              </a:rPr>
              <a:t>Everyday Positivity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Positivity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584160" y="3807892"/>
            <a:ext cx="1243661" cy="790090"/>
          </a:xfrm>
          <a:prstGeom prst="rect">
            <a:avLst/>
          </a:prstGeom>
        </p:spPr>
      </p:pic>
      <p:pic>
        <p:nvPicPr>
          <p:cNvPr id="1929" name="Picture 1928" descr="Floral leaf accent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684" y="3979120"/>
            <a:ext cx="1791038" cy="20336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6244" y="2049526"/>
            <a:ext cx="4394052" cy="430682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Challen</a:t>
            </a:r>
            <a:r>
              <a:rPr lang="en-US" sz="2800" dirty="0">
                <a:latin typeface="Gill Sans Nova Light" panose="020B0302020104020203" pitchFamily="34" charset="0"/>
                <a:cs typeface="Calibri"/>
              </a:rPr>
              <a:t>ge your negative thoughts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Focus on your strengths and your successes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Start your day with a mindfulness meditation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800" dirty="0">
                <a:latin typeface="Gill Sans Nova Light" panose="020B0302020104020203" pitchFamily="34" charset="0"/>
                <a:cs typeface="Calibri"/>
              </a:rPr>
              <a:t>See challenges rather than obstacles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US" sz="2800" dirty="0">
              <a:solidFill>
                <a:schemeClr val="accent3"/>
              </a:solidFill>
              <a:latin typeface="Gill Sans Nova Light" panose="020B0302020104020203" pitchFamily="34" charset="0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7406-5839-A735-732D-5690E631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93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A80863-7DDD-E33E-7C2A-C806622CE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1CABBF9A-AC19-48D9-D218-D09928CE1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0394" y="3301247"/>
            <a:ext cx="1250823" cy="7946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market scenarios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Develop winning strategies to keep ahead of the competition</a:t>
            </a:r>
          </a:p>
          <a:p>
            <a:r>
              <a:rPr lang="en-US" dirty="0"/>
              <a:t>Capitalize </a:t>
            </a:r>
            <a:r>
              <a:rPr lang="en-US"/>
              <a:t>on low-hanging </a:t>
            </a:r>
            <a:r>
              <a:rPr lang="en-US" dirty="0"/>
              <a:t>fruit to identify a ballpark value</a:t>
            </a:r>
          </a:p>
          <a:p>
            <a:r>
              <a:rPr lang="en-US" dirty="0"/>
              <a:t>Visualize customer directed convergence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018B6D-E395-49AD-92AD-AD69E3AB4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Cloud-based opportunities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Iterative approaches to corporate strategy</a:t>
            </a:r>
          </a:p>
          <a:p>
            <a:r>
              <a:rPr lang="en-US" dirty="0"/>
              <a:t>Establish a management framework from the inside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6CE65B-C283-8A90-DF86-161AC356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FEDDE84F-33A7-1FC6-0912-6F42974F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9101DDB-094B-E766-EDB9-BE6EB9CB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A009A57D-81B1-BC9B-BDC8-453DEC1207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5149997" y="850303"/>
            <a:ext cx="6801211" cy="5083902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298561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E564-4283-8AE2-ADD2-7B3FFCFA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yourself: Who can I make smile today?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7ED29-D9DA-9DC6-8B43-80EC2A2E5B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FA000-38C2-F344-E543-424833904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Thich </a:t>
            </a:r>
            <a:r>
              <a:rPr lang="en-US" dirty="0" err="1"/>
              <a:t>Nhat</a:t>
            </a:r>
            <a:r>
              <a:rPr lang="en-US" dirty="0"/>
              <a:t> Hanh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634FAD-36DD-9FB0-7030-266A29178C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398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2655-34DF-25F9-4640-B2CE5329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Gratitude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5715-2793-160B-269E-D9516C84D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715768"/>
            <a:ext cx="7744968" cy="2697480"/>
          </a:xfrm>
        </p:spPr>
        <p:txBody>
          <a:bodyPr>
            <a:normAutofit/>
          </a:bodyPr>
          <a:lstStyle/>
          <a:p>
            <a:r>
              <a:rPr lang="en-US" sz="3200" dirty="0"/>
              <a:t>Write a Gratitude Letter</a:t>
            </a:r>
          </a:p>
          <a:p>
            <a:r>
              <a:rPr lang="en-US" sz="3200" dirty="0"/>
              <a:t>Share a thank you card with a sweet treat</a:t>
            </a:r>
          </a:p>
          <a:p>
            <a:r>
              <a:rPr lang="en-US" sz="3200" dirty="0"/>
              <a:t>Keep a gratitude journal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09A75-5E9A-C165-5A1D-764F9E96B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8060B-6C9E-CFFF-55DE-F0D645C09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9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68" y="4070108"/>
            <a:ext cx="9884664" cy="731520"/>
          </a:xfrm>
        </p:spPr>
        <p:txBody>
          <a:bodyPr/>
          <a:lstStyle/>
          <a:p>
            <a:r>
              <a:rPr lang="en-US" dirty="0"/>
              <a:t>Wonder and Awe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E189-36C9-69A3-B9AE-EB3867847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https://www.youtube.com/watch?v=vdlxk4RFCYM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60D4F-1A96-CAA1-A1C9-B7E27B3A73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8647D-051C-590F-5B0C-07C05BCE8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Online Media 5" title="Wonder and Awe | Louie Schwartzberg | TEDxLA">
            <a:hlinkClick r:id="" action="ppaction://media"/>
            <a:extLst>
              <a:ext uri="{FF2B5EF4-FFF2-40B4-BE49-F238E27FC236}">
                <a16:creationId xmlns:a16="http://schemas.microsoft.com/office/drawing/2014/main" id="{A40D6D89-FA7E-8EF2-FCA5-98F2ACC6ED2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18499" y="226631"/>
            <a:ext cx="11445411" cy="646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1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4D5B-3E14-1349-3E16-232AA74E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  <a:ea typeface="Baskerville" panose="02020502070401020303" pitchFamily="18" charset="0"/>
              </a:rPr>
              <a:t>Mindfulness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8CE0E-745C-A7EE-B0DE-4912A73B0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Baskerville Old Face" panose="02020602080505020303" pitchFamily="18" charset="77"/>
                <a:cs typeface="+mn-lt"/>
              </a:rPr>
              <a:t>Daily Mindfulness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6DC79-3EA6-7325-3D0B-C041B85014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Bring mindfulness to everything that you do in your 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645B0-0A7B-7091-C8D6-E7D27FA25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005455"/>
            <a:ext cx="3200400" cy="740012"/>
          </a:xfrm>
        </p:spPr>
        <p:txBody>
          <a:bodyPr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77"/>
                <a:ea typeface="Baskerville" panose="02020502070401020303" pitchFamily="18" charset="0"/>
              </a:rPr>
              <a:t>Mindfulness Meditation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B8494-23AF-BB4F-382C-D2B07675E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969231"/>
            <a:ext cx="3200400" cy="298074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Insighttimer.com</a:t>
            </a:r>
          </a:p>
          <a:p>
            <a:r>
              <a:rPr lang="en-US" sz="2000" dirty="0"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Breath awareness, belly breathing, body scan, </a:t>
            </a:r>
            <a:r>
              <a:rPr lang="en-US" sz="2000" dirty="0" err="1"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gatha</a:t>
            </a:r>
            <a:r>
              <a:rPr lang="en-US" sz="2000" dirty="0"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 meditation, loving-kindness meditation</a:t>
            </a:r>
            <a:endParaRPr lang="en-US" sz="20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CC0C3B-96FD-06F4-C3EC-9165854415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3"/>
                </a:solidFill>
                <a:latin typeface="Baskerville Old Face" panose="02020602080505020303" pitchFamily="18" charset="77"/>
                <a:ea typeface="Baskerville" panose="02020502070401020303" pitchFamily="18" charset="0"/>
              </a:rPr>
              <a:t>Benefits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E802B29-40B6-000C-8EDD-903910D08A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Improved sleep</a:t>
            </a:r>
          </a:p>
          <a:p>
            <a:r>
              <a:rPr lang="en-US" sz="2000" dirty="0">
                <a:latin typeface="Gill Sans Nova Light" panose="020B0302020104020203" pitchFamily="34" charset="0"/>
                <a:cs typeface="Gill Sans Light" panose="020B0302020104020203" pitchFamily="34" charset="-79"/>
              </a:rPr>
              <a:t>Attention and concentration</a:t>
            </a:r>
          </a:p>
          <a:p>
            <a:r>
              <a:rPr lang="en-US" sz="20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Lowers stress and anxiety</a:t>
            </a:r>
          </a:p>
          <a:p>
            <a:r>
              <a:rPr lang="en-US" sz="2000" dirty="0">
                <a:latin typeface="Gill Sans Nova Light" panose="020B0302020104020203" pitchFamily="34" charset="0"/>
                <a:cs typeface="Gill Sans Light" panose="020B0302020104020203" pitchFamily="34" charset="-79"/>
              </a:rPr>
              <a:t>Helps with depression </a:t>
            </a:r>
          </a:p>
          <a:p>
            <a:r>
              <a:rPr lang="en-US" sz="20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Impacts performance at work</a:t>
            </a:r>
          </a:p>
          <a:p>
            <a:r>
              <a:rPr lang="en-US" sz="20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Affects relationship quality</a:t>
            </a:r>
          </a:p>
          <a:p>
            <a:pPr marL="0" indent="0">
              <a:buNone/>
            </a:pPr>
            <a:endParaRPr lang="en-US" sz="16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D875C8-4D19-8AF8-6F98-F151E309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30094C-EC6A-E6F3-2E57-202E962A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121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68" y="4070108"/>
            <a:ext cx="9884664" cy="731520"/>
          </a:xfrm>
        </p:spPr>
        <p:txBody>
          <a:bodyPr/>
          <a:lstStyle/>
          <a:p>
            <a:r>
              <a:rPr lang="en-US" dirty="0"/>
              <a:t>Positive Emotions</a:t>
            </a:r>
          </a:p>
        </p:txBody>
      </p:sp>
    </p:spTree>
    <p:extLst>
      <p:ext uri="{BB962C8B-B14F-4D97-AF65-F5344CB8AC3E}">
        <p14:creationId xmlns:p14="http://schemas.microsoft.com/office/powerpoint/2010/main" val="3994871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nline Media 5" title="4-year-old Has Heartfelt Bedtime Conversation with His Mom">
            <a:hlinkClick r:id="" action="ppaction://media"/>
            <a:extLst>
              <a:ext uri="{FF2B5EF4-FFF2-40B4-BE49-F238E27FC236}">
                <a16:creationId xmlns:a16="http://schemas.microsoft.com/office/drawing/2014/main" id="{C278E0C5-02AE-A223-C153-23E9C74C1D9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86088" y="136525"/>
            <a:ext cx="8419824" cy="63142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7A76E-5AAE-9EA5-0C97-FB17F5C1B0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1DF29-436D-53B0-98E3-1EA462E8E2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41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4157-869F-9BBE-CFCF-717129CA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Summary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C05D-560D-1665-8879-549C0B4ED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accent3"/>
                </a:solidFill>
                <a:cs typeface="Calibri"/>
              </a:rPr>
              <a:t>Positive psychology is </a:t>
            </a:r>
            <a:r>
              <a:rPr lang="en-US" sz="3200" dirty="0"/>
              <a:t>the scientific study of what makes people thrive. It focuses on behaviors that can lead to a more optimized frame of mind as well as on thought patterns that lead to more functional behaviors. </a:t>
            </a:r>
            <a:endParaRPr lang="en-US" sz="3200" dirty="0">
              <a:solidFill>
                <a:schemeClr val="accent3"/>
              </a:solidFill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088D1-E89A-FD55-EB44-4941177453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26A48-6EF8-D4D0-2C6E-1F96935EA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00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B5DC-8C2B-5750-6E12-9A35C0FF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F5CF3F-E5EF-5769-3F83-24ADB4412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27339-C0C0-BA17-75FA-361346B06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17" y="1831261"/>
            <a:ext cx="4972521" cy="319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5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-Flourish_Win32_CP_v8" id="{BCFB3359-BC8B-4F4E-99DD-822A55018E7C}" vid="{7DF7CEC2-9D9A-40F6-95E4-E2F6E93D64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{3A6C8FF1-7767-43E4-8BA9-D8D1FB3269D6}tf56410444_win32</Template>
  <TotalTime>120</TotalTime>
  <Words>294</Words>
  <Application>Microsoft Office PowerPoint</Application>
  <PresentationFormat>Widescreen</PresentationFormat>
  <Paragraphs>69</Paragraphs>
  <Slides>13</Slides>
  <Notes>4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Baskerville</vt:lpstr>
      <vt:lpstr>Baskerville Old Face</vt:lpstr>
      <vt:lpstr>Calibri</vt:lpstr>
      <vt:lpstr>Gill Sans Light</vt:lpstr>
      <vt:lpstr>Gill Sans Nova</vt:lpstr>
      <vt:lpstr>Gill Sans Nova Light</vt:lpstr>
      <vt:lpstr>Office Theme</vt:lpstr>
      <vt:lpstr>Positive Psychology</vt:lpstr>
      <vt:lpstr>Everyday Positivity</vt:lpstr>
      <vt:lpstr>Everyday Positivity</vt:lpstr>
      <vt:lpstr>PowerPoint Presentation</vt:lpstr>
      <vt:lpstr>Ask yourself: Who can I make smile today?</vt:lpstr>
      <vt:lpstr>Gratitude</vt:lpstr>
      <vt:lpstr>Wonder and Awe</vt:lpstr>
      <vt:lpstr>PowerPoint Presentation</vt:lpstr>
      <vt:lpstr>Mindfulness</vt:lpstr>
      <vt:lpstr>Positive Emotions</vt:lpstr>
      <vt:lpstr>PowerPoint Presentation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Positive Psychology</dc:title>
  <dc:creator>Traver, Holly</dc:creator>
  <cp:lastModifiedBy>Traver, Holly</cp:lastModifiedBy>
  <cp:revision>2</cp:revision>
  <dcterms:created xsi:type="dcterms:W3CDTF">2023-04-21T15:58:26Z</dcterms:created>
  <dcterms:modified xsi:type="dcterms:W3CDTF">2024-04-03T22:59:52Z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