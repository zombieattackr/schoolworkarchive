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38"/>
  </p:notesMasterIdLst>
  <p:handoutMasterIdLst>
    <p:handoutMasterId r:id="rId39"/>
  </p:handoutMasterIdLst>
  <p:sldIdLst>
    <p:sldId id="259" r:id="rId5"/>
    <p:sldId id="356" r:id="rId6"/>
    <p:sldId id="390" r:id="rId7"/>
    <p:sldId id="357" r:id="rId8"/>
    <p:sldId id="380" r:id="rId9"/>
    <p:sldId id="358" r:id="rId10"/>
    <p:sldId id="372" r:id="rId11"/>
    <p:sldId id="373" r:id="rId12"/>
    <p:sldId id="387" r:id="rId13"/>
    <p:sldId id="374" r:id="rId14"/>
    <p:sldId id="381" r:id="rId15"/>
    <p:sldId id="371" r:id="rId16"/>
    <p:sldId id="359" r:id="rId17"/>
    <p:sldId id="382" r:id="rId18"/>
    <p:sldId id="389" r:id="rId19"/>
    <p:sldId id="362" r:id="rId20"/>
    <p:sldId id="393" r:id="rId21"/>
    <p:sldId id="383" r:id="rId22"/>
    <p:sldId id="364" r:id="rId23"/>
    <p:sldId id="384" r:id="rId24"/>
    <p:sldId id="394" r:id="rId25"/>
    <p:sldId id="395" r:id="rId26"/>
    <p:sldId id="391" r:id="rId27"/>
    <p:sldId id="392" r:id="rId28"/>
    <p:sldId id="360" r:id="rId29"/>
    <p:sldId id="385" r:id="rId30"/>
    <p:sldId id="361" r:id="rId31"/>
    <p:sldId id="365" r:id="rId32"/>
    <p:sldId id="368" r:id="rId33"/>
    <p:sldId id="369" r:id="rId34"/>
    <p:sldId id="388" r:id="rId35"/>
    <p:sldId id="377" r:id="rId36"/>
    <p:sldId id="370"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15888C-6A2D-4436-A0C4-8B6396B0DA49}" v="1" dt="2022-07-26T14:31:15.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5374" autoAdjust="0"/>
  </p:normalViewPr>
  <p:slideViewPr>
    <p:cSldViewPr snapToGrid="0">
      <p:cViewPr varScale="1">
        <p:scale>
          <a:sx n="42" d="100"/>
          <a:sy n="42" d="100"/>
        </p:scale>
        <p:origin x="1471"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B81330-9836-4C65-8478-DCC684C5522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C2D3227-86C0-4960-B333-AF484F7A6C98}">
      <dgm:prSet/>
      <dgm:spPr/>
      <dgm:t>
        <a:bodyPr/>
        <a:lstStyle/>
        <a:p>
          <a:r>
            <a:rPr lang="en-US"/>
            <a:t>Knowing what predicts successful aging might help us prepare now for later years. </a:t>
          </a:r>
        </a:p>
      </dgm:t>
    </dgm:pt>
    <dgm:pt modelId="{2C72A138-F850-4E9F-9DF5-2EB606A305D4}" type="parTrans" cxnId="{5C22B4E0-D9E0-4B35-A904-405BCAA02781}">
      <dgm:prSet/>
      <dgm:spPr/>
      <dgm:t>
        <a:bodyPr/>
        <a:lstStyle/>
        <a:p>
          <a:endParaRPr lang="en-US"/>
        </a:p>
      </dgm:t>
    </dgm:pt>
    <dgm:pt modelId="{C41E4CDC-3CE4-4D74-894D-CC738548A77E}" type="sibTrans" cxnId="{5C22B4E0-D9E0-4B35-A904-405BCAA02781}">
      <dgm:prSet/>
      <dgm:spPr/>
      <dgm:t>
        <a:bodyPr/>
        <a:lstStyle/>
        <a:p>
          <a:endParaRPr lang="en-US"/>
        </a:p>
      </dgm:t>
    </dgm:pt>
    <dgm:pt modelId="{4404919D-AC12-40AC-8AE7-339444E046CD}">
      <dgm:prSet/>
      <dgm:spPr/>
      <dgm:t>
        <a:bodyPr/>
        <a:lstStyle/>
        <a:p>
          <a:r>
            <a:rPr lang="en-US"/>
            <a:t>The world is getting older. </a:t>
          </a:r>
        </a:p>
      </dgm:t>
    </dgm:pt>
    <dgm:pt modelId="{67351FAB-ACA5-4359-ACFF-A22A546BA69F}" type="parTrans" cxnId="{F335D567-D767-442A-9B6E-BD1587617E29}">
      <dgm:prSet/>
      <dgm:spPr/>
      <dgm:t>
        <a:bodyPr/>
        <a:lstStyle/>
        <a:p>
          <a:endParaRPr lang="en-US"/>
        </a:p>
      </dgm:t>
    </dgm:pt>
    <dgm:pt modelId="{EF8E5AF1-8A01-4D43-9C06-CF1F40D7E936}" type="sibTrans" cxnId="{F335D567-D767-442A-9B6E-BD1587617E29}">
      <dgm:prSet/>
      <dgm:spPr/>
      <dgm:t>
        <a:bodyPr/>
        <a:lstStyle/>
        <a:p>
          <a:endParaRPr lang="en-US"/>
        </a:p>
      </dgm:t>
    </dgm:pt>
    <dgm:pt modelId="{E4F2DC44-E803-4CB0-B536-8BEEE683E04D}">
      <dgm:prSet/>
      <dgm:spPr/>
      <dgm:t>
        <a:bodyPr/>
        <a:lstStyle/>
        <a:p>
          <a:r>
            <a:rPr lang="en-US"/>
            <a:t>Longer lifespans</a:t>
          </a:r>
        </a:p>
      </dgm:t>
    </dgm:pt>
    <dgm:pt modelId="{9D5983D5-8F41-4244-A02C-E5A0675EFCEF}" type="parTrans" cxnId="{18167B4A-1C8D-42F7-B343-415CF6183ED1}">
      <dgm:prSet/>
      <dgm:spPr/>
      <dgm:t>
        <a:bodyPr/>
        <a:lstStyle/>
        <a:p>
          <a:endParaRPr lang="en-US"/>
        </a:p>
      </dgm:t>
    </dgm:pt>
    <dgm:pt modelId="{EE031CB4-0D8F-4E32-B28E-74C0B484C177}" type="sibTrans" cxnId="{18167B4A-1C8D-42F7-B343-415CF6183ED1}">
      <dgm:prSet/>
      <dgm:spPr/>
      <dgm:t>
        <a:bodyPr/>
        <a:lstStyle/>
        <a:p>
          <a:endParaRPr lang="en-US"/>
        </a:p>
      </dgm:t>
    </dgm:pt>
    <dgm:pt modelId="{8DFC0CC3-BD9E-4C6A-A998-7D1A859E7229}">
      <dgm:prSet/>
      <dgm:spPr/>
      <dgm:t>
        <a:bodyPr/>
        <a:lstStyle/>
        <a:p>
          <a:r>
            <a:rPr lang="en-US"/>
            <a:t>Lower birth rate</a:t>
          </a:r>
        </a:p>
      </dgm:t>
    </dgm:pt>
    <dgm:pt modelId="{94D5D288-28DF-446B-BF8A-CC285AC989AD}" type="parTrans" cxnId="{2187087A-7B96-40C7-A79E-E34F4076BE60}">
      <dgm:prSet/>
      <dgm:spPr/>
      <dgm:t>
        <a:bodyPr/>
        <a:lstStyle/>
        <a:p>
          <a:endParaRPr lang="en-US"/>
        </a:p>
      </dgm:t>
    </dgm:pt>
    <dgm:pt modelId="{42C0B117-1504-4100-832E-FCE210681D0B}" type="sibTrans" cxnId="{2187087A-7B96-40C7-A79E-E34F4076BE60}">
      <dgm:prSet/>
      <dgm:spPr/>
      <dgm:t>
        <a:bodyPr/>
        <a:lstStyle/>
        <a:p>
          <a:endParaRPr lang="en-US"/>
        </a:p>
      </dgm:t>
    </dgm:pt>
    <dgm:pt modelId="{F2A91B0F-F3DC-4516-B002-57A3F57943F1}">
      <dgm:prSet/>
      <dgm:spPr/>
      <dgm:t>
        <a:bodyPr/>
        <a:lstStyle/>
        <a:p>
          <a:r>
            <a:rPr lang="en-US"/>
            <a:t>Negative stereotypes about aging can interfere with interactions with older adults</a:t>
          </a:r>
        </a:p>
      </dgm:t>
    </dgm:pt>
    <dgm:pt modelId="{0B57D8DF-9007-4EE1-B239-40D2A49ADF74}" type="parTrans" cxnId="{80880FAC-5B81-4618-A4F9-14B1A7860BD5}">
      <dgm:prSet/>
      <dgm:spPr/>
      <dgm:t>
        <a:bodyPr/>
        <a:lstStyle/>
        <a:p>
          <a:endParaRPr lang="en-US"/>
        </a:p>
      </dgm:t>
    </dgm:pt>
    <dgm:pt modelId="{D914F9FD-F458-4858-9EEE-ACFAD17D2674}" type="sibTrans" cxnId="{80880FAC-5B81-4618-A4F9-14B1A7860BD5}">
      <dgm:prSet/>
      <dgm:spPr/>
      <dgm:t>
        <a:bodyPr/>
        <a:lstStyle/>
        <a:p>
          <a:endParaRPr lang="en-US"/>
        </a:p>
      </dgm:t>
    </dgm:pt>
    <dgm:pt modelId="{52B35989-FB13-48BC-BA8A-FC2165D95A59}">
      <dgm:prSet/>
      <dgm:spPr/>
      <dgm:t>
        <a:bodyPr/>
        <a:lstStyle/>
        <a:p>
          <a:r>
            <a:rPr lang="en-US"/>
            <a:t>Personally</a:t>
          </a:r>
        </a:p>
      </dgm:t>
    </dgm:pt>
    <dgm:pt modelId="{76BE3510-253B-4CE1-AA4D-2AD0F5C3272C}" type="parTrans" cxnId="{255DE309-AEA0-4F07-9A85-05ACD0C22488}">
      <dgm:prSet/>
      <dgm:spPr/>
      <dgm:t>
        <a:bodyPr/>
        <a:lstStyle/>
        <a:p>
          <a:endParaRPr lang="en-US"/>
        </a:p>
      </dgm:t>
    </dgm:pt>
    <dgm:pt modelId="{C4147700-18A8-4A56-8A6B-F6C03EA25892}" type="sibTrans" cxnId="{255DE309-AEA0-4F07-9A85-05ACD0C22488}">
      <dgm:prSet/>
      <dgm:spPr/>
      <dgm:t>
        <a:bodyPr/>
        <a:lstStyle/>
        <a:p>
          <a:endParaRPr lang="en-US"/>
        </a:p>
      </dgm:t>
    </dgm:pt>
    <dgm:pt modelId="{FE7B6C63-5232-45FA-904C-5CA9210CE97C}">
      <dgm:prSet/>
      <dgm:spPr/>
      <dgm:t>
        <a:bodyPr/>
        <a:lstStyle/>
        <a:p>
          <a:r>
            <a:rPr lang="en-US"/>
            <a:t>Professionally</a:t>
          </a:r>
        </a:p>
      </dgm:t>
    </dgm:pt>
    <dgm:pt modelId="{5DAB4CF9-3B7B-4DFC-898F-36FDA9F40FF7}" type="parTrans" cxnId="{F7F65D2E-9336-464F-A86E-56C905AFCD5F}">
      <dgm:prSet/>
      <dgm:spPr/>
      <dgm:t>
        <a:bodyPr/>
        <a:lstStyle/>
        <a:p>
          <a:endParaRPr lang="en-US"/>
        </a:p>
      </dgm:t>
    </dgm:pt>
    <dgm:pt modelId="{9A246B2E-CC78-436E-AF82-1EEDBEA01600}" type="sibTrans" cxnId="{F7F65D2E-9336-464F-A86E-56C905AFCD5F}">
      <dgm:prSet/>
      <dgm:spPr/>
      <dgm:t>
        <a:bodyPr/>
        <a:lstStyle/>
        <a:p>
          <a:endParaRPr lang="en-US"/>
        </a:p>
      </dgm:t>
    </dgm:pt>
    <dgm:pt modelId="{9FC63F95-87AD-4808-969E-DF5B5D6FF950}" type="pres">
      <dgm:prSet presAssocID="{E6B81330-9836-4C65-8478-DCC684C55223}" presName="linear" presStyleCnt="0">
        <dgm:presLayoutVars>
          <dgm:animLvl val="lvl"/>
          <dgm:resizeHandles val="exact"/>
        </dgm:presLayoutVars>
      </dgm:prSet>
      <dgm:spPr/>
    </dgm:pt>
    <dgm:pt modelId="{BF55B8D7-2AD2-459D-A80F-94D9CD76099A}" type="pres">
      <dgm:prSet presAssocID="{3C2D3227-86C0-4960-B333-AF484F7A6C98}" presName="parentText" presStyleLbl="node1" presStyleIdx="0" presStyleCnt="3">
        <dgm:presLayoutVars>
          <dgm:chMax val="0"/>
          <dgm:bulletEnabled val="1"/>
        </dgm:presLayoutVars>
      </dgm:prSet>
      <dgm:spPr/>
    </dgm:pt>
    <dgm:pt modelId="{CBC099E9-05C7-4A40-86F9-1B719381F3A4}" type="pres">
      <dgm:prSet presAssocID="{C41E4CDC-3CE4-4D74-894D-CC738548A77E}" presName="spacer" presStyleCnt="0"/>
      <dgm:spPr/>
    </dgm:pt>
    <dgm:pt modelId="{D94C8B7B-8D92-43C5-B231-3E9C9C91EDCA}" type="pres">
      <dgm:prSet presAssocID="{4404919D-AC12-40AC-8AE7-339444E046CD}" presName="parentText" presStyleLbl="node1" presStyleIdx="1" presStyleCnt="3">
        <dgm:presLayoutVars>
          <dgm:chMax val="0"/>
          <dgm:bulletEnabled val="1"/>
        </dgm:presLayoutVars>
      </dgm:prSet>
      <dgm:spPr/>
    </dgm:pt>
    <dgm:pt modelId="{E5B57D9B-93EE-467F-A2CC-D7FD60D81700}" type="pres">
      <dgm:prSet presAssocID="{4404919D-AC12-40AC-8AE7-339444E046CD}" presName="childText" presStyleLbl="revTx" presStyleIdx="0" presStyleCnt="2">
        <dgm:presLayoutVars>
          <dgm:bulletEnabled val="1"/>
        </dgm:presLayoutVars>
      </dgm:prSet>
      <dgm:spPr/>
    </dgm:pt>
    <dgm:pt modelId="{77D126D6-D22E-4148-B5DF-98AD11BD9493}" type="pres">
      <dgm:prSet presAssocID="{F2A91B0F-F3DC-4516-B002-57A3F57943F1}" presName="parentText" presStyleLbl="node1" presStyleIdx="2" presStyleCnt="3">
        <dgm:presLayoutVars>
          <dgm:chMax val="0"/>
          <dgm:bulletEnabled val="1"/>
        </dgm:presLayoutVars>
      </dgm:prSet>
      <dgm:spPr/>
    </dgm:pt>
    <dgm:pt modelId="{65179655-31EA-4A1E-B18F-53088D650C21}" type="pres">
      <dgm:prSet presAssocID="{F2A91B0F-F3DC-4516-B002-57A3F57943F1}" presName="childText" presStyleLbl="revTx" presStyleIdx="1" presStyleCnt="2">
        <dgm:presLayoutVars>
          <dgm:bulletEnabled val="1"/>
        </dgm:presLayoutVars>
      </dgm:prSet>
      <dgm:spPr/>
    </dgm:pt>
  </dgm:ptLst>
  <dgm:cxnLst>
    <dgm:cxn modelId="{255DE309-AEA0-4F07-9A85-05ACD0C22488}" srcId="{F2A91B0F-F3DC-4516-B002-57A3F57943F1}" destId="{52B35989-FB13-48BC-BA8A-FC2165D95A59}" srcOrd="0" destOrd="0" parTransId="{76BE3510-253B-4CE1-AA4D-2AD0F5C3272C}" sibTransId="{C4147700-18A8-4A56-8A6B-F6C03EA25892}"/>
    <dgm:cxn modelId="{F7F65D2E-9336-464F-A86E-56C905AFCD5F}" srcId="{F2A91B0F-F3DC-4516-B002-57A3F57943F1}" destId="{FE7B6C63-5232-45FA-904C-5CA9210CE97C}" srcOrd="1" destOrd="0" parTransId="{5DAB4CF9-3B7B-4DFC-898F-36FDA9F40FF7}" sibTransId="{9A246B2E-CC78-436E-AF82-1EEDBEA01600}"/>
    <dgm:cxn modelId="{94ABD83A-A19A-4346-836F-76D6EB9325B2}" type="presOf" srcId="{4404919D-AC12-40AC-8AE7-339444E046CD}" destId="{D94C8B7B-8D92-43C5-B231-3E9C9C91EDCA}" srcOrd="0" destOrd="0" presId="urn:microsoft.com/office/officeart/2005/8/layout/vList2"/>
    <dgm:cxn modelId="{A92E2B43-EC95-4824-BA26-9EDDCC248297}" type="presOf" srcId="{8DFC0CC3-BD9E-4C6A-A998-7D1A859E7229}" destId="{E5B57D9B-93EE-467F-A2CC-D7FD60D81700}" srcOrd="0" destOrd="1" presId="urn:microsoft.com/office/officeart/2005/8/layout/vList2"/>
    <dgm:cxn modelId="{F335D567-D767-442A-9B6E-BD1587617E29}" srcId="{E6B81330-9836-4C65-8478-DCC684C55223}" destId="{4404919D-AC12-40AC-8AE7-339444E046CD}" srcOrd="1" destOrd="0" parTransId="{67351FAB-ACA5-4359-ACFF-A22A546BA69F}" sibTransId="{EF8E5AF1-8A01-4D43-9C06-CF1F40D7E936}"/>
    <dgm:cxn modelId="{18167B4A-1C8D-42F7-B343-415CF6183ED1}" srcId="{4404919D-AC12-40AC-8AE7-339444E046CD}" destId="{E4F2DC44-E803-4CB0-B536-8BEEE683E04D}" srcOrd="0" destOrd="0" parTransId="{9D5983D5-8F41-4244-A02C-E5A0675EFCEF}" sibTransId="{EE031CB4-0D8F-4E32-B28E-74C0B484C177}"/>
    <dgm:cxn modelId="{DB345F52-BBE6-4D72-8061-EBCE1FF0BF88}" type="presOf" srcId="{FE7B6C63-5232-45FA-904C-5CA9210CE97C}" destId="{65179655-31EA-4A1E-B18F-53088D650C21}" srcOrd="0" destOrd="1" presId="urn:microsoft.com/office/officeart/2005/8/layout/vList2"/>
    <dgm:cxn modelId="{84E5DD76-9FCD-4DB0-8F6B-C6A0DF447598}" type="presOf" srcId="{E6B81330-9836-4C65-8478-DCC684C55223}" destId="{9FC63F95-87AD-4808-969E-DF5B5D6FF950}" srcOrd="0" destOrd="0" presId="urn:microsoft.com/office/officeart/2005/8/layout/vList2"/>
    <dgm:cxn modelId="{2187087A-7B96-40C7-A79E-E34F4076BE60}" srcId="{4404919D-AC12-40AC-8AE7-339444E046CD}" destId="{8DFC0CC3-BD9E-4C6A-A998-7D1A859E7229}" srcOrd="1" destOrd="0" parTransId="{94D5D288-28DF-446B-BF8A-CC285AC989AD}" sibTransId="{42C0B117-1504-4100-832E-FCE210681D0B}"/>
    <dgm:cxn modelId="{14CE877B-6ABF-4C75-A50F-3979FE8189AE}" type="presOf" srcId="{3C2D3227-86C0-4960-B333-AF484F7A6C98}" destId="{BF55B8D7-2AD2-459D-A80F-94D9CD76099A}" srcOrd="0" destOrd="0" presId="urn:microsoft.com/office/officeart/2005/8/layout/vList2"/>
    <dgm:cxn modelId="{741A7FA6-029F-482F-B351-834E3DC38B84}" type="presOf" srcId="{F2A91B0F-F3DC-4516-B002-57A3F57943F1}" destId="{77D126D6-D22E-4148-B5DF-98AD11BD9493}" srcOrd="0" destOrd="0" presId="urn:microsoft.com/office/officeart/2005/8/layout/vList2"/>
    <dgm:cxn modelId="{80880FAC-5B81-4618-A4F9-14B1A7860BD5}" srcId="{E6B81330-9836-4C65-8478-DCC684C55223}" destId="{F2A91B0F-F3DC-4516-B002-57A3F57943F1}" srcOrd="2" destOrd="0" parTransId="{0B57D8DF-9007-4EE1-B239-40D2A49ADF74}" sibTransId="{D914F9FD-F458-4858-9EEE-ACFAD17D2674}"/>
    <dgm:cxn modelId="{CB30E6BE-E1F9-41C0-93A9-36BA51EB512F}" type="presOf" srcId="{52B35989-FB13-48BC-BA8A-FC2165D95A59}" destId="{65179655-31EA-4A1E-B18F-53088D650C21}" srcOrd="0" destOrd="0" presId="urn:microsoft.com/office/officeart/2005/8/layout/vList2"/>
    <dgm:cxn modelId="{940B33D1-6695-4AF7-B16E-8A2F8929B4A9}" type="presOf" srcId="{E4F2DC44-E803-4CB0-B536-8BEEE683E04D}" destId="{E5B57D9B-93EE-467F-A2CC-D7FD60D81700}" srcOrd="0" destOrd="0" presId="urn:microsoft.com/office/officeart/2005/8/layout/vList2"/>
    <dgm:cxn modelId="{5C22B4E0-D9E0-4B35-A904-405BCAA02781}" srcId="{E6B81330-9836-4C65-8478-DCC684C55223}" destId="{3C2D3227-86C0-4960-B333-AF484F7A6C98}" srcOrd="0" destOrd="0" parTransId="{2C72A138-F850-4E9F-9DF5-2EB606A305D4}" sibTransId="{C41E4CDC-3CE4-4D74-894D-CC738548A77E}"/>
    <dgm:cxn modelId="{3E800C27-AC4C-49D7-A29A-E7AD8B500984}" type="presParOf" srcId="{9FC63F95-87AD-4808-969E-DF5B5D6FF950}" destId="{BF55B8D7-2AD2-459D-A80F-94D9CD76099A}" srcOrd="0" destOrd="0" presId="urn:microsoft.com/office/officeart/2005/8/layout/vList2"/>
    <dgm:cxn modelId="{F1FBF29D-F04D-42F7-8619-AA6CF8F550BA}" type="presParOf" srcId="{9FC63F95-87AD-4808-969E-DF5B5D6FF950}" destId="{CBC099E9-05C7-4A40-86F9-1B719381F3A4}" srcOrd="1" destOrd="0" presId="urn:microsoft.com/office/officeart/2005/8/layout/vList2"/>
    <dgm:cxn modelId="{AA0D5CCD-A934-48DD-8D26-1D630110AA17}" type="presParOf" srcId="{9FC63F95-87AD-4808-969E-DF5B5D6FF950}" destId="{D94C8B7B-8D92-43C5-B231-3E9C9C91EDCA}" srcOrd="2" destOrd="0" presId="urn:microsoft.com/office/officeart/2005/8/layout/vList2"/>
    <dgm:cxn modelId="{86B24864-B8A6-4C18-BCE2-16CAE128E7B6}" type="presParOf" srcId="{9FC63F95-87AD-4808-969E-DF5B5D6FF950}" destId="{E5B57D9B-93EE-467F-A2CC-D7FD60D81700}" srcOrd="3" destOrd="0" presId="urn:microsoft.com/office/officeart/2005/8/layout/vList2"/>
    <dgm:cxn modelId="{EE8E254D-E1A6-4793-A783-DB44847B2C11}" type="presParOf" srcId="{9FC63F95-87AD-4808-969E-DF5B5D6FF950}" destId="{77D126D6-D22E-4148-B5DF-98AD11BD9493}" srcOrd="4" destOrd="0" presId="urn:microsoft.com/office/officeart/2005/8/layout/vList2"/>
    <dgm:cxn modelId="{DC0C055E-AA49-45AE-8B0C-09EA6A89CF8E}" type="presParOf" srcId="{9FC63F95-87AD-4808-969E-DF5B5D6FF950}" destId="{65179655-31EA-4A1E-B18F-53088D650C2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9C79B8-09CA-4DE2-9C01-CD3993776066}" type="doc">
      <dgm:prSet loTypeId="urn:microsoft.com/office/officeart/2005/8/layout/hList1" loCatId="list" qsTypeId="urn:microsoft.com/office/officeart/2005/8/quickstyle/simple1" qsCatId="simple" csTypeId="urn:microsoft.com/office/officeart/2005/8/colors/accent4_2" csCatId="accent4"/>
      <dgm:spPr/>
      <dgm:t>
        <a:bodyPr/>
        <a:lstStyle/>
        <a:p>
          <a:endParaRPr lang="en-US"/>
        </a:p>
      </dgm:t>
    </dgm:pt>
    <dgm:pt modelId="{9D16D828-27E7-4EB5-BB7B-E54806E40E95}">
      <dgm:prSet/>
      <dgm:spPr/>
      <dgm:t>
        <a:bodyPr/>
        <a:lstStyle/>
        <a:p>
          <a:r>
            <a:rPr lang="en-US"/>
            <a:t>The Macarthur Study</a:t>
          </a:r>
        </a:p>
      </dgm:t>
    </dgm:pt>
    <dgm:pt modelId="{643D8D97-16BD-4D70-8C40-497C353130C9}" type="parTrans" cxnId="{89FDD394-2CE7-4A95-B726-A2189CE7FA78}">
      <dgm:prSet/>
      <dgm:spPr/>
      <dgm:t>
        <a:bodyPr/>
        <a:lstStyle/>
        <a:p>
          <a:endParaRPr lang="en-US"/>
        </a:p>
      </dgm:t>
    </dgm:pt>
    <dgm:pt modelId="{A7FA0782-036F-42E2-8FC6-0C2F85DCC400}" type="sibTrans" cxnId="{89FDD394-2CE7-4A95-B726-A2189CE7FA78}">
      <dgm:prSet/>
      <dgm:spPr/>
      <dgm:t>
        <a:bodyPr/>
        <a:lstStyle/>
        <a:p>
          <a:endParaRPr lang="en-US"/>
        </a:p>
      </dgm:t>
    </dgm:pt>
    <dgm:pt modelId="{E4424224-FAC3-4391-A0D0-F796BEE3DD3D}">
      <dgm:prSet/>
      <dgm:spPr/>
      <dgm:t>
        <a:bodyPr/>
        <a:lstStyle/>
        <a:p>
          <a:r>
            <a:rPr lang="en-US"/>
            <a:t>Introduced successful aging as a concept</a:t>
          </a:r>
        </a:p>
      </dgm:t>
    </dgm:pt>
    <dgm:pt modelId="{8A889524-A352-4D4C-8232-EAE8635A8292}" type="parTrans" cxnId="{079BA82D-EB05-4D91-8E25-4EDD2312B5E3}">
      <dgm:prSet/>
      <dgm:spPr/>
      <dgm:t>
        <a:bodyPr/>
        <a:lstStyle/>
        <a:p>
          <a:endParaRPr lang="en-US"/>
        </a:p>
      </dgm:t>
    </dgm:pt>
    <dgm:pt modelId="{3D2C2029-46A0-4128-9E99-D971D7FE42B0}" type="sibTrans" cxnId="{079BA82D-EB05-4D91-8E25-4EDD2312B5E3}">
      <dgm:prSet/>
      <dgm:spPr/>
      <dgm:t>
        <a:bodyPr/>
        <a:lstStyle/>
        <a:p>
          <a:endParaRPr lang="en-US"/>
        </a:p>
      </dgm:t>
    </dgm:pt>
    <dgm:pt modelId="{FB9ED6DD-B91C-4339-B1E2-1D7A1C2CB9EE}">
      <dgm:prSet/>
      <dgm:spPr/>
      <dgm:t>
        <a:bodyPr/>
        <a:lstStyle/>
        <a:p>
          <a:r>
            <a:rPr lang="en-US"/>
            <a:t>Interdisciplinary team</a:t>
          </a:r>
        </a:p>
      </dgm:t>
    </dgm:pt>
    <dgm:pt modelId="{39227B08-A205-4445-B1B5-E52D4776D278}" type="parTrans" cxnId="{0A39F0E8-B9BA-46EE-9B9F-C3FD49C68CD1}">
      <dgm:prSet/>
      <dgm:spPr/>
      <dgm:t>
        <a:bodyPr/>
        <a:lstStyle/>
        <a:p>
          <a:endParaRPr lang="en-US"/>
        </a:p>
      </dgm:t>
    </dgm:pt>
    <dgm:pt modelId="{5E277AC7-C65B-43F0-89F6-F48C452D3CDC}" type="sibTrans" cxnId="{0A39F0E8-B9BA-46EE-9B9F-C3FD49C68CD1}">
      <dgm:prSet/>
      <dgm:spPr/>
      <dgm:t>
        <a:bodyPr/>
        <a:lstStyle/>
        <a:p>
          <a:endParaRPr lang="en-US"/>
        </a:p>
      </dgm:t>
    </dgm:pt>
    <dgm:pt modelId="{FAE0F84A-3D35-414F-B051-6D3D13AB54D3}">
      <dgm:prSet/>
      <dgm:spPr/>
      <dgm:t>
        <a:bodyPr/>
        <a:lstStyle/>
        <a:p>
          <a:r>
            <a:rPr lang="en-US"/>
            <a:t>The Harvard Study of Adult Development</a:t>
          </a:r>
        </a:p>
      </dgm:t>
    </dgm:pt>
    <dgm:pt modelId="{514179D2-883D-45BB-ADDC-5B88346E0CAA}" type="parTrans" cxnId="{0083BEA4-AD6D-493D-A885-A9ECE1EF14D0}">
      <dgm:prSet/>
      <dgm:spPr/>
      <dgm:t>
        <a:bodyPr/>
        <a:lstStyle/>
        <a:p>
          <a:endParaRPr lang="en-US"/>
        </a:p>
      </dgm:t>
    </dgm:pt>
    <dgm:pt modelId="{1F5A1688-4B2C-49A6-9CE3-2A9DADEE8B7B}" type="sibTrans" cxnId="{0083BEA4-AD6D-493D-A885-A9ECE1EF14D0}">
      <dgm:prSet/>
      <dgm:spPr/>
      <dgm:t>
        <a:bodyPr/>
        <a:lstStyle/>
        <a:p>
          <a:endParaRPr lang="en-US"/>
        </a:p>
      </dgm:t>
    </dgm:pt>
    <dgm:pt modelId="{DC26912B-9981-4B4F-A307-8C595E821E47}">
      <dgm:prSet/>
      <dgm:spPr/>
      <dgm:t>
        <a:bodyPr/>
        <a:lstStyle/>
        <a:p>
          <a:r>
            <a:rPr lang="en-US"/>
            <a:t>Following cohorts of White men for nearly 80 years</a:t>
          </a:r>
        </a:p>
      </dgm:t>
    </dgm:pt>
    <dgm:pt modelId="{5143593A-1942-48C2-BB68-7EF1E540FEFF}" type="parTrans" cxnId="{30DFB7A0-4B8A-446F-A842-7B084D14C716}">
      <dgm:prSet/>
      <dgm:spPr/>
      <dgm:t>
        <a:bodyPr/>
        <a:lstStyle/>
        <a:p>
          <a:endParaRPr lang="en-US"/>
        </a:p>
      </dgm:t>
    </dgm:pt>
    <dgm:pt modelId="{84A210D7-6043-48FF-B530-CFFE9D67BCE4}" type="sibTrans" cxnId="{30DFB7A0-4B8A-446F-A842-7B084D14C716}">
      <dgm:prSet/>
      <dgm:spPr/>
      <dgm:t>
        <a:bodyPr/>
        <a:lstStyle/>
        <a:p>
          <a:endParaRPr lang="en-US"/>
        </a:p>
      </dgm:t>
    </dgm:pt>
    <dgm:pt modelId="{6386A64E-E8EA-4D51-8C5A-6B0DBA8BA278}">
      <dgm:prSet/>
      <dgm:spPr/>
      <dgm:t>
        <a:bodyPr/>
        <a:lstStyle/>
        <a:p>
          <a:r>
            <a:rPr lang="en-US"/>
            <a:t>Multimodal dataset (questionnaires every 2 yrs, physical health info every 5 yrs)</a:t>
          </a:r>
        </a:p>
      </dgm:t>
    </dgm:pt>
    <dgm:pt modelId="{66158330-9F09-46B0-8D37-C9C213DB48D1}" type="parTrans" cxnId="{F1C90DB9-1047-4319-AE8F-1C2219CACEFC}">
      <dgm:prSet/>
      <dgm:spPr/>
      <dgm:t>
        <a:bodyPr/>
        <a:lstStyle/>
        <a:p>
          <a:endParaRPr lang="en-US"/>
        </a:p>
      </dgm:t>
    </dgm:pt>
    <dgm:pt modelId="{C06F78D5-F833-4819-974A-0FAF6313F0EE}" type="sibTrans" cxnId="{F1C90DB9-1047-4319-AE8F-1C2219CACEFC}">
      <dgm:prSet/>
      <dgm:spPr/>
      <dgm:t>
        <a:bodyPr/>
        <a:lstStyle/>
        <a:p>
          <a:endParaRPr lang="en-US"/>
        </a:p>
      </dgm:t>
    </dgm:pt>
    <dgm:pt modelId="{7B2AB1C8-CB97-4C4E-B9CB-D6054DEA3A1B}">
      <dgm:prSet/>
      <dgm:spPr/>
      <dgm:t>
        <a:bodyPr/>
        <a:lstStyle/>
        <a:p>
          <a:r>
            <a:rPr lang="en-US"/>
            <a:t>The Alameda County Study</a:t>
          </a:r>
        </a:p>
      </dgm:t>
    </dgm:pt>
    <dgm:pt modelId="{0CA2EB61-5577-4740-B3FD-B6B22D1AED65}" type="parTrans" cxnId="{95808A49-6EC7-416E-B334-DAF86017B77A}">
      <dgm:prSet/>
      <dgm:spPr/>
      <dgm:t>
        <a:bodyPr/>
        <a:lstStyle/>
        <a:p>
          <a:endParaRPr lang="en-US"/>
        </a:p>
      </dgm:t>
    </dgm:pt>
    <dgm:pt modelId="{75CBE1E0-87E7-48F1-8A2B-A42A7C1094DE}" type="sibTrans" cxnId="{95808A49-6EC7-416E-B334-DAF86017B77A}">
      <dgm:prSet/>
      <dgm:spPr/>
      <dgm:t>
        <a:bodyPr/>
        <a:lstStyle/>
        <a:p>
          <a:endParaRPr lang="en-US"/>
        </a:p>
      </dgm:t>
    </dgm:pt>
    <dgm:pt modelId="{F7D74225-8F7B-4109-9F37-8518BF5C72E0}">
      <dgm:prSet/>
      <dgm:spPr/>
      <dgm:t>
        <a:bodyPr/>
        <a:lstStyle/>
        <a:p>
          <a:r>
            <a:rPr lang="en-US"/>
            <a:t>Demographically diverse</a:t>
          </a:r>
        </a:p>
      </dgm:t>
    </dgm:pt>
    <dgm:pt modelId="{91A5BE32-D75E-4674-8C7A-98ECF7268DB7}" type="parTrans" cxnId="{8A8A334B-8283-437B-8403-A481524ECADB}">
      <dgm:prSet/>
      <dgm:spPr/>
      <dgm:t>
        <a:bodyPr/>
        <a:lstStyle/>
        <a:p>
          <a:endParaRPr lang="en-US"/>
        </a:p>
      </dgm:t>
    </dgm:pt>
    <dgm:pt modelId="{9071D822-E052-4E8C-A08C-E58BD8D15752}" type="sibTrans" cxnId="{8A8A334B-8283-437B-8403-A481524ECADB}">
      <dgm:prSet/>
      <dgm:spPr/>
      <dgm:t>
        <a:bodyPr/>
        <a:lstStyle/>
        <a:p>
          <a:endParaRPr lang="en-US"/>
        </a:p>
      </dgm:t>
    </dgm:pt>
    <dgm:pt modelId="{82D250CC-8DAE-457E-A346-9AB66F23BA28}">
      <dgm:prSet/>
      <dgm:spPr/>
      <dgm:t>
        <a:bodyPr/>
        <a:lstStyle/>
        <a:p>
          <a:r>
            <a:rPr lang="en-US"/>
            <a:t>Longitudinal starting with participants at age 65</a:t>
          </a:r>
        </a:p>
      </dgm:t>
    </dgm:pt>
    <dgm:pt modelId="{953D36DB-274C-4E24-B1F6-3622C1582D57}" type="parTrans" cxnId="{AF333F2D-940A-4A7E-A9E1-D86AD2CCC696}">
      <dgm:prSet/>
      <dgm:spPr/>
      <dgm:t>
        <a:bodyPr/>
        <a:lstStyle/>
        <a:p>
          <a:endParaRPr lang="en-US"/>
        </a:p>
      </dgm:t>
    </dgm:pt>
    <dgm:pt modelId="{F3F8348F-CA0B-4BD1-AE69-E11B524981F5}" type="sibTrans" cxnId="{AF333F2D-940A-4A7E-A9E1-D86AD2CCC696}">
      <dgm:prSet/>
      <dgm:spPr/>
      <dgm:t>
        <a:bodyPr/>
        <a:lstStyle/>
        <a:p>
          <a:endParaRPr lang="en-US"/>
        </a:p>
      </dgm:t>
    </dgm:pt>
    <dgm:pt modelId="{396665DE-E6C1-44B7-9FF5-FB3C2BD9EF84}" type="pres">
      <dgm:prSet presAssocID="{1E9C79B8-09CA-4DE2-9C01-CD3993776066}" presName="Name0" presStyleCnt="0">
        <dgm:presLayoutVars>
          <dgm:dir/>
          <dgm:animLvl val="lvl"/>
          <dgm:resizeHandles val="exact"/>
        </dgm:presLayoutVars>
      </dgm:prSet>
      <dgm:spPr/>
    </dgm:pt>
    <dgm:pt modelId="{3E060604-4BA7-4B12-8C3E-BF246E0CDB58}" type="pres">
      <dgm:prSet presAssocID="{9D16D828-27E7-4EB5-BB7B-E54806E40E95}" presName="composite" presStyleCnt="0"/>
      <dgm:spPr/>
    </dgm:pt>
    <dgm:pt modelId="{DC64EE16-9A19-4AB5-8A08-0220B0B24506}" type="pres">
      <dgm:prSet presAssocID="{9D16D828-27E7-4EB5-BB7B-E54806E40E95}" presName="parTx" presStyleLbl="alignNode1" presStyleIdx="0" presStyleCnt="3">
        <dgm:presLayoutVars>
          <dgm:chMax val="0"/>
          <dgm:chPref val="0"/>
          <dgm:bulletEnabled val="1"/>
        </dgm:presLayoutVars>
      </dgm:prSet>
      <dgm:spPr/>
    </dgm:pt>
    <dgm:pt modelId="{0D2FCE4D-2482-4AD8-9CDB-35AF5D119BB0}" type="pres">
      <dgm:prSet presAssocID="{9D16D828-27E7-4EB5-BB7B-E54806E40E95}" presName="desTx" presStyleLbl="alignAccFollowNode1" presStyleIdx="0" presStyleCnt="3">
        <dgm:presLayoutVars>
          <dgm:bulletEnabled val="1"/>
        </dgm:presLayoutVars>
      </dgm:prSet>
      <dgm:spPr/>
    </dgm:pt>
    <dgm:pt modelId="{C543B038-77FF-4CCF-A141-722A8F7ECD58}" type="pres">
      <dgm:prSet presAssocID="{A7FA0782-036F-42E2-8FC6-0C2F85DCC400}" presName="space" presStyleCnt="0"/>
      <dgm:spPr/>
    </dgm:pt>
    <dgm:pt modelId="{703091E0-BDA7-47ED-93E1-9DF182E78A8F}" type="pres">
      <dgm:prSet presAssocID="{FAE0F84A-3D35-414F-B051-6D3D13AB54D3}" presName="composite" presStyleCnt="0"/>
      <dgm:spPr/>
    </dgm:pt>
    <dgm:pt modelId="{277E048A-367B-4FC7-9386-C0A609027438}" type="pres">
      <dgm:prSet presAssocID="{FAE0F84A-3D35-414F-B051-6D3D13AB54D3}" presName="parTx" presStyleLbl="alignNode1" presStyleIdx="1" presStyleCnt="3">
        <dgm:presLayoutVars>
          <dgm:chMax val="0"/>
          <dgm:chPref val="0"/>
          <dgm:bulletEnabled val="1"/>
        </dgm:presLayoutVars>
      </dgm:prSet>
      <dgm:spPr/>
    </dgm:pt>
    <dgm:pt modelId="{E0666D7E-39C0-46A4-B228-6C3AAD472FBE}" type="pres">
      <dgm:prSet presAssocID="{FAE0F84A-3D35-414F-B051-6D3D13AB54D3}" presName="desTx" presStyleLbl="alignAccFollowNode1" presStyleIdx="1" presStyleCnt="3">
        <dgm:presLayoutVars>
          <dgm:bulletEnabled val="1"/>
        </dgm:presLayoutVars>
      </dgm:prSet>
      <dgm:spPr/>
    </dgm:pt>
    <dgm:pt modelId="{4FE3A105-D937-4D0C-8C17-BDE46B0FFA0F}" type="pres">
      <dgm:prSet presAssocID="{1F5A1688-4B2C-49A6-9CE3-2A9DADEE8B7B}" presName="space" presStyleCnt="0"/>
      <dgm:spPr/>
    </dgm:pt>
    <dgm:pt modelId="{56E9FB90-0D7E-46E4-A5C6-5595B049780A}" type="pres">
      <dgm:prSet presAssocID="{7B2AB1C8-CB97-4C4E-B9CB-D6054DEA3A1B}" presName="composite" presStyleCnt="0"/>
      <dgm:spPr/>
    </dgm:pt>
    <dgm:pt modelId="{91D40215-42F6-4380-8960-F7F53517E3D4}" type="pres">
      <dgm:prSet presAssocID="{7B2AB1C8-CB97-4C4E-B9CB-D6054DEA3A1B}" presName="parTx" presStyleLbl="alignNode1" presStyleIdx="2" presStyleCnt="3">
        <dgm:presLayoutVars>
          <dgm:chMax val="0"/>
          <dgm:chPref val="0"/>
          <dgm:bulletEnabled val="1"/>
        </dgm:presLayoutVars>
      </dgm:prSet>
      <dgm:spPr/>
    </dgm:pt>
    <dgm:pt modelId="{F04B4D3F-1050-420E-A6AD-0F870832AC2B}" type="pres">
      <dgm:prSet presAssocID="{7B2AB1C8-CB97-4C4E-B9CB-D6054DEA3A1B}" presName="desTx" presStyleLbl="alignAccFollowNode1" presStyleIdx="2" presStyleCnt="3">
        <dgm:presLayoutVars>
          <dgm:bulletEnabled val="1"/>
        </dgm:presLayoutVars>
      </dgm:prSet>
      <dgm:spPr/>
    </dgm:pt>
  </dgm:ptLst>
  <dgm:cxnLst>
    <dgm:cxn modelId="{50406E00-F84F-4DEE-ACDE-5CC119E69DBD}" type="presOf" srcId="{1E9C79B8-09CA-4DE2-9C01-CD3993776066}" destId="{396665DE-E6C1-44B7-9FF5-FB3C2BD9EF84}" srcOrd="0" destOrd="0" presId="urn:microsoft.com/office/officeart/2005/8/layout/hList1"/>
    <dgm:cxn modelId="{2FBD5F1A-0FFD-483C-B5A6-CE2BC1394D4A}" type="presOf" srcId="{FAE0F84A-3D35-414F-B051-6D3D13AB54D3}" destId="{277E048A-367B-4FC7-9386-C0A609027438}" srcOrd="0" destOrd="0" presId="urn:microsoft.com/office/officeart/2005/8/layout/hList1"/>
    <dgm:cxn modelId="{AF333F2D-940A-4A7E-A9E1-D86AD2CCC696}" srcId="{7B2AB1C8-CB97-4C4E-B9CB-D6054DEA3A1B}" destId="{82D250CC-8DAE-457E-A346-9AB66F23BA28}" srcOrd="1" destOrd="0" parTransId="{953D36DB-274C-4E24-B1F6-3622C1582D57}" sibTransId="{F3F8348F-CA0B-4BD1-AE69-E11B524981F5}"/>
    <dgm:cxn modelId="{079BA82D-EB05-4D91-8E25-4EDD2312B5E3}" srcId="{9D16D828-27E7-4EB5-BB7B-E54806E40E95}" destId="{E4424224-FAC3-4391-A0D0-F796BEE3DD3D}" srcOrd="0" destOrd="0" parTransId="{8A889524-A352-4D4C-8232-EAE8635A8292}" sibTransId="{3D2C2029-46A0-4128-9E99-D971D7FE42B0}"/>
    <dgm:cxn modelId="{D5ADE33F-42D5-4316-8402-A8EDA2CAB3A9}" type="presOf" srcId="{6386A64E-E8EA-4D51-8C5A-6B0DBA8BA278}" destId="{E0666D7E-39C0-46A4-B228-6C3AAD472FBE}" srcOrd="0" destOrd="1" presId="urn:microsoft.com/office/officeart/2005/8/layout/hList1"/>
    <dgm:cxn modelId="{95808A49-6EC7-416E-B334-DAF86017B77A}" srcId="{1E9C79B8-09CA-4DE2-9C01-CD3993776066}" destId="{7B2AB1C8-CB97-4C4E-B9CB-D6054DEA3A1B}" srcOrd="2" destOrd="0" parTransId="{0CA2EB61-5577-4740-B3FD-B6B22D1AED65}" sibTransId="{75CBE1E0-87E7-48F1-8A2B-A42A7C1094DE}"/>
    <dgm:cxn modelId="{8A8A334B-8283-437B-8403-A481524ECADB}" srcId="{7B2AB1C8-CB97-4C4E-B9CB-D6054DEA3A1B}" destId="{F7D74225-8F7B-4109-9F37-8518BF5C72E0}" srcOrd="0" destOrd="0" parTransId="{91A5BE32-D75E-4674-8C7A-98ECF7268DB7}" sibTransId="{9071D822-E052-4E8C-A08C-E58BD8D15752}"/>
    <dgm:cxn modelId="{3C91A454-C743-4726-AAA6-F55A7B719D10}" type="presOf" srcId="{DC26912B-9981-4B4F-A307-8C595E821E47}" destId="{E0666D7E-39C0-46A4-B228-6C3AAD472FBE}" srcOrd="0" destOrd="0" presId="urn:microsoft.com/office/officeart/2005/8/layout/hList1"/>
    <dgm:cxn modelId="{F34ED759-3C3A-4334-BCAE-A444508E647D}" type="presOf" srcId="{82D250CC-8DAE-457E-A346-9AB66F23BA28}" destId="{F04B4D3F-1050-420E-A6AD-0F870832AC2B}" srcOrd="0" destOrd="1" presId="urn:microsoft.com/office/officeart/2005/8/layout/hList1"/>
    <dgm:cxn modelId="{89FDD394-2CE7-4A95-B726-A2189CE7FA78}" srcId="{1E9C79B8-09CA-4DE2-9C01-CD3993776066}" destId="{9D16D828-27E7-4EB5-BB7B-E54806E40E95}" srcOrd="0" destOrd="0" parTransId="{643D8D97-16BD-4D70-8C40-497C353130C9}" sibTransId="{A7FA0782-036F-42E2-8FC6-0C2F85DCC400}"/>
    <dgm:cxn modelId="{1CC7BD99-5316-4AEA-AD7B-22107885E0AF}" type="presOf" srcId="{9D16D828-27E7-4EB5-BB7B-E54806E40E95}" destId="{DC64EE16-9A19-4AB5-8A08-0220B0B24506}" srcOrd="0" destOrd="0" presId="urn:microsoft.com/office/officeart/2005/8/layout/hList1"/>
    <dgm:cxn modelId="{F340209A-FE54-45F2-B596-DBFB124F7DF1}" type="presOf" srcId="{7B2AB1C8-CB97-4C4E-B9CB-D6054DEA3A1B}" destId="{91D40215-42F6-4380-8960-F7F53517E3D4}" srcOrd="0" destOrd="0" presId="urn:microsoft.com/office/officeart/2005/8/layout/hList1"/>
    <dgm:cxn modelId="{30DFB7A0-4B8A-446F-A842-7B084D14C716}" srcId="{FAE0F84A-3D35-414F-B051-6D3D13AB54D3}" destId="{DC26912B-9981-4B4F-A307-8C595E821E47}" srcOrd="0" destOrd="0" parTransId="{5143593A-1942-48C2-BB68-7EF1E540FEFF}" sibTransId="{84A210D7-6043-48FF-B530-CFFE9D67BCE4}"/>
    <dgm:cxn modelId="{0083BEA4-AD6D-493D-A885-A9ECE1EF14D0}" srcId="{1E9C79B8-09CA-4DE2-9C01-CD3993776066}" destId="{FAE0F84A-3D35-414F-B051-6D3D13AB54D3}" srcOrd="1" destOrd="0" parTransId="{514179D2-883D-45BB-ADDC-5B88346E0CAA}" sibTransId="{1F5A1688-4B2C-49A6-9CE3-2A9DADEE8B7B}"/>
    <dgm:cxn modelId="{74841CAD-4842-4E39-9577-C176EE367043}" type="presOf" srcId="{F7D74225-8F7B-4109-9F37-8518BF5C72E0}" destId="{F04B4D3F-1050-420E-A6AD-0F870832AC2B}" srcOrd="0" destOrd="0" presId="urn:microsoft.com/office/officeart/2005/8/layout/hList1"/>
    <dgm:cxn modelId="{F1C90DB9-1047-4319-AE8F-1C2219CACEFC}" srcId="{FAE0F84A-3D35-414F-B051-6D3D13AB54D3}" destId="{6386A64E-E8EA-4D51-8C5A-6B0DBA8BA278}" srcOrd="1" destOrd="0" parTransId="{66158330-9F09-46B0-8D37-C9C213DB48D1}" sibTransId="{C06F78D5-F833-4819-974A-0FAF6313F0EE}"/>
    <dgm:cxn modelId="{9028EAC6-0330-4117-9E64-9F7572F3179F}" type="presOf" srcId="{FB9ED6DD-B91C-4339-B1E2-1D7A1C2CB9EE}" destId="{0D2FCE4D-2482-4AD8-9CDB-35AF5D119BB0}" srcOrd="0" destOrd="1" presId="urn:microsoft.com/office/officeart/2005/8/layout/hList1"/>
    <dgm:cxn modelId="{5E35C9CF-6794-4F7B-8867-F2B3195A5D2B}" type="presOf" srcId="{E4424224-FAC3-4391-A0D0-F796BEE3DD3D}" destId="{0D2FCE4D-2482-4AD8-9CDB-35AF5D119BB0}" srcOrd="0" destOrd="0" presId="urn:microsoft.com/office/officeart/2005/8/layout/hList1"/>
    <dgm:cxn modelId="{0A39F0E8-B9BA-46EE-9B9F-C3FD49C68CD1}" srcId="{9D16D828-27E7-4EB5-BB7B-E54806E40E95}" destId="{FB9ED6DD-B91C-4339-B1E2-1D7A1C2CB9EE}" srcOrd="1" destOrd="0" parTransId="{39227B08-A205-4445-B1B5-E52D4776D278}" sibTransId="{5E277AC7-C65B-43F0-89F6-F48C452D3CDC}"/>
    <dgm:cxn modelId="{7BC6B331-0689-4AE8-A4FA-A8F4B83E113F}" type="presParOf" srcId="{396665DE-E6C1-44B7-9FF5-FB3C2BD9EF84}" destId="{3E060604-4BA7-4B12-8C3E-BF246E0CDB58}" srcOrd="0" destOrd="0" presId="urn:microsoft.com/office/officeart/2005/8/layout/hList1"/>
    <dgm:cxn modelId="{76BEA628-7A7D-4B20-A2AD-D0DE3248F5EC}" type="presParOf" srcId="{3E060604-4BA7-4B12-8C3E-BF246E0CDB58}" destId="{DC64EE16-9A19-4AB5-8A08-0220B0B24506}" srcOrd="0" destOrd="0" presId="urn:microsoft.com/office/officeart/2005/8/layout/hList1"/>
    <dgm:cxn modelId="{48EB3C5A-A9B3-4591-888F-DD818D97AEE1}" type="presParOf" srcId="{3E060604-4BA7-4B12-8C3E-BF246E0CDB58}" destId="{0D2FCE4D-2482-4AD8-9CDB-35AF5D119BB0}" srcOrd="1" destOrd="0" presId="urn:microsoft.com/office/officeart/2005/8/layout/hList1"/>
    <dgm:cxn modelId="{AB663269-2C07-41BC-A090-EC919A23DEB4}" type="presParOf" srcId="{396665DE-E6C1-44B7-9FF5-FB3C2BD9EF84}" destId="{C543B038-77FF-4CCF-A141-722A8F7ECD58}" srcOrd="1" destOrd="0" presId="urn:microsoft.com/office/officeart/2005/8/layout/hList1"/>
    <dgm:cxn modelId="{7018E508-0400-446C-ABF6-2637EE24CE10}" type="presParOf" srcId="{396665DE-E6C1-44B7-9FF5-FB3C2BD9EF84}" destId="{703091E0-BDA7-47ED-93E1-9DF182E78A8F}" srcOrd="2" destOrd="0" presId="urn:microsoft.com/office/officeart/2005/8/layout/hList1"/>
    <dgm:cxn modelId="{D9239F83-DBFC-4D94-B030-4631BF7D4A07}" type="presParOf" srcId="{703091E0-BDA7-47ED-93E1-9DF182E78A8F}" destId="{277E048A-367B-4FC7-9386-C0A609027438}" srcOrd="0" destOrd="0" presId="urn:microsoft.com/office/officeart/2005/8/layout/hList1"/>
    <dgm:cxn modelId="{4A352E98-E360-40D2-A1C2-516A9495E952}" type="presParOf" srcId="{703091E0-BDA7-47ED-93E1-9DF182E78A8F}" destId="{E0666D7E-39C0-46A4-B228-6C3AAD472FBE}" srcOrd="1" destOrd="0" presId="urn:microsoft.com/office/officeart/2005/8/layout/hList1"/>
    <dgm:cxn modelId="{CCEA9BF0-89B4-4068-8D30-36A4B4812DC1}" type="presParOf" srcId="{396665DE-E6C1-44B7-9FF5-FB3C2BD9EF84}" destId="{4FE3A105-D937-4D0C-8C17-BDE46B0FFA0F}" srcOrd="3" destOrd="0" presId="urn:microsoft.com/office/officeart/2005/8/layout/hList1"/>
    <dgm:cxn modelId="{5BC96D30-D416-48AC-B237-7EA1009E5B33}" type="presParOf" srcId="{396665DE-E6C1-44B7-9FF5-FB3C2BD9EF84}" destId="{56E9FB90-0D7E-46E4-A5C6-5595B049780A}" srcOrd="4" destOrd="0" presId="urn:microsoft.com/office/officeart/2005/8/layout/hList1"/>
    <dgm:cxn modelId="{4B6D5FD7-9D81-4592-A351-C811FB310180}" type="presParOf" srcId="{56E9FB90-0D7E-46E4-A5C6-5595B049780A}" destId="{91D40215-42F6-4380-8960-F7F53517E3D4}" srcOrd="0" destOrd="0" presId="urn:microsoft.com/office/officeart/2005/8/layout/hList1"/>
    <dgm:cxn modelId="{0997E0AD-7E3F-4EAB-B35F-28110C02BF3C}" type="presParOf" srcId="{56E9FB90-0D7E-46E4-A5C6-5595B049780A}" destId="{F04B4D3F-1050-420E-A6AD-0F870832AC2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E5CF91-09E7-4393-87E2-6314DEA1CC6F}"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8A5FA54D-9831-4C0B-8309-6A7CCAAA6751}">
      <dgm:prSet/>
      <dgm:spPr/>
      <dgm:t>
        <a:bodyPr/>
        <a:lstStyle/>
        <a:p>
          <a:r>
            <a:rPr lang="en-US"/>
            <a:t>Focusing on the right goals at the right time</a:t>
          </a:r>
        </a:p>
      </dgm:t>
    </dgm:pt>
    <dgm:pt modelId="{90CF72D9-2219-4991-87A5-756DEB56EEC5}" type="parTrans" cxnId="{011BF9EA-BF79-412C-887E-3AA7961E330A}">
      <dgm:prSet/>
      <dgm:spPr/>
      <dgm:t>
        <a:bodyPr/>
        <a:lstStyle/>
        <a:p>
          <a:endParaRPr lang="en-US"/>
        </a:p>
      </dgm:t>
    </dgm:pt>
    <dgm:pt modelId="{407E9A97-8FF4-483F-8EB2-B2F3973F9881}" type="sibTrans" cxnId="{011BF9EA-BF79-412C-887E-3AA7961E330A}">
      <dgm:prSet/>
      <dgm:spPr/>
      <dgm:t>
        <a:bodyPr/>
        <a:lstStyle/>
        <a:p>
          <a:endParaRPr lang="en-US"/>
        </a:p>
      </dgm:t>
    </dgm:pt>
    <dgm:pt modelId="{A595B470-66D8-4ABC-9710-F45375886481}">
      <dgm:prSet/>
      <dgm:spPr/>
      <dgm:t>
        <a:bodyPr/>
        <a:lstStyle/>
        <a:p>
          <a:r>
            <a:rPr lang="en-US"/>
            <a:t>As people age, goals tend to focus more on stability, maintenance, and regulation of emotions</a:t>
          </a:r>
        </a:p>
      </dgm:t>
    </dgm:pt>
    <dgm:pt modelId="{F3AE93FE-5CB8-4C14-BCE7-322F07FF96D1}" type="parTrans" cxnId="{E12CE4AB-BCFC-420E-8972-BB12CB8818AF}">
      <dgm:prSet/>
      <dgm:spPr/>
      <dgm:t>
        <a:bodyPr/>
        <a:lstStyle/>
        <a:p>
          <a:endParaRPr lang="en-US"/>
        </a:p>
      </dgm:t>
    </dgm:pt>
    <dgm:pt modelId="{C1C35A86-C4BB-4E67-AB96-35B63007535D}" type="sibTrans" cxnId="{E12CE4AB-BCFC-420E-8972-BB12CB8818AF}">
      <dgm:prSet/>
      <dgm:spPr/>
      <dgm:t>
        <a:bodyPr/>
        <a:lstStyle/>
        <a:p>
          <a:endParaRPr lang="en-US"/>
        </a:p>
      </dgm:t>
    </dgm:pt>
    <dgm:pt modelId="{46EAC6F2-07B4-4655-8ADE-AFE4505AF7CA}">
      <dgm:prSet/>
      <dgm:spPr/>
      <dgm:t>
        <a:bodyPr/>
        <a:lstStyle/>
        <a:p>
          <a:r>
            <a:rPr lang="en-US"/>
            <a:t>Developmentally appropriate goals matched to perceptions of how much time one has left</a:t>
          </a:r>
        </a:p>
      </dgm:t>
    </dgm:pt>
    <dgm:pt modelId="{CB23363B-B9FB-4EC0-BC9A-65F6458327F4}" type="parTrans" cxnId="{D186D081-D2A9-4228-AE0A-B23BEC9D8DBB}">
      <dgm:prSet/>
      <dgm:spPr/>
      <dgm:t>
        <a:bodyPr/>
        <a:lstStyle/>
        <a:p>
          <a:endParaRPr lang="en-US"/>
        </a:p>
      </dgm:t>
    </dgm:pt>
    <dgm:pt modelId="{451A3994-3255-4394-8B1B-97A5BC2FBF85}" type="sibTrans" cxnId="{D186D081-D2A9-4228-AE0A-B23BEC9D8DBB}">
      <dgm:prSet/>
      <dgm:spPr/>
      <dgm:t>
        <a:bodyPr/>
        <a:lstStyle/>
        <a:p>
          <a:endParaRPr lang="en-US"/>
        </a:p>
      </dgm:t>
    </dgm:pt>
    <dgm:pt modelId="{46004DF7-C9DF-4DBC-AF49-401D2325A214}">
      <dgm:prSet/>
      <dgm:spPr/>
      <dgm:t>
        <a:bodyPr/>
        <a:lstStyle/>
        <a:p>
          <a:r>
            <a:rPr lang="en-US"/>
            <a:t>Older adults tend to evidence positivity effect</a:t>
          </a:r>
        </a:p>
      </dgm:t>
    </dgm:pt>
    <dgm:pt modelId="{C3702763-9A14-41A7-9773-2FE675445344}" type="parTrans" cxnId="{901ADBCC-69FD-4FB4-BA7A-26BBBBFE9E4C}">
      <dgm:prSet/>
      <dgm:spPr/>
      <dgm:t>
        <a:bodyPr/>
        <a:lstStyle/>
        <a:p>
          <a:endParaRPr lang="en-US"/>
        </a:p>
      </dgm:t>
    </dgm:pt>
    <dgm:pt modelId="{C837C656-EA6B-4C46-A661-923C3AF1BCF6}" type="sibTrans" cxnId="{901ADBCC-69FD-4FB4-BA7A-26BBBBFE9E4C}">
      <dgm:prSet/>
      <dgm:spPr/>
      <dgm:t>
        <a:bodyPr/>
        <a:lstStyle/>
        <a:p>
          <a:endParaRPr lang="en-US"/>
        </a:p>
      </dgm:t>
    </dgm:pt>
    <dgm:pt modelId="{88C90F8E-8952-4FE8-8EBC-6919D723811A}">
      <dgm:prSet/>
      <dgm:spPr/>
      <dgm:t>
        <a:bodyPr/>
        <a:lstStyle/>
        <a:p>
          <a:r>
            <a:rPr lang="en-US"/>
            <a:t>Enhanced processing of positive emotional stimuli compared to negative emotional stimuli</a:t>
          </a:r>
        </a:p>
      </dgm:t>
    </dgm:pt>
    <dgm:pt modelId="{78599940-CE85-4CEF-8E3D-07BD60163424}" type="parTrans" cxnId="{DABF3024-B0AF-46F2-B005-2D4E8E8F8B12}">
      <dgm:prSet/>
      <dgm:spPr/>
      <dgm:t>
        <a:bodyPr/>
        <a:lstStyle/>
        <a:p>
          <a:endParaRPr lang="en-US"/>
        </a:p>
      </dgm:t>
    </dgm:pt>
    <dgm:pt modelId="{FDD5A464-E245-47F0-9045-8F3E9A34D3AF}" type="sibTrans" cxnId="{DABF3024-B0AF-46F2-B005-2D4E8E8F8B12}">
      <dgm:prSet/>
      <dgm:spPr/>
      <dgm:t>
        <a:bodyPr/>
        <a:lstStyle/>
        <a:p>
          <a:endParaRPr lang="en-US"/>
        </a:p>
      </dgm:t>
    </dgm:pt>
    <dgm:pt modelId="{9DFC82A2-E092-4732-8409-90819B2C6A1D}">
      <dgm:prSet/>
      <dgm:spPr/>
      <dgm:t>
        <a:bodyPr/>
        <a:lstStyle/>
        <a:p>
          <a:r>
            <a:rPr lang="en-US"/>
            <a:t>Older adults tend to invest time and emotion into most important people in social networks</a:t>
          </a:r>
        </a:p>
      </dgm:t>
    </dgm:pt>
    <dgm:pt modelId="{95A96A31-AEEE-48A7-AEF8-D4A1E1892098}" type="parTrans" cxnId="{2FB219B4-DE47-4CAE-8039-2D7CD8A81DB4}">
      <dgm:prSet/>
      <dgm:spPr/>
      <dgm:t>
        <a:bodyPr/>
        <a:lstStyle/>
        <a:p>
          <a:endParaRPr lang="en-US"/>
        </a:p>
      </dgm:t>
    </dgm:pt>
    <dgm:pt modelId="{BB338106-1DF9-4469-BC22-F9144FCDA628}" type="sibTrans" cxnId="{2FB219B4-DE47-4CAE-8039-2D7CD8A81DB4}">
      <dgm:prSet/>
      <dgm:spPr/>
      <dgm:t>
        <a:bodyPr/>
        <a:lstStyle/>
        <a:p>
          <a:endParaRPr lang="en-US"/>
        </a:p>
      </dgm:t>
    </dgm:pt>
    <dgm:pt modelId="{2489674A-5078-4D01-A592-8BAEDB5693B5}" type="pres">
      <dgm:prSet presAssocID="{C8E5CF91-09E7-4393-87E2-6314DEA1CC6F}" presName="diagram" presStyleCnt="0">
        <dgm:presLayoutVars>
          <dgm:dir/>
          <dgm:resizeHandles val="exact"/>
        </dgm:presLayoutVars>
      </dgm:prSet>
      <dgm:spPr/>
    </dgm:pt>
    <dgm:pt modelId="{CAB06CC0-AA0E-4766-8497-AC4D19A81DD0}" type="pres">
      <dgm:prSet presAssocID="{8A5FA54D-9831-4C0B-8309-6A7CCAAA6751}" presName="node" presStyleLbl="node1" presStyleIdx="0" presStyleCnt="5">
        <dgm:presLayoutVars>
          <dgm:bulletEnabled val="1"/>
        </dgm:presLayoutVars>
      </dgm:prSet>
      <dgm:spPr/>
    </dgm:pt>
    <dgm:pt modelId="{C2DAC19D-862F-403A-BF91-96E1262F097C}" type="pres">
      <dgm:prSet presAssocID="{407E9A97-8FF4-483F-8EB2-B2F3973F9881}" presName="sibTrans" presStyleCnt="0"/>
      <dgm:spPr/>
    </dgm:pt>
    <dgm:pt modelId="{59E54800-7CB7-4503-BCEB-42C97F943D4F}" type="pres">
      <dgm:prSet presAssocID="{A595B470-66D8-4ABC-9710-F45375886481}" presName="node" presStyleLbl="node1" presStyleIdx="1" presStyleCnt="5">
        <dgm:presLayoutVars>
          <dgm:bulletEnabled val="1"/>
        </dgm:presLayoutVars>
      </dgm:prSet>
      <dgm:spPr/>
    </dgm:pt>
    <dgm:pt modelId="{08BB3A74-C47C-4559-9B52-6A3484349D7B}" type="pres">
      <dgm:prSet presAssocID="{C1C35A86-C4BB-4E67-AB96-35B63007535D}" presName="sibTrans" presStyleCnt="0"/>
      <dgm:spPr/>
    </dgm:pt>
    <dgm:pt modelId="{D2BCE79C-767A-4F7C-A772-43CA451EE218}" type="pres">
      <dgm:prSet presAssocID="{46EAC6F2-07B4-4655-8ADE-AFE4505AF7CA}" presName="node" presStyleLbl="node1" presStyleIdx="2" presStyleCnt="5">
        <dgm:presLayoutVars>
          <dgm:bulletEnabled val="1"/>
        </dgm:presLayoutVars>
      </dgm:prSet>
      <dgm:spPr/>
    </dgm:pt>
    <dgm:pt modelId="{41D2F578-E553-430A-8B29-5E88DDD136AC}" type="pres">
      <dgm:prSet presAssocID="{451A3994-3255-4394-8B1B-97A5BC2FBF85}" presName="sibTrans" presStyleCnt="0"/>
      <dgm:spPr/>
    </dgm:pt>
    <dgm:pt modelId="{BA0A4230-628F-488F-AAF0-DFE3128A202B}" type="pres">
      <dgm:prSet presAssocID="{46004DF7-C9DF-4DBC-AF49-401D2325A214}" presName="node" presStyleLbl="node1" presStyleIdx="3" presStyleCnt="5">
        <dgm:presLayoutVars>
          <dgm:bulletEnabled val="1"/>
        </dgm:presLayoutVars>
      </dgm:prSet>
      <dgm:spPr/>
    </dgm:pt>
    <dgm:pt modelId="{77F9E0D5-8442-4C1E-8879-2F5549A6B939}" type="pres">
      <dgm:prSet presAssocID="{C837C656-EA6B-4C46-A661-923C3AF1BCF6}" presName="sibTrans" presStyleCnt="0"/>
      <dgm:spPr/>
    </dgm:pt>
    <dgm:pt modelId="{8A34FB61-6446-4550-BAC8-7BA708DC7304}" type="pres">
      <dgm:prSet presAssocID="{9DFC82A2-E092-4732-8409-90819B2C6A1D}" presName="node" presStyleLbl="node1" presStyleIdx="4" presStyleCnt="5">
        <dgm:presLayoutVars>
          <dgm:bulletEnabled val="1"/>
        </dgm:presLayoutVars>
      </dgm:prSet>
      <dgm:spPr/>
    </dgm:pt>
  </dgm:ptLst>
  <dgm:cxnLst>
    <dgm:cxn modelId="{96A69705-DFF5-465E-A3E4-3AA7A98E31E1}" type="presOf" srcId="{88C90F8E-8952-4FE8-8EBC-6919D723811A}" destId="{BA0A4230-628F-488F-AAF0-DFE3128A202B}" srcOrd="0" destOrd="1" presId="urn:microsoft.com/office/officeart/2005/8/layout/default"/>
    <dgm:cxn modelId="{DABF3024-B0AF-46F2-B005-2D4E8E8F8B12}" srcId="{46004DF7-C9DF-4DBC-AF49-401D2325A214}" destId="{88C90F8E-8952-4FE8-8EBC-6919D723811A}" srcOrd="0" destOrd="0" parTransId="{78599940-CE85-4CEF-8E3D-07BD60163424}" sibTransId="{FDD5A464-E245-47F0-9045-8F3E9A34D3AF}"/>
    <dgm:cxn modelId="{9C31F728-EAEE-417E-9BF6-895512DAE10E}" type="presOf" srcId="{46004DF7-C9DF-4DBC-AF49-401D2325A214}" destId="{BA0A4230-628F-488F-AAF0-DFE3128A202B}" srcOrd="0" destOrd="0" presId="urn:microsoft.com/office/officeart/2005/8/layout/default"/>
    <dgm:cxn modelId="{45D6F53C-780F-47DC-9B55-7D941EB7E860}" type="presOf" srcId="{A595B470-66D8-4ABC-9710-F45375886481}" destId="{59E54800-7CB7-4503-BCEB-42C97F943D4F}" srcOrd="0" destOrd="0" presId="urn:microsoft.com/office/officeart/2005/8/layout/default"/>
    <dgm:cxn modelId="{A4ACCE4C-4A14-4D93-98E2-099A3C9072F3}" type="presOf" srcId="{46EAC6F2-07B4-4655-8ADE-AFE4505AF7CA}" destId="{D2BCE79C-767A-4F7C-A772-43CA451EE218}" srcOrd="0" destOrd="0" presId="urn:microsoft.com/office/officeart/2005/8/layout/default"/>
    <dgm:cxn modelId="{D186D081-D2A9-4228-AE0A-B23BEC9D8DBB}" srcId="{C8E5CF91-09E7-4393-87E2-6314DEA1CC6F}" destId="{46EAC6F2-07B4-4655-8ADE-AFE4505AF7CA}" srcOrd="2" destOrd="0" parTransId="{CB23363B-B9FB-4EC0-BC9A-65F6458327F4}" sibTransId="{451A3994-3255-4394-8B1B-97A5BC2FBF85}"/>
    <dgm:cxn modelId="{BDA6598C-EBBD-4D48-B35D-FB17493E266C}" type="presOf" srcId="{C8E5CF91-09E7-4393-87E2-6314DEA1CC6F}" destId="{2489674A-5078-4D01-A592-8BAEDB5693B5}" srcOrd="0" destOrd="0" presId="urn:microsoft.com/office/officeart/2005/8/layout/default"/>
    <dgm:cxn modelId="{E12CE4AB-BCFC-420E-8972-BB12CB8818AF}" srcId="{C8E5CF91-09E7-4393-87E2-6314DEA1CC6F}" destId="{A595B470-66D8-4ABC-9710-F45375886481}" srcOrd="1" destOrd="0" parTransId="{F3AE93FE-5CB8-4C14-BCE7-322F07FF96D1}" sibTransId="{C1C35A86-C4BB-4E67-AB96-35B63007535D}"/>
    <dgm:cxn modelId="{EB2614B1-E0CB-43F6-BD8A-B8C11ABA71FA}" type="presOf" srcId="{8A5FA54D-9831-4C0B-8309-6A7CCAAA6751}" destId="{CAB06CC0-AA0E-4766-8497-AC4D19A81DD0}" srcOrd="0" destOrd="0" presId="urn:microsoft.com/office/officeart/2005/8/layout/default"/>
    <dgm:cxn modelId="{2FB219B4-DE47-4CAE-8039-2D7CD8A81DB4}" srcId="{C8E5CF91-09E7-4393-87E2-6314DEA1CC6F}" destId="{9DFC82A2-E092-4732-8409-90819B2C6A1D}" srcOrd="4" destOrd="0" parTransId="{95A96A31-AEEE-48A7-AEF8-D4A1E1892098}" sibTransId="{BB338106-1DF9-4469-BC22-F9144FCDA628}"/>
    <dgm:cxn modelId="{901ADBCC-69FD-4FB4-BA7A-26BBBBFE9E4C}" srcId="{C8E5CF91-09E7-4393-87E2-6314DEA1CC6F}" destId="{46004DF7-C9DF-4DBC-AF49-401D2325A214}" srcOrd="3" destOrd="0" parTransId="{C3702763-9A14-41A7-9773-2FE675445344}" sibTransId="{C837C656-EA6B-4C46-A661-923C3AF1BCF6}"/>
    <dgm:cxn modelId="{F91253E3-D5D4-4349-A57A-A5A74D754E1A}" type="presOf" srcId="{9DFC82A2-E092-4732-8409-90819B2C6A1D}" destId="{8A34FB61-6446-4550-BAC8-7BA708DC7304}" srcOrd="0" destOrd="0" presId="urn:microsoft.com/office/officeart/2005/8/layout/default"/>
    <dgm:cxn modelId="{011BF9EA-BF79-412C-887E-3AA7961E330A}" srcId="{C8E5CF91-09E7-4393-87E2-6314DEA1CC6F}" destId="{8A5FA54D-9831-4C0B-8309-6A7CCAAA6751}" srcOrd="0" destOrd="0" parTransId="{90CF72D9-2219-4991-87A5-756DEB56EEC5}" sibTransId="{407E9A97-8FF4-483F-8EB2-B2F3973F9881}"/>
    <dgm:cxn modelId="{5E179224-B62E-4E82-876F-ED90E63EBFE5}" type="presParOf" srcId="{2489674A-5078-4D01-A592-8BAEDB5693B5}" destId="{CAB06CC0-AA0E-4766-8497-AC4D19A81DD0}" srcOrd="0" destOrd="0" presId="urn:microsoft.com/office/officeart/2005/8/layout/default"/>
    <dgm:cxn modelId="{C6239B5E-A446-48C9-A3F9-068F745E5B7F}" type="presParOf" srcId="{2489674A-5078-4D01-A592-8BAEDB5693B5}" destId="{C2DAC19D-862F-403A-BF91-96E1262F097C}" srcOrd="1" destOrd="0" presId="urn:microsoft.com/office/officeart/2005/8/layout/default"/>
    <dgm:cxn modelId="{411BF786-A664-47A8-96C5-4ED24C333CD0}" type="presParOf" srcId="{2489674A-5078-4D01-A592-8BAEDB5693B5}" destId="{59E54800-7CB7-4503-BCEB-42C97F943D4F}" srcOrd="2" destOrd="0" presId="urn:microsoft.com/office/officeart/2005/8/layout/default"/>
    <dgm:cxn modelId="{DF9F8D38-F554-492A-99BB-0ACC03A840B1}" type="presParOf" srcId="{2489674A-5078-4D01-A592-8BAEDB5693B5}" destId="{08BB3A74-C47C-4559-9B52-6A3484349D7B}" srcOrd="3" destOrd="0" presId="urn:microsoft.com/office/officeart/2005/8/layout/default"/>
    <dgm:cxn modelId="{E53BDF88-9317-4196-BCC2-6F97105E09F9}" type="presParOf" srcId="{2489674A-5078-4D01-A592-8BAEDB5693B5}" destId="{D2BCE79C-767A-4F7C-A772-43CA451EE218}" srcOrd="4" destOrd="0" presId="urn:microsoft.com/office/officeart/2005/8/layout/default"/>
    <dgm:cxn modelId="{651A2731-B413-4368-8A88-D59C24D34DAC}" type="presParOf" srcId="{2489674A-5078-4D01-A592-8BAEDB5693B5}" destId="{41D2F578-E553-430A-8B29-5E88DDD136AC}" srcOrd="5" destOrd="0" presId="urn:microsoft.com/office/officeart/2005/8/layout/default"/>
    <dgm:cxn modelId="{C1C1395D-D578-4D0A-A561-7A0610B0A718}" type="presParOf" srcId="{2489674A-5078-4D01-A592-8BAEDB5693B5}" destId="{BA0A4230-628F-488F-AAF0-DFE3128A202B}" srcOrd="6" destOrd="0" presId="urn:microsoft.com/office/officeart/2005/8/layout/default"/>
    <dgm:cxn modelId="{A2EE5B59-D19B-4139-877A-B5D633948763}" type="presParOf" srcId="{2489674A-5078-4D01-A592-8BAEDB5693B5}" destId="{77F9E0D5-8442-4C1E-8879-2F5549A6B939}" srcOrd="7" destOrd="0" presId="urn:microsoft.com/office/officeart/2005/8/layout/default"/>
    <dgm:cxn modelId="{02ACDBAC-231F-4F56-B391-4A9CD801AAB0}" type="presParOf" srcId="{2489674A-5078-4D01-A592-8BAEDB5693B5}" destId="{8A34FB61-6446-4550-BAC8-7BA708DC7304}"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58E131-56EE-4718-9105-139F89DB6BB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7A3B081-A3C7-4727-A1FC-4032639FC870}">
      <dgm:prSet/>
      <dgm:spPr/>
      <dgm:t>
        <a:bodyPr/>
        <a:lstStyle/>
        <a:p>
          <a:r>
            <a:rPr lang="en-US"/>
            <a:t>Paradox: older adults tend to be less physically healthy, but happier</a:t>
          </a:r>
        </a:p>
      </dgm:t>
    </dgm:pt>
    <dgm:pt modelId="{98F5E344-7C21-4439-BA60-B5704890F62C}" type="parTrans" cxnId="{3FC16D99-D212-464C-BBA3-461858D7C9B4}">
      <dgm:prSet/>
      <dgm:spPr/>
      <dgm:t>
        <a:bodyPr/>
        <a:lstStyle/>
        <a:p>
          <a:endParaRPr lang="en-US"/>
        </a:p>
      </dgm:t>
    </dgm:pt>
    <dgm:pt modelId="{F7565969-DD11-4FE9-9DE9-E8FFF5687223}" type="sibTrans" cxnId="{3FC16D99-D212-464C-BBA3-461858D7C9B4}">
      <dgm:prSet/>
      <dgm:spPr/>
      <dgm:t>
        <a:bodyPr/>
        <a:lstStyle/>
        <a:p>
          <a:endParaRPr lang="en-US"/>
        </a:p>
      </dgm:t>
    </dgm:pt>
    <dgm:pt modelId="{AB8B7C8C-03EC-4D95-B829-55C38B5AC035}">
      <dgm:prSet/>
      <dgm:spPr/>
      <dgm:t>
        <a:bodyPr/>
        <a:lstStyle/>
        <a:p>
          <a:r>
            <a:rPr lang="en-US"/>
            <a:t>Study from 160 countries</a:t>
          </a:r>
        </a:p>
      </dgm:t>
    </dgm:pt>
    <dgm:pt modelId="{C45A3BCC-9208-4850-8943-50BA0F6093EE}" type="parTrans" cxnId="{CB0D1B5C-EEC7-4E36-A295-57229BEC910D}">
      <dgm:prSet/>
      <dgm:spPr/>
      <dgm:t>
        <a:bodyPr/>
        <a:lstStyle/>
        <a:p>
          <a:endParaRPr lang="en-US"/>
        </a:p>
      </dgm:t>
    </dgm:pt>
    <dgm:pt modelId="{B00AA840-267A-4A8C-8BC6-6724BD35BD50}" type="sibTrans" cxnId="{CB0D1B5C-EEC7-4E36-A295-57229BEC910D}">
      <dgm:prSet/>
      <dgm:spPr/>
      <dgm:t>
        <a:bodyPr/>
        <a:lstStyle/>
        <a:p>
          <a:endParaRPr lang="en-US"/>
        </a:p>
      </dgm:t>
    </dgm:pt>
    <dgm:pt modelId="{A7A20E9E-D924-407B-A217-FCF9A9AA50CB}">
      <dgm:prSet/>
      <dgm:spPr/>
      <dgm:t>
        <a:bodyPr/>
        <a:lstStyle/>
        <a:p>
          <a:r>
            <a:rPr lang="en-US"/>
            <a:t>U-shaped association between age and emotional well-being</a:t>
          </a:r>
        </a:p>
      </dgm:t>
    </dgm:pt>
    <dgm:pt modelId="{919AC87B-AC82-42CF-8E21-5911A961E0A9}" type="parTrans" cxnId="{3B918EC4-74F6-44C5-9280-BE252D0CA5CD}">
      <dgm:prSet/>
      <dgm:spPr/>
      <dgm:t>
        <a:bodyPr/>
        <a:lstStyle/>
        <a:p>
          <a:endParaRPr lang="en-US"/>
        </a:p>
      </dgm:t>
    </dgm:pt>
    <dgm:pt modelId="{52ECB511-B2A5-4AAC-ADEE-B5377E9825BD}" type="sibTrans" cxnId="{3B918EC4-74F6-44C5-9280-BE252D0CA5CD}">
      <dgm:prSet/>
      <dgm:spPr/>
      <dgm:t>
        <a:bodyPr/>
        <a:lstStyle/>
        <a:p>
          <a:endParaRPr lang="en-US"/>
        </a:p>
      </dgm:t>
    </dgm:pt>
    <dgm:pt modelId="{59325902-E4C0-4492-99DC-7A1225420287}">
      <dgm:prSet/>
      <dgm:spPr/>
      <dgm:t>
        <a:bodyPr/>
        <a:lstStyle/>
        <a:p>
          <a:r>
            <a:rPr lang="en-US"/>
            <a:t>Mid-20s through 40s: well-being decreases</a:t>
          </a:r>
        </a:p>
      </dgm:t>
    </dgm:pt>
    <dgm:pt modelId="{2BA6100F-04A1-4E69-A65C-EAB7350223AD}" type="parTrans" cxnId="{6D2C4683-5153-4F30-81D3-80A3D5CF8B56}">
      <dgm:prSet/>
      <dgm:spPr/>
      <dgm:t>
        <a:bodyPr/>
        <a:lstStyle/>
        <a:p>
          <a:endParaRPr lang="en-US"/>
        </a:p>
      </dgm:t>
    </dgm:pt>
    <dgm:pt modelId="{29F93689-F9FC-4BB9-AD6E-1AE7FB628342}" type="sibTrans" cxnId="{6D2C4683-5153-4F30-81D3-80A3D5CF8B56}">
      <dgm:prSet/>
      <dgm:spPr/>
      <dgm:t>
        <a:bodyPr/>
        <a:lstStyle/>
        <a:p>
          <a:endParaRPr lang="en-US"/>
        </a:p>
      </dgm:t>
    </dgm:pt>
    <dgm:pt modelId="{C137311E-434E-4DAA-B677-83BEEB114B5F}">
      <dgm:prSet/>
      <dgm:spPr/>
      <dgm:t>
        <a:bodyPr/>
        <a:lstStyle/>
        <a:p>
          <a:r>
            <a:rPr lang="en-US"/>
            <a:t>Age 45 – 54: lowest levels of well-being</a:t>
          </a:r>
        </a:p>
      </dgm:t>
    </dgm:pt>
    <dgm:pt modelId="{523AA33D-E2DB-4B26-8536-6C07707235BD}" type="parTrans" cxnId="{78B2E887-83AF-491B-BA32-343CBC6AF554}">
      <dgm:prSet/>
      <dgm:spPr/>
      <dgm:t>
        <a:bodyPr/>
        <a:lstStyle/>
        <a:p>
          <a:endParaRPr lang="en-US"/>
        </a:p>
      </dgm:t>
    </dgm:pt>
    <dgm:pt modelId="{51C8BB67-50B7-40B5-9D69-195F5B512C4A}" type="sibTrans" cxnId="{78B2E887-83AF-491B-BA32-343CBC6AF554}">
      <dgm:prSet/>
      <dgm:spPr/>
      <dgm:t>
        <a:bodyPr/>
        <a:lstStyle/>
        <a:p>
          <a:endParaRPr lang="en-US"/>
        </a:p>
      </dgm:t>
    </dgm:pt>
    <dgm:pt modelId="{D3285CC4-9CF8-40CF-9835-1C7DE3630EF8}">
      <dgm:prSet/>
      <dgm:spPr/>
      <dgm:t>
        <a:bodyPr/>
        <a:lstStyle/>
        <a:p>
          <a:r>
            <a:rPr lang="en-US"/>
            <a:t>Mid-50s through 80s: well-being increases</a:t>
          </a:r>
        </a:p>
      </dgm:t>
    </dgm:pt>
    <dgm:pt modelId="{D8B4A31A-FBF3-48C1-8156-679341A36001}" type="parTrans" cxnId="{A1F62763-1923-4DF9-8A62-DF9CCA9E127B}">
      <dgm:prSet/>
      <dgm:spPr/>
      <dgm:t>
        <a:bodyPr/>
        <a:lstStyle/>
        <a:p>
          <a:endParaRPr lang="en-US"/>
        </a:p>
      </dgm:t>
    </dgm:pt>
    <dgm:pt modelId="{2BCE9BB7-EEC8-4414-A4A8-67BFE6953EF3}" type="sibTrans" cxnId="{A1F62763-1923-4DF9-8A62-DF9CCA9E127B}">
      <dgm:prSet/>
      <dgm:spPr/>
      <dgm:t>
        <a:bodyPr/>
        <a:lstStyle/>
        <a:p>
          <a:endParaRPr lang="en-US"/>
        </a:p>
      </dgm:t>
    </dgm:pt>
    <dgm:pt modelId="{AEB3F934-E11A-4CEC-94E0-2AB2C85F2B5A}">
      <dgm:prSet/>
      <dgm:spPr/>
      <dgm:t>
        <a:bodyPr/>
        <a:lstStyle/>
        <a:p>
          <a:r>
            <a:rPr lang="en-US"/>
            <a:t>Stress has a similar (but opposite direction) trajectory</a:t>
          </a:r>
        </a:p>
      </dgm:t>
    </dgm:pt>
    <dgm:pt modelId="{41A1EDD9-9BDF-4D42-80AD-266EF22EADE5}" type="parTrans" cxnId="{352B6A07-4381-4C44-91A4-58B7F6C94854}">
      <dgm:prSet/>
      <dgm:spPr/>
      <dgm:t>
        <a:bodyPr/>
        <a:lstStyle/>
        <a:p>
          <a:endParaRPr lang="en-US"/>
        </a:p>
      </dgm:t>
    </dgm:pt>
    <dgm:pt modelId="{19E06344-6236-457F-A173-791897EEE39C}" type="sibTrans" cxnId="{352B6A07-4381-4C44-91A4-58B7F6C94854}">
      <dgm:prSet/>
      <dgm:spPr/>
      <dgm:t>
        <a:bodyPr/>
        <a:lstStyle/>
        <a:p>
          <a:endParaRPr lang="en-US"/>
        </a:p>
      </dgm:t>
    </dgm:pt>
    <dgm:pt modelId="{7ED8EC9F-2D4C-4CA1-84D7-CC3304E415CC}">
      <dgm:prSet/>
      <dgm:spPr/>
      <dgm:t>
        <a:bodyPr/>
        <a:lstStyle/>
        <a:p>
          <a:r>
            <a:rPr lang="en-US"/>
            <a:t>Most true for high-income, English-speaking countries</a:t>
          </a:r>
        </a:p>
      </dgm:t>
    </dgm:pt>
    <dgm:pt modelId="{02E9FB14-CAE2-41F0-84B3-11D7B279D66B}" type="parTrans" cxnId="{40ECC176-B340-46E0-A833-D1E02D7A5DE6}">
      <dgm:prSet/>
      <dgm:spPr/>
      <dgm:t>
        <a:bodyPr/>
        <a:lstStyle/>
        <a:p>
          <a:endParaRPr lang="en-US"/>
        </a:p>
      </dgm:t>
    </dgm:pt>
    <dgm:pt modelId="{6269C30E-D209-43FE-85E1-5A24927C4F20}" type="sibTrans" cxnId="{40ECC176-B340-46E0-A833-D1E02D7A5DE6}">
      <dgm:prSet/>
      <dgm:spPr/>
      <dgm:t>
        <a:bodyPr/>
        <a:lstStyle/>
        <a:p>
          <a:endParaRPr lang="en-US"/>
        </a:p>
      </dgm:t>
    </dgm:pt>
    <dgm:pt modelId="{EFCCBD41-AF54-45B4-9636-94C77CF42600}" type="pres">
      <dgm:prSet presAssocID="{A158E131-56EE-4718-9105-139F89DB6BB4}" presName="linear" presStyleCnt="0">
        <dgm:presLayoutVars>
          <dgm:animLvl val="lvl"/>
          <dgm:resizeHandles val="exact"/>
        </dgm:presLayoutVars>
      </dgm:prSet>
      <dgm:spPr/>
    </dgm:pt>
    <dgm:pt modelId="{2F7CA967-E0E8-4230-A479-226F5D031877}" type="pres">
      <dgm:prSet presAssocID="{77A3B081-A3C7-4727-A1FC-4032639FC870}" presName="parentText" presStyleLbl="node1" presStyleIdx="0" presStyleCnt="2">
        <dgm:presLayoutVars>
          <dgm:chMax val="0"/>
          <dgm:bulletEnabled val="1"/>
        </dgm:presLayoutVars>
      </dgm:prSet>
      <dgm:spPr/>
    </dgm:pt>
    <dgm:pt modelId="{E60392AB-38E8-4F42-A10C-08263DF415AF}" type="pres">
      <dgm:prSet presAssocID="{F7565969-DD11-4FE9-9DE9-E8FFF5687223}" presName="spacer" presStyleCnt="0"/>
      <dgm:spPr/>
    </dgm:pt>
    <dgm:pt modelId="{15FF5019-0F05-48A5-95C3-D49C709EB893}" type="pres">
      <dgm:prSet presAssocID="{AB8B7C8C-03EC-4D95-B829-55C38B5AC035}" presName="parentText" presStyleLbl="node1" presStyleIdx="1" presStyleCnt="2">
        <dgm:presLayoutVars>
          <dgm:chMax val="0"/>
          <dgm:bulletEnabled val="1"/>
        </dgm:presLayoutVars>
      </dgm:prSet>
      <dgm:spPr/>
    </dgm:pt>
    <dgm:pt modelId="{58D9F226-6105-4278-8D6C-4BA4C9A664B0}" type="pres">
      <dgm:prSet presAssocID="{AB8B7C8C-03EC-4D95-B829-55C38B5AC035}" presName="childText" presStyleLbl="revTx" presStyleIdx="0" presStyleCnt="1">
        <dgm:presLayoutVars>
          <dgm:bulletEnabled val="1"/>
        </dgm:presLayoutVars>
      </dgm:prSet>
      <dgm:spPr/>
    </dgm:pt>
  </dgm:ptLst>
  <dgm:cxnLst>
    <dgm:cxn modelId="{352B6A07-4381-4C44-91A4-58B7F6C94854}" srcId="{AB8B7C8C-03EC-4D95-B829-55C38B5AC035}" destId="{AEB3F934-E11A-4CEC-94E0-2AB2C85F2B5A}" srcOrd="1" destOrd="0" parTransId="{41A1EDD9-9BDF-4D42-80AD-266EF22EADE5}" sibTransId="{19E06344-6236-457F-A173-791897EEE39C}"/>
    <dgm:cxn modelId="{90E43B14-19A8-497C-9556-229EA1C28B4D}" type="presOf" srcId="{AB8B7C8C-03EC-4D95-B829-55C38B5AC035}" destId="{15FF5019-0F05-48A5-95C3-D49C709EB893}" srcOrd="0" destOrd="0" presId="urn:microsoft.com/office/officeart/2005/8/layout/vList2"/>
    <dgm:cxn modelId="{6749D632-203D-453E-A9E4-CB8F874525BB}" type="presOf" srcId="{77A3B081-A3C7-4727-A1FC-4032639FC870}" destId="{2F7CA967-E0E8-4230-A479-226F5D031877}" srcOrd="0" destOrd="0" presId="urn:microsoft.com/office/officeart/2005/8/layout/vList2"/>
    <dgm:cxn modelId="{FCDB573E-0496-476C-B66D-DA26EDA6F969}" type="presOf" srcId="{59325902-E4C0-4492-99DC-7A1225420287}" destId="{58D9F226-6105-4278-8D6C-4BA4C9A664B0}" srcOrd="0" destOrd="1" presId="urn:microsoft.com/office/officeart/2005/8/layout/vList2"/>
    <dgm:cxn modelId="{CB0D1B5C-EEC7-4E36-A295-57229BEC910D}" srcId="{A158E131-56EE-4718-9105-139F89DB6BB4}" destId="{AB8B7C8C-03EC-4D95-B829-55C38B5AC035}" srcOrd="1" destOrd="0" parTransId="{C45A3BCC-9208-4850-8943-50BA0F6093EE}" sibTransId="{B00AA840-267A-4A8C-8BC6-6724BD35BD50}"/>
    <dgm:cxn modelId="{A1F62763-1923-4DF9-8A62-DF9CCA9E127B}" srcId="{A7A20E9E-D924-407B-A217-FCF9A9AA50CB}" destId="{D3285CC4-9CF8-40CF-9835-1C7DE3630EF8}" srcOrd="2" destOrd="0" parTransId="{D8B4A31A-FBF3-48C1-8156-679341A36001}" sibTransId="{2BCE9BB7-EEC8-4414-A4A8-67BFE6953EF3}"/>
    <dgm:cxn modelId="{0865376B-F143-42AF-BE52-028CEDB78C28}" type="presOf" srcId="{7ED8EC9F-2D4C-4CA1-84D7-CC3304E415CC}" destId="{58D9F226-6105-4278-8D6C-4BA4C9A664B0}" srcOrd="0" destOrd="5" presId="urn:microsoft.com/office/officeart/2005/8/layout/vList2"/>
    <dgm:cxn modelId="{67D4776D-46A0-4E90-81D0-6E7241122AB9}" type="presOf" srcId="{A7A20E9E-D924-407B-A217-FCF9A9AA50CB}" destId="{58D9F226-6105-4278-8D6C-4BA4C9A664B0}" srcOrd="0" destOrd="0" presId="urn:microsoft.com/office/officeart/2005/8/layout/vList2"/>
    <dgm:cxn modelId="{40ECC176-B340-46E0-A833-D1E02D7A5DE6}" srcId="{AB8B7C8C-03EC-4D95-B829-55C38B5AC035}" destId="{7ED8EC9F-2D4C-4CA1-84D7-CC3304E415CC}" srcOrd="2" destOrd="0" parTransId="{02E9FB14-CAE2-41F0-84B3-11D7B279D66B}" sibTransId="{6269C30E-D209-43FE-85E1-5A24927C4F20}"/>
    <dgm:cxn modelId="{6D2C4683-5153-4F30-81D3-80A3D5CF8B56}" srcId="{A7A20E9E-D924-407B-A217-FCF9A9AA50CB}" destId="{59325902-E4C0-4492-99DC-7A1225420287}" srcOrd="0" destOrd="0" parTransId="{2BA6100F-04A1-4E69-A65C-EAB7350223AD}" sibTransId="{29F93689-F9FC-4BB9-AD6E-1AE7FB628342}"/>
    <dgm:cxn modelId="{78B2E887-83AF-491B-BA32-343CBC6AF554}" srcId="{A7A20E9E-D924-407B-A217-FCF9A9AA50CB}" destId="{C137311E-434E-4DAA-B677-83BEEB114B5F}" srcOrd="1" destOrd="0" parTransId="{523AA33D-E2DB-4B26-8536-6C07707235BD}" sibTransId="{51C8BB67-50B7-40B5-9D69-195F5B512C4A}"/>
    <dgm:cxn modelId="{9A887488-27A7-4100-8B7A-F29BF81271A1}" type="presOf" srcId="{D3285CC4-9CF8-40CF-9835-1C7DE3630EF8}" destId="{58D9F226-6105-4278-8D6C-4BA4C9A664B0}" srcOrd="0" destOrd="3" presId="urn:microsoft.com/office/officeart/2005/8/layout/vList2"/>
    <dgm:cxn modelId="{3FC16D99-D212-464C-BBA3-461858D7C9B4}" srcId="{A158E131-56EE-4718-9105-139F89DB6BB4}" destId="{77A3B081-A3C7-4727-A1FC-4032639FC870}" srcOrd="0" destOrd="0" parTransId="{98F5E344-7C21-4439-BA60-B5704890F62C}" sibTransId="{F7565969-DD11-4FE9-9DE9-E8FFF5687223}"/>
    <dgm:cxn modelId="{8262D6B9-A602-433E-8B2E-EB1E480501CB}" type="presOf" srcId="{AEB3F934-E11A-4CEC-94E0-2AB2C85F2B5A}" destId="{58D9F226-6105-4278-8D6C-4BA4C9A664B0}" srcOrd="0" destOrd="4" presId="urn:microsoft.com/office/officeart/2005/8/layout/vList2"/>
    <dgm:cxn modelId="{3B918EC4-74F6-44C5-9280-BE252D0CA5CD}" srcId="{AB8B7C8C-03EC-4D95-B829-55C38B5AC035}" destId="{A7A20E9E-D924-407B-A217-FCF9A9AA50CB}" srcOrd="0" destOrd="0" parTransId="{919AC87B-AC82-42CF-8E21-5911A961E0A9}" sibTransId="{52ECB511-B2A5-4AAC-ADEE-B5377E9825BD}"/>
    <dgm:cxn modelId="{DB3D9CDF-3D17-42E6-8B03-4FFFADA5081A}" type="presOf" srcId="{C137311E-434E-4DAA-B677-83BEEB114B5F}" destId="{58D9F226-6105-4278-8D6C-4BA4C9A664B0}" srcOrd="0" destOrd="2" presId="urn:microsoft.com/office/officeart/2005/8/layout/vList2"/>
    <dgm:cxn modelId="{AC5878E3-678B-44EB-8BBA-78196F1BE209}" type="presOf" srcId="{A158E131-56EE-4718-9105-139F89DB6BB4}" destId="{EFCCBD41-AF54-45B4-9636-94C77CF42600}" srcOrd="0" destOrd="0" presId="urn:microsoft.com/office/officeart/2005/8/layout/vList2"/>
    <dgm:cxn modelId="{4F098FFB-8C04-4129-8265-A4D5D9DE3F4F}" type="presParOf" srcId="{EFCCBD41-AF54-45B4-9636-94C77CF42600}" destId="{2F7CA967-E0E8-4230-A479-226F5D031877}" srcOrd="0" destOrd="0" presId="urn:microsoft.com/office/officeart/2005/8/layout/vList2"/>
    <dgm:cxn modelId="{1DD264A2-DB57-4BDE-865D-8B3F4EC13DA7}" type="presParOf" srcId="{EFCCBD41-AF54-45B4-9636-94C77CF42600}" destId="{E60392AB-38E8-4F42-A10C-08263DF415AF}" srcOrd="1" destOrd="0" presId="urn:microsoft.com/office/officeart/2005/8/layout/vList2"/>
    <dgm:cxn modelId="{8A115D8B-2022-4669-AD72-1AC1B4C38F3E}" type="presParOf" srcId="{EFCCBD41-AF54-45B4-9636-94C77CF42600}" destId="{15FF5019-0F05-48A5-95C3-D49C709EB893}" srcOrd="2" destOrd="0" presId="urn:microsoft.com/office/officeart/2005/8/layout/vList2"/>
    <dgm:cxn modelId="{EDFCF5F1-67E6-4C3A-93E2-95C37676EB28}" type="presParOf" srcId="{EFCCBD41-AF54-45B4-9636-94C77CF42600}" destId="{58D9F226-6105-4278-8D6C-4BA4C9A664B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5B8D7-2AD2-459D-A80F-94D9CD76099A}">
      <dsp:nvSpPr>
        <dsp:cNvPr id="0" name=""/>
        <dsp:cNvSpPr/>
      </dsp:nvSpPr>
      <dsp:spPr>
        <a:xfrm>
          <a:off x="0" y="50768"/>
          <a:ext cx="5739877"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Knowing what predicts successful aging might help us prepare now for later years. </a:t>
          </a:r>
        </a:p>
      </dsp:txBody>
      <dsp:txXfrm>
        <a:off x="46606" y="97374"/>
        <a:ext cx="5646665" cy="861507"/>
      </dsp:txXfrm>
    </dsp:sp>
    <dsp:sp modelId="{D94C8B7B-8D92-43C5-B231-3E9C9C91EDCA}">
      <dsp:nvSpPr>
        <dsp:cNvPr id="0" name=""/>
        <dsp:cNvSpPr/>
      </dsp:nvSpPr>
      <dsp:spPr>
        <a:xfrm>
          <a:off x="0" y="1074608"/>
          <a:ext cx="5739877"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world is getting older. </a:t>
          </a:r>
        </a:p>
      </dsp:txBody>
      <dsp:txXfrm>
        <a:off x="46606" y="1121214"/>
        <a:ext cx="5646665" cy="861507"/>
      </dsp:txXfrm>
    </dsp:sp>
    <dsp:sp modelId="{E5B57D9B-93EE-467F-A2CC-D7FD60D81700}">
      <dsp:nvSpPr>
        <dsp:cNvPr id="0" name=""/>
        <dsp:cNvSpPr/>
      </dsp:nvSpPr>
      <dsp:spPr>
        <a:xfrm>
          <a:off x="0" y="2029328"/>
          <a:ext cx="5739877"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24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Longer lifespans</a:t>
          </a:r>
        </a:p>
        <a:p>
          <a:pPr marL="171450" lvl="1" indent="-171450" algn="l" defTabSz="844550">
            <a:lnSpc>
              <a:spcPct val="90000"/>
            </a:lnSpc>
            <a:spcBef>
              <a:spcPct val="0"/>
            </a:spcBef>
            <a:spcAft>
              <a:spcPct val="20000"/>
            </a:spcAft>
            <a:buChar char="•"/>
          </a:pPr>
          <a:r>
            <a:rPr lang="en-US" sz="1900" kern="1200"/>
            <a:t>Lower birth rate</a:t>
          </a:r>
        </a:p>
      </dsp:txBody>
      <dsp:txXfrm>
        <a:off x="0" y="2029328"/>
        <a:ext cx="5739877" cy="658260"/>
      </dsp:txXfrm>
    </dsp:sp>
    <dsp:sp modelId="{77D126D6-D22E-4148-B5DF-98AD11BD9493}">
      <dsp:nvSpPr>
        <dsp:cNvPr id="0" name=""/>
        <dsp:cNvSpPr/>
      </dsp:nvSpPr>
      <dsp:spPr>
        <a:xfrm>
          <a:off x="0" y="2687589"/>
          <a:ext cx="5739877"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Negative stereotypes about aging can interfere with interactions with older adults</a:t>
          </a:r>
        </a:p>
      </dsp:txBody>
      <dsp:txXfrm>
        <a:off x="46606" y="2734195"/>
        <a:ext cx="5646665" cy="861507"/>
      </dsp:txXfrm>
    </dsp:sp>
    <dsp:sp modelId="{65179655-31EA-4A1E-B18F-53088D650C21}">
      <dsp:nvSpPr>
        <dsp:cNvPr id="0" name=""/>
        <dsp:cNvSpPr/>
      </dsp:nvSpPr>
      <dsp:spPr>
        <a:xfrm>
          <a:off x="0" y="3642309"/>
          <a:ext cx="5739877"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24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Personally</a:t>
          </a:r>
        </a:p>
        <a:p>
          <a:pPr marL="171450" lvl="1" indent="-171450" algn="l" defTabSz="844550">
            <a:lnSpc>
              <a:spcPct val="90000"/>
            </a:lnSpc>
            <a:spcBef>
              <a:spcPct val="0"/>
            </a:spcBef>
            <a:spcAft>
              <a:spcPct val="20000"/>
            </a:spcAft>
            <a:buChar char="•"/>
          </a:pPr>
          <a:r>
            <a:rPr lang="en-US" sz="1900" kern="1200"/>
            <a:t>Professionally</a:t>
          </a:r>
        </a:p>
      </dsp:txBody>
      <dsp:txXfrm>
        <a:off x="0" y="3642309"/>
        <a:ext cx="5739877" cy="6582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64EE16-9A19-4AB5-8A08-0220B0B24506}">
      <dsp:nvSpPr>
        <dsp:cNvPr id="0" name=""/>
        <dsp:cNvSpPr/>
      </dsp:nvSpPr>
      <dsp:spPr>
        <a:xfrm>
          <a:off x="2204" y="709992"/>
          <a:ext cx="2149766" cy="61689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The Macarthur Study</a:t>
          </a:r>
        </a:p>
      </dsp:txBody>
      <dsp:txXfrm>
        <a:off x="2204" y="709992"/>
        <a:ext cx="2149766" cy="616892"/>
      </dsp:txXfrm>
    </dsp:sp>
    <dsp:sp modelId="{0D2FCE4D-2482-4AD8-9CDB-35AF5D119BB0}">
      <dsp:nvSpPr>
        <dsp:cNvPr id="0" name=""/>
        <dsp:cNvSpPr/>
      </dsp:nvSpPr>
      <dsp:spPr>
        <a:xfrm>
          <a:off x="2204" y="1326885"/>
          <a:ext cx="2149766" cy="2204921"/>
        </a:xfrm>
        <a:prstGeom prst="rect">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Introduced successful aging as a concept</a:t>
          </a:r>
        </a:p>
        <a:p>
          <a:pPr marL="171450" lvl="1" indent="-171450" algn="l" defTabSz="755650">
            <a:lnSpc>
              <a:spcPct val="90000"/>
            </a:lnSpc>
            <a:spcBef>
              <a:spcPct val="0"/>
            </a:spcBef>
            <a:spcAft>
              <a:spcPct val="15000"/>
            </a:spcAft>
            <a:buChar char="•"/>
          </a:pPr>
          <a:r>
            <a:rPr lang="en-US" sz="1700" kern="1200"/>
            <a:t>Interdisciplinary team</a:t>
          </a:r>
        </a:p>
      </dsp:txBody>
      <dsp:txXfrm>
        <a:off x="2204" y="1326885"/>
        <a:ext cx="2149766" cy="2204921"/>
      </dsp:txXfrm>
    </dsp:sp>
    <dsp:sp modelId="{277E048A-367B-4FC7-9386-C0A609027438}">
      <dsp:nvSpPr>
        <dsp:cNvPr id="0" name=""/>
        <dsp:cNvSpPr/>
      </dsp:nvSpPr>
      <dsp:spPr>
        <a:xfrm>
          <a:off x="2452938" y="709992"/>
          <a:ext cx="2149766" cy="61689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The Harvard Study of Adult Development</a:t>
          </a:r>
        </a:p>
      </dsp:txBody>
      <dsp:txXfrm>
        <a:off x="2452938" y="709992"/>
        <a:ext cx="2149766" cy="616892"/>
      </dsp:txXfrm>
    </dsp:sp>
    <dsp:sp modelId="{E0666D7E-39C0-46A4-B228-6C3AAD472FBE}">
      <dsp:nvSpPr>
        <dsp:cNvPr id="0" name=""/>
        <dsp:cNvSpPr/>
      </dsp:nvSpPr>
      <dsp:spPr>
        <a:xfrm>
          <a:off x="2452938" y="1326885"/>
          <a:ext cx="2149766" cy="2204921"/>
        </a:xfrm>
        <a:prstGeom prst="rect">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Following cohorts of White men for nearly 80 years</a:t>
          </a:r>
        </a:p>
        <a:p>
          <a:pPr marL="171450" lvl="1" indent="-171450" algn="l" defTabSz="755650">
            <a:lnSpc>
              <a:spcPct val="90000"/>
            </a:lnSpc>
            <a:spcBef>
              <a:spcPct val="0"/>
            </a:spcBef>
            <a:spcAft>
              <a:spcPct val="15000"/>
            </a:spcAft>
            <a:buChar char="•"/>
          </a:pPr>
          <a:r>
            <a:rPr lang="en-US" sz="1700" kern="1200"/>
            <a:t>Multimodal dataset (questionnaires every 2 yrs, physical health info every 5 yrs)</a:t>
          </a:r>
        </a:p>
      </dsp:txBody>
      <dsp:txXfrm>
        <a:off x="2452938" y="1326885"/>
        <a:ext cx="2149766" cy="2204921"/>
      </dsp:txXfrm>
    </dsp:sp>
    <dsp:sp modelId="{91D40215-42F6-4380-8960-F7F53517E3D4}">
      <dsp:nvSpPr>
        <dsp:cNvPr id="0" name=""/>
        <dsp:cNvSpPr/>
      </dsp:nvSpPr>
      <dsp:spPr>
        <a:xfrm>
          <a:off x="4903672" y="709992"/>
          <a:ext cx="2149766" cy="61689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The Alameda County Study</a:t>
          </a:r>
        </a:p>
      </dsp:txBody>
      <dsp:txXfrm>
        <a:off x="4903672" y="709992"/>
        <a:ext cx="2149766" cy="616892"/>
      </dsp:txXfrm>
    </dsp:sp>
    <dsp:sp modelId="{F04B4D3F-1050-420E-A6AD-0F870832AC2B}">
      <dsp:nvSpPr>
        <dsp:cNvPr id="0" name=""/>
        <dsp:cNvSpPr/>
      </dsp:nvSpPr>
      <dsp:spPr>
        <a:xfrm>
          <a:off x="4903672" y="1326885"/>
          <a:ext cx="2149766" cy="2204921"/>
        </a:xfrm>
        <a:prstGeom prst="rect">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Demographically diverse</a:t>
          </a:r>
        </a:p>
        <a:p>
          <a:pPr marL="171450" lvl="1" indent="-171450" algn="l" defTabSz="755650">
            <a:lnSpc>
              <a:spcPct val="90000"/>
            </a:lnSpc>
            <a:spcBef>
              <a:spcPct val="0"/>
            </a:spcBef>
            <a:spcAft>
              <a:spcPct val="15000"/>
            </a:spcAft>
            <a:buChar char="•"/>
          </a:pPr>
          <a:r>
            <a:rPr lang="en-US" sz="1700" kern="1200"/>
            <a:t>Longitudinal starting with participants at age 65</a:t>
          </a:r>
        </a:p>
      </dsp:txBody>
      <dsp:txXfrm>
        <a:off x="4903672" y="1326885"/>
        <a:ext cx="2149766" cy="22049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B06CC0-AA0E-4766-8497-AC4D19A81DD0}">
      <dsp:nvSpPr>
        <dsp:cNvPr id="0" name=""/>
        <dsp:cNvSpPr/>
      </dsp:nvSpPr>
      <dsp:spPr>
        <a:xfrm>
          <a:off x="644" y="224904"/>
          <a:ext cx="2512739" cy="150764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Focusing on the right goals at the right time</a:t>
          </a:r>
        </a:p>
      </dsp:txBody>
      <dsp:txXfrm>
        <a:off x="644" y="224904"/>
        <a:ext cx="2512739" cy="1507643"/>
      </dsp:txXfrm>
    </dsp:sp>
    <dsp:sp modelId="{59E54800-7CB7-4503-BCEB-42C97F943D4F}">
      <dsp:nvSpPr>
        <dsp:cNvPr id="0" name=""/>
        <dsp:cNvSpPr/>
      </dsp:nvSpPr>
      <dsp:spPr>
        <a:xfrm>
          <a:off x="2764657" y="224904"/>
          <a:ext cx="2512739" cy="1507643"/>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As people age, goals tend to focus more on stability, maintenance, and regulation of emotions</a:t>
          </a:r>
        </a:p>
      </dsp:txBody>
      <dsp:txXfrm>
        <a:off x="2764657" y="224904"/>
        <a:ext cx="2512739" cy="1507643"/>
      </dsp:txXfrm>
    </dsp:sp>
    <dsp:sp modelId="{D2BCE79C-767A-4F7C-A772-43CA451EE218}">
      <dsp:nvSpPr>
        <dsp:cNvPr id="0" name=""/>
        <dsp:cNvSpPr/>
      </dsp:nvSpPr>
      <dsp:spPr>
        <a:xfrm>
          <a:off x="644" y="1983821"/>
          <a:ext cx="2512739" cy="1507643"/>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Developmentally appropriate goals matched to perceptions of how much time one has left</a:t>
          </a:r>
        </a:p>
      </dsp:txBody>
      <dsp:txXfrm>
        <a:off x="644" y="1983821"/>
        <a:ext cx="2512739" cy="1507643"/>
      </dsp:txXfrm>
    </dsp:sp>
    <dsp:sp modelId="{BA0A4230-628F-488F-AAF0-DFE3128A202B}">
      <dsp:nvSpPr>
        <dsp:cNvPr id="0" name=""/>
        <dsp:cNvSpPr/>
      </dsp:nvSpPr>
      <dsp:spPr>
        <a:xfrm>
          <a:off x="2764657" y="1983821"/>
          <a:ext cx="2512739" cy="1507643"/>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Older adults tend to evidence positivity effect</a:t>
          </a:r>
        </a:p>
        <a:p>
          <a:pPr marL="114300" lvl="1" indent="-114300" algn="l" defTabSz="577850">
            <a:lnSpc>
              <a:spcPct val="90000"/>
            </a:lnSpc>
            <a:spcBef>
              <a:spcPct val="0"/>
            </a:spcBef>
            <a:spcAft>
              <a:spcPct val="15000"/>
            </a:spcAft>
            <a:buChar char="•"/>
          </a:pPr>
          <a:r>
            <a:rPr lang="en-US" sz="1300" kern="1200"/>
            <a:t>Enhanced processing of positive emotional stimuli compared to negative emotional stimuli</a:t>
          </a:r>
        </a:p>
      </dsp:txBody>
      <dsp:txXfrm>
        <a:off x="2764657" y="1983821"/>
        <a:ext cx="2512739" cy="1507643"/>
      </dsp:txXfrm>
    </dsp:sp>
    <dsp:sp modelId="{8A34FB61-6446-4550-BAC8-7BA708DC7304}">
      <dsp:nvSpPr>
        <dsp:cNvPr id="0" name=""/>
        <dsp:cNvSpPr/>
      </dsp:nvSpPr>
      <dsp:spPr>
        <a:xfrm>
          <a:off x="1382650" y="3742739"/>
          <a:ext cx="2512739" cy="150764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Older adults tend to invest time and emotion into most important people in social networks</a:t>
          </a:r>
        </a:p>
      </dsp:txBody>
      <dsp:txXfrm>
        <a:off x="1382650" y="3742739"/>
        <a:ext cx="2512739" cy="15076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CA967-E0E8-4230-A479-226F5D031877}">
      <dsp:nvSpPr>
        <dsp:cNvPr id="0" name=""/>
        <dsp:cNvSpPr/>
      </dsp:nvSpPr>
      <dsp:spPr>
        <a:xfrm>
          <a:off x="0" y="212783"/>
          <a:ext cx="5278040" cy="10342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Paradox: older adults tend to be less physically healthy, but happier</a:t>
          </a:r>
        </a:p>
      </dsp:txBody>
      <dsp:txXfrm>
        <a:off x="50489" y="263272"/>
        <a:ext cx="5177062" cy="933302"/>
      </dsp:txXfrm>
    </dsp:sp>
    <dsp:sp modelId="{15FF5019-0F05-48A5-95C3-D49C709EB893}">
      <dsp:nvSpPr>
        <dsp:cNvPr id="0" name=""/>
        <dsp:cNvSpPr/>
      </dsp:nvSpPr>
      <dsp:spPr>
        <a:xfrm>
          <a:off x="0" y="1321943"/>
          <a:ext cx="5278040" cy="103428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Study from 160 countries</a:t>
          </a:r>
        </a:p>
      </dsp:txBody>
      <dsp:txXfrm>
        <a:off x="50489" y="1372432"/>
        <a:ext cx="5177062" cy="933302"/>
      </dsp:txXfrm>
    </dsp:sp>
    <dsp:sp modelId="{58D9F226-6105-4278-8D6C-4BA4C9A664B0}">
      <dsp:nvSpPr>
        <dsp:cNvPr id="0" name=""/>
        <dsp:cNvSpPr/>
      </dsp:nvSpPr>
      <dsp:spPr>
        <a:xfrm>
          <a:off x="0" y="2356223"/>
          <a:ext cx="5278040" cy="2906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57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U-shaped association between age and emotional well-being</a:t>
          </a:r>
        </a:p>
        <a:p>
          <a:pPr marL="457200" lvl="2" indent="-228600" algn="l" defTabSz="889000">
            <a:lnSpc>
              <a:spcPct val="90000"/>
            </a:lnSpc>
            <a:spcBef>
              <a:spcPct val="0"/>
            </a:spcBef>
            <a:spcAft>
              <a:spcPct val="20000"/>
            </a:spcAft>
            <a:buChar char="•"/>
          </a:pPr>
          <a:r>
            <a:rPr lang="en-US" sz="2000" kern="1200"/>
            <a:t>Mid-20s through 40s: well-being decreases</a:t>
          </a:r>
        </a:p>
        <a:p>
          <a:pPr marL="457200" lvl="2" indent="-228600" algn="l" defTabSz="889000">
            <a:lnSpc>
              <a:spcPct val="90000"/>
            </a:lnSpc>
            <a:spcBef>
              <a:spcPct val="0"/>
            </a:spcBef>
            <a:spcAft>
              <a:spcPct val="20000"/>
            </a:spcAft>
            <a:buChar char="•"/>
          </a:pPr>
          <a:r>
            <a:rPr lang="en-US" sz="2000" kern="1200"/>
            <a:t>Age 45 – 54: lowest levels of well-being</a:t>
          </a:r>
        </a:p>
        <a:p>
          <a:pPr marL="457200" lvl="2" indent="-228600" algn="l" defTabSz="889000">
            <a:lnSpc>
              <a:spcPct val="90000"/>
            </a:lnSpc>
            <a:spcBef>
              <a:spcPct val="0"/>
            </a:spcBef>
            <a:spcAft>
              <a:spcPct val="20000"/>
            </a:spcAft>
            <a:buChar char="•"/>
          </a:pPr>
          <a:r>
            <a:rPr lang="en-US" sz="2000" kern="1200"/>
            <a:t>Mid-50s through 80s: well-being increases</a:t>
          </a:r>
        </a:p>
        <a:p>
          <a:pPr marL="228600" lvl="1" indent="-228600" algn="l" defTabSz="889000">
            <a:lnSpc>
              <a:spcPct val="90000"/>
            </a:lnSpc>
            <a:spcBef>
              <a:spcPct val="0"/>
            </a:spcBef>
            <a:spcAft>
              <a:spcPct val="20000"/>
            </a:spcAft>
            <a:buChar char="•"/>
          </a:pPr>
          <a:r>
            <a:rPr lang="en-US" sz="2000" kern="1200"/>
            <a:t>Stress has a similar (but opposite direction) trajectory</a:t>
          </a:r>
        </a:p>
        <a:p>
          <a:pPr marL="228600" lvl="1" indent="-228600" algn="l" defTabSz="889000">
            <a:lnSpc>
              <a:spcPct val="90000"/>
            </a:lnSpc>
            <a:spcBef>
              <a:spcPct val="0"/>
            </a:spcBef>
            <a:spcAft>
              <a:spcPct val="20000"/>
            </a:spcAft>
            <a:buChar char="•"/>
          </a:pPr>
          <a:r>
            <a:rPr lang="en-US" sz="2000" kern="1200"/>
            <a:t>Most true for high-income, English-speaking countries</a:t>
          </a:r>
        </a:p>
      </dsp:txBody>
      <dsp:txXfrm>
        <a:off x="0" y="2356223"/>
        <a:ext cx="5278040" cy="290627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11/4/2025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11/4/2025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lang="en-US" sz="1200" u="sng" dirty="0"/>
              <a:t>Factors for the cultivation of resilience</a:t>
            </a:r>
            <a:r>
              <a:rPr lang="en-US" sz="1200" dirty="0"/>
              <a:t>:</a:t>
            </a:r>
            <a:r>
              <a:rPr lang="en-US" sz="1200" baseline="0" dirty="0"/>
              <a:t> </a:t>
            </a:r>
            <a:r>
              <a:rPr lang="en-US" sz="1200" kern="1200" dirty="0">
                <a:solidFill>
                  <a:schemeClr val="tx1"/>
                </a:solidFill>
                <a:effectLst/>
                <a:latin typeface="+mn-lt"/>
                <a:ea typeface="+mn-ea"/>
                <a:cs typeface="+mn-cs"/>
              </a:rPr>
              <a:t>Other factors that enhance resilience include task- or problem-focused coping, commitment to goals, humor, patience, optimism, faith, altruism,  mindfulness and self-compassion therapy and the use of mature defense mechanisms.</a:t>
            </a:r>
          </a:p>
          <a:p>
            <a:pPr hangingPunct="0"/>
            <a:r>
              <a:rPr lang="en-US" sz="1200" kern="1200" dirty="0">
                <a:solidFill>
                  <a:schemeClr val="tx1"/>
                </a:solidFill>
                <a:effectLst/>
                <a:latin typeface="+mn-lt"/>
                <a:ea typeface="+mn-ea"/>
                <a:cs typeface="+mn-cs"/>
              </a:rPr>
              <a:t> </a:t>
            </a:r>
          </a:p>
          <a:p>
            <a:pPr hangingPunct="0"/>
            <a:r>
              <a:rPr lang="en-US" sz="1200" kern="1200" dirty="0">
                <a:solidFill>
                  <a:schemeClr val="tx1"/>
                </a:solidFill>
                <a:effectLst/>
                <a:latin typeface="+mn-lt"/>
                <a:ea typeface="+mn-ea"/>
                <a:cs typeface="+mn-cs"/>
              </a:rPr>
              <a:t>The APA suggests the following factors are generally important for the cultivation of resilience:</a:t>
            </a:r>
          </a:p>
          <a:p>
            <a:pPr hangingPunct="0"/>
            <a:r>
              <a:rPr lang="en-US" sz="1200" kern="1200" dirty="0">
                <a:solidFill>
                  <a:schemeClr val="tx1"/>
                </a:solidFill>
                <a:effectLst/>
                <a:latin typeface="+mn-lt"/>
                <a:ea typeface="+mn-ea"/>
                <a:cs typeface="+mn-cs"/>
              </a:rPr>
              <a:t>1. Make connections with family, friends, or community.</a:t>
            </a:r>
          </a:p>
          <a:p>
            <a:pPr hangingPunct="0"/>
            <a:r>
              <a:rPr lang="en-US" sz="1200" kern="1200" dirty="0">
                <a:solidFill>
                  <a:schemeClr val="tx1"/>
                </a:solidFill>
                <a:effectLst/>
                <a:latin typeface="+mn-lt"/>
                <a:ea typeface="+mn-ea"/>
                <a:cs typeface="+mn-cs"/>
              </a:rPr>
              <a:t>2. Avoid seeing crises as insurmountable problems.</a:t>
            </a:r>
          </a:p>
          <a:p>
            <a:pPr hangingPunct="0"/>
            <a:r>
              <a:rPr lang="en-US" sz="1200" kern="1200" dirty="0">
                <a:solidFill>
                  <a:schemeClr val="tx1"/>
                </a:solidFill>
                <a:effectLst/>
                <a:latin typeface="+mn-lt"/>
                <a:ea typeface="+mn-ea"/>
                <a:cs typeface="+mn-cs"/>
              </a:rPr>
              <a:t>3. Accept that change is part of living.</a:t>
            </a:r>
          </a:p>
          <a:p>
            <a:pPr hangingPunct="0"/>
            <a:r>
              <a:rPr lang="en-US" sz="1200" kern="1200" dirty="0">
                <a:solidFill>
                  <a:schemeClr val="tx1"/>
                </a:solidFill>
                <a:effectLst/>
                <a:latin typeface="+mn-lt"/>
                <a:ea typeface="+mn-ea"/>
                <a:cs typeface="+mn-cs"/>
              </a:rPr>
              <a:t>4. Move toward your goals.</a:t>
            </a:r>
          </a:p>
          <a:p>
            <a:pPr hangingPunct="0"/>
            <a:r>
              <a:rPr lang="en-US" sz="1200" kern="1200" dirty="0">
                <a:solidFill>
                  <a:schemeClr val="tx1"/>
                </a:solidFill>
                <a:effectLst/>
                <a:latin typeface="+mn-lt"/>
                <a:ea typeface="+mn-ea"/>
                <a:cs typeface="+mn-cs"/>
              </a:rPr>
              <a:t>5. Take decisive action, use problem- and task-focused coping.</a:t>
            </a:r>
          </a:p>
          <a:p>
            <a:pPr hangingPunct="0"/>
            <a:r>
              <a:rPr lang="en-US" sz="1200" kern="1200" dirty="0">
                <a:solidFill>
                  <a:schemeClr val="tx1"/>
                </a:solidFill>
                <a:effectLst/>
                <a:latin typeface="+mn-lt"/>
                <a:ea typeface="+mn-ea"/>
                <a:cs typeface="+mn-cs"/>
              </a:rPr>
              <a:t>6. Look for opportunities for self-discovery.</a:t>
            </a:r>
          </a:p>
          <a:p>
            <a:pPr hangingPunct="0"/>
            <a:r>
              <a:rPr lang="en-US" sz="1200" kern="1200" dirty="0">
                <a:solidFill>
                  <a:schemeClr val="tx1"/>
                </a:solidFill>
                <a:effectLst/>
                <a:latin typeface="+mn-lt"/>
                <a:ea typeface="+mn-ea"/>
                <a:cs typeface="+mn-cs"/>
              </a:rPr>
              <a:t>7. Nurture a positive view of yourself.</a:t>
            </a:r>
          </a:p>
          <a:p>
            <a:pPr hangingPunct="0"/>
            <a:r>
              <a:rPr lang="en-US" sz="1200" kern="1200" dirty="0">
                <a:solidFill>
                  <a:schemeClr val="tx1"/>
                </a:solidFill>
                <a:effectLst/>
                <a:latin typeface="+mn-lt"/>
                <a:ea typeface="+mn-ea"/>
                <a:cs typeface="+mn-cs"/>
              </a:rPr>
              <a:t>8. Keep events in perspective.</a:t>
            </a:r>
          </a:p>
          <a:p>
            <a:pPr hangingPunct="0"/>
            <a:r>
              <a:rPr lang="en-US" sz="1200" kern="1200" dirty="0">
                <a:solidFill>
                  <a:schemeClr val="tx1"/>
                </a:solidFill>
                <a:effectLst/>
                <a:latin typeface="+mn-lt"/>
                <a:ea typeface="+mn-ea"/>
                <a:cs typeface="+mn-cs"/>
              </a:rPr>
              <a:t>9. Maintain a hopeful outlook.</a:t>
            </a:r>
          </a:p>
          <a:p>
            <a:pPr hangingPunct="0"/>
            <a:r>
              <a:rPr lang="en-US" sz="1200" kern="1200" dirty="0">
                <a:solidFill>
                  <a:schemeClr val="tx1"/>
                </a:solidFill>
                <a:effectLst/>
                <a:latin typeface="+mn-lt"/>
                <a:ea typeface="+mn-ea"/>
                <a:cs typeface="+mn-cs"/>
              </a:rPr>
              <a:t>10. Take care of yourself, attend to your needs and feelings.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IN" dirty="0"/>
          </a:p>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32</a:t>
            </a:fld>
            <a:endParaRPr lang="en-US"/>
          </a:p>
        </p:txBody>
      </p:sp>
    </p:spTree>
    <p:extLst>
      <p:ext uri="{BB962C8B-B14F-4D97-AF65-F5344CB8AC3E}">
        <p14:creationId xmlns:p14="http://schemas.microsoft.com/office/powerpoint/2010/main" val="3975640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lumMod val="20000"/>
            <a:lumOff val="80000"/>
            <a:alpha val="28000"/>
          </a:schemeClr>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5"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lumMod val="75000"/>
                    <a:lumOff val="2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3.xml"/><Relationship Id="rId1" Type="http://schemas.openxmlformats.org/officeDocument/2006/relationships/video" Target="https://www.youtube.com/embed/yMhs0HSTHl4?feature=oembed"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hyperlink" Target="https://www.thegoodcaregroup.com/news/challenging-negative-stereotypes-about-ageing/"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youtube.com/watch?v=CjnfoFg7i7g"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7836" y="4559523"/>
            <a:ext cx="8176104" cy="1236440"/>
          </a:xfrm>
          <a:noFill/>
        </p:spPr>
        <p:txBody>
          <a:bodyPr vert="horz" lIns="91440" tIns="45720" rIns="91440" bIns="45720" rtlCol="0" anchor="b">
            <a:normAutofit/>
          </a:bodyPr>
          <a:lstStyle/>
          <a:p>
            <a:r>
              <a:rPr lang="en-US" sz="5700"/>
              <a:t>Chapter 9 </a:t>
            </a:r>
          </a:p>
        </p:txBody>
      </p:sp>
      <p:sp>
        <p:nvSpPr>
          <p:cNvPr id="3" name="Text Placeholder 2"/>
          <p:cNvSpPr>
            <a:spLocks noGrp="1"/>
          </p:cNvSpPr>
          <p:nvPr>
            <p:ph type="body" idx="1"/>
          </p:nvPr>
        </p:nvSpPr>
        <p:spPr>
          <a:xfrm>
            <a:off x="487836" y="5795963"/>
            <a:ext cx="8176104" cy="560388"/>
          </a:xfrm>
          <a:noFill/>
        </p:spPr>
        <p:txBody>
          <a:bodyPr vert="horz" lIns="91440" tIns="45720" rIns="91440" bIns="45720" rtlCol="0">
            <a:normAutofit/>
          </a:bodyPr>
          <a:lstStyle/>
          <a:p>
            <a:r>
              <a:rPr lang="en-US" sz="2400"/>
              <a:t>Successful Aging</a:t>
            </a:r>
          </a:p>
        </p:txBody>
      </p:sp>
      <p:pic>
        <p:nvPicPr>
          <p:cNvPr id="4" name="Picture 3">
            <a:extLst>
              <a:ext uri="{FF2B5EF4-FFF2-40B4-BE49-F238E27FC236}">
                <a16:creationId xmlns:a16="http://schemas.microsoft.com/office/drawing/2014/main" id="{F3AEB066-F542-46EF-9DA6-30FF3B7078EB}"/>
              </a:ext>
            </a:extLst>
          </p:cNvPr>
          <p:cNvPicPr>
            <a:picLocks noChangeAspect="1"/>
          </p:cNvPicPr>
          <p:nvPr/>
        </p:nvPicPr>
        <p:blipFill rotWithShape="1">
          <a:blip r:embed="rId2"/>
          <a:srcRect l="9412"/>
          <a:stretch/>
        </p:blipFill>
        <p:spPr>
          <a:xfrm>
            <a:off x="20" y="1"/>
            <a:ext cx="9143979" cy="4239482"/>
          </a:xfrm>
          <a:prstGeom prst="rect">
            <a:avLst/>
          </a:prstGeom>
        </p:spPr>
      </p:pic>
      <p:sp>
        <p:nvSpPr>
          <p:cNvPr id="5" name="Footer Placeholder 3">
            <a:extLst>
              <a:ext uri="{FF2B5EF4-FFF2-40B4-BE49-F238E27FC236}">
                <a16:creationId xmlns:a16="http://schemas.microsoft.com/office/drawing/2014/main" id="{77097A68-F015-564D-855F-C948C3F93CD6}"/>
              </a:ext>
            </a:extLst>
          </p:cNvPr>
          <p:cNvSpPr>
            <a:spLocks noGrp="1"/>
          </p:cNvSpPr>
          <p:nvPr>
            <p:ph type="ftr" sz="quarter" idx="10"/>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prstClr val="black">
                    <a:tint val="75000"/>
                  </a:prstClr>
                </a:solidFill>
                <a:latin typeface="Calibri" panose="020F0502020204030204"/>
                <a:ea typeface="+mn-ea"/>
                <a:cs typeface="+mn-cs"/>
              </a:rPr>
              <a:t>The Science and Application of Positive Psychology © Cambridge University Press 2021</a:t>
            </a:r>
          </a:p>
        </p:txBody>
      </p:sp>
    </p:spTree>
    <p:extLst>
      <p:ext uri="{BB962C8B-B14F-4D97-AF65-F5344CB8AC3E}">
        <p14:creationId xmlns:p14="http://schemas.microsoft.com/office/powerpoint/2010/main" val="4177224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E750-8C6A-4A7C-9D0C-D652BE1E4A55}"/>
              </a:ext>
            </a:extLst>
          </p:cNvPr>
          <p:cNvSpPr>
            <a:spLocks noGrp="1"/>
          </p:cNvSpPr>
          <p:nvPr>
            <p:ph type="title"/>
          </p:nvPr>
        </p:nvSpPr>
        <p:spPr>
          <a:xfrm>
            <a:off x="5059971" y="1783959"/>
            <a:ext cx="3483937" cy="2889114"/>
          </a:xfrm>
        </p:spPr>
        <p:txBody>
          <a:bodyPr vert="horz" lIns="91440" tIns="45720" rIns="91440" bIns="45720" rtlCol="0" anchor="b">
            <a:normAutofit/>
          </a:bodyPr>
          <a:lstStyle/>
          <a:p>
            <a:r>
              <a:rPr lang="en-US" sz="6000" dirty="0">
                <a:solidFill>
                  <a:srgbClr val="FF0000"/>
                </a:solidFill>
              </a:rPr>
              <a:t>Sister Jean</a:t>
            </a:r>
          </a:p>
        </p:txBody>
      </p:sp>
      <p:sp>
        <p:nvSpPr>
          <p:cNvPr id="12" name="Freeform: Shape 11">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629586"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descr="An old person in a wheelchair waving&#10;&#10;Description automatically generated with low confidence">
            <a:extLst>
              <a:ext uri="{FF2B5EF4-FFF2-40B4-BE49-F238E27FC236}">
                <a16:creationId xmlns:a16="http://schemas.microsoft.com/office/drawing/2014/main" id="{3243DD80-A785-4C4C-9CA5-CBCF4510ECE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931"/>
          <a:stretch/>
        </p:blipFill>
        <p:spPr>
          <a:xfrm>
            <a:off x="20" y="10"/>
            <a:ext cx="4518095"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4" name="Footer Placeholder 3">
            <a:extLst>
              <a:ext uri="{FF2B5EF4-FFF2-40B4-BE49-F238E27FC236}">
                <a16:creationId xmlns:a16="http://schemas.microsoft.com/office/drawing/2014/main" id="{6256B7CD-DA1D-4FC3-9D99-C00B3A7D337A}"/>
              </a:ext>
            </a:extLst>
          </p:cNvPr>
          <p:cNvSpPr>
            <a:spLocks noGrp="1"/>
          </p:cNvSpPr>
          <p:nvPr>
            <p:ph type="ftr" sz="quarter" idx="11"/>
          </p:nvPr>
        </p:nvSpPr>
        <p:spPr>
          <a:xfrm>
            <a:off x="4625887" y="6375477"/>
            <a:ext cx="3192490" cy="365760"/>
          </a:xfrm>
        </p:spPr>
        <p:txBody>
          <a:bodyPr vert="horz" lIns="91440" tIns="45720" rIns="91440" bIns="45720" rtlCol="0" anchor="ctr">
            <a:normAutofit/>
          </a:bodyPr>
          <a:lstStyle/>
          <a:p>
            <a:pPr algn="l" defTabSz="914400">
              <a:lnSpc>
                <a:spcPct val="90000"/>
              </a:lnSpc>
              <a:spcAft>
                <a:spcPts val="600"/>
              </a:spcAft>
              <a:defRPr/>
            </a:pPr>
            <a:r>
              <a:rPr lang="en-US" sz="1000" kern="1200" dirty="0">
                <a:solidFill>
                  <a:schemeClr val="tx1">
                    <a:alpha val="80000"/>
                  </a:schemeClr>
                </a:solidFill>
                <a:latin typeface="Calibri" panose="020F0502020204030204"/>
                <a:ea typeface="+mn-ea"/>
                <a:cs typeface="+mn-cs"/>
              </a:rPr>
              <a:t>The Science and Application of Positive Psychology © Cambridge University Press 2021</a:t>
            </a:r>
          </a:p>
        </p:txBody>
      </p:sp>
    </p:spTree>
    <p:extLst>
      <p:ext uri="{BB962C8B-B14F-4D97-AF65-F5344CB8AC3E}">
        <p14:creationId xmlns:p14="http://schemas.microsoft.com/office/powerpoint/2010/main" val="373877085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103 Year Old Nun is the Chaplain of Loyola University Men's Basketball Team | EWTN News Nightly">
            <a:hlinkClick r:id="" action="ppaction://media"/>
            <a:extLst>
              <a:ext uri="{FF2B5EF4-FFF2-40B4-BE49-F238E27FC236}">
                <a16:creationId xmlns:a16="http://schemas.microsoft.com/office/drawing/2014/main" id="{C8487C8D-F7FD-058E-69BE-8242D193FD37}"/>
              </a:ext>
            </a:extLst>
          </p:cNvPr>
          <p:cNvPicPr>
            <a:picLocks noGrp="1" noRot="1" noChangeAspect="1"/>
          </p:cNvPicPr>
          <p:nvPr>
            <p:ph idx="1"/>
            <a:videoFile r:link="rId1"/>
          </p:nvPr>
        </p:nvPicPr>
        <p:blipFill>
          <a:blip r:embed="rId3"/>
          <a:stretch>
            <a:fillRect/>
          </a:stretch>
        </p:blipFill>
        <p:spPr>
          <a:xfrm>
            <a:off x="90488" y="629452"/>
            <a:ext cx="8963025" cy="5064109"/>
          </a:xfrm>
          <a:prstGeom prst="rect">
            <a:avLst/>
          </a:prstGeom>
          <a:noFill/>
        </p:spPr>
      </p:pic>
      <p:sp>
        <p:nvSpPr>
          <p:cNvPr id="4" name="Footer Placeholder 3">
            <a:extLst>
              <a:ext uri="{FF2B5EF4-FFF2-40B4-BE49-F238E27FC236}">
                <a16:creationId xmlns:a16="http://schemas.microsoft.com/office/drawing/2014/main" id="{B436CDFE-E260-FD55-3AAF-22CF13D7264B}"/>
              </a:ext>
            </a:extLst>
          </p:cNvPr>
          <p:cNvSpPr>
            <a:spLocks noGrp="1"/>
          </p:cNvSpPr>
          <p:nvPr>
            <p:ph type="ftr" sz="quarter" idx="11"/>
          </p:nvPr>
        </p:nvSpPr>
        <p:spPr/>
        <p:txBody>
          <a:bodyPr/>
          <a:lstStyle/>
          <a:p>
            <a:pPr>
              <a:spcAft>
                <a:spcPts val="600"/>
              </a:spcAft>
            </a:pPr>
            <a:r>
              <a:rPr lang="en-US"/>
              <a:t>The Science of Positive Psychology © Cambridge University Press 2021</a:t>
            </a:r>
          </a:p>
        </p:txBody>
      </p:sp>
    </p:spTree>
    <p:extLst>
      <p:ext uri="{BB962C8B-B14F-4D97-AF65-F5344CB8AC3E}">
        <p14:creationId xmlns:p14="http://schemas.microsoft.com/office/powerpoint/2010/main" val="58194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8055"/>
            <a:ext cx="5401456" cy="1508760"/>
          </a:xfrm>
          <a:prstGeom prst="rect">
            <a:avLst/>
          </a:prstGeom>
          <a:solidFill>
            <a:srgbClr val="4E453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496F085-C060-4934-91A7-C722ED206E1F}"/>
              </a:ext>
            </a:extLst>
          </p:cNvPr>
          <p:cNvSpPr>
            <a:spLocks noGrp="1"/>
          </p:cNvSpPr>
          <p:nvPr>
            <p:ph type="title"/>
          </p:nvPr>
        </p:nvSpPr>
        <p:spPr>
          <a:xfrm>
            <a:off x="582930" y="694944"/>
            <a:ext cx="4957791" cy="1042416"/>
          </a:xfrm>
        </p:spPr>
        <p:txBody>
          <a:bodyPr>
            <a:normAutofit/>
          </a:bodyPr>
          <a:lstStyle/>
          <a:p>
            <a:r>
              <a:rPr lang="en-US" sz="3700">
                <a:solidFill>
                  <a:srgbClr val="FFFFFF"/>
                </a:solidFill>
              </a:rPr>
              <a:t>Successful Aging</a:t>
            </a: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4316" y="450222"/>
            <a:ext cx="1396288" cy="1506594"/>
          </a:xfrm>
          <a:prstGeom prst="rect">
            <a:avLst/>
          </a:prstGeom>
          <a:solidFill>
            <a:srgbClr val="977B56">
              <a:alpha val="9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2735" y="453269"/>
            <a:ext cx="1397074" cy="1505231"/>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33A87B69-D1B1-4DA7-B224-F220FC523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2130552"/>
            <a:ext cx="5404104" cy="4270248"/>
          </a:xfrm>
          <a:prstGeom prst="rect">
            <a:avLst/>
          </a:prstGeom>
          <a:solidFill>
            <a:srgbClr val="977B56">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Picture 3"/>
          <p:cNvPicPr>
            <a:picLocks noChangeAspect="1"/>
          </p:cNvPicPr>
          <p:nvPr/>
        </p:nvPicPr>
        <p:blipFill>
          <a:blip r:embed="rId2"/>
          <a:stretch>
            <a:fillRect/>
          </a:stretch>
        </p:blipFill>
        <p:spPr>
          <a:xfrm>
            <a:off x="1020864" y="2331973"/>
            <a:ext cx="4060012" cy="3864530"/>
          </a:xfrm>
          <a:prstGeom prst="rect">
            <a:avLst/>
          </a:prstGeom>
        </p:spPr>
      </p:pic>
      <p:sp>
        <p:nvSpPr>
          <p:cNvPr id="18" name="Rectangle 1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4316" y="2127680"/>
            <a:ext cx="2915493" cy="4273119"/>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924C47-B52D-4EEF-AEC8-CFF5BBAC9F8A}"/>
              </a:ext>
            </a:extLst>
          </p:cNvPr>
          <p:cNvSpPr>
            <a:spLocks noGrp="1"/>
          </p:cNvSpPr>
          <p:nvPr>
            <p:ph idx="1"/>
          </p:nvPr>
        </p:nvSpPr>
        <p:spPr>
          <a:xfrm>
            <a:off x="6081983" y="2393792"/>
            <a:ext cx="2520159" cy="3740893"/>
          </a:xfrm>
        </p:spPr>
        <p:txBody>
          <a:bodyPr anchor="ctr">
            <a:normAutofit/>
          </a:bodyPr>
          <a:lstStyle/>
          <a:p>
            <a:pPr>
              <a:buFont typeface="Wingdings" pitchFamily="2" charset="2"/>
              <a:buNone/>
            </a:pPr>
            <a:r>
              <a:rPr lang="en-US" sz="2000" dirty="0">
                <a:latin typeface="Arial" pitchFamily="34" charset="0"/>
                <a:cs typeface="Arial" pitchFamily="34" charset="0"/>
              </a:rPr>
              <a:t>Successful achievement of the balance between gains and losses during aging</a:t>
            </a:r>
          </a:p>
          <a:p>
            <a:pPr>
              <a:buFont typeface="Wingdings" pitchFamily="2" charset="2"/>
              <a:buNone/>
            </a:pPr>
            <a:endParaRPr lang="en-US" sz="2000" dirty="0">
              <a:latin typeface="Arial" pitchFamily="34" charset="0"/>
              <a:cs typeface="Arial" pitchFamily="34" charset="0"/>
            </a:endParaRPr>
          </a:p>
          <a:p>
            <a:pPr>
              <a:buFont typeface="Wingdings" pitchFamily="2" charset="2"/>
              <a:buNone/>
            </a:pPr>
            <a:r>
              <a:rPr lang="en-US" sz="2000" i="1" dirty="0">
                <a:latin typeface="Arial" pitchFamily="34" charset="0"/>
                <a:cs typeface="Arial" pitchFamily="34" charset="0"/>
              </a:rPr>
              <a:t>Adding life to years </a:t>
            </a:r>
            <a:r>
              <a:rPr lang="en-US" sz="2000" dirty="0">
                <a:latin typeface="Arial" pitchFamily="34" charset="0"/>
                <a:cs typeface="Arial" pitchFamily="34" charset="0"/>
              </a:rPr>
              <a:t>in addition to adding years to life</a:t>
            </a:r>
          </a:p>
          <a:p>
            <a:pPr marL="0" indent="0">
              <a:buNone/>
            </a:pPr>
            <a:endParaRPr lang="en-US" sz="1600" dirty="0"/>
          </a:p>
        </p:txBody>
      </p:sp>
      <p:sp>
        <p:nvSpPr>
          <p:cNvPr id="5" name="Footer Placeholder 3">
            <a:extLst>
              <a:ext uri="{FF2B5EF4-FFF2-40B4-BE49-F238E27FC236}">
                <a16:creationId xmlns:a16="http://schemas.microsoft.com/office/drawing/2014/main" id="{0E2A2F51-5993-C7D8-547F-D94A458D8470}"/>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141800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6872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a:stretch>
            <a:fillRect/>
          </a:stretch>
        </p:blipFill>
        <p:spPr>
          <a:xfrm>
            <a:off x="1304512" y="643467"/>
            <a:ext cx="6534975" cy="5571066"/>
          </a:xfrm>
          <a:prstGeom prst="rect">
            <a:avLst/>
          </a:prstGeom>
        </p:spPr>
      </p:pic>
      <p:sp>
        <p:nvSpPr>
          <p:cNvPr id="4" name="Footer Placeholder 3"/>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2482142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AB8E-AA09-4627-87D8-1B485C23A486}"/>
              </a:ext>
            </a:extLst>
          </p:cNvPr>
          <p:cNvSpPr>
            <a:spLocks noGrp="1"/>
          </p:cNvSpPr>
          <p:nvPr>
            <p:ph type="title"/>
          </p:nvPr>
        </p:nvSpPr>
        <p:spPr/>
        <p:txBody>
          <a:bodyPr/>
          <a:lstStyle/>
          <a:p>
            <a:r>
              <a:rPr lang="en-US" dirty="0"/>
              <a:t>Why Does Aging Matter?</a:t>
            </a:r>
          </a:p>
        </p:txBody>
      </p:sp>
      <p:graphicFrame>
        <p:nvGraphicFramePr>
          <p:cNvPr id="8" name="Content Placeholder 2">
            <a:extLst>
              <a:ext uri="{FF2B5EF4-FFF2-40B4-BE49-F238E27FC236}">
                <a16:creationId xmlns:a16="http://schemas.microsoft.com/office/drawing/2014/main" id="{E0E2DAA0-7C17-F07F-D7B3-27FA51E1C601}"/>
              </a:ext>
            </a:extLst>
          </p:cNvPr>
          <p:cNvGraphicFramePr>
            <a:graphicFrameLocks noGrp="1"/>
          </p:cNvGraphicFramePr>
          <p:nvPr>
            <p:ph idx="1"/>
          </p:nvPr>
        </p:nvGraphicFramePr>
        <p:xfrm>
          <a:off x="542589" y="1524411"/>
          <a:ext cx="5739877"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3">
            <a:extLst>
              <a:ext uri="{FF2B5EF4-FFF2-40B4-BE49-F238E27FC236}">
                <a16:creationId xmlns:a16="http://schemas.microsoft.com/office/drawing/2014/main" id="{CCF669B0-B162-D7C3-869E-BBB5E9CAFFA9}"/>
              </a:ext>
            </a:extLst>
          </p:cNvPr>
          <p:cNvSpPr>
            <a:spLocks noGrp="1"/>
          </p:cNvSpPr>
          <p:nvPr>
            <p:ph type="ftr" sz="quarter" idx="11"/>
          </p:nvPr>
        </p:nvSpPr>
        <p:spPr>
          <a:xfrm>
            <a:off x="1894154" y="6361998"/>
            <a:ext cx="5953845" cy="461665"/>
          </a:xfrm>
        </p:spPr>
        <p:txBody>
          <a:bodyPr/>
          <a:lstStyle/>
          <a:p>
            <a:r>
              <a:rPr lang="en-US" dirty="0"/>
              <a:t>The Science and Application of Positive Psychology © Cambridge University Press 2021</a:t>
            </a:r>
          </a:p>
        </p:txBody>
      </p:sp>
      <p:sp>
        <p:nvSpPr>
          <p:cNvPr id="4" name="Oval 3"/>
          <p:cNvSpPr/>
          <p:nvPr/>
        </p:nvSpPr>
        <p:spPr>
          <a:xfrm>
            <a:off x="5959736" y="4026380"/>
            <a:ext cx="2302137" cy="1936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Positive:</a:t>
            </a:r>
          </a:p>
          <a:p>
            <a:pPr algn="ctr"/>
            <a:r>
              <a:rPr lang="en-US" sz="2400" dirty="0"/>
              <a:t>Kind   Warm</a:t>
            </a:r>
          </a:p>
          <a:p>
            <a:pPr algn="ctr"/>
            <a:r>
              <a:rPr lang="en-US" sz="2400" dirty="0"/>
              <a:t>Wise</a:t>
            </a:r>
          </a:p>
        </p:txBody>
      </p:sp>
      <p:sp>
        <p:nvSpPr>
          <p:cNvPr id="6" name="Oval 5"/>
          <p:cNvSpPr/>
          <p:nvPr/>
        </p:nvSpPr>
        <p:spPr>
          <a:xfrm>
            <a:off x="6777613" y="574050"/>
            <a:ext cx="2140772" cy="32057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2021 Data</a:t>
            </a:r>
          </a:p>
          <a:p>
            <a:pPr algn="ctr"/>
            <a:r>
              <a:rPr lang="en-US" dirty="0"/>
              <a:t>W 79.1</a:t>
            </a:r>
          </a:p>
          <a:p>
            <a:pPr algn="ctr"/>
            <a:r>
              <a:rPr lang="en-US" dirty="0"/>
              <a:t>M 73.2</a:t>
            </a:r>
          </a:p>
          <a:p>
            <a:pPr algn="ctr"/>
            <a:endParaRPr lang="en-US" sz="1000" dirty="0"/>
          </a:p>
          <a:p>
            <a:pPr algn="ctr"/>
            <a:r>
              <a:rPr lang="en-US" dirty="0"/>
              <a:t>2020 Data</a:t>
            </a:r>
          </a:p>
          <a:p>
            <a:pPr algn="ctr"/>
            <a:r>
              <a:rPr lang="en-US" dirty="0"/>
              <a:t>W 79.9</a:t>
            </a:r>
          </a:p>
          <a:p>
            <a:pPr algn="ctr"/>
            <a:r>
              <a:rPr lang="en-US" dirty="0"/>
              <a:t>M 74.2</a:t>
            </a:r>
          </a:p>
          <a:p>
            <a:pPr algn="ctr"/>
            <a:r>
              <a:rPr lang="en-US" dirty="0"/>
              <a:t>Change mostly due to </a:t>
            </a:r>
            <a:r>
              <a:rPr lang="en-US" dirty="0" err="1"/>
              <a:t>covid</a:t>
            </a:r>
            <a:r>
              <a:rPr lang="en-US" dirty="0"/>
              <a:t>, drug overdoses</a:t>
            </a:r>
          </a:p>
        </p:txBody>
      </p:sp>
    </p:spTree>
    <p:extLst>
      <p:ext uri="{BB962C8B-B14F-4D97-AF65-F5344CB8AC3E}">
        <p14:creationId xmlns:p14="http://schemas.microsoft.com/office/powerpoint/2010/main" val="1819665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vert="horz" lIns="91440" tIns="45720" rIns="91440" bIns="45720" rtlCol="0" anchor="b">
            <a:normAutofit/>
          </a:bodyPr>
          <a:lstStyle/>
          <a:p>
            <a:r>
              <a:rPr lang="en-US" sz="4700" kern="1200">
                <a:solidFill>
                  <a:schemeClr val="tx1"/>
                </a:solidFill>
                <a:latin typeface="+mj-lt"/>
                <a:ea typeface="+mj-ea"/>
                <a:cs typeface="+mj-cs"/>
              </a:rPr>
              <a:t>Myth vs Reality</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a:hlinkClick r:id="rId2"/>
              </a:rPr>
              <a:t>https://www.thegoodcaregroup.com/news/challenging-negative-stereotypes-about-ageing/</a:t>
            </a:r>
            <a:r>
              <a:rPr lang="en-US" sz="1900"/>
              <a:t> </a:t>
            </a:r>
          </a:p>
        </p:txBody>
      </p:sp>
      <p:sp>
        <p:nvSpPr>
          <p:cNvPr id="4" name="Footer Placeholder 3"/>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chemeClr val="tx1">
                    <a:tint val="75000"/>
                  </a:schemeClr>
                </a:solidFill>
                <a:latin typeface="+mn-lt"/>
                <a:ea typeface="+mn-ea"/>
                <a:cs typeface="+mn-cs"/>
              </a:rPr>
              <a:t>The Science of Positive Psychology © Cambridge University Press 2021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10231355"/>
              </p:ext>
            </p:extLst>
          </p:nvPr>
        </p:nvGraphicFramePr>
        <p:xfrm>
          <a:off x="3490722" y="746484"/>
          <a:ext cx="5177792" cy="5365033"/>
        </p:xfrm>
        <a:graphic>
          <a:graphicData uri="http://schemas.openxmlformats.org/drawingml/2006/table">
            <a:tbl>
              <a:tblPr firstRow="1" bandRow="1">
                <a:tableStyleId>{5C22544A-7EE6-4342-B048-85BDC9FD1C3A}</a:tableStyleId>
              </a:tblPr>
              <a:tblGrid>
                <a:gridCol w="1989779">
                  <a:extLst>
                    <a:ext uri="{9D8B030D-6E8A-4147-A177-3AD203B41FA5}">
                      <a16:colId xmlns:a16="http://schemas.microsoft.com/office/drawing/2014/main" val="1526871030"/>
                    </a:ext>
                  </a:extLst>
                </a:gridCol>
                <a:gridCol w="1621301">
                  <a:extLst>
                    <a:ext uri="{9D8B030D-6E8A-4147-A177-3AD203B41FA5}">
                      <a16:colId xmlns:a16="http://schemas.microsoft.com/office/drawing/2014/main" val="1363140557"/>
                    </a:ext>
                  </a:extLst>
                </a:gridCol>
                <a:gridCol w="1566712">
                  <a:extLst>
                    <a:ext uri="{9D8B030D-6E8A-4147-A177-3AD203B41FA5}">
                      <a16:colId xmlns:a16="http://schemas.microsoft.com/office/drawing/2014/main" val="47403365"/>
                    </a:ext>
                  </a:extLst>
                </a:gridCol>
              </a:tblGrid>
              <a:tr h="727129">
                <a:tc>
                  <a:txBody>
                    <a:bodyPr/>
                    <a:lstStyle/>
                    <a:p>
                      <a:pPr algn="ctr"/>
                      <a:r>
                        <a:rPr lang="en-US" sz="1900"/>
                        <a:t>Negative Stereotype</a:t>
                      </a:r>
                    </a:p>
                  </a:txBody>
                  <a:tcPr marL="98261" marR="98261" marT="49130" marB="49130"/>
                </a:tc>
                <a:tc>
                  <a:txBody>
                    <a:bodyPr/>
                    <a:lstStyle/>
                    <a:p>
                      <a:pPr algn="ctr"/>
                      <a:r>
                        <a:rPr lang="en-US" sz="1900"/>
                        <a:t>Expectation 18-64yo</a:t>
                      </a:r>
                    </a:p>
                  </a:txBody>
                  <a:tcPr marL="98261" marR="98261" marT="49130" marB="49130"/>
                </a:tc>
                <a:tc>
                  <a:txBody>
                    <a:bodyPr/>
                    <a:lstStyle/>
                    <a:p>
                      <a:pPr algn="ctr"/>
                      <a:r>
                        <a:rPr lang="en-US" sz="1900"/>
                        <a:t>Experience 65+</a:t>
                      </a:r>
                    </a:p>
                  </a:txBody>
                  <a:tcPr marL="98261" marR="98261" marT="49130" marB="49130"/>
                </a:tc>
                <a:extLst>
                  <a:ext uri="{0D108BD9-81ED-4DB2-BD59-A6C34878D82A}">
                    <a16:rowId xmlns:a16="http://schemas.microsoft.com/office/drawing/2014/main" val="409397738"/>
                  </a:ext>
                </a:extLst>
              </a:tr>
              <a:tr h="432347">
                <a:tc>
                  <a:txBody>
                    <a:bodyPr/>
                    <a:lstStyle/>
                    <a:p>
                      <a:r>
                        <a:rPr lang="en-US" sz="1900"/>
                        <a:t>Memory Loss</a:t>
                      </a:r>
                    </a:p>
                  </a:txBody>
                  <a:tcPr marL="98261" marR="98261" marT="49130" marB="49130"/>
                </a:tc>
                <a:tc>
                  <a:txBody>
                    <a:bodyPr/>
                    <a:lstStyle/>
                    <a:p>
                      <a:pPr algn="ctr"/>
                      <a:r>
                        <a:rPr lang="en-US" sz="1900"/>
                        <a:t>57%</a:t>
                      </a:r>
                    </a:p>
                  </a:txBody>
                  <a:tcPr marL="98261" marR="98261" marT="49130" marB="49130"/>
                </a:tc>
                <a:tc>
                  <a:txBody>
                    <a:bodyPr/>
                    <a:lstStyle/>
                    <a:p>
                      <a:pPr algn="ctr"/>
                      <a:r>
                        <a:rPr lang="en-US" sz="1900"/>
                        <a:t>25%</a:t>
                      </a:r>
                    </a:p>
                  </a:txBody>
                  <a:tcPr marL="98261" marR="98261" marT="49130" marB="49130"/>
                </a:tc>
                <a:extLst>
                  <a:ext uri="{0D108BD9-81ED-4DB2-BD59-A6C34878D82A}">
                    <a16:rowId xmlns:a16="http://schemas.microsoft.com/office/drawing/2014/main" val="277414356"/>
                  </a:ext>
                </a:extLst>
              </a:tr>
              <a:tr h="432347">
                <a:tc>
                  <a:txBody>
                    <a:bodyPr/>
                    <a:lstStyle/>
                    <a:p>
                      <a:r>
                        <a:rPr lang="en-US" sz="1900"/>
                        <a:t>Unable to drive</a:t>
                      </a:r>
                    </a:p>
                  </a:txBody>
                  <a:tcPr marL="98261" marR="98261" marT="49130" marB="49130"/>
                </a:tc>
                <a:tc>
                  <a:txBody>
                    <a:bodyPr/>
                    <a:lstStyle/>
                    <a:p>
                      <a:pPr algn="ctr"/>
                      <a:r>
                        <a:rPr lang="en-US" sz="1900"/>
                        <a:t>45%</a:t>
                      </a:r>
                    </a:p>
                  </a:txBody>
                  <a:tcPr marL="98261" marR="98261" marT="49130" marB="49130"/>
                </a:tc>
                <a:tc>
                  <a:txBody>
                    <a:bodyPr/>
                    <a:lstStyle/>
                    <a:p>
                      <a:pPr algn="ctr"/>
                      <a:r>
                        <a:rPr lang="en-US" sz="1900"/>
                        <a:t>14%</a:t>
                      </a:r>
                    </a:p>
                  </a:txBody>
                  <a:tcPr marL="98261" marR="98261" marT="49130" marB="49130"/>
                </a:tc>
                <a:extLst>
                  <a:ext uri="{0D108BD9-81ED-4DB2-BD59-A6C34878D82A}">
                    <a16:rowId xmlns:a16="http://schemas.microsoft.com/office/drawing/2014/main" val="3710927536"/>
                  </a:ext>
                </a:extLst>
              </a:tr>
              <a:tr h="432347">
                <a:tc>
                  <a:txBody>
                    <a:bodyPr/>
                    <a:lstStyle/>
                    <a:p>
                      <a:r>
                        <a:rPr lang="en-US" sz="1900"/>
                        <a:t>Serious</a:t>
                      </a:r>
                      <a:r>
                        <a:rPr lang="en-US" sz="1900" baseline="0"/>
                        <a:t> illness</a:t>
                      </a:r>
                      <a:endParaRPr lang="en-US" sz="1900"/>
                    </a:p>
                  </a:txBody>
                  <a:tcPr marL="98261" marR="98261" marT="49130" marB="49130"/>
                </a:tc>
                <a:tc>
                  <a:txBody>
                    <a:bodyPr/>
                    <a:lstStyle/>
                    <a:p>
                      <a:pPr algn="ctr"/>
                      <a:r>
                        <a:rPr lang="en-US" sz="1900"/>
                        <a:t>42%</a:t>
                      </a:r>
                    </a:p>
                  </a:txBody>
                  <a:tcPr marL="98261" marR="98261" marT="49130" marB="49130"/>
                </a:tc>
                <a:tc>
                  <a:txBody>
                    <a:bodyPr/>
                    <a:lstStyle/>
                    <a:p>
                      <a:pPr algn="ctr"/>
                      <a:r>
                        <a:rPr lang="en-US" sz="1900"/>
                        <a:t>21%</a:t>
                      </a:r>
                    </a:p>
                  </a:txBody>
                  <a:tcPr marL="98261" marR="98261" marT="49130" marB="49130"/>
                </a:tc>
                <a:extLst>
                  <a:ext uri="{0D108BD9-81ED-4DB2-BD59-A6C34878D82A}">
                    <a16:rowId xmlns:a16="http://schemas.microsoft.com/office/drawing/2014/main" val="2292450275"/>
                  </a:ext>
                </a:extLst>
              </a:tr>
              <a:tr h="727129">
                <a:tc>
                  <a:txBody>
                    <a:bodyPr/>
                    <a:lstStyle/>
                    <a:p>
                      <a:r>
                        <a:rPr lang="en-US" sz="1900"/>
                        <a:t>Sexually inactive</a:t>
                      </a:r>
                    </a:p>
                  </a:txBody>
                  <a:tcPr marL="98261" marR="98261" marT="49130" marB="49130"/>
                </a:tc>
                <a:tc>
                  <a:txBody>
                    <a:bodyPr/>
                    <a:lstStyle/>
                    <a:p>
                      <a:pPr algn="ctr"/>
                      <a:r>
                        <a:rPr lang="en-US" sz="1900"/>
                        <a:t>34%</a:t>
                      </a:r>
                    </a:p>
                  </a:txBody>
                  <a:tcPr marL="98261" marR="98261" marT="49130" marB="49130"/>
                </a:tc>
                <a:tc>
                  <a:txBody>
                    <a:bodyPr/>
                    <a:lstStyle/>
                    <a:p>
                      <a:pPr algn="ctr"/>
                      <a:r>
                        <a:rPr lang="en-US" sz="1900"/>
                        <a:t>21%</a:t>
                      </a:r>
                    </a:p>
                  </a:txBody>
                  <a:tcPr marL="98261" marR="98261" marT="49130" marB="49130"/>
                </a:tc>
                <a:extLst>
                  <a:ext uri="{0D108BD9-81ED-4DB2-BD59-A6C34878D82A}">
                    <a16:rowId xmlns:a16="http://schemas.microsoft.com/office/drawing/2014/main" val="1645498964"/>
                  </a:ext>
                </a:extLst>
              </a:tr>
              <a:tr h="727129">
                <a:tc>
                  <a:txBody>
                    <a:bodyPr/>
                    <a:lstStyle/>
                    <a:p>
                      <a:r>
                        <a:rPr lang="en-US" sz="1900"/>
                        <a:t>Depression</a:t>
                      </a:r>
                      <a:r>
                        <a:rPr lang="en-US" sz="1900" baseline="0"/>
                        <a:t> or sadness</a:t>
                      </a:r>
                      <a:endParaRPr lang="en-US" sz="1900"/>
                    </a:p>
                  </a:txBody>
                  <a:tcPr marL="98261" marR="98261" marT="49130" marB="49130"/>
                </a:tc>
                <a:tc>
                  <a:txBody>
                    <a:bodyPr/>
                    <a:lstStyle/>
                    <a:p>
                      <a:pPr algn="ctr"/>
                      <a:r>
                        <a:rPr lang="en-US" sz="1900"/>
                        <a:t>29%</a:t>
                      </a:r>
                    </a:p>
                  </a:txBody>
                  <a:tcPr marL="98261" marR="98261" marT="49130" marB="49130"/>
                </a:tc>
                <a:tc>
                  <a:txBody>
                    <a:bodyPr/>
                    <a:lstStyle/>
                    <a:p>
                      <a:pPr algn="ctr"/>
                      <a:r>
                        <a:rPr lang="en-US" sz="1900"/>
                        <a:t>20%</a:t>
                      </a:r>
                    </a:p>
                  </a:txBody>
                  <a:tcPr marL="98261" marR="98261" marT="49130" marB="49130"/>
                </a:tc>
                <a:extLst>
                  <a:ext uri="{0D108BD9-81ED-4DB2-BD59-A6C34878D82A}">
                    <a16:rowId xmlns:a16="http://schemas.microsoft.com/office/drawing/2014/main" val="2973678532"/>
                  </a:ext>
                </a:extLst>
              </a:tr>
              <a:tr h="727129">
                <a:tc>
                  <a:txBody>
                    <a:bodyPr/>
                    <a:lstStyle/>
                    <a:p>
                      <a:r>
                        <a:rPr lang="en-US" sz="1900"/>
                        <a:t>Not feeling needed</a:t>
                      </a:r>
                    </a:p>
                  </a:txBody>
                  <a:tcPr marL="98261" marR="98261" marT="49130" marB="49130"/>
                </a:tc>
                <a:tc>
                  <a:txBody>
                    <a:bodyPr/>
                    <a:lstStyle/>
                    <a:p>
                      <a:pPr algn="ctr"/>
                      <a:r>
                        <a:rPr lang="en-US" sz="1900"/>
                        <a:t>29%</a:t>
                      </a:r>
                    </a:p>
                  </a:txBody>
                  <a:tcPr marL="98261" marR="98261" marT="49130" marB="49130"/>
                </a:tc>
                <a:tc>
                  <a:txBody>
                    <a:bodyPr/>
                    <a:lstStyle/>
                    <a:p>
                      <a:pPr algn="ctr"/>
                      <a:r>
                        <a:rPr lang="en-US" sz="1900"/>
                        <a:t>9%</a:t>
                      </a:r>
                    </a:p>
                  </a:txBody>
                  <a:tcPr marL="98261" marR="98261" marT="49130" marB="49130"/>
                </a:tc>
                <a:extLst>
                  <a:ext uri="{0D108BD9-81ED-4DB2-BD59-A6C34878D82A}">
                    <a16:rowId xmlns:a16="http://schemas.microsoft.com/office/drawing/2014/main" val="2523394594"/>
                  </a:ext>
                </a:extLst>
              </a:tr>
              <a:tr h="432347">
                <a:tc>
                  <a:txBody>
                    <a:bodyPr/>
                    <a:lstStyle/>
                    <a:p>
                      <a:r>
                        <a:rPr lang="en-US" sz="1900"/>
                        <a:t>Loneliness</a:t>
                      </a:r>
                    </a:p>
                  </a:txBody>
                  <a:tcPr marL="98261" marR="98261" marT="49130" marB="49130"/>
                </a:tc>
                <a:tc>
                  <a:txBody>
                    <a:bodyPr/>
                    <a:lstStyle/>
                    <a:p>
                      <a:pPr algn="ctr"/>
                      <a:r>
                        <a:rPr lang="en-US" sz="1900"/>
                        <a:t>29%</a:t>
                      </a:r>
                    </a:p>
                  </a:txBody>
                  <a:tcPr marL="98261" marR="98261" marT="49130" marB="49130"/>
                </a:tc>
                <a:tc>
                  <a:txBody>
                    <a:bodyPr/>
                    <a:lstStyle/>
                    <a:p>
                      <a:pPr algn="ctr"/>
                      <a:r>
                        <a:rPr lang="en-US" sz="1900"/>
                        <a:t>17%</a:t>
                      </a:r>
                    </a:p>
                  </a:txBody>
                  <a:tcPr marL="98261" marR="98261" marT="49130" marB="49130"/>
                </a:tc>
                <a:extLst>
                  <a:ext uri="{0D108BD9-81ED-4DB2-BD59-A6C34878D82A}">
                    <a16:rowId xmlns:a16="http://schemas.microsoft.com/office/drawing/2014/main" val="3715116707"/>
                  </a:ext>
                </a:extLst>
              </a:tr>
              <a:tr h="727129">
                <a:tc>
                  <a:txBody>
                    <a:bodyPr/>
                    <a:lstStyle/>
                    <a:p>
                      <a:r>
                        <a:rPr lang="en-US" sz="1900"/>
                        <a:t>Trouble paying bills</a:t>
                      </a:r>
                    </a:p>
                  </a:txBody>
                  <a:tcPr marL="98261" marR="98261" marT="49130" marB="49130"/>
                </a:tc>
                <a:tc>
                  <a:txBody>
                    <a:bodyPr/>
                    <a:lstStyle/>
                    <a:p>
                      <a:pPr algn="ctr"/>
                      <a:r>
                        <a:rPr lang="en-US" sz="1900"/>
                        <a:t>24%</a:t>
                      </a:r>
                    </a:p>
                  </a:txBody>
                  <a:tcPr marL="98261" marR="98261" marT="49130" marB="49130"/>
                </a:tc>
                <a:tc>
                  <a:txBody>
                    <a:bodyPr/>
                    <a:lstStyle/>
                    <a:p>
                      <a:pPr algn="ctr"/>
                      <a:r>
                        <a:rPr lang="en-US" sz="1900"/>
                        <a:t>16%</a:t>
                      </a:r>
                    </a:p>
                  </a:txBody>
                  <a:tcPr marL="98261" marR="98261" marT="49130" marB="49130"/>
                </a:tc>
                <a:extLst>
                  <a:ext uri="{0D108BD9-81ED-4DB2-BD59-A6C34878D82A}">
                    <a16:rowId xmlns:a16="http://schemas.microsoft.com/office/drawing/2014/main" val="2272943865"/>
                  </a:ext>
                </a:extLst>
              </a:tr>
            </a:tbl>
          </a:graphicData>
        </a:graphic>
      </p:graphicFrame>
    </p:spTree>
    <p:extLst>
      <p:ext uri="{BB962C8B-B14F-4D97-AF65-F5344CB8AC3E}">
        <p14:creationId xmlns:p14="http://schemas.microsoft.com/office/powerpoint/2010/main" val="3752009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The Science of Positive Psychology © Cambridge University Press 2021</a:t>
            </a:r>
            <a:endParaRPr lang="en-US" dirty="0"/>
          </a:p>
        </p:txBody>
      </p:sp>
      <p:pic>
        <p:nvPicPr>
          <p:cNvPr id="1026" name="Picture 2" descr="ageing stereotyp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155" y="172122"/>
            <a:ext cx="4882353" cy="6095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877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a:bodyPr>
          <a:lstStyle/>
          <a:p>
            <a:r>
              <a:rPr lang="en-US" sz="4100"/>
              <a:t>Some Changes with Age</a:t>
            </a:r>
          </a:p>
        </p:txBody>
      </p:sp>
      <p:sp>
        <p:nvSpPr>
          <p:cNvPr id="3" name="Content Placeholder 2"/>
          <p:cNvSpPr>
            <a:spLocks noGrp="1"/>
          </p:cNvSpPr>
          <p:nvPr>
            <p:ph idx="1"/>
          </p:nvPr>
        </p:nvSpPr>
        <p:spPr>
          <a:xfrm>
            <a:off x="3724073" y="2438400"/>
            <a:ext cx="4939867" cy="3785419"/>
          </a:xfrm>
        </p:spPr>
        <p:txBody>
          <a:bodyPr>
            <a:normAutofit/>
          </a:bodyPr>
          <a:lstStyle/>
          <a:p>
            <a:pPr lvl="0" hangingPunct="0"/>
            <a:r>
              <a:rPr lang="en-US" sz="1700" dirty="0"/>
              <a:t>Some mental functions show a </a:t>
            </a:r>
            <a:r>
              <a:rPr lang="en-US" sz="1700" dirty="0">
                <a:solidFill>
                  <a:schemeClr val="accent5"/>
                </a:solidFill>
              </a:rPr>
              <a:t>decline</a:t>
            </a:r>
          </a:p>
          <a:p>
            <a:pPr lvl="1" hangingPunct="0"/>
            <a:r>
              <a:rPr lang="en-US" sz="1700" dirty="0"/>
              <a:t>Reaction times, ability to multitask, remember names</a:t>
            </a:r>
          </a:p>
          <a:p>
            <a:pPr lvl="0" hangingPunct="0"/>
            <a:r>
              <a:rPr lang="en-US" sz="1700" dirty="0"/>
              <a:t>Some functions show </a:t>
            </a:r>
            <a:r>
              <a:rPr lang="en-US" sz="1700" dirty="0">
                <a:solidFill>
                  <a:schemeClr val="accent5"/>
                </a:solidFill>
              </a:rPr>
              <a:t>improvement</a:t>
            </a:r>
            <a:r>
              <a:rPr lang="en-US" sz="1700" dirty="0"/>
              <a:t> with age</a:t>
            </a:r>
          </a:p>
          <a:p>
            <a:pPr lvl="1" hangingPunct="0"/>
            <a:r>
              <a:rPr lang="en-US" sz="1700" dirty="0"/>
              <a:t>Complex reasoning skills, empathy, inductive reasoning, verbal memory, making financial decisions, ability to see connections/grasp big picture</a:t>
            </a:r>
          </a:p>
          <a:p>
            <a:pPr lvl="0" hangingPunct="0"/>
            <a:r>
              <a:rPr lang="en-US" sz="1700" dirty="0"/>
              <a:t>Middle-aged brain may be less quick, but more shrewd</a:t>
            </a:r>
          </a:p>
          <a:p>
            <a:endParaRPr lang="en-US" sz="1700" dirty="0"/>
          </a:p>
        </p:txBody>
      </p:sp>
      <p:pic>
        <p:nvPicPr>
          <p:cNvPr id="6" name="Picture 5">
            <a:extLst>
              <a:ext uri="{FF2B5EF4-FFF2-40B4-BE49-F238E27FC236}">
                <a16:creationId xmlns:a16="http://schemas.microsoft.com/office/drawing/2014/main" id="{ED5378DC-4A62-E362-401F-8DA60C71F761}"/>
              </a:ext>
            </a:extLst>
          </p:cNvPr>
          <p:cNvPicPr>
            <a:picLocks noChangeAspect="1"/>
          </p:cNvPicPr>
          <p:nvPr/>
        </p:nvPicPr>
        <p:blipFill rotWithShape="1">
          <a:blip r:embed="rId2"/>
          <a:srcRect l="35591" r="35893"/>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7492B2"/>
            </a:solidFill>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of Positive Psychology © Cambridge University Press 2021</a:t>
            </a:r>
          </a:p>
        </p:txBody>
      </p:sp>
    </p:spTree>
    <p:extLst>
      <p:ext uri="{BB962C8B-B14F-4D97-AF65-F5344CB8AC3E}">
        <p14:creationId xmlns:p14="http://schemas.microsoft.com/office/powerpoint/2010/main" val="3244685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People with negative perceptions of aging have…</a:t>
            </a:r>
          </a:p>
        </p:txBody>
      </p:sp>
      <p:sp>
        <p:nvSpPr>
          <p:cNvPr id="4" name="Footer Placeholder 3"/>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of Positive Psychology © Cambridge University Press 2021</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2400" dirty="0"/>
              <a:t>Higher rates of cardiac disease.</a:t>
            </a:r>
          </a:p>
          <a:p>
            <a:r>
              <a:rPr lang="en-US" sz="2400" dirty="0"/>
              <a:t>A median life expectancy that’s 7.5 years shorter.</a:t>
            </a:r>
          </a:p>
          <a:p>
            <a:r>
              <a:rPr lang="en-US" sz="2400" dirty="0"/>
              <a:t>Less chance of recovering from severe disability.</a:t>
            </a:r>
          </a:p>
          <a:p>
            <a:r>
              <a:rPr lang="en-US" sz="2400" dirty="0"/>
              <a:t>Poorer memory and cognition.</a:t>
            </a:r>
          </a:p>
          <a:p>
            <a:r>
              <a:rPr lang="en-US" sz="2400" dirty="0"/>
              <a:t>Lower quality diet and exercise regimes.</a:t>
            </a:r>
          </a:p>
          <a:p>
            <a:r>
              <a:rPr lang="en-US" sz="2400" dirty="0"/>
              <a:t>Less inclination to take medication as instructed.</a:t>
            </a:r>
          </a:p>
          <a:p>
            <a:r>
              <a:rPr lang="en-US" sz="2400" dirty="0"/>
              <a:t>Shakier handwriting.</a:t>
            </a:r>
          </a:p>
        </p:txBody>
      </p:sp>
    </p:spTree>
    <p:extLst>
      <p:ext uri="{BB962C8B-B14F-4D97-AF65-F5344CB8AC3E}">
        <p14:creationId xmlns:p14="http://schemas.microsoft.com/office/powerpoint/2010/main" val="4263484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r>
              <a:rPr lang="en-US" sz="3300">
                <a:solidFill>
                  <a:srgbClr val="FFFFFF"/>
                </a:solidFill>
              </a:rPr>
              <a:t>Rowe &amp; Kahn Successful Again</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284781" y="686862"/>
            <a:ext cx="5278194" cy="5475129"/>
          </a:xfrm>
        </p:spPr>
        <p:txBody>
          <a:bodyPr anchor="ctr">
            <a:normAutofit/>
          </a:bodyPr>
          <a:lstStyle/>
          <a:p>
            <a:r>
              <a:rPr lang="en-US" sz="2300"/>
              <a:t>Distinguished 3 groups</a:t>
            </a:r>
          </a:p>
          <a:p>
            <a:pPr lvl="1"/>
            <a:r>
              <a:rPr lang="en-US" sz="2300"/>
              <a:t>Older adults with pathology or disease states</a:t>
            </a:r>
          </a:p>
          <a:p>
            <a:pPr lvl="1"/>
            <a:r>
              <a:rPr lang="en-US" sz="2300"/>
              <a:t>Normal older adults</a:t>
            </a:r>
          </a:p>
          <a:p>
            <a:pPr lvl="1"/>
            <a:r>
              <a:rPr lang="en-US" sz="2300"/>
              <a:t>Successful agers</a:t>
            </a:r>
          </a:p>
          <a:p>
            <a:r>
              <a:rPr lang="en-US" sz="2300"/>
              <a:t>Normal aging associated with modest declines in physical and cognitive functioning (not pathological), and even though modest, do put at risk of problematic outcomes in physical, psychological, economic, and interpersonal difficulties</a:t>
            </a:r>
          </a:p>
        </p:txBody>
      </p:sp>
      <p:sp>
        <p:nvSpPr>
          <p:cNvPr id="4" name="Footer Placeholder 3"/>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of Positive Psychology © Cambridge University Press 2021</a:t>
            </a:r>
          </a:p>
        </p:txBody>
      </p:sp>
    </p:spTree>
    <p:extLst>
      <p:ext uri="{BB962C8B-B14F-4D97-AF65-F5344CB8AC3E}">
        <p14:creationId xmlns:p14="http://schemas.microsoft.com/office/powerpoint/2010/main" val="4007767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392A187-FA13-4151-9F0A-55C5FF9FE495}"/>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Rowe &amp; Kahn Criteria</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44CF107-8C3C-46DC-9CC4-65544214B625}"/>
              </a:ext>
            </a:extLst>
          </p:cNvPr>
          <p:cNvSpPr>
            <a:spLocks noGrp="1"/>
          </p:cNvSpPr>
          <p:nvPr>
            <p:ph idx="1"/>
          </p:nvPr>
        </p:nvSpPr>
        <p:spPr>
          <a:xfrm>
            <a:off x="3284781" y="686862"/>
            <a:ext cx="5278194" cy="5475129"/>
          </a:xfrm>
        </p:spPr>
        <p:txBody>
          <a:bodyPr anchor="ctr">
            <a:normAutofit/>
          </a:bodyPr>
          <a:lstStyle/>
          <a:p>
            <a:r>
              <a:rPr lang="en-US" sz="2300"/>
              <a:t>Basis for MacArthur Studies of Successful Aging</a:t>
            </a:r>
          </a:p>
          <a:p>
            <a:r>
              <a:rPr lang="en-US" sz="2300"/>
              <a:t>Typically modified to “minimal decrements” (as opposed to “no decrements”)</a:t>
            </a:r>
          </a:p>
          <a:p>
            <a:pPr marL="0" indent="0">
              <a:buNone/>
            </a:pPr>
            <a:endParaRPr lang="en-US" sz="2300"/>
          </a:p>
          <a:p>
            <a:pPr marL="0" indent="0">
              <a:buNone/>
            </a:pPr>
            <a:r>
              <a:rPr lang="en-US" sz="2300"/>
              <a:t>Successful Aging:</a:t>
            </a:r>
          </a:p>
          <a:p>
            <a:pPr marL="514350" indent="-514350">
              <a:buFont typeface="+mj-lt"/>
              <a:buAutoNum type="arabicPeriod"/>
            </a:pPr>
            <a:r>
              <a:rPr lang="en-US" sz="2300"/>
              <a:t>Low Disease Risk</a:t>
            </a:r>
          </a:p>
          <a:p>
            <a:pPr marL="514350" indent="-514350">
              <a:buFont typeface="+mj-lt"/>
              <a:buAutoNum type="arabicPeriod"/>
            </a:pPr>
            <a:r>
              <a:rPr lang="en-US" sz="2300"/>
              <a:t>High Physical and Cognitive Functioning</a:t>
            </a:r>
          </a:p>
          <a:p>
            <a:pPr marL="514350" indent="-514350">
              <a:buFont typeface="+mj-lt"/>
              <a:buAutoNum type="arabicPeriod"/>
            </a:pPr>
            <a:r>
              <a:rPr lang="en-US" sz="2300"/>
              <a:t>Active Engagement in Life, especially with interpersonal relationships and productive activities</a:t>
            </a:r>
          </a:p>
          <a:p>
            <a:endParaRPr lang="en-US" sz="2300"/>
          </a:p>
          <a:p>
            <a:endParaRPr lang="en-US" sz="2300"/>
          </a:p>
        </p:txBody>
      </p:sp>
      <p:sp>
        <p:nvSpPr>
          <p:cNvPr id="5" name="Footer Placeholder 3">
            <a:extLst>
              <a:ext uri="{FF2B5EF4-FFF2-40B4-BE49-F238E27FC236}">
                <a16:creationId xmlns:a16="http://schemas.microsoft.com/office/drawing/2014/main" id="{81CB8B90-4C1A-564C-710E-1CF0FFED998C}"/>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277109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C04B-0D46-4866-9777-14C85DBDFAC1}"/>
              </a:ext>
            </a:extLst>
          </p:cNvPr>
          <p:cNvSpPr>
            <a:spLocks noGrp="1"/>
          </p:cNvSpPr>
          <p:nvPr>
            <p:ph type="title"/>
          </p:nvPr>
        </p:nvSpPr>
        <p:spPr>
          <a:xfrm>
            <a:off x="628650" y="354370"/>
            <a:ext cx="7886700" cy="1325563"/>
          </a:xfrm>
        </p:spPr>
        <p:txBody>
          <a:bodyPr/>
          <a:lstStyle/>
          <a:p>
            <a:r>
              <a:rPr lang="en-US" dirty="0" err="1"/>
              <a:t>Ryff’s</a:t>
            </a:r>
            <a:r>
              <a:rPr lang="en-US" dirty="0"/>
              <a:t> Model of </a:t>
            </a:r>
            <a:br>
              <a:rPr lang="en-US" dirty="0"/>
            </a:br>
            <a:r>
              <a:rPr lang="en-US" dirty="0"/>
              <a:t>Successful Aging</a:t>
            </a:r>
          </a:p>
        </p:txBody>
      </p:sp>
      <p:sp>
        <p:nvSpPr>
          <p:cNvPr id="3" name="Content Placeholder 2">
            <a:extLst>
              <a:ext uri="{FF2B5EF4-FFF2-40B4-BE49-F238E27FC236}">
                <a16:creationId xmlns:a16="http://schemas.microsoft.com/office/drawing/2014/main" id="{2FF80439-0C45-447A-B7EE-6092526D59FC}"/>
              </a:ext>
            </a:extLst>
          </p:cNvPr>
          <p:cNvSpPr>
            <a:spLocks noGrp="1"/>
          </p:cNvSpPr>
          <p:nvPr>
            <p:ph idx="1"/>
          </p:nvPr>
        </p:nvSpPr>
        <p:spPr>
          <a:xfrm>
            <a:off x="628650" y="2592593"/>
            <a:ext cx="4459717" cy="3584370"/>
          </a:xfrm>
        </p:spPr>
        <p:txBody>
          <a:bodyPr>
            <a:normAutofit lnSpcReduction="10000"/>
          </a:bodyPr>
          <a:lstStyle/>
          <a:p>
            <a:pPr marL="609600" indent="-609600">
              <a:buFont typeface="Wingdings" pitchFamily="2" charset="2"/>
              <a:buAutoNum type="arabicPeriod"/>
            </a:pPr>
            <a:r>
              <a:rPr lang="en-US" dirty="0"/>
              <a:t>Self-acceptance</a:t>
            </a:r>
          </a:p>
          <a:p>
            <a:pPr marL="609600" indent="-609600">
              <a:buFont typeface="Wingdings" pitchFamily="2" charset="2"/>
              <a:buAutoNum type="arabicPeriod"/>
            </a:pPr>
            <a:r>
              <a:rPr lang="en-US" dirty="0"/>
              <a:t>Positive relationships with others</a:t>
            </a:r>
          </a:p>
          <a:p>
            <a:pPr marL="609600" indent="-609600">
              <a:buFont typeface="Wingdings" pitchFamily="2" charset="2"/>
              <a:buAutoNum type="arabicPeriod"/>
            </a:pPr>
            <a:r>
              <a:rPr lang="en-US" dirty="0"/>
              <a:t>Autonomy</a:t>
            </a:r>
          </a:p>
          <a:p>
            <a:pPr marL="609600" indent="-609600">
              <a:buFont typeface="Wingdings" pitchFamily="2" charset="2"/>
              <a:buAutoNum type="arabicPeriod"/>
            </a:pPr>
            <a:r>
              <a:rPr lang="en-US" dirty="0"/>
              <a:t>Control over one’s environment</a:t>
            </a:r>
          </a:p>
          <a:p>
            <a:pPr marL="609600" indent="-609600">
              <a:buFont typeface="Wingdings" pitchFamily="2" charset="2"/>
              <a:buAutoNum type="arabicPeriod"/>
            </a:pPr>
            <a:r>
              <a:rPr lang="en-US" dirty="0"/>
              <a:t>Purpose in life</a:t>
            </a:r>
          </a:p>
          <a:p>
            <a:pPr marL="609600" indent="-609600">
              <a:buFont typeface="Wingdings" pitchFamily="2" charset="2"/>
              <a:buAutoNum type="arabicPeriod"/>
            </a:pPr>
            <a:r>
              <a:rPr lang="en-US" dirty="0"/>
              <a:t>Personal growth</a:t>
            </a:r>
          </a:p>
        </p:txBody>
      </p:sp>
      <p:sp>
        <p:nvSpPr>
          <p:cNvPr id="5" name="Footer Placeholder 3">
            <a:extLst>
              <a:ext uri="{FF2B5EF4-FFF2-40B4-BE49-F238E27FC236}">
                <a16:creationId xmlns:a16="http://schemas.microsoft.com/office/drawing/2014/main" id="{5A1B1A8E-AA3A-C880-EED5-3441ACAD7618}"/>
              </a:ext>
            </a:extLst>
          </p:cNvPr>
          <p:cNvSpPr>
            <a:spLocks noGrp="1"/>
          </p:cNvSpPr>
          <p:nvPr>
            <p:ph type="ftr" sz="quarter" idx="11"/>
          </p:nvPr>
        </p:nvSpPr>
        <p:spPr>
          <a:xfrm>
            <a:off x="1894154" y="6361998"/>
            <a:ext cx="5953845" cy="461665"/>
          </a:xfrm>
        </p:spPr>
        <p:txBody>
          <a:bodyPr/>
          <a:lstStyle/>
          <a:p>
            <a:r>
              <a:rPr lang="en-US" dirty="0"/>
              <a:t>The Science and Application of Positive Psychology © Cambridge University Press 2021</a:t>
            </a:r>
          </a:p>
        </p:txBody>
      </p:sp>
      <p:pic>
        <p:nvPicPr>
          <p:cNvPr id="4" name="Picture 3"/>
          <p:cNvPicPr>
            <a:picLocks noChangeAspect="1"/>
          </p:cNvPicPr>
          <p:nvPr/>
        </p:nvPicPr>
        <p:blipFill>
          <a:blip r:embed="rId2"/>
          <a:stretch>
            <a:fillRect/>
          </a:stretch>
        </p:blipFill>
        <p:spPr>
          <a:xfrm>
            <a:off x="6121101" y="265139"/>
            <a:ext cx="2261558" cy="169824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769" y="2133458"/>
            <a:ext cx="6797156" cy="3945094"/>
          </a:xfrm>
          <a:prstGeom prst="rect">
            <a:avLst/>
          </a:prstGeom>
        </p:spPr>
      </p:pic>
      <p:sp>
        <p:nvSpPr>
          <p:cNvPr id="7" name="Oval 6"/>
          <p:cNvSpPr/>
          <p:nvPr/>
        </p:nvSpPr>
        <p:spPr>
          <a:xfrm>
            <a:off x="7251880" y="2592593"/>
            <a:ext cx="1656678" cy="17043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Differs: does not require physically healthy</a:t>
            </a:r>
          </a:p>
        </p:txBody>
      </p:sp>
    </p:spTree>
    <p:extLst>
      <p:ext uri="{BB962C8B-B14F-4D97-AF65-F5344CB8AC3E}">
        <p14:creationId xmlns:p14="http://schemas.microsoft.com/office/powerpoint/2010/main" val="1489114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4572000"/>
            <a:ext cx="5293730" cy="1964266"/>
          </a:xfrm>
          <a:prstGeom prst="rect">
            <a:avLst/>
          </a:prstGeom>
          <a:solidFill>
            <a:srgbClr val="443165">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93192" y="4767072"/>
            <a:ext cx="4945641" cy="1625210"/>
          </a:xfrm>
        </p:spPr>
        <p:txBody>
          <a:bodyPr>
            <a:normAutofit/>
          </a:bodyPr>
          <a:lstStyle/>
          <a:p>
            <a:pPr algn="r"/>
            <a:r>
              <a:rPr lang="en-US">
                <a:solidFill>
                  <a:srgbClr val="FFFFFF"/>
                </a:solidFill>
              </a:rPr>
              <a:t>Correlates of Successful Aging</a:t>
            </a:r>
          </a:p>
        </p:txBody>
      </p:sp>
      <p:pic>
        <p:nvPicPr>
          <p:cNvPr id="5" name="Picture 4"/>
          <p:cNvPicPr>
            <a:picLocks noChangeAspect="1"/>
          </p:cNvPicPr>
          <p:nvPr/>
        </p:nvPicPr>
        <p:blipFill rotWithShape="1">
          <a:blip r:embed="rId2"/>
          <a:srcRect l="4416" r="6322" b="2"/>
          <a:stretch/>
        </p:blipFill>
        <p:spPr>
          <a:xfrm>
            <a:off x="245660" y="321733"/>
            <a:ext cx="5293729" cy="4107392"/>
          </a:xfrm>
          <a:prstGeom prst="rect">
            <a:avLst/>
          </a:prstGeom>
        </p:spPr>
      </p:pic>
      <p:sp>
        <p:nvSpPr>
          <p:cNvPr id="4" name="Footer Placeholder 3"/>
          <p:cNvSpPr>
            <a:spLocks noGrp="1"/>
          </p:cNvSpPr>
          <p:nvPr>
            <p:ph type="ftr" sz="quarter" idx="11"/>
          </p:nvPr>
        </p:nvSpPr>
        <p:spPr>
          <a:xfrm>
            <a:off x="393192" y="6535157"/>
            <a:ext cx="4945641" cy="274320"/>
          </a:xfrm>
        </p:spPr>
        <p:txBody>
          <a:bodyPr>
            <a:normAutofit/>
          </a:bodyPr>
          <a:lstStyle/>
          <a:p>
            <a:pPr algn="r">
              <a:spcAft>
                <a:spcPts val="600"/>
              </a:spcAft>
            </a:pPr>
            <a:r>
              <a:rPr lang="en-US" sz="900">
                <a:solidFill>
                  <a:schemeClr val="tx1">
                    <a:lumMod val="50000"/>
                    <a:lumOff val="50000"/>
                  </a:schemeClr>
                </a:solidFill>
              </a:rPr>
              <a:t>The Science of Positive Psychology © Cambridge University Press 2021</a:t>
            </a:r>
          </a:p>
        </p:txBody>
      </p:sp>
      <p:sp>
        <p:nvSpPr>
          <p:cNvPr id="12" name="Rectangle 1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021989" y="917725"/>
            <a:ext cx="2568554" cy="4852362"/>
          </a:xfrm>
        </p:spPr>
        <p:txBody>
          <a:bodyPr anchor="ctr">
            <a:normAutofit/>
          </a:bodyPr>
          <a:lstStyle/>
          <a:p>
            <a:pPr marL="0" indent="0">
              <a:buNone/>
            </a:pPr>
            <a:r>
              <a:rPr lang="en-US" sz="2400" dirty="0">
                <a:solidFill>
                  <a:srgbClr val="FFFFFF"/>
                </a:solidFill>
              </a:rPr>
              <a:t>Successful ager associated with better overall well-being</a:t>
            </a:r>
          </a:p>
          <a:p>
            <a:pPr lvl="1"/>
            <a:r>
              <a:rPr lang="en-US" dirty="0">
                <a:solidFill>
                  <a:srgbClr val="FFFFFF"/>
                </a:solidFill>
              </a:rPr>
              <a:t>Happiness</a:t>
            </a:r>
          </a:p>
          <a:p>
            <a:pPr lvl="1"/>
            <a:r>
              <a:rPr lang="en-US" dirty="0">
                <a:solidFill>
                  <a:srgbClr val="FFFFFF"/>
                </a:solidFill>
              </a:rPr>
              <a:t>Depression</a:t>
            </a:r>
          </a:p>
          <a:p>
            <a:pPr lvl="1"/>
            <a:r>
              <a:rPr lang="en-US" dirty="0">
                <a:solidFill>
                  <a:srgbClr val="FFFFFF"/>
                </a:solidFill>
              </a:rPr>
              <a:t>Relationships</a:t>
            </a:r>
          </a:p>
          <a:p>
            <a:pPr lvl="1"/>
            <a:r>
              <a:rPr lang="en-US" dirty="0">
                <a:solidFill>
                  <a:srgbClr val="FFFFFF"/>
                </a:solidFill>
              </a:rPr>
              <a:t>Energy</a:t>
            </a:r>
          </a:p>
          <a:p>
            <a:pPr lvl="1"/>
            <a:r>
              <a:rPr lang="en-US" dirty="0">
                <a:solidFill>
                  <a:srgbClr val="FFFFFF"/>
                </a:solidFill>
              </a:rPr>
              <a:t>Enthusiasm</a:t>
            </a:r>
          </a:p>
          <a:p>
            <a:pPr lvl="1"/>
            <a:r>
              <a:rPr lang="en-US" dirty="0">
                <a:solidFill>
                  <a:srgbClr val="FFFFFF"/>
                </a:solidFill>
              </a:rPr>
              <a:t>Optimism</a:t>
            </a:r>
          </a:p>
          <a:p>
            <a:pPr lvl="1"/>
            <a:r>
              <a:rPr lang="en-US" dirty="0">
                <a:solidFill>
                  <a:srgbClr val="FFFFFF"/>
                </a:solidFill>
              </a:rPr>
              <a:t>Perceived control</a:t>
            </a:r>
          </a:p>
          <a:p>
            <a:pPr lvl="1"/>
            <a:endParaRPr lang="en-US" sz="1700" dirty="0">
              <a:solidFill>
                <a:srgbClr val="FFFFFF"/>
              </a:solidFill>
            </a:endParaRPr>
          </a:p>
        </p:txBody>
      </p:sp>
    </p:spTree>
    <p:extLst>
      <p:ext uri="{BB962C8B-B14F-4D97-AF65-F5344CB8AC3E}">
        <p14:creationId xmlns:p14="http://schemas.microsoft.com/office/powerpoint/2010/main" val="3133420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9B447FE-DDA9-4B30-828A-59FC56912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D487F7-9050-4871-B351-34A72ADB2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63" y="-1"/>
            <a:ext cx="457200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43C27DD-EF6A-4C48-9669-C2970E71A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971913" y="1314451"/>
            <a:ext cx="6858003" cy="4229101"/>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5A1AA86-B7E6-4C02-AA34-F1A25CD4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5638" y="2217950"/>
            <a:ext cx="4577638" cy="4640049"/>
          </a:xfrm>
          <a:prstGeom prst="rect">
            <a:avLst/>
          </a:prstGeom>
          <a:gradFill>
            <a:gsLst>
              <a:gs pos="0">
                <a:schemeClr val="accent1">
                  <a:alpha val="0"/>
                </a:schemeClr>
              </a:gs>
              <a:gs pos="72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86C3B9CB-4E48-4726-B7B9-9E02F71B1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137312">
            <a:off x="-156132" y="1791483"/>
            <a:ext cx="4640488" cy="3480366"/>
          </a:xfrm>
          <a:prstGeom prst="ellipse">
            <a:avLst/>
          </a:prstGeom>
          <a:gradFill>
            <a:gsLst>
              <a:gs pos="53000">
                <a:schemeClr val="accent1">
                  <a:alpha val="0"/>
                </a:schemeClr>
              </a:gs>
              <a:gs pos="100000">
                <a:schemeClr val="accent1">
                  <a:lumMod val="40000"/>
                  <a:lumOff val="60000"/>
                  <a:alpha val="1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84384FE-1C88-4CAA-8FB8-2313A3AE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5639" y="0"/>
            <a:ext cx="4577639" cy="6870700"/>
          </a:xfrm>
          <a:prstGeom prst="rect">
            <a:avLst/>
          </a:prstGeom>
          <a:gradFill>
            <a:gsLst>
              <a:gs pos="24000">
                <a:schemeClr val="accent1">
                  <a:alpha val="0"/>
                </a:schemeClr>
              </a:gs>
              <a:gs pos="100000">
                <a:srgbClr val="000000">
                  <a:alpha val="71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02341" y="2654490"/>
            <a:ext cx="3425764" cy="3220382"/>
          </a:xfrm>
        </p:spPr>
        <p:txBody>
          <a:bodyPr vert="horz" lIns="91440" tIns="45720" rIns="91440" bIns="45720" rtlCol="0" anchor="t">
            <a:normAutofit/>
          </a:bodyPr>
          <a:lstStyle/>
          <a:p>
            <a:pPr algn="r"/>
            <a:r>
              <a:rPr lang="en-US" sz="4200">
                <a:solidFill>
                  <a:srgbClr val="FFFFFF"/>
                </a:solidFill>
              </a:rPr>
              <a:t>Young at Heart</a:t>
            </a:r>
          </a:p>
        </p:txBody>
      </p:sp>
      <p:sp>
        <p:nvSpPr>
          <p:cNvPr id="3" name="Content Placeholder 2"/>
          <p:cNvSpPr>
            <a:spLocks noGrp="1"/>
          </p:cNvSpPr>
          <p:nvPr>
            <p:ph idx="1"/>
          </p:nvPr>
        </p:nvSpPr>
        <p:spPr>
          <a:xfrm>
            <a:off x="1028700" y="835862"/>
            <a:ext cx="3103991" cy="1112208"/>
          </a:xfrm>
        </p:spPr>
        <p:txBody>
          <a:bodyPr vert="horz" lIns="91440" tIns="45720" rIns="91440" bIns="45720" rtlCol="0" anchor="b">
            <a:normAutofit/>
          </a:bodyPr>
          <a:lstStyle/>
          <a:p>
            <a:pPr marL="0" indent="0" algn="r">
              <a:buNone/>
            </a:pPr>
            <a:r>
              <a:rPr lang="en-US" sz="2400">
                <a:solidFill>
                  <a:srgbClr val="FFFFFF"/>
                </a:solidFill>
                <a:hlinkClick r:id="rId2"/>
              </a:rPr>
              <a:t>https://www.youtube.com/watch?v=CjnfoFg7i7g</a:t>
            </a:r>
            <a:r>
              <a:rPr lang="en-US" sz="2400">
                <a:solidFill>
                  <a:srgbClr val="FFFFFF"/>
                </a:solidFill>
              </a:rPr>
              <a:t> </a:t>
            </a:r>
          </a:p>
        </p:txBody>
      </p:sp>
      <p:sp>
        <p:nvSpPr>
          <p:cNvPr id="4" name="Footer Placeholder 3"/>
          <p:cNvSpPr>
            <a:spLocks noGrp="1"/>
          </p:cNvSpPr>
          <p:nvPr>
            <p:ph type="ftr" sz="quarter" idx="11"/>
          </p:nvPr>
        </p:nvSpPr>
        <p:spPr>
          <a:xfrm rot="5400000">
            <a:off x="-1371600" y="2020824"/>
            <a:ext cx="3086338" cy="365125"/>
          </a:xfrm>
        </p:spPr>
        <p:txBody>
          <a:bodyPr vert="horz" lIns="91440" tIns="45720" rIns="91440" bIns="45720" rtlCol="0" anchor="ctr">
            <a:normAutofit/>
          </a:bodyPr>
          <a:lstStyle/>
          <a:p>
            <a:pPr algn="l" defTabSz="914400">
              <a:lnSpc>
                <a:spcPct val="90000"/>
              </a:lnSpc>
              <a:spcAft>
                <a:spcPts val="600"/>
              </a:spcAft>
              <a:defRPr/>
            </a:pPr>
            <a:r>
              <a:rPr lang="en-US" sz="900" kern="1200">
                <a:solidFill>
                  <a:srgbClr val="FFFFFF"/>
                </a:solidFill>
                <a:latin typeface="Calibri" panose="020F0502020204030204"/>
                <a:ea typeface="+mn-ea"/>
                <a:cs typeface="+mn-cs"/>
              </a:rPr>
              <a:t>The Science of Positive Psychology © Cambridge University Press 2021</a:t>
            </a:r>
          </a:p>
        </p:txBody>
      </p:sp>
      <p:pic>
        <p:nvPicPr>
          <p:cNvPr id="5" name="Picture 4"/>
          <p:cNvPicPr>
            <a:picLocks noChangeAspect="1"/>
          </p:cNvPicPr>
          <p:nvPr/>
        </p:nvPicPr>
        <p:blipFill rotWithShape="1">
          <a:blip r:embed="rId3"/>
          <a:srcRect l="5512" r="1282" b="2"/>
          <a:stretch/>
        </p:blipFill>
        <p:spPr>
          <a:xfrm>
            <a:off x="4914899" y="457200"/>
            <a:ext cx="3886201" cy="5943600"/>
          </a:xfrm>
          <a:prstGeom prst="rect">
            <a:avLst/>
          </a:prstGeom>
        </p:spPr>
      </p:pic>
    </p:spTree>
    <p:extLst>
      <p:ext uri="{BB962C8B-B14F-4D97-AF65-F5344CB8AC3E}">
        <p14:creationId xmlns:p14="http://schemas.microsoft.com/office/powerpoint/2010/main" val="2615370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BBD4550-FCE2-4005-9484-FADD69E4BE29}"/>
              </a:ext>
            </a:extLst>
          </p:cNvPr>
          <p:cNvSpPr>
            <a:spLocks noGrp="1"/>
          </p:cNvSpPr>
          <p:nvPr>
            <p:ph type="title"/>
          </p:nvPr>
        </p:nvSpPr>
        <p:spPr>
          <a:xfrm>
            <a:off x="628649" y="388308"/>
            <a:ext cx="5391742" cy="1021424"/>
          </a:xfrm>
        </p:spPr>
        <p:txBody>
          <a:bodyPr anchor="b">
            <a:normAutofit/>
          </a:bodyPr>
          <a:lstStyle/>
          <a:p>
            <a:r>
              <a:rPr lang="en-US" sz="3200">
                <a:solidFill>
                  <a:schemeClr val="bg1"/>
                </a:solidFill>
              </a:rPr>
              <a:t>Some Foundational Studies of Successful Aging</a:t>
            </a:r>
          </a:p>
        </p:txBody>
      </p:sp>
      <p:cxnSp>
        <p:nvCxnSpPr>
          <p:cNvPr id="13" name="Straight Connector 1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602039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123608" y="6267491"/>
            <a:ext cx="602039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DD79F8E0-92B0-E719-2369-B47CC73F6204}"/>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solidFill>
                  <a:schemeClr val="bg1">
                    <a:lumMod val="50000"/>
                  </a:schemeClr>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903B94C6-4915-658A-6BC6-356FB50F1C6D}"/>
              </a:ext>
            </a:extLst>
          </p:cNvPr>
          <p:cNvGraphicFramePr>
            <a:graphicFrameLocks noGrp="1"/>
          </p:cNvGraphicFramePr>
          <p:nvPr>
            <p:ph idx="1"/>
            <p:extLst>
              <p:ext uri="{D42A27DB-BD31-4B8C-83A1-F6EECF244321}">
                <p14:modId xmlns:p14="http://schemas.microsoft.com/office/powerpoint/2010/main" val="2355544995"/>
              </p:ext>
            </p:extLst>
          </p:nvPr>
        </p:nvGraphicFramePr>
        <p:xfrm>
          <a:off x="1044178" y="1715407"/>
          <a:ext cx="7055644"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2548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79CE0-FCA7-EEC3-9A31-07794C275B04}"/>
              </a:ext>
            </a:extLst>
          </p:cNvPr>
          <p:cNvSpPr>
            <a:spLocks noGrp="1"/>
          </p:cNvSpPr>
          <p:nvPr>
            <p:ph type="title"/>
          </p:nvPr>
        </p:nvSpPr>
        <p:spPr/>
        <p:txBody>
          <a:bodyPr/>
          <a:lstStyle/>
          <a:p>
            <a:r>
              <a:rPr lang="en-US" dirty="0"/>
              <a:t>MacArthur Study on Aging</a:t>
            </a:r>
          </a:p>
        </p:txBody>
      </p:sp>
      <p:sp>
        <p:nvSpPr>
          <p:cNvPr id="3" name="Content Placeholder 2">
            <a:extLst>
              <a:ext uri="{FF2B5EF4-FFF2-40B4-BE49-F238E27FC236}">
                <a16:creationId xmlns:a16="http://schemas.microsoft.com/office/drawing/2014/main" id="{87552BE6-7B3E-7D90-BCB8-C72D1802A48F}"/>
              </a:ext>
            </a:extLst>
          </p:cNvPr>
          <p:cNvSpPr>
            <a:spLocks noGrp="1"/>
          </p:cNvSpPr>
          <p:nvPr>
            <p:ph idx="1"/>
          </p:nvPr>
        </p:nvSpPr>
        <p:spPr>
          <a:xfrm>
            <a:off x="628649" y="1825625"/>
            <a:ext cx="8254093" cy="4351338"/>
          </a:xfrm>
        </p:spPr>
        <p:txBody>
          <a:bodyPr>
            <a:normAutofit lnSpcReduction="10000"/>
          </a:bodyPr>
          <a:lstStyle/>
          <a:p>
            <a:pPr marL="514350" indent="-514350">
              <a:buAutoNum type="arabicPeriod"/>
            </a:pPr>
            <a:r>
              <a:rPr lang="en-US" dirty="0">
                <a:solidFill>
                  <a:schemeClr val="accent5">
                    <a:lumMod val="75000"/>
                  </a:schemeClr>
                </a:solidFill>
              </a:rPr>
              <a:t>Aging is not primarily determined by genetics — lifestyle matters more. </a:t>
            </a:r>
          </a:p>
          <a:p>
            <a:pPr lvl="1"/>
            <a:r>
              <a:rPr lang="en-US" dirty="0"/>
              <a:t>30% of how we age is attributable to genetics</a:t>
            </a:r>
          </a:p>
          <a:p>
            <a:pPr lvl="1"/>
            <a:r>
              <a:rPr lang="en-US" dirty="0"/>
              <a:t>70% shaped by behavioral choices, social connections, and environment</a:t>
            </a:r>
          </a:p>
          <a:p>
            <a:pPr marL="514350" indent="-514350">
              <a:buAutoNum type="arabicPeriod" startAt="2"/>
            </a:pPr>
            <a:r>
              <a:rPr lang="en-US" dirty="0">
                <a:solidFill>
                  <a:schemeClr val="accent5">
                    <a:lumMod val="75000"/>
                  </a:schemeClr>
                </a:solidFill>
              </a:rPr>
              <a:t>3 Components of Successful Aging</a:t>
            </a:r>
          </a:p>
          <a:p>
            <a:pPr lvl="1"/>
            <a:r>
              <a:rPr lang="en-US" dirty="0"/>
              <a:t>Low risk of disease and disability</a:t>
            </a:r>
          </a:p>
          <a:p>
            <a:pPr lvl="1"/>
            <a:r>
              <a:rPr lang="en-US" dirty="0"/>
              <a:t>High mental and physical functioning</a:t>
            </a:r>
          </a:p>
          <a:p>
            <a:pPr lvl="1"/>
            <a:r>
              <a:rPr lang="en-US" dirty="0"/>
              <a:t>Active engagement with life (cognitively, socially, physically)</a:t>
            </a:r>
          </a:p>
          <a:p>
            <a:pPr marL="514350" indent="-514350">
              <a:buAutoNum type="arabicPeriod" startAt="2"/>
            </a:pPr>
            <a:r>
              <a:rPr lang="en-US" dirty="0">
                <a:solidFill>
                  <a:schemeClr val="accent5">
                    <a:lumMod val="75000"/>
                  </a:schemeClr>
                </a:solidFill>
              </a:rPr>
              <a:t>Social support and meaningful relationships protect against decline</a:t>
            </a:r>
          </a:p>
          <a:p>
            <a:pPr marL="514350" indent="-514350">
              <a:buAutoNum type="arabicPeriod" startAt="2"/>
            </a:pPr>
            <a:endParaRPr lang="en-US" b="1" dirty="0"/>
          </a:p>
          <a:p>
            <a:pPr marL="0" indent="0">
              <a:buNone/>
            </a:pPr>
            <a:endParaRPr lang="en-US" b="1" dirty="0"/>
          </a:p>
          <a:p>
            <a:pPr marL="514350" indent="-514350">
              <a:buAutoNum type="arabicPeriod" startAt="2"/>
            </a:pPr>
            <a:endParaRPr lang="en-US" b="1" dirty="0"/>
          </a:p>
        </p:txBody>
      </p:sp>
      <p:sp>
        <p:nvSpPr>
          <p:cNvPr id="4" name="Footer Placeholder 3">
            <a:extLst>
              <a:ext uri="{FF2B5EF4-FFF2-40B4-BE49-F238E27FC236}">
                <a16:creationId xmlns:a16="http://schemas.microsoft.com/office/drawing/2014/main" id="{02AE65A1-2CD6-CB50-B7FB-C4D57032B8D3}"/>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2090798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a:xfrm>
            <a:off x="691976" y="1250575"/>
            <a:ext cx="3453205" cy="4163210"/>
          </a:xfrm>
        </p:spPr>
        <p:txBody>
          <a:bodyPr anchor="ctr">
            <a:normAutofit/>
          </a:bodyPr>
          <a:lstStyle/>
          <a:p>
            <a:r>
              <a:rPr lang="en-US" sz="7000">
                <a:solidFill>
                  <a:schemeClr val="bg1"/>
                </a:solidFill>
              </a:rPr>
              <a:t>Alameda 7</a:t>
            </a:r>
          </a:p>
        </p:txBody>
      </p:sp>
      <p:sp>
        <p:nvSpPr>
          <p:cNvPr id="11" name="Rectangle 10">
            <a:extLst>
              <a:ext uri="{FF2B5EF4-FFF2-40B4-BE49-F238E27FC236}">
                <a16:creationId xmlns:a16="http://schemas.microsoft.com/office/drawing/2014/main" id="{C2C57604-0CFD-4023-B9BD-107166A25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857" y="1100949"/>
            <a:ext cx="3747444"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19918" y="860612"/>
            <a:ext cx="3598431" cy="5023821"/>
          </a:xfrm>
        </p:spPr>
        <p:txBody>
          <a:bodyPr anchor="ctr">
            <a:noAutofit/>
          </a:bodyPr>
          <a:lstStyle/>
          <a:p>
            <a:pPr marL="0" indent="0">
              <a:buNone/>
            </a:pPr>
            <a:r>
              <a:rPr lang="en-US" sz="2400" dirty="0">
                <a:solidFill>
                  <a:schemeClr val="bg1"/>
                </a:solidFill>
              </a:rPr>
              <a:t>Health behaviors most strongly related to mortality</a:t>
            </a:r>
          </a:p>
          <a:p>
            <a:pPr lvl="1"/>
            <a:r>
              <a:rPr lang="en-US" dirty="0">
                <a:solidFill>
                  <a:schemeClr val="bg1"/>
                </a:solidFill>
              </a:rPr>
              <a:t>Sleep 7-8 </a:t>
            </a:r>
            <a:r>
              <a:rPr lang="en-US" dirty="0" err="1">
                <a:solidFill>
                  <a:schemeClr val="bg1"/>
                </a:solidFill>
              </a:rPr>
              <a:t>hrs</a:t>
            </a:r>
            <a:r>
              <a:rPr lang="en-US" dirty="0">
                <a:solidFill>
                  <a:schemeClr val="bg1"/>
                </a:solidFill>
              </a:rPr>
              <a:t>/night</a:t>
            </a:r>
          </a:p>
          <a:p>
            <a:pPr lvl="1"/>
            <a:r>
              <a:rPr lang="en-US" dirty="0">
                <a:solidFill>
                  <a:schemeClr val="bg1"/>
                </a:solidFill>
              </a:rPr>
              <a:t>Eat breakfast</a:t>
            </a:r>
          </a:p>
          <a:p>
            <a:pPr lvl="1"/>
            <a:r>
              <a:rPr lang="en-US" dirty="0">
                <a:solidFill>
                  <a:schemeClr val="bg1"/>
                </a:solidFill>
              </a:rPr>
              <a:t>Eat regular meals and not eating between meals</a:t>
            </a:r>
          </a:p>
          <a:p>
            <a:pPr lvl="1"/>
            <a:r>
              <a:rPr lang="en-US" dirty="0">
                <a:solidFill>
                  <a:schemeClr val="bg1"/>
                </a:solidFill>
              </a:rPr>
              <a:t>Maintain healthy weight</a:t>
            </a:r>
          </a:p>
          <a:p>
            <a:pPr lvl="1"/>
            <a:r>
              <a:rPr lang="en-US" dirty="0">
                <a:solidFill>
                  <a:schemeClr val="bg1"/>
                </a:solidFill>
              </a:rPr>
              <a:t>Exercise regularly</a:t>
            </a:r>
          </a:p>
          <a:p>
            <a:pPr lvl="1"/>
            <a:r>
              <a:rPr lang="en-US" dirty="0">
                <a:solidFill>
                  <a:schemeClr val="bg1"/>
                </a:solidFill>
              </a:rPr>
              <a:t>Limit alcohol consumption</a:t>
            </a:r>
          </a:p>
          <a:p>
            <a:pPr lvl="1"/>
            <a:r>
              <a:rPr lang="en-US" dirty="0">
                <a:solidFill>
                  <a:schemeClr val="bg1"/>
                </a:solidFill>
              </a:rPr>
              <a:t>No smoking</a:t>
            </a:r>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solidFill>
                  <a:schemeClr val="bg1">
                    <a:lumMod val="50000"/>
                  </a:schemeClr>
                </a:solidFill>
              </a:rPr>
              <a:t>The Science of Positive Psychology © Cambridge University Press 2021</a:t>
            </a:r>
          </a:p>
        </p:txBody>
      </p:sp>
    </p:spTree>
    <p:extLst>
      <p:ext uri="{BB962C8B-B14F-4D97-AF65-F5344CB8AC3E}">
        <p14:creationId xmlns:p14="http://schemas.microsoft.com/office/powerpoint/2010/main" val="1780751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91" y="453981"/>
            <a:ext cx="500634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20FEC917-525E-4899-AD61-4646376FEE90}"/>
              </a:ext>
            </a:extLst>
          </p:cNvPr>
          <p:cNvSpPr>
            <a:spLocks noGrp="1"/>
          </p:cNvSpPr>
          <p:nvPr>
            <p:ph type="title"/>
          </p:nvPr>
        </p:nvSpPr>
        <p:spPr>
          <a:xfrm>
            <a:off x="548640" y="731520"/>
            <a:ext cx="4567428" cy="1426464"/>
          </a:xfrm>
        </p:spPr>
        <p:txBody>
          <a:bodyPr>
            <a:normAutofit/>
          </a:bodyPr>
          <a:lstStyle/>
          <a:p>
            <a:r>
              <a:rPr lang="en-US" dirty="0">
                <a:solidFill>
                  <a:srgbClr val="FFFFFF"/>
                </a:solidFill>
              </a:rPr>
              <a:t>Harvard Study</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7825" y="461737"/>
            <a:ext cx="1612020"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0326" y="453155"/>
            <a:ext cx="161201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90" y="2480956"/>
            <a:ext cx="8448154"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7B88773-03B2-42D8-A398-A1B591655DC7}"/>
              </a:ext>
            </a:extLst>
          </p:cNvPr>
          <p:cNvSpPr>
            <a:spLocks noGrp="1"/>
          </p:cNvSpPr>
          <p:nvPr>
            <p:ph idx="1"/>
          </p:nvPr>
        </p:nvSpPr>
        <p:spPr>
          <a:xfrm>
            <a:off x="592092" y="2798385"/>
            <a:ext cx="7948296" cy="3283260"/>
          </a:xfrm>
        </p:spPr>
        <p:txBody>
          <a:bodyPr anchor="ctr">
            <a:normAutofit lnSpcReduction="10000"/>
          </a:bodyPr>
          <a:lstStyle/>
          <a:p>
            <a:r>
              <a:rPr lang="en-US" sz="2300" dirty="0"/>
              <a:t>The Harvard Study of Adult Development identified predictors before age 50 that predicted “healthy and happy” aging after age 65</a:t>
            </a:r>
          </a:p>
          <a:p>
            <a:pPr lvl="1"/>
            <a:r>
              <a:rPr lang="en-US" sz="2300" dirty="0"/>
              <a:t>**Strong supportive relationships**</a:t>
            </a:r>
          </a:p>
          <a:p>
            <a:pPr lvl="1"/>
            <a:r>
              <a:rPr lang="en-US" sz="2300" dirty="0"/>
              <a:t>Perseverance (for Harvard grads)</a:t>
            </a:r>
          </a:p>
          <a:p>
            <a:pPr lvl="1"/>
            <a:r>
              <a:rPr lang="en-US" sz="2300" dirty="0"/>
              <a:t>Absence of cigarette use and alcohol use disorder</a:t>
            </a:r>
          </a:p>
          <a:p>
            <a:pPr lvl="1"/>
            <a:r>
              <a:rPr lang="en-US" sz="2300" dirty="0"/>
              <a:t>Warm marriage</a:t>
            </a:r>
          </a:p>
          <a:p>
            <a:pPr lvl="1"/>
            <a:r>
              <a:rPr lang="en-US" sz="2300" dirty="0"/>
              <a:t>Absence of depressive disorder</a:t>
            </a:r>
          </a:p>
          <a:p>
            <a:pPr lvl="1"/>
            <a:r>
              <a:rPr lang="en-US" sz="2300" dirty="0"/>
              <a:t>Good physical health</a:t>
            </a:r>
          </a:p>
          <a:p>
            <a:pPr lvl="1"/>
            <a:endParaRPr lang="en-US" sz="2300" dirty="0"/>
          </a:p>
        </p:txBody>
      </p:sp>
      <p:sp>
        <p:nvSpPr>
          <p:cNvPr id="5" name="Footer Placeholder 3">
            <a:extLst>
              <a:ext uri="{FF2B5EF4-FFF2-40B4-BE49-F238E27FC236}">
                <a16:creationId xmlns:a16="http://schemas.microsoft.com/office/drawing/2014/main" id="{C2824F63-EF80-14C7-2861-1D763C0C6366}"/>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639365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4D28E87-62D2-4602-B72F-5F74AA236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9150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49" y="291090"/>
            <a:ext cx="7886699" cy="932688"/>
          </a:xfrm>
        </p:spPr>
        <p:txBody>
          <a:bodyPr vert="horz" lIns="91440" tIns="45720" rIns="91440" bIns="45720" rtlCol="0" anchor="b">
            <a:normAutofit/>
          </a:bodyPr>
          <a:lstStyle/>
          <a:p>
            <a:pPr algn="ctr"/>
            <a:r>
              <a:rPr lang="en-US" sz="4700" kern="1200">
                <a:solidFill>
                  <a:schemeClr val="bg1"/>
                </a:solidFill>
                <a:latin typeface="+mj-lt"/>
                <a:ea typeface="+mj-ea"/>
                <a:cs typeface="+mj-cs"/>
              </a:rPr>
              <a:t>Harvard Study</a:t>
            </a:r>
          </a:p>
        </p:txBody>
      </p:sp>
      <p:pic>
        <p:nvPicPr>
          <p:cNvPr id="5" name="Content Placeholder 4"/>
          <p:cNvPicPr>
            <a:picLocks noGrp="1" noChangeAspect="1"/>
          </p:cNvPicPr>
          <p:nvPr>
            <p:ph idx="1"/>
          </p:nvPr>
        </p:nvPicPr>
        <p:blipFill>
          <a:blip r:embed="rId2"/>
          <a:stretch>
            <a:fillRect/>
          </a:stretch>
        </p:blipFill>
        <p:spPr>
          <a:xfrm>
            <a:off x="628650" y="2684043"/>
            <a:ext cx="7886699" cy="3075811"/>
          </a:xfrm>
          <a:prstGeom prst="rect">
            <a:avLst/>
          </a:prstGeom>
        </p:spPr>
      </p:pic>
      <p:sp>
        <p:nvSpPr>
          <p:cNvPr id="4" name="Footer Placeholder 3"/>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chemeClr val="tx1">
                    <a:tint val="75000"/>
                  </a:schemeClr>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309935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4F0B4E6-5855-1309-08B9-F06879AB5ED7}"/>
              </a:ext>
            </a:extLst>
          </p:cNvPr>
          <p:cNvSpPr>
            <a:spLocks noGrp="1"/>
          </p:cNvSpPr>
          <p:nvPr>
            <p:ph type="ftr" sz="quarter" idx="11"/>
          </p:nvPr>
        </p:nvSpPr>
        <p:spPr/>
        <p:txBody>
          <a:bodyPr/>
          <a:lstStyle/>
          <a:p>
            <a:r>
              <a:rPr lang="en-US"/>
              <a:t>The Science of Positive Psychology © Cambridge University Press 2021</a:t>
            </a:r>
            <a:endParaRPr lang="en-US" dirty="0"/>
          </a:p>
        </p:txBody>
      </p:sp>
      <p:graphicFrame>
        <p:nvGraphicFramePr>
          <p:cNvPr id="5" name="Table 4">
            <a:extLst>
              <a:ext uri="{FF2B5EF4-FFF2-40B4-BE49-F238E27FC236}">
                <a16:creationId xmlns:a16="http://schemas.microsoft.com/office/drawing/2014/main" id="{76318B83-E9B2-97A8-154F-6A15B1E06A07}"/>
              </a:ext>
            </a:extLst>
          </p:cNvPr>
          <p:cNvGraphicFramePr>
            <a:graphicFrameLocks noGrp="1"/>
          </p:cNvGraphicFramePr>
          <p:nvPr>
            <p:extLst>
              <p:ext uri="{D42A27DB-BD31-4B8C-83A1-F6EECF244321}">
                <p14:modId xmlns:p14="http://schemas.microsoft.com/office/powerpoint/2010/main" val="1376205824"/>
              </p:ext>
            </p:extLst>
          </p:nvPr>
        </p:nvGraphicFramePr>
        <p:xfrm>
          <a:off x="862149" y="496388"/>
          <a:ext cx="6714309" cy="5680577"/>
        </p:xfrm>
        <a:graphic>
          <a:graphicData uri="http://schemas.openxmlformats.org/drawingml/2006/table">
            <a:tbl>
              <a:tblPr/>
              <a:tblGrid>
                <a:gridCol w="2238103">
                  <a:extLst>
                    <a:ext uri="{9D8B030D-6E8A-4147-A177-3AD203B41FA5}">
                      <a16:colId xmlns:a16="http://schemas.microsoft.com/office/drawing/2014/main" val="833522667"/>
                    </a:ext>
                  </a:extLst>
                </a:gridCol>
                <a:gridCol w="2238103">
                  <a:extLst>
                    <a:ext uri="{9D8B030D-6E8A-4147-A177-3AD203B41FA5}">
                      <a16:colId xmlns:a16="http://schemas.microsoft.com/office/drawing/2014/main" val="3440098223"/>
                    </a:ext>
                  </a:extLst>
                </a:gridCol>
                <a:gridCol w="2238103">
                  <a:extLst>
                    <a:ext uri="{9D8B030D-6E8A-4147-A177-3AD203B41FA5}">
                      <a16:colId xmlns:a16="http://schemas.microsoft.com/office/drawing/2014/main" val="3699670638"/>
                    </a:ext>
                  </a:extLst>
                </a:gridCol>
              </a:tblGrid>
              <a:tr h="336983">
                <a:tc>
                  <a:txBody>
                    <a:bodyPr/>
                    <a:lstStyle/>
                    <a:p>
                      <a:r>
                        <a:rPr lang="en-US" sz="700" b="1"/>
                        <a:t>Aspect</a:t>
                      </a:r>
                      <a:endParaRPr lang="en-US" sz="700"/>
                    </a:p>
                  </a:txBody>
                  <a:tcPr marL="36876" marR="36876" marT="18438" marB="18438" anchor="ctr">
                    <a:lnL>
                      <a:noFill/>
                    </a:lnL>
                    <a:lnR>
                      <a:noFill/>
                    </a:lnR>
                    <a:lnT>
                      <a:noFill/>
                    </a:lnT>
                    <a:lnB>
                      <a:noFill/>
                    </a:lnB>
                    <a:noFill/>
                  </a:tcPr>
                </a:tc>
                <a:tc>
                  <a:txBody>
                    <a:bodyPr/>
                    <a:lstStyle/>
                    <a:p>
                      <a:r>
                        <a:rPr lang="en-US" sz="700" b="1"/>
                        <a:t>Harvard Study of Adult Development</a:t>
                      </a:r>
                      <a:endParaRPr lang="en-US" sz="700"/>
                    </a:p>
                  </a:txBody>
                  <a:tcPr marL="36876" marR="36876" marT="18438" marB="18438" anchor="ctr">
                    <a:lnL>
                      <a:noFill/>
                    </a:lnL>
                    <a:lnR>
                      <a:noFill/>
                    </a:lnR>
                    <a:lnT>
                      <a:noFill/>
                    </a:lnT>
                    <a:lnB>
                      <a:noFill/>
                    </a:lnB>
                    <a:noFill/>
                  </a:tcPr>
                </a:tc>
                <a:tc>
                  <a:txBody>
                    <a:bodyPr/>
                    <a:lstStyle/>
                    <a:p>
                      <a:r>
                        <a:rPr lang="en-US" sz="700" b="1"/>
                        <a:t>MacArthur Study of Successful Aging</a:t>
                      </a:r>
                      <a:endParaRPr lang="en-US" sz="700"/>
                    </a:p>
                  </a:txBody>
                  <a:tcPr marL="36876" marR="36876" marT="18438" marB="18438" anchor="ctr">
                    <a:lnL>
                      <a:noFill/>
                    </a:lnL>
                    <a:lnR>
                      <a:noFill/>
                    </a:lnR>
                    <a:lnT>
                      <a:noFill/>
                    </a:lnT>
                    <a:lnB>
                      <a:noFill/>
                    </a:lnB>
                    <a:noFill/>
                  </a:tcPr>
                </a:tc>
                <a:extLst>
                  <a:ext uri="{0D108BD9-81ED-4DB2-BD59-A6C34878D82A}">
                    <a16:rowId xmlns:a16="http://schemas.microsoft.com/office/drawing/2014/main" val="438712357"/>
                  </a:ext>
                </a:extLst>
              </a:tr>
              <a:tr h="481404">
                <a:tc>
                  <a:txBody>
                    <a:bodyPr/>
                    <a:lstStyle/>
                    <a:p>
                      <a:r>
                        <a:rPr lang="en-US" sz="700" b="1" dirty="0"/>
                        <a:t>Start Date &amp; Scope</a:t>
                      </a:r>
                      <a:endParaRPr lang="en-US" sz="700" dirty="0"/>
                    </a:p>
                  </a:txBody>
                  <a:tcPr marL="36876" marR="36876" marT="18438" marB="18438" anchor="ctr">
                    <a:lnL>
                      <a:noFill/>
                    </a:lnL>
                    <a:lnR>
                      <a:noFill/>
                    </a:lnR>
                    <a:lnT>
                      <a:noFill/>
                    </a:lnT>
                    <a:lnB>
                      <a:noFill/>
                    </a:lnB>
                    <a:noFill/>
                  </a:tcPr>
                </a:tc>
                <a:tc>
                  <a:txBody>
                    <a:bodyPr/>
                    <a:lstStyle/>
                    <a:p>
                      <a:r>
                        <a:rPr lang="en-US" sz="700"/>
                        <a:t>Began in 1938; followed 724 men (and later their families) across decades.</a:t>
                      </a:r>
                    </a:p>
                  </a:txBody>
                  <a:tcPr marL="36876" marR="36876" marT="18438" marB="18438" anchor="ctr">
                    <a:lnL>
                      <a:noFill/>
                    </a:lnL>
                    <a:lnR>
                      <a:noFill/>
                    </a:lnR>
                    <a:lnT>
                      <a:noFill/>
                    </a:lnT>
                    <a:lnB>
                      <a:noFill/>
                    </a:lnB>
                    <a:noFill/>
                  </a:tcPr>
                </a:tc>
                <a:tc>
                  <a:txBody>
                    <a:bodyPr/>
                    <a:lstStyle/>
                    <a:p>
                      <a:r>
                        <a:rPr lang="en-US" sz="700"/>
                        <a:t>1980s–1990s; studied ~1,000 older adults (ages 70–79) across the U.S.</a:t>
                      </a:r>
                    </a:p>
                  </a:txBody>
                  <a:tcPr marL="36876" marR="36876" marT="18438" marB="18438" anchor="ctr">
                    <a:lnL>
                      <a:noFill/>
                    </a:lnL>
                    <a:lnR>
                      <a:noFill/>
                    </a:lnR>
                    <a:lnT>
                      <a:noFill/>
                    </a:lnT>
                    <a:lnB>
                      <a:noFill/>
                    </a:lnB>
                    <a:noFill/>
                  </a:tcPr>
                </a:tc>
                <a:extLst>
                  <a:ext uri="{0D108BD9-81ED-4DB2-BD59-A6C34878D82A}">
                    <a16:rowId xmlns:a16="http://schemas.microsoft.com/office/drawing/2014/main" val="3713374948"/>
                  </a:ext>
                </a:extLst>
              </a:tr>
              <a:tr h="481404">
                <a:tc>
                  <a:txBody>
                    <a:bodyPr/>
                    <a:lstStyle/>
                    <a:p>
                      <a:r>
                        <a:rPr lang="en-US" sz="700" b="1"/>
                        <a:t>Main Focus</a:t>
                      </a:r>
                      <a:endParaRPr lang="en-US" sz="700"/>
                    </a:p>
                  </a:txBody>
                  <a:tcPr marL="36876" marR="36876" marT="18438" marB="18438" anchor="ctr">
                    <a:lnL>
                      <a:noFill/>
                    </a:lnL>
                    <a:lnR>
                      <a:noFill/>
                    </a:lnR>
                    <a:lnT>
                      <a:noFill/>
                    </a:lnT>
                    <a:lnB>
                      <a:noFill/>
                    </a:lnB>
                    <a:noFill/>
                  </a:tcPr>
                </a:tc>
                <a:tc>
                  <a:txBody>
                    <a:bodyPr/>
                    <a:lstStyle/>
                    <a:p>
                      <a:r>
                        <a:rPr lang="en-US" sz="700"/>
                        <a:t>What makes for a happy, healthy life over the lifespan.</a:t>
                      </a:r>
                    </a:p>
                  </a:txBody>
                  <a:tcPr marL="36876" marR="36876" marT="18438" marB="18438" anchor="ctr">
                    <a:lnL>
                      <a:noFill/>
                    </a:lnL>
                    <a:lnR>
                      <a:noFill/>
                    </a:lnR>
                    <a:lnT>
                      <a:noFill/>
                    </a:lnT>
                    <a:lnB>
                      <a:noFill/>
                    </a:lnB>
                    <a:noFill/>
                  </a:tcPr>
                </a:tc>
                <a:tc>
                  <a:txBody>
                    <a:bodyPr/>
                    <a:lstStyle/>
                    <a:p>
                      <a:r>
                        <a:rPr lang="en-US" sz="700"/>
                        <a:t>What factors lead to successful aging and functional independence.</a:t>
                      </a:r>
                    </a:p>
                  </a:txBody>
                  <a:tcPr marL="36876" marR="36876" marT="18438" marB="18438" anchor="ctr">
                    <a:lnL>
                      <a:noFill/>
                    </a:lnL>
                    <a:lnR>
                      <a:noFill/>
                    </a:lnR>
                    <a:lnT>
                      <a:noFill/>
                    </a:lnT>
                    <a:lnB>
                      <a:noFill/>
                    </a:lnB>
                    <a:noFill/>
                  </a:tcPr>
                </a:tc>
                <a:extLst>
                  <a:ext uri="{0D108BD9-81ED-4DB2-BD59-A6C34878D82A}">
                    <a16:rowId xmlns:a16="http://schemas.microsoft.com/office/drawing/2014/main" val="739239156"/>
                  </a:ext>
                </a:extLst>
              </a:tr>
              <a:tr h="481404">
                <a:tc>
                  <a:txBody>
                    <a:bodyPr/>
                    <a:lstStyle/>
                    <a:p>
                      <a:r>
                        <a:rPr lang="en-US" sz="700" b="1"/>
                        <a:t>Key Outcome</a:t>
                      </a:r>
                      <a:endParaRPr lang="en-US" sz="700"/>
                    </a:p>
                  </a:txBody>
                  <a:tcPr marL="36876" marR="36876" marT="18438" marB="18438" anchor="ctr">
                    <a:lnL>
                      <a:noFill/>
                    </a:lnL>
                    <a:lnR>
                      <a:noFill/>
                    </a:lnR>
                    <a:lnT>
                      <a:noFill/>
                    </a:lnT>
                    <a:lnB>
                      <a:noFill/>
                    </a:lnB>
                    <a:noFill/>
                  </a:tcPr>
                </a:tc>
                <a:tc>
                  <a:txBody>
                    <a:bodyPr/>
                    <a:lstStyle/>
                    <a:p>
                      <a:r>
                        <a:rPr lang="en-US" sz="700" b="1"/>
                        <a:t>Good relationships</a:t>
                      </a:r>
                      <a:r>
                        <a:rPr lang="en-US" sz="700"/>
                        <a:t> are the strongest predictor of long-term well-being.</a:t>
                      </a:r>
                    </a:p>
                  </a:txBody>
                  <a:tcPr marL="36876" marR="36876" marT="18438" marB="18438" anchor="ctr">
                    <a:lnL>
                      <a:noFill/>
                    </a:lnL>
                    <a:lnR>
                      <a:noFill/>
                    </a:lnR>
                    <a:lnT>
                      <a:noFill/>
                    </a:lnT>
                    <a:lnB>
                      <a:noFill/>
                    </a:lnB>
                    <a:noFill/>
                  </a:tcPr>
                </a:tc>
                <a:tc>
                  <a:txBody>
                    <a:bodyPr/>
                    <a:lstStyle/>
                    <a:p>
                      <a:r>
                        <a:rPr lang="en-US" sz="700" b="1"/>
                        <a:t>Lifestyle choices</a:t>
                      </a:r>
                      <a:r>
                        <a:rPr lang="en-US" sz="700"/>
                        <a:t> (not genetics) are the main driver of aging well.</a:t>
                      </a:r>
                    </a:p>
                  </a:txBody>
                  <a:tcPr marL="36876" marR="36876" marT="18438" marB="18438" anchor="ctr">
                    <a:lnL>
                      <a:noFill/>
                    </a:lnL>
                    <a:lnR>
                      <a:noFill/>
                    </a:lnR>
                    <a:lnT>
                      <a:noFill/>
                    </a:lnT>
                    <a:lnB>
                      <a:noFill/>
                    </a:lnB>
                    <a:noFill/>
                  </a:tcPr>
                </a:tc>
                <a:extLst>
                  <a:ext uri="{0D108BD9-81ED-4DB2-BD59-A6C34878D82A}">
                    <a16:rowId xmlns:a16="http://schemas.microsoft.com/office/drawing/2014/main" val="2090294773"/>
                  </a:ext>
                </a:extLst>
              </a:tr>
              <a:tr h="625827">
                <a:tc>
                  <a:txBody>
                    <a:bodyPr/>
                    <a:lstStyle/>
                    <a:p>
                      <a:r>
                        <a:rPr lang="en-US" sz="700" b="1"/>
                        <a:t>Definition of Well-Being</a:t>
                      </a:r>
                      <a:endParaRPr lang="en-US" sz="700"/>
                    </a:p>
                  </a:txBody>
                  <a:tcPr marL="36876" marR="36876" marT="18438" marB="18438" anchor="ctr">
                    <a:lnL>
                      <a:noFill/>
                    </a:lnL>
                    <a:lnR>
                      <a:noFill/>
                    </a:lnR>
                    <a:lnT>
                      <a:noFill/>
                    </a:lnT>
                    <a:lnB>
                      <a:noFill/>
                    </a:lnB>
                    <a:noFill/>
                  </a:tcPr>
                </a:tc>
                <a:tc>
                  <a:txBody>
                    <a:bodyPr/>
                    <a:lstStyle/>
                    <a:p>
                      <a:r>
                        <a:rPr lang="en-US" sz="700"/>
                        <a:t>Emotional fulfillment, physical health, life satisfaction, and secure attachment.</a:t>
                      </a:r>
                    </a:p>
                  </a:txBody>
                  <a:tcPr marL="36876" marR="36876" marT="18438" marB="18438" anchor="ctr">
                    <a:lnL>
                      <a:noFill/>
                    </a:lnL>
                    <a:lnR>
                      <a:noFill/>
                    </a:lnR>
                    <a:lnT>
                      <a:noFill/>
                    </a:lnT>
                    <a:lnB>
                      <a:noFill/>
                    </a:lnB>
                    <a:noFill/>
                  </a:tcPr>
                </a:tc>
                <a:tc>
                  <a:txBody>
                    <a:bodyPr/>
                    <a:lstStyle/>
                    <a:p>
                      <a:r>
                        <a:rPr lang="en-US" sz="700"/>
                        <a:t>Low disease/disability, high cognitive and physical function, and active engagement.</a:t>
                      </a:r>
                    </a:p>
                  </a:txBody>
                  <a:tcPr marL="36876" marR="36876" marT="18438" marB="18438" anchor="ctr">
                    <a:lnL>
                      <a:noFill/>
                    </a:lnL>
                    <a:lnR>
                      <a:noFill/>
                    </a:lnR>
                    <a:lnT>
                      <a:noFill/>
                    </a:lnT>
                    <a:lnB>
                      <a:noFill/>
                    </a:lnB>
                    <a:noFill/>
                  </a:tcPr>
                </a:tc>
                <a:extLst>
                  <a:ext uri="{0D108BD9-81ED-4DB2-BD59-A6C34878D82A}">
                    <a16:rowId xmlns:a16="http://schemas.microsoft.com/office/drawing/2014/main" val="2582052034"/>
                  </a:ext>
                </a:extLst>
              </a:tr>
              <a:tr h="770247">
                <a:tc>
                  <a:txBody>
                    <a:bodyPr/>
                    <a:lstStyle/>
                    <a:p>
                      <a:r>
                        <a:rPr lang="en-US" sz="700" b="1"/>
                        <a:t>Top Predictors of Health &amp; Happiness</a:t>
                      </a:r>
                      <a:endParaRPr lang="en-US" sz="700"/>
                    </a:p>
                  </a:txBody>
                  <a:tcPr marL="36876" marR="36876" marT="18438" marB="18438" anchor="ctr">
                    <a:lnL>
                      <a:noFill/>
                    </a:lnL>
                    <a:lnR>
                      <a:noFill/>
                    </a:lnR>
                    <a:lnT>
                      <a:noFill/>
                    </a:lnT>
                    <a:lnB>
                      <a:noFill/>
                    </a:lnB>
                    <a:noFill/>
                  </a:tcPr>
                </a:tc>
                <a:tc>
                  <a:txBody>
                    <a:bodyPr/>
                    <a:lstStyle/>
                    <a:p>
                      <a:r>
                        <a:rPr lang="en-US" sz="700"/>
                        <a:t>- Close, supportive relationships- Emotional intelligence- Secure attachment- Purpose and resilience</a:t>
                      </a:r>
                    </a:p>
                  </a:txBody>
                  <a:tcPr marL="36876" marR="36876" marT="18438" marB="18438" anchor="ctr">
                    <a:lnL>
                      <a:noFill/>
                    </a:lnL>
                    <a:lnR>
                      <a:noFill/>
                    </a:lnR>
                    <a:lnT>
                      <a:noFill/>
                    </a:lnT>
                    <a:lnB>
                      <a:noFill/>
                    </a:lnB>
                    <a:noFill/>
                  </a:tcPr>
                </a:tc>
                <a:tc>
                  <a:txBody>
                    <a:bodyPr/>
                    <a:lstStyle/>
                    <a:p>
                      <a:r>
                        <a:rPr lang="en-US" sz="700"/>
                        <a:t>- Physical activity- Cognitive stimulation- Social engagement- Positive attitude and self-efficacy</a:t>
                      </a:r>
                    </a:p>
                  </a:txBody>
                  <a:tcPr marL="36876" marR="36876" marT="18438" marB="18438" anchor="ctr">
                    <a:lnL>
                      <a:noFill/>
                    </a:lnL>
                    <a:lnR>
                      <a:noFill/>
                    </a:lnR>
                    <a:lnT>
                      <a:noFill/>
                    </a:lnT>
                    <a:lnB>
                      <a:noFill/>
                    </a:lnB>
                    <a:noFill/>
                  </a:tcPr>
                </a:tc>
                <a:extLst>
                  <a:ext uri="{0D108BD9-81ED-4DB2-BD59-A6C34878D82A}">
                    <a16:rowId xmlns:a16="http://schemas.microsoft.com/office/drawing/2014/main" val="160131834"/>
                  </a:ext>
                </a:extLst>
              </a:tr>
              <a:tr h="625827">
                <a:tc>
                  <a:txBody>
                    <a:bodyPr/>
                    <a:lstStyle/>
                    <a:p>
                      <a:r>
                        <a:rPr lang="en-US" sz="700" b="1"/>
                        <a:t>Role of Genetics</a:t>
                      </a:r>
                      <a:endParaRPr lang="en-US" sz="700"/>
                    </a:p>
                  </a:txBody>
                  <a:tcPr marL="36876" marR="36876" marT="18438" marB="18438" anchor="ctr">
                    <a:lnL>
                      <a:noFill/>
                    </a:lnL>
                    <a:lnR>
                      <a:noFill/>
                    </a:lnR>
                    <a:lnT>
                      <a:noFill/>
                    </a:lnT>
                    <a:lnB>
                      <a:noFill/>
                    </a:lnB>
                    <a:noFill/>
                  </a:tcPr>
                </a:tc>
                <a:tc>
                  <a:txBody>
                    <a:bodyPr/>
                    <a:lstStyle/>
                    <a:p>
                      <a:r>
                        <a:rPr lang="en-US" sz="700"/>
                        <a:t>Genetics play a role but are </a:t>
                      </a:r>
                      <a:r>
                        <a:rPr lang="en-US" sz="700" b="1"/>
                        <a:t>less important than relationships and behavior</a:t>
                      </a:r>
                      <a:r>
                        <a:rPr lang="en-US" sz="700"/>
                        <a:t>.</a:t>
                      </a:r>
                    </a:p>
                  </a:txBody>
                  <a:tcPr marL="36876" marR="36876" marT="18438" marB="18438" anchor="ctr">
                    <a:lnL>
                      <a:noFill/>
                    </a:lnL>
                    <a:lnR>
                      <a:noFill/>
                    </a:lnR>
                    <a:lnT>
                      <a:noFill/>
                    </a:lnT>
                    <a:lnB>
                      <a:noFill/>
                    </a:lnB>
                    <a:noFill/>
                  </a:tcPr>
                </a:tc>
                <a:tc>
                  <a:txBody>
                    <a:bodyPr/>
                    <a:lstStyle/>
                    <a:p>
                      <a:r>
                        <a:rPr lang="en-US" sz="700"/>
                        <a:t>About </a:t>
                      </a:r>
                      <a:r>
                        <a:rPr lang="en-US" sz="700" b="1"/>
                        <a:t>30% genetic</a:t>
                      </a:r>
                      <a:r>
                        <a:rPr lang="en-US" sz="700"/>
                        <a:t>, </a:t>
                      </a:r>
                      <a:r>
                        <a:rPr lang="en-US" sz="700" b="1"/>
                        <a:t>70% determined by lifestyle and choices</a:t>
                      </a:r>
                      <a:r>
                        <a:rPr lang="en-US" sz="700"/>
                        <a:t>.</a:t>
                      </a:r>
                    </a:p>
                  </a:txBody>
                  <a:tcPr marL="36876" marR="36876" marT="18438" marB="18438" anchor="ctr">
                    <a:lnL>
                      <a:noFill/>
                    </a:lnL>
                    <a:lnR>
                      <a:noFill/>
                    </a:lnR>
                    <a:lnT>
                      <a:noFill/>
                    </a:lnT>
                    <a:lnB>
                      <a:noFill/>
                    </a:lnB>
                    <a:noFill/>
                  </a:tcPr>
                </a:tc>
                <a:extLst>
                  <a:ext uri="{0D108BD9-81ED-4DB2-BD59-A6C34878D82A}">
                    <a16:rowId xmlns:a16="http://schemas.microsoft.com/office/drawing/2014/main" val="2032772234"/>
                  </a:ext>
                </a:extLst>
              </a:tr>
              <a:tr h="625827">
                <a:tc>
                  <a:txBody>
                    <a:bodyPr/>
                    <a:lstStyle/>
                    <a:p>
                      <a:r>
                        <a:rPr lang="en-US" sz="700" b="1"/>
                        <a:t>Mental Health Insights</a:t>
                      </a:r>
                      <a:endParaRPr lang="en-US" sz="700"/>
                    </a:p>
                  </a:txBody>
                  <a:tcPr marL="36876" marR="36876" marT="18438" marB="18438" anchor="ctr">
                    <a:lnL>
                      <a:noFill/>
                    </a:lnL>
                    <a:lnR>
                      <a:noFill/>
                    </a:lnR>
                    <a:lnT>
                      <a:noFill/>
                    </a:lnT>
                    <a:lnB>
                      <a:noFill/>
                    </a:lnB>
                    <a:noFill/>
                  </a:tcPr>
                </a:tc>
                <a:tc>
                  <a:txBody>
                    <a:bodyPr/>
                    <a:lstStyle/>
                    <a:p>
                      <a:r>
                        <a:rPr lang="en-US" sz="700"/>
                        <a:t>Emotional well-being improves with age, especially when relationships are strong.</a:t>
                      </a:r>
                    </a:p>
                  </a:txBody>
                  <a:tcPr marL="36876" marR="36876" marT="18438" marB="18438" anchor="ctr">
                    <a:lnL>
                      <a:noFill/>
                    </a:lnL>
                    <a:lnR>
                      <a:noFill/>
                    </a:lnR>
                    <a:lnT>
                      <a:noFill/>
                    </a:lnT>
                    <a:lnB>
                      <a:noFill/>
                    </a:lnB>
                    <a:noFill/>
                  </a:tcPr>
                </a:tc>
                <a:tc>
                  <a:txBody>
                    <a:bodyPr/>
                    <a:lstStyle/>
                    <a:p>
                      <a:r>
                        <a:rPr lang="en-US" sz="700"/>
                        <a:t>Cognitive decline is </a:t>
                      </a:r>
                      <a:r>
                        <a:rPr lang="en-US" sz="700" b="1"/>
                        <a:t>not inevitable</a:t>
                      </a:r>
                      <a:r>
                        <a:rPr lang="en-US" sz="700"/>
                        <a:t>; it can be slowed or avoided through lifestyle.</a:t>
                      </a:r>
                    </a:p>
                  </a:txBody>
                  <a:tcPr marL="36876" marR="36876" marT="18438" marB="18438" anchor="ctr">
                    <a:lnL>
                      <a:noFill/>
                    </a:lnL>
                    <a:lnR>
                      <a:noFill/>
                    </a:lnR>
                    <a:lnT>
                      <a:noFill/>
                    </a:lnT>
                    <a:lnB>
                      <a:noFill/>
                    </a:lnB>
                    <a:noFill/>
                  </a:tcPr>
                </a:tc>
                <a:extLst>
                  <a:ext uri="{0D108BD9-81ED-4DB2-BD59-A6C34878D82A}">
                    <a16:rowId xmlns:a16="http://schemas.microsoft.com/office/drawing/2014/main" val="2164611711"/>
                  </a:ext>
                </a:extLst>
              </a:tr>
              <a:tr h="625827">
                <a:tc>
                  <a:txBody>
                    <a:bodyPr/>
                    <a:lstStyle/>
                    <a:p>
                      <a:r>
                        <a:rPr lang="en-US" sz="700" b="1"/>
                        <a:t>Social Connections</a:t>
                      </a:r>
                      <a:endParaRPr lang="en-US" sz="700"/>
                    </a:p>
                  </a:txBody>
                  <a:tcPr marL="36876" marR="36876" marT="18438" marB="18438" anchor="ctr">
                    <a:lnL>
                      <a:noFill/>
                    </a:lnL>
                    <a:lnR>
                      <a:noFill/>
                    </a:lnR>
                    <a:lnT>
                      <a:noFill/>
                    </a:lnT>
                    <a:lnB>
                      <a:noFill/>
                    </a:lnB>
                    <a:noFill/>
                  </a:tcPr>
                </a:tc>
                <a:tc>
                  <a:txBody>
                    <a:bodyPr/>
                    <a:lstStyle/>
                    <a:p>
                      <a:r>
                        <a:rPr lang="en-US" sz="700"/>
                        <a:t>Loneliness is as harmful as smoking; quality of relationships matters most.</a:t>
                      </a:r>
                    </a:p>
                  </a:txBody>
                  <a:tcPr marL="36876" marR="36876" marT="18438" marB="18438" anchor="ctr">
                    <a:lnL>
                      <a:noFill/>
                    </a:lnL>
                    <a:lnR>
                      <a:noFill/>
                    </a:lnR>
                    <a:lnT>
                      <a:noFill/>
                    </a:lnT>
                    <a:lnB>
                      <a:noFill/>
                    </a:lnB>
                    <a:noFill/>
                  </a:tcPr>
                </a:tc>
                <a:tc>
                  <a:txBody>
                    <a:bodyPr/>
                    <a:lstStyle/>
                    <a:p>
                      <a:r>
                        <a:rPr lang="en-US" sz="700"/>
                        <a:t>Social ties </a:t>
                      </a:r>
                      <a:r>
                        <a:rPr lang="en-US" sz="700" b="1"/>
                        <a:t>protect against mental and physical decline</a:t>
                      </a:r>
                      <a:r>
                        <a:rPr lang="en-US" sz="700"/>
                        <a:t>.</a:t>
                      </a:r>
                    </a:p>
                  </a:txBody>
                  <a:tcPr marL="36876" marR="36876" marT="18438" marB="18438" anchor="ctr">
                    <a:lnL>
                      <a:noFill/>
                    </a:lnL>
                    <a:lnR>
                      <a:noFill/>
                    </a:lnR>
                    <a:lnT>
                      <a:noFill/>
                    </a:lnT>
                    <a:lnB>
                      <a:noFill/>
                    </a:lnB>
                    <a:noFill/>
                  </a:tcPr>
                </a:tc>
                <a:extLst>
                  <a:ext uri="{0D108BD9-81ED-4DB2-BD59-A6C34878D82A}">
                    <a16:rowId xmlns:a16="http://schemas.microsoft.com/office/drawing/2014/main" val="3566542224"/>
                  </a:ext>
                </a:extLst>
              </a:tr>
              <a:tr h="625827">
                <a:tc>
                  <a:txBody>
                    <a:bodyPr/>
                    <a:lstStyle/>
                    <a:p>
                      <a:r>
                        <a:rPr lang="en-US" sz="700" b="1"/>
                        <a:t>Notable Quote</a:t>
                      </a:r>
                      <a:endParaRPr lang="en-US" sz="700"/>
                    </a:p>
                  </a:txBody>
                  <a:tcPr marL="36876" marR="36876" marT="18438" marB="18438" anchor="ctr">
                    <a:lnL>
                      <a:noFill/>
                    </a:lnL>
                    <a:lnR>
                      <a:noFill/>
                    </a:lnR>
                    <a:lnT>
                      <a:noFill/>
                    </a:lnT>
                    <a:lnB>
                      <a:noFill/>
                    </a:lnB>
                    <a:noFill/>
                  </a:tcPr>
                </a:tc>
                <a:tc>
                  <a:txBody>
                    <a:bodyPr/>
                    <a:lstStyle/>
                    <a:p>
                      <a:r>
                        <a:rPr lang="en-US" sz="700"/>
                        <a:t>“Good relationships keep us happier and healthier. Period.” – Dr. Robert Waldinger</a:t>
                      </a:r>
                    </a:p>
                  </a:txBody>
                  <a:tcPr marL="36876" marR="36876" marT="18438" marB="18438" anchor="ctr">
                    <a:lnL>
                      <a:noFill/>
                    </a:lnL>
                    <a:lnR>
                      <a:noFill/>
                    </a:lnR>
                    <a:lnT>
                      <a:noFill/>
                    </a:lnT>
                    <a:lnB>
                      <a:noFill/>
                    </a:lnB>
                    <a:noFill/>
                  </a:tcPr>
                </a:tc>
                <a:tc>
                  <a:txBody>
                    <a:bodyPr/>
                    <a:lstStyle/>
                    <a:p>
                      <a:r>
                        <a:rPr lang="en-US" sz="700" dirty="0"/>
                        <a:t>“Aging is largely under individual control.” – Dr. John Rowe &amp; Dr. Robert Kahn</a:t>
                      </a:r>
                    </a:p>
                  </a:txBody>
                  <a:tcPr marL="36876" marR="36876" marT="18438" marB="18438" anchor="ctr">
                    <a:lnL>
                      <a:noFill/>
                    </a:lnL>
                    <a:lnR>
                      <a:noFill/>
                    </a:lnR>
                    <a:lnT>
                      <a:noFill/>
                    </a:lnT>
                    <a:lnB>
                      <a:noFill/>
                    </a:lnB>
                    <a:noFill/>
                  </a:tcPr>
                </a:tc>
                <a:extLst>
                  <a:ext uri="{0D108BD9-81ED-4DB2-BD59-A6C34878D82A}">
                    <a16:rowId xmlns:a16="http://schemas.microsoft.com/office/drawing/2014/main" val="1597870937"/>
                  </a:ext>
                </a:extLst>
              </a:tr>
            </a:tbl>
          </a:graphicData>
        </a:graphic>
      </p:graphicFrame>
    </p:spTree>
    <p:extLst>
      <p:ext uri="{BB962C8B-B14F-4D97-AF65-F5344CB8AC3E}">
        <p14:creationId xmlns:p14="http://schemas.microsoft.com/office/powerpoint/2010/main" val="1635145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ED7783D-BDEC-2FD0-F4F9-5B8B6B996C0E}"/>
              </a:ext>
            </a:extLst>
          </p:cNvPr>
          <p:cNvSpPr>
            <a:spLocks noGrp="1"/>
          </p:cNvSpPr>
          <p:nvPr>
            <p:ph type="ftr" sz="quarter" idx="11"/>
          </p:nvPr>
        </p:nvSpPr>
        <p:spPr/>
        <p:txBody>
          <a:bodyPr/>
          <a:lstStyle/>
          <a:p>
            <a:r>
              <a:rPr lang="en-US"/>
              <a:t>The Science of Positive Psychology © Cambridge University Press 2021</a:t>
            </a:r>
            <a:endParaRPr lang="en-US" dirty="0"/>
          </a:p>
        </p:txBody>
      </p:sp>
      <p:graphicFrame>
        <p:nvGraphicFramePr>
          <p:cNvPr id="6" name="Table 5">
            <a:extLst>
              <a:ext uri="{FF2B5EF4-FFF2-40B4-BE49-F238E27FC236}">
                <a16:creationId xmlns:a16="http://schemas.microsoft.com/office/drawing/2014/main" id="{09D73CC3-1398-F306-DB7F-D789340AA0FF}"/>
              </a:ext>
            </a:extLst>
          </p:cNvPr>
          <p:cNvGraphicFramePr>
            <a:graphicFrameLocks noGrp="1"/>
          </p:cNvGraphicFramePr>
          <p:nvPr>
            <p:extLst>
              <p:ext uri="{D42A27DB-BD31-4B8C-83A1-F6EECF244321}">
                <p14:modId xmlns:p14="http://schemas.microsoft.com/office/powerpoint/2010/main" val="1704879641"/>
              </p:ext>
            </p:extLst>
          </p:nvPr>
        </p:nvGraphicFramePr>
        <p:xfrm>
          <a:off x="462643" y="129288"/>
          <a:ext cx="8218714" cy="5855062"/>
        </p:xfrm>
        <a:graphic>
          <a:graphicData uri="http://schemas.openxmlformats.org/drawingml/2006/table">
            <a:tbl>
              <a:tblPr firstRow="1" bandRow="1">
                <a:tableStyleId>{5C22544A-7EE6-4342-B048-85BDC9FD1C3A}</a:tableStyleId>
              </a:tblPr>
              <a:tblGrid>
                <a:gridCol w="1989599">
                  <a:extLst>
                    <a:ext uri="{9D8B030D-6E8A-4147-A177-3AD203B41FA5}">
                      <a16:colId xmlns:a16="http://schemas.microsoft.com/office/drawing/2014/main" val="552127432"/>
                    </a:ext>
                  </a:extLst>
                </a:gridCol>
                <a:gridCol w="2962704">
                  <a:extLst>
                    <a:ext uri="{9D8B030D-6E8A-4147-A177-3AD203B41FA5}">
                      <a16:colId xmlns:a16="http://schemas.microsoft.com/office/drawing/2014/main" val="3499026883"/>
                    </a:ext>
                  </a:extLst>
                </a:gridCol>
                <a:gridCol w="3266411">
                  <a:extLst>
                    <a:ext uri="{9D8B030D-6E8A-4147-A177-3AD203B41FA5}">
                      <a16:colId xmlns:a16="http://schemas.microsoft.com/office/drawing/2014/main" val="1914032843"/>
                    </a:ext>
                  </a:extLst>
                </a:gridCol>
              </a:tblGrid>
              <a:tr h="558799">
                <a:tc>
                  <a:txBody>
                    <a:bodyPr/>
                    <a:lstStyle/>
                    <a:p>
                      <a:r>
                        <a:rPr lang="en-US" dirty="0"/>
                        <a:t>Aspect</a:t>
                      </a:r>
                    </a:p>
                  </a:txBody>
                  <a:tcPr/>
                </a:tc>
                <a:tc>
                  <a:txBody>
                    <a:bodyPr/>
                    <a:lstStyle/>
                    <a:p>
                      <a:r>
                        <a:rPr lang="en-US" dirty="0"/>
                        <a:t>Harvard Study</a:t>
                      </a:r>
                    </a:p>
                  </a:txBody>
                  <a:tcPr/>
                </a:tc>
                <a:tc>
                  <a:txBody>
                    <a:bodyPr/>
                    <a:lstStyle/>
                    <a:p>
                      <a:r>
                        <a:rPr lang="en-US" dirty="0"/>
                        <a:t>MacArthur Study</a:t>
                      </a:r>
                    </a:p>
                  </a:txBody>
                  <a:tcPr/>
                </a:tc>
                <a:extLst>
                  <a:ext uri="{0D108BD9-81ED-4DB2-BD59-A6C34878D82A}">
                    <a16:rowId xmlns:a16="http://schemas.microsoft.com/office/drawing/2014/main" val="490498341"/>
                  </a:ext>
                </a:extLst>
              </a:tr>
              <a:tr h="449943">
                <a:tc>
                  <a:txBody>
                    <a:bodyPr/>
                    <a:lstStyle/>
                    <a:p>
                      <a:r>
                        <a:rPr lang="en-US" dirty="0"/>
                        <a:t>Start and Scope</a:t>
                      </a:r>
                    </a:p>
                  </a:txBody>
                  <a:tcPr/>
                </a:tc>
                <a:tc>
                  <a:txBody>
                    <a:bodyPr/>
                    <a:lstStyle/>
                    <a:p>
                      <a:r>
                        <a:rPr lang="en-US" dirty="0"/>
                        <a:t>1938; 724 men (then wives)</a:t>
                      </a:r>
                    </a:p>
                  </a:txBody>
                  <a:tcPr/>
                </a:tc>
                <a:tc>
                  <a:txBody>
                    <a:bodyPr/>
                    <a:lstStyle/>
                    <a:p>
                      <a:r>
                        <a:rPr lang="en-US" dirty="0"/>
                        <a:t>1000 older adults 1980s-90s</a:t>
                      </a:r>
                    </a:p>
                  </a:txBody>
                  <a:tcPr/>
                </a:tc>
                <a:extLst>
                  <a:ext uri="{0D108BD9-81ED-4DB2-BD59-A6C34878D82A}">
                    <a16:rowId xmlns:a16="http://schemas.microsoft.com/office/drawing/2014/main" val="3676252334"/>
                  </a:ext>
                </a:extLst>
              </a:tr>
              <a:tr h="449943">
                <a:tc>
                  <a:txBody>
                    <a:bodyPr/>
                    <a:lstStyle/>
                    <a:p>
                      <a:r>
                        <a:rPr lang="en-US" dirty="0"/>
                        <a:t>Main Focus</a:t>
                      </a:r>
                    </a:p>
                  </a:txBody>
                  <a:tcPr/>
                </a:tc>
                <a:tc>
                  <a:txBody>
                    <a:bodyPr/>
                    <a:lstStyle/>
                    <a:p>
                      <a:r>
                        <a:rPr lang="en-US" dirty="0"/>
                        <a:t>What makes for a happy, healthy life over the lifespan</a:t>
                      </a:r>
                    </a:p>
                  </a:txBody>
                  <a:tcPr/>
                </a:tc>
                <a:tc>
                  <a:txBody>
                    <a:bodyPr/>
                    <a:lstStyle/>
                    <a:p>
                      <a:r>
                        <a:rPr lang="en-US" dirty="0"/>
                        <a:t>What factors lead to successful again and functional independence</a:t>
                      </a:r>
                    </a:p>
                  </a:txBody>
                  <a:tcPr/>
                </a:tc>
                <a:extLst>
                  <a:ext uri="{0D108BD9-81ED-4DB2-BD59-A6C34878D82A}">
                    <a16:rowId xmlns:a16="http://schemas.microsoft.com/office/drawing/2014/main" val="1272114389"/>
                  </a:ext>
                </a:extLst>
              </a:tr>
              <a:tr h="449943">
                <a:tc>
                  <a:txBody>
                    <a:bodyPr/>
                    <a:lstStyle/>
                    <a:p>
                      <a:r>
                        <a:rPr lang="en-US" dirty="0"/>
                        <a:t>Key Outcome</a:t>
                      </a:r>
                    </a:p>
                  </a:txBody>
                  <a:tcPr/>
                </a:tc>
                <a:tc>
                  <a:txBody>
                    <a:bodyPr/>
                    <a:lstStyle/>
                    <a:p>
                      <a:r>
                        <a:rPr lang="en-US" dirty="0"/>
                        <a:t>Good relationships are the strongest predictor of long-term well-being</a:t>
                      </a:r>
                    </a:p>
                  </a:txBody>
                  <a:tcPr/>
                </a:tc>
                <a:tc>
                  <a:txBody>
                    <a:bodyPr/>
                    <a:lstStyle/>
                    <a:p>
                      <a:r>
                        <a:rPr lang="en-US" dirty="0"/>
                        <a:t>Lifestyle choices (not genetics) are the main driver of aging well</a:t>
                      </a:r>
                    </a:p>
                  </a:txBody>
                  <a:tcPr/>
                </a:tc>
                <a:extLst>
                  <a:ext uri="{0D108BD9-81ED-4DB2-BD59-A6C34878D82A}">
                    <a16:rowId xmlns:a16="http://schemas.microsoft.com/office/drawing/2014/main" val="211299287"/>
                  </a:ext>
                </a:extLst>
              </a:tr>
              <a:tr h="449943">
                <a:tc>
                  <a:txBody>
                    <a:bodyPr/>
                    <a:lstStyle/>
                    <a:p>
                      <a:r>
                        <a:rPr lang="en-US" dirty="0"/>
                        <a:t>Def of WB</a:t>
                      </a:r>
                    </a:p>
                  </a:txBody>
                  <a:tcPr/>
                </a:tc>
                <a:tc>
                  <a:txBody>
                    <a:bodyPr/>
                    <a:lstStyle/>
                    <a:p>
                      <a:r>
                        <a:rPr lang="en-US" dirty="0"/>
                        <a:t>Emotional fulfillment, physical health, life </a:t>
                      </a:r>
                      <a:r>
                        <a:rPr lang="en-US" dirty="0" err="1"/>
                        <a:t>satis</a:t>
                      </a:r>
                      <a:r>
                        <a:rPr lang="en-US" dirty="0"/>
                        <a:t> and secure attachment</a:t>
                      </a:r>
                    </a:p>
                  </a:txBody>
                  <a:tcPr/>
                </a:tc>
                <a:tc>
                  <a:txBody>
                    <a:bodyPr/>
                    <a:lstStyle/>
                    <a:p>
                      <a:r>
                        <a:rPr lang="en-US" dirty="0"/>
                        <a:t>Low disease/disability, high cognitive and physical function and cognitive engagement</a:t>
                      </a:r>
                    </a:p>
                  </a:txBody>
                  <a:tcPr/>
                </a:tc>
                <a:extLst>
                  <a:ext uri="{0D108BD9-81ED-4DB2-BD59-A6C34878D82A}">
                    <a16:rowId xmlns:a16="http://schemas.microsoft.com/office/drawing/2014/main" val="4115774851"/>
                  </a:ext>
                </a:extLst>
              </a:tr>
              <a:tr h="449943">
                <a:tc>
                  <a:txBody>
                    <a:bodyPr/>
                    <a:lstStyle/>
                    <a:p>
                      <a:r>
                        <a:rPr lang="en-US" dirty="0"/>
                        <a:t>Top Predictors of Health &amp; Happiness</a:t>
                      </a:r>
                    </a:p>
                  </a:txBody>
                  <a:tcPr/>
                </a:tc>
                <a:tc>
                  <a:txBody>
                    <a:bodyPr/>
                    <a:lstStyle/>
                    <a:p>
                      <a:r>
                        <a:rPr lang="en-US" dirty="0"/>
                        <a:t>Close supportive relationships, emotional intelligence, secure attachment, purpose and resilience</a:t>
                      </a:r>
                    </a:p>
                  </a:txBody>
                  <a:tcPr/>
                </a:tc>
                <a:tc>
                  <a:txBody>
                    <a:bodyPr/>
                    <a:lstStyle/>
                    <a:p>
                      <a:r>
                        <a:rPr lang="en-US" dirty="0"/>
                        <a:t>Physical activity, cognitive stimulation, social engagement, positive attitude and self-efficacy</a:t>
                      </a:r>
                    </a:p>
                    <a:p>
                      <a:endParaRPr lang="en-US" dirty="0"/>
                    </a:p>
                    <a:p>
                      <a:endParaRPr lang="en-US" dirty="0"/>
                    </a:p>
                  </a:txBody>
                  <a:tcPr/>
                </a:tc>
                <a:extLst>
                  <a:ext uri="{0D108BD9-81ED-4DB2-BD59-A6C34878D82A}">
                    <a16:rowId xmlns:a16="http://schemas.microsoft.com/office/drawing/2014/main" val="4076786454"/>
                  </a:ext>
                </a:extLst>
              </a:tr>
              <a:tr h="449943">
                <a:tc>
                  <a:txBody>
                    <a:bodyPr/>
                    <a:lstStyle/>
                    <a:p>
                      <a:r>
                        <a:rPr lang="en-US" dirty="0"/>
                        <a:t>Social Connections</a:t>
                      </a:r>
                    </a:p>
                  </a:txBody>
                  <a:tcPr/>
                </a:tc>
                <a:tc>
                  <a:txBody>
                    <a:bodyPr/>
                    <a:lstStyle/>
                    <a:p>
                      <a:r>
                        <a:rPr lang="en-US" dirty="0"/>
                        <a:t>Quality of relationships matter most</a:t>
                      </a:r>
                    </a:p>
                  </a:txBody>
                  <a:tcPr/>
                </a:tc>
                <a:tc>
                  <a:txBody>
                    <a:bodyPr/>
                    <a:lstStyle/>
                    <a:p>
                      <a:r>
                        <a:rPr lang="en-US" dirty="0"/>
                        <a:t>Social ties protect against mental and physical decline</a:t>
                      </a:r>
                    </a:p>
                  </a:txBody>
                  <a:tcPr/>
                </a:tc>
                <a:extLst>
                  <a:ext uri="{0D108BD9-81ED-4DB2-BD59-A6C34878D82A}">
                    <a16:rowId xmlns:a16="http://schemas.microsoft.com/office/drawing/2014/main" val="4294365171"/>
                  </a:ext>
                </a:extLst>
              </a:tr>
            </a:tbl>
          </a:graphicData>
        </a:graphic>
      </p:graphicFrame>
    </p:spTree>
    <p:extLst>
      <p:ext uri="{BB962C8B-B14F-4D97-AF65-F5344CB8AC3E}">
        <p14:creationId xmlns:p14="http://schemas.microsoft.com/office/powerpoint/2010/main" val="751123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0F87-C625-2866-B371-72A962D061DB}"/>
              </a:ext>
            </a:extLst>
          </p:cNvPr>
          <p:cNvSpPr>
            <a:spLocks noGrp="1"/>
          </p:cNvSpPr>
          <p:nvPr>
            <p:ph type="title"/>
          </p:nvPr>
        </p:nvSpPr>
        <p:spPr/>
        <p:txBody>
          <a:bodyPr/>
          <a:lstStyle/>
          <a:p>
            <a:r>
              <a:rPr lang="en-US" dirty="0"/>
              <a:t>Journal Entry #19 Importance of Social Relationships</a:t>
            </a:r>
          </a:p>
        </p:txBody>
      </p:sp>
      <p:sp>
        <p:nvSpPr>
          <p:cNvPr id="3" name="Content Placeholder 2">
            <a:extLst>
              <a:ext uri="{FF2B5EF4-FFF2-40B4-BE49-F238E27FC236}">
                <a16:creationId xmlns:a16="http://schemas.microsoft.com/office/drawing/2014/main" id="{28FCB30D-1E57-E9C2-7282-29862E933493}"/>
              </a:ext>
            </a:extLst>
          </p:cNvPr>
          <p:cNvSpPr>
            <a:spLocks noGrp="1"/>
          </p:cNvSpPr>
          <p:nvPr>
            <p:ph idx="1"/>
          </p:nvPr>
        </p:nvSpPr>
        <p:spPr/>
        <p:txBody>
          <a:bodyPr>
            <a:normAutofit fontScale="85000" lnSpcReduction="20000"/>
          </a:bodyPr>
          <a:lstStyle/>
          <a:p>
            <a:pPr marL="0" indent="0">
              <a:buNone/>
            </a:pPr>
            <a:r>
              <a:rPr lang="en-US" dirty="0"/>
              <a:t>“</a:t>
            </a:r>
            <a:r>
              <a:rPr lang="en-US" dirty="0">
                <a:solidFill>
                  <a:schemeClr val="accent1">
                    <a:lumMod val="75000"/>
                  </a:schemeClr>
                </a:solidFill>
              </a:rPr>
              <a:t>Good relationships keep us happier and healthier. Period</a:t>
            </a:r>
            <a:r>
              <a:rPr lang="en-US" dirty="0"/>
              <a:t>.” </a:t>
            </a:r>
            <a:r>
              <a:rPr lang="en-US" sz="2000" dirty="0"/>
              <a:t>–Harvard Researcher</a:t>
            </a:r>
            <a:endParaRPr lang="en-US" dirty="0"/>
          </a:p>
          <a:p>
            <a:pPr marL="514350" indent="-514350">
              <a:buAutoNum type="arabicPeriod"/>
            </a:pPr>
            <a:r>
              <a:rPr lang="en-US" dirty="0">
                <a:solidFill>
                  <a:srgbClr val="CC3399"/>
                </a:solidFill>
              </a:rPr>
              <a:t>Create a Relationship Map</a:t>
            </a:r>
          </a:p>
          <a:p>
            <a:pPr lvl="1"/>
            <a:r>
              <a:rPr lang="en-US" dirty="0"/>
              <a:t>In the center: write </a:t>
            </a:r>
            <a:r>
              <a:rPr lang="en-US" b="1" dirty="0"/>
              <a:t>“Me”</a:t>
            </a:r>
            <a:endParaRPr lang="en-US" dirty="0"/>
          </a:p>
          <a:p>
            <a:pPr lvl="1"/>
            <a:r>
              <a:rPr lang="en-US" dirty="0"/>
              <a:t>Around it, write the names of the </a:t>
            </a:r>
            <a:r>
              <a:rPr lang="en-US" b="1" dirty="0"/>
              <a:t>5–7 people</a:t>
            </a:r>
            <a:r>
              <a:rPr lang="en-US" dirty="0"/>
              <a:t> you feel most connected to (family, friends, mentors, etc.)</a:t>
            </a:r>
          </a:p>
          <a:p>
            <a:pPr>
              <a:buNone/>
            </a:pPr>
            <a:r>
              <a:rPr lang="en-US" dirty="0"/>
              <a:t>	Then, next to each name, write:</a:t>
            </a:r>
          </a:p>
          <a:p>
            <a:pPr lvl="1"/>
            <a:r>
              <a:rPr lang="en-US" dirty="0"/>
              <a:t>How close or supported you feel (1–5 scale)</a:t>
            </a:r>
          </a:p>
          <a:p>
            <a:pPr lvl="1"/>
            <a:r>
              <a:rPr lang="en-US" dirty="0"/>
              <a:t>How often you connect</a:t>
            </a:r>
          </a:p>
          <a:p>
            <a:pPr lvl="1"/>
            <a:r>
              <a:rPr lang="en-US" dirty="0"/>
              <a:t>One word that describes the relationship (e.g., supportive, strained, joyful)</a:t>
            </a:r>
          </a:p>
          <a:p>
            <a:pPr lvl="1"/>
            <a:endParaRPr lang="en-US" dirty="0"/>
          </a:p>
          <a:p>
            <a:pPr marL="514350" indent="-514350">
              <a:buAutoNum type="arabicPeriod"/>
            </a:pPr>
            <a:r>
              <a:rPr lang="en-US" dirty="0">
                <a:solidFill>
                  <a:srgbClr val="7030A0"/>
                </a:solidFill>
              </a:rPr>
              <a:t>Reflect on relationships</a:t>
            </a:r>
          </a:p>
          <a:p>
            <a:pPr marL="514350" indent="-514350">
              <a:buAutoNum type="arabicPeriod"/>
            </a:pPr>
            <a:r>
              <a:rPr lang="en-US" dirty="0">
                <a:solidFill>
                  <a:srgbClr val="CC3399"/>
                </a:solidFill>
              </a:rPr>
              <a:t>Strengthen relationships</a:t>
            </a:r>
          </a:p>
        </p:txBody>
      </p:sp>
      <p:sp>
        <p:nvSpPr>
          <p:cNvPr id="4" name="Footer Placeholder 3">
            <a:extLst>
              <a:ext uri="{FF2B5EF4-FFF2-40B4-BE49-F238E27FC236}">
                <a16:creationId xmlns:a16="http://schemas.microsoft.com/office/drawing/2014/main" id="{C6954833-FFEE-A1F3-B44B-8EF01C99F992}"/>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2017777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7E160-8A81-1D6B-946B-29C2F7FB4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F2B52-B781-91C7-0AC7-9991AFF9CAEF}"/>
              </a:ext>
            </a:extLst>
          </p:cNvPr>
          <p:cNvSpPr>
            <a:spLocks noGrp="1"/>
          </p:cNvSpPr>
          <p:nvPr>
            <p:ph type="title"/>
          </p:nvPr>
        </p:nvSpPr>
        <p:spPr/>
        <p:txBody>
          <a:bodyPr/>
          <a:lstStyle/>
          <a:p>
            <a:r>
              <a:rPr lang="en-US" dirty="0"/>
              <a:t>Journal Entry #19 Importance of Social Relationships</a:t>
            </a:r>
          </a:p>
        </p:txBody>
      </p:sp>
      <p:sp>
        <p:nvSpPr>
          <p:cNvPr id="3" name="Content Placeholder 2">
            <a:extLst>
              <a:ext uri="{FF2B5EF4-FFF2-40B4-BE49-F238E27FC236}">
                <a16:creationId xmlns:a16="http://schemas.microsoft.com/office/drawing/2014/main" id="{7BABD882-A240-CBC9-AC1F-AFD9AC605F20}"/>
              </a:ext>
            </a:extLst>
          </p:cNvPr>
          <p:cNvSpPr>
            <a:spLocks noGrp="1"/>
          </p:cNvSpPr>
          <p:nvPr>
            <p:ph idx="1"/>
          </p:nvPr>
        </p:nvSpPr>
        <p:spPr/>
        <p:txBody>
          <a:bodyPr>
            <a:normAutofit lnSpcReduction="10000"/>
          </a:bodyPr>
          <a:lstStyle/>
          <a:p>
            <a:pPr marL="0" indent="0">
              <a:buNone/>
            </a:pPr>
            <a:r>
              <a:rPr lang="en-US" dirty="0"/>
              <a:t>“</a:t>
            </a:r>
            <a:r>
              <a:rPr lang="en-US" dirty="0">
                <a:solidFill>
                  <a:schemeClr val="accent1">
                    <a:lumMod val="75000"/>
                  </a:schemeClr>
                </a:solidFill>
              </a:rPr>
              <a:t>Good relationships keep us happier and healthier. Period</a:t>
            </a:r>
            <a:r>
              <a:rPr lang="en-US" dirty="0"/>
              <a:t>.” </a:t>
            </a:r>
            <a:r>
              <a:rPr lang="en-US" sz="2000" dirty="0"/>
              <a:t>–Harvard Researcher</a:t>
            </a:r>
            <a:endParaRPr lang="en-US" dirty="0"/>
          </a:p>
          <a:p>
            <a:pPr marL="514350" indent="-514350">
              <a:buAutoNum type="arabicPeriod" startAt="2"/>
            </a:pPr>
            <a:r>
              <a:rPr lang="en-US" dirty="0">
                <a:solidFill>
                  <a:srgbClr val="7030A0"/>
                </a:solidFill>
              </a:rPr>
              <a:t>Reflect on relationships</a:t>
            </a:r>
          </a:p>
          <a:p>
            <a:pPr lvl="1"/>
            <a:r>
              <a:rPr lang="en-US" dirty="0"/>
              <a:t>Which relationships feel most nourishing?</a:t>
            </a:r>
          </a:p>
          <a:p>
            <a:pPr lvl="1"/>
            <a:r>
              <a:rPr lang="en-US" dirty="0"/>
              <a:t>Are there relationships may be in need of repair?</a:t>
            </a:r>
          </a:p>
          <a:p>
            <a:pPr lvl="1"/>
            <a:r>
              <a:rPr lang="en-US" dirty="0"/>
              <a:t>Are there relationships you want to deepen?</a:t>
            </a:r>
          </a:p>
          <a:p>
            <a:pPr marL="514350" indent="-514350">
              <a:buAutoNum type="arabicPeriod" startAt="3"/>
            </a:pPr>
            <a:r>
              <a:rPr lang="en-US" dirty="0">
                <a:solidFill>
                  <a:srgbClr val="CC3399"/>
                </a:solidFill>
              </a:rPr>
              <a:t>Strengthen relationships</a:t>
            </a:r>
          </a:p>
          <a:p>
            <a:pPr lvl="1"/>
            <a:r>
              <a:rPr lang="en-US" dirty="0"/>
              <a:t>Choose one relationship from your map</a:t>
            </a:r>
          </a:p>
          <a:p>
            <a:pPr lvl="1"/>
            <a:r>
              <a:rPr lang="en-US" dirty="0"/>
              <a:t>What’s </a:t>
            </a:r>
            <a:r>
              <a:rPr lang="en-US" b="1" dirty="0"/>
              <a:t>one small thing</a:t>
            </a:r>
            <a:r>
              <a:rPr lang="en-US" dirty="0"/>
              <a:t> you can do this week to strengthen this connection?</a:t>
            </a:r>
            <a:br>
              <a:rPr lang="en-US" dirty="0"/>
            </a:br>
            <a:r>
              <a:rPr lang="en-US" dirty="0"/>
              <a:t>(e.g., send a message, plan a meet-up, say thank you)</a:t>
            </a:r>
          </a:p>
          <a:p>
            <a:pPr marL="514350" indent="-514350">
              <a:buAutoNum type="arabicPeriod" startAt="3"/>
            </a:pPr>
            <a:endParaRPr lang="en-US" dirty="0">
              <a:solidFill>
                <a:srgbClr val="CC3399"/>
              </a:solidFill>
            </a:endParaRPr>
          </a:p>
        </p:txBody>
      </p:sp>
      <p:sp>
        <p:nvSpPr>
          <p:cNvPr id="4" name="Footer Placeholder 3">
            <a:extLst>
              <a:ext uri="{FF2B5EF4-FFF2-40B4-BE49-F238E27FC236}">
                <a16:creationId xmlns:a16="http://schemas.microsoft.com/office/drawing/2014/main" id="{33375A29-1AE7-FEDD-2053-A6396D7BFD34}"/>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662468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907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10B63CC-4DD0-421C-9D8E-0BBFC1A1B380}"/>
              </a:ext>
            </a:extLst>
          </p:cNvPr>
          <p:cNvSpPr>
            <a:spLocks noGrp="1"/>
          </p:cNvSpPr>
          <p:nvPr>
            <p:ph type="title"/>
          </p:nvPr>
        </p:nvSpPr>
        <p:spPr>
          <a:xfrm>
            <a:off x="393192" y="516804"/>
            <a:ext cx="4945641" cy="1625210"/>
          </a:xfrm>
        </p:spPr>
        <p:txBody>
          <a:bodyPr>
            <a:normAutofit/>
          </a:bodyPr>
          <a:lstStyle/>
          <a:p>
            <a:r>
              <a:rPr lang="en-US" sz="3100">
                <a:solidFill>
                  <a:srgbClr val="FFFFFF"/>
                </a:solidFill>
              </a:rPr>
              <a:t>Processes of Successful Aging: Selection-Optimization-Compensation</a:t>
            </a:r>
          </a:p>
        </p:txBody>
      </p:sp>
      <p:sp>
        <p:nvSpPr>
          <p:cNvPr id="12" name="Rectangle 11">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6888" y="2432305"/>
            <a:ext cx="5292501"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604102" y="2660287"/>
            <a:ext cx="4576843" cy="3646887"/>
          </a:xfrm>
          <a:prstGeom prst="rect">
            <a:avLst/>
          </a:prstGeom>
        </p:spPr>
      </p:pic>
      <p:sp>
        <p:nvSpPr>
          <p:cNvPr id="5" name="Footer Placeholder 3">
            <a:extLst>
              <a:ext uri="{FF2B5EF4-FFF2-40B4-BE49-F238E27FC236}">
                <a16:creationId xmlns:a16="http://schemas.microsoft.com/office/drawing/2014/main" id="{CACA3690-BE2E-DA3D-FB7C-51E94ABA5C17}"/>
              </a:ext>
            </a:extLst>
          </p:cNvPr>
          <p:cNvSpPr>
            <a:spLocks noGrp="1"/>
          </p:cNvSpPr>
          <p:nvPr>
            <p:ph type="ftr" sz="quarter" idx="11"/>
          </p:nvPr>
        </p:nvSpPr>
        <p:spPr>
          <a:xfrm>
            <a:off x="393192" y="6535157"/>
            <a:ext cx="4945641" cy="274320"/>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
        <p:nvSpPr>
          <p:cNvPr id="14" name="Rectangle 13">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A10F482-BE65-49E4-82DB-6ACBE61BE2FD}"/>
              </a:ext>
            </a:extLst>
          </p:cNvPr>
          <p:cNvSpPr>
            <a:spLocks noGrp="1"/>
          </p:cNvSpPr>
          <p:nvPr>
            <p:ph idx="1"/>
          </p:nvPr>
        </p:nvSpPr>
        <p:spPr>
          <a:xfrm>
            <a:off x="6021989" y="917725"/>
            <a:ext cx="2568554" cy="4852362"/>
          </a:xfrm>
        </p:spPr>
        <p:txBody>
          <a:bodyPr anchor="ctr">
            <a:normAutofit/>
          </a:bodyPr>
          <a:lstStyle/>
          <a:p>
            <a:pPr marL="0" indent="0">
              <a:buNone/>
            </a:pPr>
            <a:r>
              <a:rPr lang="en-US" sz="2400" dirty="0">
                <a:solidFill>
                  <a:srgbClr val="FFFFFF"/>
                </a:solidFill>
              </a:rPr>
              <a:t>Doing the best with what you have….looks at behavioral and psychological processes used to adapt to age-related losses (balance developmental losses with gains)</a:t>
            </a:r>
          </a:p>
          <a:p>
            <a:endParaRPr lang="en-US" sz="1700" dirty="0">
              <a:solidFill>
                <a:srgbClr val="FFFFFF"/>
              </a:solidFill>
            </a:endParaRPr>
          </a:p>
          <a:p>
            <a:pPr marL="0" indent="0">
              <a:buNone/>
            </a:pPr>
            <a:endParaRPr lang="en-US" sz="1700" dirty="0">
              <a:solidFill>
                <a:srgbClr val="FFFFFF"/>
              </a:solidFill>
            </a:endParaRPr>
          </a:p>
        </p:txBody>
      </p:sp>
    </p:spTree>
    <p:extLst>
      <p:ext uri="{BB962C8B-B14F-4D97-AF65-F5344CB8AC3E}">
        <p14:creationId xmlns:p14="http://schemas.microsoft.com/office/powerpoint/2010/main" val="1127758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10B63CC-4DD0-421C-9D8E-0BBFC1A1B380}"/>
              </a:ext>
            </a:extLst>
          </p:cNvPr>
          <p:cNvSpPr>
            <a:spLocks noGrp="1"/>
          </p:cNvSpPr>
          <p:nvPr>
            <p:ph type="title"/>
          </p:nvPr>
        </p:nvSpPr>
        <p:spPr>
          <a:xfrm>
            <a:off x="582930" y="731519"/>
            <a:ext cx="2133893" cy="3237579"/>
          </a:xfrm>
        </p:spPr>
        <p:txBody>
          <a:bodyPr>
            <a:normAutofit/>
          </a:bodyPr>
          <a:lstStyle/>
          <a:p>
            <a:r>
              <a:rPr lang="en-US" sz="2600">
                <a:solidFill>
                  <a:srgbClr val="FFFFFF"/>
                </a:solidFill>
              </a:rPr>
              <a:t>Processes of Successful Aging: Selection-Optimization-Compensation</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10F482-BE65-49E4-82DB-6ACBE61BE2FD}"/>
              </a:ext>
            </a:extLst>
          </p:cNvPr>
          <p:cNvSpPr>
            <a:spLocks noGrp="1"/>
          </p:cNvSpPr>
          <p:nvPr>
            <p:ph idx="1"/>
          </p:nvPr>
        </p:nvSpPr>
        <p:spPr>
          <a:xfrm>
            <a:off x="3284781" y="686862"/>
            <a:ext cx="5278194" cy="5475129"/>
          </a:xfrm>
        </p:spPr>
        <p:txBody>
          <a:bodyPr anchor="ctr">
            <a:normAutofit lnSpcReduction="10000"/>
          </a:bodyPr>
          <a:lstStyle/>
          <a:p>
            <a:endParaRPr lang="en-US" sz="2300" dirty="0"/>
          </a:p>
          <a:p>
            <a:r>
              <a:rPr lang="en-US" sz="2300" dirty="0">
                <a:solidFill>
                  <a:srgbClr val="FF0000"/>
                </a:solidFill>
              </a:rPr>
              <a:t>Selection</a:t>
            </a:r>
            <a:r>
              <a:rPr lang="en-US" sz="2300" dirty="0"/>
              <a:t> – focus on important goals in context of developmental stage</a:t>
            </a:r>
          </a:p>
          <a:p>
            <a:pPr lvl="1"/>
            <a:r>
              <a:rPr lang="en-US" sz="2300" dirty="0"/>
              <a:t>Elective (choose to move to PT work to spend more time with grandkids)</a:t>
            </a:r>
          </a:p>
          <a:p>
            <a:pPr lvl="1"/>
            <a:r>
              <a:rPr lang="en-US" sz="2300" dirty="0"/>
              <a:t>Loss-based (healthy condition limits what can do)</a:t>
            </a:r>
          </a:p>
          <a:p>
            <a:r>
              <a:rPr lang="en-US" sz="2300" dirty="0">
                <a:solidFill>
                  <a:srgbClr val="FF0000"/>
                </a:solidFill>
              </a:rPr>
              <a:t>Optimization</a:t>
            </a:r>
            <a:r>
              <a:rPr lang="en-US" sz="2300" dirty="0"/>
              <a:t> – strengthen skills already have (e.g., take course to learn how to use zoom so  you can talk to grandkids)</a:t>
            </a:r>
          </a:p>
          <a:p>
            <a:r>
              <a:rPr lang="en-US" sz="2300" dirty="0">
                <a:solidFill>
                  <a:srgbClr val="FF0000"/>
                </a:solidFill>
              </a:rPr>
              <a:t>Compensation</a:t>
            </a:r>
            <a:r>
              <a:rPr lang="en-US" sz="2300" dirty="0"/>
              <a:t> – resources and aids to compensate for losses in order to adapt to changes and create environment for success</a:t>
            </a:r>
          </a:p>
          <a:p>
            <a:pPr lvl="1"/>
            <a:r>
              <a:rPr lang="en-US" sz="2300" dirty="0"/>
              <a:t>Walk-in showers, readers, lighter pans, hire lawn care</a:t>
            </a:r>
          </a:p>
          <a:p>
            <a:pPr marL="0" indent="0">
              <a:buNone/>
            </a:pPr>
            <a:endParaRPr lang="en-US" sz="2300" dirty="0"/>
          </a:p>
        </p:txBody>
      </p:sp>
      <p:sp>
        <p:nvSpPr>
          <p:cNvPr id="5" name="Footer Placeholder 3">
            <a:extLst>
              <a:ext uri="{FF2B5EF4-FFF2-40B4-BE49-F238E27FC236}">
                <a16:creationId xmlns:a16="http://schemas.microsoft.com/office/drawing/2014/main" id="{CACA3690-BE2E-DA3D-FB7C-51E94ABA5C17}"/>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3687318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6766E76-1FAD-4BE2-931C-91BDCED29E6D}"/>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SOC Related to:</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D432765-7A03-4C93-B230-2AF71F50E25C}"/>
              </a:ext>
            </a:extLst>
          </p:cNvPr>
          <p:cNvSpPr>
            <a:spLocks noGrp="1"/>
          </p:cNvSpPr>
          <p:nvPr>
            <p:ph idx="1"/>
          </p:nvPr>
        </p:nvSpPr>
        <p:spPr>
          <a:xfrm>
            <a:off x="3284781" y="686862"/>
            <a:ext cx="5278194" cy="5475129"/>
          </a:xfrm>
        </p:spPr>
        <p:txBody>
          <a:bodyPr anchor="ctr">
            <a:normAutofit/>
          </a:bodyPr>
          <a:lstStyle/>
          <a:p>
            <a:r>
              <a:rPr lang="en-US" sz="2300"/>
              <a:t>Satisfaction with age</a:t>
            </a:r>
          </a:p>
          <a:p>
            <a:r>
              <a:rPr lang="en-US" sz="2300"/>
              <a:t>Positive emotions</a:t>
            </a:r>
          </a:p>
          <a:p>
            <a:r>
              <a:rPr lang="en-US" sz="2300"/>
              <a:t>Absence of loneliness</a:t>
            </a:r>
          </a:p>
          <a:p>
            <a:r>
              <a:rPr lang="en-US" sz="2300"/>
              <a:t>Focus on most important goals</a:t>
            </a:r>
          </a:p>
          <a:p>
            <a:pPr marL="0" indent="0">
              <a:buNone/>
            </a:pPr>
            <a:r>
              <a:rPr lang="en-US" sz="2300"/>
              <a:t>AND</a:t>
            </a:r>
          </a:p>
          <a:p>
            <a:r>
              <a:rPr lang="en-US" sz="2300"/>
              <a:t>Moderates relationships between financial hardship and life satisfaction (relationship between financial hardship and life satisfaction is weaker at higher levels of SOC)</a:t>
            </a:r>
          </a:p>
          <a:p>
            <a:pPr marL="0" indent="0">
              <a:buNone/>
            </a:pPr>
            <a:endParaRPr lang="en-US" sz="2300"/>
          </a:p>
        </p:txBody>
      </p:sp>
      <p:sp>
        <p:nvSpPr>
          <p:cNvPr id="5" name="Footer Placeholder 3">
            <a:extLst>
              <a:ext uri="{FF2B5EF4-FFF2-40B4-BE49-F238E27FC236}">
                <a16:creationId xmlns:a16="http://schemas.microsoft.com/office/drawing/2014/main" id="{1505F60B-B8FC-6F06-B6D3-1F684E763B15}"/>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65330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289692E-CF58-4B49-82F3-2C7BE88337CC}"/>
              </a:ext>
            </a:extLst>
          </p:cNvPr>
          <p:cNvSpPr>
            <a:spLocks noGrp="1"/>
          </p:cNvSpPr>
          <p:nvPr>
            <p:ph type="title"/>
          </p:nvPr>
        </p:nvSpPr>
        <p:spPr>
          <a:xfrm>
            <a:off x="582930" y="731519"/>
            <a:ext cx="2133893" cy="3237579"/>
          </a:xfrm>
        </p:spPr>
        <p:txBody>
          <a:bodyPr>
            <a:normAutofit/>
          </a:bodyPr>
          <a:lstStyle/>
          <a:p>
            <a:r>
              <a:rPr lang="en-US" sz="2300">
                <a:solidFill>
                  <a:srgbClr val="FFFFFF"/>
                </a:solidFill>
              </a:rPr>
              <a:t>Socioemotional Selectivity Theory</a:t>
            </a:r>
          </a:p>
        </p:txBody>
      </p:sp>
      <p:sp>
        <p:nvSpPr>
          <p:cNvPr id="13" name="Rectangle 12">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3">
            <a:extLst>
              <a:ext uri="{FF2B5EF4-FFF2-40B4-BE49-F238E27FC236}">
                <a16:creationId xmlns:a16="http://schemas.microsoft.com/office/drawing/2014/main" id="{402CFBE4-33EE-848F-BD1B-53192F142056}"/>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FE2AB821-5985-E351-1EC7-405281E53901}"/>
              </a:ext>
            </a:extLst>
          </p:cNvPr>
          <p:cNvGraphicFramePr>
            <a:graphicFrameLocks noGrp="1"/>
          </p:cNvGraphicFramePr>
          <p:nvPr>
            <p:ph idx="1"/>
            <p:extLst>
              <p:ext uri="{D42A27DB-BD31-4B8C-83A1-F6EECF244321}">
                <p14:modId xmlns:p14="http://schemas.microsoft.com/office/powerpoint/2010/main" val="1139752038"/>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8194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87CBF20-014A-4675-A780-51D5328698F3}"/>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The Hispanic Paradox</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FE38821-835B-4270-9D49-419D9A047C3E}"/>
              </a:ext>
            </a:extLst>
          </p:cNvPr>
          <p:cNvSpPr>
            <a:spLocks noGrp="1"/>
          </p:cNvSpPr>
          <p:nvPr>
            <p:ph idx="1"/>
          </p:nvPr>
        </p:nvSpPr>
        <p:spPr>
          <a:xfrm>
            <a:off x="3284781" y="686862"/>
            <a:ext cx="5278194" cy="5475129"/>
          </a:xfrm>
        </p:spPr>
        <p:txBody>
          <a:bodyPr anchor="ctr">
            <a:normAutofit/>
          </a:bodyPr>
          <a:lstStyle/>
          <a:p>
            <a:r>
              <a:rPr lang="en-US" sz="2100"/>
              <a:t>Latinx Americans, especially those born outside of the US, tend to have equal or superior health outcomes despite worse socioeconomic indicators than White Americans</a:t>
            </a:r>
          </a:p>
          <a:p>
            <a:pPr lvl="1"/>
            <a:r>
              <a:rPr lang="en-US" sz="2100"/>
              <a:t>Some evidence this is also true in terms of a psychological health advantage</a:t>
            </a:r>
          </a:p>
          <a:p>
            <a:pPr lvl="2"/>
            <a:r>
              <a:rPr lang="en-US" sz="2100"/>
              <a:t>White older adults: living with their children associated with lower life satisfaction</a:t>
            </a:r>
          </a:p>
          <a:p>
            <a:pPr lvl="2"/>
            <a:r>
              <a:rPr lang="en-US" sz="2100"/>
              <a:t>Latinx older adults: living with their children associated with higher life satisfaction</a:t>
            </a:r>
          </a:p>
          <a:p>
            <a:pPr lvl="1"/>
            <a:r>
              <a:rPr lang="en-US" sz="2100"/>
              <a:t>Important to consider both nativity and nationality</a:t>
            </a:r>
          </a:p>
          <a:p>
            <a:pPr lvl="1"/>
            <a:r>
              <a:rPr lang="en-US" sz="2100"/>
              <a:t>Some have suggested this finding may be a result of biased sample selection  </a:t>
            </a:r>
          </a:p>
        </p:txBody>
      </p:sp>
      <p:sp>
        <p:nvSpPr>
          <p:cNvPr id="5" name="Footer Placeholder 3">
            <a:extLst>
              <a:ext uri="{FF2B5EF4-FFF2-40B4-BE49-F238E27FC236}">
                <a16:creationId xmlns:a16="http://schemas.microsoft.com/office/drawing/2014/main" id="{486471DD-5521-3567-A0A1-9167E8F5ACAF}"/>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3936033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0C9798BB-5DC6-4D21-841C-9C67BF63FE5B}"/>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Age and Well-Being</a:t>
            </a:r>
          </a:p>
        </p:txBody>
      </p:sp>
      <p:sp>
        <p:nvSpPr>
          <p:cNvPr id="13" name="Rectangle 12">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3">
            <a:extLst>
              <a:ext uri="{FF2B5EF4-FFF2-40B4-BE49-F238E27FC236}">
                <a16:creationId xmlns:a16="http://schemas.microsoft.com/office/drawing/2014/main" id="{8005363E-C228-4316-F7EE-715AB34E759F}"/>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F19BDB8A-2844-C4E6-CDC1-948A8E96AD1E}"/>
              </a:ext>
            </a:extLst>
          </p:cNvPr>
          <p:cNvGraphicFramePr>
            <a:graphicFrameLocks noGrp="1"/>
          </p:cNvGraphicFramePr>
          <p:nvPr>
            <p:ph idx="1"/>
            <p:extLst>
              <p:ext uri="{D42A27DB-BD31-4B8C-83A1-F6EECF244321}">
                <p14:modId xmlns:p14="http://schemas.microsoft.com/office/powerpoint/2010/main" val="687139511"/>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0861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8056"/>
            <a:ext cx="5401456" cy="2241951"/>
          </a:xfrm>
          <a:prstGeom prst="rect">
            <a:avLst/>
          </a:prstGeom>
          <a:solidFill>
            <a:srgbClr val="5C865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4940109" cy="1682496"/>
          </a:xfrm>
        </p:spPr>
        <p:txBody>
          <a:bodyPr>
            <a:normAutofit/>
          </a:bodyPr>
          <a:lstStyle/>
          <a:p>
            <a:r>
              <a:rPr lang="en-US">
                <a:solidFill>
                  <a:srgbClr val="FFFFFF"/>
                </a:solidFill>
              </a:rPr>
              <a:t>Age and Well-Being</a:t>
            </a:r>
          </a:p>
        </p:txBody>
      </p:sp>
      <p:pic>
        <p:nvPicPr>
          <p:cNvPr id="5" name="Picture 4"/>
          <p:cNvPicPr>
            <a:picLocks noChangeAspect="1"/>
          </p:cNvPicPr>
          <p:nvPr/>
        </p:nvPicPr>
        <p:blipFill rotWithShape="1">
          <a:blip r:embed="rId2"/>
          <a:srcRect l="18778" r="3354" b="2"/>
          <a:stretch/>
        </p:blipFill>
        <p:spPr>
          <a:xfrm>
            <a:off x="349757" y="2862599"/>
            <a:ext cx="3865061" cy="3536477"/>
          </a:xfrm>
          <a:prstGeom prst="rect">
            <a:avLst/>
          </a:prstGeom>
        </p:spPr>
      </p:pic>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1182" y="2862599"/>
            <a:ext cx="1410031" cy="1693147"/>
          </a:xfrm>
          <a:prstGeom prst="rect">
            <a:avLst/>
          </a:prstGeom>
          <a:solidFill>
            <a:srgbClr val="E4E86C">
              <a:alpha val="9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1823" y="4731653"/>
            <a:ext cx="1409390" cy="1667425"/>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4316" y="450221"/>
            <a:ext cx="2915493"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75201" y="795548"/>
            <a:ext cx="2487774" cy="5275603"/>
          </a:xfrm>
        </p:spPr>
        <p:txBody>
          <a:bodyPr anchor="ctr">
            <a:normAutofit/>
          </a:bodyPr>
          <a:lstStyle/>
          <a:p>
            <a:r>
              <a:rPr lang="en-US" sz="2400" dirty="0"/>
              <a:t>Emotional maturity hypothesis</a:t>
            </a:r>
          </a:p>
          <a:p>
            <a:pPr lvl="1"/>
            <a:r>
              <a:rPr lang="en-US" dirty="0"/>
              <a:t>With age comes better regulation of emotions</a:t>
            </a:r>
          </a:p>
          <a:p>
            <a:pPr lvl="1"/>
            <a:r>
              <a:rPr lang="en-US" dirty="0"/>
              <a:t>Reappraisal, especially positive reappraisal of situations very helpful</a:t>
            </a:r>
          </a:p>
          <a:p>
            <a:pPr marL="0" indent="0">
              <a:buNone/>
            </a:pPr>
            <a:endParaRPr lang="en-US" sz="1700" dirty="0"/>
          </a:p>
        </p:txBody>
      </p:sp>
      <p:sp>
        <p:nvSpPr>
          <p:cNvPr id="4" name="Footer Placeholder 3"/>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of Positive Psychology © Cambridge University Press 2021</a:t>
            </a:r>
          </a:p>
        </p:txBody>
      </p:sp>
    </p:spTree>
    <p:extLst>
      <p:ext uri="{BB962C8B-B14F-4D97-AF65-F5344CB8AC3E}">
        <p14:creationId xmlns:p14="http://schemas.microsoft.com/office/powerpoint/2010/main" val="1627723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Title 2"/>
          <p:cNvSpPr>
            <a:spLocks noGrp="1"/>
          </p:cNvSpPr>
          <p:nvPr>
            <p:ph type="title"/>
          </p:nvPr>
        </p:nvSpPr>
        <p:spPr>
          <a:xfrm>
            <a:off x="582930" y="731519"/>
            <a:ext cx="2133893" cy="3237579"/>
          </a:xfrm>
        </p:spPr>
        <p:txBody>
          <a:bodyPr>
            <a:normAutofit/>
          </a:bodyPr>
          <a:lstStyle/>
          <a:p>
            <a:pPr hangingPunct="0"/>
            <a:r>
              <a:rPr lang="en-US" sz="3300">
                <a:solidFill>
                  <a:srgbClr val="FFFFFF"/>
                </a:solidFill>
              </a:rPr>
              <a:t>Cultivating Resilience in Adults</a:t>
            </a:r>
          </a:p>
        </p:txBody>
      </p:sp>
      <p:sp>
        <p:nvSpPr>
          <p:cNvPr id="13" name="Rectangle 12">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284781" y="686862"/>
            <a:ext cx="5278194" cy="5475129"/>
          </a:xfrm>
        </p:spPr>
        <p:txBody>
          <a:bodyPr anchor="ctr">
            <a:normAutofit/>
          </a:bodyPr>
          <a:lstStyle/>
          <a:p>
            <a:pPr marL="0" lvl="0" indent="0" hangingPunct="0">
              <a:buNone/>
            </a:pPr>
            <a:r>
              <a:rPr lang="en-US" sz="2300" dirty="0"/>
              <a:t>APA: Factors for the cultivation of resilience</a:t>
            </a:r>
          </a:p>
          <a:p>
            <a:pPr marL="0" indent="0" hangingPunct="0">
              <a:spcBef>
                <a:spcPts val="0"/>
              </a:spcBef>
              <a:buNone/>
            </a:pPr>
            <a:r>
              <a:rPr lang="en-US" sz="2300" dirty="0"/>
              <a:t>1. Make connections with family, friends, or community.</a:t>
            </a:r>
          </a:p>
          <a:p>
            <a:pPr marL="0" indent="0" hangingPunct="0">
              <a:spcBef>
                <a:spcPts val="0"/>
              </a:spcBef>
              <a:buNone/>
            </a:pPr>
            <a:r>
              <a:rPr lang="en-US" sz="2300" dirty="0"/>
              <a:t>2. Avoid seeing crises as insurmountable problems.</a:t>
            </a:r>
          </a:p>
          <a:p>
            <a:pPr marL="0" indent="0" hangingPunct="0">
              <a:spcBef>
                <a:spcPts val="0"/>
              </a:spcBef>
              <a:buNone/>
            </a:pPr>
            <a:r>
              <a:rPr lang="en-US" sz="2300" dirty="0"/>
              <a:t>3. Accept that change is part of living.</a:t>
            </a:r>
          </a:p>
          <a:p>
            <a:pPr marL="0" indent="0" hangingPunct="0">
              <a:spcBef>
                <a:spcPts val="0"/>
              </a:spcBef>
              <a:buNone/>
            </a:pPr>
            <a:r>
              <a:rPr lang="en-US" sz="2300" dirty="0"/>
              <a:t>4. Move toward your goals.</a:t>
            </a:r>
          </a:p>
          <a:p>
            <a:pPr marL="0" indent="0" hangingPunct="0">
              <a:spcBef>
                <a:spcPts val="0"/>
              </a:spcBef>
              <a:buNone/>
            </a:pPr>
            <a:r>
              <a:rPr lang="en-US" sz="2300" dirty="0"/>
              <a:t>5. Take decisive action, use problem- and task-focused coping.</a:t>
            </a:r>
          </a:p>
          <a:p>
            <a:pPr marL="0" indent="0" hangingPunct="0">
              <a:spcBef>
                <a:spcPts val="0"/>
              </a:spcBef>
              <a:buNone/>
            </a:pPr>
            <a:r>
              <a:rPr lang="en-US" sz="2300" dirty="0"/>
              <a:t>6. Look for opportunities for self-discovery.</a:t>
            </a:r>
          </a:p>
          <a:p>
            <a:pPr marL="0" indent="0" hangingPunct="0">
              <a:spcBef>
                <a:spcPts val="0"/>
              </a:spcBef>
              <a:buNone/>
            </a:pPr>
            <a:r>
              <a:rPr lang="en-US" sz="2300" dirty="0"/>
              <a:t>7. Nurture a positive view of yourself.</a:t>
            </a:r>
          </a:p>
          <a:p>
            <a:pPr marL="0" indent="0" hangingPunct="0">
              <a:spcBef>
                <a:spcPts val="0"/>
              </a:spcBef>
              <a:buNone/>
            </a:pPr>
            <a:r>
              <a:rPr lang="en-US" sz="2300" dirty="0"/>
              <a:t>8. Keep events in perspective.</a:t>
            </a:r>
          </a:p>
          <a:p>
            <a:pPr marL="0" indent="0" hangingPunct="0">
              <a:spcBef>
                <a:spcPts val="0"/>
              </a:spcBef>
              <a:buNone/>
            </a:pPr>
            <a:r>
              <a:rPr lang="en-US" sz="2300" dirty="0"/>
              <a:t>9. Maintain a hopeful outlook.</a:t>
            </a:r>
          </a:p>
          <a:p>
            <a:pPr marL="0" indent="0" hangingPunct="0">
              <a:spcBef>
                <a:spcPts val="0"/>
              </a:spcBef>
              <a:buNone/>
            </a:pPr>
            <a:r>
              <a:rPr lang="en-US" sz="2300" dirty="0"/>
              <a:t>10. Take care of yourself, attend to your needs and feelings.</a:t>
            </a:r>
          </a:p>
          <a:p>
            <a:pPr lvl="0" hangingPunct="0"/>
            <a:endParaRPr lang="en-US" sz="2300" dirty="0"/>
          </a:p>
          <a:p>
            <a:pPr lvl="0" hangingPunct="0"/>
            <a:endParaRPr lang="en-US" sz="2300" dirty="0"/>
          </a:p>
        </p:txBody>
      </p:sp>
      <p:sp>
        <p:nvSpPr>
          <p:cNvPr id="6" name="Footer Placeholder 5"/>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effectLst/>
                <a:latin typeface="Arial" panose="020B0604020202020204" pitchFamily="34" charset="0"/>
                <a:ea typeface="Calibri" panose="020F0502020204030204" pitchFamily="34" charset="0"/>
              </a:rPr>
              <a:t>Compton, </a:t>
            </a:r>
            <a:r>
              <a:rPr lang="en-US" sz="900" i="1">
                <a:solidFill>
                  <a:schemeClr val="tx1">
                    <a:lumMod val="50000"/>
                    <a:lumOff val="50000"/>
                  </a:schemeClr>
                </a:solidFill>
                <a:effectLst/>
                <a:latin typeface="Arial" panose="020B0604020202020204" pitchFamily="34" charset="0"/>
                <a:ea typeface="Calibri" panose="020F0502020204030204" pitchFamily="34" charset="0"/>
              </a:rPr>
              <a:t>Positive Psychology, 3e</a:t>
            </a:r>
            <a:r>
              <a:rPr lang="en-US" sz="900">
                <a:solidFill>
                  <a:schemeClr val="tx1">
                    <a:lumMod val="50000"/>
                    <a:lumOff val="50000"/>
                  </a:schemeClr>
                </a:solidFill>
                <a:effectLst/>
                <a:latin typeface="Arial" panose="020B0604020202020204" pitchFamily="34" charset="0"/>
                <a:ea typeface="Calibri" panose="020F0502020204030204" pitchFamily="34" charset="0"/>
              </a:rPr>
              <a:t>.</a:t>
            </a:r>
            <a:r>
              <a:rPr lang="en-US" sz="900" kern="1200">
                <a:solidFill>
                  <a:schemeClr val="tx1">
                    <a:lumMod val="50000"/>
                    <a:lumOff val="50000"/>
                  </a:schemeClr>
                </a:solidFill>
                <a:effectLst/>
                <a:latin typeface="Arial" panose="020B0604020202020204" pitchFamily="34" charset="0"/>
                <a:ea typeface="Times New Roman" panose="02020603050405020304" pitchFamily="18" charset="0"/>
              </a:rPr>
              <a:t> </a:t>
            </a:r>
            <a:r>
              <a:rPr lang="en-US" sz="900">
                <a:solidFill>
                  <a:schemeClr val="tx1">
                    <a:lumMod val="50000"/>
                    <a:lumOff val="50000"/>
                  </a:schemeClr>
                </a:solidFill>
                <a:effectLst/>
                <a:latin typeface="Arial" panose="020B0604020202020204" pitchFamily="34" charset="0"/>
                <a:ea typeface="Times New Roman" panose="02020603050405020304" pitchFamily="18" charset="0"/>
              </a:rPr>
              <a:t>© SAGE Publications, 2020.</a:t>
            </a:r>
            <a:endParaRPr lang="en-US" sz="900">
              <a:solidFill>
                <a:schemeClr val="tx1">
                  <a:lumMod val="50000"/>
                  <a:lumOff val="50000"/>
                </a:schemeClr>
              </a:solidFill>
            </a:endParaRPr>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32</a:t>
            </a:fld>
            <a:endParaRPr lang="en-US"/>
          </a:p>
        </p:txBody>
      </p:sp>
    </p:spTree>
    <p:extLst>
      <p:ext uri="{BB962C8B-B14F-4D97-AF65-F5344CB8AC3E}">
        <p14:creationId xmlns:p14="http://schemas.microsoft.com/office/powerpoint/2010/main" val="1881672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0BC1A-B859-4EE6-AD2F-4E9203C4BD2C}"/>
              </a:ext>
            </a:extLst>
          </p:cNvPr>
          <p:cNvSpPr>
            <a:spLocks noGrp="1"/>
          </p:cNvSpPr>
          <p:nvPr>
            <p:ph type="title"/>
          </p:nvPr>
        </p:nvSpPr>
        <p:spPr>
          <a:xfrm>
            <a:off x="3724072" y="629268"/>
            <a:ext cx="4939868" cy="1286160"/>
          </a:xfrm>
        </p:spPr>
        <p:txBody>
          <a:bodyPr anchor="b">
            <a:normAutofit/>
          </a:bodyPr>
          <a:lstStyle/>
          <a:p>
            <a:r>
              <a:rPr lang="en-US" dirty="0"/>
              <a:t>Wisdom</a:t>
            </a:r>
          </a:p>
        </p:txBody>
      </p:sp>
      <p:sp>
        <p:nvSpPr>
          <p:cNvPr id="3" name="Content Placeholder 2">
            <a:extLst>
              <a:ext uri="{FF2B5EF4-FFF2-40B4-BE49-F238E27FC236}">
                <a16:creationId xmlns:a16="http://schemas.microsoft.com/office/drawing/2014/main" id="{DDFBA11E-171B-42EE-BE0F-F40B689578FE}"/>
              </a:ext>
            </a:extLst>
          </p:cNvPr>
          <p:cNvSpPr>
            <a:spLocks noGrp="1"/>
          </p:cNvSpPr>
          <p:nvPr>
            <p:ph idx="1"/>
          </p:nvPr>
        </p:nvSpPr>
        <p:spPr>
          <a:xfrm>
            <a:off x="3724073" y="2438400"/>
            <a:ext cx="4939867" cy="3785419"/>
          </a:xfrm>
        </p:spPr>
        <p:txBody>
          <a:bodyPr>
            <a:noAutofit/>
          </a:bodyPr>
          <a:lstStyle/>
          <a:p>
            <a:r>
              <a:rPr lang="en-US" sz="2000" dirty="0"/>
              <a:t>Good judgment and advice in important but uncertain matters of life</a:t>
            </a:r>
          </a:p>
          <a:p>
            <a:r>
              <a:rPr lang="en-US" sz="2000" dirty="0"/>
              <a:t>Five skills that characterize wisdom (Staudinger &amp; </a:t>
            </a:r>
            <a:r>
              <a:rPr lang="en-US" sz="2000" dirty="0" err="1"/>
              <a:t>Baltes</a:t>
            </a:r>
            <a:r>
              <a:rPr lang="en-US" sz="2000" dirty="0"/>
              <a:t>):</a:t>
            </a:r>
          </a:p>
          <a:p>
            <a:pPr lvl="1"/>
            <a:r>
              <a:rPr lang="en-US" sz="2000" dirty="0"/>
              <a:t>Factual knowledge</a:t>
            </a:r>
          </a:p>
          <a:p>
            <a:pPr lvl="1"/>
            <a:r>
              <a:rPr lang="en-US" sz="2000" dirty="0"/>
              <a:t>Strategic knowledge</a:t>
            </a:r>
          </a:p>
          <a:p>
            <a:pPr lvl="1"/>
            <a:r>
              <a:rPr lang="en-US" sz="2000" dirty="0"/>
              <a:t>Consideration of life’s uncertainties</a:t>
            </a:r>
          </a:p>
          <a:p>
            <a:pPr lvl="1"/>
            <a:r>
              <a:rPr lang="en-US" sz="2000" dirty="0"/>
              <a:t>Consideration of the contexts in which decisions are made and activities take place</a:t>
            </a:r>
          </a:p>
          <a:p>
            <a:pPr lvl="1"/>
            <a:r>
              <a:rPr lang="en-US" sz="2000" dirty="0"/>
              <a:t>Consideration of values and life goals through a lens of relativism</a:t>
            </a:r>
          </a:p>
        </p:txBody>
      </p:sp>
      <p:pic>
        <p:nvPicPr>
          <p:cNvPr id="7" name="Picture 6" descr="Crumpled paper light bulb">
            <a:extLst>
              <a:ext uri="{FF2B5EF4-FFF2-40B4-BE49-F238E27FC236}">
                <a16:creationId xmlns:a16="http://schemas.microsoft.com/office/drawing/2014/main" id="{B4DC09E6-FFF8-4B26-B167-BA7642BCEB27}"/>
              </a:ext>
            </a:extLst>
          </p:cNvPr>
          <p:cNvPicPr>
            <a:picLocks noChangeAspect="1"/>
          </p:cNvPicPr>
          <p:nvPr/>
        </p:nvPicPr>
        <p:blipFill rotWithShape="1">
          <a:blip r:embed="rId2"/>
          <a:srcRect l="27472" r="38689" b="-1"/>
          <a:stretch/>
        </p:blipFill>
        <p:spPr>
          <a:xfrm>
            <a:off x="20" y="10"/>
            <a:ext cx="3476673" cy="6857990"/>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D1D728"/>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DBF8DD6-1E26-9407-5587-B9182EE497CF}"/>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30198909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9FC689-0397-489D-B6C4-918490A97925}">
  <ds:schemaRefs>
    <ds:schemaRef ds:uri="http://www.w3.org/XML/1998/namespace"/>
    <ds:schemaRef ds:uri="6ebc9d44-dfc5-41fa-9646-f594d8bccd35"/>
    <ds:schemaRef ds:uri="098d3ce3-1732-4665-af2b-0c47aa6f0599"/>
    <ds:schemaRef ds:uri="http://purl.org/dc/dcmitype/"/>
    <ds:schemaRef ds:uri="http://purl.org/dc/term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14F560-3B9A-438C-83B1-6E3F72FA08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4085</TotalTime>
  <Words>2391</Words>
  <Application>Microsoft Office PowerPoint</Application>
  <PresentationFormat>On-screen Show (4:3)</PresentationFormat>
  <Paragraphs>325</Paragraphs>
  <Slides>33</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Wingdings</vt:lpstr>
      <vt:lpstr>Office Theme</vt:lpstr>
      <vt:lpstr>Chapter 9 </vt:lpstr>
      <vt:lpstr>Sister Jean</vt:lpstr>
      <vt:lpstr>PowerPoint Presentation</vt:lpstr>
      <vt:lpstr>Successful Aging</vt:lpstr>
      <vt:lpstr>PowerPoint Presentation</vt:lpstr>
      <vt:lpstr>Why Does Aging Matter?</vt:lpstr>
      <vt:lpstr>Myth vs Reality</vt:lpstr>
      <vt:lpstr>PowerPoint Presentation</vt:lpstr>
      <vt:lpstr>Some Changes with Age</vt:lpstr>
      <vt:lpstr>People with negative perceptions of aging have…</vt:lpstr>
      <vt:lpstr>Rowe &amp; Kahn Successful Again</vt:lpstr>
      <vt:lpstr>Rowe &amp; Kahn Criteria</vt:lpstr>
      <vt:lpstr>Ryff’s Model of  Successful Aging</vt:lpstr>
      <vt:lpstr>Correlates of Successful Aging</vt:lpstr>
      <vt:lpstr>Young at Heart</vt:lpstr>
      <vt:lpstr>Some Foundational Studies of Successful Aging</vt:lpstr>
      <vt:lpstr>MacArthur Study on Aging</vt:lpstr>
      <vt:lpstr>Alameda 7</vt:lpstr>
      <vt:lpstr>Harvard Study</vt:lpstr>
      <vt:lpstr>Harvard Study</vt:lpstr>
      <vt:lpstr>PowerPoint Presentation</vt:lpstr>
      <vt:lpstr>PowerPoint Presentation</vt:lpstr>
      <vt:lpstr>Journal Entry #19 Importance of Social Relationships</vt:lpstr>
      <vt:lpstr>Journal Entry #19 Importance of Social Relationships</vt:lpstr>
      <vt:lpstr>Processes of Successful Aging: Selection-Optimization-Compensation</vt:lpstr>
      <vt:lpstr>Processes of Successful Aging: Selection-Optimization-Compensation</vt:lpstr>
      <vt:lpstr>SOC Related to:</vt:lpstr>
      <vt:lpstr>Socioemotional Selectivity Theory</vt:lpstr>
      <vt:lpstr>The Hispanic Paradox</vt:lpstr>
      <vt:lpstr>Age and Well-Being</vt:lpstr>
      <vt:lpstr>Age and Well-Being</vt:lpstr>
      <vt:lpstr>Cultivating Resilience in Adults</vt:lpstr>
      <vt:lpstr>Wisdom</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54</cp:revision>
  <dcterms:created xsi:type="dcterms:W3CDTF">2021-07-26T18:02:28Z</dcterms:created>
  <dcterms:modified xsi:type="dcterms:W3CDTF">2025-11-04T17:41:52Z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