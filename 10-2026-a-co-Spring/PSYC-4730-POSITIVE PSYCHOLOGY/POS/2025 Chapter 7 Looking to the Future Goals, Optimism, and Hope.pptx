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Lst>
  <p:notesMasterIdLst>
    <p:notesMasterId r:id="rId53"/>
  </p:notesMasterIdLst>
  <p:handoutMasterIdLst>
    <p:handoutMasterId r:id="rId54"/>
  </p:handoutMasterIdLst>
  <p:sldIdLst>
    <p:sldId id="259" r:id="rId5"/>
    <p:sldId id="257" r:id="rId6"/>
    <p:sldId id="281" r:id="rId7"/>
    <p:sldId id="258" r:id="rId8"/>
    <p:sldId id="280" r:id="rId9"/>
    <p:sldId id="282" r:id="rId10"/>
    <p:sldId id="283" r:id="rId11"/>
    <p:sldId id="284" r:id="rId12"/>
    <p:sldId id="260" r:id="rId13"/>
    <p:sldId id="261" r:id="rId14"/>
    <p:sldId id="323" r:id="rId15"/>
    <p:sldId id="262" r:id="rId16"/>
    <p:sldId id="324" r:id="rId17"/>
    <p:sldId id="263" r:id="rId18"/>
    <p:sldId id="269" r:id="rId19"/>
    <p:sldId id="311" r:id="rId20"/>
    <p:sldId id="273" r:id="rId21"/>
    <p:sldId id="264" r:id="rId22"/>
    <p:sldId id="285" r:id="rId23"/>
    <p:sldId id="286" r:id="rId24"/>
    <p:sldId id="287" r:id="rId25"/>
    <p:sldId id="288" r:id="rId26"/>
    <p:sldId id="309" r:id="rId27"/>
    <p:sldId id="265" r:id="rId28"/>
    <p:sldId id="321" r:id="rId29"/>
    <p:sldId id="270" r:id="rId30"/>
    <p:sldId id="267" r:id="rId31"/>
    <p:sldId id="290" r:id="rId32"/>
    <p:sldId id="304" r:id="rId33"/>
    <p:sldId id="305" r:id="rId34"/>
    <p:sldId id="306" r:id="rId35"/>
    <p:sldId id="307" r:id="rId36"/>
    <p:sldId id="308" r:id="rId37"/>
    <p:sldId id="313" r:id="rId38"/>
    <p:sldId id="314" r:id="rId39"/>
    <p:sldId id="315" r:id="rId40"/>
    <p:sldId id="316" r:id="rId41"/>
    <p:sldId id="317" r:id="rId42"/>
    <p:sldId id="318" r:id="rId43"/>
    <p:sldId id="319" r:id="rId44"/>
    <p:sldId id="320" r:id="rId45"/>
    <p:sldId id="274" r:id="rId46"/>
    <p:sldId id="268" r:id="rId47"/>
    <p:sldId id="272" r:id="rId48"/>
    <p:sldId id="276" r:id="rId49"/>
    <p:sldId id="277" r:id="rId50"/>
    <p:sldId id="278" r:id="rId51"/>
    <p:sldId id="279"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65" autoAdjust="0"/>
  </p:normalViewPr>
  <p:slideViewPr>
    <p:cSldViewPr snapToGrid="0">
      <p:cViewPr varScale="1">
        <p:scale>
          <a:sx n="46" d="100"/>
          <a:sy n="46" d="100"/>
        </p:scale>
        <p:origin x="1351" y="41"/>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22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C4F09A-0CB9-4D4F-B3BF-17B84D25386E}"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FEC6625B-F992-4A29-AB55-7E87EA2B27E0}">
      <dgm:prSet/>
      <dgm:spPr/>
      <dgm:t>
        <a:bodyPr/>
        <a:lstStyle/>
        <a:p>
          <a:r>
            <a:rPr lang="en-US"/>
            <a:t>Begin by thinking about how to actually spend your time on a daily or weekly basis. List the activities on which you spend the most time each day (e.g., studying, working, socializing, gaming, etc). List 8+</a:t>
          </a:r>
        </a:p>
      </dgm:t>
    </dgm:pt>
    <dgm:pt modelId="{46CFA9AC-1789-47B7-8F51-4CF9BE78DD8B}" type="parTrans" cxnId="{EAF07AFA-51C1-48C3-AD18-3D5902B692DD}">
      <dgm:prSet/>
      <dgm:spPr/>
      <dgm:t>
        <a:bodyPr/>
        <a:lstStyle/>
        <a:p>
          <a:endParaRPr lang="en-US"/>
        </a:p>
      </dgm:t>
    </dgm:pt>
    <dgm:pt modelId="{5113F176-16CE-4E86-81C9-77EB738BF063}" type="sibTrans" cxnId="{EAF07AFA-51C1-48C3-AD18-3D5902B692DD}">
      <dgm:prSet/>
      <dgm:spPr/>
      <dgm:t>
        <a:bodyPr/>
        <a:lstStyle/>
        <a:p>
          <a:endParaRPr lang="en-US"/>
        </a:p>
      </dgm:t>
    </dgm:pt>
    <dgm:pt modelId="{56B0710E-C2E3-4A53-AEA1-D277700390FF}">
      <dgm:prSet/>
      <dgm:spPr/>
      <dgm:t>
        <a:bodyPr/>
        <a:lstStyle/>
        <a:p>
          <a:r>
            <a:rPr lang="en-US"/>
            <a:t>List 2 major goals for the next 6 months, next year, next 5 years, next 20 years</a:t>
          </a:r>
        </a:p>
      </dgm:t>
    </dgm:pt>
    <dgm:pt modelId="{E3B322AA-EB88-443E-A8BA-14B0D8A203C9}" type="parTrans" cxnId="{E418D8D8-AF24-4796-A03A-8FE37451D4AE}">
      <dgm:prSet/>
      <dgm:spPr/>
      <dgm:t>
        <a:bodyPr/>
        <a:lstStyle/>
        <a:p>
          <a:endParaRPr lang="en-US"/>
        </a:p>
      </dgm:t>
    </dgm:pt>
    <dgm:pt modelId="{26ED2E1D-C590-4DF4-B1E8-9870DB725411}" type="sibTrans" cxnId="{E418D8D8-AF24-4796-A03A-8FE37451D4AE}">
      <dgm:prSet/>
      <dgm:spPr/>
      <dgm:t>
        <a:bodyPr/>
        <a:lstStyle/>
        <a:p>
          <a:endParaRPr lang="en-US"/>
        </a:p>
      </dgm:t>
    </dgm:pt>
    <dgm:pt modelId="{35A8675F-137B-41CB-BAE7-0AA6AE9D4675}" type="pres">
      <dgm:prSet presAssocID="{08C4F09A-0CB9-4D4F-B3BF-17B84D25386E}" presName="linear" presStyleCnt="0">
        <dgm:presLayoutVars>
          <dgm:animLvl val="lvl"/>
          <dgm:resizeHandles val="exact"/>
        </dgm:presLayoutVars>
      </dgm:prSet>
      <dgm:spPr/>
    </dgm:pt>
    <dgm:pt modelId="{46EB1620-FAC6-4A5D-9219-D7086C47FA06}" type="pres">
      <dgm:prSet presAssocID="{FEC6625B-F992-4A29-AB55-7E87EA2B27E0}" presName="parentText" presStyleLbl="node1" presStyleIdx="0" presStyleCnt="2">
        <dgm:presLayoutVars>
          <dgm:chMax val="0"/>
          <dgm:bulletEnabled val="1"/>
        </dgm:presLayoutVars>
      </dgm:prSet>
      <dgm:spPr/>
    </dgm:pt>
    <dgm:pt modelId="{097B04E7-C3F3-4F69-BD36-29E694CE45EA}" type="pres">
      <dgm:prSet presAssocID="{5113F176-16CE-4E86-81C9-77EB738BF063}" presName="spacer" presStyleCnt="0"/>
      <dgm:spPr/>
    </dgm:pt>
    <dgm:pt modelId="{EB00D7A2-DA16-4A7F-A09A-8A519B57513A}" type="pres">
      <dgm:prSet presAssocID="{56B0710E-C2E3-4A53-AEA1-D277700390FF}" presName="parentText" presStyleLbl="node1" presStyleIdx="1" presStyleCnt="2">
        <dgm:presLayoutVars>
          <dgm:chMax val="0"/>
          <dgm:bulletEnabled val="1"/>
        </dgm:presLayoutVars>
      </dgm:prSet>
      <dgm:spPr/>
    </dgm:pt>
  </dgm:ptLst>
  <dgm:cxnLst>
    <dgm:cxn modelId="{D4A4776E-59DF-41F6-8D27-51FF4E02E92E}" type="presOf" srcId="{FEC6625B-F992-4A29-AB55-7E87EA2B27E0}" destId="{46EB1620-FAC6-4A5D-9219-D7086C47FA06}" srcOrd="0" destOrd="0" presId="urn:microsoft.com/office/officeart/2005/8/layout/vList2"/>
    <dgm:cxn modelId="{5C13F174-DD9A-45CE-839A-FAC07A05EECB}" type="presOf" srcId="{08C4F09A-0CB9-4D4F-B3BF-17B84D25386E}" destId="{35A8675F-137B-41CB-BAE7-0AA6AE9D4675}" srcOrd="0" destOrd="0" presId="urn:microsoft.com/office/officeart/2005/8/layout/vList2"/>
    <dgm:cxn modelId="{992DD055-8DDB-4A7F-AE21-A5A6FD0E283E}" type="presOf" srcId="{56B0710E-C2E3-4A53-AEA1-D277700390FF}" destId="{EB00D7A2-DA16-4A7F-A09A-8A519B57513A}" srcOrd="0" destOrd="0" presId="urn:microsoft.com/office/officeart/2005/8/layout/vList2"/>
    <dgm:cxn modelId="{E418D8D8-AF24-4796-A03A-8FE37451D4AE}" srcId="{08C4F09A-0CB9-4D4F-B3BF-17B84D25386E}" destId="{56B0710E-C2E3-4A53-AEA1-D277700390FF}" srcOrd="1" destOrd="0" parTransId="{E3B322AA-EB88-443E-A8BA-14B0D8A203C9}" sibTransId="{26ED2E1D-C590-4DF4-B1E8-9870DB725411}"/>
    <dgm:cxn modelId="{EAF07AFA-51C1-48C3-AD18-3D5902B692DD}" srcId="{08C4F09A-0CB9-4D4F-B3BF-17B84D25386E}" destId="{FEC6625B-F992-4A29-AB55-7E87EA2B27E0}" srcOrd="0" destOrd="0" parTransId="{46CFA9AC-1789-47B7-8F51-4CF9BE78DD8B}" sibTransId="{5113F176-16CE-4E86-81C9-77EB738BF063}"/>
    <dgm:cxn modelId="{7AEFD07A-4073-47A2-9AB3-22BAAEF59AC9}" type="presParOf" srcId="{35A8675F-137B-41CB-BAE7-0AA6AE9D4675}" destId="{46EB1620-FAC6-4A5D-9219-D7086C47FA06}" srcOrd="0" destOrd="0" presId="urn:microsoft.com/office/officeart/2005/8/layout/vList2"/>
    <dgm:cxn modelId="{B2C08662-8ED9-40AB-8DB4-1D754CC58F62}" type="presParOf" srcId="{35A8675F-137B-41CB-BAE7-0AA6AE9D4675}" destId="{097B04E7-C3F3-4F69-BD36-29E694CE45EA}" srcOrd="1" destOrd="0" presId="urn:microsoft.com/office/officeart/2005/8/layout/vList2"/>
    <dgm:cxn modelId="{B642EEF3-23F1-455A-8312-8B4D8FB51A66}" type="presParOf" srcId="{35A8675F-137B-41CB-BAE7-0AA6AE9D4675}" destId="{EB00D7A2-DA16-4A7F-A09A-8A519B57513A}"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3A420F-3B41-4EB0-B26E-A48B2952C9E7}"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4392675C-876D-45E7-9A62-C753D3944F0E}">
      <dgm:prSet/>
      <dgm:spPr/>
      <dgm:t>
        <a:bodyPr/>
        <a:lstStyle/>
        <a:p>
          <a:r>
            <a:rPr lang="en-US"/>
            <a:t>A different perspective on optimism, developed by Martin Seligman separately from dispositional optimism.</a:t>
          </a:r>
        </a:p>
      </dgm:t>
    </dgm:pt>
    <dgm:pt modelId="{840F67A8-E2F5-403E-9F6A-CB26E648981D}" type="parTrans" cxnId="{445CC29F-1815-40E0-8BCF-F79ADDE3F5FF}">
      <dgm:prSet/>
      <dgm:spPr/>
      <dgm:t>
        <a:bodyPr/>
        <a:lstStyle/>
        <a:p>
          <a:endParaRPr lang="en-US"/>
        </a:p>
      </dgm:t>
    </dgm:pt>
    <dgm:pt modelId="{433CA955-E7E9-4BC6-9B9F-A640F5483049}" type="sibTrans" cxnId="{445CC29F-1815-40E0-8BCF-F79ADDE3F5FF}">
      <dgm:prSet/>
      <dgm:spPr/>
      <dgm:t>
        <a:bodyPr/>
        <a:lstStyle/>
        <a:p>
          <a:endParaRPr lang="en-US"/>
        </a:p>
      </dgm:t>
    </dgm:pt>
    <dgm:pt modelId="{EAD99782-1A4F-4EB1-9E44-AFAE72F0A706}">
      <dgm:prSet/>
      <dgm:spPr/>
      <dgm:t>
        <a:bodyPr/>
        <a:lstStyle/>
        <a:p>
          <a:r>
            <a:rPr lang="en-US"/>
            <a:t>According to Seligman’s (2006) research, people habitually explain the causes of events along three dimensions: </a:t>
          </a:r>
        </a:p>
      </dgm:t>
    </dgm:pt>
    <dgm:pt modelId="{F0BC2758-C16C-45B6-8C36-B0B9E9B92635}" type="parTrans" cxnId="{7B5F23AE-021F-41DC-A824-DF440B8798D8}">
      <dgm:prSet/>
      <dgm:spPr/>
      <dgm:t>
        <a:bodyPr/>
        <a:lstStyle/>
        <a:p>
          <a:endParaRPr lang="en-US"/>
        </a:p>
      </dgm:t>
    </dgm:pt>
    <dgm:pt modelId="{0797CC61-527C-44D4-8AD8-7CFF985E7620}" type="sibTrans" cxnId="{7B5F23AE-021F-41DC-A824-DF440B8798D8}">
      <dgm:prSet/>
      <dgm:spPr/>
      <dgm:t>
        <a:bodyPr/>
        <a:lstStyle/>
        <a:p>
          <a:endParaRPr lang="en-US"/>
        </a:p>
      </dgm:t>
    </dgm:pt>
    <dgm:pt modelId="{914AE90B-7BD4-4F4F-993B-63D35246528D}">
      <dgm:prSet/>
      <dgm:spPr/>
      <dgm:t>
        <a:bodyPr/>
        <a:lstStyle/>
        <a:p>
          <a:r>
            <a:rPr lang="en-US"/>
            <a:t>stable vs. temporary (aka permanence)</a:t>
          </a:r>
        </a:p>
      </dgm:t>
    </dgm:pt>
    <dgm:pt modelId="{3EF0070F-72F5-4B85-8F17-F444F127E7F4}" type="parTrans" cxnId="{81FD9F3C-E7DC-47F8-ABEA-AFFF0F2796F3}">
      <dgm:prSet/>
      <dgm:spPr/>
      <dgm:t>
        <a:bodyPr/>
        <a:lstStyle/>
        <a:p>
          <a:endParaRPr lang="en-US"/>
        </a:p>
      </dgm:t>
    </dgm:pt>
    <dgm:pt modelId="{E912FB3E-C50D-4FEA-8BCF-4FEEED1286D5}" type="sibTrans" cxnId="{81FD9F3C-E7DC-47F8-ABEA-AFFF0F2796F3}">
      <dgm:prSet/>
      <dgm:spPr/>
      <dgm:t>
        <a:bodyPr/>
        <a:lstStyle/>
        <a:p>
          <a:endParaRPr lang="en-US"/>
        </a:p>
      </dgm:t>
    </dgm:pt>
    <dgm:pt modelId="{4D2144B3-00A7-4D6E-A25F-AD1915D18506}">
      <dgm:prSet/>
      <dgm:spPr/>
      <dgm:t>
        <a:bodyPr/>
        <a:lstStyle/>
        <a:p>
          <a:r>
            <a:rPr lang="en-US"/>
            <a:t>global vs. situation-specific (aka pervasiveness)</a:t>
          </a:r>
        </a:p>
      </dgm:t>
    </dgm:pt>
    <dgm:pt modelId="{D7B12630-4B1D-4226-A875-A464EAEDB2F7}" type="parTrans" cxnId="{24F4601B-1918-4E31-A31A-8505CA2CB7DA}">
      <dgm:prSet/>
      <dgm:spPr/>
      <dgm:t>
        <a:bodyPr/>
        <a:lstStyle/>
        <a:p>
          <a:endParaRPr lang="en-US"/>
        </a:p>
      </dgm:t>
    </dgm:pt>
    <dgm:pt modelId="{B5B70D1F-1BB6-4794-813D-E6881ED2D005}" type="sibTrans" cxnId="{24F4601B-1918-4E31-A31A-8505CA2CB7DA}">
      <dgm:prSet/>
      <dgm:spPr/>
      <dgm:t>
        <a:bodyPr/>
        <a:lstStyle/>
        <a:p>
          <a:endParaRPr lang="en-US"/>
        </a:p>
      </dgm:t>
    </dgm:pt>
    <dgm:pt modelId="{941F82DD-D070-4464-8F8B-A95428E47660}">
      <dgm:prSet/>
      <dgm:spPr/>
      <dgm:t>
        <a:bodyPr/>
        <a:lstStyle/>
        <a:p>
          <a:r>
            <a:rPr lang="en-US"/>
            <a:t>internal vs. external (aka personalization)</a:t>
          </a:r>
        </a:p>
      </dgm:t>
    </dgm:pt>
    <dgm:pt modelId="{8E237C97-8D6A-4C83-B3D3-8925D0746ADF}" type="parTrans" cxnId="{9020723E-3262-4258-A3DD-58185F0663FB}">
      <dgm:prSet/>
      <dgm:spPr/>
      <dgm:t>
        <a:bodyPr/>
        <a:lstStyle/>
        <a:p>
          <a:endParaRPr lang="en-US"/>
        </a:p>
      </dgm:t>
    </dgm:pt>
    <dgm:pt modelId="{C34A79A2-0281-4EC7-A695-5150B709B0AA}" type="sibTrans" cxnId="{9020723E-3262-4258-A3DD-58185F0663FB}">
      <dgm:prSet/>
      <dgm:spPr/>
      <dgm:t>
        <a:bodyPr/>
        <a:lstStyle/>
        <a:p>
          <a:endParaRPr lang="en-US"/>
        </a:p>
      </dgm:t>
    </dgm:pt>
    <dgm:pt modelId="{6D981227-22C7-49AA-B4D6-7D735574B1BC}" type="pres">
      <dgm:prSet presAssocID="{983A420F-3B41-4EB0-B26E-A48B2952C9E7}" presName="Name0" presStyleCnt="0">
        <dgm:presLayoutVars>
          <dgm:dir/>
          <dgm:animLvl val="lvl"/>
          <dgm:resizeHandles val="exact"/>
        </dgm:presLayoutVars>
      </dgm:prSet>
      <dgm:spPr/>
    </dgm:pt>
    <dgm:pt modelId="{E2D826B6-8CAA-4337-902F-7E9B287AF898}" type="pres">
      <dgm:prSet presAssocID="{EAD99782-1A4F-4EB1-9E44-AFAE72F0A706}" presName="boxAndChildren" presStyleCnt="0"/>
      <dgm:spPr/>
    </dgm:pt>
    <dgm:pt modelId="{170548CB-CE07-4A69-861A-C14B5318D432}" type="pres">
      <dgm:prSet presAssocID="{EAD99782-1A4F-4EB1-9E44-AFAE72F0A706}" presName="parentTextBox" presStyleLbl="node1" presStyleIdx="0" presStyleCnt="2"/>
      <dgm:spPr/>
    </dgm:pt>
    <dgm:pt modelId="{A04A9500-5D86-493B-804D-7FB464403774}" type="pres">
      <dgm:prSet presAssocID="{EAD99782-1A4F-4EB1-9E44-AFAE72F0A706}" presName="entireBox" presStyleLbl="node1" presStyleIdx="0" presStyleCnt="2"/>
      <dgm:spPr/>
    </dgm:pt>
    <dgm:pt modelId="{AF5B9AD9-062D-44C6-99D5-A2C922FBC9F1}" type="pres">
      <dgm:prSet presAssocID="{EAD99782-1A4F-4EB1-9E44-AFAE72F0A706}" presName="descendantBox" presStyleCnt="0"/>
      <dgm:spPr/>
    </dgm:pt>
    <dgm:pt modelId="{FA064731-CE15-476F-99C2-EAE4FD318F18}" type="pres">
      <dgm:prSet presAssocID="{914AE90B-7BD4-4F4F-993B-63D35246528D}" presName="childTextBox" presStyleLbl="fgAccFollowNode1" presStyleIdx="0" presStyleCnt="3">
        <dgm:presLayoutVars>
          <dgm:bulletEnabled val="1"/>
        </dgm:presLayoutVars>
      </dgm:prSet>
      <dgm:spPr/>
    </dgm:pt>
    <dgm:pt modelId="{05860583-252C-421F-8A37-ABED8F056566}" type="pres">
      <dgm:prSet presAssocID="{4D2144B3-00A7-4D6E-A25F-AD1915D18506}" presName="childTextBox" presStyleLbl="fgAccFollowNode1" presStyleIdx="1" presStyleCnt="3">
        <dgm:presLayoutVars>
          <dgm:bulletEnabled val="1"/>
        </dgm:presLayoutVars>
      </dgm:prSet>
      <dgm:spPr/>
    </dgm:pt>
    <dgm:pt modelId="{E79A1F1E-1E2A-4D88-A43D-C56BF0BC82FA}" type="pres">
      <dgm:prSet presAssocID="{941F82DD-D070-4464-8F8B-A95428E47660}" presName="childTextBox" presStyleLbl="fgAccFollowNode1" presStyleIdx="2" presStyleCnt="3">
        <dgm:presLayoutVars>
          <dgm:bulletEnabled val="1"/>
        </dgm:presLayoutVars>
      </dgm:prSet>
      <dgm:spPr/>
    </dgm:pt>
    <dgm:pt modelId="{390B69FF-EF64-4ECC-BD51-075400E9A57B}" type="pres">
      <dgm:prSet presAssocID="{433CA955-E7E9-4BC6-9B9F-A640F5483049}" presName="sp" presStyleCnt="0"/>
      <dgm:spPr/>
    </dgm:pt>
    <dgm:pt modelId="{EEA07F97-7DF3-49ED-A7F6-BBE845F22948}" type="pres">
      <dgm:prSet presAssocID="{4392675C-876D-45E7-9A62-C753D3944F0E}" presName="arrowAndChildren" presStyleCnt="0"/>
      <dgm:spPr/>
    </dgm:pt>
    <dgm:pt modelId="{24923747-F17B-4BE6-8A59-0485EF2B5284}" type="pres">
      <dgm:prSet presAssocID="{4392675C-876D-45E7-9A62-C753D3944F0E}" presName="parentTextArrow" presStyleLbl="node1" presStyleIdx="1" presStyleCnt="2"/>
      <dgm:spPr/>
    </dgm:pt>
  </dgm:ptLst>
  <dgm:cxnLst>
    <dgm:cxn modelId="{24F4601B-1918-4E31-A31A-8505CA2CB7DA}" srcId="{EAD99782-1A4F-4EB1-9E44-AFAE72F0A706}" destId="{4D2144B3-00A7-4D6E-A25F-AD1915D18506}" srcOrd="1" destOrd="0" parTransId="{D7B12630-4B1D-4226-A875-A464EAEDB2F7}" sibTransId="{B5B70D1F-1BB6-4794-813D-E6881ED2D005}"/>
    <dgm:cxn modelId="{5229AD24-9F77-464F-B3CF-4163EBDBE300}" type="presOf" srcId="{983A420F-3B41-4EB0-B26E-A48B2952C9E7}" destId="{6D981227-22C7-49AA-B4D6-7D735574B1BC}" srcOrd="0" destOrd="0" presId="urn:microsoft.com/office/officeart/2005/8/layout/process4"/>
    <dgm:cxn modelId="{81FD9F3C-E7DC-47F8-ABEA-AFFF0F2796F3}" srcId="{EAD99782-1A4F-4EB1-9E44-AFAE72F0A706}" destId="{914AE90B-7BD4-4F4F-993B-63D35246528D}" srcOrd="0" destOrd="0" parTransId="{3EF0070F-72F5-4B85-8F17-F444F127E7F4}" sibTransId="{E912FB3E-C50D-4FEA-8BCF-4FEEED1286D5}"/>
    <dgm:cxn modelId="{9020723E-3262-4258-A3DD-58185F0663FB}" srcId="{EAD99782-1A4F-4EB1-9E44-AFAE72F0A706}" destId="{941F82DD-D070-4464-8F8B-A95428E47660}" srcOrd="2" destOrd="0" parTransId="{8E237C97-8D6A-4C83-B3D3-8925D0746ADF}" sibTransId="{C34A79A2-0281-4EC7-A695-5150B709B0AA}"/>
    <dgm:cxn modelId="{518E727C-8887-40C2-9EF4-63A6F7CD6C9B}" type="presOf" srcId="{941F82DD-D070-4464-8F8B-A95428E47660}" destId="{E79A1F1E-1E2A-4D88-A43D-C56BF0BC82FA}" srcOrd="0" destOrd="0" presId="urn:microsoft.com/office/officeart/2005/8/layout/process4"/>
    <dgm:cxn modelId="{445CC29F-1815-40E0-8BCF-F79ADDE3F5FF}" srcId="{983A420F-3B41-4EB0-B26E-A48B2952C9E7}" destId="{4392675C-876D-45E7-9A62-C753D3944F0E}" srcOrd="0" destOrd="0" parTransId="{840F67A8-E2F5-403E-9F6A-CB26E648981D}" sibTransId="{433CA955-E7E9-4BC6-9B9F-A640F5483049}"/>
    <dgm:cxn modelId="{7B5F23AE-021F-41DC-A824-DF440B8798D8}" srcId="{983A420F-3B41-4EB0-B26E-A48B2952C9E7}" destId="{EAD99782-1A4F-4EB1-9E44-AFAE72F0A706}" srcOrd="1" destOrd="0" parTransId="{F0BC2758-C16C-45B6-8C36-B0B9E9B92635}" sibTransId="{0797CC61-527C-44D4-8AD8-7CFF985E7620}"/>
    <dgm:cxn modelId="{C9958AB9-1475-408A-B26B-8380C34A22C0}" type="presOf" srcId="{EAD99782-1A4F-4EB1-9E44-AFAE72F0A706}" destId="{170548CB-CE07-4A69-861A-C14B5318D432}" srcOrd="0" destOrd="0" presId="urn:microsoft.com/office/officeart/2005/8/layout/process4"/>
    <dgm:cxn modelId="{C63DB3CE-8054-42AC-808E-765626F7FE65}" type="presOf" srcId="{4D2144B3-00A7-4D6E-A25F-AD1915D18506}" destId="{05860583-252C-421F-8A37-ABED8F056566}" srcOrd="0" destOrd="0" presId="urn:microsoft.com/office/officeart/2005/8/layout/process4"/>
    <dgm:cxn modelId="{D2B32AD6-B1BE-4206-8CB3-0FD27B7AF539}" type="presOf" srcId="{914AE90B-7BD4-4F4F-993B-63D35246528D}" destId="{FA064731-CE15-476F-99C2-EAE4FD318F18}" srcOrd="0" destOrd="0" presId="urn:microsoft.com/office/officeart/2005/8/layout/process4"/>
    <dgm:cxn modelId="{16ACADEA-863C-4317-AB19-8D53ED33A1AA}" type="presOf" srcId="{EAD99782-1A4F-4EB1-9E44-AFAE72F0A706}" destId="{A04A9500-5D86-493B-804D-7FB464403774}" srcOrd="1" destOrd="0" presId="urn:microsoft.com/office/officeart/2005/8/layout/process4"/>
    <dgm:cxn modelId="{CD3D10F6-8CB2-458E-899E-9679C0BE5209}" type="presOf" srcId="{4392675C-876D-45E7-9A62-C753D3944F0E}" destId="{24923747-F17B-4BE6-8A59-0485EF2B5284}" srcOrd="0" destOrd="0" presId="urn:microsoft.com/office/officeart/2005/8/layout/process4"/>
    <dgm:cxn modelId="{E4CFC508-1056-4452-9F3F-07126C70C699}" type="presParOf" srcId="{6D981227-22C7-49AA-B4D6-7D735574B1BC}" destId="{E2D826B6-8CAA-4337-902F-7E9B287AF898}" srcOrd="0" destOrd="0" presId="urn:microsoft.com/office/officeart/2005/8/layout/process4"/>
    <dgm:cxn modelId="{E59DC21E-F653-46B9-B257-77FC1910270E}" type="presParOf" srcId="{E2D826B6-8CAA-4337-902F-7E9B287AF898}" destId="{170548CB-CE07-4A69-861A-C14B5318D432}" srcOrd="0" destOrd="0" presId="urn:microsoft.com/office/officeart/2005/8/layout/process4"/>
    <dgm:cxn modelId="{DB775FA4-E880-4ABF-86E2-A49A2D1FEB10}" type="presParOf" srcId="{E2D826B6-8CAA-4337-902F-7E9B287AF898}" destId="{A04A9500-5D86-493B-804D-7FB464403774}" srcOrd="1" destOrd="0" presId="urn:microsoft.com/office/officeart/2005/8/layout/process4"/>
    <dgm:cxn modelId="{F1017207-05AD-40F2-AD2F-E81AA18A7B74}" type="presParOf" srcId="{E2D826B6-8CAA-4337-902F-7E9B287AF898}" destId="{AF5B9AD9-062D-44C6-99D5-A2C922FBC9F1}" srcOrd="2" destOrd="0" presId="urn:microsoft.com/office/officeart/2005/8/layout/process4"/>
    <dgm:cxn modelId="{D7A5FA84-1272-4C3E-93A0-7A7801FED214}" type="presParOf" srcId="{AF5B9AD9-062D-44C6-99D5-A2C922FBC9F1}" destId="{FA064731-CE15-476F-99C2-EAE4FD318F18}" srcOrd="0" destOrd="0" presId="urn:microsoft.com/office/officeart/2005/8/layout/process4"/>
    <dgm:cxn modelId="{CD4A9101-142A-4109-A9BE-F3F3C575450B}" type="presParOf" srcId="{AF5B9AD9-062D-44C6-99D5-A2C922FBC9F1}" destId="{05860583-252C-421F-8A37-ABED8F056566}" srcOrd="1" destOrd="0" presId="urn:microsoft.com/office/officeart/2005/8/layout/process4"/>
    <dgm:cxn modelId="{C715A72F-EE70-4FD3-B20C-5D561A1D7C8E}" type="presParOf" srcId="{AF5B9AD9-062D-44C6-99D5-A2C922FBC9F1}" destId="{E79A1F1E-1E2A-4D88-A43D-C56BF0BC82FA}" srcOrd="2" destOrd="0" presId="urn:microsoft.com/office/officeart/2005/8/layout/process4"/>
    <dgm:cxn modelId="{5FAE6172-28A3-45A5-A2B0-6C2EACC00A38}" type="presParOf" srcId="{6D981227-22C7-49AA-B4D6-7D735574B1BC}" destId="{390B69FF-EF64-4ECC-BD51-075400E9A57B}" srcOrd="1" destOrd="0" presId="urn:microsoft.com/office/officeart/2005/8/layout/process4"/>
    <dgm:cxn modelId="{74A9ADF3-345E-4278-8EED-D5F65001CAB4}" type="presParOf" srcId="{6D981227-22C7-49AA-B4D6-7D735574B1BC}" destId="{EEA07F97-7DF3-49ED-A7F6-BBE845F22948}" srcOrd="2" destOrd="0" presId="urn:microsoft.com/office/officeart/2005/8/layout/process4"/>
    <dgm:cxn modelId="{A793AC8E-17B9-4DC8-BE13-FDF0B04D1C43}" type="presParOf" srcId="{EEA07F97-7DF3-49ED-A7F6-BBE845F22948}" destId="{24923747-F17B-4BE6-8A59-0485EF2B528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DF73BF6-504F-4B62-8F65-F8BCCBD3EC2A}" type="doc">
      <dgm:prSet loTypeId="urn:microsoft.com/office/officeart/2005/8/layout/vList5" loCatId="list" qsTypeId="urn:microsoft.com/office/officeart/2005/8/quickstyle/simple5" qsCatId="simple" csTypeId="urn:microsoft.com/office/officeart/2005/8/colors/accent0_3" csCatId="mainScheme" phldr="1"/>
      <dgm:spPr/>
      <dgm:t>
        <a:bodyPr/>
        <a:lstStyle/>
        <a:p>
          <a:endParaRPr lang="en-US"/>
        </a:p>
      </dgm:t>
    </dgm:pt>
    <dgm:pt modelId="{594D7034-A588-4780-B609-A97BDCBAFBC6}">
      <dgm:prSet/>
      <dgm:spPr/>
      <dgm:t>
        <a:bodyPr/>
        <a:lstStyle/>
        <a:p>
          <a:r>
            <a:rPr lang="en-US"/>
            <a:t>Be accurate with blame when criticizing self (because of modeling) and child</a:t>
          </a:r>
        </a:p>
      </dgm:t>
    </dgm:pt>
    <dgm:pt modelId="{8A08B346-623D-49FF-8EF4-13775A964ED4}" type="parTrans" cxnId="{A51DE21A-8B8E-45B8-895B-CB59C8462DB0}">
      <dgm:prSet/>
      <dgm:spPr/>
      <dgm:t>
        <a:bodyPr/>
        <a:lstStyle/>
        <a:p>
          <a:endParaRPr lang="en-US"/>
        </a:p>
      </dgm:t>
    </dgm:pt>
    <dgm:pt modelId="{A46BB877-5100-47B4-B326-88CA00209031}" type="sibTrans" cxnId="{A51DE21A-8B8E-45B8-895B-CB59C8462DB0}">
      <dgm:prSet/>
      <dgm:spPr/>
      <dgm:t>
        <a:bodyPr/>
        <a:lstStyle/>
        <a:p>
          <a:endParaRPr lang="en-US"/>
        </a:p>
      </dgm:t>
    </dgm:pt>
    <dgm:pt modelId="{DBEB384D-41A3-4FD3-8785-9D6F0D8FD5A7}">
      <dgm:prSet/>
      <dgm:spPr/>
      <dgm:t>
        <a:bodyPr/>
        <a:lstStyle/>
        <a:p>
          <a:r>
            <a:rPr lang="en-US" dirty="0"/>
            <a:t>“You are so lazy” makes child believe he is lazy and it is permanent and unchangeable</a:t>
          </a:r>
        </a:p>
      </dgm:t>
    </dgm:pt>
    <dgm:pt modelId="{8CAB162E-819C-4415-9C0E-F39A1ABA02DA}" type="parTrans" cxnId="{B693CE07-E8CC-4A18-8DB0-F64453FBE70E}">
      <dgm:prSet/>
      <dgm:spPr/>
      <dgm:t>
        <a:bodyPr/>
        <a:lstStyle/>
        <a:p>
          <a:endParaRPr lang="en-US"/>
        </a:p>
      </dgm:t>
    </dgm:pt>
    <dgm:pt modelId="{C50DE985-E862-493A-8D1C-F4DC435283C9}" type="sibTrans" cxnId="{B693CE07-E8CC-4A18-8DB0-F64453FBE70E}">
      <dgm:prSet/>
      <dgm:spPr/>
      <dgm:t>
        <a:bodyPr/>
        <a:lstStyle/>
        <a:p>
          <a:endParaRPr lang="en-US"/>
        </a:p>
      </dgm:t>
    </dgm:pt>
    <dgm:pt modelId="{71E5BFA3-389C-4A6E-A203-6E231ADF424B}">
      <dgm:prSet/>
      <dgm:spPr/>
      <dgm:t>
        <a:bodyPr/>
        <a:lstStyle/>
        <a:p>
          <a:r>
            <a:rPr lang="en-US"/>
            <a:t>When appropriate, criticize with an optimistic explanatory style</a:t>
          </a:r>
        </a:p>
      </dgm:t>
    </dgm:pt>
    <dgm:pt modelId="{0ABD80E2-67F9-4F47-A51E-9A9F1CA96025}" type="parTrans" cxnId="{E6BFB815-7FCE-4E93-9085-894CF608984C}">
      <dgm:prSet/>
      <dgm:spPr/>
      <dgm:t>
        <a:bodyPr/>
        <a:lstStyle/>
        <a:p>
          <a:endParaRPr lang="en-US"/>
        </a:p>
      </dgm:t>
    </dgm:pt>
    <dgm:pt modelId="{2ADDD287-5A1D-47E1-82C5-3AE2C227A981}" type="sibTrans" cxnId="{E6BFB815-7FCE-4E93-9085-894CF608984C}">
      <dgm:prSet/>
      <dgm:spPr/>
      <dgm:t>
        <a:bodyPr/>
        <a:lstStyle/>
        <a:p>
          <a:endParaRPr lang="en-US"/>
        </a:p>
      </dgm:t>
    </dgm:pt>
    <dgm:pt modelId="{60523B33-BA69-42A8-89F0-F5DB5863595C}">
      <dgm:prSet/>
      <dgm:spPr/>
      <dgm:t>
        <a:bodyPr/>
        <a:lstStyle/>
        <a:p>
          <a:r>
            <a:rPr lang="en-US"/>
            <a:t>When child is at fault, focus on specific and temporary personal causes, and avoid blaming the child’s character or ability</a:t>
          </a:r>
        </a:p>
      </dgm:t>
    </dgm:pt>
    <dgm:pt modelId="{ECFBC21F-FC1C-4BB0-BA06-89F30027592E}" type="parTrans" cxnId="{E110F24E-43E9-4004-905F-FE6CE023A2EE}">
      <dgm:prSet/>
      <dgm:spPr/>
      <dgm:t>
        <a:bodyPr/>
        <a:lstStyle/>
        <a:p>
          <a:endParaRPr lang="en-US"/>
        </a:p>
      </dgm:t>
    </dgm:pt>
    <dgm:pt modelId="{BF4B3807-C462-4F81-833B-B92EADC00F80}" type="sibTrans" cxnId="{E110F24E-43E9-4004-905F-FE6CE023A2EE}">
      <dgm:prSet/>
      <dgm:spPr/>
      <dgm:t>
        <a:bodyPr/>
        <a:lstStyle/>
        <a:p>
          <a:endParaRPr lang="en-US"/>
        </a:p>
      </dgm:t>
    </dgm:pt>
    <dgm:pt modelId="{DCDC2610-6ABA-4E15-8066-37BBCFBF63CF}" type="pres">
      <dgm:prSet presAssocID="{FDF73BF6-504F-4B62-8F65-F8BCCBD3EC2A}" presName="Name0" presStyleCnt="0">
        <dgm:presLayoutVars>
          <dgm:dir/>
          <dgm:animLvl val="lvl"/>
          <dgm:resizeHandles val="exact"/>
        </dgm:presLayoutVars>
      </dgm:prSet>
      <dgm:spPr/>
    </dgm:pt>
    <dgm:pt modelId="{47E2AE78-ABB5-42E5-A430-55266D771B91}" type="pres">
      <dgm:prSet presAssocID="{594D7034-A588-4780-B609-A97BDCBAFBC6}" presName="linNode" presStyleCnt="0"/>
      <dgm:spPr/>
    </dgm:pt>
    <dgm:pt modelId="{77D6C5B6-0649-4C3B-BE66-0307753AC70D}" type="pres">
      <dgm:prSet presAssocID="{594D7034-A588-4780-B609-A97BDCBAFBC6}" presName="parentText" presStyleLbl="node1" presStyleIdx="0" presStyleCnt="2">
        <dgm:presLayoutVars>
          <dgm:chMax val="1"/>
          <dgm:bulletEnabled val="1"/>
        </dgm:presLayoutVars>
      </dgm:prSet>
      <dgm:spPr/>
    </dgm:pt>
    <dgm:pt modelId="{1F1BEB56-649D-4B59-B483-BB6E8892D2E7}" type="pres">
      <dgm:prSet presAssocID="{594D7034-A588-4780-B609-A97BDCBAFBC6}" presName="descendantText" presStyleLbl="alignAccFollowNode1" presStyleIdx="0" presStyleCnt="2">
        <dgm:presLayoutVars>
          <dgm:bulletEnabled val="1"/>
        </dgm:presLayoutVars>
      </dgm:prSet>
      <dgm:spPr/>
    </dgm:pt>
    <dgm:pt modelId="{71388187-EABF-4C5C-AE4C-EF64C0352931}" type="pres">
      <dgm:prSet presAssocID="{A46BB877-5100-47B4-B326-88CA00209031}" presName="sp" presStyleCnt="0"/>
      <dgm:spPr/>
    </dgm:pt>
    <dgm:pt modelId="{3BEA52BD-B46E-40A8-921A-C53FB4BE1ADA}" type="pres">
      <dgm:prSet presAssocID="{71E5BFA3-389C-4A6E-A203-6E231ADF424B}" presName="linNode" presStyleCnt="0"/>
      <dgm:spPr/>
    </dgm:pt>
    <dgm:pt modelId="{8DB7F6AB-5D4D-49A7-8432-F9D73F7E4F23}" type="pres">
      <dgm:prSet presAssocID="{71E5BFA3-389C-4A6E-A203-6E231ADF424B}" presName="parentText" presStyleLbl="node1" presStyleIdx="1" presStyleCnt="2">
        <dgm:presLayoutVars>
          <dgm:chMax val="1"/>
          <dgm:bulletEnabled val="1"/>
        </dgm:presLayoutVars>
      </dgm:prSet>
      <dgm:spPr/>
    </dgm:pt>
    <dgm:pt modelId="{FC2E9909-FF65-4CA8-8748-D8AAEDBC5889}" type="pres">
      <dgm:prSet presAssocID="{71E5BFA3-389C-4A6E-A203-6E231ADF424B}" presName="descendantText" presStyleLbl="alignAccFollowNode1" presStyleIdx="1" presStyleCnt="2">
        <dgm:presLayoutVars>
          <dgm:bulletEnabled val="1"/>
        </dgm:presLayoutVars>
      </dgm:prSet>
      <dgm:spPr/>
    </dgm:pt>
  </dgm:ptLst>
  <dgm:cxnLst>
    <dgm:cxn modelId="{B693CE07-E8CC-4A18-8DB0-F64453FBE70E}" srcId="{594D7034-A588-4780-B609-A97BDCBAFBC6}" destId="{DBEB384D-41A3-4FD3-8785-9D6F0D8FD5A7}" srcOrd="0" destOrd="0" parTransId="{8CAB162E-819C-4415-9C0E-F39A1ABA02DA}" sibTransId="{C50DE985-E862-493A-8D1C-F4DC435283C9}"/>
    <dgm:cxn modelId="{FAA7B30A-E707-411A-B59B-86FF1BB0EEC0}" type="presOf" srcId="{594D7034-A588-4780-B609-A97BDCBAFBC6}" destId="{77D6C5B6-0649-4C3B-BE66-0307753AC70D}" srcOrd="0" destOrd="0" presId="urn:microsoft.com/office/officeart/2005/8/layout/vList5"/>
    <dgm:cxn modelId="{E6BFB815-7FCE-4E93-9085-894CF608984C}" srcId="{FDF73BF6-504F-4B62-8F65-F8BCCBD3EC2A}" destId="{71E5BFA3-389C-4A6E-A203-6E231ADF424B}" srcOrd="1" destOrd="0" parTransId="{0ABD80E2-67F9-4F47-A51E-9A9F1CA96025}" sibTransId="{2ADDD287-5A1D-47E1-82C5-3AE2C227A981}"/>
    <dgm:cxn modelId="{A51DE21A-8B8E-45B8-895B-CB59C8462DB0}" srcId="{FDF73BF6-504F-4B62-8F65-F8BCCBD3EC2A}" destId="{594D7034-A588-4780-B609-A97BDCBAFBC6}" srcOrd="0" destOrd="0" parTransId="{8A08B346-623D-49FF-8EF4-13775A964ED4}" sibTransId="{A46BB877-5100-47B4-B326-88CA00209031}"/>
    <dgm:cxn modelId="{8A80BC22-9B9F-44C3-9CB9-9A12D8A8D0C8}" type="presOf" srcId="{FDF73BF6-504F-4B62-8F65-F8BCCBD3EC2A}" destId="{DCDC2610-6ABA-4E15-8066-37BBCFBF63CF}" srcOrd="0" destOrd="0" presId="urn:microsoft.com/office/officeart/2005/8/layout/vList5"/>
    <dgm:cxn modelId="{36CFA73E-067C-4036-9656-7F60D5915F38}" type="presOf" srcId="{60523B33-BA69-42A8-89F0-F5DB5863595C}" destId="{FC2E9909-FF65-4CA8-8748-D8AAEDBC5889}" srcOrd="0" destOrd="0" presId="urn:microsoft.com/office/officeart/2005/8/layout/vList5"/>
    <dgm:cxn modelId="{E110F24E-43E9-4004-905F-FE6CE023A2EE}" srcId="{71E5BFA3-389C-4A6E-A203-6E231ADF424B}" destId="{60523B33-BA69-42A8-89F0-F5DB5863595C}" srcOrd="0" destOrd="0" parTransId="{ECFBC21F-FC1C-4BB0-BA06-89F30027592E}" sibTransId="{BF4B3807-C462-4F81-833B-B92EADC00F80}"/>
    <dgm:cxn modelId="{8A135983-5187-46C9-9542-A699C055319F}" type="presOf" srcId="{71E5BFA3-389C-4A6E-A203-6E231ADF424B}" destId="{8DB7F6AB-5D4D-49A7-8432-F9D73F7E4F23}" srcOrd="0" destOrd="0" presId="urn:microsoft.com/office/officeart/2005/8/layout/vList5"/>
    <dgm:cxn modelId="{AA007BF8-47A7-4472-AA59-C40E75482D19}" type="presOf" srcId="{DBEB384D-41A3-4FD3-8785-9D6F0D8FD5A7}" destId="{1F1BEB56-649D-4B59-B483-BB6E8892D2E7}" srcOrd="0" destOrd="0" presId="urn:microsoft.com/office/officeart/2005/8/layout/vList5"/>
    <dgm:cxn modelId="{1FC415DA-CAD5-49B5-986C-A7549232ABBE}" type="presParOf" srcId="{DCDC2610-6ABA-4E15-8066-37BBCFBF63CF}" destId="{47E2AE78-ABB5-42E5-A430-55266D771B91}" srcOrd="0" destOrd="0" presId="urn:microsoft.com/office/officeart/2005/8/layout/vList5"/>
    <dgm:cxn modelId="{C10FEAC4-995D-43D9-A7B1-E77AC00618D7}" type="presParOf" srcId="{47E2AE78-ABB5-42E5-A430-55266D771B91}" destId="{77D6C5B6-0649-4C3B-BE66-0307753AC70D}" srcOrd="0" destOrd="0" presId="urn:microsoft.com/office/officeart/2005/8/layout/vList5"/>
    <dgm:cxn modelId="{53F0A1CF-2938-43F1-A758-4A92974BDB82}" type="presParOf" srcId="{47E2AE78-ABB5-42E5-A430-55266D771B91}" destId="{1F1BEB56-649D-4B59-B483-BB6E8892D2E7}" srcOrd="1" destOrd="0" presId="urn:microsoft.com/office/officeart/2005/8/layout/vList5"/>
    <dgm:cxn modelId="{FCEBEF86-036F-43C0-B3CE-E70217906D03}" type="presParOf" srcId="{DCDC2610-6ABA-4E15-8066-37BBCFBF63CF}" destId="{71388187-EABF-4C5C-AE4C-EF64C0352931}" srcOrd="1" destOrd="0" presId="urn:microsoft.com/office/officeart/2005/8/layout/vList5"/>
    <dgm:cxn modelId="{795E9C72-AE3A-4B55-81EA-F0CEC29E0982}" type="presParOf" srcId="{DCDC2610-6ABA-4E15-8066-37BBCFBF63CF}" destId="{3BEA52BD-B46E-40A8-921A-C53FB4BE1ADA}" srcOrd="2" destOrd="0" presId="urn:microsoft.com/office/officeart/2005/8/layout/vList5"/>
    <dgm:cxn modelId="{14094064-E72D-4D68-AE2F-E9FAAB48B569}" type="presParOf" srcId="{3BEA52BD-B46E-40A8-921A-C53FB4BE1ADA}" destId="{8DB7F6AB-5D4D-49A7-8432-F9D73F7E4F23}" srcOrd="0" destOrd="0" presId="urn:microsoft.com/office/officeart/2005/8/layout/vList5"/>
    <dgm:cxn modelId="{1BD4EC57-B415-41BB-B62F-F98B1B1FCEE7}" type="presParOf" srcId="{3BEA52BD-B46E-40A8-921A-C53FB4BE1ADA}" destId="{FC2E9909-FF65-4CA8-8748-D8AAEDBC588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B23F680-176A-4283-BDC5-CE8C48E802D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9E994D1-97E0-4536-AF37-4553F55A3E00}">
      <dgm:prSet/>
      <dgm:spPr/>
      <dgm:t>
        <a:bodyPr/>
        <a:lstStyle/>
        <a:p>
          <a:r>
            <a:rPr lang="en-US"/>
            <a:t>If someone falsely accuses us, we dispute with them, but when we have pessimistic thoughts, rarely do we dispute them.</a:t>
          </a:r>
        </a:p>
      </dgm:t>
    </dgm:pt>
    <dgm:pt modelId="{4309CB73-4D54-43E9-928E-FECA4BDA3554}" type="parTrans" cxnId="{D991036A-936F-4865-8A86-D44C09F91C91}">
      <dgm:prSet/>
      <dgm:spPr/>
      <dgm:t>
        <a:bodyPr/>
        <a:lstStyle/>
        <a:p>
          <a:endParaRPr lang="en-US"/>
        </a:p>
      </dgm:t>
    </dgm:pt>
    <dgm:pt modelId="{DC230710-2A98-4F78-ACFF-EB8177C9F068}" type="sibTrans" cxnId="{D991036A-936F-4865-8A86-D44C09F91C91}">
      <dgm:prSet/>
      <dgm:spPr/>
      <dgm:t>
        <a:bodyPr/>
        <a:lstStyle/>
        <a:p>
          <a:endParaRPr lang="en-US"/>
        </a:p>
      </dgm:t>
    </dgm:pt>
    <dgm:pt modelId="{60B14ECD-32D5-4647-9360-877BBB50B17F}">
      <dgm:prSet/>
      <dgm:spPr/>
      <dgm:t>
        <a:bodyPr/>
        <a:lstStyle/>
        <a:p>
          <a:r>
            <a:rPr lang="en-US"/>
            <a:t>First thing: recognize pessimistic thought</a:t>
          </a:r>
        </a:p>
      </dgm:t>
    </dgm:pt>
    <dgm:pt modelId="{DE1ABFEA-686F-48D9-960E-D30380BA5D59}" type="parTrans" cxnId="{F7FE534F-EA2E-4EC0-AFA7-E22D2A5A398F}">
      <dgm:prSet/>
      <dgm:spPr/>
      <dgm:t>
        <a:bodyPr/>
        <a:lstStyle/>
        <a:p>
          <a:endParaRPr lang="en-US"/>
        </a:p>
      </dgm:t>
    </dgm:pt>
    <dgm:pt modelId="{8D7849D6-FCFC-4411-9868-44CAE3D2E772}" type="sibTrans" cxnId="{F7FE534F-EA2E-4EC0-AFA7-E22D2A5A398F}">
      <dgm:prSet/>
      <dgm:spPr/>
      <dgm:t>
        <a:bodyPr/>
        <a:lstStyle/>
        <a:p>
          <a:endParaRPr lang="en-US"/>
        </a:p>
      </dgm:t>
    </dgm:pt>
    <dgm:pt modelId="{3E2BF113-8B5B-47E8-B8E7-E37912B7E426}">
      <dgm:prSet/>
      <dgm:spPr/>
      <dgm:t>
        <a:bodyPr/>
        <a:lstStyle/>
        <a:p>
          <a:r>
            <a:rPr lang="en-US"/>
            <a:t>Second: dispute with ABCDE model</a:t>
          </a:r>
        </a:p>
      </dgm:t>
    </dgm:pt>
    <dgm:pt modelId="{5AA22D00-DD30-491D-BD88-6D303C5A236B}" type="parTrans" cxnId="{331C7584-213B-424D-AD1D-EAC47EF7F6A7}">
      <dgm:prSet/>
      <dgm:spPr/>
      <dgm:t>
        <a:bodyPr/>
        <a:lstStyle/>
        <a:p>
          <a:endParaRPr lang="en-US"/>
        </a:p>
      </dgm:t>
    </dgm:pt>
    <dgm:pt modelId="{76AD4935-8D7D-4F56-A3BF-B9AEE323B511}" type="sibTrans" cxnId="{331C7584-213B-424D-AD1D-EAC47EF7F6A7}">
      <dgm:prSet/>
      <dgm:spPr/>
      <dgm:t>
        <a:bodyPr/>
        <a:lstStyle/>
        <a:p>
          <a:endParaRPr lang="en-US"/>
        </a:p>
      </dgm:t>
    </dgm:pt>
    <dgm:pt modelId="{E537D686-BA77-4F6B-8CC3-35B3DE6183D5}" type="pres">
      <dgm:prSet presAssocID="{DB23F680-176A-4283-BDC5-CE8C48E802DA}" presName="linear" presStyleCnt="0">
        <dgm:presLayoutVars>
          <dgm:animLvl val="lvl"/>
          <dgm:resizeHandles val="exact"/>
        </dgm:presLayoutVars>
      </dgm:prSet>
      <dgm:spPr/>
    </dgm:pt>
    <dgm:pt modelId="{82C8E270-039D-4236-BCBE-4F344815D06E}" type="pres">
      <dgm:prSet presAssocID="{49E994D1-97E0-4536-AF37-4553F55A3E00}" presName="parentText" presStyleLbl="node1" presStyleIdx="0" presStyleCnt="3">
        <dgm:presLayoutVars>
          <dgm:chMax val="0"/>
          <dgm:bulletEnabled val="1"/>
        </dgm:presLayoutVars>
      </dgm:prSet>
      <dgm:spPr/>
    </dgm:pt>
    <dgm:pt modelId="{D64399A6-4683-4C61-A1E1-F0A81C8B837D}" type="pres">
      <dgm:prSet presAssocID="{DC230710-2A98-4F78-ACFF-EB8177C9F068}" presName="spacer" presStyleCnt="0"/>
      <dgm:spPr/>
    </dgm:pt>
    <dgm:pt modelId="{CA5538AD-998B-4398-AA2C-F47867B94253}" type="pres">
      <dgm:prSet presAssocID="{60B14ECD-32D5-4647-9360-877BBB50B17F}" presName="parentText" presStyleLbl="node1" presStyleIdx="1" presStyleCnt="3">
        <dgm:presLayoutVars>
          <dgm:chMax val="0"/>
          <dgm:bulletEnabled val="1"/>
        </dgm:presLayoutVars>
      </dgm:prSet>
      <dgm:spPr/>
    </dgm:pt>
    <dgm:pt modelId="{53064E3E-AC0B-4E88-9F0D-ED470219B78E}" type="pres">
      <dgm:prSet presAssocID="{8D7849D6-FCFC-4411-9868-44CAE3D2E772}" presName="spacer" presStyleCnt="0"/>
      <dgm:spPr/>
    </dgm:pt>
    <dgm:pt modelId="{76A41E20-0558-4CC5-BA3D-3AB68DA5E1F5}" type="pres">
      <dgm:prSet presAssocID="{3E2BF113-8B5B-47E8-B8E7-E37912B7E426}" presName="parentText" presStyleLbl="node1" presStyleIdx="2" presStyleCnt="3">
        <dgm:presLayoutVars>
          <dgm:chMax val="0"/>
          <dgm:bulletEnabled val="1"/>
        </dgm:presLayoutVars>
      </dgm:prSet>
      <dgm:spPr/>
    </dgm:pt>
  </dgm:ptLst>
  <dgm:cxnLst>
    <dgm:cxn modelId="{82103420-84E9-49CD-B620-0463D5BB5C8D}" type="presOf" srcId="{60B14ECD-32D5-4647-9360-877BBB50B17F}" destId="{CA5538AD-998B-4398-AA2C-F47867B94253}" srcOrd="0" destOrd="0" presId="urn:microsoft.com/office/officeart/2005/8/layout/vList2"/>
    <dgm:cxn modelId="{727E4635-79AB-4D03-93F4-9222E22F4321}" type="presOf" srcId="{49E994D1-97E0-4536-AF37-4553F55A3E00}" destId="{82C8E270-039D-4236-BCBE-4F344815D06E}" srcOrd="0" destOrd="0" presId="urn:microsoft.com/office/officeart/2005/8/layout/vList2"/>
    <dgm:cxn modelId="{F306F13A-4D88-4A23-BB35-901CF8E400D5}" type="presOf" srcId="{3E2BF113-8B5B-47E8-B8E7-E37912B7E426}" destId="{76A41E20-0558-4CC5-BA3D-3AB68DA5E1F5}" srcOrd="0" destOrd="0" presId="urn:microsoft.com/office/officeart/2005/8/layout/vList2"/>
    <dgm:cxn modelId="{D991036A-936F-4865-8A86-D44C09F91C91}" srcId="{DB23F680-176A-4283-BDC5-CE8C48E802DA}" destId="{49E994D1-97E0-4536-AF37-4553F55A3E00}" srcOrd="0" destOrd="0" parTransId="{4309CB73-4D54-43E9-928E-FECA4BDA3554}" sibTransId="{DC230710-2A98-4F78-ACFF-EB8177C9F068}"/>
    <dgm:cxn modelId="{27A8196D-BF4B-485F-B91B-44FD0A97BA41}" type="presOf" srcId="{DB23F680-176A-4283-BDC5-CE8C48E802DA}" destId="{E537D686-BA77-4F6B-8CC3-35B3DE6183D5}" srcOrd="0" destOrd="0" presId="urn:microsoft.com/office/officeart/2005/8/layout/vList2"/>
    <dgm:cxn modelId="{F7FE534F-EA2E-4EC0-AFA7-E22D2A5A398F}" srcId="{DB23F680-176A-4283-BDC5-CE8C48E802DA}" destId="{60B14ECD-32D5-4647-9360-877BBB50B17F}" srcOrd="1" destOrd="0" parTransId="{DE1ABFEA-686F-48D9-960E-D30380BA5D59}" sibTransId="{8D7849D6-FCFC-4411-9868-44CAE3D2E772}"/>
    <dgm:cxn modelId="{331C7584-213B-424D-AD1D-EAC47EF7F6A7}" srcId="{DB23F680-176A-4283-BDC5-CE8C48E802DA}" destId="{3E2BF113-8B5B-47E8-B8E7-E37912B7E426}" srcOrd="2" destOrd="0" parTransId="{5AA22D00-DD30-491D-BD88-6D303C5A236B}" sibTransId="{76AD4935-8D7D-4F56-A3BF-B9AEE323B511}"/>
    <dgm:cxn modelId="{14E15F73-D569-46D1-8B61-8312B2DE351C}" type="presParOf" srcId="{E537D686-BA77-4F6B-8CC3-35B3DE6183D5}" destId="{82C8E270-039D-4236-BCBE-4F344815D06E}" srcOrd="0" destOrd="0" presId="urn:microsoft.com/office/officeart/2005/8/layout/vList2"/>
    <dgm:cxn modelId="{27C84BD1-5C2C-48CD-BB97-0953FB185D04}" type="presParOf" srcId="{E537D686-BA77-4F6B-8CC3-35B3DE6183D5}" destId="{D64399A6-4683-4C61-A1E1-F0A81C8B837D}" srcOrd="1" destOrd="0" presId="urn:microsoft.com/office/officeart/2005/8/layout/vList2"/>
    <dgm:cxn modelId="{FE507809-FEBF-4054-95AC-8D7452014AF7}" type="presParOf" srcId="{E537D686-BA77-4F6B-8CC3-35B3DE6183D5}" destId="{CA5538AD-998B-4398-AA2C-F47867B94253}" srcOrd="2" destOrd="0" presId="urn:microsoft.com/office/officeart/2005/8/layout/vList2"/>
    <dgm:cxn modelId="{F8C85C3B-517D-4911-A26B-B20AA0B220B3}" type="presParOf" srcId="{E537D686-BA77-4F6B-8CC3-35B3DE6183D5}" destId="{53064E3E-AC0B-4E88-9F0D-ED470219B78E}" srcOrd="3" destOrd="0" presId="urn:microsoft.com/office/officeart/2005/8/layout/vList2"/>
    <dgm:cxn modelId="{BFAE0F6D-F179-4284-9983-64964CBA9B86}" type="presParOf" srcId="{E537D686-BA77-4F6B-8CC3-35B3DE6183D5}" destId="{76A41E20-0558-4CC5-BA3D-3AB68DA5E1F5}"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EB1620-FAC6-4A5D-9219-D7086C47FA06}">
      <dsp:nvSpPr>
        <dsp:cNvPr id="0" name=""/>
        <dsp:cNvSpPr/>
      </dsp:nvSpPr>
      <dsp:spPr>
        <a:xfrm>
          <a:off x="0" y="351143"/>
          <a:ext cx="4697730" cy="236808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Begin by thinking about how to actually spend your time on a daily or weekly basis. List the activities on which you spend the most time each day (e.g., studying, working, socializing, gaming, etc). List 8+</a:t>
          </a:r>
        </a:p>
      </dsp:txBody>
      <dsp:txXfrm>
        <a:off x="115600" y="466743"/>
        <a:ext cx="4466530" cy="2136880"/>
      </dsp:txXfrm>
    </dsp:sp>
    <dsp:sp modelId="{EB00D7A2-DA16-4A7F-A09A-8A519B57513A}">
      <dsp:nvSpPr>
        <dsp:cNvPr id="0" name=""/>
        <dsp:cNvSpPr/>
      </dsp:nvSpPr>
      <dsp:spPr>
        <a:xfrm>
          <a:off x="0" y="2785464"/>
          <a:ext cx="4697730" cy="2368080"/>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List 2 major goals for the next 6 months, next year, next 5 years, next 20 years</a:t>
          </a:r>
        </a:p>
      </dsp:txBody>
      <dsp:txXfrm>
        <a:off x="115600" y="2901064"/>
        <a:ext cx="4466530" cy="2136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A9500-5D86-493B-804D-7FB464403774}">
      <dsp:nvSpPr>
        <dsp:cNvPr id="0" name=""/>
        <dsp:cNvSpPr/>
      </dsp:nvSpPr>
      <dsp:spPr>
        <a:xfrm>
          <a:off x="0" y="3304625"/>
          <a:ext cx="5278040" cy="216819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According to Seligman’s (2006) research, people habitually explain the causes of events along three dimensions: </a:t>
          </a:r>
        </a:p>
      </dsp:txBody>
      <dsp:txXfrm>
        <a:off x="0" y="3304625"/>
        <a:ext cx="5278040" cy="1170823"/>
      </dsp:txXfrm>
    </dsp:sp>
    <dsp:sp modelId="{FA064731-CE15-476F-99C2-EAE4FD318F18}">
      <dsp:nvSpPr>
        <dsp:cNvPr id="0" name=""/>
        <dsp:cNvSpPr/>
      </dsp:nvSpPr>
      <dsp:spPr>
        <a:xfrm>
          <a:off x="2577" y="4432085"/>
          <a:ext cx="1757628" cy="997368"/>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stable vs. temporary (aka permanence)</a:t>
          </a:r>
        </a:p>
      </dsp:txBody>
      <dsp:txXfrm>
        <a:off x="2577" y="4432085"/>
        <a:ext cx="1757628" cy="997368"/>
      </dsp:txXfrm>
    </dsp:sp>
    <dsp:sp modelId="{05860583-252C-421F-8A37-ABED8F056566}">
      <dsp:nvSpPr>
        <dsp:cNvPr id="0" name=""/>
        <dsp:cNvSpPr/>
      </dsp:nvSpPr>
      <dsp:spPr>
        <a:xfrm>
          <a:off x="1760206" y="4432085"/>
          <a:ext cx="1757628" cy="997368"/>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global vs. situation-specific (aka pervasiveness)</a:t>
          </a:r>
        </a:p>
      </dsp:txBody>
      <dsp:txXfrm>
        <a:off x="1760206" y="4432085"/>
        <a:ext cx="1757628" cy="997368"/>
      </dsp:txXfrm>
    </dsp:sp>
    <dsp:sp modelId="{E79A1F1E-1E2A-4D88-A43D-C56BF0BC82FA}">
      <dsp:nvSpPr>
        <dsp:cNvPr id="0" name=""/>
        <dsp:cNvSpPr/>
      </dsp:nvSpPr>
      <dsp:spPr>
        <a:xfrm>
          <a:off x="3517834" y="4432085"/>
          <a:ext cx="1757628" cy="997368"/>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internal vs. external (aka personalization)</a:t>
          </a:r>
        </a:p>
      </dsp:txBody>
      <dsp:txXfrm>
        <a:off x="3517834" y="4432085"/>
        <a:ext cx="1757628" cy="997368"/>
      </dsp:txXfrm>
    </dsp:sp>
    <dsp:sp modelId="{24923747-F17B-4BE6-8A59-0485EF2B5284}">
      <dsp:nvSpPr>
        <dsp:cNvPr id="0" name=""/>
        <dsp:cNvSpPr/>
      </dsp:nvSpPr>
      <dsp:spPr>
        <a:xfrm rot="10800000">
          <a:off x="0" y="2468"/>
          <a:ext cx="5278040" cy="3334679"/>
        </a:xfrm>
        <a:prstGeom prst="upArrowCallou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A different perspective on optimism, developed by Martin Seligman separately from dispositional optimism.</a:t>
          </a:r>
        </a:p>
      </dsp:txBody>
      <dsp:txXfrm rot="10800000">
        <a:off x="0" y="2468"/>
        <a:ext cx="5278040" cy="21667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1BEB56-649D-4B59-B483-BB6E8892D2E7}">
      <dsp:nvSpPr>
        <dsp:cNvPr id="0" name=""/>
        <dsp:cNvSpPr/>
      </dsp:nvSpPr>
      <dsp:spPr>
        <a:xfrm rot="5400000">
          <a:off x="2620509" y="-657460"/>
          <a:ext cx="1477200" cy="3161514"/>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“You are so lazy” makes child believe he is lazy and it is permanent and unchangeable</a:t>
          </a:r>
        </a:p>
      </dsp:txBody>
      <dsp:txXfrm rot="-5400000">
        <a:off x="1778353" y="256807"/>
        <a:ext cx="3089403" cy="1332978"/>
      </dsp:txXfrm>
    </dsp:sp>
    <dsp:sp modelId="{77D6C5B6-0649-4C3B-BE66-0307753AC70D}">
      <dsp:nvSpPr>
        <dsp:cNvPr id="0" name=""/>
        <dsp:cNvSpPr/>
      </dsp:nvSpPr>
      <dsp:spPr>
        <a:xfrm>
          <a:off x="0" y="46"/>
          <a:ext cx="1778352" cy="1846500"/>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Be accurate with blame when criticizing self (because of modeling) and child</a:t>
          </a:r>
        </a:p>
      </dsp:txBody>
      <dsp:txXfrm>
        <a:off x="86812" y="86858"/>
        <a:ext cx="1604728" cy="1672876"/>
      </dsp:txXfrm>
    </dsp:sp>
    <dsp:sp modelId="{FC2E9909-FF65-4CA8-8748-D8AAEDBC5889}">
      <dsp:nvSpPr>
        <dsp:cNvPr id="0" name=""/>
        <dsp:cNvSpPr/>
      </dsp:nvSpPr>
      <dsp:spPr>
        <a:xfrm rot="5400000">
          <a:off x="2620509" y="1281364"/>
          <a:ext cx="1477200" cy="3161514"/>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US" sz="1800" kern="1200"/>
            <a:t>When child is at fault, focus on specific and temporary personal causes, and avoid blaming the child’s character or ability</a:t>
          </a:r>
        </a:p>
      </dsp:txBody>
      <dsp:txXfrm rot="-5400000">
        <a:off x="1778353" y="2195632"/>
        <a:ext cx="3089403" cy="1332978"/>
      </dsp:txXfrm>
    </dsp:sp>
    <dsp:sp modelId="{8DB7F6AB-5D4D-49A7-8432-F9D73F7E4F23}">
      <dsp:nvSpPr>
        <dsp:cNvPr id="0" name=""/>
        <dsp:cNvSpPr/>
      </dsp:nvSpPr>
      <dsp:spPr>
        <a:xfrm>
          <a:off x="0" y="1938872"/>
          <a:ext cx="1778352" cy="1846500"/>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When appropriate, criticize with an optimistic explanatory style</a:t>
          </a:r>
        </a:p>
      </dsp:txBody>
      <dsp:txXfrm>
        <a:off x="86812" y="2025684"/>
        <a:ext cx="1604728" cy="167287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C8E270-039D-4236-BCBE-4F344815D06E}">
      <dsp:nvSpPr>
        <dsp:cNvPr id="0" name=""/>
        <dsp:cNvSpPr/>
      </dsp:nvSpPr>
      <dsp:spPr>
        <a:xfrm>
          <a:off x="0" y="100044"/>
          <a:ext cx="4939867" cy="115478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If someone falsely accuses us, we dispute with them, but when we have pessimistic thoughts, rarely do we dispute them.</a:t>
          </a:r>
        </a:p>
      </dsp:txBody>
      <dsp:txXfrm>
        <a:off x="56372" y="156416"/>
        <a:ext cx="4827123" cy="1042045"/>
      </dsp:txXfrm>
    </dsp:sp>
    <dsp:sp modelId="{CA5538AD-998B-4398-AA2C-F47867B94253}">
      <dsp:nvSpPr>
        <dsp:cNvPr id="0" name=""/>
        <dsp:cNvSpPr/>
      </dsp:nvSpPr>
      <dsp:spPr>
        <a:xfrm>
          <a:off x="0" y="1315314"/>
          <a:ext cx="4939867" cy="1154789"/>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First thing: recognize pessimistic thought</a:t>
          </a:r>
        </a:p>
      </dsp:txBody>
      <dsp:txXfrm>
        <a:off x="56372" y="1371686"/>
        <a:ext cx="4827123" cy="1042045"/>
      </dsp:txXfrm>
    </dsp:sp>
    <dsp:sp modelId="{76A41E20-0558-4CC5-BA3D-3AB68DA5E1F5}">
      <dsp:nvSpPr>
        <dsp:cNvPr id="0" name=""/>
        <dsp:cNvSpPr/>
      </dsp:nvSpPr>
      <dsp:spPr>
        <a:xfrm>
          <a:off x="0" y="2530584"/>
          <a:ext cx="4939867" cy="115478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Second: dispute with ABCDE model</a:t>
          </a:r>
        </a:p>
      </dsp:txBody>
      <dsp:txXfrm>
        <a:off x="56372" y="2586956"/>
        <a:ext cx="4827123" cy="104204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F72A1B-196A-4155-8397-EF46A3A2FFBA}" type="datetimeFigureOut">
              <a:rPr lang="en-US" smtClean="0"/>
              <a:t>5/31/2025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5B57E6-BB92-47A0-B1B1-ED183A0B4C65}" type="slidenum">
              <a:rPr lang="en-US" smtClean="0"/>
              <a:t>‹#›</a:t>
            </a:fld>
            <a:endParaRPr lang="en-US" dirty="0"/>
          </a:p>
        </p:txBody>
      </p:sp>
    </p:spTree>
    <p:extLst>
      <p:ext uri="{BB962C8B-B14F-4D97-AF65-F5344CB8AC3E}">
        <p14:creationId xmlns:p14="http://schemas.microsoft.com/office/powerpoint/2010/main" val="3551794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E69A6D-8697-4D2F-B6E0-21678FE988F9}" type="datetimeFigureOut">
              <a:rPr lang="en-US" smtClean="0"/>
              <a:t>5/31/2025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B5EBDA-FB43-46D3-ADD5-6E5F4CE48D99}" type="slidenum">
              <a:rPr lang="en-US" smtClean="0"/>
              <a:t>‹#›</a:t>
            </a:fld>
            <a:endParaRPr lang="en-US" dirty="0"/>
          </a:p>
        </p:txBody>
      </p:sp>
    </p:spTree>
    <p:extLst>
      <p:ext uri="{BB962C8B-B14F-4D97-AF65-F5344CB8AC3E}">
        <p14:creationId xmlns:p14="http://schemas.microsoft.com/office/powerpoint/2010/main" val="94137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10</a:t>
            </a:fld>
            <a:endParaRPr lang="en-US" dirty="0"/>
          </a:p>
        </p:txBody>
      </p:sp>
    </p:spTree>
    <p:extLst>
      <p:ext uri="{BB962C8B-B14F-4D97-AF65-F5344CB8AC3E}">
        <p14:creationId xmlns:p14="http://schemas.microsoft.com/office/powerpoint/2010/main" val="1475666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11</a:t>
            </a:fld>
            <a:endParaRPr lang="en-US" dirty="0"/>
          </a:p>
        </p:txBody>
      </p:sp>
    </p:spTree>
    <p:extLst>
      <p:ext uri="{BB962C8B-B14F-4D97-AF65-F5344CB8AC3E}">
        <p14:creationId xmlns:p14="http://schemas.microsoft.com/office/powerpoint/2010/main" val="3252940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14</a:t>
            </a:fld>
            <a:endParaRPr lang="en-US" dirty="0"/>
          </a:p>
        </p:txBody>
      </p:sp>
    </p:spTree>
    <p:extLst>
      <p:ext uri="{BB962C8B-B14F-4D97-AF65-F5344CB8AC3E}">
        <p14:creationId xmlns:p14="http://schemas.microsoft.com/office/powerpoint/2010/main" val="1265106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036438-DDFC-44CC-A913-176EBF7BCD03}" type="slidenum">
              <a:rPr lang="en-US"/>
              <a:pPr/>
              <a:t>17</a:t>
            </a:fld>
            <a:endParaRPr lang="en-US" dirty="0"/>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095334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734381"/>
            <a:ext cx="7886700" cy="2852737"/>
          </a:xfrm>
        </p:spPr>
        <p:txBody>
          <a:bodyPr anchor="ctr"/>
          <a:lstStyle>
            <a:lvl1pPr algn="ctr">
              <a:defRPr sz="6000"/>
            </a:lvl1pPr>
          </a:lstStyle>
          <a:p>
            <a:r>
              <a:rPr lang="en-US" dirty="0"/>
              <a:t>Click to edit Master title style</a:t>
            </a:r>
          </a:p>
        </p:txBody>
      </p:sp>
      <p:sp>
        <p:nvSpPr>
          <p:cNvPr id="3" name="Text Placeholder 2"/>
          <p:cNvSpPr>
            <a:spLocks noGrp="1"/>
          </p:cNvSpPr>
          <p:nvPr>
            <p:ph type="body" idx="1"/>
          </p:nvPr>
        </p:nvSpPr>
        <p:spPr>
          <a:xfrm>
            <a:off x="623888" y="3587118"/>
            <a:ext cx="7886700" cy="1500187"/>
          </a:xfrm>
        </p:spPr>
        <p:txBody>
          <a:bodyPr>
            <a:normAutofit/>
          </a:bodyPr>
          <a:lstStyle>
            <a:lvl1pPr marL="0" indent="0" algn="ctr">
              <a:buNone/>
              <a:defRPr sz="4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7" name="Footer Placeholder 6"/>
          <p:cNvSpPr>
            <a:spLocks noGrp="1"/>
          </p:cNvSpPr>
          <p:nvPr>
            <p:ph type="ftr" sz="quarter" idx="10"/>
          </p:nvPr>
        </p:nvSpPr>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416610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Title 6"/>
          <p:cNvSpPr>
            <a:spLocks noGrp="1"/>
          </p:cNvSpPr>
          <p:nvPr>
            <p:ph type="title"/>
          </p:nvPr>
        </p:nvSpPr>
        <p:spPr/>
        <p:txBody>
          <a:bodyPr/>
          <a:lstStyle/>
          <a:p>
            <a:r>
              <a:rPr lang="en-US" dirty="0"/>
              <a:t>Click to edit Master title style</a:t>
            </a:r>
          </a:p>
        </p:txBody>
      </p:sp>
      <p:sp>
        <p:nvSpPr>
          <p:cNvPr id="5" name="Footer Placeholder 4"/>
          <p:cNvSpPr>
            <a:spLocks noGrp="1"/>
          </p:cNvSpPr>
          <p:nvPr>
            <p:ph type="ftr" sz="quarter" idx="11"/>
          </p:nvPr>
        </p:nvSpPr>
        <p:spPr>
          <a:xfrm>
            <a:off x="2002155" y="6451713"/>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836078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2002155" y="6447131"/>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706566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bg>
      <p:bgPr>
        <a:solidFill>
          <a:schemeClr val="bg2"/>
        </a:solidFill>
        <a:effectLst/>
      </p:bgPr>
    </p:bg>
    <p:spTree>
      <p:nvGrpSpPr>
        <p:cNvPr id="1" name=""/>
        <p:cNvGrpSpPr/>
        <p:nvPr/>
      </p:nvGrpSpPr>
      <p:grpSpPr>
        <a:xfrm>
          <a:off x="0" y="0"/>
          <a:ext cx="0" cy="0"/>
          <a:chOff x="0" y="0"/>
          <a:chExt cx="0" cy="0"/>
        </a:xfrm>
      </p:grpSpPr>
      <p:sp>
        <p:nvSpPr>
          <p:cNvPr id="5" name="Straight Connector 19"/>
          <p:cNvSpPr>
            <a:spLocks noChangeShapeType="1"/>
          </p:cNvSpPr>
          <p:nvPr/>
        </p:nvSpPr>
        <p:spPr bwMode="auto">
          <a:xfrm flipV="1">
            <a:off x="4562475" y="1576388"/>
            <a:ext cx="9525" cy="4818062"/>
          </a:xfrm>
          <a:prstGeom prst="line">
            <a:avLst/>
          </a:prstGeom>
          <a:noFill/>
          <a:ln w="9525" algn="ctr">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Title 1"/>
          <p:cNvSpPr>
            <a:spLocks noGrp="1"/>
          </p:cNvSpPr>
          <p:nvPr>
            <p:ph type="title"/>
          </p:nvPr>
        </p:nvSpPr>
        <p:spPr>
          <a:xfrm>
            <a:off x="301752" y="228600"/>
            <a:ext cx="8534400" cy="758952"/>
          </a:xfrm>
        </p:spPr>
        <p:txBody>
          <a:bodyPr/>
          <a:lstStyle/>
          <a:p>
            <a:r>
              <a:rPr lang="en-US"/>
              <a:t>Click to edit Master title style</a:t>
            </a:r>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a:xfrm>
            <a:off x="5791200" y="6410325"/>
            <a:ext cx="3044825" cy="365125"/>
          </a:xfrm>
        </p:spPr>
        <p:txBody>
          <a:bodyPr/>
          <a:lstStyle>
            <a:lvl1pPr>
              <a:defRPr/>
            </a:lvl1pPr>
          </a:lstStyle>
          <a:p>
            <a:pPr>
              <a:defRPr/>
            </a:pPr>
            <a:endParaRPr lang="en-US" altLang="en-US"/>
          </a:p>
        </p:txBody>
      </p:sp>
      <p:sp>
        <p:nvSpPr>
          <p:cNvPr id="7" name="Footer Placeholder 5"/>
          <p:cNvSpPr>
            <a:spLocks noGrp="1"/>
          </p:cNvSpPr>
          <p:nvPr>
            <p:ph type="ftr" sz="quarter" idx="11"/>
          </p:nvPr>
        </p:nvSpPr>
        <p:spPr/>
        <p:txBody>
          <a:bodyPr/>
          <a:lstStyle>
            <a:lvl1pPr>
              <a:defRPr/>
            </a:lvl1pPr>
          </a:lstStyle>
          <a:p>
            <a:pPr>
              <a:defRPr/>
            </a:pPr>
            <a:r>
              <a:rPr lang="en-US" altLang="en-US"/>
              <a:t>Positive Psychology: The Scientific and Practical Explorations of Human Strengths © 2014 SAGE</a:t>
            </a:r>
          </a:p>
        </p:txBody>
      </p:sp>
      <p:sp>
        <p:nvSpPr>
          <p:cNvPr id="8" name="Slide Number Placeholder 6"/>
          <p:cNvSpPr>
            <a:spLocks noGrp="1"/>
          </p:cNvSpPr>
          <p:nvPr>
            <p:ph type="sldNum" sz="quarter" idx="12"/>
          </p:nvPr>
        </p:nvSpPr>
        <p:spPr/>
        <p:txBody>
          <a:bodyPr/>
          <a:lstStyle>
            <a:lvl1pPr>
              <a:defRPr/>
            </a:lvl1pPr>
          </a:lstStyle>
          <a:p>
            <a:pPr>
              <a:defRPr/>
            </a:pPr>
            <a:fld id="{205F55B0-80C6-4C28-AE10-C0A0D59295D0}" type="slidenum">
              <a:rPr lang="en-US" altLang="en-US"/>
              <a:pPr>
                <a:defRPr/>
              </a:pPr>
              <a:t>‹#›</a:t>
            </a:fld>
            <a:endParaRPr lang="en-US" altLang="en-US"/>
          </a:p>
        </p:txBody>
      </p:sp>
    </p:spTree>
    <p:extLst>
      <p:ext uri="{BB962C8B-B14F-4D97-AF65-F5344CB8AC3E}">
        <p14:creationId xmlns:p14="http://schemas.microsoft.com/office/powerpoint/2010/main" val="253619343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CCCCFF">
            <a:alpha val="42000"/>
          </a:srgbClr>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6" cstate="print">
            <a:extLst>
              <a:ext uri="{28A0092B-C50C-407E-A947-70E740481C1C}">
                <a14:useLocalDpi xmlns:a14="http://schemas.microsoft.com/office/drawing/2010/main" val="0"/>
              </a:ext>
            </a:extLst>
          </a:blip>
          <a:srcRect t="83837"/>
          <a:stretch/>
        </p:blipFill>
        <p:spPr>
          <a:xfrm>
            <a:off x="-12767" y="6322425"/>
            <a:ext cx="9156768" cy="535577"/>
          </a:xfrm>
          <a:prstGeom prst="rect">
            <a:avLst/>
          </a:prstGeom>
        </p:spPr>
      </p:pic>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002155" y="6451713"/>
            <a:ext cx="5139690" cy="276999"/>
          </a:xfrm>
          <a:prstGeom prst="rect">
            <a:avLst/>
          </a:prstGeom>
        </p:spPr>
        <p:txBody>
          <a:bodyPr vert="horz" lIns="91440" tIns="45720" rIns="91440" bIns="45720" rtlCol="0" anchor="ctr" anchorCtr="1">
            <a:spAutoFit/>
          </a:bodyPr>
          <a:lstStyle>
            <a:lvl1pPr algn="ctr">
              <a:defRPr sz="1200">
                <a:solidFill>
                  <a:schemeClr val="tx1">
                    <a:tint val="75000"/>
                  </a:schemeClr>
                </a:solidFill>
              </a:defRPr>
            </a:lvl1pPr>
          </a:lstStyle>
          <a:p>
            <a:r>
              <a:rPr lang="en-US" dirty="0"/>
              <a:t>The Science of Positive Psychology © Cambridge University Press 2021</a:t>
            </a:r>
          </a:p>
        </p:txBody>
      </p:sp>
      <p:pic>
        <p:nvPicPr>
          <p:cNvPr id="10" name="Picture 9"/>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9669" y="6403081"/>
            <a:ext cx="1932486" cy="400593"/>
          </a:xfrm>
          <a:prstGeom prst="rect">
            <a:avLst/>
          </a:prstGeom>
        </p:spPr>
      </p:pic>
    </p:spTree>
    <p:extLst>
      <p:ext uri="{BB962C8B-B14F-4D97-AF65-F5344CB8AC3E}">
        <p14:creationId xmlns:p14="http://schemas.microsoft.com/office/powerpoint/2010/main" val="3980212316"/>
      </p:ext>
    </p:extLst>
  </p:cSld>
  <p:clrMap bg1="lt1" tx1="dk1" bg2="lt2" tx2="dk2" accent1="accent1" accent2="accent2" accent3="accent3" accent4="accent4" accent5="accent5" accent6="accent6" hlink="hlink" folHlink="folHlink"/>
  <p:sldLayoutIdLst>
    <p:sldLayoutId id="2147483658" r:id="rId1"/>
    <p:sldLayoutId id="2147483656" r:id="rId2"/>
    <p:sldLayoutId id="2147483657" r:id="rId3"/>
    <p:sldLayoutId id="2147483659" r:id="rId4"/>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1.jpeg"/><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2.jpeg"/><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7BDE95F-650B-4D12-A3A5-975E461D2E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4393" y="5110423"/>
            <a:ext cx="8179546" cy="671540"/>
          </a:xfrm>
          <a:noFill/>
        </p:spPr>
        <p:txBody>
          <a:bodyPr vert="horz" lIns="91440" tIns="45720" rIns="91440" bIns="45720" rtlCol="0" anchor="ctr">
            <a:normAutofit/>
          </a:bodyPr>
          <a:lstStyle/>
          <a:p>
            <a:r>
              <a:rPr lang="en-US" sz="4200"/>
              <a:t>Chapter 7</a:t>
            </a:r>
          </a:p>
        </p:txBody>
      </p:sp>
      <p:sp>
        <p:nvSpPr>
          <p:cNvPr id="3" name="Text Placeholder 2"/>
          <p:cNvSpPr>
            <a:spLocks noGrp="1"/>
          </p:cNvSpPr>
          <p:nvPr>
            <p:ph type="body" idx="1"/>
          </p:nvPr>
        </p:nvSpPr>
        <p:spPr>
          <a:xfrm>
            <a:off x="484393" y="5855843"/>
            <a:ext cx="8179546" cy="458470"/>
          </a:xfrm>
          <a:noFill/>
        </p:spPr>
        <p:txBody>
          <a:bodyPr vert="horz" lIns="91440" tIns="45720" rIns="91440" bIns="45720" rtlCol="0">
            <a:normAutofit/>
          </a:bodyPr>
          <a:lstStyle/>
          <a:p>
            <a:r>
              <a:rPr lang="en-US" sz="2400"/>
              <a:t>Looking to the Future: Goals, Optimism, and Hope </a:t>
            </a:r>
          </a:p>
        </p:txBody>
      </p:sp>
      <p:sp>
        <p:nvSpPr>
          <p:cNvPr id="17" name="Rectangle 16">
            <a:extLst>
              <a:ext uri="{FF2B5EF4-FFF2-40B4-BE49-F238E27FC236}">
                <a16:creationId xmlns:a16="http://schemas.microsoft.com/office/drawing/2014/main" id="{71FC7D98-7B8B-402A-90FC-F027482F21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1" cy="4822479"/>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28">
            <a:extLst>
              <a:ext uri="{FF2B5EF4-FFF2-40B4-BE49-F238E27FC236}">
                <a16:creationId xmlns:a16="http://schemas.microsoft.com/office/drawing/2014/main" id="{AD7356EA-285B-4E5D-8FEC-104659A4F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3421" y="640091"/>
            <a:ext cx="6137157" cy="388111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1D97610E-9ED3-4C80-95B3-8D0A16EC7B04}"/>
              </a:ext>
            </a:extLst>
          </p:cNvPr>
          <p:cNvPicPr>
            <a:picLocks noChangeAspect="1"/>
          </p:cNvPicPr>
          <p:nvPr/>
        </p:nvPicPr>
        <p:blipFill rotWithShape="1">
          <a:blip r:embed="rId2"/>
          <a:srcRect l="3884" r="6491" b="-2"/>
          <a:stretch/>
        </p:blipFill>
        <p:spPr>
          <a:xfrm>
            <a:off x="1627521" y="804672"/>
            <a:ext cx="5888958" cy="3554676"/>
          </a:xfrm>
          <a:prstGeom prst="rect">
            <a:avLst/>
          </a:prstGeom>
          <a:effectLst/>
        </p:spPr>
      </p:pic>
      <p:sp>
        <p:nvSpPr>
          <p:cNvPr id="4" name="Footer Placeholder 3"/>
          <p:cNvSpPr>
            <a:spLocks noGrp="1"/>
          </p:cNvSpPr>
          <p:nvPr>
            <p:ph type="ftr" sz="quarter" idx="10"/>
          </p:nvPr>
        </p:nvSpPr>
        <p:spPr>
          <a:xfrm>
            <a:off x="3028950" y="6356350"/>
            <a:ext cx="3086100" cy="365125"/>
          </a:xfrm>
          <a:noFill/>
        </p:spPr>
        <p:txBody>
          <a:bodyPr vert="horz" lIns="91440" tIns="45720" rIns="91440" bIns="45720" rtlCol="0" anchor="ctr">
            <a:normAutofit/>
          </a:bodyPr>
          <a:lstStyle/>
          <a:p>
            <a:pPr defTabSz="914400">
              <a:lnSpc>
                <a:spcPct val="90000"/>
              </a:lnSpc>
              <a:spcAft>
                <a:spcPts val="600"/>
              </a:spcAft>
              <a:defRPr/>
            </a:pPr>
            <a:r>
              <a:rPr lang="en-US" sz="900" kern="1200">
                <a:solidFill>
                  <a:srgbClr val="898989"/>
                </a:solidFill>
                <a:latin typeface="Calibri" panose="020F0502020204030204"/>
                <a:ea typeface="+mn-ea"/>
                <a:cs typeface="+mn-cs"/>
              </a:rPr>
              <a:t>The Science and Application of Positive Psychology </a:t>
            </a:r>
            <a:br>
              <a:rPr lang="en-US" sz="900" kern="1200">
                <a:solidFill>
                  <a:srgbClr val="898989"/>
                </a:solidFill>
                <a:latin typeface="Calibri" panose="020F0502020204030204"/>
                <a:ea typeface="+mn-ea"/>
                <a:cs typeface="+mn-cs"/>
              </a:rPr>
            </a:br>
            <a:r>
              <a:rPr lang="en-US" sz="900" kern="1200">
                <a:solidFill>
                  <a:srgbClr val="898989"/>
                </a:solidFill>
                <a:latin typeface="Calibri" panose="020F0502020204030204"/>
                <a:ea typeface="+mn-ea"/>
                <a:cs typeface="+mn-cs"/>
              </a:rPr>
              <a:t>© Cambridge University Press 2021</a:t>
            </a:r>
          </a:p>
        </p:txBody>
      </p:sp>
    </p:spTree>
    <p:extLst>
      <p:ext uri="{BB962C8B-B14F-4D97-AF65-F5344CB8AC3E}">
        <p14:creationId xmlns:p14="http://schemas.microsoft.com/office/powerpoint/2010/main" val="4177224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EA7FA8-6652-4CC5-90F4-3D48CAC0C2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dirty="0"/>
              <a:t>What are positive expectancies?</a:t>
            </a:r>
          </a:p>
        </p:txBody>
      </p:sp>
      <p:sp>
        <p:nvSpPr>
          <p:cNvPr id="3" name="Content Placeholder 2"/>
          <p:cNvSpPr>
            <a:spLocks noGrp="1"/>
          </p:cNvSpPr>
          <p:nvPr>
            <p:ph idx="1"/>
          </p:nvPr>
        </p:nvSpPr>
        <p:spPr>
          <a:xfrm>
            <a:off x="628650" y="2013625"/>
            <a:ext cx="3951976" cy="4163337"/>
          </a:xfrm>
        </p:spPr>
        <p:txBody>
          <a:bodyPr>
            <a:normAutofit/>
          </a:bodyPr>
          <a:lstStyle/>
          <a:p>
            <a:r>
              <a:rPr lang="en-US" dirty="0">
                <a:solidFill>
                  <a:schemeClr val="accent5"/>
                </a:solidFill>
              </a:rPr>
              <a:t>Positive expectancies: </a:t>
            </a:r>
            <a:r>
              <a:rPr lang="en-US" dirty="0"/>
              <a:t>Beliefs that the future is likely to be positive.</a:t>
            </a:r>
          </a:p>
          <a:p>
            <a:r>
              <a:rPr lang="en-US" dirty="0"/>
              <a:t>Major types covered in the chapter:</a:t>
            </a:r>
          </a:p>
          <a:p>
            <a:pPr lvl="1"/>
            <a:r>
              <a:rPr lang="en-US" sz="2800" dirty="0"/>
              <a:t>Optimism</a:t>
            </a:r>
          </a:p>
          <a:p>
            <a:pPr lvl="1"/>
            <a:r>
              <a:rPr lang="en-US" sz="2800" dirty="0"/>
              <a:t>Hope</a:t>
            </a:r>
          </a:p>
          <a:p>
            <a:r>
              <a:rPr lang="en-US" dirty="0"/>
              <a:t>Both concern the attainment of goals.</a:t>
            </a:r>
          </a:p>
        </p:txBody>
      </p:sp>
      <p:pic>
        <p:nvPicPr>
          <p:cNvPr id="5" name="Picture 4" descr="A close-up of some measuring tape&#10;&#10;Description automatically generated with low confidence"/>
          <p:cNvPicPr>
            <a:picLocks noChangeAspect="1"/>
          </p:cNvPicPr>
          <p:nvPr/>
        </p:nvPicPr>
        <p:blipFill rotWithShape="1">
          <a:blip r:embed="rId2"/>
          <a:srcRect l="16318" r="21048" b="-3"/>
          <a:stretch/>
        </p:blipFill>
        <p:spPr>
          <a:xfrm>
            <a:off x="4930471" y="2013626"/>
            <a:ext cx="3366536" cy="3576825"/>
          </a:xfrm>
          <a:custGeom>
            <a:avLst/>
            <a:gdLst/>
            <a:ahLst/>
            <a:cxnLst/>
            <a:rect l="l" t="t" r="r" b="b"/>
            <a:pathLst>
              <a:path w="4488714" h="3576825">
                <a:moveTo>
                  <a:pt x="713492" y="15"/>
                </a:moveTo>
                <a:cubicBezTo>
                  <a:pt x="723739" y="278"/>
                  <a:pt x="734339" y="3967"/>
                  <a:pt x="743942" y="5139"/>
                </a:cubicBezTo>
                <a:cubicBezTo>
                  <a:pt x="955929" y="31374"/>
                  <a:pt x="1167914" y="59717"/>
                  <a:pt x="1380134" y="84780"/>
                </a:cubicBezTo>
                <a:cubicBezTo>
                  <a:pt x="1578535" y="108204"/>
                  <a:pt x="1778340" y="113591"/>
                  <a:pt x="1977677" y="125771"/>
                </a:cubicBezTo>
                <a:cubicBezTo>
                  <a:pt x="2218942" y="140529"/>
                  <a:pt x="2459740" y="161377"/>
                  <a:pt x="2699600" y="194169"/>
                </a:cubicBezTo>
                <a:cubicBezTo>
                  <a:pt x="2866144" y="217126"/>
                  <a:pt x="3034328" y="233053"/>
                  <a:pt x="3203214" y="214783"/>
                </a:cubicBezTo>
                <a:cubicBezTo>
                  <a:pt x="3211646" y="213845"/>
                  <a:pt x="3221250" y="210801"/>
                  <a:pt x="3228277" y="213845"/>
                </a:cubicBezTo>
                <a:cubicBezTo>
                  <a:pt x="3310262" y="248045"/>
                  <a:pt x="3399740" y="223449"/>
                  <a:pt x="3484768" y="244999"/>
                </a:cubicBezTo>
                <a:cubicBezTo>
                  <a:pt x="3462984" y="328154"/>
                  <a:pt x="3369523" y="321361"/>
                  <a:pt x="3316820" y="378984"/>
                </a:cubicBezTo>
                <a:cubicBezTo>
                  <a:pt x="3402785" y="401939"/>
                  <a:pt x="3480084" y="425129"/>
                  <a:pt x="3558554" y="442462"/>
                </a:cubicBezTo>
                <a:cubicBezTo>
                  <a:pt x="3641709" y="460733"/>
                  <a:pt x="3712214" y="510158"/>
                  <a:pt x="3793494" y="532176"/>
                </a:cubicBezTo>
                <a:cubicBezTo>
                  <a:pt x="3810829" y="536861"/>
                  <a:pt x="3831676" y="553257"/>
                  <a:pt x="3837766" y="569186"/>
                </a:cubicBezTo>
                <a:cubicBezTo>
                  <a:pt x="3857442" y="620719"/>
                  <a:pt x="4250260" y="765244"/>
                  <a:pt x="4203881" y="811154"/>
                </a:cubicBezTo>
                <a:cubicBezTo>
                  <a:pt x="4184673" y="830128"/>
                  <a:pt x="4159844" y="843714"/>
                  <a:pt x="4133843" y="862453"/>
                </a:cubicBezTo>
                <a:cubicBezTo>
                  <a:pt x="4172962" y="897823"/>
                  <a:pt x="4216998" y="913283"/>
                  <a:pt x="4263846" y="923823"/>
                </a:cubicBezTo>
                <a:cubicBezTo>
                  <a:pt x="4277901" y="927103"/>
                  <a:pt x="4291721" y="933661"/>
                  <a:pt x="4293126" y="949590"/>
                </a:cubicBezTo>
                <a:cubicBezTo>
                  <a:pt x="4294531" y="966220"/>
                  <a:pt x="4280242" y="972778"/>
                  <a:pt x="4268297" y="980509"/>
                </a:cubicBezTo>
                <a:cubicBezTo>
                  <a:pt x="4251666" y="991283"/>
                  <a:pt x="4235503" y="1000654"/>
                  <a:pt x="4214422" y="1002059"/>
                </a:cubicBezTo>
                <a:cubicBezTo>
                  <a:pt x="4179754" y="1004167"/>
                  <a:pt x="4163124" y="1034149"/>
                  <a:pt x="4142980" y="1056636"/>
                </a:cubicBezTo>
                <a:cubicBezTo>
                  <a:pt x="4131736" y="1069286"/>
                  <a:pt x="4126114" y="1094817"/>
                  <a:pt x="4145790" y="1099268"/>
                </a:cubicBezTo>
                <a:cubicBezTo>
                  <a:pt x="4193106" y="1110043"/>
                  <a:pt x="4189358" y="1141197"/>
                  <a:pt x="4188188" y="1176567"/>
                </a:cubicBezTo>
                <a:cubicBezTo>
                  <a:pt x="4186548" y="1220370"/>
                  <a:pt x="4158673" y="1240514"/>
                  <a:pt x="4124474" y="1257380"/>
                </a:cubicBezTo>
                <a:cubicBezTo>
                  <a:pt x="4112762" y="1263235"/>
                  <a:pt x="4096132" y="1263000"/>
                  <a:pt x="4091680" y="1281271"/>
                </a:cubicBezTo>
                <a:cubicBezTo>
                  <a:pt x="4110888" y="1298606"/>
                  <a:pt x="4134312" y="1284551"/>
                  <a:pt x="4154926" y="1289469"/>
                </a:cubicBezTo>
                <a:cubicBezTo>
                  <a:pt x="4172025" y="1293452"/>
                  <a:pt x="4200368" y="1291344"/>
                  <a:pt x="4176944" y="1323200"/>
                </a:cubicBezTo>
                <a:cubicBezTo>
                  <a:pt x="4170150" y="1332335"/>
                  <a:pt x="4178114" y="1339363"/>
                  <a:pt x="4186782" y="1340066"/>
                </a:cubicBezTo>
                <a:cubicBezTo>
                  <a:pt x="4256117" y="1347327"/>
                  <a:pt x="4224260" y="1411743"/>
                  <a:pt x="4246513" y="1445708"/>
                </a:cubicBezTo>
                <a:cubicBezTo>
                  <a:pt x="4252602" y="1455076"/>
                  <a:pt x="4246044" y="1471239"/>
                  <a:pt x="4236440" y="1475221"/>
                </a:cubicBezTo>
                <a:cubicBezTo>
                  <a:pt x="4175069" y="1501456"/>
                  <a:pt x="4166637" y="1563998"/>
                  <a:pt x="4136888" y="1617873"/>
                </a:cubicBezTo>
                <a:cubicBezTo>
                  <a:pt x="4169214" y="1639188"/>
                  <a:pt x="4207863" y="1643873"/>
                  <a:pt x="4242764" y="1657693"/>
                </a:cubicBezTo>
                <a:cubicBezTo>
                  <a:pt x="4279072" y="1672216"/>
                  <a:pt x="4279072" y="1682991"/>
                  <a:pt x="4249089" y="1725153"/>
                </a:cubicBezTo>
                <a:cubicBezTo>
                  <a:pt x="4327090" y="1734290"/>
                  <a:pt x="4327090" y="1734290"/>
                  <a:pt x="4302964" y="1800579"/>
                </a:cubicBezTo>
                <a:cubicBezTo>
                  <a:pt x="4368318" y="1806669"/>
                  <a:pt x="4411417" y="1838057"/>
                  <a:pt x="4421488" y="1906689"/>
                </a:cubicBezTo>
                <a:cubicBezTo>
                  <a:pt x="4426408" y="1939951"/>
                  <a:pt x="4455922" y="1955644"/>
                  <a:pt x="4488714" y="1977897"/>
                </a:cubicBezTo>
                <a:cubicBezTo>
                  <a:pt x="4447958" y="1999448"/>
                  <a:pt x="4420318" y="2044421"/>
                  <a:pt x="4372767" y="1996870"/>
                </a:cubicBezTo>
                <a:cubicBezTo>
                  <a:pt x="4355434" y="1979537"/>
                  <a:pt x="4357072" y="2001555"/>
                  <a:pt x="4354731" y="2007880"/>
                </a:cubicBezTo>
                <a:cubicBezTo>
                  <a:pt x="4349110" y="2023339"/>
                  <a:pt x="4360820" y="2033646"/>
                  <a:pt x="4368551" y="2045357"/>
                </a:cubicBezTo>
                <a:cubicBezTo>
                  <a:pt x="4376046" y="2057070"/>
                  <a:pt x="4384948" y="2069484"/>
                  <a:pt x="4387056" y="2082603"/>
                </a:cubicBezTo>
                <a:cubicBezTo>
                  <a:pt x="4388460" y="2091738"/>
                  <a:pt x="4381668" y="2105088"/>
                  <a:pt x="4374173" y="2111882"/>
                </a:cubicBezTo>
                <a:cubicBezTo>
                  <a:pt x="4334820" y="2147720"/>
                  <a:pt x="4358244" y="2228299"/>
                  <a:pt x="4283756" y="2238606"/>
                </a:cubicBezTo>
                <a:cubicBezTo>
                  <a:pt x="4250260" y="2243289"/>
                  <a:pt x="4234098" y="2272804"/>
                  <a:pt x="4209503" y="2288966"/>
                </a:cubicBezTo>
                <a:cubicBezTo>
                  <a:pt x="4124006" y="2345418"/>
                  <a:pt x="4066851" y="2418032"/>
                  <a:pt x="4040383" y="2517817"/>
                </a:cubicBezTo>
                <a:cubicBezTo>
                  <a:pt x="4033122" y="2545457"/>
                  <a:pt x="4005246" y="2567711"/>
                  <a:pt x="3987210" y="2592071"/>
                </a:cubicBezTo>
                <a:cubicBezTo>
                  <a:pt x="3995878" y="2609873"/>
                  <a:pt x="4043193" y="2571458"/>
                  <a:pt x="4026563" y="2618305"/>
                </a:cubicBezTo>
                <a:cubicBezTo>
                  <a:pt x="4013914" y="2653442"/>
                  <a:pt x="3981588" y="2675226"/>
                  <a:pt x="3951137" y="2696074"/>
                </a:cubicBezTo>
                <a:cubicBezTo>
                  <a:pt x="3916470" y="2719731"/>
                  <a:pt x="3878055" y="2738704"/>
                  <a:pt x="3862360" y="2782506"/>
                </a:cubicBezTo>
                <a:cubicBezTo>
                  <a:pt x="3859081" y="2791877"/>
                  <a:pt x="3848540" y="2801714"/>
                  <a:pt x="3839172" y="2805463"/>
                </a:cubicBezTo>
                <a:cubicBezTo>
                  <a:pt x="3350549" y="3576343"/>
                  <a:pt x="2147734" y="3581495"/>
                  <a:pt x="2009066" y="3576107"/>
                </a:cubicBezTo>
                <a:cubicBezTo>
                  <a:pt x="1841116" y="3569315"/>
                  <a:pt x="1682302" y="3521764"/>
                  <a:pt x="1526534" y="3462502"/>
                </a:cubicBezTo>
                <a:cubicBezTo>
                  <a:pt x="1460712" y="3437439"/>
                  <a:pt x="1399577" y="3401835"/>
                  <a:pt x="1335628" y="3374195"/>
                </a:cubicBezTo>
                <a:cubicBezTo>
                  <a:pt x="1247321" y="3336013"/>
                  <a:pt x="1179158" y="3263165"/>
                  <a:pt x="1091084" y="3232479"/>
                </a:cubicBezTo>
                <a:cubicBezTo>
                  <a:pt x="1000434" y="3200857"/>
                  <a:pt x="922901" y="3143000"/>
                  <a:pt x="829673" y="3118405"/>
                </a:cubicBezTo>
                <a:cubicBezTo>
                  <a:pt x="780484" y="3105288"/>
                  <a:pt x="732933" y="3081631"/>
                  <a:pt x="740662" y="3013935"/>
                </a:cubicBezTo>
                <a:cubicBezTo>
                  <a:pt x="742771" y="2994727"/>
                  <a:pt x="729888" y="2979034"/>
                  <a:pt x="709509" y="2984656"/>
                </a:cubicBezTo>
                <a:cubicBezTo>
                  <a:pt x="670626" y="2995196"/>
                  <a:pt x="653058" y="2967321"/>
                  <a:pt x="631507" y="2946474"/>
                </a:cubicBezTo>
                <a:cubicBezTo>
                  <a:pt x="593093" y="2909465"/>
                  <a:pt x="556552" y="2870113"/>
                  <a:pt x="495415" y="2864022"/>
                </a:cubicBezTo>
                <a:cubicBezTo>
                  <a:pt x="507126" y="2834976"/>
                  <a:pt x="527037" y="2839193"/>
                  <a:pt x="545308" y="2845283"/>
                </a:cubicBezTo>
                <a:cubicBezTo>
                  <a:pt x="593327" y="2861212"/>
                  <a:pt x="640877" y="2879248"/>
                  <a:pt x="688896" y="2895176"/>
                </a:cubicBezTo>
                <a:cubicBezTo>
                  <a:pt x="720284" y="2905483"/>
                  <a:pt x="751438" y="2920006"/>
                  <a:pt x="793367" y="2908527"/>
                </a:cubicBezTo>
                <a:cubicBezTo>
                  <a:pt x="757294" y="2849968"/>
                  <a:pt x="695923" y="2839427"/>
                  <a:pt x="646265" y="2821391"/>
                </a:cubicBezTo>
                <a:cubicBezTo>
                  <a:pt x="584192" y="2798670"/>
                  <a:pt x="547651" y="2755803"/>
                  <a:pt x="503847" y="2708019"/>
                </a:cubicBezTo>
                <a:cubicBezTo>
                  <a:pt x="549524" y="2696541"/>
                  <a:pt x="577867" y="2731678"/>
                  <a:pt x="613705" y="2729803"/>
                </a:cubicBezTo>
                <a:cubicBezTo>
                  <a:pt x="615580" y="2723714"/>
                  <a:pt x="618859" y="2714813"/>
                  <a:pt x="618390" y="2714577"/>
                </a:cubicBezTo>
                <a:cubicBezTo>
                  <a:pt x="559831" y="2688343"/>
                  <a:pt x="532425" y="2639153"/>
                  <a:pt x="523289" y="2579656"/>
                </a:cubicBezTo>
                <a:cubicBezTo>
                  <a:pt x="518605" y="2548972"/>
                  <a:pt x="497289" y="2539368"/>
                  <a:pt x="476207" y="2525313"/>
                </a:cubicBezTo>
                <a:cubicBezTo>
                  <a:pt x="402656" y="2475421"/>
                  <a:pt x="324889" y="2430213"/>
                  <a:pt x="264455" y="2361581"/>
                </a:cubicBezTo>
                <a:cubicBezTo>
                  <a:pt x="334259" y="2370716"/>
                  <a:pt x="390242" y="2415455"/>
                  <a:pt x="465433" y="2434663"/>
                </a:cubicBezTo>
                <a:cubicBezTo>
                  <a:pt x="405702" y="2359238"/>
                  <a:pt x="328402" y="2321058"/>
                  <a:pt x="257897" y="2275380"/>
                </a:cubicBezTo>
                <a:cubicBezTo>
                  <a:pt x="225806" y="2254533"/>
                  <a:pt x="196059" y="2227830"/>
                  <a:pt x="157174" y="2216586"/>
                </a:cubicBezTo>
                <a:cubicBezTo>
                  <a:pt x="143354" y="2212604"/>
                  <a:pt x="120633" y="2204172"/>
                  <a:pt x="131643" y="2181919"/>
                </a:cubicBezTo>
                <a:cubicBezTo>
                  <a:pt x="141011" y="2163415"/>
                  <a:pt x="159516" y="2169035"/>
                  <a:pt x="176382" y="2174423"/>
                </a:cubicBezTo>
                <a:cubicBezTo>
                  <a:pt x="216905" y="2187776"/>
                  <a:pt x="258834" y="2188009"/>
                  <a:pt x="313646" y="2187776"/>
                </a:cubicBezTo>
                <a:cubicBezTo>
                  <a:pt x="267735" y="2126639"/>
                  <a:pt x="183643" y="2144910"/>
                  <a:pt x="144292" y="2080728"/>
                </a:cubicBezTo>
                <a:cubicBezTo>
                  <a:pt x="193481" y="2069484"/>
                  <a:pt x="231428" y="2092674"/>
                  <a:pt x="271249" y="2097124"/>
                </a:cubicBezTo>
                <a:cubicBezTo>
                  <a:pt x="307321" y="2101106"/>
                  <a:pt x="316222" y="2090332"/>
                  <a:pt x="307790" y="2054961"/>
                </a:cubicBezTo>
                <a:cubicBezTo>
                  <a:pt x="294673" y="1999915"/>
                  <a:pt x="314349" y="1971806"/>
                  <a:pt x="366818" y="1986798"/>
                </a:cubicBezTo>
                <a:cubicBezTo>
                  <a:pt x="415539" y="2000852"/>
                  <a:pt x="420692" y="1980240"/>
                  <a:pt x="407575" y="1948852"/>
                </a:cubicBezTo>
                <a:cubicBezTo>
                  <a:pt x="388836" y="1903176"/>
                  <a:pt x="410151" y="1867805"/>
                  <a:pt x="424674" y="1829390"/>
                </a:cubicBezTo>
                <a:cubicBezTo>
                  <a:pt x="446928" y="1770831"/>
                  <a:pt x="437558" y="1742253"/>
                  <a:pt x="389539" y="1698685"/>
                </a:cubicBezTo>
                <a:cubicBezTo>
                  <a:pt x="362602" y="1674323"/>
                  <a:pt x="333557" y="1653711"/>
                  <a:pt x="294438" y="1632630"/>
                </a:cubicBezTo>
                <a:cubicBezTo>
                  <a:pt x="384620" y="1621152"/>
                  <a:pt x="289988" y="1582503"/>
                  <a:pt x="321844" y="1558376"/>
                </a:cubicBezTo>
                <a:cubicBezTo>
                  <a:pt x="385557" y="1548538"/>
                  <a:pt x="437558" y="1625368"/>
                  <a:pt x="524227" y="1603350"/>
                </a:cubicBezTo>
                <a:cubicBezTo>
                  <a:pt x="417179" y="1536825"/>
                  <a:pt x="298889" y="1515041"/>
                  <a:pt x="221356" y="1426500"/>
                </a:cubicBezTo>
                <a:cubicBezTo>
                  <a:pt x="239158" y="1406355"/>
                  <a:pt x="256960" y="1425094"/>
                  <a:pt x="272186" y="1417599"/>
                </a:cubicBezTo>
                <a:cubicBezTo>
                  <a:pt x="271717" y="1412914"/>
                  <a:pt x="272889" y="1405886"/>
                  <a:pt x="270077" y="1403779"/>
                </a:cubicBezTo>
                <a:cubicBezTo>
                  <a:pt x="212221" y="1355525"/>
                  <a:pt x="211283" y="1354355"/>
                  <a:pt x="273356" y="1318749"/>
                </a:cubicBezTo>
                <a:cubicBezTo>
                  <a:pt x="295141" y="1306335"/>
                  <a:pt x="293267" y="1295325"/>
                  <a:pt x="281790" y="1279632"/>
                </a:cubicBezTo>
                <a:cubicBezTo>
                  <a:pt x="273590" y="1268622"/>
                  <a:pt x="263753" y="1258784"/>
                  <a:pt x="268438" y="1234657"/>
                </a:cubicBezTo>
                <a:cubicBezTo>
                  <a:pt x="302402" y="1265578"/>
                  <a:pt x="466603" y="1255505"/>
                  <a:pt x="495649" y="1252226"/>
                </a:cubicBezTo>
                <a:cubicBezTo>
                  <a:pt x="528208" y="1248713"/>
                  <a:pt x="560299" y="1233721"/>
                  <a:pt x="594497" y="1241919"/>
                </a:cubicBezTo>
                <a:cubicBezTo>
                  <a:pt x="621903" y="1248479"/>
                  <a:pt x="748860" y="1311957"/>
                  <a:pt x="766898" y="1239109"/>
                </a:cubicBezTo>
                <a:cubicBezTo>
                  <a:pt x="767835" y="1235595"/>
                  <a:pt x="819132" y="1243794"/>
                  <a:pt x="846773" y="1247776"/>
                </a:cubicBezTo>
                <a:cubicBezTo>
                  <a:pt x="871134" y="1251055"/>
                  <a:pt x="898540" y="1265578"/>
                  <a:pt x="914936" y="1236532"/>
                </a:cubicBezTo>
                <a:cubicBezTo>
                  <a:pt x="924540" y="1219433"/>
                  <a:pt x="884954" y="1186405"/>
                  <a:pt x="849584" y="1183594"/>
                </a:cubicBezTo>
                <a:cubicBezTo>
                  <a:pt x="818898" y="1181017"/>
                  <a:pt x="786807" y="1177269"/>
                  <a:pt x="757528" y="1184296"/>
                </a:cubicBezTo>
                <a:cubicBezTo>
                  <a:pt x="721456" y="1192730"/>
                  <a:pt x="702014" y="1179144"/>
                  <a:pt x="691941" y="1149864"/>
                </a:cubicBezTo>
                <a:cubicBezTo>
                  <a:pt x="680698" y="1117539"/>
                  <a:pt x="659147" y="1102547"/>
                  <a:pt x="629400" y="1087555"/>
                </a:cubicBezTo>
                <a:cubicBezTo>
                  <a:pt x="557253" y="1051250"/>
                  <a:pt x="487920" y="1009321"/>
                  <a:pt x="408747" y="988239"/>
                </a:cubicBezTo>
                <a:cubicBezTo>
                  <a:pt x="393052" y="984022"/>
                  <a:pt x="375719" y="978400"/>
                  <a:pt x="368458" y="950527"/>
                </a:cubicBezTo>
                <a:cubicBezTo>
                  <a:pt x="582786" y="992220"/>
                  <a:pt x="778141" y="1100908"/>
                  <a:pt x="999262" y="1094583"/>
                </a:cubicBezTo>
                <a:cubicBezTo>
                  <a:pt x="938829" y="1060149"/>
                  <a:pt x="868792" y="1058276"/>
                  <a:pt x="804376" y="1034149"/>
                </a:cubicBezTo>
                <a:cubicBezTo>
                  <a:pt x="850053" y="1016113"/>
                  <a:pt x="892918" y="1034852"/>
                  <a:pt x="936252" y="1045159"/>
                </a:cubicBezTo>
                <a:cubicBezTo>
                  <a:pt x="972559" y="1053591"/>
                  <a:pt x="1005353" y="1054997"/>
                  <a:pt x="1009335" y="1004636"/>
                </a:cubicBezTo>
                <a:cubicBezTo>
                  <a:pt x="1007929" y="1001356"/>
                  <a:pt x="1008163" y="997141"/>
                  <a:pt x="1008398" y="993158"/>
                </a:cubicBezTo>
                <a:cubicBezTo>
                  <a:pt x="996216" y="972311"/>
                  <a:pt x="977244" y="961536"/>
                  <a:pt x="954757" y="955445"/>
                </a:cubicBezTo>
                <a:cubicBezTo>
                  <a:pt x="941171" y="951697"/>
                  <a:pt x="923135" y="946075"/>
                  <a:pt x="923368" y="931085"/>
                </a:cubicBezTo>
                <a:cubicBezTo>
                  <a:pt x="924071" y="875570"/>
                  <a:pt x="880738" y="859407"/>
                  <a:pt x="837403" y="843245"/>
                </a:cubicBezTo>
                <a:cubicBezTo>
                  <a:pt x="861530" y="815605"/>
                  <a:pt x="880503" y="835983"/>
                  <a:pt x="898774" y="833876"/>
                </a:cubicBezTo>
                <a:cubicBezTo>
                  <a:pt x="910720" y="832470"/>
                  <a:pt x="921495" y="829894"/>
                  <a:pt x="921495" y="815605"/>
                </a:cubicBezTo>
                <a:cubicBezTo>
                  <a:pt x="921729" y="803658"/>
                  <a:pt x="916107" y="790072"/>
                  <a:pt x="904396" y="789839"/>
                </a:cubicBezTo>
                <a:cubicBezTo>
                  <a:pt x="831079" y="787730"/>
                  <a:pt x="790556" y="710900"/>
                  <a:pt x="714428" y="710666"/>
                </a:cubicBezTo>
                <a:cubicBezTo>
                  <a:pt x="668986" y="710666"/>
                  <a:pt x="738086" y="667332"/>
                  <a:pt x="699672" y="649295"/>
                </a:cubicBezTo>
                <a:cubicBezTo>
                  <a:pt x="691238" y="645313"/>
                  <a:pt x="721690" y="639224"/>
                  <a:pt x="735276" y="640160"/>
                </a:cubicBezTo>
                <a:cubicBezTo>
                  <a:pt x="748627" y="641097"/>
                  <a:pt x="760573" y="652574"/>
                  <a:pt x="776736" y="644376"/>
                </a:cubicBezTo>
                <a:cubicBezTo>
                  <a:pt x="785637" y="615097"/>
                  <a:pt x="762682" y="604322"/>
                  <a:pt x="743708" y="596123"/>
                </a:cubicBezTo>
                <a:cubicBezTo>
                  <a:pt x="699905" y="577150"/>
                  <a:pt x="657274" y="554195"/>
                  <a:pt x="609255" y="547401"/>
                </a:cubicBezTo>
                <a:cubicBezTo>
                  <a:pt x="592156" y="545059"/>
                  <a:pt x="633850" y="513671"/>
                  <a:pt x="642048" y="502662"/>
                </a:cubicBezTo>
                <a:cubicBezTo>
                  <a:pt x="448801" y="386949"/>
                  <a:pt x="216437" y="392804"/>
                  <a:pt x="0" y="299342"/>
                </a:cubicBezTo>
                <a:cubicBezTo>
                  <a:pt x="47785" y="281073"/>
                  <a:pt x="82921" y="294424"/>
                  <a:pt x="115480" y="297235"/>
                </a:cubicBezTo>
                <a:cubicBezTo>
                  <a:pt x="196760" y="304261"/>
                  <a:pt x="277105" y="318784"/>
                  <a:pt x="358151" y="327451"/>
                </a:cubicBezTo>
                <a:cubicBezTo>
                  <a:pt x="397971" y="331667"/>
                  <a:pt x="434981" y="347596"/>
                  <a:pt x="479486" y="322299"/>
                </a:cubicBezTo>
                <a:cubicBezTo>
                  <a:pt x="509235" y="305433"/>
                  <a:pt x="556786" y="323703"/>
                  <a:pt x="593327" y="338695"/>
                </a:cubicBezTo>
                <a:cubicBezTo>
                  <a:pt x="623543" y="351109"/>
                  <a:pt x="652355" y="354388"/>
                  <a:pt x="692410" y="338695"/>
                </a:cubicBezTo>
                <a:cubicBezTo>
                  <a:pt x="656103" y="329091"/>
                  <a:pt x="628228" y="320659"/>
                  <a:pt x="599651" y="314802"/>
                </a:cubicBezTo>
                <a:cubicBezTo>
                  <a:pt x="576930" y="310118"/>
                  <a:pt x="631040" y="291144"/>
                  <a:pt x="658679" y="293487"/>
                </a:cubicBezTo>
                <a:cubicBezTo>
                  <a:pt x="697329" y="296766"/>
                  <a:pt x="675545" y="284586"/>
                  <a:pt x="668986" y="267720"/>
                </a:cubicBezTo>
                <a:cubicBezTo>
                  <a:pt x="661959" y="249684"/>
                  <a:pt x="682806" y="244063"/>
                  <a:pt x="695923" y="247810"/>
                </a:cubicBezTo>
                <a:cubicBezTo>
                  <a:pt x="746284" y="262568"/>
                  <a:pt x="796411" y="236567"/>
                  <a:pt x="848413" y="257649"/>
                </a:cubicBezTo>
                <a:cubicBezTo>
                  <a:pt x="835295" y="205647"/>
                  <a:pt x="806952" y="182926"/>
                  <a:pt x="747690" y="175664"/>
                </a:cubicBezTo>
                <a:cubicBezTo>
                  <a:pt x="725437" y="172854"/>
                  <a:pt x="702248" y="177070"/>
                  <a:pt x="683040" y="162078"/>
                </a:cubicBezTo>
                <a:cubicBezTo>
                  <a:pt x="672030" y="153413"/>
                  <a:pt x="659616" y="143106"/>
                  <a:pt x="668283" y="127177"/>
                </a:cubicBezTo>
                <a:cubicBezTo>
                  <a:pt x="674373" y="115933"/>
                  <a:pt x="687491" y="115933"/>
                  <a:pt x="698266" y="119682"/>
                </a:cubicBezTo>
                <a:cubicBezTo>
                  <a:pt x="746519" y="136313"/>
                  <a:pt x="796880" y="142403"/>
                  <a:pt x="847241" y="148494"/>
                </a:cubicBezTo>
                <a:cubicBezTo>
                  <a:pt x="854972" y="149430"/>
                  <a:pt x="863637" y="152476"/>
                  <a:pt x="872305" y="137015"/>
                </a:cubicBezTo>
                <a:cubicBezTo>
                  <a:pt x="778141" y="111951"/>
                  <a:pt x="688662" y="76347"/>
                  <a:pt x="591921" y="62527"/>
                </a:cubicBezTo>
                <a:cubicBezTo>
                  <a:pt x="593327" y="55969"/>
                  <a:pt x="594732" y="49410"/>
                  <a:pt x="596138" y="42852"/>
                </a:cubicBezTo>
                <a:cubicBezTo>
                  <a:pt x="671796" y="52220"/>
                  <a:pt x="747456" y="61590"/>
                  <a:pt x="843025" y="73303"/>
                </a:cubicBezTo>
                <a:cubicBezTo>
                  <a:pt x="784231" y="36058"/>
                  <a:pt x="728717" y="48473"/>
                  <a:pt x="685149" y="15446"/>
                </a:cubicBezTo>
                <a:cubicBezTo>
                  <a:pt x="693347" y="2914"/>
                  <a:pt x="703244" y="-249"/>
                  <a:pt x="713492" y="15"/>
                </a:cubicBezTo>
                <a:close/>
              </a:path>
            </a:pathLst>
          </a:custGeom>
        </p:spPr>
      </p:pic>
      <p:sp>
        <p:nvSpPr>
          <p:cNvPr id="4" name="Footer Placeholder 3"/>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1519506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792847" y="430138"/>
            <a:ext cx="7558305" cy="5668729"/>
          </a:xfrm>
          <a:prstGeom prst="rect">
            <a:avLst/>
          </a:prstGeom>
        </p:spPr>
      </p:pic>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647277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F0F4E97-E194-4493-885A-6C7C34A446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6075" y="-1"/>
            <a:ext cx="7817925"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endParaRPr lang="en-US"/>
          </a:p>
        </p:txBody>
      </p:sp>
      <p:sp>
        <p:nvSpPr>
          <p:cNvPr id="2" name="Title 1"/>
          <p:cNvSpPr>
            <a:spLocks noGrp="1"/>
          </p:cNvSpPr>
          <p:nvPr>
            <p:ph type="title"/>
          </p:nvPr>
        </p:nvSpPr>
        <p:spPr>
          <a:xfrm>
            <a:off x="4144617" y="365125"/>
            <a:ext cx="4370732" cy="1511300"/>
          </a:xfrm>
        </p:spPr>
        <p:txBody>
          <a:bodyPr anchor="b">
            <a:normAutofit/>
          </a:bodyPr>
          <a:lstStyle/>
          <a:p>
            <a:r>
              <a:rPr lang="en-US" dirty="0"/>
              <a:t>Goals</a:t>
            </a:r>
          </a:p>
        </p:txBody>
      </p:sp>
      <p:pic>
        <p:nvPicPr>
          <p:cNvPr id="6" name="Picture 5"/>
          <p:cNvPicPr>
            <a:picLocks noChangeAspect="1"/>
          </p:cNvPicPr>
          <p:nvPr/>
        </p:nvPicPr>
        <p:blipFill>
          <a:blip r:embed="rId2"/>
          <a:stretch>
            <a:fillRect/>
          </a:stretch>
        </p:blipFill>
        <p:spPr>
          <a:xfrm>
            <a:off x="406698" y="794701"/>
            <a:ext cx="3034229" cy="2359112"/>
          </a:xfrm>
          <a:prstGeom prst="rect">
            <a:avLst/>
          </a:prstGeom>
        </p:spPr>
      </p:pic>
      <p:pic>
        <p:nvPicPr>
          <p:cNvPr id="5" name="Picture 4"/>
          <p:cNvPicPr>
            <a:picLocks noChangeAspect="1"/>
          </p:cNvPicPr>
          <p:nvPr/>
        </p:nvPicPr>
        <p:blipFill>
          <a:blip r:embed="rId3"/>
          <a:stretch>
            <a:fillRect/>
          </a:stretch>
        </p:blipFill>
        <p:spPr>
          <a:xfrm>
            <a:off x="406698" y="3874067"/>
            <a:ext cx="3034229" cy="2019141"/>
          </a:xfrm>
          <a:prstGeom prst="rect">
            <a:avLst/>
          </a:prstGeom>
        </p:spPr>
      </p:pic>
      <p:sp>
        <p:nvSpPr>
          <p:cNvPr id="3" name="Content Placeholder 2"/>
          <p:cNvSpPr>
            <a:spLocks noGrp="1"/>
          </p:cNvSpPr>
          <p:nvPr>
            <p:ph idx="1"/>
          </p:nvPr>
        </p:nvSpPr>
        <p:spPr>
          <a:xfrm>
            <a:off x="4144617" y="2055813"/>
            <a:ext cx="4370733" cy="4121149"/>
          </a:xfrm>
        </p:spPr>
        <p:txBody>
          <a:bodyPr anchor="t">
            <a:normAutofit fontScale="92500"/>
          </a:bodyPr>
          <a:lstStyle/>
          <a:p>
            <a:pPr marL="0" indent="0">
              <a:buNone/>
            </a:pPr>
            <a:r>
              <a:rPr lang="en-US" sz="2000" i="1" dirty="0"/>
              <a:t>Goals</a:t>
            </a:r>
            <a:r>
              <a:rPr lang="en-US" sz="2000" dirty="0"/>
              <a:t>: Desired outcomes.</a:t>
            </a:r>
          </a:p>
          <a:p>
            <a:pPr marL="0" indent="0">
              <a:buNone/>
            </a:pPr>
            <a:r>
              <a:rPr lang="en-US" sz="2000" dirty="0"/>
              <a:t>Goals have implications for our emotions:</a:t>
            </a:r>
          </a:p>
          <a:p>
            <a:pPr lvl="1"/>
            <a:r>
              <a:rPr lang="en-US" sz="2000" dirty="0"/>
              <a:t>Study: Klug &amp; Maier (2015) performed a meta-analysis of data from 85 studies regarding the relationship between goal progress and various aspects of psychological well-being. Based on data from 20,653 participants, they found that, across all these studies, the greater progress participants made toward their goals, the more positive affect and the less negative affect they reported.</a:t>
            </a:r>
          </a:p>
          <a:p>
            <a:pPr lvl="1"/>
            <a:endParaRPr lang="en-US" sz="1700" dirty="0"/>
          </a:p>
        </p:txBody>
      </p:sp>
      <p:sp>
        <p:nvSpPr>
          <p:cNvPr id="4" name="Footer Placeholder 3"/>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3362203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2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25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p:cNvSpPr>
            <a:spLocks noGrp="1"/>
          </p:cNvSpPr>
          <p:nvPr>
            <p:ph type="ftr" sz="quarter" idx="11"/>
          </p:nvPr>
        </p:nvSpPr>
        <p:spPr>
          <a:xfrm rot="5400000">
            <a:off x="-1371600" y="2002536"/>
            <a:ext cx="3086100" cy="365125"/>
          </a:xfrm>
        </p:spPr>
        <p:txBody>
          <a:bodyPr vert="horz" lIns="91440" tIns="45720" rIns="91440" bIns="45720" rtlCol="0" anchor="ctr">
            <a:normAutofit/>
          </a:bodyPr>
          <a:lstStyle/>
          <a:p>
            <a:pPr algn="l" defTabSz="914400">
              <a:lnSpc>
                <a:spcPct val="90000"/>
              </a:lnSpc>
              <a:spcAft>
                <a:spcPts val="600"/>
              </a:spcAft>
            </a:pPr>
            <a:r>
              <a:rPr lang="en-US" sz="900" kern="1200">
                <a:solidFill>
                  <a:srgbClr val="FFFFFF"/>
                </a:solidFill>
                <a:latin typeface="+mn-lt"/>
                <a:ea typeface="+mn-ea"/>
                <a:cs typeface="+mn-cs"/>
              </a:rPr>
              <a:t>The Science of Positive Psychology © Cambridge University Press 2021</a:t>
            </a:r>
          </a:p>
        </p:txBody>
      </p:sp>
      <p:pic>
        <p:nvPicPr>
          <p:cNvPr id="9" name="Picture 8"/>
          <p:cNvPicPr>
            <a:picLocks noChangeAspect="1"/>
          </p:cNvPicPr>
          <p:nvPr/>
        </p:nvPicPr>
        <p:blipFill>
          <a:blip r:embed="rId2"/>
          <a:stretch>
            <a:fillRect/>
          </a:stretch>
        </p:blipFill>
        <p:spPr>
          <a:xfrm>
            <a:off x="342900" y="902113"/>
            <a:ext cx="8458200" cy="5053774"/>
          </a:xfrm>
          <a:prstGeom prst="rect">
            <a:avLst/>
          </a:prstGeom>
        </p:spPr>
      </p:pic>
    </p:spTree>
    <p:extLst>
      <p:ext uri="{BB962C8B-B14F-4D97-AF65-F5344CB8AC3E}">
        <p14:creationId xmlns:p14="http://schemas.microsoft.com/office/powerpoint/2010/main" val="154613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199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93555" y="620392"/>
            <a:ext cx="2856201" cy="5504688"/>
          </a:xfrm>
        </p:spPr>
        <p:txBody>
          <a:bodyPr>
            <a:normAutofit/>
          </a:bodyPr>
          <a:lstStyle/>
          <a:p>
            <a:r>
              <a:rPr lang="en-US" sz="5200" dirty="0">
                <a:solidFill>
                  <a:schemeClr val="bg1"/>
                </a:solidFill>
              </a:rPr>
              <a:t>Journal Entry #15 Goal Setting</a:t>
            </a:r>
          </a:p>
        </p:txBody>
      </p:sp>
      <p:sp>
        <p:nvSpPr>
          <p:cNvPr id="4" name="Footer Placeholder 3"/>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Hoffman and Compton (2020). Positive Psychology: A Workbook for Personal Growth and Well-Being, Sage.</a:t>
            </a:r>
          </a:p>
        </p:txBody>
      </p:sp>
      <p:sp>
        <p:nvSpPr>
          <p:cNvPr id="5" name="TextBox 4"/>
          <p:cNvSpPr txBox="1"/>
          <p:nvPr/>
        </p:nvSpPr>
        <p:spPr>
          <a:xfrm flipH="1">
            <a:off x="45719" y="6354798"/>
            <a:ext cx="1956436" cy="436849"/>
          </a:xfrm>
          <a:prstGeom prst="rect">
            <a:avLst/>
          </a:prstGeom>
          <a:solidFill>
            <a:srgbClr val="7030A0"/>
          </a:solidFill>
        </p:spPr>
        <p:txBody>
          <a:bodyPr wrap="square" rtlCol="0">
            <a:spAutoFit/>
          </a:bodyPr>
          <a:lstStyle/>
          <a:p>
            <a:endParaRPr lang="en-US" dirty="0"/>
          </a:p>
        </p:txBody>
      </p:sp>
      <p:graphicFrame>
        <p:nvGraphicFramePr>
          <p:cNvPr id="8" name="Content Placeholder 2">
            <a:extLst>
              <a:ext uri="{FF2B5EF4-FFF2-40B4-BE49-F238E27FC236}">
                <a16:creationId xmlns:a16="http://schemas.microsoft.com/office/drawing/2014/main" id="{9D321BB9-C53C-13EF-77D7-3A6586514C1B}"/>
              </a:ext>
            </a:extLst>
          </p:cNvPr>
          <p:cNvGraphicFramePr>
            <a:graphicFrameLocks noGrp="1"/>
          </p:cNvGraphicFramePr>
          <p:nvPr>
            <p:ph idx="1"/>
            <p:extLst>
              <p:ext uri="{D42A27DB-BD31-4B8C-83A1-F6EECF244321}">
                <p14:modId xmlns:p14="http://schemas.microsoft.com/office/powerpoint/2010/main" val="3648545432"/>
              </p:ext>
            </p:extLst>
          </p:nvPr>
        </p:nvGraphicFramePr>
        <p:xfrm>
          <a:off x="4101291" y="620392"/>
          <a:ext cx="469773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4783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Journal Entry continued</a:t>
            </a:r>
          </a:p>
        </p:txBody>
      </p:sp>
      <p:sp>
        <p:nvSpPr>
          <p:cNvPr id="3" name="Content Placeholder 2"/>
          <p:cNvSpPr>
            <a:spLocks noGrp="1"/>
          </p:cNvSpPr>
          <p:nvPr>
            <p:ph idx="1"/>
          </p:nvPr>
        </p:nvSpPr>
        <p:spPr>
          <a:xfrm>
            <a:off x="628650" y="1344706"/>
            <a:ext cx="8149590" cy="4832257"/>
          </a:xfrm>
        </p:spPr>
        <p:txBody>
          <a:bodyPr>
            <a:normAutofit/>
          </a:bodyPr>
          <a:lstStyle/>
          <a:p>
            <a:pPr marL="0" indent="0">
              <a:buNone/>
            </a:pPr>
            <a:r>
              <a:rPr lang="en-US" dirty="0"/>
              <a:t>Please rank your first 4 activities using this scale:</a:t>
            </a:r>
          </a:p>
          <a:p>
            <a:pPr marL="0" indent="0">
              <a:lnSpc>
                <a:spcPct val="100000"/>
              </a:lnSpc>
              <a:spcBef>
                <a:spcPts val="0"/>
              </a:spcBef>
              <a:buNone/>
            </a:pPr>
            <a:r>
              <a:rPr lang="en-US" sz="1800" dirty="0"/>
              <a:t>	1	    2	     3 	       4	        5</a:t>
            </a:r>
          </a:p>
          <a:p>
            <a:pPr marL="0" indent="0">
              <a:lnSpc>
                <a:spcPct val="100000"/>
              </a:lnSpc>
              <a:spcBef>
                <a:spcPts val="0"/>
              </a:spcBef>
              <a:buNone/>
            </a:pPr>
            <a:r>
              <a:rPr lang="en-US" sz="1800" dirty="0"/>
              <a:t>           </a:t>
            </a:r>
            <a:r>
              <a:rPr lang="en-US" sz="1600" dirty="0"/>
              <a:t>Not true       Slightly false    Neutral           True	    Very True</a:t>
            </a:r>
          </a:p>
          <a:p>
            <a:pPr marL="0" indent="0">
              <a:buNone/>
            </a:pPr>
            <a:r>
              <a:rPr lang="en-US" sz="1600" dirty="0"/>
              <a:t>						1         2           3           4</a:t>
            </a:r>
          </a:p>
          <a:p>
            <a:pPr marL="342900" indent="-342900">
              <a:buAutoNum type="arabicPeriod"/>
            </a:pPr>
            <a:r>
              <a:rPr lang="en-US" sz="1600" dirty="0"/>
              <a:t>This activity is may choice vs others say I must do this.           ___      ____     ____    ____</a:t>
            </a:r>
          </a:p>
          <a:p>
            <a:pPr marL="342900" indent="-342900">
              <a:buAutoNum type="arabicPeriod"/>
            </a:pPr>
            <a:r>
              <a:rPr lang="en-US" sz="1600" dirty="0"/>
              <a:t>This activity gives me intrinsic satisfaction. 	               ___      ____     ____    __	</a:t>
            </a:r>
          </a:p>
          <a:p>
            <a:pPr marL="342900" indent="-342900">
              <a:buAutoNum type="arabicPeriod"/>
            </a:pPr>
            <a:r>
              <a:rPr lang="en-US" sz="1600" dirty="0"/>
              <a:t>This activity fits my values.			               ___      ____     ____    ____</a:t>
            </a:r>
          </a:p>
          <a:p>
            <a:pPr marL="342900" indent="-342900">
              <a:lnSpc>
                <a:spcPct val="100000"/>
              </a:lnSpc>
              <a:spcBef>
                <a:spcPts val="0"/>
              </a:spcBef>
              <a:buAutoNum type="arabicPeriod"/>
            </a:pPr>
            <a:r>
              <a:rPr lang="en-US" sz="1600" dirty="0"/>
              <a:t>By doing this activity, I’m making adequate progress</a:t>
            </a:r>
          </a:p>
          <a:p>
            <a:pPr marL="0" indent="0">
              <a:lnSpc>
                <a:spcPct val="100000"/>
              </a:lnSpc>
              <a:spcBef>
                <a:spcPts val="0"/>
              </a:spcBef>
              <a:buNone/>
            </a:pPr>
            <a:r>
              <a:rPr lang="en-US" sz="1600" dirty="0"/>
              <a:t>        toward important goals.			               ___      ____     ____    ____</a:t>
            </a:r>
          </a:p>
          <a:p>
            <a:pPr marL="0" indent="0">
              <a:buNone/>
            </a:pPr>
            <a:r>
              <a:rPr lang="en-US" sz="1600" dirty="0"/>
              <a:t>5. I do this mostly to avoid negative consequences.	               ___      ____     ____    ____</a:t>
            </a:r>
          </a:p>
          <a:p>
            <a:pPr marL="0" indent="0">
              <a:buNone/>
            </a:pPr>
            <a:r>
              <a:rPr lang="en-US" sz="1600" dirty="0"/>
              <a:t>6. This activity conflicts with my major goals.	               ___      ____     ____    ____</a:t>
            </a:r>
          </a:p>
          <a:p>
            <a:pPr marL="0" indent="0">
              <a:buNone/>
            </a:pPr>
            <a:r>
              <a:rPr lang="en-US" sz="1600" dirty="0"/>
              <a:t>7. This activity helps me with my need for competence.	               ___      ____     ____    ____</a:t>
            </a:r>
          </a:p>
          <a:p>
            <a:pPr marL="0" indent="0">
              <a:buNone/>
            </a:pPr>
            <a:r>
              <a:rPr lang="en-US" sz="1600" dirty="0"/>
              <a:t>8. This activity helps me with me need for pos. </a:t>
            </a:r>
            <a:r>
              <a:rPr lang="en-US" sz="1600" dirty="0" err="1"/>
              <a:t>rels</a:t>
            </a:r>
            <a:r>
              <a:rPr lang="en-US" sz="1600" dirty="0"/>
              <a:t>.	               ___      ____     ____    ____</a:t>
            </a:r>
          </a:p>
          <a:p>
            <a:pPr marL="0" indent="0">
              <a:buNone/>
            </a:pPr>
            <a:r>
              <a:rPr lang="en-US" sz="1600" dirty="0"/>
              <a:t>9. This activity helps me with my need for autonomy.	               ___      ____     ____    ____</a:t>
            </a:r>
          </a:p>
          <a:p>
            <a:pPr marL="0" indent="0">
              <a:buNone/>
            </a:pPr>
            <a:endParaRPr lang="en-US" sz="1600" dirty="0"/>
          </a:p>
        </p:txBody>
      </p:sp>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1027359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325369"/>
            <a:ext cx="3276451" cy="1956841"/>
          </a:xfrm>
        </p:spPr>
        <p:txBody>
          <a:bodyPr anchor="b">
            <a:normAutofit/>
          </a:bodyPr>
          <a:lstStyle/>
          <a:p>
            <a:r>
              <a:rPr lang="en-US" sz="4700"/>
              <a:t>Journal Entry</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 name="connsiteX0" fmla="*/ 0 w 2606040"/>
              <a:gd name="connsiteY0" fmla="*/ 0 h 18288"/>
              <a:gd name="connsiteX1" fmla="*/ 599389 w 2606040"/>
              <a:gd name="connsiteY1" fmla="*/ 0 h 18288"/>
              <a:gd name="connsiteX2" fmla="*/ 1303020 w 2606040"/>
              <a:gd name="connsiteY2" fmla="*/ 0 h 18288"/>
              <a:gd name="connsiteX3" fmla="*/ 1876349 w 2606040"/>
              <a:gd name="connsiteY3" fmla="*/ 0 h 18288"/>
              <a:gd name="connsiteX4" fmla="*/ 2606040 w 2606040"/>
              <a:gd name="connsiteY4" fmla="*/ 0 h 18288"/>
              <a:gd name="connsiteX5" fmla="*/ 2606040 w 2606040"/>
              <a:gd name="connsiteY5" fmla="*/ 18288 h 18288"/>
              <a:gd name="connsiteX6" fmla="*/ 1980590 w 2606040"/>
              <a:gd name="connsiteY6" fmla="*/ 18288 h 18288"/>
              <a:gd name="connsiteX7" fmla="*/ 1276960 w 2606040"/>
              <a:gd name="connsiteY7" fmla="*/ 18288 h 18288"/>
              <a:gd name="connsiteX8" fmla="*/ 65151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11079" y="-22080"/>
                  <a:pt x="479378" y="-26537"/>
                  <a:pt x="625450" y="0"/>
                </a:cubicBezTo>
                <a:cubicBezTo>
                  <a:pt x="925937" y="-4758"/>
                  <a:pt x="973176" y="15739"/>
                  <a:pt x="1224839" y="0"/>
                </a:cubicBezTo>
                <a:cubicBezTo>
                  <a:pt x="1479663" y="-11328"/>
                  <a:pt x="1566636" y="18697"/>
                  <a:pt x="1824228" y="0"/>
                </a:cubicBezTo>
                <a:cubicBezTo>
                  <a:pt x="2086799" y="-72665"/>
                  <a:pt x="2306223" y="-891"/>
                  <a:pt x="2606040" y="0"/>
                </a:cubicBezTo>
                <a:cubicBezTo>
                  <a:pt x="2606645" y="4461"/>
                  <a:pt x="2607031" y="13181"/>
                  <a:pt x="2606040" y="18288"/>
                </a:cubicBezTo>
                <a:cubicBezTo>
                  <a:pt x="2260204" y="29342"/>
                  <a:pt x="2175708" y="5614"/>
                  <a:pt x="1902409" y="18288"/>
                </a:cubicBezTo>
                <a:cubicBezTo>
                  <a:pt x="1638502" y="41064"/>
                  <a:pt x="1460923" y="-16269"/>
                  <a:pt x="1276960" y="18288"/>
                </a:cubicBezTo>
                <a:cubicBezTo>
                  <a:pt x="1057717" y="14361"/>
                  <a:pt x="867956" y="2320"/>
                  <a:pt x="677570" y="18288"/>
                </a:cubicBezTo>
                <a:cubicBezTo>
                  <a:pt x="457951" y="33373"/>
                  <a:pt x="189752" y="55388"/>
                  <a:pt x="0" y="18288"/>
                </a:cubicBezTo>
                <a:cubicBezTo>
                  <a:pt x="1586" y="13022"/>
                  <a:pt x="-95" y="4569"/>
                  <a:pt x="0" y="0"/>
                </a:cubicBezTo>
                <a:close/>
              </a:path>
              <a:path w="2606040" h="18288" stroke="0" extrusionOk="0">
                <a:moveTo>
                  <a:pt x="0" y="0"/>
                </a:moveTo>
                <a:cubicBezTo>
                  <a:pt x="172759" y="3236"/>
                  <a:pt x="361166" y="-13413"/>
                  <a:pt x="599389" y="0"/>
                </a:cubicBezTo>
                <a:cubicBezTo>
                  <a:pt x="841226" y="37042"/>
                  <a:pt x="968991" y="14587"/>
                  <a:pt x="1303020" y="0"/>
                </a:cubicBezTo>
                <a:cubicBezTo>
                  <a:pt x="1643101" y="-7120"/>
                  <a:pt x="1717813" y="7213"/>
                  <a:pt x="1876349" y="0"/>
                </a:cubicBezTo>
                <a:cubicBezTo>
                  <a:pt x="2036762" y="-14138"/>
                  <a:pt x="2426397" y="-4451"/>
                  <a:pt x="2606040" y="0"/>
                </a:cubicBezTo>
                <a:cubicBezTo>
                  <a:pt x="2606314" y="8448"/>
                  <a:pt x="2606550" y="14527"/>
                  <a:pt x="2606040" y="18288"/>
                </a:cubicBezTo>
                <a:cubicBezTo>
                  <a:pt x="2344840" y="2643"/>
                  <a:pt x="2192043" y="7399"/>
                  <a:pt x="1980590" y="18288"/>
                </a:cubicBezTo>
                <a:cubicBezTo>
                  <a:pt x="1783984" y="-9745"/>
                  <a:pt x="1487673" y="45908"/>
                  <a:pt x="1276960" y="18288"/>
                </a:cubicBezTo>
                <a:cubicBezTo>
                  <a:pt x="1088134" y="-41257"/>
                  <a:pt x="877974" y="49968"/>
                  <a:pt x="651510" y="18288"/>
                </a:cubicBezTo>
                <a:cubicBezTo>
                  <a:pt x="430798" y="-27764"/>
                  <a:pt x="132889" y="-33467"/>
                  <a:pt x="0" y="18288"/>
                </a:cubicBezTo>
                <a:cubicBezTo>
                  <a:pt x="212" y="10845"/>
                  <a:pt x="-833" y="6193"/>
                  <a:pt x="0" y="0"/>
                </a:cubicBezTo>
                <a:close/>
              </a:path>
              <a:path w="2606040" h="18288" fill="none" stroke="0" extrusionOk="0">
                <a:moveTo>
                  <a:pt x="0" y="0"/>
                </a:moveTo>
                <a:cubicBezTo>
                  <a:pt x="202328" y="-14716"/>
                  <a:pt x="332722" y="-11499"/>
                  <a:pt x="625450" y="0"/>
                </a:cubicBezTo>
                <a:cubicBezTo>
                  <a:pt x="927712" y="6878"/>
                  <a:pt x="971143" y="7084"/>
                  <a:pt x="1224839" y="0"/>
                </a:cubicBezTo>
                <a:cubicBezTo>
                  <a:pt x="1477775" y="-16815"/>
                  <a:pt x="1569904" y="19146"/>
                  <a:pt x="1824228" y="0"/>
                </a:cubicBezTo>
                <a:cubicBezTo>
                  <a:pt x="2055206" y="24867"/>
                  <a:pt x="2317192" y="-62872"/>
                  <a:pt x="2606040" y="0"/>
                </a:cubicBezTo>
                <a:cubicBezTo>
                  <a:pt x="2606166" y="3680"/>
                  <a:pt x="2606905" y="11461"/>
                  <a:pt x="2606040" y="18288"/>
                </a:cubicBezTo>
                <a:cubicBezTo>
                  <a:pt x="2234648" y="26976"/>
                  <a:pt x="2180202" y="-10361"/>
                  <a:pt x="1902409" y="18288"/>
                </a:cubicBezTo>
                <a:cubicBezTo>
                  <a:pt x="1635562" y="47194"/>
                  <a:pt x="1477339" y="4794"/>
                  <a:pt x="1276960" y="18288"/>
                </a:cubicBezTo>
                <a:cubicBezTo>
                  <a:pt x="1058094" y="66922"/>
                  <a:pt x="904206" y="-20636"/>
                  <a:pt x="677570" y="18288"/>
                </a:cubicBezTo>
                <a:cubicBezTo>
                  <a:pt x="485746" y="14713"/>
                  <a:pt x="195925" y="33005"/>
                  <a:pt x="0" y="18288"/>
                </a:cubicBezTo>
                <a:cubicBezTo>
                  <a:pt x="1168" y="12774"/>
                  <a:pt x="-229" y="374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80060" y="2872899"/>
            <a:ext cx="3182691" cy="3320668"/>
          </a:xfrm>
        </p:spPr>
        <p:txBody>
          <a:bodyPr>
            <a:normAutofit/>
          </a:bodyPr>
          <a:lstStyle/>
          <a:p>
            <a:r>
              <a:rPr lang="en-US" sz="1900" dirty="0"/>
              <a:t>Review the information in this chapter on how goals are related to well-being. Describe your reactions to this activity. Do your daily activities and ultimate goals match? Are you pursuing goals that research says will boost well-being? Are you using your time in a way that helps you meet important goals?</a:t>
            </a:r>
          </a:p>
        </p:txBody>
      </p:sp>
      <p:pic>
        <p:nvPicPr>
          <p:cNvPr id="6" name="Picture 5" descr="Stack of magazines on table">
            <a:extLst>
              <a:ext uri="{FF2B5EF4-FFF2-40B4-BE49-F238E27FC236}">
                <a16:creationId xmlns:a16="http://schemas.microsoft.com/office/drawing/2014/main" id="{3D5D244B-2FFA-4BB5-00F5-451E6825BDE4}"/>
              </a:ext>
            </a:extLst>
          </p:cNvPr>
          <p:cNvPicPr>
            <a:picLocks noChangeAspect="1"/>
          </p:cNvPicPr>
          <p:nvPr/>
        </p:nvPicPr>
        <p:blipFill rotWithShape="1">
          <a:blip r:embed="rId2"/>
          <a:srcRect l="41228" r="8557"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Footer Placeholder 3"/>
          <p:cNvSpPr>
            <a:spLocks noGrp="1"/>
          </p:cNvSpPr>
          <p:nvPr>
            <p:ph type="ftr" sz="quarter" idx="11"/>
          </p:nvPr>
        </p:nvSpPr>
        <p:spPr>
          <a:xfrm>
            <a:off x="4686300" y="6356350"/>
            <a:ext cx="3086100" cy="365125"/>
          </a:xfrm>
        </p:spPr>
        <p:txBody>
          <a:bodyPr>
            <a:normAutofit/>
          </a:bodyPr>
          <a:lstStyle/>
          <a:p>
            <a:pPr algn="l">
              <a:lnSpc>
                <a:spcPct val="90000"/>
              </a:lnSpc>
              <a:spcAft>
                <a:spcPts val="600"/>
              </a:spcAft>
            </a:pPr>
            <a:r>
              <a:rPr lang="en-US" sz="900">
                <a:solidFill>
                  <a:srgbClr val="FFFFFF"/>
                </a:solidFill>
              </a:rPr>
              <a:t>The Science of Positive Psychology © Cambridge University Press 2021</a:t>
            </a:r>
          </a:p>
        </p:txBody>
      </p:sp>
    </p:spTree>
    <p:extLst>
      <p:ext uri="{BB962C8B-B14F-4D97-AF65-F5344CB8AC3E}">
        <p14:creationId xmlns:p14="http://schemas.microsoft.com/office/powerpoint/2010/main" val="2570485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62B13-591A-448D-BDC2-8F2FCF846E2B}"/>
              </a:ext>
            </a:extLst>
          </p:cNvPr>
          <p:cNvSpPr>
            <a:spLocks noGrp="1"/>
          </p:cNvSpPr>
          <p:nvPr>
            <p:ph type="title"/>
          </p:nvPr>
        </p:nvSpPr>
        <p:spPr/>
        <p:txBody>
          <a:bodyPr/>
          <a:lstStyle/>
          <a:p>
            <a:r>
              <a:rPr lang="en-US" dirty="0"/>
              <a:t>Goals</a:t>
            </a:r>
          </a:p>
        </p:txBody>
      </p:sp>
      <p:sp>
        <p:nvSpPr>
          <p:cNvPr id="4" name="Footer Placeholder 3">
            <a:extLst>
              <a:ext uri="{FF2B5EF4-FFF2-40B4-BE49-F238E27FC236}">
                <a16:creationId xmlns:a16="http://schemas.microsoft.com/office/drawing/2014/main" id="{C27E228E-C276-469D-B94F-E895874A04C2}"/>
              </a:ext>
            </a:extLst>
          </p:cNvPr>
          <p:cNvSpPr>
            <a:spLocks noGrp="1"/>
          </p:cNvSpPr>
          <p:nvPr>
            <p:ph type="ftr" sz="quarter" idx="11"/>
          </p:nvPr>
        </p:nvSpPr>
        <p:spPr>
          <a:xfrm>
            <a:off x="2002155" y="6354798"/>
            <a:ext cx="5139690" cy="461665"/>
          </a:xfrm>
        </p:spPr>
        <p:txBody>
          <a:bodyPr/>
          <a:lstStyle/>
          <a:p>
            <a:r>
              <a:rPr lang="en-US" dirty="0"/>
              <a:t>The Science and Application of Positive Psychology </a:t>
            </a:r>
            <a:br>
              <a:rPr lang="en-US" dirty="0"/>
            </a:br>
            <a:r>
              <a:rPr lang="en-US" dirty="0"/>
              <a:t>© Cambridge University Press 2021</a:t>
            </a:r>
          </a:p>
        </p:txBody>
      </p:sp>
      <p:graphicFrame>
        <p:nvGraphicFramePr>
          <p:cNvPr id="9" name="Content Placeholder 8">
            <a:extLst>
              <a:ext uri="{FF2B5EF4-FFF2-40B4-BE49-F238E27FC236}">
                <a16:creationId xmlns:a16="http://schemas.microsoft.com/office/drawing/2014/main" id="{401437A2-FDB8-A040-B030-C7D0619F13DD}"/>
              </a:ext>
            </a:extLst>
          </p:cNvPr>
          <p:cNvGraphicFramePr>
            <a:graphicFrameLocks noGrp="1"/>
          </p:cNvGraphicFramePr>
          <p:nvPr>
            <p:ph idx="1"/>
            <p:extLst>
              <p:ext uri="{D42A27DB-BD31-4B8C-83A1-F6EECF244321}">
                <p14:modId xmlns:p14="http://schemas.microsoft.com/office/powerpoint/2010/main" val="3835138795"/>
              </p:ext>
            </p:extLst>
          </p:nvPr>
        </p:nvGraphicFramePr>
        <p:xfrm>
          <a:off x="844412" y="2114801"/>
          <a:ext cx="7750666" cy="3413165"/>
        </p:xfrm>
        <a:graphic>
          <a:graphicData uri="http://schemas.openxmlformats.org/drawingml/2006/table">
            <a:tbl>
              <a:tblPr firstRow="1" firstCol="1" bandRow="1">
                <a:tableStyleId>{5C22544A-7EE6-4342-B048-85BDC9FD1C3A}</a:tableStyleId>
              </a:tblPr>
              <a:tblGrid>
                <a:gridCol w="1830116">
                  <a:extLst>
                    <a:ext uri="{9D8B030D-6E8A-4147-A177-3AD203B41FA5}">
                      <a16:colId xmlns:a16="http://schemas.microsoft.com/office/drawing/2014/main" val="3993668352"/>
                    </a:ext>
                  </a:extLst>
                </a:gridCol>
                <a:gridCol w="2960275">
                  <a:extLst>
                    <a:ext uri="{9D8B030D-6E8A-4147-A177-3AD203B41FA5}">
                      <a16:colId xmlns:a16="http://schemas.microsoft.com/office/drawing/2014/main" val="1480966665"/>
                    </a:ext>
                  </a:extLst>
                </a:gridCol>
                <a:gridCol w="2960275">
                  <a:extLst>
                    <a:ext uri="{9D8B030D-6E8A-4147-A177-3AD203B41FA5}">
                      <a16:colId xmlns:a16="http://schemas.microsoft.com/office/drawing/2014/main" val="993360283"/>
                    </a:ext>
                  </a:extLst>
                </a:gridCol>
              </a:tblGrid>
              <a:tr h="433211">
                <a:tc>
                  <a:txBody>
                    <a:bodyPr/>
                    <a:lstStyle/>
                    <a:p>
                      <a:pPr marL="0" marR="0">
                        <a:spcBef>
                          <a:spcPts val="0"/>
                        </a:spcBef>
                        <a:spcAft>
                          <a:spcPts val="0"/>
                        </a:spcAft>
                      </a:pPr>
                      <a:r>
                        <a:rPr lang="en-US" sz="1900" dirty="0">
                          <a:effectLst/>
                        </a:rPr>
                        <a:t> </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tc>
                  <a:txBody>
                    <a:bodyPr/>
                    <a:lstStyle/>
                    <a:p>
                      <a:pPr marL="0" marR="0" algn="ctr">
                        <a:spcBef>
                          <a:spcPts val="0"/>
                        </a:spcBef>
                        <a:spcAft>
                          <a:spcPts val="0"/>
                        </a:spcAft>
                      </a:pPr>
                      <a:r>
                        <a:rPr lang="en-US" sz="1800" dirty="0">
                          <a:effectLst/>
                        </a:rPr>
                        <a:t>Presence</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tc>
                  <a:txBody>
                    <a:bodyPr/>
                    <a:lstStyle/>
                    <a:p>
                      <a:pPr marL="0" marR="0" algn="ctr">
                        <a:spcBef>
                          <a:spcPts val="0"/>
                        </a:spcBef>
                        <a:spcAft>
                          <a:spcPts val="0"/>
                        </a:spcAft>
                      </a:pPr>
                      <a:r>
                        <a:rPr lang="en-US" sz="1800" dirty="0">
                          <a:effectLst/>
                        </a:rPr>
                        <a:t>Absence</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extLst>
                  <a:ext uri="{0D108BD9-81ED-4DB2-BD59-A6C34878D82A}">
                    <a16:rowId xmlns:a16="http://schemas.microsoft.com/office/drawing/2014/main" val="3297683288"/>
                  </a:ext>
                </a:extLst>
              </a:tr>
              <a:tr h="625749">
                <a:tc>
                  <a:txBody>
                    <a:bodyPr/>
                    <a:lstStyle/>
                    <a:p>
                      <a:pPr marL="0" marR="0" algn="r">
                        <a:spcBef>
                          <a:spcPts val="0"/>
                        </a:spcBef>
                        <a:spcAft>
                          <a:spcPts val="0"/>
                        </a:spcAft>
                      </a:pPr>
                      <a:r>
                        <a:rPr lang="en-US" sz="1800" dirty="0">
                          <a:effectLst/>
                        </a:rPr>
                        <a:t>Having Goals</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tc>
                  <a:txBody>
                    <a:bodyPr/>
                    <a:lstStyle/>
                    <a:p>
                      <a:pPr marL="0" marR="0">
                        <a:spcBef>
                          <a:spcPts val="0"/>
                        </a:spcBef>
                        <a:spcAft>
                          <a:spcPts val="0"/>
                        </a:spcAft>
                      </a:pPr>
                      <a:r>
                        <a:rPr lang="en-US" sz="1500" dirty="0">
                          <a:effectLst/>
                        </a:rPr>
                        <a:t>Meaning, Purpose, Sense of Order</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tc>
                  <a:txBody>
                    <a:bodyPr/>
                    <a:lstStyle/>
                    <a:p>
                      <a:pPr marL="0" marR="0">
                        <a:spcBef>
                          <a:spcPts val="0"/>
                        </a:spcBef>
                        <a:spcAft>
                          <a:spcPts val="0"/>
                        </a:spcAft>
                      </a:pPr>
                      <a:r>
                        <a:rPr lang="en-US" sz="1500" dirty="0">
                          <a:effectLst/>
                        </a:rPr>
                        <a:t>Meaninglessness, Lack of Purpose, Despair</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extLst>
                  <a:ext uri="{0D108BD9-81ED-4DB2-BD59-A6C34878D82A}">
                    <a16:rowId xmlns:a16="http://schemas.microsoft.com/office/drawing/2014/main" val="4168070747"/>
                  </a:ext>
                </a:extLst>
              </a:tr>
              <a:tr h="678274">
                <a:tc>
                  <a:txBody>
                    <a:bodyPr/>
                    <a:lstStyle/>
                    <a:p>
                      <a:pPr marL="0" marR="0" algn="r">
                        <a:spcBef>
                          <a:spcPts val="0"/>
                        </a:spcBef>
                        <a:spcAft>
                          <a:spcPts val="0"/>
                        </a:spcAft>
                      </a:pPr>
                      <a:r>
                        <a:rPr lang="en-US" sz="1800" dirty="0">
                          <a:effectLst/>
                        </a:rPr>
                        <a:t>Perceiving Goals as Attainable</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tc>
                  <a:txBody>
                    <a:bodyPr/>
                    <a:lstStyle/>
                    <a:p>
                      <a:pPr marL="0" marR="0">
                        <a:spcBef>
                          <a:spcPts val="0"/>
                        </a:spcBef>
                        <a:spcAft>
                          <a:spcPts val="0"/>
                        </a:spcAft>
                      </a:pPr>
                      <a:r>
                        <a:rPr lang="en-US" sz="1500" dirty="0">
                          <a:effectLst/>
                        </a:rPr>
                        <a:t>Hope, Optimism, Sense of Control</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tc>
                  <a:txBody>
                    <a:bodyPr/>
                    <a:lstStyle/>
                    <a:p>
                      <a:pPr marL="0" marR="0">
                        <a:spcBef>
                          <a:spcPts val="0"/>
                        </a:spcBef>
                        <a:spcAft>
                          <a:spcPts val="0"/>
                        </a:spcAft>
                      </a:pPr>
                      <a:r>
                        <a:rPr lang="en-US" sz="1500" dirty="0">
                          <a:effectLst/>
                        </a:rPr>
                        <a:t>Hopelessness, Pessimism, Frustration, Anger</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extLst>
                  <a:ext uri="{0D108BD9-81ED-4DB2-BD59-A6C34878D82A}">
                    <a16:rowId xmlns:a16="http://schemas.microsoft.com/office/drawing/2014/main" val="1110860983"/>
                  </a:ext>
                </a:extLst>
              </a:tr>
              <a:tr h="945209">
                <a:tc>
                  <a:txBody>
                    <a:bodyPr/>
                    <a:lstStyle/>
                    <a:p>
                      <a:pPr marL="0" marR="0" algn="r">
                        <a:spcBef>
                          <a:spcPts val="0"/>
                        </a:spcBef>
                        <a:spcAft>
                          <a:spcPts val="0"/>
                        </a:spcAft>
                      </a:pPr>
                      <a:r>
                        <a:rPr lang="en-US" sz="1800" dirty="0">
                          <a:effectLst/>
                        </a:rPr>
                        <a:t>Perceiving Progress </a:t>
                      </a:r>
                      <a:endParaRPr lang="en-US" sz="1900" dirty="0">
                        <a:effectLst/>
                      </a:endParaRPr>
                    </a:p>
                    <a:p>
                      <a:pPr marL="0" marR="0" algn="r">
                        <a:spcBef>
                          <a:spcPts val="0"/>
                        </a:spcBef>
                        <a:spcAft>
                          <a:spcPts val="0"/>
                        </a:spcAft>
                      </a:pPr>
                      <a:r>
                        <a:rPr lang="en-US" sz="1800" dirty="0">
                          <a:effectLst/>
                        </a:rPr>
                        <a:t>Toward Goals</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tc>
                  <a:txBody>
                    <a:bodyPr/>
                    <a:lstStyle/>
                    <a:p>
                      <a:pPr marL="0" marR="0">
                        <a:spcBef>
                          <a:spcPts val="0"/>
                        </a:spcBef>
                        <a:spcAft>
                          <a:spcPts val="0"/>
                        </a:spcAft>
                      </a:pPr>
                      <a:r>
                        <a:rPr lang="en-US" sz="1500" dirty="0">
                          <a:effectLst/>
                        </a:rPr>
                        <a:t>Hope, Excitement, Sense of Control, Flow</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tc>
                  <a:txBody>
                    <a:bodyPr/>
                    <a:lstStyle/>
                    <a:p>
                      <a:pPr marL="0" marR="0">
                        <a:spcBef>
                          <a:spcPts val="0"/>
                        </a:spcBef>
                        <a:spcAft>
                          <a:spcPts val="0"/>
                        </a:spcAft>
                      </a:pPr>
                      <a:r>
                        <a:rPr lang="en-US" sz="1500" dirty="0">
                          <a:effectLst/>
                        </a:rPr>
                        <a:t>Frustration, Sense of Failure, Despair, Anger</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extLst>
                  <a:ext uri="{0D108BD9-81ED-4DB2-BD59-A6C34878D82A}">
                    <a16:rowId xmlns:a16="http://schemas.microsoft.com/office/drawing/2014/main" val="3563367969"/>
                  </a:ext>
                </a:extLst>
              </a:tr>
              <a:tr h="678274">
                <a:tc>
                  <a:txBody>
                    <a:bodyPr/>
                    <a:lstStyle/>
                    <a:p>
                      <a:pPr marL="0" marR="0" algn="r">
                        <a:spcBef>
                          <a:spcPts val="0"/>
                        </a:spcBef>
                        <a:spcAft>
                          <a:spcPts val="0"/>
                        </a:spcAft>
                      </a:pPr>
                      <a:r>
                        <a:rPr lang="en-US" sz="1800" dirty="0">
                          <a:effectLst/>
                        </a:rPr>
                        <a:t>Attainment of </a:t>
                      </a:r>
                      <a:endParaRPr lang="en-US" sz="1900" dirty="0">
                        <a:effectLst/>
                      </a:endParaRPr>
                    </a:p>
                    <a:p>
                      <a:pPr marL="0" marR="0" algn="r">
                        <a:spcBef>
                          <a:spcPts val="0"/>
                        </a:spcBef>
                        <a:spcAft>
                          <a:spcPts val="0"/>
                        </a:spcAft>
                      </a:pPr>
                      <a:r>
                        <a:rPr lang="en-US" sz="1800" dirty="0">
                          <a:effectLst/>
                        </a:rPr>
                        <a:t>Goals</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tc>
                  <a:txBody>
                    <a:bodyPr/>
                    <a:lstStyle/>
                    <a:p>
                      <a:pPr marL="0" marR="0">
                        <a:spcBef>
                          <a:spcPts val="0"/>
                        </a:spcBef>
                        <a:spcAft>
                          <a:spcPts val="0"/>
                        </a:spcAft>
                      </a:pPr>
                      <a:r>
                        <a:rPr lang="en-US" sz="1500" dirty="0">
                          <a:effectLst/>
                        </a:rPr>
                        <a:t>Satisfaction, Fulfillment</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tc>
                  <a:txBody>
                    <a:bodyPr/>
                    <a:lstStyle/>
                    <a:p>
                      <a:pPr marL="0" marR="0">
                        <a:spcBef>
                          <a:spcPts val="0"/>
                        </a:spcBef>
                        <a:spcAft>
                          <a:spcPts val="0"/>
                        </a:spcAft>
                      </a:pPr>
                      <a:r>
                        <a:rPr lang="en-US" sz="1500" dirty="0">
                          <a:effectLst/>
                        </a:rPr>
                        <a:t>Dissatisfaction, Sense of Failure or Loss, Frustration, Anger, Envy</a:t>
                      </a:r>
                      <a:endParaRPr lang="en-US" sz="1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115323" marR="115323" marT="58162" marB="86242"/>
                </a:tc>
                <a:extLst>
                  <a:ext uri="{0D108BD9-81ED-4DB2-BD59-A6C34878D82A}">
                    <a16:rowId xmlns:a16="http://schemas.microsoft.com/office/drawing/2014/main" val="2755996332"/>
                  </a:ext>
                </a:extLst>
              </a:tr>
            </a:tbl>
          </a:graphicData>
        </a:graphic>
      </p:graphicFrame>
      <p:sp>
        <p:nvSpPr>
          <p:cNvPr id="10" name="Rectangle 2">
            <a:extLst>
              <a:ext uri="{FF2B5EF4-FFF2-40B4-BE49-F238E27FC236}">
                <a16:creationId xmlns:a16="http://schemas.microsoft.com/office/drawing/2014/main" id="{2F129F54-BE78-F647-B58A-3B01A1595024}"/>
              </a:ext>
            </a:extLst>
          </p:cNvPr>
          <p:cNvSpPr>
            <a:spLocks noChangeArrowheads="1"/>
          </p:cNvSpPr>
          <p:nvPr/>
        </p:nvSpPr>
        <p:spPr bwMode="auto">
          <a:xfrm>
            <a:off x="757010" y="1671417"/>
            <a:ext cx="703160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Calibri" panose="020F0502020204030204" pitchFamily="34" charset="0"/>
                <a:ea typeface="MS Mincho" panose="02020609040205080304" pitchFamily="49" charset="-128"/>
                <a:cs typeface="Calibri" panose="020F0502020204030204" pitchFamily="34" charset="0"/>
              </a:rPr>
              <a:t>Affect Hypothesized to Result from Different Aspects of Pursuing Goals</a:t>
            </a:r>
            <a:endParaRPr kumimoji="0" lang="en-US" altLang="en-US"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2244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480060" y="325369"/>
            <a:ext cx="3276451" cy="1956841"/>
          </a:xfrm>
        </p:spPr>
        <p:txBody>
          <a:bodyPr anchor="b">
            <a:normAutofit/>
          </a:bodyPr>
          <a:lstStyle/>
          <a:p>
            <a:r>
              <a:rPr lang="en-US" sz="4000"/>
              <a:t>Characteristics of goals</a:t>
            </a:r>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 name="connsiteX0" fmla="*/ 0 w 2606040"/>
              <a:gd name="connsiteY0" fmla="*/ 0 h 18288"/>
              <a:gd name="connsiteX1" fmla="*/ 599389 w 2606040"/>
              <a:gd name="connsiteY1" fmla="*/ 0 h 18288"/>
              <a:gd name="connsiteX2" fmla="*/ 1303020 w 2606040"/>
              <a:gd name="connsiteY2" fmla="*/ 0 h 18288"/>
              <a:gd name="connsiteX3" fmla="*/ 1876349 w 2606040"/>
              <a:gd name="connsiteY3" fmla="*/ 0 h 18288"/>
              <a:gd name="connsiteX4" fmla="*/ 2606040 w 2606040"/>
              <a:gd name="connsiteY4" fmla="*/ 0 h 18288"/>
              <a:gd name="connsiteX5" fmla="*/ 2606040 w 2606040"/>
              <a:gd name="connsiteY5" fmla="*/ 18288 h 18288"/>
              <a:gd name="connsiteX6" fmla="*/ 1980590 w 2606040"/>
              <a:gd name="connsiteY6" fmla="*/ 18288 h 18288"/>
              <a:gd name="connsiteX7" fmla="*/ 1276960 w 2606040"/>
              <a:gd name="connsiteY7" fmla="*/ 18288 h 18288"/>
              <a:gd name="connsiteX8" fmla="*/ 65151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11079" y="-22080"/>
                  <a:pt x="479378" y="-26537"/>
                  <a:pt x="625450" y="0"/>
                </a:cubicBezTo>
                <a:cubicBezTo>
                  <a:pt x="925937" y="-4758"/>
                  <a:pt x="973176" y="15739"/>
                  <a:pt x="1224839" y="0"/>
                </a:cubicBezTo>
                <a:cubicBezTo>
                  <a:pt x="1479663" y="-11328"/>
                  <a:pt x="1566636" y="18697"/>
                  <a:pt x="1824228" y="0"/>
                </a:cubicBezTo>
                <a:cubicBezTo>
                  <a:pt x="2086799" y="-72665"/>
                  <a:pt x="2306223" y="-891"/>
                  <a:pt x="2606040" y="0"/>
                </a:cubicBezTo>
                <a:cubicBezTo>
                  <a:pt x="2606645" y="4461"/>
                  <a:pt x="2607031" y="13181"/>
                  <a:pt x="2606040" y="18288"/>
                </a:cubicBezTo>
                <a:cubicBezTo>
                  <a:pt x="2260204" y="29342"/>
                  <a:pt x="2175708" y="5614"/>
                  <a:pt x="1902409" y="18288"/>
                </a:cubicBezTo>
                <a:cubicBezTo>
                  <a:pt x="1638502" y="41064"/>
                  <a:pt x="1460923" y="-16269"/>
                  <a:pt x="1276960" y="18288"/>
                </a:cubicBezTo>
                <a:cubicBezTo>
                  <a:pt x="1057717" y="14361"/>
                  <a:pt x="867956" y="2320"/>
                  <a:pt x="677570" y="18288"/>
                </a:cubicBezTo>
                <a:cubicBezTo>
                  <a:pt x="457951" y="33373"/>
                  <a:pt x="189752" y="55388"/>
                  <a:pt x="0" y="18288"/>
                </a:cubicBezTo>
                <a:cubicBezTo>
                  <a:pt x="1586" y="13022"/>
                  <a:pt x="-95" y="4569"/>
                  <a:pt x="0" y="0"/>
                </a:cubicBezTo>
                <a:close/>
              </a:path>
              <a:path w="2606040" h="18288" stroke="0" extrusionOk="0">
                <a:moveTo>
                  <a:pt x="0" y="0"/>
                </a:moveTo>
                <a:cubicBezTo>
                  <a:pt x="172759" y="3236"/>
                  <a:pt x="361166" y="-13413"/>
                  <a:pt x="599389" y="0"/>
                </a:cubicBezTo>
                <a:cubicBezTo>
                  <a:pt x="841226" y="37042"/>
                  <a:pt x="968991" y="14587"/>
                  <a:pt x="1303020" y="0"/>
                </a:cubicBezTo>
                <a:cubicBezTo>
                  <a:pt x="1643101" y="-7120"/>
                  <a:pt x="1717813" y="7213"/>
                  <a:pt x="1876349" y="0"/>
                </a:cubicBezTo>
                <a:cubicBezTo>
                  <a:pt x="2036762" y="-14138"/>
                  <a:pt x="2426397" y="-4451"/>
                  <a:pt x="2606040" y="0"/>
                </a:cubicBezTo>
                <a:cubicBezTo>
                  <a:pt x="2606314" y="8448"/>
                  <a:pt x="2606550" y="14527"/>
                  <a:pt x="2606040" y="18288"/>
                </a:cubicBezTo>
                <a:cubicBezTo>
                  <a:pt x="2344840" y="2643"/>
                  <a:pt x="2192043" y="7399"/>
                  <a:pt x="1980590" y="18288"/>
                </a:cubicBezTo>
                <a:cubicBezTo>
                  <a:pt x="1783984" y="-9745"/>
                  <a:pt x="1487673" y="45908"/>
                  <a:pt x="1276960" y="18288"/>
                </a:cubicBezTo>
                <a:cubicBezTo>
                  <a:pt x="1088134" y="-41257"/>
                  <a:pt x="877974" y="49968"/>
                  <a:pt x="651510" y="18288"/>
                </a:cubicBezTo>
                <a:cubicBezTo>
                  <a:pt x="430798" y="-27764"/>
                  <a:pt x="132889" y="-33467"/>
                  <a:pt x="0" y="18288"/>
                </a:cubicBezTo>
                <a:cubicBezTo>
                  <a:pt x="212" y="10845"/>
                  <a:pt x="-833" y="6193"/>
                  <a:pt x="0" y="0"/>
                </a:cubicBezTo>
                <a:close/>
              </a:path>
              <a:path w="2606040" h="18288" fill="none" stroke="0" extrusionOk="0">
                <a:moveTo>
                  <a:pt x="0" y="0"/>
                </a:moveTo>
                <a:cubicBezTo>
                  <a:pt x="202328" y="-14716"/>
                  <a:pt x="332722" y="-11499"/>
                  <a:pt x="625450" y="0"/>
                </a:cubicBezTo>
                <a:cubicBezTo>
                  <a:pt x="927712" y="6878"/>
                  <a:pt x="971143" y="7084"/>
                  <a:pt x="1224839" y="0"/>
                </a:cubicBezTo>
                <a:cubicBezTo>
                  <a:pt x="1477775" y="-16815"/>
                  <a:pt x="1569904" y="19146"/>
                  <a:pt x="1824228" y="0"/>
                </a:cubicBezTo>
                <a:cubicBezTo>
                  <a:pt x="2055206" y="24867"/>
                  <a:pt x="2317192" y="-62872"/>
                  <a:pt x="2606040" y="0"/>
                </a:cubicBezTo>
                <a:cubicBezTo>
                  <a:pt x="2606166" y="3680"/>
                  <a:pt x="2606905" y="11461"/>
                  <a:pt x="2606040" y="18288"/>
                </a:cubicBezTo>
                <a:cubicBezTo>
                  <a:pt x="2234648" y="26976"/>
                  <a:pt x="2180202" y="-10361"/>
                  <a:pt x="1902409" y="18288"/>
                </a:cubicBezTo>
                <a:cubicBezTo>
                  <a:pt x="1635562" y="47194"/>
                  <a:pt x="1477339" y="4794"/>
                  <a:pt x="1276960" y="18288"/>
                </a:cubicBezTo>
                <a:cubicBezTo>
                  <a:pt x="1058094" y="66922"/>
                  <a:pt x="904206" y="-20636"/>
                  <a:pt x="677570" y="18288"/>
                </a:cubicBezTo>
                <a:cubicBezTo>
                  <a:pt x="485746" y="14713"/>
                  <a:pt x="195925" y="33005"/>
                  <a:pt x="0" y="18288"/>
                </a:cubicBezTo>
                <a:cubicBezTo>
                  <a:pt x="1168" y="12774"/>
                  <a:pt x="-229" y="374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317634" y="2872899"/>
            <a:ext cx="3664999" cy="3320668"/>
          </a:xfrm>
        </p:spPr>
        <p:txBody>
          <a:bodyPr>
            <a:noAutofit/>
          </a:bodyPr>
          <a:lstStyle/>
          <a:p>
            <a:pPr marL="0" indent="0">
              <a:buNone/>
            </a:pPr>
            <a:r>
              <a:rPr lang="en-US" sz="2400" dirty="0">
                <a:solidFill>
                  <a:schemeClr val="accent5"/>
                </a:solidFill>
              </a:rPr>
              <a:t>Personal Importance</a:t>
            </a:r>
            <a:r>
              <a:rPr lang="en-US" sz="2400" dirty="0"/>
              <a:t>: </a:t>
            </a:r>
          </a:p>
          <a:p>
            <a:pPr marL="0" indent="0">
              <a:buNone/>
            </a:pPr>
            <a:r>
              <a:rPr lang="en-US" sz="2400" dirty="0"/>
              <a:t>Generally more committed to pursuing goals that are personally important (Brunstein, 1993).</a:t>
            </a:r>
          </a:p>
        </p:txBody>
      </p:sp>
      <p:pic>
        <p:nvPicPr>
          <p:cNvPr id="3" name="Picture 2">
            <a:extLst>
              <a:ext uri="{FF2B5EF4-FFF2-40B4-BE49-F238E27FC236}">
                <a16:creationId xmlns:a16="http://schemas.microsoft.com/office/drawing/2014/main" id="{24FD4892-F733-4596-9DC5-82F1DC41C2E2}"/>
              </a:ext>
            </a:extLst>
          </p:cNvPr>
          <p:cNvPicPr>
            <a:picLocks noChangeAspect="1"/>
          </p:cNvPicPr>
          <p:nvPr/>
        </p:nvPicPr>
        <p:blipFill rotWithShape="1">
          <a:blip r:embed="rId3"/>
          <a:srcRect l="32353" r="17432"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Footer Placeholder 3">
            <a:extLst>
              <a:ext uri="{FF2B5EF4-FFF2-40B4-BE49-F238E27FC236}">
                <a16:creationId xmlns:a16="http://schemas.microsoft.com/office/drawing/2014/main" id="{AAE4327F-595E-4F27-9C49-5183C05AFE38}"/>
              </a:ext>
            </a:extLst>
          </p:cNvPr>
          <p:cNvSpPr>
            <a:spLocks noGrp="1"/>
          </p:cNvSpPr>
          <p:nvPr>
            <p:ph type="ftr" sz="quarter" idx="11"/>
          </p:nvPr>
        </p:nvSpPr>
        <p:spPr>
          <a:xfrm>
            <a:off x="4686300" y="6356350"/>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a:t>
            </a:r>
            <a:br>
              <a:rPr lang="en-US" sz="900">
                <a:solidFill>
                  <a:srgbClr val="FFFFFF"/>
                </a:solidFill>
              </a:rPr>
            </a:br>
            <a:r>
              <a:rPr lang="en-US" sz="900">
                <a:solidFill>
                  <a:srgbClr val="FFFFFF"/>
                </a:solidFill>
              </a:rPr>
              <a:t>© Cambridge University Press 2021</a:t>
            </a:r>
          </a:p>
        </p:txBody>
      </p:sp>
    </p:spTree>
    <p:extLst>
      <p:ext uri="{BB962C8B-B14F-4D97-AF65-F5344CB8AC3E}">
        <p14:creationId xmlns:p14="http://schemas.microsoft.com/office/powerpoint/2010/main" val="2424255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480060" y="325369"/>
            <a:ext cx="3276451" cy="1956841"/>
          </a:xfrm>
        </p:spPr>
        <p:txBody>
          <a:bodyPr anchor="b">
            <a:normAutofit/>
          </a:bodyPr>
          <a:lstStyle/>
          <a:p>
            <a:r>
              <a:rPr lang="en-US" sz="4000"/>
              <a:t>Characteristics of goals</a:t>
            </a:r>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317634" y="2282210"/>
            <a:ext cx="3664999" cy="3911357"/>
          </a:xfrm>
        </p:spPr>
        <p:txBody>
          <a:bodyPr>
            <a:noAutofit/>
          </a:bodyPr>
          <a:lstStyle/>
          <a:p>
            <a:pPr marL="0" indent="0">
              <a:buNone/>
            </a:pPr>
            <a:r>
              <a:rPr lang="en-US" sz="1800" dirty="0">
                <a:solidFill>
                  <a:schemeClr val="accent5"/>
                </a:solidFill>
              </a:rPr>
              <a:t>Difficulty</a:t>
            </a:r>
            <a:r>
              <a:rPr lang="en-US" sz="1800" dirty="0"/>
              <a:t>:</a:t>
            </a:r>
            <a:r>
              <a:rPr lang="en-US" sz="1800" i="1" dirty="0"/>
              <a:t> </a:t>
            </a:r>
          </a:p>
          <a:p>
            <a:pPr marL="457200" lvl="1" indent="0">
              <a:buNone/>
            </a:pPr>
            <a:r>
              <a:rPr lang="en-US" sz="1800" dirty="0"/>
              <a:t>Stronger positive emotions from accomplishing more challenging goals (Wiese, 2007). </a:t>
            </a:r>
          </a:p>
          <a:p>
            <a:pPr marL="457200" lvl="1" indent="0">
              <a:buNone/>
            </a:pPr>
            <a:r>
              <a:rPr lang="en-US" sz="1800" dirty="0"/>
              <a:t>Difficult goals also appear to be more motivating, often leading to better performance (Locke &amp; Latham, 2015).  </a:t>
            </a:r>
          </a:p>
          <a:p>
            <a:pPr lvl="1"/>
            <a:r>
              <a:rPr lang="en-US" sz="1800" dirty="0"/>
              <a:t>However, there may be a threshold where, beyond a certain point, greater goal difficulty leads to lowered motivation (Kerr &amp; </a:t>
            </a:r>
            <a:r>
              <a:rPr lang="en-US" sz="1800" dirty="0" err="1"/>
              <a:t>LePelley</a:t>
            </a:r>
            <a:r>
              <a:rPr lang="en-US" sz="1800" dirty="0"/>
              <a:t>, 2013).</a:t>
            </a:r>
          </a:p>
        </p:txBody>
      </p:sp>
      <p:pic>
        <p:nvPicPr>
          <p:cNvPr id="3" name="Picture 2">
            <a:extLst>
              <a:ext uri="{FF2B5EF4-FFF2-40B4-BE49-F238E27FC236}">
                <a16:creationId xmlns:a16="http://schemas.microsoft.com/office/drawing/2014/main" id="{24FD4892-F733-4596-9DC5-82F1DC41C2E2}"/>
              </a:ext>
            </a:extLst>
          </p:cNvPr>
          <p:cNvPicPr>
            <a:picLocks noChangeAspect="1"/>
          </p:cNvPicPr>
          <p:nvPr/>
        </p:nvPicPr>
        <p:blipFill rotWithShape="1">
          <a:blip r:embed="rId3"/>
          <a:srcRect l="32353" r="17432"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Footer Placeholder 3">
            <a:extLst>
              <a:ext uri="{FF2B5EF4-FFF2-40B4-BE49-F238E27FC236}">
                <a16:creationId xmlns:a16="http://schemas.microsoft.com/office/drawing/2014/main" id="{AAE4327F-595E-4F27-9C49-5183C05AFE38}"/>
              </a:ext>
            </a:extLst>
          </p:cNvPr>
          <p:cNvSpPr>
            <a:spLocks noGrp="1"/>
          </p:cNvSpPr>
          <p:nvPr>
            <p:ph type="ftr" sz="quarter" idx="11"/>
          </p:nvPr>
        </p:nvSpPr>
        <p:spPr>
          <a:xfrm>
            <a:off x="4686300" y="6356350"/>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a:t>
            </a:r>
            <a:br>
              <a:rPr lang="en-US" sz="900">
                <a:solidFill>
                  <a:srgbClr val="FFFFFF"/>
                </a:solidFill>
              </a:rPr>
            </a:br>
            <a:r>
              <a:rPr lang="en-US" sz="900">
                <a:solidFill>
                  <a:srgbClr val="FFFFFF"/>
                </a:solidFill>
              </a:rPr>
              <a:t>© Cambridge University Press 2021</a:t>
            </a:r>
          </a:p>
        </p:txBody>
      </p:sp>
    </p:spTree>
    <p:extLst>
      <p:ext uri="{BB962C8B-B14F-4D97-AF65-F5344CB8AC3E}">
        <p14:creationId xmlns:p14="http://schemas.microsoft.com/office/powerpoint/2010/main" val="739986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217DF9-ECB2-4D0E-B741-01F32EC5F1EF}"/>
              </a:ext>
            </a:extLst>
          </p:cNvPr>
          <p:cNvSpPr>
            <a:spLocks noGrp="1"/>
          </p:cNvSpPr>
          <p:nvPr>
            <p:ph type="title"/>
          </p:nvPr>
        </p:nvSpPr>
        <p:spPr>
          <a:xfrm>
            <a:off x="473202" y="640080"/>
            <a:ext cx="3614166" cy="1481328"/>
          </a:xfrm>
        </p:spPr>
        <p:txBody>
          <a:bodyPr anchor="b">
            <a:normAutofit/>
          </a:bodyPr>
          <a:lstStyle/>
          <a:p>
            <a:r>
              <a:rPr lang="en-US" sz="4300"/>
              <a:t>Characteristics of Goals</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 name="connsiteX0" fmla="*/ 0 w 2441321"/>
              <a:gd name="connsiteY0" fmla="*/ 0 h 18288"/>
              <a:gd name="connsiteX1" fmla="*/ 585917 w 2441321"/>
              <a:gd name="connsiteY1" fmla="*/ 0 h 18288"/>
              <a:gd name="connsiteX2" fmla="*/ 1123008 w 2441321"/>
              <a:gd name="connsiteY2" fmla="*/ 0 h 18288"/>
              <a:gd name="connsiteX3" fmla="*/ 1782164 w 2441321"/>
              <a:gd name="connsiteY3" fmla="*/ 0 h 18288"/>
              <a:gd name="connsiteX4" fmla="*/ 2441321 w 2441321"/>
              <a:gd name="connsiteY4" fmla="*/ 0 h 18288"/>
              <a:gd name="connsiteX5" fmla="*/ 2441321 w 2441321"/>
              <a:gd name="connsiteY5" fmla="*/ 18288 h 18288"/>
              <a:gd name="connsiteX6" fmla="*/ 1879817 w 2441321"/>
              <a:gd name="connsiteY6" fmla="*/ 18288 h 18288"/>
              <a:gd name="connsiteX7" fmla="*/ 1318313 w 2441321"/>
              <a:gd name="connsiteY7" fmla="*/ 18288 h 18288"/>
              <a:gd name="connsiteX8" fmla="*/ 659157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1188" y="8366"/>
                  <a:pt x="2440365" y="10017"/>
                  <a:pt x="2441321" y="18288"/>
                </a:cubicBezTo>
                <a:cubicBezTo>
                  <a:pt x="2159375" y="49009"/>
                  <a:pt x="2054495" y="45666"/>
                  <a:pt x="1830991" y="18288"/>
                </a:cubicBezTo>
                <a:cubicBezTo>
                  <a:pt x="1615846" y="7509"/>
                  <a:pt x="1521674" y="-5422"/>
                  <a:pt x="1269487" y="18288"/>
                </a:cubicBezTo>
                <a:cubicBezTo>
                  <a:pt x="1019660" y="53960"/>
                  <a:pt x="886911" y="42351"/>
                  <a:pt x="707983" y="18288"/>
                </a:cubicBezTo>
                <a:cubicBezTo>
                  <a:pt x="523434" y="27321"/>
                  <a:pt x="307885" y="34316"/>
                  <a:pt x="0" y="18288"/>
                </a:cubicBezTo>
                <a:cubicBezTo>
                  <a:pt x="-595" y="11182"/>
                  <a:pt x="-5" y="6307"/>
                  <a:pt x="0" y="0"/>
                </a:cubicBezTo>
                <a:close/>
              </a:path>
              <a:path w="2441321" h="18288"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666" y="6144"/>
                  <a:pt x="2441358" y="10525"/>
                  <a:pt x="2441321" y="18288"/>
                </a:cubicBezTo>
                <a:cubicBezTo>
                  <a:pt x="2180658" y="18322"/>
                  <a:pt x="2084222" y="5934"/>
                  <a:pt x="1879817" y="18288"/>
                </a:cubicBezTo>
                <a:cubicBezTo>
                  <a:pt x="1668182" y="16222"/>
                  <a:pt x="1551159" y="-6477"/>
                  <a:pt x="1318313" y="18288"/>
                </a:cubicBezTo>
                <a:cubicBezTo>
                  <a:pt x="1059871" y="56395"/>
                  <a:pt x="901959" y="23831"/>
                  <a:pt x="659157" y="18288"/>
                </a:cubicBezTo>
                <a:cubicBezTo>
                  <a:pt x="444692" y="28483"/>
                  <a:pt x="245032" y="39882"/>
                  <a:pt x="0" y="18288"/>
                </a:cubicBezTo>
                <a:cubicBezTo>
                  <a:pt x="-11" y="10485"/>
                  <a:pt x="-221" y="3288"/>
                  <a:pt x="0" y="0"/>
                </a:cubicBezTo>
                <a:close/>
              </a:path>
              <a:path w="2441321" h="18288"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440" y="8687"/>
                  <a:pt x="2440452" y="9944"/>
                  <a:pt x="2441321" y="18288"/>
                </a:cubicBezTo>
                <a:cubicBezTo>
                  <a:pt x="2149099" y="27348"/>
                  <a:pt x="2027305" y="56470"/>
                  <a:pt x="1830991" y="18288"/>
                </a:cubicBezTo>
                <a:cubicBezTo>
                  <a:pt x="1614571" y="-18764"/>
                  <a:pt x="1500998" y="10727"/>
                  <a:pt x="1269487" y="18288"/>
                </a:cubicBezTo>
                <a:cubicBezTo>
                  <a:pt x="1042399" y="37834"/>
                  <a:pt x="927922" y="45822"/>
                  <a:pt x="707983" y="18288"/>
                </a:cubicBezTo>
                <a:cubicBezTo>
                  <a:pt x="502575" y="-5380"/>
                  <a:pt x="350393" y="34499"/>
                  <a:pt x="0" y="18288"/>
                </a:cubicBezTo>
                <a:cubicBezTo>
                  <a:pt x="-394" y="12154"/>
                  <a:pt x="907" y="6688"/>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0882FA-7159-46CF-8CC1-9A314191F25E}"/>
              </a:ext>
            </a:extLst>
          </p:cNvPr>
          <p:cNvSpPr>
            <a:spLocks noGrp="1"/>
          </p:cNvSpPr>
          <p:nvPr>
            <p:ph idx="1"/>
          </p:nvPr>
        </p:nvSpPr>
        <p:spPr>
          <a:xfrm>
            <a:off x="473202" y="2660904"/>
            <a:ext cx="3614166" cy="3547872"/>
          </a:xfrm>
        </p:spPr>
        <p:txBody>
          <a:bodyPr anchor="t">
            <a:noAutofit/>
          </a:bodyPr>
          <a:lstStyle/>
          <a:p>
            <a:r>
              <a:rPr lang="en-US" sz="1800" dirty="0"/>
              <a:t>Approach versus Avoidance Goals:</a:t>
            </a:r>
            <a:r>
              <a:rPr lang="en-US" sz="1800" b="1" dirty="0"/>
              <a:t> </a:t>
            </a:r>
          </a:p>
          <a:p>
            <a:pPr lvl="1"/>
            <a:r>
              <a:rPr lang="en-US" sz="1800" i="1" dirty="0"/>
              <a:t>Approach goals</a:t>
            </a:r>
            <a:r>
              <a:rPr lang="en-US" sz="1800" dirty="0"/>
              <a:t> involve attaining, achieving, or increasing something.</a:t>
            </a:r>
          </a:p>
          <a:p>
            <a:pPr lvl="1"/>
            <a:r>
              <a:rPr lang="en-US" sz="1800" i="1" dirty="0"/>
              <a:t>Avoidance goals</a:t>
            </a:r>
            <a:r>
              <a:rPr lang="en-US" sz="1800" dirty="0"/>
              <a:t> involve avoiding, stopping, or reducing something. </a:t>
            </a:r>
          </a:p>
          <a:p>
            <a:pPr lvl="1"/>
            <a:r>
              <a:rPr lang="en-US" sz="1800" dirty="0"/>
              <a:t>People who habitually frame goals in approach-oriented ways tend to be more successful at achieving them than those who frame goals in avoidance-oriented ways (</a:t>
            </a:r>
            <a:r>
              <a:rPr lang="en-US" sz="1800" dirty="0" err="1"/>
              <a:t>Higgens</a:t>
            </a:r>
            <a:r>
              <a:rPr lang="en-US" sz="1800" dirty="0"/>
              <a:t>, 1997).</a:t>
            </a:r>
          </a:p>
        </p:txBody>
      </p:sp>
      <p:pic>
        <p:nvPicPr>
          <p:cNvPr id="5" name="Picture 4">
            <a:extLst>
              <a:ext uri="{FF2B5EF4-FFF2-40B4-BE49-F238E27FC236}">
                <a16:creationId xmlns:a16="http://schemas.microsoft.com/office/drawing/2014/main" id="{28A9A557-1015-497A-A2F3-FEC4090FA69A}"/>
              </a:ext>
            </a:extLst>
          </p:cNvPr>
          <p:cNvPicPr>
            <a:picLocks noChangeAspect="1"/>
          </p:cNvPicPr>
          <p:nvPr/>
        </p:nvPicPr>
        <p:blipFill>
          <a:blip r:embed="rId2"/>
          <a:stretch>
            <a:fillRect/>
          </a:stretch>
        </p:blipFill>
        <p:spPr>
          <a:xfrm>
            <a:off x="4574286" y="2159790"/>
            <a:ext cx="4094226" cy="2538420"/>
          </a:xfrm>
          <a:prstGeom prst="rect">
            <a:avLst/>
          </a:prstGeom>
        </p:spPr>
      </p:pic>
      <p:sp>
        <p:nvSpPr>
          <p:cNvPr id="4" name="Footer Placeholder 3">
            <a:extLst>
              <a:ext uri="{FF2B5EF4-FFF2-40B4-BE49-F238E27FC236}">
                <a16:creationId xmlns:a16="http://schemas.microsoft.com/office/drawing/2014/main" id="{7A7947E9-FE00-4558-A9E8-89FBBD8C1BE6}"/>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597923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217DF9-ECB2-4D0E-B741-01F32EC5F1EF}"/>
              </a:ext>
            </a:extLst>
          </p:cNvPr>
          <p:cNvSpPr>
            <a:spLocks noGrp="1"/>
          </p:cNvSpPr>
          <p:nvPr>
            <p:ph type="title"/>
          </p:nvPr>
        </p:nvSpPr>
        <p:spPr>
          <a:xfrm>
            <a:off x="5054346" y="638089"/>
            <a:ext cx="3614166" cy="1476801"/>
          </a:xfrm>
        </p:spPr>
        <p:txBody>
          <a:bodyPr anchor="b">
            <a:normAutofit/>
          </a:bodyPr>
          <a:lstStyle/>
          <a:p>
            <a:r>
              <a:rPr lang="en-US" sz="4300"/>
              <a:t>Characteristics of Goals</a:t>
            </a:r>
          </a:p>
        </p:txBody>
      </p:sp>
      <p:pic>
        <p:nvPicPr>
          <p:cNvPr id="5" name="Picture 4">
            <a:extLst>
              <a:ext uri="{FF2B5EF4-FFF2-40B4-BE49-F238E27FC236}">
                <a16:creationId xmlns:a16="http://schemas.microsoft.com/office/drawing/2014/main" id="{28FE53CF-AED5-46AB-846F-35CFB0330ECF}"/>
              </a:ext>
            </a:extLst>
          </p:cNvPr>
          <p:cNvPicPr>
            <a:picLocks noChangeAspect="1"/>
          </p:cNvPicPr>
          <p:nvPr/>
        </p:nvPicPr>
        <p:blipFill>
          <a:blip r:embed="rId2"/>
          <a:stretch>
            <a:fillRect/>
          </a:stretch>
        </p:blipFill>
        <p:spPr>
          <a:xfrm>
            <a:off x="473202" y="2282617"/>
            <a:ext cx="4094226" cy="2292766"/>
          </a:xfrm>
          <a:prstGeom prst="rect">
            <a:avLst/>
          </a:prstGeom>
        </p:spPr>
      </p:pic>
      <p:sp>
        <p:nvSpPr>
          <p:cNvPr id="12"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54346" y="2372868"/>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 name="connsiteX0" fmla="*/ 0 w 2441321"/>
              <a:gd name="connsiteY0" fmla="*/ 0 h 18288"/>
              <a:gd name="connsiteX1" fmla="*/ 585917 w 2441321"/>
              <a:gd name="connsiteY1" fmla="*/ 0 h 18288"/>
              <a:gd name="connsiteX2" fmla="*/ 1123008 w 2441321"/>
              <a:gd name="connsiteY2" fmla="*/ 0 h 18288"/>
              <a:gd name="connsiteX3" fmla="*/ 1782164 w 2441321"/>
              <a:gd name="connsiteY3" fmla="*/ 0 h 18288"/>
              <a:gd name="connsiteX4" fmla="*/ 2441321 w 2441321"/>
              <a:gd name="connsiteY4" fmla="*/ 0 h 18288"/>
              <a:gd name="connsiteX5" fmla="*/ 2441321 w 2441321"/>
              <a:gd name="connsiteY5" fmla="*/ 18288 h 18288"/>
              <a:gd name="connsiteX6" fmla="*/ 1879817 w 2441321"/>
              <a:gd name="connsiteY6" fmla="*/ 18288 h 18288"/>
              <a:gd name="connsiteX7" fmla="*/ 1318313 w 2441321"/>
              <a:gd name="connsiteY7" fmla="*/ 18288 h 18288"/>
              <a:gd name="connsiteX8" fmla="*/ 659157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1188" y="8366"/>
                  <a:pt x="2440365" y="10017"/>
                  <a:pt x="2441321" y="18288"/>
                </a:cubicBezTo>
                <a:cubicBezTo>
                  <a:pt x="2159375" y="49009"/>
                  <a:pt x="2054495" y="45666"/>
                  <a:pt x="1830991" y="18288"/>
                </a:cubicBezTo>
                <a:cubicBezTo>
                  <a:pt x="1615846" y="7509"/>
                  <a:pt x="1521674" y="-5422"/>
                  <a:pt x="1269487" y="18288"/>
                </a:cubicBezTo>
                <a:cubicBezTo>
                  <a:pt x="1019660" y="53960"/>
                  <a:pt x="886911" y="42351"/>
                  <a:pt x="707983" y="18288"/>
                </a:cubicBezTo>
                <a:cubicBezTo>
                  <a:pt x="523434" y="27321"/>
                  <a:pt x="307885" y="34316"/>
                  <a:pt x="0" y="18288"/>
                </a:cubicBezTo>
                <a:cubicBezTo>
                  <a:pt x="-595" y="11182"/>
                  <a:pt x="-5" y="6307"/>
                  <a:pt x="0" y="0"/>
                </a:cubicBezTo>
                <a:close/>
              </a:path>
              <a:path w="2441321" h="18288"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666" y="6144"/>
                  <a:pt x="2441358" y="10525"/>
                  <a:pt x="2441321" y="18288"/>
                </a:cubicBezTo>
                <a:cubicBezTo>
                  <a:pt x="2180658" y="18322"/>
                  <a:pt x="2084222" y="5934"/>
                  <a:pt x="1879817" y="18288"/>
                </a:cubicBezTo>
                <a:cubicBezTo>
                  <a:pt x="1668182" y="16222"/>
                  <a:pt x="1551159" y="-6477"/>
                  <a:pt x="1318313" y="18288"/>
                </a:cubicBezTo>
                <a:cubicBezTo>
                  <a:pt x="1059871" y="56395"/>
                  <a:pt x="901959" y="23831"/>
                  <a:pt x="659157" y="18288"/>
                </a:cubicBezTo>
                <a:cubicBezTo>
                  <a:pt x="444692" y="28483"/>
                  <a:pt x="245032" y="39882"/>
                  <a:pt x="0" y="18288"/>
                </a:cubicBezTo>
                <a:cubicBezTo>
                  <a:pt x="-11" y="10485"/>
                  <a:pt x="-221" y="3288"/>
                  <a:pt x="0" y="0"/>
                </a:cubicBezTo>
                <a:close/>
              </a:path>
              <a:path w="2441321" h="18288"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440" y="8687"/>
                  <a:pt x="2440452" y="9944"/>
                  <a:pt x="2441321" y="18288"/>
                </a:cubicBezTo>
                <a:cubicBezTo>
                  <a:pt x="2149099" y="27348"/>
                  <a:pt x="2027305" y="56470"/>
                  <a:pt x="1830991" y="18288"/>
                </a:cubicBezTo>
                <a:cubicBezTo>
                  <a:pt x="1614571" y="-18764"/>
                  <a:pt x="1500998" y="10727"/>
                  <a:pt x="1269487" y="18288"/>
                </a:cubicBezTo>
                <a:cubicBezTo>
                  <a:pt x="1042399" y="37834"/>
                  <a:pt x="927922" y="45822"/>
                  <a:pt x="707983" y="18288"/>
                </a:cubicBezTo>
                <a:cubicBezTo>
                  <a:pt x="502575" y="-5380"/>
                  <a:pt x="350393" y="34499"/>
                  <a:pt x="0" y="18288"/>
                </a:cubicBezTo>
                <a:cubicBezTo>
                  <a:pt x="-394" y="12154"/>
                  <a:pt x="907" y="6688"/>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0882FA-7159-46CF-8CC1-9A314191F25E}"/>
              </a:ext>
            </a:extLst>
          </p:cNvPr>
          <p:cNvSpPr>
            <a:spLocks noGrp="1"/>
          </p:cNvSpPr>
          <p:nvPr>
            <p:ph idx="1"/>
          </p:nvPr>
        </p:nvSpPr>
        <p:spPr>
          <a:xfrm>
            <a:off x="5054346" y="2664886"/>
            <a:ext cx="3614166" cy="3550789"/>
          </a:xfrm>
        </p:spPr>
        <p:txBody>
          <a:bodyPr anchor="t">
            <a:noAutofit/>
          </a:bodyPr>
          <a:lstStyle/>
          <a:p>
            <a:r>
              <a:rPr lang="en-US" sz="1600" dirty="0"/>
              <a:t>Specific versus Abstract Goals:</a:t>
            </a:r>
            <a:r>
              <a:rPr lang="en-US" sz="1600" b="1" dirty="0"/>
              <a:t> </a:t>
            </a:r>
          </a:p>
          <a:p>
            <a:pPr lvl="1"/>
            <a:r>
              <a:rPr lang="en-US" sz="1600" dirty="0"/>
              <a:t>The more </a:t>
            </a:r>
            <a:r>
              <a:rPr lang="en-US" sz="1600" i="1" dirty="0"/>
              <a:t>specific</a:t>
            </a:r>
            <a:r>
              <a:rPr lang="en-US" sz="1600" dirty="0"/>
              <a:t> goals are, the more they “detail specific, tangible rewards achieved by particular behaviors in response to particular contexts” (Fujita &amp; MacGregor, 2012, p. 86). </a:t>
            </a:r>
          </a:p>
          <a:p>
            <a:pPr lvl="1"/>
            <a:r>
              <a:rPr lang="en-US" sz="1600" dirty="0"/>
              <a:t>The more </a:t>
            </a:r>
            <a:r>
              <a:rPr lang="en-US" sz="1600" i="1" dirty="0"/>
              <a:t>abstract</a:t>
            </a:r>
            <a:r>
              <a:rPr lang="en-US" sz="1600" dirty="0"/>
              <a:t> goals are, the more they reflect “general aims that transcend specific situations” (p. 86). </a:t>
            </a:r>
          </a:p>
          <a:p>
            <a:pPr lvl="1"/>
            <a:r>
              <a:rPr lang="en-US" sz="1600" dirty="0"/>
              <a:t>Overall, research shows that people tend to perform better when their goals are more specific (Sheeran &amp; Webb, 2012), and thus experience greater emotional well-being.</a:t>
            </a:r>
            <a:r>
              <a:rPr lang="en-US" sz="1600" i="1" dirty="0"/>
              <a:t> </a:t>
            </a:r>
            <a:endParaRPr lang="en-US" sz="1600" dirty="0"/>
          </a:p>
        </p:txBody>
      </p:sp>
      <p:sp>
        <p:nvSpPr>
          <p:cNvPr id="4" name="Footer Placeholder 3">
            <a:extLst>
              <a:ext uri="{FF2B5EF4-FFF2-40B4-BE49-F238E27FC236}">
                <a16:creationId xmlns:a16="http://schemas.microsoft.com/office/drawing/2014/main" id="{7A7947E9-FE00-4558-A9E8-89FBBD8C1BE6}"/>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1642843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473202" y="640080"/>
            <a:ext cx="3614166" cy="1481328"/>
          </a:xfrm>
        </p:spPr>
        <p:txBody>
          <a:bodyPr anchor="b">
            <a:normAutofit/>
          </a:bodyPr>
          <a:lstStyle/>
          <a:p>
            <a:r>
              <a:rPr lang="en-US" sz="4300"/>
              <a:t>Characteristics of goals</a:t>
            </a:r>
          </a:p>
        </p:txBody>
      </p:sp>
      <p:sp>
        <p:nvSpPr>
          <p:cNvPr id="13"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 name="connsiteX0" fmla="*/ 0 w 2441321"/>
              <a:gd name="connsiteY0" fmla="*/ 0 h 18288"/>
              <a:gd name="connsiteX1" fmla="*/ 585917 w 2441321"/>
              <a:gd name="connsiteY1" fmla="*/ 0 h 18288"/>
              <a:gd name="connsiteX2" fmla="*/ 1123008 w 2441321"/>
              <a:gd name="connsiteY2" fmla="*/ 0 h 18288"/>
              <a:gd name="connsiteX3" fmla="*/ 1782164 w 2441321"/>
              <a:gd name="connsiteY3" fmla="*/ 0 h 18288"/>
              <a:gd name="connsiteX4" fmla="*/ 2441321 w 2441321"/>
              <a:gd name="connsiteY4" fmla="*/ 0 h 18288"/>
              <a:gd name="connsiteX5" fmla="*/ 2441321 w 2441321"/>
              <a:gd name="connsiteY5" fmla="*/ 18288 h 18288"/>
              <a:gd name="connsiteX6" fmla="*/ 1879817 w 2441321"/>
              <a:gd name="connsiteY6" fmla="*/ 18288 h 18288"/>
              <a:gd name="connsiteX7" fmla="*/ 1318313 w 2441321"/>
              <a:gd name="connsiteY7" fmla="*/ 18288 h 18288"/>
              <a:gd name="connsiteX8" fmla="*/ 659157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1188" y="8366"/>
                  <a:pt x="2440365" y="10017"/>
                  <a:pt x="2441321" y="18288"/>
                </a:cubicBezTo>
                <a:cubicBezTo>
                  <a:pt x="2159375" y="49009"/>
                  <a:pt x="2054495" y="45666"/>
                  <a:pt x="1830991" y="18288"/>
                </a:cubicBezTo>
                <a:cubicBezTo>
                  <a:pt x="1615846" y="7509"/>
                  <a:pt x="1521674" y="-5422"/>
                  <a:pt x="1269487" y="18288"/>
                </a:cubicBezTo>
                <a:cubicBezTo>
                  <a:pt x="1019660" y="53960"/>
                  <a:pt x="886911" y="42351"/>
                  <a:pt x="707983" y="18288"/>
                </a:cubicBezTo>
                <a:cubicBezTo>
                  <a:pt x="523434" y="27321"/>
                  <a:pt x="307885" y="34316"/>
                  <a:pt x="0" y="18288"/>
                </a:cubicBezTo>
                <a:cubicBezTo>
                  <a:pt x="-595" y="11182"/>
                  <a:pt x="-5" y="6307"/>
                  <a:pt x="0" y="0"/>
                </a:cubicBezTo>
                <a:close/>
              </a:path>
              <a:path w="2441321" h="18288"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666" y="6144"/>
                  <a:pt x="2441358" y="10525"/>
                  <a:pt x="2441321" y="18288"/>
                </a:cubicBezTo>
                <a:cubicBezTo>
                  <a:pt x="2180658" y="18322"/>
                  <a:pt x="2084222" y="5934"/>
                  <a:pt x="1879817" y="18288"/>
                </a:cubicBezTo>
                <a:cubicBezTo>
                  <a:pt x="1668182" y="16222"/>
                  <a:pt x="1551159" y="-6477"/>
                  <a:pt x="1318313" y="18288"/>
                </a:cubicBezTo>
                <a:cubicBezTo>
                  <a:pt x="1059871" y="56395"/>
                  <a:pt x="901959" y="23831"/>
                  <a:pt x="659157" y="18288"/>
                </a:cubicBezTo>
                <a:cubicBezTo>
                  <a:pt x="444692" y="28483"/>
                  <a:pt x="245032" y="39882"/>
                  <a:pt x="0" y="18288"/>
                </a:cubicBezTo>
                <a:cubicBezTo>
                  <a:pt x="-11" y="10485"/>
                  <a:pt x="-221" y="3288"/>
                  <a:pt x="0" y="0"/>
                </a:cubicBezTo>
                <a:close/>
              </a:path>
              <a:path w="2441321" h="18288"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440" y="8687"/>
                  <a:pt x="2440452" y="9944"/>
                  <a:pt x="2441321" y="18288"/>
                </a:cubicBezTo>
                <a:cubicBezTo>
                  <a:pt x="2149099" y="27348"/>
                  <a:pt x="2027305" y="56470"/>
                  <a:pt x="1830991" y="18288"/>
                </a:cubicBezTo>
                <a:cubicBezTo>
                  <a:pt x="1614571" y="-18764"/>
                  <a:pt x="1500998" y="10727"/>
                  <a:pt x="1269487" y="18288"/>
                </a:cubicBezTo>
                <a:cubicBezTo>
                  <a:pt x="1042399" y="37834"/>
                  <a:pt x="927922" y="45822"/>
                  <a:pt x="707983" y="18288"/>
                </a:cubicBezTo>
                <a:cubicBezTo>
                  <a:pt x="502575" y="-5380"/>
                  <a:pt x="350393" y="34499"/>
                  <a:pt x="0" y="18288"/>
                </a:cubicBezTo>
                <a:cubicBezTo>
                  <a:pt x="-394" y="12154"/>
                  <a:pt x="907" y="6688"/>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40913660-0F5F-4D1F-84CB-4AA60CFBA583}"/>
              </a:ext>
            </a:extLst>
          </p:cNvPr>
          <p:cNvSpPr>
            <a:spLocks noGrp="1"/>
          </p:cNvSpPr>
          <p:nvPr>
            <p:ph idx="1"/>
          </p:nvPr>
        </p:nvSpPr>
        <p:spPr>
          <a:xfrm>
            <a:off x="473202" y="2660904"/>
            <a:ext cx="3614166" cy="3547872"/>
          </a:xfrm>
        </p:spPr>
        <p:txBody>
          <a:bodyPr anchor="t">
            <a:normAutofit/>
          </a:bodyPr>
          <a:lstStyle/>
          <a:p>
            <a:r>
              <a:rPr lang="en-US" sz="1300"/>
              <a:t>Intrinsic versus Extrinsic Goals:</a:t>
            </a:r>
            <a:r>
              <a:rPr lang="en-US" sz="1300" i="1"/>
              <a:t> </a:t>
            </a:r>
          </a:p>
          <a:p>
            <a:pPr lvl="1"/>
            <a:r>
              <a:rPr lang="en-US" sz="1300" i="1"/>
              <a:t>Intrinsic goals</a:t>
            </a:r>
            <a:r>
              <a:rPr lang="en-US" sz="1300"/>
              <a:t>: Also known as </a:t>
            </a:r>
            <a:r>
              <a:rPr lang="en-US" sz="1300" i="1"/>
              <a:t>self-concordant goals</a:t>
            </a:r>
            <a:r>
              <a:rPr lang="en-US" sz="1300"/>
              <a:t>, these satisfy our deepest needs and values, often including personal growth and interpersonal closeness. </a:t>
            </a:r>
          </a:p>
          <a:p>
            <a:pPr lvl="1"/>
            <a:r>
              <a:rPr lang="en-US" sz="1300" i="1"/>
              <a:t>Extrinsic goals</a:t>
            </a:r>
            <a:r>
              <a:rPr lang="en-US" sz="1300"/>
              <a:t>: Goals that primarily lead to external rewards and approval like wealth, status, or fame. </a:t>
            </a:r>
          </a:p>
          <a:p>
            <a:pPr lvl="1"/>
            <a:r>
              <a:rPr lang="en-US" sz="1300"/>
              <a:t>In general, people with greater numbers of intrinsic goals tend to experience higher levels of psychological well-being than those with greater numbers of extrinsic goals and are more motivated to achieve their goals (e.g., Kassar &amp; Ryan, 2001; Koestner et al., 2002).</a:t>
            </a:r>
          </a:p>
        </p:txBody>
      </p:sp>
      <p:pic>
        <p:nvPicPr>
          <p:cNvPr id="3" name="Picture 2">
            <a:extLst>
              <a:ext uri="{FF2B5EF4-FFF2-40B4-BE49-F238E27FC236}">
                <a16:creationId xmlns:a16="http://schemas.microsoft.com/office/drawing/2014/main" id="{17E33457-6BEF-428A-AC32-0867EBCBFEFF}"/>
              </a:ext>
            </a:extLst>
          </p:cNvPr>
          <p:cNvPicPr>
            <a:picLocks noChangeAspect="1"/>
          </p:cNvPicPr>
          <p:nvPr/>
        </p:nvPicPr>
        <p:blipFill>
          <a:blip r:embed="rId3"/>
          <a:stretch>
            <a:fillRect/>
          </a:stretch>
        </p:blipFill>
        <p:spPr>
          <a:xfrm>
            <a:off x="4574286" y="2062552"/>
            <a:ext cx="4094226" cy="2732895"/>
          </a:xfrm>
          <a:prstGeom prst="rect">
            <a:avLst/>
          </a:prstGeom>
        </p:spPr>
      </p:pic>
      <p:sp>
        <p:nvSpPr>
          <p:cNvPr id="4" name="Footer Placeholder 3">
            <a:extLst>
              <a:ext uri="{FF2B5EF4-FFF2-40B4-BE49-F238E27FC236}">
                <a16:creationId xmlns:a16="http://schemas.microsoft.com/office/drawing/2014/main" id="{AAE4327F-595E-4F27-9C49-5183C05AFE38}"/>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1359540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11F734-8170-4D33-9F89-B8487E92A73F}"/>
              </a:ext>
            </a:extLst>
          </p:cNvPr>
          <p:cNvSpPr>
            <a:spLocks noGrp="1"/>
          </p:cNvSpPr>
          <p:nvPr>
            <p:ph type="title"/>
          </p:nvPr>
        </p:nvSpPr>
        <p:spPr>
          <a:xfrm>
            <a:off x="667753" y="640080"/>
            <a:ext cx="2800511" cy="3566160"/>
          </a:xfrm>
        </p:spPr>
        <p:txBody>
          <a:bodyPr vert="horz" lIns="91440" tIns="45720" rIns="91440" bIns="45720" rtlCol="0" anchor="b">
            <a:normAutofit/>
          </a:bodyPr>
          <a:lstStyle/>
          <a:p>
            <a:pPr algn="l"/>
            <a:r>
              <a:rPr lang="en-US" sz="4000" dirty="0"/>
              <a:t>Optimism:</a:t>
            </a:r>
            <a:br>
              <a:rPr lang="en-US" sz="4000" dirty="0"/>
            </a:br>
            <a:r>
              <a:rPr lang="en-US" sz="4000" dirty="0"/>
              <a:t>Learned and </a:t>
            </a:r>
            <a:br>
              <a:rPr lang="en-US" sz="4000" dirty="0"/>
            </a:br>
            <a:r>
              <a:rPr lang="en-US" sz="4000" dirty="0"/>
              <a:t>Dispositional</a:t>
            </a:r>
          </a:p>
        </p:txBody>
      </p:sp>
      <p:sp>
        <p:nvSpPr>
          <p:cNvPr id="19"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7753" y="4409267"/>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 name="connsiteX0" fmla="*/ 0 w 2606040"/>
              <a:gd name="connsiteY0" fmla="*/ 0 h 18288"/>
              <a:gd name="connsiteX1" fmla="*/ 599389 w 2606040"/>
              <a:gd name="connsiteY1" fmla="*/ 0 h 18288"/>
              <a:gd name="connsiteX2" fmla="*/ 1303020 w 2606040"/>
              <a:gd name="connsiteY2" fmla="*/ 0 h 18288"/>
              <a:gd name="connsiteX3" fmla="*/ 1876349 w 2606040"/>
              <a:gd name="connsiteY3" fmla="*/ 0 h 18288"/>
              <a:gd name="connsiteX4" fmla="*/ 2606040 w 2606040"/>
              <a:gd name="connsiteY4" fmla="*/ 0 h 18288"/>
              <a:gd name="connsiteX5" fmla="*/ 2606040 w 2606040"/>
              <a:gd name="connsiteY5" fmla="*/ 18288 h 18288"/>
              <a:gd name="connsiteX6" fmla="*/ 1980590 w 2606040"/>
              <a:gd name="connsiteY6" fmla="*/ 18288 h 18288"/>
              <a:gd name="connsiteX7" fmla="*/ 1276960 w 2606040"/>
              <a:gd name="connsiteY7" fmla="*/ 18288 h 18288"/>
              <a:gd name="connsiteX8" fmla="*/ 65151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11079" y="-22080"/>
                  <a:pt x="479378" y="-26537"/>
                  <a:pt x="625450" y="0"/>
                </a:cubicBezTo>
                <a:cubicBezTo>
                  <a:pt x="925937" y="-4758"/>
                  <a:pt x="973176" y="15739"/>
                  <a:pt x="1224839" y="0"/>
                </a:cubicBezTo>
                <a:cubicBezTo>
                  <a:pt x="1479663" y="-11328"/>
                  <a:pt x="1566636" y="18697"/>
                  <a:pt x="1824228" y="0"/>
                </a:cubicBezTo>
                <a:cubicBezTo>
                  <a:pt x="2086799" y="-72665"/>
                  <a:pt x="2306223" y="-891"/>
                  <a:pt x="2606040" y="0"/>
                </a:cubicBezTo>
                <a:cubicBezTo>
                  <a:pt x="2606645" y="4461"/>
                  <a:pt x="2607031" y="13181"/>
                  <a:pt x="2606040" y="18288"/>
                </a:cubicBezTo>
                <a:cubicBezTo>
                  <a:pt x="2260204" y="29342"/>
                  <a:pt x="2175708" y="5614"/>
                  <a:pt x="1902409" y="18288"/>
                </a:cubicBezTo>
                <a:cubicBezTo>
                  <a:pt x="1638502" y="41064"/>
                  <a:pt x="1460923" y="-16269"/>
                  <a:pt x="1276960" y="18288"/>
                </a:cubicBezTo>
                <a:cubicBezTo>
                  <a:pt x="1057717" y="14361"/>
                  <a:pt x="867956" y="2320"/>
                  <a:pt x="677570" y="18288"/>
                </a:cubicBezTo>
                <a:cubicBezTo>
                  <a:pt x="457951" y="33373"/>
                  <a:pt x="189752" y="55388"/>
                  <a:pt x="0" y="18288"/>
                </a:cubicBezTo>
                <a:cubicBezTo>
                  <a:pt x="1586" y="13022"/>
                  <a:pt x="-95" y="4569"/>
                  <a:pt x="0" y="0"/>
                </a:cubicBezTo>
                <a:close/>
              </a:path>
              <a:path w="2606040" h="18288" stroke="0" extrusionOk="0">
                <a:moveTo>
                  <a:pt x="0" y="0"/>
                </a:moveTo>
                <a:cubicBezTo>
                  <a:pt x="172759" y="3236"/>
                  <a:pt x="361166" y="-13413"/>
                  <a:pt x="599389" y="0"/>
                </a:cubicBezTo>
                <a:cubicBezTo>
                  <a:pt x="841226" y="37042"/>
                  <a:pt x="968991" y="14587"/>
                  <a:pt x="1303020" y="0"/>
                </a:cubicBezTo>
                <a:cubicBezTo>
                  <a:pt x="1643101" y="-7120"/>
                  <a:pt x="1717813" y="7213"/>
                  <a:pt x="1876349" y="0"/>
                </a:cubicBezTo>
                <a:cubicBezTo>
                  <a:pt x="2036762" y="-14138"/>
                  <a:pt x="2426397" y="-4451"/>
                  <a:pt x="2606040" y="0"/>
                </a:cubicBezTo>
                <a:cubicBezTo>
                  <a:pt x="2606314" y="8448"/>
                  <a:pt x="2606550" y="14527"/>
                  <a:pt x="2606040" y="18288"/>
                </a:cubicBezTo>
                <a:cubicBezTo>
                  <a:pt x="2344840" y="2643"/>
                  <a:pt x="2192043" y="7399"/>
                  <a:pt x="1980590" y="18288"/>
                </a:cubicBezTo>
                <a:cubicBezTo>
                  <a:pt x="1783984" y="-9745"/>
                  <a:pt x="1487673" y="45908"/>
                  <a:pt x="1276960" y="18288"/>
                </a:cubicBezTo>
                <a:cubicBezTo>
                  <a:pt x="1088134" y="-41257"/>
                  <a:pt x="877974" y="49968"/>
                  <a:pt x="651510" y="18288"/>
                </a:cubicBezTo>
                <a:cubicBezTo>
                  <a:pt x="430798" y="-27764"/>
                  <a:pt x="132889" y="-33467"/>
                  <a:pt x="0" y="18288"/>
                </a:cubicBezTo>
                <a:cubicBezTo>
                  <a:pt x="212" y="10845"/>
                  <a:pt x="-833" y="6193"/>
                  <a:pt x="0" y="0"/>
                </a:cubicBezTo>
                <a:close/>
              </a:path>
              <a:path w="2606040" h="18288" fill="none" stroke="0" extrusionOk="0">
                <a:moveTo>
                  <a:pt x="0" y="0"/>
                </a:moveTo>
                <a:cubicBezTo>
                  <a:pt x="202328" y="-14716"/>
                  <a:pt x="332722" y="-11499"/>
                  <a:pt x="625450" y="0"/>
                </a:cubicBezTo>
                <a:cubicBezTo>
                  <a:pt x="927712" y="6878"/>
                  <a:pt x="971143" y="7084"/>
                  <a:pt x="1224839" y="0"/>
                </a:cubicBezTo>
                <a:cubicBezTo>
                  <a:pt x="1477775" y="-16815"/>
                  <a:pt x="1569904" y="19146"/>
                  <a:pt x="1824228" y="0"/>
                </a:cubicBezTo>
                <a:cubicBezTo>
                  <a:pt x="2055206" y="24867"/>
                  <a:pt x="2317192" y="-62872"/>
                  <a:pt x="2606040" y="0"/>
                </a:cubicBezTo>
                <a:cubicBezTo>
                  <a:pt x="2606166" y="3680"/>
                  <a:pt x="2606905" y="11461"/>
                  <a:pt x="2606040" y="18288"/>
                </a:cubicBezTo>
                <a:cubicBezTo>
                  <a:pt x="2234648" y="26976"/>
                  <a:pt x="2180202" y="-10361"/>
                  <a:pt x="1902409" y="18288"/>
                </a:cubicBezTo>
                <a:cubicBezTo>
                  <a:pt x="1635562" y="47194"/>
                  <a:pt x="1477339" y="4794"/>
                  <a:pt x="1276960" y="18288"/>
                </a:cubicBezTo>
                <a:cubicBezTo>
                  <a:pt x="1058094" y="66922"/>
                  <a:pt x="904206" y="-20636"/>
                  <a:pt x="677570" y="18288"/>
                </a:cubicBezTo>
                <a:cubicBezTo>
                  <a:pt x="485746" y="14713"/>
                  <a:pt x="195925" y="33005"/>
                  <a:pt x="0" y="18288"/>
                </a:cubicBezTo>
                <a:cubicBezTo>
                  <a:pt x="1168" y="12774"/>
                  <a:pt x="-229" y="374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Hand holding flower">
            <a:extLst>
              <a:ext uri="{FF2B5EF4-FFF2-40B4-BE49-F238E27FC236}">
                <a16:creationId xmlns:a16="http://schemas.microsoft.com/office/drawing/2014/main" id="{BF8D1BC5-151D-2EBE-051C-5DACE64DF2A7}"/>
              </a:ext>
            </a:extLst>
          </p:cNvPr>
          <p:cNvPicPr>
            <a:picLocks noChangeAspect="1"/>
          </p:cNvPicPr>
          <p:nvPr/>
        </p:nvPicPr>
        <p:blipFill rotWithShape="1">
          <a:blip r:embed="rId2"/>
          <a:srcRect l="20217" r="29568" b="-1"/>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Footer Placeholder 3">
            <a:extLst>
              <a:ext uri="{FF2B5EF4-FFF2-40B4-BE49-F238E27FC236}">
                <a16:creationId xmlns:a16="http://schemas.microsoft.com/office/drawing/2014/main" id="{D12592D3-AF77-474F-A075-63528DE407C4}"/>
              </a:ext>
            </a:extLst>
          </p:cNvPr>
          <p:cNvSpPr>
            <a:spLocks noGrp="1"/>
          </p:cNvSpPr>
          <p:nvPr>
            <p:ph type="ftr" sz="quarter" idx="10"/>
          </p:nvPr>
        </p:nvSpPr>
        <p:spPr>
          <a:xfrm>
            <a:off x="4578958" y="6356350"/>
            <a:ext cx="3086100" cy="365125"/>
          </a:xfrm>
        </p:spPr>
        <p:txBody>
          <a:bodyPr vert="horz" lIns="91440" tIns="45720" rIns="91440" bIns="45720" rtlCol="0" anchor="ctr">
            <a:normAutofit/>
          </a:bodyPr>
          <a:lstStyle/>
          <a:p>
            <a:pPr algn="l" defTabSz="914400">
              <a:lnSpc>
                <a:spcPct val="90000"/>
              </a:lnSpc>
              <a:spcAft>
                <a:spcPts val="600"/>
              </a:spcAft>
              <a:defRPr/>
            </a:pPr>
            <a:r>
              <a:rPr lang="en-US" sz="900" kern="1200">
                <a:solidFill>
                  <a:srgbClr val="FFFFFF"/>
                </a:solidFill>
                <a:latin typeface="Calibri" panose="020F0502020204030204"/>
                <a:ea typeface="+mn-ea"/>
                <a:cs typeface="+mn-cs"/>
              </a:rPr>
              <a:t>The Science and Application of Positive Psychology </a:t>
            </a:r>
            <a:br>
              <a:rPr lang="en-US" sz="900" kern="1200">
                <a:solidFill>
                  <a:srgbClr val="FFFFFF"/>
                </a:solidFill>
                <a:latin typeface="Calibri" panose="020F0502020204030204"/>
                <a:ea typeface="+mn-ea"/>
                <a:cs typeface="+mn-cs"/>
              </a:rPr>
            </a:br>
            <a:r>
              <a:rPr lang="en-US" sz="900" kern="1200">
                <a:solidFill>
                  <a:srgbClr val="FFFFFF"/>
                </a:solidFill>
                <a:latin typeface="Calibri" panose="020F0502020204030204"/>
                <a:ea typeface="+mn-ea"/>
                <a:cs typeface="+mn-cs"/>
              </a:rPr>
              <a:t>© Cambridge University Press 2021</a:t>
            </a:r>
          </a:p>
        </p:txBody>
      </p:sp>
    </p:spTree>
    <p:extLst>
      <p:ext uri="{BB962C8B-B14F-4D97-AF65-F5344CB8AC3E}">
        <p14:creationId xmlns:p14="http://schemas.microsoft.com/office/powerpoint/2010/main" val="2976536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4426AB7-D619-4515-962A-BC83909EC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3F62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E47DF98-723F-4AAC-ABCF-CACBC438F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2880" y="256540"/>
            <a:ext cx="8778240" cy="6365239"/>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EA29FC7C-9308-4FDE-8DCA-405668055B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71700" y="5768204"/>
            <a:ext cx="4800600" cy="0"/>
          </a:xfrm>
          <a:prstGeom prst="line">
            <a:avLst/>
          </a:prstGeom>
          <a:ln>
            <a:solidFill>
              <a:srgbClr val="3F6249"/>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nvPr>
        </p:nvSpPr>
        <p:spPr>
          <a:xfrm>
            <a:off x="832485" y="4277356"/>
            <a:ext cx="7475220" cy="1560320"/>
          </a:xfrm>
        </p:spPr>
        <p:txBody>
          <a:bodyPr vert="horz" lIns="91440" tIns="45720" rIns="91440" bIns="45720" rtlCol="0" anchor="b">
            <a:normAutofit/>
          </a:bodyPr>
          <a:lstStyle/>
          <a:p>
            <a:pPr algn="ctr"/>
            <a:r>
              <a:rPr lang="en-US" sz="5000">
                <a:solidFill>
                  <a:srgbClr val="3F6249"/>
                </a:solidFill>
              </a:rPr>
              <a:t>Dispositional Optimism</a:t>
            </a:r>
          </a:p>
        </p:txBody>
      </p:sp>
      <p:pic>
        <p:nvPicPr>
          <p:cNvPr id="2" name="Picture 1">
            <a:extLst>
              <a:ext uri="{FF2B5EF4-FFF2-40B4-BE49-F238E27FC236}">
                <a16:creationId xmlns:a16="http://schemas.microsoft.com/office/drawing/2014/main" id="{9228DE40-E7CF-4A90-9073-D362F7663E3B}"/>
              </a:ext>
            </a:extLst>
          </p:cNvPr>
          <p:cNvPicPr>
            <a:picLocks noChangeAspect="1"/>
          </p:cNvPicPr>
          <p:nvPr/>
        </p:nvPicPr>
        <p:blipFill rotWithShape="1">
          <a:blip r:embed="rId2"/>
          <a:srcRect t="9407" r="2" b="24875"/>
          <a:stretch/>
        </p:blipFill>
        <p:spPr>
          <a:xfrm>
            <a:off x="182880" y="256540"/>
            <a:ext cx="8778240" cy="3764276"/>
          </a:xfrm>
          <a:prstGeom prst="rect">
            <a:avLst/>
          </a:prstGeom>
        </p:spPr>
      </p:pic>
      <p:sp>
        <p:nvSpPr>
          <p:cNvPr id="4" name="Footer Placeholder 3"/>
          <p:cNvSpPr>
            <a:spLocks noGrp="1"/>
          </p:cNvSpPr>
          <p:nvPr>
            <p:ph type="ftr" sz="quarter" idx="11"/>
          </p:nvPr>
        </p:nvSpPr>
        <p:spPr>
          <a:xfrm>
            <a:off x="3028950" y="6259585"/>
            <a:ext cx="3086100" cy="365125"/>
          </a:xfrm>
        </p:spPr>
        <p:txBody>
          <a:bodyPr vert="horz" lIns="91440" tIns="45720" rIns="91440" bIns="45720" rtlCol="0" anchor="ctr">
            <a:normAutofit/>
          </a:bodyPr>
          <a:lstStyle/>
          <a:p>
            <a:pPr defTabSz="914400">
              <a:lnSpc>
                <a:spcPct val="90000"/>
              </a:lnSpc>
              <a:spcAft>
                <a:spcPts val="600"/>
              </a:spcAft>
              <a:defRPr/>
            </a:pPr>
            <a:r>
              <a:rPr lang="en-US" sz="900" kern="1200">
                <a:solidFill>
                  <a:srgbClr val="3F6249"/>
                </a:solidFill>
                <a:latin typeface="Calibri" panose="020F0502020204030204"/>
                <a:ea typeface="+mn-ea"/>
                <a:cs typeface="+mn-cs"/>
              </a:rPr>
              <a:t>The Science of Positive Psychology © Cambridge University Press 2021</a:t>
            </a:r>
          </a:p>
        </p:txBody>
      </p:sp>
    </p:spTree>
    <p:extLst>
      <p:ext uri="{BB962C8B-B14F-4D97-AF65-F5344CB8AC3E}">
        <p14:creationId xmlns:p14="http://schemas.microsoft.com/office/powerpoint/2010/main" val="3963601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6" name="Rectangle 22535">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544" y="450222"/>
            <a:ext cx="3136890" cy="3603164"/>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530" name="Rectangle 2"/>
          <p:cNvSpPr>
            <a:spLocks noGrp="1" noChangeArrowheads="1"/>
          </p:cNvSpPr>
          <p:nvPr>
            <p:ph type="title"/>
          </p:nvPr>
        </p:nvSpPr>
        <p:spPr>
          <a:xfrm>
            <a:off x="581025" y="762000"/>
            <a:ext cx="2696979" cy="3018430"/>
          </a:xfrm>
        </p:spPr>
        <p:txBody>
          <a:bodyPr>
            <a:normAutofit/>
          </a:bodyPr>
          <a:lstStyle/>
          <a:p>
            <a:r>
              <a:rPr lang="en-US" sz="3700">
                <a:solidFill>
                  <a:srgbClr val="FFFFFF"/>
                </a:solidFill>
              </a:rPr>
              <a:t>Dispositional optimism</a:t>
            </a:r>
          </a:p>
        </p:txBody>
      </p:sp>
      <p:sp>
        <p:nvSpPr>
          <p:cNvPr id="22538" name="Rectangle 22537">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8127" y="450221"/>
            <a:ext cx="3674942" cy="5948858"/>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85000"/>
                </a:prstClr>
              </a:solidFill>
              <a:effectLst/>
              <a:uLnTx/>
              <a:uFillTx/>
              <a:latin typeface="Calibri" panose="020F0502020204030204"/>
              <a:ea typeface="+mn-ea"/>
              <a:cs typeface="+mn-cs"/>
            </a:endParaRPr>
          </a:p>
        </p:txBody>
      </p:sp>
      <p:sp>
        <p:nvSpPr>
          <p:cNvPr id="22531" name="Rectangle 3"/>
          <p:cNvSpPr>
            <a:spLocks noGrp="1" noChangeArrowheads="1"/>
          </p:cNvSpPr>
          <p:nvPr>
            <p:ph sz="quarter" idx="1"/>
          </p:nvPr>
        </p:nvSpPr>
        <p:spPr>
          <a:xfrm>
            <a:off x="3944694" y="909143"/>
            <a:ext cx="3005685" cy="5029586"/>
          </a:xfrm>
        </p:spPr>
        <p:txBody>
          <a:bodyPr anchor="ctr">
            <a:normAutofit/>
          </a:bodyPr>
          <a:lstStyle/>
          <a:p>
            <a:r>
              <a:rPr lang="en-US" sz="1900" i="1"/>
              <a:t>Dispositional optimism</a:t>
            </a:r>
            <a:r>
              <a:rPr lang="en-US" sz="1900"/>
              <a:t>: The tendency to believe that outcomes in one’s life will be positive, favorable, or desirable. </a:t>
            </a:r>
          </a:p>
          <a:p>
            <a:pPr lvl="1"/>
            <a:r>
              <a:rPr lang="en-US" sz="1900"/>
              <a:t>A generalized outlook, not tied to any single area of life or set of goals.</a:t>
            </a:r>
          </a:p>
          <a:p>
            <a:pPr lvl="1"/>
            <a:r>
              <a:rPr lang="en-US" sz="1900"/>
              <a:t>As the term “dispositional” suggests, optimism functions like a personality trait, with levels staying relatively stable over time.</a:t>
            </a:r>
          </a:p>
        </p:txBody>
      </p:sp>
      <p:sp>
        <p:nvSpPr>
          <p:cNvPr id="22540" name="Rectangle 2253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6899" y="450221"/>
            <a:ext cx="1401025" cy="3603165"/>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206AFCDC-AD43-4D18-8835-ABC8CA09539E}"/>
              </a:ext>
            </a:extLst>
          </p:cNvPr>
          <p:cNvPicPr>
            <a:picLocks noChangeAspect="1"/>
          </p:cNvPicPr>
          <p:nvPr/>
        </p:nvPicPr>
        <p:blipFill>
          <a:blip r:embed="rId3"/>
          <a:stretch>
            <a:fillRect/>
          </a:stretch>
        </p:blipFill>
        <p:spPr>
          <a:xfrm>
            <a:off x="353827" y="5145076"/>
            <a:ext cx="3136889" cy="312201"/>
          </a:xfrm>
          <a:prstGeom prst="rect">
            <a:avLst/>
          </a:prstGeom>
        </p:spPr>
      </p:pic>
      <p:sp>
        <p:nvSpPr>
          <p:cNvPr id="22542" name="Rectangle 2254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309" y="4214253"/>
            <a:ext cx="1401025" cy="217384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0BDD1436-D024-437F-8CEE-ADC41E9D50A6}"/>
              </a:ext>
            </a:extLst>
          </p:cNvPr>
          <p:cNvSpPr>
            <a:spLocks noGrp="1"/>
          </p:cNvSpPr>
          <p:nvPr>
            <p:ph type="title"/>
          </p:nvPr>
        </p:nvSpPr>
        <p:spPr>
          <a:xfrm>
            <a:off x="582930" y="731519"/>
            <a:ext cx="2133893" cy="3237579"/>
          </a:xfrm>
        </p:spPr>
        <p:txBody>
          <a:bodyPr>
            <a:normAutofit/>
          </a:bodyPr>
          <a:lstStyle/>
          <a:p>
            <a:r>
              <a:rPr lang="en-US" sz="2800">
                <a:solidFill>
                  <a:srgbClr val="FFFFFF"/>
                </a:solidFill>
              </a:rPr>
              <a:t>Measuring dispositional optimism</a:t>
            </a:r>
          </a:p>
        </p:txBody>
      </p:sp>
      <p:sp>
        <p:nvSpPr>
          <p:cNvPr id="11" name="Rectangle 1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744E6C8-D486-4530-9E60-D267F8C030F2}"/>
              </a:ext>
            </a:extLst>
          </p:cNvPr>
          <p:cNvSpPr>
            <a:spLocks noGrp="1"/>
          </p:cNvSpPr>
          <p:nvPr>
            <p:ph idx="1"/>
          </p:nvPr>
        </p:nvSpPr>
        <p:spPr>
          <a:xfrm>
            <a:off x="3284781" y="686862"/>
            <a:ext cx="5278194" cy="5475129"/>
          </a:xfrm>
        </p:spPr>
        <p:txBody>
          <a:bodyPr anchor="ctr">
            <a:normAutofit/>
          </a:bodyPr>
          <a:lstStyle/>
          <a:p>
            <a:r>
              <a:rPr lang="en-US" sz="2100"/>
              <a:t>Life Orientation Test (LOT)</a:t>
            </a:r>
          </a:p>
          <a:p>
            <a:pPr lvl="1"/>
            <a:r>
              <a:rPr lang="en-US" sz="2100"/>
              <a:t>Self-report scale developed by Sheier and Carver (1985).</a:t>
            </a:r>
          </a:p>
          <a:p>
            <a:pPr lvl="1"/>
            <a:r>
              <a:rPr lang="en-US" sz="2100"/>
              <a:t>Initial version was later revised due to criticisms that it contained items seemingly measuring the degree to which people were emotionally stable rather than strictly optimistic. </a:t>
            </a:r>
          </a:p>
          <a:p>
            <a:pPr lvl="1"/>
            <a:r>
              <a:rPr lang="en-US" sz="2100"/>
              <a:t>The new scale, the LOT-R (for “revised”), contains 10 items, including, “Overall, I expect more good things to happen to me than bad” (p. 1073; Sheier, Carver, &amp; Bridges, 1994).</a:t>
            </a:r>
          </a:p>
          <a:p>
            <a:pPr lvl="1"/>
            <a:r>
              <a:rPr lang="en-US" sz="2100"/>
              <a:t>Respondents indicate the degree to which they agree with each item on a 5-point scale. </a:t>
            </a:r>
          </a:p>
        </p:txBody>
      </p:sp>
      <p:sp>
        <p:nvSpPr>
          <p:cNvPr id="4" name="Footer Placeholder 3">
            <a:extLst>
              <a:ext uri="{FF2B5EF4-FFF2-40B4-BE49-F238E27FC236}">
                <a16:creationId xmlns:a16="http://schemas.microsoft.com/office/drawing/2014/main" id="{DD68B367-8207-48A4-B271-5127DFE1C469}"/>
              </a:ext>
            </a:extLst>
          </p:cNvPr>
          <p:cNvSpPr>
            <a:spLocks noGrp="1"/>
          </p:cNvSpPr>
          <p:nvPr>
            <p:ph type="ftr" sz="quarter" idx="11"/>
          </p:nvPr>
        </p:nvSpPr>
        <p:spPr>
          <a:xfrm>
            <a:off x="346543" y="6407779"/>
            <a:ext cx="5006340" cy="365125"/>
          </a:xfrm>
        </p:spPr>
        <p:txBody>
          <a:bodyPr>
            <a:normAutofit/>
          </a:bodyPr>
          <a:lstStyle/>
          <a:p>
            <a:pPr algn="l">
              <a:lnSpc>
                <a:spcPct val="90000"/>
              </a:lnSpc>
              <a:spcAft>
                <a:spcPts val="600"/>
              </a:spcAft>
            </a:pPr>
            <a:r>
              <a:rPr lang="en-US" sz="900">
                <a:solidFill>
                  <a:schemeClr val="tx1">
                    <a:lumMod val="50000"/>
                    <a:lumOff val="50000"/>
                  </a:schemeClr>
                </a:solidFill>
              </a:rPr>
              <a:t>The Science and Application of Positive Psychology </a:t>
            </a:r>
            <a:br>
              <a:rPr lang="en-US" sz="900">
                <a:solidFill>
                  <a:schemeClr val="tx1">
                    <a:lumMod val="50000"/>
                    <a:lumOff val="50000"/>
                  </a:schemeClr>
                </a:solidFill>
              </a:rPr>
            </a:br>
            <a:r>
              <a:rPr lang="en-US" sz="900">
                <a:solidFill>
                  <a:schemeClr val="tx1">
                    <a:lumMod val="50000"/>
                    <a:lumOff val="50000"/>
                  </a:schemeClr>
                </a:solidFill>
              </a:rPr>
              <a:t>© Cambridge University Press 2021</a:t>
            </a:r>
          </a:p>
        </p:txBody>
      </p:sp>
    </p:spTree>
    <p:extLst>
      <p:ext uri="{BB962C8B-B14F-4D97-AF65-F5344CB8AC3E}">
        <p14:creationId xmlns:p14="http://schemas.microsoft.com/office/powerpoint/2010/main" val="205953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495030" y="2767106"/>
            <a:ext cx="2160621" cy="3071906"/>
          </a:xfrm>
        </p:spPr>
        <p:txBody>
          <a:bodyPr vert="horz" lIns="91440" tIns="45720" rIns="91440" bIns="45720" rtlCol="0" anchor="t">
            <a:normAutofit/>
          </a:bodyPr>
          <a:lstStyle/>
          <a:p>
            <a:r>
              <a:rPr lang="en-US" sz="3500" kern="1200">
                <a:solidFill>
                  <a:srgbClr val="FFFFFF"/>
                </a:solidFill>
                <a:latin typeface="+mj-lt"/>
                <a:ea typeface="+mj-ea"/>
                <a:cs typeface="+mj-cs"/>
              </a:rPr>
              <a:t>LOT-R</a:t>
            </a:r>
          </a:p>
        </p:txBody>
      </p:sp>
      <p:sp>
        <p:nvSpPr>
          <p:cNvPr id="4" name="Footer Placeholder 3"/>
          <p:cNvSpPr>
            <a:spLocks noGrp="1"/>
          </p:cNvSpPr>
          <p:nvPr>
            <p:ph type="ftr" sz="quarter" idx="11"/>
          </p:nvPr>
        </p:nvSpPr>
        <p:spPr>
          <a:xfrm rot="5400000">
            <a:off x="-1371600" y="2002536"/>
            <a:ext cx="3086100" cy="365760"/>
          </a:xfrm>
        </p:spPr>
        <p:txBody>
          <a:bodyPr vert="horz" lIns="91440" tIns="45720" rIns="91440" bIns="45720" rtlCol="0" anchor="ctr">
            <a:normAutofit/>
          </a:bodyPr>
          <a:lstStyle/>
          <a:p>
            <a:pPr algn="l" defTabSz="914400">
              <a:lnSpc>
                <a:spcPct val="90000"/>
              </a:lnSpc>
              <a:spcAft>
                <a:spcPts val="600"/>
              </a:spcAft>
            </a:pPr>
            <a:r>
              <a:rPr lang="en-US" sz="1000" kern="1200">
                <a:solidFill>
                  <a:srgbClr val="FFFFFF"/>
                </a:solidFill>
                <a:latin typeface="+mn-lt"/>
                <a:ea typeface="+mn-ea"/>
                <a:cs typeface="+mn-cs"/>
              </a:rPr>
              <a:t>The Science of Positive Psychology © Cambridge University Press 2021</a:t>
            </a:r>
          </a:p>
        </p:txBody>
      </p:sp>
      <p:pic>
        <p:nvPicPr>
          <p:cNvPr id="5" name="Content Placeholder 4"/>
          <p:cNvPicPr>
            <a:picLocks noGrp="1" noChangeAspect="1"/>
          </p:cNvPicPr>
          <p:nvPr>
            <p:ph idx="1"/>
          </p:nvPr>
        </p:nvPicPr>
        <p:blipFill>
          <a:blip r:embed="rId2"/>
          <a:stretch>
            <a:fillRect/>
          </a:stretch>
        </p:blipFill>
        <p:spPr>
          <a:xfrm>
            <a:off x="3376821" y="2019979"/>
            <a:ext cx="5419311" cy="2818042"/>
          </a:xfrm>
          <a:prstGeom prst="rect">
            <a:avLst/>
          </a:prstGeom>
        </p:spPr>
      </p:pic>
    </p:spTree>
    <p:extLst>
      <p:ext uri="{BB962C8B-B14F-4D97-AF65-F5344CB8AC3E}">
        <p14:creationId xmlns:p14="http://schemas.microsoft.com/office/powerpoint/2010/main" val="3884078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13" name="Rectangle 98312">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582930" y="731519"/>
            <a:ext cx="2133893" cy="3237579"/>
          </a:xfrm>
        </p:spPr>
        <p:txBody>
          <a:bodyPr>
            <a:normAutofit/>
          </a:bodyPr>
          <a:lstStyle/>
          <a:p>
            <a:pPr eaLnBrk="1" hangingPunct="1">
              <a:defRPr/>
            </a:pPr>
            <a:r>
              <a:rPr lang="en-US" sz="2800">
                <a:solidFill>
                  <a:srgbClr val="FFFFFF"/>
                </a:solidFill>
              </a:rPr>
              <a:t>Dispositional Optimism Research</a:t>
            </a:r>
          </a:p>
        </p:txBody>
      </p:sp>
      <p:sp>
        <p:nvSpPr>
          <p:cNvPr id="98315" name="Rectangle 98314">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8317" name="Rectangle 98316">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307" name="Content Placeholder 2"/>
          <p:cNvSpPr>
            <a:spLocks noGrp="1"/>
          </p:cNvSpPr>
          <p:nvPr>
            <p:ph sz="quarter" idx="1"/>
          </p:nvPr>
        </p:nvSpPr>
        <p:spPr>
          <a:xfrm>
            <a:off x="3284781" y="686862"/>
            <a:ext cx="5278194" cy="5475129"/>
          </a:xfrm>
        </p:spPr>
        <p:txBody>
          <a:bodyPr anchor="ctr">
            <a:normAutofit/>
          </a:bodyPr>
          <a:lstStyle/>
          <a:p>
            <a:pPr eaLnBrk="1" hangingPunct="1"/>
            <a:r>
              <a:rPr lang="en-US" altLang="en-US" sz="2100"/>
              <a:t>Coping with distress</a:t>
            </a:r>
          </a:p>
          <a:p>
            <a:pPr lvl="1" eaLnBrk="1" hangingPunct="1"/>
            <a:r>
              <a:rPr lang="en-US" altLang="en-US" sz="2100"/>
              <a:t>Optimism consistently linked to lower levels of personal distress, pessimism to higher levels of distress</a:t>
            </a:r>
          </a:p>
          <a:p>
            <a:pPr eaLnBrk="1" hangingPunct="1"/>
            <a:r>
              <a:rPr lang="en-US" altLang="en-US" sz="2100"/>
              <a:t> Coping with life transitions</a:t>
            </a:r>
          </a:p>
          <a:p>
            <a:pPr lvl="1" eaLnBrk="1" hangingPunct="1"/>
            <a:r>
              <a:rPr lang="en-US" altLang="en-US" sz="2100"/>
              <a:t>Having 1</a:t>
            </a:r>
            <a:r>
              <a:rPr lang="en-US" altLang="en-US" sz="2100" baseline="30000"/>
              <a:t>st</a:t>
            </a:r>
            <a:r>
              <a:rPr lang="en-US" altLang="en-US" sz="2100"/>
              <a:t> child</a:t>
            </a:r>
          </a:p>
          <a:p>
            <a:pPr lvl="2" eaLnBrk="1" hangingPunct="1"/>
            <a:r>
              <a:rPr lang="en-US" altLang="en-US" sz="2100"/>
              <a:t>Optimism may offer resistance to post-partum depression</a:t>
            </a:r>
          </a:p>
          <a:p>
            <a:pPr lvl="1" eaLnBrk="1" hangingPunct="1"/>
            <a:r>
              <a:rPr lang="en-US" altLang="en-US" sz="2100"/>
              <a:t>Coronary bypass surgery</a:t>
            </a:r>
          </a:p>
          <a:p>
            <a:pPr lvl="2" eaLnBrk="1" hangingPunct="1"/>
            <a:r>
              <a:rPr lang="en-US" altLang="en-US" sz="2100"/>
              <a:t>Optimists reported less presurgical distress, more confidence in and satisfaction with their medical care, more relief and happiness shortly after surgery, and greater post-surgery lift satisfaction</a:t>
            </a:r>
          </a:p>
          <a:p>
            <a:pPr lvl="1" eaLnBrk="1" hangingPunct="1"/>
            <a:r>
              <a:rPr lang="en-US" altLang="en-US" sz="2100"/>
              <a:t>HS to College</a:t>
            </a:r>
          </a:p>
        </p:txBody>
      </p:sp>
      <p:sp>
        <p:nvSpPr>
          <p:cNvPr id="98308" name="Footer Placeholder 3"/>
          <p:cNvSpPr>
            <a:spLocks noGrp="1"/>
          </p:cNvSpPr>
          <p:nvPr>
            <p:ph type="ftr" sz="quarter" idx="11"/>
          </p:nvPr>
        </p:nvSpPr>
        <p:spPr bwMode="auto">
          <a:xfrm>
            <a:off x="346543" y="6407779"/>
            <a:ext cx="500634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numCol="1" anchorCtr="0" compatLnSpc="1">
            <a:prstTxWarp prst="textNoShape">
              <a:avLst/>
            </a:prstTxWarp>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a:lnSpc>
                <a:spcPct val="90000"/>
              </a:lnSpc>
              <a:spcAft>
                <a:spcPts val="600"/>
              </a:spcAft>
            </a:pPr>
            <a:r>
              <a:rPr lang="en-US" altLang="en-US" sz="900">
                <a:solidFill>
                  <a:schemeClr val="tx1">
                    <a:lumMod val="50000"/>
                    <a:lumOff val="50000"/>
                  </a:schemeClr>
                </a:solidFill>
              </a:rPr>
              <a:t>Positive Psychology: The Scientific and Practical Explorations of Human Strengths © 2014 SAGE</a:t>
            </a:r>
          </a:p>
        </p:txBody>
      </p:sp>
    </p:spTree>
    <p:extLst>
      <p:ext uri="{BB962C8B-B14F-4D97-AF65-F5344CB8AC3E}">
        <p14:creationId xmlns:p14="http://schemas.microsoft.com/office/powerpoint/2010/main" val="3636164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7" name="Rectangle 99336">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582930" y="731519"/>
            <a:ext cx="2133893" cy="3237579"/>
          </a:xfrm>
        </p:spPr>
        <p:txBody>
          <a:bodyPr>
            <a:normAutofit/>
          </a:bodyPr>
          <a:lstStyle/>
          <a:p>
            <a:pPr eaLnBrk="1" hangingPunct="1">
              <a:defRPr/>
            </a:pPr>
            <a:r>
              <a:rPr lang="en-US" sz="3300">
                <a:solidFill>
                  <a:srgbClr val="FFFFFF"/>
                </a:solidFill>
              </a:rPr>
              <a:t>Coping with HS to College Transition</a:t>
            </a:r>
          </a:p>
        </p:txBody>
      </p:sp>
      <p:sp>
        <p:nvSpPr>
          <p:cNvPr id="99339" name="Rectangle 99338">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9341" name="Rectangle 99340">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331" name="Content Placeholder 2"/>
          <p:cNvSpPr>
            <a:spLocks noGrp="1"/>
          </p:cNvSpPr>
          <p:nvPr>
            <p:ph sz="quarter" idx="1"/>
          </p:nvPr>
        </p:nvSpPr>
        <p:spPr>
          <a:xfrm>
            <a:off x="3284781" y="686862"/>
            <a:ext cx="5278194" cy="5475129"/>
          </a:xfrm>
        </p:spPr>
        <p:txBody>
          <a:bodyPr anchor="ctr">
            <a:normAutofit/>
          </a:bodyPr>
          <a:lstStyle/>
          <a:p>
            <a:pPr eaLnBrk="1" hangingPunct="1"/>
            <a:r>
              <a:rPr lang="en-US" altLang="en-US" sz="2300"/>
              <a:t>Aspinwall and Taylor (1992) examined 3 individual differences as predictors of successful adaptation</a:t>
            </a:r>
          </a:p>
          <a:p>
            <a:pPr eaLnBrk="1" hangingPunct="1"/>
            <a:r>
              <a:rPr lang="en-US" altLang="en-US" sz="2300"/>
              <a:t>Self-esteem, perceived control, and optimism</a:t>
            </a:r>
          </a:p>
          <a:p>
            <a:pPr eaLnBrk="1" hangingPunct="1"/>
            <a:r>
              <a:rPr lang="en-US" altLang="en-US" sz="2300"/>
              <a:t>At beginning of second semester, college students completed 4 measures related to college adjustment, responding to items addressing their levels of stress, their happiness, and their general well-being</a:t>
            </a:r>
          </a:p>
          <a:p>
            <a:pPr eaLnBrk="1" hangingPunct="1"/>
            <a:r>
              <a:rPr lang="en-US" altLang="en-US" sz="2300"/>
              <a:t>Optimism had a direct and independent positive effect</a:t>
            </a:r>
          </a:p>
          <a:p>
            <a:pPr eaLnBrk="1" hangingPunct="1"/>
            <a:r>
              <a:rPr lang="en-US" altLang="en-US" sz="2300"/>
              <a:t>Continued…</a:t>
            </a:r>
          </a:p>
        </p:txBody>
      </p:sp>
      <p:sp>
        <p:nvSpPr>
          <p:cNvPr id="99332" name="Footer Placeholder 3"/>
          <p:cNvSpPr>
            <a:spLocks noGrp="1"/>
          </p:cNvSpPr>
          <p:nvPr>
            <p:ph type="ftr" sz="quarter" idx="11"/>
          </p:nvPr>
        </p:nvSpPr>
        <p:spPr bwMode="auto">
          <a:xfrm>
            <a:off x="346543" y="6407779"/>
            <a:ext cx="500634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numCol="1" anchorCtr="0" compatLnSpc="1">
            <a:prstTxWarp prst="textNoShape">
              <a:avLst/>
            </a:prstTxWarp>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a:lnSpc>
                <a:spcPct val="90000"/>
              </a:lnSpc>
              <a:spcAft>
                <a:spcPts val="600"/>
              </a:spcAft>
            </a:pPr>
            <a:r>
              <a:rPr lang="en-US" altLang="en-US" sz="900">
                <a:solidFill>
                  <a:schemeClr val="tx1">
                    <a:lumMod val="50000"/>
                    <a:lumOff val="50000"/>
                  </a:schemeClr>
                </a:solidFill>
              </a:rPr>
              <a:t>Positive Psychology: The Scientific and Practical Explorations of Human Strengths © 2014 SAGE</a:t>
            </a:r>
          </a:p>
        </p:txBody>
      </p:sp>
    </p:spTree>
    <p:extLst>
      <p:ext uri="{BB962C8B-B14F-4D97-AF65-F5344CB8AC3E}">
        <p14:creationId xmlns:p14="http://schemas.microsoft.com/office/powerpoint/2010/main" val="3445299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0361" name="Rectangle 100360">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582930" y="731519"/>
            <a:ext cx="2133893" cy="3237579"/>
          </a:xfrm>
        </p:spPr>
        <p:txBody>
          <a:bodyPr>
            <a:normAutofit/>
          </a:bodyPr>
          <a:lstStyle/>
          <a:p>
            <a:pPr eaLnBrk="1" hangingPunct="1">
              <a:defRPr/>
            </a:pPr>
            <a:r>
              <a:rPr lang="en-US" sz="3300">
                <a:solidFill>
                  <a:srgbClr val="FFFFFF"/>
                </a:solidFill>
              </a:rPr>
              <a:t>Coping with HS to College Transition</a:t>
            </a:r>
          </a:p>
        </p:txBody>
      </p:sp>
      <p:sp>
        <p:nvSpPr>
          <p:cNvPr id="100363" name="Rectangle 100362">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0365" name="Rectangle 100364">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355" name="Content Placeholder 2"/>
          <p:cNvSpPr>
            <a:spLocks noGrp="1"/>
          </p:cNvSpPr>
          <p:nvPr>
            <p:ph sz="quarter" idx="1"/>
          </p:nvPr>
        </p:nvSpPr>
        <p:spPr>
          <a:xfrm>
            <a:off x="3284781" y="686862"/>
            <a:ext cx="5278194" cy="5475129"/>
          </a:xfrm>
        </p:spPr>
        <p:txBody>
          <a:bodyPr anchor="ctr">
            <a:normAutofit/>
          </a:bodyPr>
          <a:lstStyle/>
          <a:p>
            <a:pPr eaLnBrk="1" hangingPunct="1"/>
            <a:r>
              <a:rPr lang="en-US" altLang="en-US" sz="2300"/>
              <a:t>Perceived control and self-esteem were more indirect and depended on their relation to active rather than avoidant coping with college success</a:t>
            </a:r>
          </a:p>
          <a:p>
            <a:pPr lvl="1" eaLnBrk="1" hangingPunct="1"/>
            <a:r>
              <a:rPr lang="en-US" altLang="en-US" sz="2300"/>
              <a:t>High self-esteem and personal control improved adjustment only if students also actively sought solutions and help for adjustment problems</a:t>
            </a:r>
          </a:p>
          <a:p>
            <a:pPr lvl="1" eaLnBrk="1" hangingPunct="1"/>
            <a:r>
              <a:rPr lang="en-US" altLang="en-US" sz="2300"/>
              <a:t>If they avoided rather than confronted their problems, the benefits of self-esteem and presonal control were diminished</a:t>
            </a:r>
          </a:p>
          <a:p>
            <a:pPr eaLnBrk="1" hangingPunct="1"/>
            <a:endParaRPr lang="en-US" altLang="en-US" sz="2300"/>
          </a:p>
        </p:txBody>
      </p:sp>
      <p:sp>
        <p:nvSpPr>
          <p:cNvPr id="100356" name="Footer Placeholder 3"/>
          <p:cNvSpPr>
            <a:spLocks noGrp="1"/>
          </p:cNvSpPr>
          <p:nvPr>
            <p:ph type="ftr" sz="quarter" idx="11"/>
          </p:nvPr>
        </p:nvSpPr>
        <p:spPr bwMode="auto">
          <a:xfrm>
            <a:off x="346543" y="6407779"/>
            <a:ext cx="500634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numCol="1" anchorCtr="0" compatLnSpc="1">
            <a:prstTxWarp prst="textNoShape">
              <a:avLst/>
            </a:prstTxWarp>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a:lnSpc>
                <a:spcPct val="90000"/>
              </a:lnSpc>
              <a:spcAft>
                <a:spcPts val="600"/>
              </a:spcAft>
            </a:pPr>
            <a:r>
              <a:rPr lang="en-US" altLang="en-US" sz="900">
                <a:solidFill>
                  <a:schemeClr val="tx1">
                    <a:lumMod val="50000"/>
                    <a:lumOff val="50000"/>
                  </a:schemeClr>
                </a:solidFill>
              </a:rPr>
              <a:t>Positive Psychology: The Scientific and Practical Explorations of Human Strengths © 2014 SAGE</a:t>
            </a:r>
          </a:p>
        </p:txBody>
      </p:sp>
    </p:spTree>
    <p:extLst>
      <p:ext uri="{BB962C8B-B14F-4D97-AF65-F5344CB8AC3E}">
        <p14:creationId xmlns:p14="http://schemas.microsoft.com/office/powerpoint/2010/main" val="1943642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47255" y="1290909"/>
            <a:ext cx="7277099"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02838" y="2010741"/>
            <a:ext cx="5530453"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8513" y="1780905"/>
            <a:ext cx="6026944"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 y="542347"/>
            <a:ext cx="7750968"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775" y="6178751"/>
            <a:ext cx="378619"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 y="-59376"/>
            <a:ext cx="8318896"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 y="-1916"/>
            <a:ext cx="79295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775" y="-6705"/>
            <a:ext cx="446485"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 y="-1916"/>
            <a:ext cx="267890"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69950" y="-1916"/>
            <a:ext cx="4341019"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26260" y="2872"/>
            <a:ext cx="2213372"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631686" y="1481328"/>
            <a:ext cx="2194560" cy="2468880"/>
          </a:xfrm>
        </p:spPr>
        <p:txBody>
          <a:bodyPr vert="horz" lIns="91440" tIns="45720" rIns="91440" bIns="45720" rtlCol="0" anchor="b">
            <a:normAutofit/>
          </a:bodyPr>
          <a:lstStyle/>
          <a:p>
            <a:r>
              <a:rPr lang="en-US" sz="3500"/>
              <a:t>Learned Optimism</a:t>
            </a:r>
          </a:p>
        </p:txBody>
      </p:sp>
      <p:sp>
        <p:nvSpPr>
          <p:cNvPr id="31"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515619" y="-1916"/>
            <a:ext cx="1624013"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68119" y="-1916"/>
            <a:ext cx="671513"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Shape 34">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564058" y="2218040"/>
            <a:ext cx="3314068"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pic>
        <p:nvPicPr>
          <p:cNvPr id="3" name="Picture 2">
            <a:extLst>
              <a:ext uri="{FF2B5EF4-FFF2-40B4-BE49-F238E27FC236}">
                <a16:creationId xmlns:a16="http://schemas.microsoft.com/office/drawing/2014/main" id="{B15B45C3-403D-4F1B-B2E1-B29E6CC1ACC8}"/>
              </a:ext>
            </a:extLst>
          </p:cNvPr>
          <p:cNvPicPr>
            <a:picLocks noChangeAspect="1"/>
          </p:cNvPicPr>
          <p:nvPr/>
        </p:nvPicPr>
        <p:blipFill rotWithShape="1">
          <a:blip r:embed="rId2"/>
          <a:srcRect t="8217" r="3" b="3"/>
          <a:stretch/>
        </p:blipFill>
        <p:spPr>
          <a:xfrm>
            <a:off x="691432" y="465243"/>
            <a:ext cx="5821443" cy="5343065"/>
          </a:xfrm>
          <a:custGeom>
            <a:avLst/>
            <a:gdLst/>
            <a:ahLst/>
            <a:cxnLst/>
            <a:rect l="l" t="t" r="r" b="b"/>
            <a:pathLst>
              <a:path w="7761924" h="5343065">
                <a:moveTo>
                  <a:pt x="3025687" y="76"/>
                </a:moveTo>
                <a:cubicBezTo>
                  <a:pt x="3140786" y="756"/>
                  <a:pt x="3256631" y="6055"/>
                  <a:pt x="3372722" y="16088"/>
                </a:cubicBezTo>
                <a:cubicBezTo>
                  <a:pt x="5230178" y="176616"/>
                  <a:pt x="7761924" y="1424594"/>
                  <a:pt x="7761924" y="3316816"/>
                </a:cubicBezTo>
                <a:cubicBezTo>
                  <a:pt x="7646022" y="5237647"/>
                  <a:pt x="4988715" y="5423921"/>
                  <a:pt x="3701109" y="5320611"/>
                </a:cubicBezTo>
                <a:cubicBezTo>
                  <a:pt x="2413504" y="5217301"/>
                  <a:pt x="351800" y="4486992"/>
                  <a:pt x="36290" y="2696959"/>
                </a:cubicBezTo>
                <a:cubicBezTo>
                  <a:pt x="-259500" y="1018804"/>
                  <a:pt x="1299198" y="-10133"/>
                  <a:pt x="3025687" y="76"/>
                </a:cubicBezTo>
                <a:close/>
              </a:path>
            </a:pathLst>
          </a:custGeom>
        </p:spPr>
      </p:pic>
      <p:sp>
        <p:nvSpPr>
          <p:cNvPr id="4" name="Footer Placeholder 3"/>
          <p:cNvSpPr>
            <a:spLocks noGrp="1"/>
          </p:cNvSpPr>
          <p:nvPr>
            <p:ph type="ftr" sz="quarter" idx="11"/>
          </p:nvPr>
        </p:nvSpPr>
        <p:spPr>
          <a:xfrm>
            <a:off x="603504" y="6227064"/>
            <a:ext cx="7941564" cy="320040"/>
          </a:xfrm>
        </p:spPr>
        <p:txBody>
          <a:bodyPr vert="horz" lIns="91440" tIns="45720" rIns="91440" bIns="45720" rtlCol="0" anchor="ctr">
            <a:normAutofit/>
          </a:bodyPr>
          <a:lstStyle/>
          <a:p>
            <a:pPr defTabSz="914400">
              <a:spcAft>
                <a:spcPts val="600"/>
              </a:spcAft>
              <a:defRPr/>
            </a:pPr>
            <a:r>
              <a:rPr lang="en-US" sz="1000" kern="1200">
                <a:solidFill>
                  <a:schemeClr val="tx1">
                    <a:lumMod val="50000"/>
                    <a:lumOff val="50000"/>
                  </a:schemeClr>
                </a:solidFill>
                <a:latin typeface="Calibri" panose="020F0502020204030204"/>
                <a:ea typeface="+mn-ea"/>
                <a:cs typeface="+mn-cs"/>
              </a:rPr>
              <a:t>The Science of Positive Psychology © Cambridge University Press 2021</a:t>
            </a:r>
          </a:p>
        </p:txBody>
      </p:sp>
    </p:spTree>
    <p:extLst>
      <p:ext uri="{BB962C8B-B14F-4D97-AF65-F5344CB8AC3E}">
        <p14:creationId xmlns:p14="http://schemas.microsoft.com/office/powerpoint/2010/main" val="58906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5A1C0A46-1EE2-4B9D-ABD6-4BD410CA63AB}"/>
              </a:ext>
            </a:extLst>
          </p:cNvPr>
          <p:cNvSpPr>
            <a:spLocks noGrp="1"/>
          </p:cNvSpPr>
          <p:nvPr>
            <p:ph type="title"/>
          </p:nvPr>
        </p:nvSpPr>
        <p:spPr>
          <a:xfrm>
            <a:off x="582930" y="731519"/>
            <a:ext cx="2133893" cy="3237579"/>
          </a:xfrm>
        </p:spPr>
        <p:txBody>
          <a:bodyPr>
            <a:normAutofit/>
          </a:bodyPr>
          <a:lstStyle/>
          <a:p>
            <a:r>
              <a:rPr lang="en-US" sz="3300">
                <a:solidFill>
                  <a:srgbClr val="FFFFFF"/>
                </a:solidFill>
              </a:rPr>
              <a:t>Learned Optimism</a:t>
            </a:r>
          </a:p>
        </p:txBody>
      </p:sp>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E6BDA14F-9330-4045-9491-4909A828DAF6}"/>
              </a:ext>
            </a:extLst>
          </p:cNvPr>
          <p:cNvSpPr>
            <a:spLocks noGrp="1"/>
          </p:cNvSpPr>
          <p:nvPr>
            <p:ph type="ftr" sz="quarter" idx="11"/>
          </p:nvPr>
        </p:nvSpPr>
        <p:spPr>
          <a:xfrm>
            <a:off x="346543" y="6407779"/>
            <a:ext cx="5006340" cy="365125"/>
          </a:xfrm>
        </p:spPr>
        <p:txBody>
          <a:bodyPr>
            <a:normAutofit/>
          </a:bodyPr>
          <a:lstStyle/>
          <a:p>
            <a:pPr algn="l">
              <a:lnSpc>
                <a:spcPct val="90000"/>
              </a:lnSpc>
              <a:spcAft>
                <a:spcPts val="600"/>
              </a:spcAft>
            </a:pPr>
            <a:r>
              <a:rPr lang="en-US" sz="900">
                <a:solidFill>
                  <a:schemeClr val="tx1">
                    <a:lumMod val="50000"/>
                    <a:lumOff val="50000"/>
                  </a:schemeClr>
                </a:solidFill>
              </a:rPr>
              <a:t>The Science and Application of Positive Psychology </a:t>
            </a:r>
            <a:br>
              <a:rPr lang="en-US" sz="900">
                <a:solidFill>
                  <a:schemeClr val="tx1">
                    <a:lumMod val="50000"/>
                    <a:lumOff val="50000"/>
                  </a:schemeClr>
                </a:solidFill>
              </a:rPr>
            </a:br>
            <a:r>
              <a:rPr lang="en-US" sz="900">
                <a:solidFill>
                  <a:schemeClr val="tx1">
                    <a:lumMod val="50000"/>
                    <a:lumOff val="50000"/>
                  </a:schemeClr>
                </a:solidFill>
              </a:rPr>
              <a:t>© Cambridge University Press 2021</a:t>
            </a:r>
          </a:p>
        </p:txBody>
      </p:sp>
      <p:graphicFrame>
        <p:nvGraphicFramePr>
          <p:cNvPr id="6" name="Content Placeholder 2">
            <a:extLst>
              <a:ext uri="{FF2B5EF4-FFF2-40B4-BE49-F238E27FC236}">
                <a16:creationId xmlns:a16="http://schemas.microsoft.com/office/drawing/2014/main" id="{6FBB3A0A-D286-B695-C474-5237EE5BF8FE}"/>
              </a:ext>
            </a:extLst>
          </p:cNvPr>
          <p:cNvGraphicFramePr>
            <a:graphicFrameLocks noGrp="1"/>
          </p:cNvGraphicFramePr>
          <p:nvPr>
            <p:ph idx="1"/>
            <p:extLst>
              <p:ext uri="{D42A27DB-BD31-4B8C-83A1-F6EECF244321}">
                <p14:modId xmlns:p14="http://schemas.microsoft.com/office/powerpoint/2010/main" val="4244203758"/>
              </p:ext>
            </p:extLst>
          </p:nvPr>
        </p:nvGraphicFramePr>
        <p:xfrm>
          <a:off x="3284934" y="687388"/>
          <a:ext cx="5278041" cy="54752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4247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582930" y="731519"/>
            <a:ext cx="2133893" cy="3237579"/>
          </a:xfrm>
        </p:spPr>
        <p:txBody>
          <a:bodyPr>
            <a:normAutofit/>
          </a:bodyPr>
          <a:lstStyle/>
          <a:p>
            <a:r>
              <a:rPr lang="en-US" sz="3300">
                <a:solidFill>
                  <a:srgbClr val="FFFFFF"/>
                </a:solidFill>
              </a:rPr>
              <a:t>What would you do?</a:t>
            </a:r>
          </a:p>
        </p:txBody>
      </p:sp>
      <p:sp>
        <p:nvSpPr>
          <p:cNvPr id="11" name="Rectangle 1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284781" y="686862"/>
            <a:ext cx="5278194" cy="5475129"/>
          </a:xfrm>
        </p:spPr>
        <p:txBody>
          <a:bodyPr anchor="ctr">
            <a:normAutofit/>
          </a:bodyPr>
          <a:lstStyle/>
          <a:p>
            <a:pPr marL="0" indent="0">
              <a:buNone/>
            </a:pPr>
            <a:r>
              <a:rPr lang="en-US" sz="2400" dirty="0"/>
              <a:t>Imagine that you went to the bank and an armed bank robber came into the bank. The gun is fired and you suffer a minor injury when the bullet grazes your skin. No one else is harmed and the bank robber is arrested. How do you explain this event to family and friends?</a:t>
            </a:r>
          </a:p>
        </p:txBody>
      </p:sp>
      <p:sp>
        <p:nvSpPr>
          <p:cNvPr id="4" name="Footer Placeholder 3"/>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of Positive Psychology © Cambridge University Press 2021</a:t>
            </a:r>
          </a:p>
        </p:txBody>
      </p:sp>
    </p:spTree>
    <p:extLst>
      <p:ext uri="{BB962C8B-B14F-4D97-AF65-F5344CB8AC3E}">
        <p14:creationId xmlns:p14="http://schemas.microsoft.com/office/powerpoint/2010/main" val="2055839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5293730" cy="19642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CED3FD-3171-4602-920B-7A74DF154F12}"/>
              </a:ext>
            </a:extLst>
          </p:cNvPr>
          <p:cNvSpPr>
            <a:spLocks noGrp="1"/>
          </p:cNvSpPr>
          <p:nvPr>
            <p:ph type="title"/>
          </p:nvPr>
        </p:nvSpPr>
        <p:spPr>
          <a:xfrm>
            <a:off x="393192" y="516804"/>
            <a:ext cx="4945641" cy="1625210"/>
          </a:xfrm>
        </p:spPr>
        <p:txBody>
          <a:bodyPr vert="horz" lIns="91440" tIns="45720" rIns="91440" bIns="45720" rtlCol="0" anchor="ctr">
            <a:normAutofit/>
          </a:bodyPr>
          <a:lstStyle/>
          <a:p>
            <a:r>
              <a:rPr lang="en-US" kern="1200">
                <a:solidFill>
                  <a:srgbClr val="FFFFFF"/>
                </a:solidFill>
                <a:latin typeface="+mj-lt"/>
                <a:ea typeface="+mj-ea"/>
                <a:cs typeface="+mj-cs"/>
              </a:rPr>
              <a:t>Learned optimism</a:t>
            </a:r>
          </a:p>
        </p:txBody>
      </p:sp>
      <p:sp>
        <p:nvSpPr>
          <p:cNvPr id="16" name="Rectangle 15">
            <a:extLst>
              <a:ext uri="{FF2B5EF4-FFF2-40B4-BE49-F238E27FC236}">
                <a16:creationId xmlns:a16="http://schemas.microsoft.com/office/drawing/2014/main" id="{36D30126-6314-4A93-B27E-5C66CF781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6888" y="2432305"/>
            <a:ext cx="5292501" cy="4102852"/>
          </a:xfrm>
          <a:prstGeom prst="rect">
            <a:avLst/>
          </a:prstGeom>
          <a:solidFill>
            <a:srgbClr val="7F7F7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D3857D7D-6CD3-4F4C-A1E4-08118EEA37AD}"/>
              </a:ext>
            </a:extLst>
          </p:cNvPr>
          <p:cNvSpPr>
            <a:spLocks noGrp="1"/>
          </p:cNvSpPr>
          <p:nvPr>
            <p:ph type="ftr" sz="quarter" idx="11"/>
          </p:nvPr>
        </p:nvSpPr>
        <p:spPr>
          <a:xfrm>
            <a:off x="393192" y="6535157"/>
            <a:ext cx="4945641" cy="274320"/>
          </a:xfrm>
        </p:spPr>
        <p:txBody>
          <a:bodyPr vert="horz" lIns="91440" tIns="45720" rIns="91440" bIns="45720" rtlCol="0" anchor="ctr">
            <a:normAutofit/>
          </a:bodyPr>
          <a:lstStyle/>
          <a:p>
            <a:pPr algn="l" defTabSz="914400">
              <a:lnSpc>
                <a:spcPct val="90000"/>
              </a:lnSpc>
              <a:spcAft>
                <a:spcPts val="600"/>
              </a:spcAft>
            </a:pPr>
            <a:r>
              <a:rPr lang="en-US" sz="600" kern="1200">
                <a:solidFill>
                  <a:schemeClr val="tx1">
                    <a:lumMod val="50000"/>
                    <a:lumOff val="50000"/>
                  </a:schemeClr>
                </a:solidFill>
                <a:latin typeface="+mn-lt"/>
                <a:ea typeface="+mn-ea"/>
                <a:cs typeface="+mn-cs"/>
              </a:rPr>
              <a:t>The Science and Application of Positive Psychology </a:t>
            </a:r>
            <a:br>
              <a:rPr lang="en-US" sz="600" kern="1200">
                <a:solidFill>
                  <a:schemeClr val="tx1">
                    <a:lumMod val="50000"/>
                    <a:lumOff val="50000"/>
                  </a:schemeClr>
                </a:solidFill>
                <a:latin typeface="+mn-lt"/>
                <a:ea typeface="+mn-ea"/>
                <a:cs typeface="+mn-cs"/>
              </a:rPr>
            </a:br>
            <a:r>
              <a:rPr lang="en-US" sz="600" kern="1200">
                <a:solidFill>
                  <a:schemeClr val="tx1">
                    <a:lumMod val="50000"/>
                    <a:lumOff val="50000"/>
                  </a:schemeClr>
                </a:solidFill>
                <a:latin typeface="+mn-lt"/>
                <a:ea typeface="+mn-ea"/>
                <a:cs typeface="+mn-cs"/>
              </a:rPr>
              <a:t>© Cambridge University Press 2021</a:t>
            </a:r>
          </a:p>
        </p:txBody>
      </p:sp>
      <p:sp>
        <p:nvSpPr>
          <p:cNvPr id="18" name="Rectangle 17">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1" y="321732"/>
            <a:ext cx="3251710"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E2ECDEE3-56B4-4E47-9C41-98977B3687FE}"/>
              </a:ext>
            </a:extLst>
          </p:cNvPr>
          <p:cNvSpPr txBox="1">
            <a:spLocks/>
          </p:cNvSpPr>
          <p:nvPr/>
        </p:nvSpPr>
        <p:spPr>
          <a:xfrm>
            <a:off x="6021989" y="917725"/>
            <a:ext cx="2568554" cy="4852362"/>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FFFFFF"/>
                </a:solidFill>
              </a:rPr>
              <a:t>When positive or negative events occur, people who exemplify learned optimism vs. learned helplessness (aka, pessimism) attribute these events differently.</a:t>
            </a:r>
          </a:p>
        </p:txBody>
      </p:sp>
      <p:graphicFrame>
        <p:nvGraphicFramePr>
          <p:cNvPr id="7" name="Content Placeholder 6">
            <a:extLst>
              <a:ext uri="{FF2B5EF4-FFF2-40B4-BE49-F238E27FC236}">
                <a16:creationId xmlns:a16="http://schemas.microsoft.com/office/drawing/2014/main" id="{196FFCD9-AB83-B947-99A0-3A7274276F6B}"/>
              </a:ext>
            </a:extLst>
          </p:cNvPr>
          <p:cNvGraphicFramePr>
            <a:graphicFrameLocks noGrp="1"/>
          </p:cNvGraphicFramePr>
          <p:nvPr>
            <p:ph idx="1"/>
            <p:extLst>
              <p:ext uri="{D42A27DB-BD31-4B8C-83A1-F6EECF244321}">
                <p14:modId xmlns:p14="http://schemas.microsoft.com/office/powerpoint/2010/main" val="1401014827"/>
              </p:ext>
            </p:extLst>
          </p:nvPr>
        </p:nvGraphicFramePr>
        <p:xfrm>
          <a:off x="425058" y="3040774"/>
          <a:ext cx="4934934" cy="2885914"/>
        </p:xfrm>
        <a:graphic>
          <a:graphicData uri="http://schemas.openxmlformats.org/drawingml/2006/table">
            <a:tbl>
              <a:tblPr firstRow="1" firstCol="1" bandRow="1">
                <a:tableStyleId>{5C22544A-7EE6-4342-B048-85BDC9FD1C3A}</a:tableStyleId>
              </a:tblPr>
              <a:tblGrid>
                <a:gridCol w="1108506">
                  <a:extLst>
                    <a:ext uri="{9D8B030D-6E8A-4147-A177-3AD203B41FA5}">
                      <a16:colId xmlns:a16="http://schemas.microsoft.com/office/drawing/2014/main" val="220070035"/>
                    </a:ext>
                  </a:extLst>
                </a:gridCol>
                <a:gridCol w="1913214">
                  <a:extLst>
                    <a:ext uri="{9D8B030D-6E8A-4147-A177-3AD203B41FA5}">
                      <a16:colId xmlns:a16="http://schemas.microsoft.com/office/drawing/2014/main" val="2174282715"/>
                    </a:ext>
                  </a:extLst>
                </a:gridCol>
                <a:gridCol w="1913214">
                  <a:extLst>
                    <a:ext uri="{9D8B030D-6E8A-4147-A177-3AD203B41FA5}">
                      <a16:colId xmlns:a16="http://schemas.microsoft.com/office/drawing/2014/main" val="1397861322"/>
                    </a:ext>
                  </a:extLst>
                </a:gridCol>
              </a:tblGrid>
              <a:tr h="281418">
                <a:tc>
                  <a:txBody>
                    <a:bodyPr/>
                    <a:lstStyle/>
                    <a:p>
                      <a:pPr marL="0" marR="0">
                        <a:spcBef>
                          <a:spcPts val="600"/>
                        </a:spcBef>
                        <a:spcAft>
                          <a:spcPts val="600"/>
                        </a:spcAft>
                      </a:pPr>
                      <a:r>
                        <a:rPr lang="en-US" sz="1600">
                          <a:effectLst/>
                        </a:rPr>
                        <a:t> </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92120" marR="92120" marT="0" marB="0"/>
                </a:tc>
                <a:tc>
                  <a:txBody>
                    <a:bodyPr/>
                    <a:lstStyle/>
                    <a:p>
                      <a:pPr marL="0" marR="0" algn="ctr">
                        <a:spcBef>
                          <a:spcPts val="600"/>
                        </a:spcBef>
                        <a:spcAft>
                          <a:spcPts val="600"/>
                        </a:spcAft>
                      </a:pPr>
                      <a:r>
                        <a:rPr lang="en-US" sz="1400">
                          <a:effectLst/>
                        </a:rPr>
                        <a:t>Positive Events</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92120" marR="92120" marT="0" marB="0"/>
                </a:tc>
                <a:tc>
                  <a:txBody>
                    <a:bodyPr/>
                    <a:lstStyle/>
                    <a:p>
                      <a:pPr marL="0" marR="0" algn="ctr">
                        <a:spcBef>
                          <a:spcPts val="600"/>
                        </a:spcBef>
                        <a:spcAft>
                          <a:spcPts val="600"/>
                        </a:spcAft>
                      </a:pPr>
                      <a:r>
                        <a:rPr lang="en-US" sz="1400">
                          <a:effectLst/>
                        </a:rPr>
                        <a:t>Negative Events</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92120" marR="92120" marT="0" marB="0"/>
                </a:tc>
                <a:extLst>
                  <a:ext uri="{0D108BD9-81ED-4DB2-BD59-A6C34878D82A}">
                    <a16:rowId xmlns:a16="http://schemas.microsoft.com/office/drawing/2014/main" val="3818956049"/>
                  </a:ext>
                </a:extLst>
              </a:tr>
              <a:tr h="1302248">
                <a:tc>
                  <a:txBody>
                    <a:bodyPr/>
                    <a:lstStyle/>
                    <a:p>
                      <a:pPr marL="0" marR="0" algn="r">
                        <a:spcBef>
                          <a:spcPts val="600"/>
                        </a:spcBef>
                        <a:spcAft>
                          <a:spcPts val="600"/>
                        </a:spcAft>
                      </a:pPr>
                      <a:r>
                        <a:rPr lang="en-US" sz="1400">
                          <a:effectLst/>
                        </a:rPr>
                        <a:t>Optimists</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92120" marR="92120" marT="0" marB="0"/>
                </a:tc>
                <a:tc>
                  <a:txBody>
                    <a:bodyPr/>
                    <a:lstStyle/>
                    <a:p>
                      <a:pPr marL="342900" marR="0" lvl="0" indent="-342900">
                        <a:spcBef>
                          <a:spcPts val="600"/>
                        </a:spcBef>
                        <a:spcAft>
                          <a:spcPts val="600"/>
                        </a:spcAft>
                        <a:buFont typeface="Symbol" pitchFamily="2" charset="2"/>
                        <a:buChar char=""/>
                      </a:pPr>
                      <a:r>
                        <a:rPr lang="en-US" sz="1600">
                          <a:effectLst/>
                        </a:rPr>
                        <a:t>Internal</a:t>
                      </a:r>
                    </a:p>
                    <a:p>
                      <a:pPr marL="342900" marR="0" lvl="0" indent="-342900">
                        <a:spcBef>
                          <a:spcPts val="600"/>
                        </a:spcBef>
                        <a:spcAft>
                          <a:spcPts val="600"/>
                        </a:spcAft>
                        <a:buFont typeface="Symbol" pitchFamily="2" charset="2"/>
                        <a:buChar char=""/>
                      </a:pPr>
                      <a:r>
                        <a:rPr lang="en-US" sz="1600">
                          <a:effectLst/>
                        </a:rPr>
                        <a:t>Stable</a:t>
                      </a:r>
                    </a:p>
                    <a:p>
                      <a:pPr marL="342900" marR="0" lvl="0" indent="-342900">
                        <a:spcBef>
                          <a:spcPts val="600"/>
                        </a:spcBef>
                        <a:spcAft>
                          <a:spcPts val="600"/>
                        </a:spcAft>
                        <a:buFont typeface="Symbol" pitchFamily="2" charset="2"/>
                        <a:buChar char=""/>
                      </a:pPr>
                      <a:r>
                        <a:rPr lang="en-US" sz="1600">
                          <a:effectLst/>
                        </a:rPr>
                        <a:t>Global</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92120" marR="92120" marT="0" marB="0"/>
                </a:tc>
                <a:tc>
                  <a:txBody>
                    <a:bodyPr/>
                    <a:lstStyle/>
                    <a:p>
                      <a:pPr marL="342900" marR="0" lvl="0" indent="-342900">
                        <a:spcBef>
                          <a:spcPts val="600"/>
                        </a:spcBef>
                        <a:spcAft>
                          <a:spcPts val="600"/>
                        </a:spcAft>
                        <a:buFont typeface="Symbol" pitchFamily="2" charset="2"/>
                        <a:buChar char=""/>
                      </a:pPr>
                      <a:r>
                        <a:rPr lang="en-US" sz="1600">
                          <a:effectLst/>
                        </a:rPr>
                        <a:t>External</a:t>
                      </a:r>
                    </a:p>
                    <a:p>
                      <a:pPr marL="342900" marR="0" lvl="0" indent="-342900">
                        <a:spcBef>
                          <a:spcPts val="600"/>
                        </a:spcBef>
                        <a:spcAft>
                          <a:spcPts val="600"/>
                        </a:spcAft>
                        <a:buFont typeface="Symbol" pitchFamily="2" charset="2"/>
                        <a:buChar char=""/>
                      </a:pPr>
                      <a:r>
                        <a:rPr lang="en-US" sz="1600">
                          <a:effectLst/>
                        </a:rPr>
                        <a:t>Temporary</a:t>
                      </a:r>
                    </a:p>
                    <a:p>
                      <a:pPr marL="342900" marR="0" lvl="0" indent="-342900">
                        <a:spcBef>
                          <a:spcPts val="600"/>
                        </a:spcBef>
                        <a:spcAft>
                          <a:spcPts val="600"/>
                        </a:spcAft>
                        <a:buFont typeface="Symbol" pitchFamily="2" charset="2"/>
                        <a:buChar char=""/>
                      </a:pPr>
                      <a:r>
                        <a:rPr lang="en-US" sz="1600">
                          <a:effectLst/>
                        </a:rPr>
                        <a:t>Specific to the Situation</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92120" marR="92120" marT="0" marB="0"/>
                </a:tc>
                <a:extLst>
                  <a:ext uri="{0D108BD9-81ED-4DB2-BD59-A6C34878D82A}">
                    <a16:rowId xmlns:a16="http://schemas.microsoft.com/office/drawing/2014/main" val="1823775351"/>
                  </a:ext>
                </a:extLst>
              </a:tr>
              <a:tr h="1302248">
                <a:tc>
                  <a:txBody>
                    <a:bodyPr/>
                    <a:lstStyle/>
                    <a:p>
                      <a:pPr marL="0" marR="0" algn="r">
                        <a:spcBef>
                          <a:spcPts val="600"/>
                        </a:spcBef>
                        <a:spcAft>
                          <a:spcPts val="600"/>
                        </a:spcAft>
                      </a:pPr>
                      <a:r>
                        <a:rPr lang="en-US" sz="1400">
                          <a:effectLst/>
                        </a:rPr>
                        <a:t>Pessimists</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92120" marR="92120" marT="0" marB="0"/>
                </a:tc>
                <a:tc>
                  <a:txBody>
                    <a:bodyPr/>
                    <a:lstStyle/>
                    <a:p>
                      <a:pPr marL="342900" marR="0" lvl="0" indent="-342900">
                        <a:spcBef>
                          <a:spcPts val="600"/>
                        </a:spcBef>
                        <a:spcAft>
                          <a:spcPts val="600"/>
                        </a:spcAft>
                        <a:buFont typeface="Symbol" pitchFamily="2" charset="2"/>
                        <a:buChar char=""/>
                      </a:pPr>
                      <a:r>
                        <a:rPr lang="en-US" sz="1600">
                          <a:effectLst/>
                        </a:rPr>
                        <a:t>External</a:t>
                      </a:r>
                    </a:p>
                    <a:p>
                      <a:pPr marL="342900" marR="0" lvl="0" indent="-342900">
                        <a:spcBef>
                          <a:spcPts val="600"/>
                        </a:spcBef>
                        <a:spcAft>
                          <a:spcPts val="600"/>
                        </a:spcAft>
                        <a:buFont typeface="Symbol" pitchFamily="2" charset="2"/>
                        <a:buChar char=""/>
                      </a:pPr>
                      <a:r>
                        <a:rPr lang="en-US" sz="1600">
                          <a:effectLst/>
                        </a:rPr>
                        <a:t>Temporary</a:t>
                      </a:r>
                    </a:p>
                    <a:p>
                      <a:pPr marL="342900" marR="0" lvl="0" indent="-342900">
                        <a:spcBef>
                          <a:spcPts val="600"/>
                        </a:spcBef>
                        <a:spcAft>
                          <a:spcPts val="600"/>
                        </a:spcAft>
                        <a:buFont typeface="Symbol" pitchFamily="2" charset="2"/>
                        <a:buChar char=""/>
                      </a:pPr>
                      <a:r>
                        <a:rPr lang="en-US" sz="1600">
                          <a:effectLst/>
                        </a:rPr>
                        <a:t>Specific to the Situation</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92120" marR="92120" marT="0" marB="0"/>
                </a:tc>
                <a:tc>
                  <a:txBody>
                    <a:bodyPr/>
                    <a:lstStyle/>
                    <a:p>
                      <a:pPr marL="342900" marR="0" lvl="0" indent="-342900">
                        <a:spcBef>
                          <a:spcPts val="600"/>
                        </a:spcBef>
                        <a:spcAft>
                          <a:spcPts val="600"/>
                        </a:spcAft>
                        <a:buFont typeface="Symbol" pitchFamily="2" charset="2"/>
                        <a:buChar char=""/>
                      </a:pPr>
                      <a:r>
                        <a:rPr lang="en-US" sz="1600">
                          <a:effectLst/>
                        </a:rPr>
                        <a:t>Internal</a:t>
                      </a:r>
                    </a:p>
                    <a:p>
                      <a:pPr marL="342900" marR="0" lvl="0" indent="-342900">
                        <a:spcBef>
                          <a:spcPts val="600"/>
                        </a:spcBef>
                        <a:spcAft>
                          <a:spcPts val="600"/>
                        </a:spcAft>
                        <a:buFont typeface="Symbol" pitchFamily="2" charset="2"/>
                        <a:buChar char=""/>
                      </a:pPr>
                      <a:r>
                        <a:rPr lang="en-US" sz="1600">
                          <a:effectLst/>
                        </a:rPr>
                        <a:t>Stable</a:t>
                      </a:r>
                    </a:p>
                    <a:p>
                      <a:pPr marL="342900" marR="0" lvl="0" indent="-342900">
                        <a:spcBef>
                          <a:spcPts val="600"/>
                        </a:spcBef>
                        <a:spcAft>
                          <a:spcPts val="600"/>
                        </a:spcAft>
                        <a:buFont typeface="Symbol" pitchFamily="2" charset="2"/>
                        <a:buChar char=""/>
                      </a:pPr>
                      <a:r>
                        <a:rPr lang="en-US" sz="1600">
                          <a:effectLst/>
                        </a:rPr>
                        <a:t>Global</a:t>
                      </a:r>
                      <a:endParaRPr lang="en-US" sz="1600">
                        <a:effectLst/>
                        <a:latin typeface="Cambria" panose="02040503050406030204" pitchFamily="18" charset="0"/>
                        <a:ea typeface="MS Mincho" panose="02020609040205080304" pitchFamily="49" charset="-128"/>
                        <a:cs typeface="Times New Roman" panose="02020603050405020304" pitchFamily="18" charset="0"/>
                      </a:endParaRPr>
                    </a:p>
                  </a:txBody>
                  <a:tcPr marL="92120" marR="92120" marT="0" marB="0"/>
                </a:tc>
                <a:extLst>
                  <a:ext uri="{0D108BD9-81ED-4DB2-BD59-A6C34878D82A}">
                    <a16:rowId xmlns:a16="http://schemas.microsoft.com/office/drawing/2014/main" val="3642454768"/>
                  </a:ext>
                </a:extLst>
              </a:tr>
            </a:tbl>
          </a:graphicData>
        </a:graphic>
      </p:graphicFrame>
    </p:spTree>
    <p:extLst>
      <p:ext uri="{BB962C8B-B14F-4D97-AF65-F5344CB8AC3E}">
        <p14:creationId xmlns:p14="http://schemas.microsoft.com/office/powerpoint/2010/main" val="3983375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55F5-3AD1-4F41-B322-8B9661A940DD}"/>
              </a:ext>
            </a:extLst>
          </p:cNvPr>
          <p:cNvSpPr>
            <a:spLocks noGrp="1"/>
          </p:cNvSpPr>
          <p:nvPr>
            <p:ph type="title"/>
          </p:nvPr>
        </p:nvSpPr>
        <p:spPr>
          <a:xfrm>
            <a:off x="3724072" y="629268"/>
            <a:ext cx="4939868" cy="1286160"/>
          </a:xfrm>
        </p:spPr>
        <p:txBody>
          <a:bodyPr anchor="b">
            <a:normAutofit/>
          </a:bodyPr>
          <a:lstStyle/>
          <a:p>
            <a:r>
              <a:rPr lang="en-US" sz="4100"/>
              <a:t>Measuring learned optimism</a:t>
            </a:r>
          </a:p>
        </p:txBody>
      </p:sp>
      <p:sp>
        <p:nvSpPr>
          <p:cNvPr id="3" name="Content Placeholder 2">
            <a:extLst>
              <a:ext uri="{FF2B5EF4-FFF2-40B4-BE49-F238E27FC236}">
                <a16:creationId xmlns:a16="http://schemas.microsoft.com/office/drawing/2014/main" id="{93D7ED35-D335-4FED-B445-6377734134DA}"/>
              </a:ext>
            </a:extLst>
          </p:cNvPr>
          <p:cNvSpPr>
            <a:spLocks noGrp="1"/>
          </p:cNvSpPr>
          <p:nvPr>
            <p:ph idx="1"/>
          </p:nvPr>
        </p:nvSpPr>
        <p:spPr>
          <a:xfrm>
            <a:off x="3724073" y="2438400"/>
            <a:ext cx="4939867" cy="3785419"/>
          </a:xfrm>
        </p:spPr>
        <p:txBody>
          <a:bodyPr>
            <a:normAutofit/>
          </a:bodyPr>
          <a:lstStyle/>
          <a:p>
            <a:r>
              <a:rPr lang="en-US" sz="1700"/>
              <a:t>Seligman and his colleagues developed the Attributional Style Questionnaire (ASQ) to measure people’s explanatory styles.</a:t>
            </a:r>
          </a:p>
          <a:p>
            <a:pPr lvl="1"/>
            <a:r>
              <a:rPr lang="en-US" sz="1700"/>
              <a:t>Contains brief descriptions of six positive and six negative events (e.g. “You run for a community office position and you win”).</a:t>
            </a:r>
          </a:p>
          <a:p>
            <a:pPr lvl="1"/>
            <a:r>
              <a:rPr lang="en-US" sz="1700"/>
              <a:t>After each, respondents write down what they believe was the cause of the event and rate that cause on the three attributional dimensions.</a:t>
            </a:r>
          </a:p>
          <a:p>
            <a:endParaRPr lang="en-US" sz="1700"/>
          </a:p>
          <a:p>
            <a:endParaRPr lang="en-US" sz="1700"/>
          </a:p>
          <a:p>
            <a:pPr lvl="1"/>
            <a:endParaRPr lang="en-US" sz="1700"/>
          </a:p>
        </p:txBody>
      </p:sp>
      <p:pic>
        <p:nvPicPr>
          <p:cNvPr id="6" name="Picture 5" descr="Question mark on green pastel background">
            <a:extLst>
              <a:ext uri="{FF2B5EF4-FFF2-40B4-BE49-F238E27FC236}">
                <a16:creationId xmlns:a16="http://schemas.microsoft.com/office/drawing/2014/main" id="{6C8A414E-FFC7-E977-2534-14E49989F7B5}"/>
              </a:ext>
            </a:extLst>
          </p:cNvPr>
          <p:cNvPicPr>
            <a:picLocks noChangeAspect="1"/>
          </p:cNvPicPr>
          <p:nvPr/>
        </p:nvPicPr>
        <p:blipFill rotWithShape="1">
          <a:blip r:embed="rId2"/>
          <a:srcRect l="50985" r="10993"/>
          <a:stretch/>
        </p:blipFill>
        <p:spPr>
          <a:xfrm>
            <a:off x="20" y="10"/>
            <a:ext cx="3476673"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589195"/>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F80E52BF-D622-4414-A373-C8B7FDF37840}"/>
              </a:ext>
            </a:extLst>
          </p:cNvPr>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630239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What is Optimism? </a:t>
            </a:r>
          </a:p>
        </p:txBody>
      </p:sp>
      <p:sp>
        <p:nvSpPr>
          <p:cNvPr id="61443" name="Content Placeholder 2"/>
          <p:cNvSpPr>
            <a:spLocks noGrp="1"/>
          </p:cNvSpPr>
          <p:nvPr>
            <p:ph sz="quarter" idx="1"/>
          </p:nvPr>
        </p:nvSpPr>
        <p:spPr>
          <a:xfrm>
            <a:off x="301625" y="1527175"/>
            <a:ext cx="8504238" cy="4572000"/>
          </a:xfrm>
        </p:spPr>
        <p:txBody>
          <a:bodyPr>
            <a:normAutofit lnSpcReduction="10000"/>
          </a:bodyPr>
          <a:lstStyle/>
          <a:p>
            <a:r>
              <a:rPr lang="en-US" altLang="en-US" dirty="0"/>
              <a:t>Commonsense View</a:t>
            </a:r>
          </a:p>
          <a:p>
            <a:pPr lvl="1"/>
            <a:r>
              <a:rPr lang="en-US" altLang="en-US" dirty="0"/>
              <a:t>“the glass is half full”</a:t>
            </a:r>
          </a:p>
          <a:p>
            <a:pPr lvl="1"/>
            <a:r>
              <a:rPr lang="en-US" altLang="en-US" dirty="0"/>
              <a:t>“see the silver lining…”</a:t>
            </a:r>
          </a:p>
          <a:p>
            <a:pPr lvl="1"/>
            <a:r>
              <a:rPr lang="en-US" altLang="en-US" dirty="0"/>
              <a:t>Expecting to see a Hollywood ending to real troubles</a:t>
            </a:r>
          </a:p>
          <a:p>
            <a:pPr lvl="1"/>
            <a:r>
              <a:rPr lang="en-US" altLang="en-US" dirty="0"/>
              <a:t>Positive thinking angle: repeat boosterish phrases to ourselves (e.g., “I’m getting better and better” or visualize success)</a:t>
            </a:r>
          </a:p>
          <a:p>
            <a:pPr lvl="1"/>
            <a:r>
              <a:rPr lang="en-US" altLang="en-US" dirty="0"/>
              <a:t>These are all manifestations of optimism…optimism is deeper</a:t>
            </a:r>
          </a:p>
          <a:p>
            <a:r>
              <a:rPr lang="en-US" altLang="en-US" dirty="0"/>
              <a:t>What is fundamental to optimism lies in the way we think about </a:t>
            </a:r>
            <a:r>
              <a:rPr lang="en-US" altLang="en-US" i="1" dirty="0"/>
              <a:t>causes, </a:t>
            </a:r>
            <a:r>
              <a:rPr lang="en-US" altLang="en-US" dirty="0"/>
              <a:t>our </a:t>
            </a:r>
            <a:r>
              <a:rPr lang="en-US" altLang="en-US" dirty="0">
                <a:solidFill>
                  <a:srgbClr val="00B0F0"/>
                </a:solidFill>
              </a:rPr>
              <a:t>explanatory style</a:t>
            </a:r>
            <a:endParaRPr lang="en-US" altLang="en-US" i="1" dirty="0">
              <a:solidFill>
                <a:srgbClr val="00B0F0"/>
              </a:solidFill>
            </a:endParaRPr>
          </a:p>
          <a:p>
            <a:r>
              <a:rPr lang="en-US" altLang="en-US" dirty="0"/>
              <a:t>Explanatory style develops in childhood, and without explicit intervention, is lifelong</a:t>
            </a:r>
          </a:p>
          <a:p>
            <a:pPr lvl="1"/>
            <a:endParaRPr lang="en-US" altLang="en-US" dirty="0"/>
          </a:p>
          <a:p>
            <a:endParaRPr lang="en-US" altLang="en-US" dirty="0"/>
          </a:p>
        </p:txBody>
      </p:sp>
      <p:sp>
        <p:nvSpPr>
          <p:cNvPr id="61444" name="TextBox 4"/>
          <p:cNvSpPr txBox="1">
            <a:spLocks noChangeArrowheads="1"/>
          </p:cNvSpPr>
          <p:nvPr/>
        </p:nvSpPr>
        <p:spPr bwMode="auto">
          <a:xfrm>
            <a:off x="6248400" y="5943600"/>
            <a:ext cx="2438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Seligman, The Optimistic Child</a:t>
            </a:r>
          </a:p>
        </p:txBody>
      </p:sp>
    </p:spTree>
    <p:extLst>
      <p:ext uri="{BB962C8B-B14F-4D97-AF65-F5344CB8AC3E}">
        <p14:creationId xmlns:p14="http://schemas.microsoft.com/office/powerpoint/2010/main" val="3739366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a:bodyPr>
          <a:lstStyle/>
          <a:p>
            <a:pPr eaLnBrk="1" fontAlgn="auto" hangingPunct="1">
              <a:spcAft>
                <a:spcPts val="0"/>
              </a:spcAft>
              <a:defRPr/>
            </a:pPr>
            <a:r>
              <a:rPr lang="en-US" altLang="en-US" dirty="0"/>
              <a:t>Childhood Antecedents of Learned Optimism</a:t>
            </a:r>
          </a:p>
        </p:txBody>
      </p:sp>
      <p:sp>
        <p:nvSpPr>
          <p:cNvPr id="76803" name="Footer Placeholder 3"/>
          <p:cNvSpPr>
            <a:spLocks noGrp="1"/>
          </p:cNvSpPr>
          <p:nvPr>
            <p:ph type="ftr" sz="quarter" idx="11"/>
          </p:nvPr>
        </p:nvSpPr>
        <p:spPr bwMode="auto">
          <a:xfrm>
            <a:off x="2819400" y="6248400"/>
            <a:ext cx="3200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FFFFFF"/>
                </a:solidFill>
              </a:rPr>
              <a:t>Positive Psychology: The Scientific and Practical Explorations of Human Strengths © 2014 SAGE</a:t>
            </a:r>
          </a:p>
        </p:txBody>
      </p:sp>
      <p:sp>
        <p:nvSpPr>
          <p:cNvPr id="76804" name="Content Placeholder 2"/>
          <p:cNvSpPr>
            <a:spLocks noGrp="1"/>
          </p:cNvSpPr>
          <p:nvPr>
            <p:ph sz="quarter" idx="1"/>
          </p:nvPr>
        </p:nvSpPr>
        <p:spPr>
          <a:xfrm>
            <a:off x="319881" y="2133600"/>
            <a:ext cx="8504238" cy="4572000"/>
          </a:xfrm>
        </p:spPr>
        <p:txBody>
          <a:bodyPr/>
          <a:lstStyle/>
          <a:p>
            <a:pPr eaLnBrk="1" hangingPunct="1"/>
            <a:r>
              <a:rPr lang="en-US" altLang="en-US" sz="3200" dirty="0"/>
              <a:t> Partly genetic </a:t>
            </a:r>
          </a:p>
          <a:p>
            <a:pPr lvl="1" eaLnBrk="1" hangingPunct="1"/>
            <a:r>
              <a:rPr lang="en-US" altLang="en-US" dirty="0"/>
              <a:t>Monozygotic twins r = .48</a:t>
            </a:r>
          </a:p>
          <a:p>
            <a:pPr lvl="1" eaLnBrk="1" hangingPunct="1"/>
            <a:r>
              <a:rPr lang="en-US" altLang="en-US" dirty="0"/>
              <a:t>Dizygotic twins r = .00</a:t>
            </a:r>
          </a:p>
          <a:p>
            <a:pPr eaLnBrk="1" hangingPunct="1"/>
            <a:r>
              <a:rPr lang="en-US" altLang="en-US" sz="3200" dirty="0"/>
              <a:t> Partly learned</a:t>
            </a:r>
          </a:p>
          <a:p>
            <a:pPr lvl="1"/>
            <a:r>
              <a:rPr lang="en-US" altLang="en-US" sz="2400" dirty="0"/>
              <a:t>Parents provided safe, coherent environments</a:t>
            </a:r>
          </a:p>
          <a:p>
            <a:pPr lvl="1"/>
            <a:r>
              <a:rPr lang="en-US" altLang="en-US" sz="2400" dirty="0"/>
              <a:t>Parents modeled optimism</a:t>
            </a:r>
          </a:p>
          <a:p>
            <a:pPr lvl="2"/>
            <a:r>
              <a:rPr lang="en-US" altLang="en-US" dirty="0"/>
              <a:t>Made explanations for negative events</a:t>
            </a:r>
          </a:p>
          <a:p>
            <a:pPr lvl="2"/>
            <a:r>
              <a:rPr lang="en-US" altLang="en-US" dirty="0"/>
              <a:t>Provided explanations for positive events</a:t>
            </a:r>
          </a:p>
          <a:p>
            <a:pPr lvl="2"/>
            <a:r>
              <a:rPr lang="en-US" altLang="en-US" dirty="0"/>
              <a:t>Had parents who understood failures and attributed them to external causes (</a:t>
            </a:r>
            <a:r>
              <a:rPr lang="en-US" altLang="en-US" i="1" dirty="0"/>
              <a:t>adaptive excusing</a:t>
            </a:r>
            <a:r>
              <a:rPr lang="en-US" altLang="en-US" dirty="0"/>
              <a:t>)</a:t>
            </a:r>
          </a:p>
          <a:p>
            <a:pPr lvl="2" eaLnBrk="1" hangingPunct="1">
              <a:buFont typeface="Wingdings" panose="05000000000000000000" pitchFamily="2" charset="2"/>
              <a:buChar char="v"/>
            </a:pPr>
            <a:endParaRPr lang="en-US" altLang="en-US" dirty="0"/>
          </a:p>
        </p:txBody>
      </p:sp>
      <p:pic>
        <p:nvPicPr>
          <p:cNvPr id="76805" name="Picture 6" descr="Pessimism or optimis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143000"/>
            <a:ext cx="2438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32638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24072" y="629268"/>
            <a:ext cx="4939868" cy="1286160"/>
          </a:xfrm>
        </p:spPr>
        <p:txBody>
          <a:bodyPr anchor="b">
            <a:normAutofit/>
          </a:bodyPr>
          <a:lstStyle/>
          <a:p>
            <a:pPr>
              <a:defRPr/>
            </a:pPr>
            <a:r>
              <a:rPr lang="en-US" sz="4100"/>
              <a:t>The Right Way to Criticize</a:t>
            </a:r>
          </a:p>
        </p:txBody>
      </p:sp>
      <p:pic>
        <p:nvPicPr>
          <p:cNvPr id="78855" name="Picture 78854">
            <a:extLst>
              <a:ext uri="{FF2B5EF4-FFF2-40B4-BE49-F238E27FC236}">
                <a16:creationId xmlns:a16="http://schemas.microsoft.com/office/drawing/2014/main" id="{F13E7262-4448-4F8D-149D-CA37517BE640}"/>
              </a:ext>
            </a:extLst>
          </p:cNvPr>
          <p:cNvPicPr>
            <a:picLocks noChangeAspect="1"/>
          </p:cNvPicPr>
          <p:nvPr/>
        </p:nvPicPr>
        <p:blipFill rotWithShape="1">
          <a:blip r:embed="rId2"/>
          <a:srcRect l="29206" r="37082"/>
          <a:stretch/>
        </p:blipFill>
        <p:spPr>
          <a:xfrm>
            <a:off x="20" y="10"/>
            <a:ext cx="3476673" cy="6857990"/>
          </a:xfrm>
          <a:prstGeom prst="rect">
            <a:avLst/>
          </a:prstGeom>
          <a:effectLst/>
        </p:spPr>
      </p:pic>
      <p:cxnSp>
        <p:nvCxnSpPr>
          <p:cNvPr id="78859" name="Straight Connector 7885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6CB2F0"/>
            </a:solidFill>
          </a:ln>
        </p:spPr>
        <p:style>
          <a:lnRef idx="1">
            <a:schemeClr val="accent1"/>
          </a:lnRef>
          <a:fillRef idx="0">
            <a:schemeClr val="accent1"/>
          </a:fillRef>
          <a:effectRef idx="0">
            <a:schemeClr val="accent1"/>
          </a:effectRef>
          <a:fontRef idx="minor">
            <a:schemeClr val="tx1"/>
          </a:fontRef>
        </p:style>
      </p:cxnSp>
      <p:sp>
        <p:nvSpPr>
          <p:cNvPr id="78852" name="Footer Placeholder 3"/>
          <p:cNvSpPr>
            <a:spLocks noGrp="1"/>
          </p:cNvSpPr>
          <p:nvPr>
            <p:ph type="ftr" sz="quarter" idx="11"/>
          </p:nvPr>
        </p:nvSpPr>
        <p:spPr bwMode="auto">
          <a:xfrm>
            <a:off x="3724072" y="6356350"/>
            <a:ext cx="3104351"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numCol="1" anchorCtr="0" compatLnSpc="1">
            <a:prstTxWarp prst="textNoShape">
              <a:avLst/>
            </a:prstTxWarp>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a:lnSpc>
                <a:spcPct val="90000"/>
              </a:lnSpc>
              <a:spcAft>
                <a:spcPts val="600"/>
              </a:spcAft>
            </a:pPr>
            <a:r>
              <a:rPr lang="en-US" altLang="en-US" sz="900"/>
              <a:t>Positive Psychology: The Scientific and Practical Explorations of Human Strengths © 2014 SAGE</a:t>
            </a:r>
          </a:p>
        </p:txBody>
      </p:sp>
      <p:graphicFrame>
        <p:nvGraphicFramePr>
          <p:cNvPr id="78854" name="Content Placeholder 2">
            <a:extLst>
              <a:ext uri="{FF2B5EF4-FFF2-40B4-BE49-F238E27FC236}">
                <a16:creationId xmlns:a16="http://schemas.microsoft.com/office/drawing/2014/main" id="{88580150-413C-7AB8-ABE3-514B09973536}"/>
              </a:ext>
            </a:extLst>
          </p:cNvPr>
          <p:cNvGraphicFramePr>
            <a:graphicFrameLocks noGrp="1"/>
          </p:cNvGraphicFramePr>
          <p:nvPr>
            <p:ph sz="quarter" idx="1"/>
            <p:extLst>
              <p:ext uri="{D42A27DB-BD31-4B8C-83A1-F6EECF244321}">
                <p14:modId xmlns:p14="http://schemas.microsoft.com/office/powerpoint/2010/main" val="907573335"/>
              </p:ext>
            </p:extLst>
          </p:nvPr>
        </p:nvGraphicFramePr>
        <p:xfrm>
          <a:off x="3724073" y="2438400"/>
          <a:ext cx="4939867" cy="3785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4955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a:xfrm>
            <a:off x="301625" y="228600"/>
            <a:ext cx="8534400" cy="758825"/>
          </a:xfrm>
        </p:spPr>
        <p:txBody>
          <a:bodyPr/>
          <a:lstStyle/>
          <a:p>
            <a:r>
              <a:rPr lang="en-US" altLang="en-US"/>
              <a:t>Criticizing a Preschool Child</a:t>
            </a:r>
          </a:p>
        </p:txBody>
      </p:sp>
      <p:sp>
        <p:nvSpPr>
          <p:cNvPr id="79875" name="Content Placeholder 2"/>
          <p:cNvSpPr>
            <a:spLocks noGrp="1"/>
          </p:cNvSpPr>
          <p:nvPr>
            <p:ph sz="half" idx="1"/>
          </p:nvPr>
        </p:nvSpPr>
        <p:spPr>
          <a:xfrm>
            <a:off x="301625" y="1371600"/>
            <a:ext cx="4038600" cy="4681538"/>
          </a:xfrm>
        </p:spPr>
        <p:txBody>
          <a:bodyPr/>
          <a:lstStyle/>
          <a:p>
            <a:r>
              <a:rPr lang="en-US" altLang="en-US"/>
              <a:t>Permanent (Pessimistic)</a:t>
            </a:r>
          </a:p>
          <a:p>
            <a:r>
              <a:rPr lang="en-US" altLang="en-US"/>
              <a:t>“Tammy, what’s wrong with you? You are always such a monster!”</a:t>
            </a:r>
          </a:p>
          <a:p>
            <a:r>
              <a:rPr lang="en-US" altLang="en-US"/>
              <a:t>“Wendy said you cried the whole time I was out. You’re such a sensitive child.”</a:t>
            </a:r>
          </a:p>
          <a:p>
            <a:r>
              <a:rPr lang="en-US" altLang="en-US"/>
              <a:t>“Cory, I asked you to pick up your toys. Why don’t you ever do what I ask?”</a:t>
            </a:r>
          </a:p>
        </p:txBody>
      </p:sp>
      <p:sp>
        <p:nvSpPr>
          <p:cNvPr id="79876" name="Content Placeholder 3"/>
          <p:cNvSpPr>
            <a:spLocks noGrp="1"/>
          </p:cNvSpPr>
          <p:nvPr>
            <p:ph sz="half" idx="2"/>
          </p:nvPr>
        </p:nvSpPr>
        <p:spPr>
          <a:xfrm>
            <a:off x="4800600" y="1371600"/>
            <a:ext cx="4038600" cy="4681538"/>
          </a:xfrm>
        </p:spPr>
        <p:txBody>
          <a:bodyPr/>
          <a:lstStyle/>
          <a:p>
            <a:r>
              <a:rPr lang="en-US" altLang="en-US"/>
              <a:t>Changeable (Optimistic)</a:t>
            </a:r>
          </a:p>
          <a:p>
            <a:r>
              <a:rPr lang="en-US" altLang="en-US"/>
              <a:t>“Tammy, you are really misbehaving today. I don’t like it at all.”</a:t>
            </a:r>
          </a:p>
          <a:p>
            <a:r>
              <a:rPr lang="en-US" altLang="en-US"/>
              <a:t>“Wendy said you cried the whole time I was out. You’ve been having a hard time being away from me lately.”</a:t>
            </a:r>
          </a:p>
          <a:p>
            <a:r>
              <a:rPr lang="en-US" altLang="en-US"/>
              <a:t>“Cory, I asked you to pick up your toys. Why didn’t you do what I asked?”</a:t>
            </a:r>
          </a:p>
        </p:txBody>
      </p:sp>
      <p:sp>
        <p:nvSpPr>
          <p:cNvPr id="79877" name="TextBox 5"/>
          <p:cNvSpPr txBox="1">
            <a:spLocks noChangeArrowheads="1"/>
          </p:cNvSpPr>
          <p:nvPr/>
        </p:nvSpPr>
        <p:spPr bwMode="auto">
          <a:xfrm>
            <a:off x="533400" y="5943600"/>
            <a:ext cx="2438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Seligman, The Optimistic Child</a:t>
            </a:r>
          </a:p>
        </p:txBody>
      </p:sp>
    </p:spTree>
    <p:extLst>
      <p:ext uri="{BB962C8B-B14F-4D97-AF65-F5344CB8AC3E}">
        <p14:creationId xmlns:p14="http://schemas.microsoft.com/office/powerpoint/2010/main" val="13001601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301625" y="228600"/>
            <a:ext cx="8534400" cy="758825"/>
          </a:xfrm>
        </p:spPr>
        <p:txBody>
          <a:bodyPr/>
          <a:lstStyle/>
          <a:p>
            <a:r>
              <a:rPr lang="en-US" altLang="en-US"/>
              <a:t>Criticizing a Preschool Child</a:t>
            </a:r>
          </a:p>
        </p:txBody>
      </p:sp>
      <p:sp>
        <p:nvSpPr>
          <p:cNvPr id="80899" name="Content Placeholder 2"/>
          <p:cNvSpPr>
            <a:spLocks noGrp="1"/>
          </p:cNvSpPr>
          <p:nvPr>
            <p:ph sz="half" idx="1"/>
          </p:nvPr>
        </p:nvSpPr>
        <p:spPr>
          <a:xfrm>
            <a:off x="301625" y="1371600"/>
            <a:ext cx="4038600" cy="4681538"/>
          </a:xfrm>
        </p:spPr>
        <p:txBody>
          <a:bodyPr/>
          <a:lstStyle/>
          <a:p>
            <a:r>
              <a:rPr lang="en-US" altLang="en-US"/>
              <a:t>Global (Pessimistic)</a:t>
            </a:r>
          </a:p>
          <a:p>
            <a:r>
              <a:rPr lang="en-US" altLang="en-US"/>
              <a:t>“You are a bad boy.”</a:t>
            </a:r>
          </a:p>
          <a:p>
            <a:r>
              <a:rPr lang="en-US" altLang="en-US"/>
              <a:t>“That’s OK Tanya. You’ve got your mom’s knack when it comes to sports. I’m horrible at sports too.”</a:t>
            </a:r>
          </a:p>
          <a:p>
            <a:r>
              <a:rPr lang="en-US" altLang="en-US"/>
              <a:t>“She never likes to play with the other kids. She’s so shy.”</a:t>
            </a:r>
          </a:p>
        </p:txBody>
      </p:sp>
      <p:sp>
        <p:nvSpPr>
          <p:cNvPr id="80900" name="Content Placeholder 3"/>
          <p:cNvSpPr>
            <a:spLocks noGrp="1"/>
          </p:cNvSpPr>
          <p:nvPr>
            <p:ph sz="half" idx="2"/>
          </p:nvPr>
        </p:nvSpPr>
        <p:spPr>
          <a:xfrm>
            <a:off x="4800600" y="1371600"/>
            <a:ext cx="4038600" cy="4681538"/>
          </a:xfrm>
        </p:spPr>
        <p:txBody>
          <a:bodyPr/>
          <a:lstStyle/>
          <a:p>
            <a:r>
              <a:rPr lang="en-US" altLang="en-US"/>
              <a:t>Specific (Optimistic)</a:t>
            </a:r>
          </a:p>
          <a:p>
            <a:r>
              <a:rPr lang="en-US" altLang="en-US"/>
              <a:t>“You tease your sister too much.”</a:t>
            </a:r>
          </a:p>
          <a:p>
            <a:r>
              <a:rPr lang="en-US" altLang="en-US"/>
              <a:t>That’s OK Tanya. You’ve got to learn to keep your eye on the ball.</a:t>
            </a:r>
          </a:p>
          <a:p>
            <a:r>
              <a:rPr lang="en-US" altLang="en-US"/>
              <a:t>“She has a hard time joining groups of kids.”</a:t>
            </a:r>
          </a:p>
        </p:txBody>
      </p:sp>
      <p:sp>
        <p:nvSpPr>
          <p:cNvPr id="80901" name="TextBox 5"/>
          <p:cNvSpPr txBox="1">
            <a:spLocks noChangeArrowheads="1"/>
          </p:cNvSpPr>
          <p:nvPr/>
        </p:nvSpPr>
        <p:spPr bwMode="auto">
          <a:xfrm>
            <a:off x="6248400" y="5943600"/>
            <a:ext cx="2438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Seligman, The Optimistic Child</a:t>
            </a:r>
          </a:p>
        </p:txBody>
      </p:sp>
    </p:spTree>
    <p:extLst>
      <p:ext uri="{BB962C8B-B14F-4D97-AF65-F5344CB8AC3E}">
        <p14:creationId xmlns:p14="http://schemas.microsoft.com/office/powerpoint/2010/main" val="36118904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a:xfrm>
            <a:off x="301625" y="228600"/>
            <a:ext cx="8534400" cy="758825"/>
          </a:xfrm>
        </p:spPr>
        <p:txBody>
          <a:bodyPr/>
          <a:lstStyle/>
          <a:p>
            <a:r>
              <a:rPr lang="en-US" altLang="en-US"/>
              <a:t>Criticizing a Preschool Child</a:t>
            </a:r>
          </a:p>
        </p:txBody>
      </p:sp>
      <p:sp>
        <p:nvSpPr>
          <p:cNvPr id="81923" name="Content Placeholder 2"/>
          <p:cNvSpPr>
            <a:spLocks noGrp="1"/>
          </p:cNvSpPr>
          <p:nvPr>
            <p:ph sz="half" idx="1"/>
          </p:nvPr>
        </p:nvSpPr>
        <p:spPr>
          <a:xfrm>
            <a:off x="301625" y="1371600"/>
            <a:ext cx="4038600" cy="4681538"/>
          </a:xfrm>
        </p:spPr>
        <p:txBody>
          <a:bodyPr/>
          <a:lstStyle/>
          <a:p>
            <a:r>
              <a:rPr lang="en-US" altLang="en-US"/>
              <a:t>Internal and General (Passive)</a:t>
            </a:r>
          </a:p>
          <a:p>
            <a:r>
              <a:rPr lang="en-US" altLang="en-US"/>
              <a:t>“You’re not athletic.”</a:t>
            </a:r>
          </a:p>
          <a:p>
            <a:r>
              <a:rPr lang="en-US" altLang="en-US"/>
              <a:t>“You kids are so selfish.”</a:t>
            </a:r>
          </a:p>
          <a:p>
            <a:r>
              <a:rPr lang="en-US" altLang="en-US"/>
              <a:t>“Another C-?! I guess you just aren’t an A student.”</a:t>
            </a:r>
          </a:p>
          <a:p>
            <a:r>
              <a:rPr lang="en-US" altLang="en-US"/>
              <a:t>“This room is a pig sty! You are such a slob!”</a:t>
            </a:r>
          </a:p>
        </p:txBody>
      </p:sp>
      <p:sp>
        <p:nvSpPr>
          <p:cNvPr id="81924" name="Content Placeholder 3"/>
          <p:cNvSpPr>
            <a:spLocks noGrp="1"/>
          </p:cNvSpPr>
          <p:nvPr>
            <p:ph sz="half" idx="2"/>
          </p:nvPr>
        </p:nvSpPr>
        <p:spPr>
          <a:xfrm>
            <a:off x="4800600" y="1371600"/>
            <a:ext cx="4038600" cy="4681538"/>
          </a:xfrm>
        </p:spPr>
        <p:txBody>
          <a:bodyPr/>
          <a:lstStyle/>
          <a:p>
            <a:r>
              <a:rPr lang="en-US" altLang="en-US"/>
              <a:t>Internal and Behavioral (Active)</a:t>
            </a:r>
          </a:p>
          <a:p>
            <a:r>
              <a:rPr lang="en-US" altLang="en-US" sz="2300"/>
              <a:t>“You have to work harder on watching the ball meet the bat.”</a:t>
            </a:r>
          </a:p>
          <a:p>
            <a:r>
              <a:rPr lang="en-US" altLang="en-US" sz="2300"/>
              <a:t>“You kids must share more.”</a:t>
            </a:r>
          </a:p>
          <a:p>
            <a:r>
              <a:rPr lang="en-US" altLang="en-US" sz="2300"/>
              <a:t>“Another C-?! You need to spend more time on your studies.”</a:t>
            </a:r>
          </a:p>
          <a:p>
            <a:r>
              <a:rPr lang="en-US" altLang="en-US" sz="2300"/>
              <a:t>“This room is a pig sty! You need to start picking up after yourself.”</a:t>
            </a:r>
          </a:p>
        </p:txBody>
      </p:sp>
      <p:sp>
        <p:nvSpPr>
          <p:cNvPr id="81925" name="TextBox 7"/>
          <p:cNvSpPr txBox="1">
            <a:spLocks noChangeArrowheads="1"/>
          </p:cNvSpPr>
          <p:nvPr/>
        </p:nvSpPr>
        <p:spPr bwMode="auto">
          <a:xfrm>
            <a:off x="1371600" y="5562600"/>
            <a:ext cx="2438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Seligman, The Optimistic Child</a:t>
            </a:r>
          </a:p>
        </p:txBody>
      </p:sp>
    </p:spTree>
    <p:extLst>
      <p:ext uri="{BB962C8B-B14F-4D97-AF65-F5344CB8AC3E}">
        <p14:creationId xmlns:p14="http://schemas.microsoft.com/office/powerpoint/2010/main" val="8650402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24072" y="629266"/>
            <a:ext cx="4939868" cy="1676603"/>
          </a:xfrm>
        </p:spPr>
        <p:txBody>
          <a:bodyPr>
            <a:normAutofit/>
          </a:bodyPr>
          <a:lstStyle/>
          <a:p>
            <a:pPr>
              <a:defRPr/>
            </a:pPr>
            <a:r>
              <a:rPr lang="en-US" sz="4700"/>
              <a:t>Increasing Optimism</a:t>
            </a:r>
          </a:p>
        </p:txBody>
      </p:sp>
      <p:pic>
        <p:nvPicPr>
          <p:cNvPr id="82951" name="Picture 82950">
            <a:extLst>
              <a:ext uri="{FF2B5EF4-FFF2-40B4-BE49-F238E27FC236}">
                <a16:creationId xmlns:a16="http://schemas.microsoft.com/office/drawing/2014/main" id="{0ECFFCE1-59D1-CAC2-B6E0-A14C6BB27C1C}"/>
              </a:ext>
            </a:extLst>
          </p:cNvPr>
          <p:cNvPicPr>
            <a:picLocks noChangeAspect="1"/>
          </p:cNvPicPr>
          <p:nvPr/>
        </p:nvPicPr>
        <p:blipFill rotWithShape="1">
          <a:blip r:embed="rId2"/>
          <a:srcRect l="34457" r="31703" b="-1"/>
          <a:stretch/>
        </p:blipFill>
        <p:spPr>
          <a:xfrm>
            <a:off x="20" y="10"/>
            <a:ext cx="3476673" cy="6857990"/>
          </a:xfrm>
          <a:prstGeom prst="rect">
            <a:avLst/>
          </a:prstGeom>
          <a:effectLst/>
        </p:spPr>
      </p:pic>
      <p:sp>
        <p:nvSpPr>
          <p:cNvPr id="82948" name="Footer Placeholder 3"/>
          <p:cNvSpPr>
            <a:spLocks noGrp="1"/>
          </p:cNvSpPr>
          <p:nvPr>
            <p:ph type="ftr" sz="quarter" idx="11"/>
          </p:nvPr>
        </p:nvSpPr>
        <p:spPr bwMode="auto">
          <a:xfrm>
            <a:off x="3724072" y="6356350"/>
            <a:ext cx="3104351"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numCol="1" anchorCtr="0" compatLnSpc="1">
            <a:prstTxWarp prst="textNoShape">
              <a:avLst/>
            </a:prstTxWarp>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a:lnSpc>
                <a:spcPct val="90000"/>
              </a:lnSpc>
              <a:spcAft>
                <a:spcPts val="600"/>
              </a:spcAft>
            </a:pPr>
            <a:r>
              <a:rPr lang="en-US" altLang="en-US" sz="900"/>
              <a:t>Positive Psychology: The Scientific and Practical Explorations of Human Strengths © 2014 SAGE</a:t>
            </a:r>
          </a:p>
        </p:txBody>
      </p:sp>
      <p:graphicFrame>
        <p:nvGraphicFramePr>
          <p:cNvPr id="82950" name="Content Placeholder 2">
            <a:extLst>
              <a:ext uri="{FF2B5EF4-FFF2-40B4-BE49-F238E27FC236}">
                <a16:creationId xmlns:a16="http://schemas.microsoft.com/office/drawing/2014/main" id="{7B654C58-12F9-FF40-6049-0F5FCB218452}"/>
              </a:ext>
            </a:extLst>
          </p:cNvPr>
          <p:cNvGraphicFramePr>
            <a:graphicFrameLocks noGrp="1"/>
          </p:cNvGraphicFramePr>
          <p:nvPr>
            <p:ph sz="quarter" idx="1"/>
            <p:extLst>
              <p:ext uri="{D42A27DB-BD31-4B8C-83A1-F6EECF244321}">
                <p14:modId xmlns:p14="http://schemas.microsoft.com/office/powerpoint/2010/main" val="3272354480"/>
              </p:ext>
            </p:extLst>
          </p:nvPr>
        </p:nvGraphicFramePr>
        <p:xfrm>
          <a:off x="3724073" y="2438400"/>
          <a:ext cx="4939867" cy="3785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08276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7" name="Rectangle 83976">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582930" y="731519"/>
            <a:ext cx="2133893" cy="3237579"/>
          </a:xfrm>
        </p:spPr>
        <p:txBody>
          <a:bodyPr>
            <a:normAutofit/>
          </a:bodyPr>
          <a:lstStyle/>
          <a:p>
            <a:pPr>
              <a:defRPr/>
            </a:pPr>
            <a:r>
              <a:rPr lang="en-US" sz="3300">
                <a:solidFill>
                  <a:srgbClr val="FFFFFF"/>
                </a:solidFill>
              </a:rPr>
              <a:t>ABCDE Model for Pessimistic Thoughts</a:t>
            </a:r>
          </a:p>
        </p:txBody>
      </p:sp>
      <p:sp>
        <p:nvSpPr>
          <p:cNvPr id="83979" name="Rectangle 83978">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83981" name="Rectangle 83980">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71" name="Content Placeholder 2"/>
          <p:cNvSpPr>
            <a:spLocks noGrp="1"/>
          </p:cNvSpPr>
          <p:nvPr>
            <p:ph sz="quarter" idx="1"/>
          </p:nvPr>
        </p:nvSpPr>
        <p:spPr>
          <a:xfrm>
            <a:off x="3284781" y="686862"/>
            <a:ext cx="5278194" cy="5475129"/>
          </a:xfrm>
        </p:spPr>
        <p:txBody>
          <a:bodyPr anchor="ctr">
            <a:normAutofit/>
          </a:bodyPr>
          <a:lstStyle/>
          <a:p>
            <a:r>
              <a:rPr lang="en-US" altLang="en-US" sz="2300"/>
              <a:t>A Adversity</a:t>
            </a:r>
          </a:p>
          <a:p>
            <a:r>
              <a:rPr lang="en-US" altLang="en-US" sz="2300"/>
              <a:t>B Beliefs</a:t>
            </a:r>
          </a:p>
          <a:p>
            <a:r>
              <a:rPr lang="en-US" altLang="en-US" sz="2300"/>
              <a:t>C Usual consequences</a:t>
            </a:r>
          </a:p>
          <a:p>
            <a:r>
              <a:rPr lang="en-US" altLang="en-US" sz="2300"/>
              <a:t>D Disputation of your routine belief</a:t>
            </a:r>
          </a:p>
          <a:p>
            <a:r>
              <a:rPr lang="en-US" altLang="en-US" sz="2300"/>
              <a:t>E Energization that occurs when dispute successfully</a:t>
            </a:r>
          </a:p>
        </p:txBody>
      </p:sp>
      <p:sp>
        <p:nvSpPr>
          <p:cNvPr id="83972" name="Footer Placeholder 3"/>
          <p:cNvSpPr>
            <a:spLocks noGrp="1"/>
          </p:cNvSpPr>
          <p:nvPr>
            <p:ph type="ftr" sz="quarter" idx="11"/>
          </p:nvPr>
        </p:nvSpPr>
        <p:spPr bwMode="auto">
          <a:xfrm>
            <a:off x="346543" y="6407779"/>
            <a:ext cx="500634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numCol="1" anchorCtr="0" compatLnSpc="1">
            <a:prstTxWarp prst="textNoShape">
              <a:avLst/>
            </a:prstTxWarp>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a:spcAft>
                <a:spcPts val="600"/>
              </a:spcAft>
            </a:pPr>
            <a:r>
              <a:rPr lang="en-US" altLang="en-US" sz="900">
                <a:solidFill>
                  <a:schemeClr val="tx1">
                    <a:lumMod val="50000"/>
                    <a:lumOff val="50000"/>
                  </a:schemeClr>
                </a:solidFill>
              </a:rPr>
              <a:t>Authentic Happiness (Seligman)</a:t>
            </a:r>
          </a:p>
        </p:txBody>
      </p:sp>
    </p:spTree>
    <p:extLst>
      <p:ext uri="{BB962C8B-B14F-4D97-AF65-F5344CB8AC3E}">
        <p14:creationId xmlns:p14="http://schemas.microsoft.com/office/powerpoint/2010/main" val="684891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ABCDE Model</a:t>
            </a:r>
          </a:p>
        </p:txBody>
      </p:sp>
      <p:pic>
        <p:nvPicPr>
          <p:cNvPr id="84995" name="Content Placeholder 4"/>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154113" y="1752600"/>
            <a:ext cx="6999287" cy="4243388"/>
          </a:xfrm>
        </p:spPr>
      </p:pic>
      <p:sp>
        <p:nvSpPr>
          <p:cNvPr id="8499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FFFFFF"/>
                </a:solidFill>
              </a:rPr>
              <a:t>Positive Psychology: The Scientific and Practical Explorations of Human Strengths © 2014 SAGE</a:t>
            </a:r>
          </a:p>
        </p:txBody>
      </p:sp>
    </p:spTree>
    <p:extLst>
      <p:ext uri="{BB962C8B-B14F-4D97-AF65-F5344CB8AC3E}">
        <p14:creationId xmlns:p14="http://schemas.microsoft.com/office/powerpoint/2010/main" val="929354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0759" y="3752849"/>
            <a:ext cx="2468166" cy="2452687"/>
          </a:xfrm>
        </p:spPr>
        <p:txBody>
          <a:bodyPr anchor="ctr">
            <a:normAutofit/>
          </a:bodyPr>
          <a:lstStyle/>
          <a:p>
            <a:pPr>
              <a:defRPr/>
            </a:pPr>
            <a:r>
              <a:rPr lang="en-US" sz="3100"/>
              <a:t>Disputations</a:t>
            </a:r>
          </a:p>
        </p:txBody>
      </p:sp>
      <p:pic>
        <p:nvPicPr>
          <p:cNvPr id="3" name="Picture 2">
            <a:extLst>
              <a:ext uri="{FF2B5EF4-FFF2-40B4-BE49-F238E27FC236}">
                <a16:creationId xmlns:a16="http://schemas.microsoft.com/office/drawing/2014/main" id="{6257A9F3-D775-4763-AB6B-FF46732FA034}"/>
              </a:ext>
            </a:extLst>
          </p:cNvPr>
          <p:cNvPicPr>
            <a:picLocks noChangeAspect="1"/>
          </p:cNvPicPr>
          <p:nvPr/>
        </p:nvPicPr>
        <p:blipFill rotWithShape="1">
          <a:blip r:embed="rId2"/>
          <a:srcRect t="19265" b="19942"/>
          <a:stretch/>
        </p:blipFill>
        <p:spPr>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86019" name="Content Placeholder 2"/>
          <p:cNvSpPr>
            <a:spLocks noGrp="1"/>
          </p:cNvSpPr>
          <p:nvPr>
            <p:ph sz="quarter" idx="1"/>
          </p:nvPr>
        </p:nvSpPr>
        <p:spPr>
          <a:xfrm>
            <a:off x="3167986" y="3752850"/>
            <a:ext cx="5614060" cy="2452687"/>
          </a:xfrm>
        </p:spPr>
        <p:txBody>
          <a:bodyPr anchor="ctr">
            <a:normAutofit/>
          </a:bodyPr>
          <a:lstStyle/>
          <a:p>
            <a:pPr marL="0" indent="0">
              <a:buNone/>
            </a:pPr>
            <a:r>
              <a:rPr lang="en-US" altLang="en-US" sz="2400" dirty="0">
                <a:solidFill>
                  <a:schemeClr val="accent5"/>
                </a:solidFill>
              </a:rPr>
              <a:t>Disputations</a:t>
            </a:r>
            <a:r>
              <a:rPr lang="en-US" altLang="en-US" sz="2400" dirty="0"/>
              <a:t> involve checking out the accuracy of the beliefs about ourselves that are encouraging us to feel pessimistic</a:t>
            </a:r>
          </a:p>
          <a:p>
            <a:endParaRPr lang="en-US" altLang="en-US" sz="1600" dirty="0"/>
          </a:p>
        </p:txBody>
      </p:sp>
      <p:sp>
        <p:nvSpPr>
          <p:cNvPr id="86020" name="Footer Placeholder 3"/>
          <p:cNvSpPr>
            <a:spLocks noGrp="1"/>
          </p:cNvSpPr>
          <p:nvPr>
            <p:ph type="ftr" sz="quarter" idx="11"/>
          </p:nvPr>
        </p:nvSpPr>
        <p:spPr bwMode="auto">
          <a:xfrm>
            <a:off x="3028950" y="6356350"/>
            <a:ext cx="30861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numCol="1" anchorCtr="0" compatLnSpc="1">
            <a:prstTxWarp prst="textNoShape">
              <a:avLst/>
            </a:prstTxWarp>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spcAft>
                <a:spcPts val="600"/>
              </a:spcAft>
            </a:pPr>
            <a:r>
              <a:rPr lang="en-US" altLang="en-US" sz="900">
                <a:solidFill>
                  <a:schemeClr val="tx1">
                    <a:lumMod val="75000"/>
                    <a:lumOff val="25000"/>
                  </a:schemeClr>
                </a:solidFill>
              </a:rPr>
              <a:t>Positive Psychology: The Scientific and Practical Explorations of Human Strengths © 2014 SAGE</a:t>
            </a:r>
          </a:p>
        </p:txBody>
      </p:sp>
    </p:spTree>
    <p:extLst>
      <p:ext uri="{BB962C8B-B14F-4D97-AF65-F5344CB8AC3E}">
        <p14:creationId xmlns:p14="http://schemas.microsoft.com/office/powerpoint/2010/main" val="28133316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7049" name="Rectangle 8704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73321" y="329184"/>
            <a:ext cx="4688333" cy="1783080"/>
          </a:xfrm>
        </p:spPr>
        <p:txBody>
          <a:bodyPr anchor="b">
            <a:normAutofit/>
          </a:bodyPr>
          <a:lstStyle/>
          <a:p>
            <a:pPr>
              <a:defRPr/>
            </a:pPr>
            <a:r>
              <a:rPr lang="en-US" sz="4000"/>
              <a:t>4 ways to make disputations convincing</a:t>
            </a:r>
          </a:p>
        </p:txBody>
      </p:sp>
      <p:pic>
        <p:nvPicPr>
          <p:cNvPr id="87045" name="Picture 87044" descr="Complex maths formulae on a blackboard">
            <a:extLst>
              <a:ext uri="{FF2B5EF4-FFF2-40B4-BE49-F238E27FC236}">
                <a16:creationId xmlns:a16="http://schemas.microsoft.com/office/drawing/2014/main" id="{8F60740E-9696-8ACE-013C-215F750482A8}"/>
              </a:ext>
            </a:extLst>
          </p:cNvPr>
          <p:cNvPicPr>
            <a:picLocks noChangeAspect="1"/>
          </p:cNvPicPr>
          <p:nvPr/>
        </p:nvPicPr>
        <p:blipFill rotWithShape="1">
          <a:blip r:embed="rId2"/>
          <a:srcRect l="38371" r="24447"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8705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 name="connsiteX0" fmla="*/ 0 w 3182692"/>
              <a:gd name="connsiteY0" fmla="*/ 0 h 18288"/>
              <a:gd name="connsiteX1" fmla="*/ 572885 w 3182692"/>
              <a:gd name="connsiteY1" fmla="*/ 0 h 18288"/>
              <a:gd name="connsiteX2" fmla="*/ 1113942 w 3182692"/>
              <a:gd name="connsiteY2" fmla="*/ 0 h 18288"/>
              <a:gd name="connsiteX3" fmla="*/ 1686827 w 3182692"/>
              <a:gd name="connsiteY3" fmla="*/ 0 h 18288"/>
              <a:gd name="connsiteX4" fmla="*/ 2323365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04711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43" name="Content Placeholder 2"/>
          <p:cNvSpPr>
            <a:spLocks noGrp="1"/>
          </p:cNvSpPr>
          <p:nvPr>
            <p:ph sz="quarter" idx="1"/>
          </p:nvPr>
        </p:nvSpPr>
        <p:spPr>
          <a:xfrm>
            <a:off x="3973321" y="2706624"/>
            <a:ext cx="4688333" cy="3483864"/>
          </a:xfrm>
        </p:spPr>
        <p:txBody>
          <a:bodyPr>
            <a:noAutofit/>
          </a:bodyPr>
          <a:lstStyle/>
          <a:p>
            <a:pPr marL="514350" indent="-514350">
              <a:buFont typeface="Georgia" panose="02040502050405020303" pitchFamily="18" charset="0"/>
              <a:buAutoNum type="arabicParenR"/>
            </a:pPr>
            <a:r>
              <a:rPr lang="en-US" altLang="en-US" sz="1600" dirty="0"/>
              <a:t>Evidence</a:t>
            </a:r>
          </a:p>
          <a:p>
            <a:pPr lvl="1"/>
            <a:r>
              <a:rPr lang="en-US" altLang="en-US" sz="1600" dirty="0"/>
              <a:t>Show negative belief is factually incorrect</a:t>
            </a:r>
          </a:p>
          <a:p>
            <a:pPr lvl="1"/>
            <a:r>
              <a:rPr lang="en-US" altLang="en-US" sz="1600" dirty="0"/>
              <a:t>Most negative beliefs are overreactions</a:t>
            </a:r>
          </a:p>
          <a:p>
            <a:pPr lvl="1"/>
            <a:r>
              <a:rPr lang="en-US" altLang="en-US" sz="1600" dirty="0"/>
              <a:t>E.g., “worst in class”…ask other students about their grade</a:t>
            </a:r>
          </a:p>
          <a:p>
            <a:pPr marL="514350" indent="-514350">
              <a:buFont typeface="Georgia" panose="02040502050405020303" pitchFamily="18" charset="0"/>
              <a:buAutoNum type="arabicParenR"/>
            </a:pPr>
            <a:r>
              <a:rPr lang="en-US" altLang="en-US" sz="1600" dirty="0"/>
              <a:t>Alternatives</a:t>
            </a:r>
          </a:p>
          <a:p>
            <a:pPr lvl="1"/>
            <a:r>
              <a:rPr lang="en-US" altLang="en-US" sz="1600" dirty="0"/>
              <a:t>Ask yourself if there are alternative ways to look at the problem which are less damaging to yourself, and focus on causes that are changeable</a:t>
            </a:r>
          </a:p>
          <a:p>
            <a:pPr lvl="1"/>
            <a:r>
              <a:rPr lang="en-US" altLang="en-US" sz="1600" dirty="0"/>
              <a:t>Scan for all possible contributing causes (pessimists latch on to worst of all these causes, usually permanent and pervasive one)</a:t>
            </a:r>
          </a:p>
          <a:p>
            <a:pPr lvl="1"/>
            <a:r>
              <a:rPr lang="en-US" altLang="en-US" sz="1600" dirty="0"/>
              <a:t>Focus on causes that are changeable, specific, and nonpersonal</a:t>
            </a:r>
          </a:p>
        </p:txBody>
      </p:sp>
    </p:spTree>
    <p:extLst>
      <p:ext uri="{BB962C8B-B14F-4D97-AF65-F5344CB8AC3E}">
        <p14:creationId xmlns:p14="http://schemas.microsoft.com/office/powerpoint/2010/main" val="4230590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8073" name="Rectangle 88072">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73321" y="329184"/>
            <a:ext cx="4688333" cy="1783080"/>
          </a:xfrm>
        </p:spPr>
        <p:txBody>
          <a:bodyPr anchor="b">
            <a:normAutofit/>
          </a:bodyPr>
          <a:lstStyle/>
          <a:p>
            <a:pPr>
              <a:defRPr/>
            </a:pPr>
            <a:r>
              <a:rPr lang="en-US" sz="4000"/>
              <a:t>4 ways to make disputations convincing</a:t>
            </a:r>
          </a:p>
        </p:txBody>
      </p:sp>
      <p:pic>
        <p:nvPicPr>
          <p:cNvPr id="88069" name="Picture 88068" descr="Many question marks on black background">
            <a:extLst>
              <a:ext uri="{FF2B5EF4-FFF2-40B4-BE49-F238E27FC236}">
                <a16:creationId xmlns:a16="http://schemas.microsoft.com/office/drawing/2014/main" id="{D324B578-E766-3223-1C94-A1D7D45010F6}"/>
              </a:ext>
            </a:extLst>
          </p:cNvPr>
          <p:cNvPicPr>
            <a:picLocks noChangeAspect="1"/>
          </p:cNvPicPr>
          <p:nvPr/>
        </p:nvPicPr>
        <p:blipFill rotWithShape="1">
          <a:blip r:embed="rId2"/>
          <a:srcRect l="65633" r="3299" b="2"/>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88075"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 name="connsiteX0" fmla="*/ 0 w 3182692"/>
              <a:gd name="connsiteY0" fmla="*/ 0 h 18288"/>
              <a:gd name="connsiteX1" fmla="*/ 572885 w 3182692"/>
              <a:gd name="connsiteY1" fmla="*/ 0 h 18288"/>
              <a:gd name="connsiteX2" fmla="*/ 1113942 w 3182692"/>
              <a:gd name="connsiteY2" fmla="*/ 0 h 18288"/>
              <a:gd name="connsiteX3" fmla="*/ 1686827 w 3182692"/>
              <a:gd name="connsiteY3" fmla="*/ 0 h 18288"/>
              <a:gd name="connsiteX4" fmla="*/ 2323365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04711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67" name="Content Placeholder 2"/>
          <p:cNvSpPr>
            <a:spLocks noGrp="1"/>
          </p:cNvSpPr>
          <p:nvPr>
            <p:ph sz="quarter" idx="1"/>
          </p:nvPr>
        </p:nvSpPr>
        <p:spPr>
          <a:xfrm>
            <a:off x="3973321" y="2706624"/>
            <a:ext cx="4688333" cy="3483864"/>
          </a:xfrm>
        </p:spPr>
        <p:txBody>
          <a:bodyPr>
            <a:normAutofit/>
          </a:bodyPr>
          <a:lstStyle/>
          <a:p>
            <a:pPr marL="0" indent="0">
              <a:buFont typeface="Wingdings 2" panose="05020102010507070707" pitchFamily="18" charset="2"/>
              <a:buNone/>
            </a:pPr>
            <a:r>
              <a:rPr lang="en-US" altLang="en-US" sz="1900"/>
              <a:t>3) Implications</a:t>
            </a:r>
          </a:p>
          <a:p>
            <a:pPr lvl="1"/>
            <a:r>
              <a:rPr lang="en-US" altLang="en-US" sz="1900"/>
              <a:t>Negative belief may be true…so, decatastrophize. </a:t>
            </a:r>
          </a:p>
          <a:p>
            <a:pPr lvl="1"/>
            <a:r>
              <a:rPr lang="en-US" altLang="en-US" sz="1900"/>
              <a:t>E.g., I’m factual and straightforward. What’s the implication? Doesn’t mean I won’t have any friends. </a:t>
            </a:r>
          </a:p>
          <a:p>
            <a:pPr marL="0" indent="0">
              <a:buFont typeface="Wingdings 2" panose="05020102010507070707" pitchFamily="18" charset="2"/>
              <a:buNone/>
            </a:pPr>
            <a:r>
              <a:rPr lang="en-US" altLang="en-US" sz="1900"/>
              <a:t>4) Usefulness:</a:t>
            </a:r>
          </a:p>
          <a:p>
            <a:pPr lvl="1"/>
            <a:r>
              <a:rPr lang="en-US" altLang="en-US" sz="1900"/>
              <a:t>Is belief destructive? How can you change situation in future?</a:t>
            </a:r>
          </a:p>
        </p:txBody>
      </p:sp>
    </p:spTree>
    <p:extLst>
      <p:ext uri="{BB962C8B-B14F-4D97-AF65-F5344CB8AC3E}">
        <p14:creationId xmlns:p14="http://schemas.microsoft.com/office/powerpoint/2010/main" val="23490218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582930" y="731519"/>
            <a:ext cx="2133893" cy="3237579"/>
          </a:xfrm>
        </p:spPr>
        <p:txBody>
          <a:bodyPr>
            <a:normAutofit/>
          </a:bodyPr>
          <a:lstStyle/>
          <a:p>
            <a:r>
              <a:rPr lang="en-US" sz="3100" dirty="0">
                <a:solidFill>
                  <a:srgbClr val="FFFFFF"/>
                </a:solidFill>
              </a:rPr>
              <a:t>Journal Entry #16: </a:t>
            </a:r>
            <a:br>
              <a:rPr lang="en-US" sz="3100" dirty="0">
                <a:solidFill>
                  <a:srgbClr val="FFFFFF"/>
                </a:solidFill>
              </a:rPr>
            </a:br>
            <a:r>
              <a:rPr lang="en-US" sz="3100" dirty="0">
                <a:solidFill>
                  <a:srgbClr val="FFFFFF"/>
                </a:solidFill>
              </a:rPr>
              <a:t>Explanatory Style</a:t>
            </a:r>
          </a:p>
        </p:txBody>
      </p:sp>
      <p:sp>
        <p:nvSpPr>
          <p:cNvPr id="11" name="Rectangle 1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284781" y="686862"/>
            <a:ext cx="5278194" cy="5475129"/>
          </a:xfrm>
        </p:spPr>
        <p:txBody>
          <a:bodyPr anchor="ctr">
            <a:normAutofit/>
          </a:bodyPr>
          <a:lstStyle/>
          <a:p>
            <a:pPr marL="0" indent="0">
              <a:buNone/>
            </a:pPr>
            <a:r>
              <a:rPr lang="en-US" sz="2300" dirty="0"/>
              <a:t>We can all think in more optimistic ways. Take a moment and recall a recent setback or disappointment in your life. Start with something that feels relatively small and safe. Now ask yourself the following 3 questions to assess your explanatory style.</a:t>
            </a:r>
          </a:p>
          <a:p>
            <a:pPr lvl="1"/>
            <a:r>
              <a:rPr lang="en-US" sz="2300" dirty="0"/>
              <a:t>Who or what was to blame?</a:t>
            </a:r>
          </a:p>
          <a:p>
            <a:pPr lvl="1"/>
            <a:r>
              <a:rPr lang="en-US" sz="2300" dirty="0"/>
              <a:t>How long will the causes and/or the fallout of this event last?</a:t>
            </a:r>
          </a:p>
          <a:p>
            <a:pPr lvl="1"/>
            <a:r>
              <a:rPr lang="en-US" sz="2300" dirty="0"/>
              <a:t>How much of my life will this affect?</a:t>
            </a:r>
          </a:p>
          <a:p>
            <a:pPr lvl="1"/>
            <a:endParaRPr lang="en-US" sz="2300" dirty="0"/>
          </a:p>
          <a:p>
            <a:pPr lvl="1"/>
            <a:r>
              <a:rPr lang="en-US" sz="2300" dirty="0"/>
              <a:t>Now, which explanatory style is represented with this example? Is this representative of how you usually think about things?</a:t>
            </a:r>
          </a:p>
        </p:txBody>
      </p:sp>
      <p:sp>
        <p:nvSpPr>
          <p:cNvPr id="4" name="Footer Placeholder 3"/>
          <p:cNvSpPr>
            <a:spLocks noGrp="1"/>
          </p:cNvSpPr>
          <p:nvPr>
            <p:ph type="ftr" sz="quarter" idx="11"/>
          </p:nvPr>
        </p:nvSpPr>
        <p:spPr>
          <a:xfrm>
            <a:off x="346543" y="6407779"/>
            <a:ext cx="5006340" cy="365125"/>
          </a:xfrm>
        </p:spPr>
        <p:txBody>
          <a:bodyPr>
            <a:normAutofit/>
          </a:bodyPr>
          <a:lstStyle/>
          <a:p>
            <a:pPr algn="l">
              <a:spcAft>
                <a:spcPts val="600"/>
              </a:spcAft>
            </a:pPr>
            <a:r>
              <a:rPr lang="en-US" sz="900">
                <a:solidFill>
                  <a:schemeClr val="tx1">
                    <a:lumMod val="50000"/>
                    <a:lumOff val="50000"/>
                  </a:schemeClr>
                </a:solidFill>
              </a:rPr>
              <a:t>The Science of Positive Psychology © Cambridge University Press 2021</a:t>
            </a:r>
          </a:p>
        </p:txBody>
      </p:sp>
    </p:spTree>
    <p:extLst>
      <p:ext uri="{BB962C8B-B14F-4D97-AF65-F5344CB8AC3E}">
        <p14:creationId xmlns:p14="http://schemas.microsoft.com/office/powerpoint/2010/main" val="16756891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417443"/>
            <a:ext cx="7886700" cy="5759520"/>
          </a:xfrm>
        </p:spPr>
        <p:txBody>
          <a:bodyPr/>
          <a:lstStyle/>
          <a:p>
            <a:r>
              <a:rPr lang="en-US" dirty="0"/>
              <a:t>The more you believe that event was your fault (ques 1), will never go away (ques 2) or will affect most or all areas of your life (ques 3), the more you’re explaining this event in a pessimistic way.</a:t>
            </a:r>
          </a:p>
          <a:p>
            <a:pPr lvl="1"/>
            <a:r>
              <a:rPr lang="en-US" dirty="0"/>
              <a:t>If this is the case, see if you can revisit the questions above and look for other possible explanations. Ask yourself if you really are completely to blame. Consider any situational factors and influences, including bad luck, that may have played a role in causing the event. Likewise, gently question your assumption about how long-lived the negative event’s effects are likely to be. When we experience strong emotions, we can confuse how bad somethings feels at the moment with how long it will actually last. Finally, look for areas of your life that remain stable and relatively unaffected by the negative event.   </a:t>
            </a:r>
          </a:p>
        </p:txBody>
      </p:sp>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29857641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1F734-8170-4D33-9F89-B8487E92A73F}"/>
              </a:ext>
            </a:extLst>
          </p:cNvPr>
          <p:cNvSpPr>
            <a:spLocks noGrp="1"/>
          </p:cNvSpPr>
          <p:nvPr>
            <p:ph type="title"/>
          </p:nvPr>
        </p:nvSpPr>
        <p:spPr/>
        <p:txBody>
          <a:bodyPr/>
          <a:lstStyle/>
          <a:p>
            <a:r>
              <a:rPr lang="en-US" dirty="0"/>
              <a:t>Hope</a:t>
            </a:r>
          </a:p>
        </p:txBody>
      </p:sp>
      <p:sp>
        <p:nvSpPr>
          <p:cNvPr id="4" name="Footer Placeholder 3">
            <a:extLst>
              <a:ext uri="{FF2B5EF4-FFF2-40B4-BE49-F238E27FC236}">
                <a16:creationId xmlns:a16="http://schemas.microsoft.com/office/drawing/2014/main" id="{D12592D3-AF77-474F-A075-63528DE407C4}"/>
              </a:ext>
            </a:extLst>
          </p:cNvPr>
          <p:cNvSpPr>
            <a:spLocks noGrp="1"/>
          </p:cNvSpPr>
          <p:nvPr>
            <p:ph type="ftr" sz="quarter" idx="10"/>
          </p:nvPr>
        </p:nvSpPr>
        <p:spPr>
          <a:xfrm>
            <a:off x="2002155" y="6359380"/>
            <a:ext cx="5139690" cy="461665"/>
          </a:xfrm>
        </p:spPr>
        <p:txBody>
          <a:bodyPr/>
          <a:lstStyle/>
          <a:p>
            <a:r>
              <a:rPr lang="en-US" dirty="0"/>
              <a:t>The Science and Application of Positive Psychology </a:t>
            </a:r>
            <a:br>
              <a:rPr lang="en-US" dirty="0"/>
            </a:br>
            <a:r>
              <a:rPr lang="en-US" dirty="0"/>
              <a:t>© Cambridge University Press 2021</a:t>
            </a:r>
          </a:p>
        </p:txBody>
      </p:sp>
      <p:pic>
        <p:nvPicPr>
          <p:cNvPr id="3" name="Picture 2">
            <a:extLst>
              <a:ext uri="{FF2B5EF4-FFF2-40B4-BE49-F238E27FC236}">
                <a16:creationId xmlns:a16="http://schemas.microsoft.com/office/drawing/2014/main" id="{974E16E3-36C7-4C73-ABDE-A792DA998471}"/>
              </a:ext>
            </a:extLst>
          </p:cNvPr>
          <p:cNvPicPr>
            <a:picLocks noChangeAspect="1"/>
          </p:cNvPicPr>
          <p:nvPr/>
        </p:nvPicPr>
        <p:blipFill>
          <a:blip r:embed="rId2"/>
          <a:stretch>
            <a:fillRect/>
          </a:stretch>
        </p:blipFill>
        <p:spPr>
          <a:xfrm>
            <a:off x="-4762" y="36955"/>
            <a:ext cx="9144000" cy="6094476"/>
          </a:xfrm>
          <a:prstGeom prst="rect">
            <a:avLst/>
          </a:prstGeom>
        </p:spPr>
      </p:pic>
    </p:spTree>
    <p:extLst>
      <p:ext uri="{BB962C8B-B14F-4D97-AF65-F5344CB8AC3E}">
        <p14:creationId xmlns:p14="http://schemas.microsoft.com/office/powerpoint/2010/main" val="40410041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7FCAD187-9A77-4071-A7EA-AF60F59E8ED2}"/>
              </a:ext>
            </a:extLst>
          </p:cNvPr>
          <p:cNvSpPr>
            <a:spLocks noGrp="1"/>
          </p:cNvSpPr>
          <p:nvPr>
            <p:ph type="title"/>
          </p:nvPr>
        </p:nvSpPr>
        <p:spPr>
          <a:xfrm>
            <a:off x="582930" y="731519"/>
            <a:ext cx="2133893" cy="3237579"/>
          </a:xfrm>
        </p:spPr>
        <p:txBody>
          <a:bodyPr>
            <a:normAutofit/>
          </a:bodyPr>
          <a:lstStyle/>
          <a:p>
            <a:r>
              <a:rPr lang="en-US" sz="3300">
                <a:solidFill>
                  <a:srgbClr val="FFFFFF"/>
                </a:solidFill>
              </a:rPr>
              <a:t>Hope</a:t>
            </a:r>
          </a:p>
        </p:txBody>
      </p:sp>
      <p:sp>
        <p:nvSpPr>
          <p:cNvPr id="11" name="Rectangle 1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3F155C5-E6D9-4198-85EF-6E477CB01BA9}"/>
              </a:ext>
            </a:extLst>
          </p:cNvPr>
          <p:cNvSpPr>
            <a:spLocks noGrp="1"/>
          </p:cNvSpPr>
          <p:nvPr>
            <p:ph idx="1"/>
          </p:nvPr>
        </p:nvSpPr>
        <p:spPr>
          <a:xfrm>
            <a:off x="3284781" y="686862"/>
            <a:ext cx="5278194" cy="5475129"/>
          </a:xfrm>
        </p:spPr>
        <p:txBody>
          <a:bodyPr anchor="ctr">
            <a:normAutofit/>
          </a:bodyPr>
          <a:lstStyle/>
          <a:p>
            <a:r>
              <a:rPr lang="en-US" sz="2100" i="1"/>
              <a:t>Hope Theory </a:t>
            </a:r>
            <a:r>
              <a:rPr lang="en-US" sz="2100"/>
              <a:t>is a model of hope developed by C. R. Snyder (1994).</a:t>
            </a:r>
          </a:p>
          <a:p>
            <a:r>
              <a:rPr lang="en-US" sz="2100"/>
              <a:t>According to this model, hope has three components:</a:t>
            </a:r>
          </a:p>
          <a:p>
            <a:pPr lvl="1"/>
            <a:r>
              <a:rPr lang="en-US" sz="2100"/>
              <a:t>Goals: Anything that people want to get, do, be, accomplish, or experience.</a:t>
            </a:r>
          </a:p>
          <a:p>
            <a:pPr lvl="1"/>
            <a:r>
              <a:rPr lang="en-US" sz="2100"/>
              <a:t>Pathways: Plans or strategies people believe will lead to goals.</a:t>
            </a:r>
          </a:p>
          <a:p>
            <a:pPr lvl="1"/>
            <a:r>
              <a:rPr lang="en-US" sz="2100"/>
              <a:t>Agency: The collection of beliefs that motivate people to work toward achieving their goals.</a:t>
            </a:r>
          </a:p>
          <a:p>
            <a:r>
              <a:rPr lang="en-US" sz="2100"/>
              <a:t>Pathways and agency are theorized to influence one another, so that a change in one will correspondingly alter the other (Snyder, 2002). </a:t>
            </a:r>
          </a:p>
        </p:txBody>
      </p:sp>
      <p:sp>
        <p:nvSpPr>
          <p:cNvPr id="4" name="Footer Placeholder 3">
            <a:extLst>
              <a:ext uri="{FF2B5EF4-FFF2-40B4-BE49-F238E27FC236}">
                <a16:creationId xmlns:a16="http://schemas.microsoft.com/office/drawing/2014/main" id="{A09A803D-86D8-49BF-84D2-831135E47CD5}"/>
              </a:ext>
            </a:extLst>
          </p:cNvPr>
          <p:cNvSpPr>
            <a:spLocks noGrp="1"/>
          </p:cNvSpPr>
          <p:nvPr>
            <p:ph type="ftr" sz="quarter" idx="11"/>
          </p:nvPr>
        </p:nvSpPr>
        <p:spPr>
          <a:xfrm>
            <a:off x="346543" y="6407779"/>
            <a:ext cx="5006340" cy="365125"/>
          </a:xfrm>
        </p:spPr>
        <p:txBody>
          <a:bodyPr>
            <a:normAutofit/>
          </a:bodyPr>
          <a:lstStyle/>
          <a:p>
            <a:pPr algn="l">
              <a:lnSpc>
                <a:spcPct val="90000"/>
              </a:lnSpc>
              <a:spcAft>
                <a:spcPts val="600"/>
              </a:spcAft>
            </a:pPr>
            <a:r>
              <a:rPr lang="en-US" sz="900">
                <a:solidFill>
                  <a:schemeClr val="tx1">
                    <a:lumMod val="50000"/>
                    <a:lumOff val="50000"/>
                  </a:schemeClr>
                </a:solidFill>
              </a:rPr>
              <a:t>The Science and Application of Positive Psychology </a:t>
            </a:r>
            <a:br>
              <a:rPr lang="en-US" sz="900">
                <a:solidFill>
                  <a:schemeClr val="tx1">
                    <a:lumMod val="50000"/>
                    <a:lumOff val="50000"/>
                  </a:schemeClr>
                </a:solidFill>
              </a:rPr>
            </a:br>
            <a:r>
              <a:rPr lang="en-US" sz="900">
                <a:solidFill>
                  <a:schemeClr val="tx1">
                    <a:lumMod val="50000"/>
                    <a:lumOff val="50000"/>
                  </a:schemeClr>
                </a:solidFill>
              </a:rPr>
              <a:t>© Cambridge University Press 2021</a:t>
            </a:r>
          </a:p>
        </p:txBody>
      </p:sp>
    </p:spTree>
    <p:extLst>
      <p:ext uri="{BB962C8B-B14F-4D97-AF65-F5344CB8AC3E}">
        <p14:creationId xmlns:p14="http://schemas.microsoft.com/office/powerpoint/2010/main" val="379006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96BAF4-494A-426E-8FF3-82A5D218CA48}"/>
              </a:ext>
            </a:extLst>
          </p:cNvPr>
          <p:cNvSpPr>
            <a:spLocks noGrp="1"/>
          </p:cNvSpPr>
          <p:nvPr>
            <p:ph type="title"/>
          </p:nvPr>
        </p:nvSpPr>
        <p:spPr>
          <a:xfrm>
            <a:off x="3973321" y="329184"/>
            <a:ext cx="4688333" cy="1783080"/>
          </a:xfrm>
        </p:spPr>
        <p:txBody>
          <a:bodyPr anchor="b">
            <a:normAutofit/>
          </a:bodyPr>
          <a:lstStyle/>
          <a:p>
            <a:r>
              <a:rPr lang="en-US" sz="4700"/>
              <a:t>Measuring Hope</a:t>
            </a:r>
          </a:p>
        </p:txBody>
      </p:sp>
      <p:pic>
        <p:nvPicPr>
          <p:cNvPr id="6" name="Picture 5" descr="A digital balance scale using circles">
            <a:extLst>
              <a:ext uri="{FF2B5EF4-FFF2-40B4-BE49-F238E27FC236}">
                <a16:creationId xmlns:a16="http://schemas.microsoft.com/office/drawing/2014/main" id="{03E014ED-C27E-4872-BDCD-E5DC3D995EC7}"/>
              </a:ext>
            </a:extLst>
          </p:cNvPr>
          <p:cNvPicPr>
            <a:picLocks noChangeAspect="1"/>
          </p:cNvPicPr>
          <p:nvPr/>
        </p:nvPicPr>
        <p:blipFill rotWithShape="1">
          <a:blip r:embed="rId2"/>
          <a:srcRect l="35902" r="33284"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 name="connsiteX0" fmla="*/ 0 w 3182692"/>
              <a:gd name="connsiteY0" fmla="*/ 0 h 18288"/>
              <a:gd name="connsiteX1" fmla="*/ 572885 w 3182692"/>
              <a:gd name="connsiteY1" fmla="*/ 0 h 18288"/>
              <a:gd name="connsiteX2" fmla="*/ 1113942 w 3182692"/>
              <a:gd name="connsiteY2" fmla="*/ 0 h 18288"/>
              <a:gd name="connsiteX3" fmla="*/ 1686827 w 3182692"/>
              <a:gd name="connsiteY3" fmla="*/ 0 h 18288"/>
              <a:gd name="connsiteX4" fmla="*/ 2323365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04711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0E2C8E-F317-40F7-AE74-53AF90E70F29}"/>
              </a:ext>
            </a:extLst>
          </p:cNvPr>
          <p:cNvSpPr>
            <a:spLocks noGrp="1"/>
          </p:cNvSpPr>
          <p:nvPr>
            <p:ph idx="1"/>
          </p:nvPr>
        </p:nvSpPr>
        <p:spPr>
          <a:xfrm>
            <a:off x="3973321" y="2706624"/>
            <a:ext cx="4688333" cy="3483864"/>
          </a:xfrm>
        </p:spPr>
        <p:txBody>
          <a:bodyPr>
            <a:normAutofit/>
          </a:bodyPr>
          <a:lstStyle/>
          <a:p>
            <a:r>
              <a:rPr lang="en-US" sz="2400" dirty="0"/>
              <a:t>Several valid and reliable measures have been developed to assess hope, including:</a:t>
            </a:r>
          </a:p>
          <a:p>
            <a:pPr lvl="1"/>
            <a:r>
              <a:rPr lang="en-US" dirty="0"/>
              <a:t>The Hope Scale, which measures hope in a trait-like way</a:t>
            </a:r>
          </a:p>
          <a:p>
            <a:pPr lvl="1"/>
            <a:r>
              <a:rPr lang="en-US" dirty="0"/>
              <a:t>The State Hope Scale, which measures one’s momentary, or “state” level of hope</a:t>
            </a:r>
          </a:p>
        </p:txBody>
      </p:sp>
      <p:sp>
        <p:nvSpPr>
          <p:cNvPr id="4" name="Footer Placeholder 3">
            <a:extLst>
              <a:ext uri="{FF2B5EF4-FFF2-40B4-BE49-F238E27FC236}">
                <a16:creationId xmlns:a16="http://schemas.microsoft.com/office/drawing/2014/main" id="{C179DD48-0B74-45F9-8E3F-A3CAAD9CB111}"/>
              </a:ext>
            </a:extLst>
          </p:cNvPr>
          <p:cNvSpPr>
            <a:spLocks noGrp="1"/>
          </p:cNvSpPr>
          <p:nvPr>
            <p:ph type="ftr" sz="quarter" idx="11"/>
          </p:nvPr>
        </p:nvSpPr>
        <p:spPr>
          <a:xfrm>
            <a:off x="3973321" y="6356350"/>
            <a:ext cx="3086100" cy="365125"/>
          </a:xfrm>
        </p:spPr>
        <p:txBody>
          <a:bodyPr>
            <a:normAutofit/>
          </a:bodyPr>
          <a:lstStyle/>
          <a:p>
            <a:pPr algn="l">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13177346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BAF4-494A-426E-8FF3-82A5D218CA48}"/>
              </a:ext>
            </a:extLst>
          </p:cNvPr>
          <p:cNvSpPr>
            <a:spLocks noGrp="1"/>
          </p:cNvSpPr>
          <p:nvPr>
            <p:ph type="title"/>
          </p:nvPr>
        </p:nvSpPr>
        <p:spPr/>
        <p:txBody>
          <a:bodyPr/>
          <a:lstStyle/>
          <a:p>
            <a:r>
              <a:rPr lang="en-US" dirty="0"/>
              <a:t>Hope, optimism, and well-being</a:t>
            </a:r>
          </a:p>
        </p:txBody>
      </p:sp>
      <p:sp>
        <p:nvSpPr>
          <p:cNvPr id="3" name="Content Placeholder 2">
            <a:extLst>
              <a:ext uri="{FF2B5EF4-FFF2-40B4-BE49-F238E27FC236}">
                <a16:creationId xmlns:a16="http://schemas.microsoft.com/office/drawing/2014/main" id="{DE0E2C8E-F317-40F7-AE74-53AF90E70F29}"/>
              </a:ext>
            </a:extLst>
          </p:cNvPr>
          <p:cNvSpPr>
            <a:spLocks noGrp="1"/>
          </p:cNvSpPr>
          <p:nvPr>
            <p:ph idx="1"/>
          </p:nvPr>
        </p:nvSpPr>
        <p:spPr/>
        <p:txBody>
          <a:bodyPr>
            <a:normAutofit fontScale="70000" lnSpcReduction="20000"/>
          </a:bodyPr>
          <a:lstStyle/>
          <a:p>
            <a:r>
              <a:rPr lang="en-US" dirty="0"/>
              <a:t>Psychological Health and Well-being:</a:t>
            </a:r>
          </a:p>
          <a:p>
            <a:pPr lvl="1"/>
            <a:r>
              <a:rPr lang="en-US" sz="2600" dirty="0"/>
              <a:t>Greater hope and optimism are associated with lower depression and anxiety, as well as higher self-esteem and meaning in life (e.g., Feldman &amp; Snyder, 2005).  </a:t>
            </a:r>
          </a:p>
          <a:p>
            <a:pPr lvl="1"/>
            <a:r>
              <a:rPr lang="en-US" sz="2600" dirty="0"/>
              <a:t>People with higher hope and optimism also tend to follow through on their goals and experience greater goal accomplishment than people with lower levels of these constructs.</a:t>
            </a:r>
          </a:p>
          <a:p>
            <a:r>
              <a:rPr lang="en-US" dirty="0"/>
              <a:t>Physical Health and Well-being: </a:t>
            </a:r>
          </a:p>
          <a:p>
            <a:pPr lvl="1"/>
            <a:r>
              <a:rPr lang="en-US" sz="2600" dirty="0"/>
              <a:t>Higher hope and optimism are associated with health-promoting behaviors (e.g., being a non-smoker, regular exercise). </a:t>
            </a:r>
          </a:p>
          <a:p>
            <a:pPr lvl="1"/>
            <a:r>
              <a:rPr lang="en-US" sz="2600" dirty="0"/>
              <a:t>People with higher optimism and hope also appear to cope better with pain and may perceive painful stimuli as less painful than people with lower levels of these constructs (Sheier &amp; Carver, 1992; Snyder et al., 2005).  </a:t>
            </a:r>
          </a:p>
          <a:p>
            <a:r>
              <a:rPr lang="en-US" sz="3200" dirty="0"/>
              <a:t>Given Hope Theory’s emphasis on pathways (planning) and agency (motivation), some researchers suggest that hope may be a somewhat stronger predictor of achievement and well-being in controllable situations (Rand, Martin, &amp; Shea, 2011).</a:t>
            </a:r>
          </a:p>
        </p:txBody>
      </p:sp>
      <p:sp>
        <p:nvSpPr>
          <p:cNvPr id="4" name="Footer Placeholder 3">
            <a:extLst>
              <a:ext uri="{FF2B5EF4-FFF2-40B4-BE49-F238E27FC236}">
                <a16:creationId xmlns:a16="http://schemas.microsoft.com/office/drawing/2014/main" id="{C179DD48-0B74-45F9-8E3F-A3CAAD9CB111}"/>
              </a:ext>
            </a:extLst>
          </p:cNvPr>
          <p:cNvSpPr>
            <a:spLocks noGrp="1"/>
          </p:cNvSpPr>
          <p:nvPr>
            <p:ph type="ftr" sz="quarter" idx="11"/>
          </p:nvPr>
        </p:nvSpPr>
        <p:spPr>
          <a:xfrm>
            <a:off x="2002155" y="6354798"/>
            <a:ext cx="5139690" cy="461665"/>
          </a:xfrm>
        </p:spPr>
        <p:txBody>
          <a:bodyPr/>
          <a:lstStyle/>
          <a:p>
            <a:r>
              <a:rPr lang="en-US" dirty="0"/>
              <a:t>The Science and Application of Positive Psychology </a:t>
            </a:r>
            <a:br>
              <a:rPr lang="en-US" dirty="0"/>
            </a:br>
            <a:r>
              <a:rPr lang="en-US" dirty="0"/>
              <a:t>© Cambridge University Press 2021</a:t>
            </a:r>
          </a:p>
        </p:txBody>
      </p:sp>
    </p:spTree>
    <p:extLst>
      <p:ext uri="{BB962C8B-B14F-4D97-AF65-F5344CB8AC3E}">
        <p14:creationId xmlns:p14="http://schemas.microsoft.com/office/powerpoint/2010/main" val="17060964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BAF4-494A-426E-8FF3-82A5D218CA48}"/>
              </a:ext>
            </a:extLst>
          </p:cNvPr>
          <p:cNvSpPr>
            <a:spLocks noGrp="1"/>
          </p:cNvSpPr>
          <p:nvPr>
            <p:ph type="title"/>
          </p:nvPr>
        </p:nvSpPr>
        <p:spPr/>
        <p:txBody>
          <a:bodyPr/>
          <a:lstStyle/>
          <a:p>
            <a:r>
              <a:rPr lang="en-US" dirty="0"/>
              <a:t>Unrealistic optimism </a:t>
            </a:r>
            <a:br>
              <a:rPr lang="en-US" dirty="0"/>
            </a:br>
            <a:r>
              <a:rPr lang="en-US" dirty="0"/>
              <a:t>(aka, optimism bias)</a:t>
            </a:r>
          </a:p>
        </p:txBody>
      </p:sp>
      <p:sp>
        <p:nvSpPr>
          <p:cNvPr id="3" name="Content Placeholder 2">
            <a:extLst>
              <a:ext uri="{FF2B5EF4-FFF2-40B4-BE49-F238E27FC236}">
                <a16:creationId xmlns:a16="http://schemas.microsoft.com/office/drawing/2014/main" id="{DE0E2C8E-F317-40F7-AE74-53AF90E70F29}"/>
              </a:ext>
            </a:extLst>
          </p:cNvPr>
          <p:cNvSpPr>
            <a:spLocks noGrp="1"/>
          </p:cNvSpPr>
          <p:nvPr>
            <p:ph idx="1"/>
          </p:nvPr>
        </p:nvSpPr>
        <p:spPr/>
        <p:txBody>
          <a:bodyPr>
            <a:normAutofit fontScale="92500"/>
          </a:bodyPr>
          <a:lstStyle/>
          <a:p>
            <a:r>
              <a:rPr lang="en-US" dirty="0"/>
              <a:t>Study: Weinstein (1980) listed 24 negative events ranging from relatively small (your car turns out to be a lemon) to catastrophic (developing cancer), and asked college students to estimate their risk for each. For nearly all the events, most students indicated they were at lower risk than other students at their school of the same age and gender. Statistically, this is impossible.</a:t>
            </a:r>
          </a:p>
          <a:p>
            <a:r>
              <a:rPr lang="en-US" dirty="0"/>
              <a:t>May lead people to take unnecessary risks, believing they are less vulnerable than they really are.</a:t>
            </a:r>
          </a:p>
          <a:p>
            <a:r>
              <a:rPr lang="en-US" dirty="0"/>
              <a:t>Not easy to change.</a:t>
            </a:r>
          </a:p>
        </p:txBody>
      </p:sp>
      <p:sp>
        <p:nvSpPr>
          <p:cNvPr id="4" name="Footer Placeholder 3">
            <a:extLst>
              <a:ext uri="{FF2B5EF4-FFF2-40B4-BE49-F238E27FC236}">
                <a16:creationId xmlns:a16="http://schemas.microsoft.com/office/drawing/2014/main" id="{C179DD48-0B74-45F9-8E3F-A3CAAD9CB111}"/>
              </a:ext>
            </a:extLst>
          </p:cNvPr>
          <p:cNvSpPr>
            <a:spLocks noGrp="1"/>
          </p:cNvSpPr>
          <p:nvPr>
            <p:ph type="ftr" sz="quarter" idx="11"/>
          </p:nvPr>
        </p:nvSpPr>
        <p:spPr>
          <a:xfrm>
            <a:off x="2002155" y="6354798"/>
            <a:ext cx="5139690" cy="461665"/>
          </a:xfrm>
        </p:spPr>
        <p:txBody>
          <a:bodyPr/>
          <a:lstStyle/>
          <a:p>
            <a:r>
              <a:rPr lang="en-US" dirty="0"/>
              <a:t>The Science and Application of Positive Psychology </a:t>
            </a:r>
            <a:br>
              <a:rPr lang="en-US" dirty="0"/>
            </a:br>
            <a:r>
              <a:rPr lang="en-US" dirty="0"/>
              <a:t>© Cambridge University Press 2021</a:t>
            </a:r>
          </a:p>
        </p:txBody>
      </p:sp>
    </p:spTree>
    <p:extLst>
      <p:ext uri="{BB962C8B-B14F-4D97-AF65-F5344CB8AC3E}">
        <p14:creationId xmlns:p14="http://schemas.microsoft.com/office/powerpoint/2010/main" val="42322986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BAF4-494A-426E-8FF3-82A5D218CA48}"/>
              </a:ext>
            </a:extLst>
          </p:cNvPr>
          <p:cNvSpPr>
            <a:spLocks noGrp="1"/>
          </p:cNvSpPr>
          <p:nvPr>
            <p:ph type="title"/>
          </p:nvPr>
        </p:nvSpPr>
        <p:spPr/>
        <p:txBody>
          <a:bodyPr/>
          <a:lstStyle/>
          <a:p>
            <a:r>
              <a:rPr lang="en-US" dirty="0"/>
              <a:t>Culture and positive expectancies</a:t>
            </a:r>
          </a:p>
        </p:txBody>
      </p:sp>
      <p:sp>
        <p:nvSpPr>
          <p:cNvPr id="3" name="Content Placeholder 2">
            <a:extLst>
              <a:ext uri="{FF2B5EF4-FFF2-40B4-BE49-F238E27FC236}">
                <a16:creationId xmlns:a16="http://schemas.microsoft.com/office/drawing/2014/main" id="{DE0E2C8E-F317-40F7-AE74-53AF90E70F29}"/>
              </a:ext>
            </a:extLst>
          </p:cNvPr>
          <p:cNvSpPr>
            <a:spLocks noGrp="1"/>
          </p:cNvSpPr>
          <p:nvPr>
            <p:ph idx="1"/>
          </p:nvPr>
        </p:nvSpPr>
        <p:spPr/>
        <p:txBody>
          <a:bodyPr>
            <a:normAutofit fontScale="70000" lnSpcReduction="20000"/>
          </a:bodyPr>
          <a:lstStyle/>
          <a:p>
            <a:r>
              <a:rPr lang="en-US" sz="3000" dirty="0"/>
              <a:t>Although hope and optimism likely cut across cultures, this doesn’t mean everyone thinks about and uses these assets in identical ways. For instance, goals exist within cultural contexts.</a:t>
            </a:r>
          </a:p>
          <a:p>
            <a:r>
              <a:rPr lang="en-US" sz="3000" dirty="0"/>
              <a:t>Study:</a:t>
            </a:r>
            <a:r>
              <a:rPr lang="en-US" sz="3000" b="1" dirty="0"/>
              <a:t> </a:t>
            </a:r>
            <a:r>
              <a:rPr lang="en-US" sz="3000" dirty="0"/>
              <a:t>Shigehiro Oishi and Ed Diener (2001) compared the goals of White American college students with Asian American college students. </a:t>
            </a:r>
          </a:p>
          <a:p>
            <a:pPr lvl="1"/>
            <a:r>
              <a:rPr lang="en-US" sz="2600" dirty="0"/>
              <a:t>In a series of studies, they asked students to write down goals they planned to pursue during the next month and rate each on the degree to which it was independent and interdependent. </a:t>
            </a:r>
          </a:p>
          <a:p>
            <a:pPr lvl="1"/>
            <a:r>
              <a:rPr lang="en-US" sz="2600" dirty="0"/>
              <a:t>A month later, participants reported how much progress they had made toward these goals and completed a life satisfaction survey. </a:t>
            </a:r>
          </a:p>
          <a:p>
            <a:pPr lvl="1"/>
            <a:r>
              <a:rPr lang="en-US" sz="2600" dirty="0"/>
              <a:t>The results revealed a cultural difference: The more progress the White students had made toward achieving independent goals (those to achieve fun and enjoyment for themselves), the more satisfied they felt about their lives. In contrast, among the Asian American students, making progress on independent goals wasn’t related to life satisfaction at all. For them, more progress on </a:t>
            </a:r>
            <a:r>
              <a:rPr lang="en-US" sz="2600" i="1" dirty="0"/>
              <a:t>inter</a:t>
            </a:r>
            <a:r>
              <a:rPr lang="en-US" sz="2600" dirty="0"/>
              <a:t>dependent goals (those to benefit family or friends), was related to greater life satisfaction.</a:t>
            </a:r>
          </a:p>
        </p:txBody>
      </p:sp>
      <p:sp>
        <p:nvSpPr>
          <p:cNvPr id="4" name="Footer Placeholder 3">
            <a:extLst>
              <a:ext uri="{FF2B5EF4-FFF2-40B4-BE49-F238E27FC236}">
                <a16:creationId xmlns:a16="http://schemas.microsoft.com/office/drawing/2014/main" id="{C179DD48-0B74-45F9-8E3F-A3CAAD9CB111}"/>
              </a:ext>
            </a:extLst>
          </p:cNvPr>
          <p:cNvSpPr>
            <a:spLocks noGrp="1"/>
          </p:cNvSpPr>
          <p:nvPr>
            <p:ph type="ftr" sz="quarter" idx="11"/>
          </p:nvPr>
        </p:nvSpPr>
        <p:spPr>
          <a:xfrm>
            <a:off x="2002155" y="6354798"/>
            <a:ext cx="5139690" cy="461665"/>
          </a:xfrm>
        </p:spPr>
        <p:txBody>
          <a:bodyPr/>
          <a:lstStyle/>
          <a:p>
            <a:r>
              <a:rPr lang="en-US" dirty="0"/>
              <a:t>The Science and Application of Positive Psychology </a:t>
            </a:r>
            <a:br>
              <a:rPr lang="en-US" dirty="0"/>
            </a:br>
            <a:r>
              <a:rPr lang="en-US" dirty="0"/>
              <a:t>© Cambridge University Press 2021</a:t>
            </a:r>
          </a:p>
        </p:txBody>
      </p:sp>
    </p:spTree>
    <p:extLst>
      <p:ext uri="{BB962C8B-B14F-4D97-AF65-F5344CB8AC3E}">
        <p14:creationId xmlns:p14="http://schemas.microsoft.com/office/powerpoint/2010/main" val="29742630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BAF4-494A-426E-8FF3-82A5D218CA48}"/>
              </a:ext>
            </a:extLst>
          </p:cNvPr>
          <p:cNvSpPr>
            <a:spLocks noGrp="1"/>
          </p:cNvSpPr>
          <p:nvPr>
            <p:ph type="title"/>
          </p:nvPr>
        </p:nvSpPr>
        <p:spPr/>
        <p:txBody>
          <a:bodyPr/>
          <a:lstStyle/>
          <a:p>
            <a:r>
              <a:rPr lang="en-US" dirty="0"/>
              <a:t>Culture and positive expectancies</a:t>
            </a:r>
          </a:p>
        </p:txBody>
      </p:sp>
      <p:sp>
        <p:nvSpPr>
          <p:cNvPr id="3" name="Content Placeholder 2">
            <a:extLst>
              <a:ext uri="{FF2B5EF4-FFF2-40B4-BE49-F238E27FC236}">
                <a16:creationId xmlns:a16="http://schemas.microsoft.com/office/drawing/2014/main" id="{DE0E2C8E-F317-40F7-AE74-53AF90E70F29}"/>
              </a:ext>
            </a:extLst>
          </p:cNvPr>
          <p:cNvSpPr>
            <a:spLocks noGrp="1"/>
          </p:cNvSpPr>
          <p:nvPr>
            <p:ph idx="1"/>
          </p:nvPr>
        </p:nvSpPr>
        <p:spPr/>
        <p:txBody>
          <a:bodyPr>
            <a:normAutofit fontScale="77500" lnSpcReduction="20000"/>
          </a:bodyPr>
          <a:lstStyle/>
          <a:p>
            <a:r>
              <a:rPr lang="en-US" dirty="0"/>
              <a:t>Positive expectancies may have different effects in groups facing high societal barriers.</a:t>
            </a:r>
          </a:p>
          <a:p>
            <a:r>
              <a:rPr lang="en-US" dirty="0"/>
              <a:t>This is perhaps most apparent in research on the psychological phenomenon known as </a:t>
            </a:r>
            <a:r>
              <a:rPr lang="en-US" i="1" dirty="0"/>
              <a:t>John </a:t>
            </a:r>
            <a:r>
              <a:rPr lang="en-US" i="1" dirty="0" err="1"/>
              <a:t>Henryism</a:t>
            </a:r>
            <a:r>
              <a:rPr lang="en-US" dirty="0"/>
              <a:t>, the tendency to respond actively to stressors with the expectation that determination and hard work will lead to success. (Named for 19</a:t>
            </a:r>
            <a:r>
              <a:rPr lang="en-US" baseline="30000" dirty="0"/>
              <a:t>th</a:t>
            </a:r>
            <a:r>
              <a:rPr lang="en-US" dirty="0"/>
              <a:t> century African American folk hero, John Henry.) </a:t>
            </a:r>
          </a:p>
          <a:p>
            <a:r>
              <a:rPr lang="en-US" dirty="0"/>
              <a:t>Studies show that people with high levels of John </a:t>
            </a:r>
            <a:r>
              <a:rPr lang="en-US" dirty="0" err="1"/>
              <a:t>Henryism</a:t>
            </a:r>
            <a:r>
              <a:rPr lang="en-US" dirty="0"/>
              <a:t>, but who also have few financial resources and </a:t>
            </a:r>
            <a:r>
              <a:rPr lang="en-US"/>
              <a:t>face high societal </a:t>
            </a:r>
            <a:r>
              <a:rPr lang="en-US" dirty="0"/>
              <a:t>barriers, have </a:t>
            </a:r>
            <a:r>
              <a:rPr lang="en-US" i="1" dirty="0"/>
              <a:t>increased</a:t>
            </a:r>
            <a:r>
              <a:rPr lang="en-US" dirty="0"/>
              <a:t> risk of cardiovascular problems and generally diminished physical health (Brody, Yu, Miller, Ehrlich, &amp; Chen, 2018; Mujahid, James, Kaplan, &amp; Salonen, 2017). </a:t>
            </a:r>
          </a:p>
          <a:p>
            <a:r>
              <a:rPr lang="en-US" dirty="0"/>
              <a:t>Black Americans, facing discrimination and significant structural barriers, are particularly vulnerable to this set of circumstances (Bennett et al., 2004).</a:t>
            </a:r>
          </a:p>
        </p:txBody>
      </p:sp>
      <p:sp>
        <p:nvSpPr>
          <p:cNvPr id="4" name="Footer Placeholder 3">
            <a:extLst>
              <a:ext uri="{FF2B5EF4-FFF2-40B4-BE49-F238E27FC236}">
                <a16:creationId xmlns:a16="http://schemas.microsoft.com/office/drawing/2014/main" id="{C179DD48-0B74-45F9-8E3F-A3CAAD9CB111}"/>
              </a:ext>
            </a:extLst>
          </p:cNvPr>
          <p:cNvSpPr>
            <a:spLocks noGrp="1"/>
          </p:cNvSpPr>
          <p:nvPr>
            <p:ph type="ftr" sz="quarter" idx="11"/>
          </p:nvPr>
        </p:nvSpPr>
        <p:spPr>
          <a:xfrm>
            <a:off x="2002155" y="6354798"/>
            <a:ext cx="5139690" cy="461665"/>
          </a:xfrm>
        </p:spPr>
        <p:txBody>
          <a:bodyPr/>
          <a:lstStyle/>
          <a:p>
            <a:r>
              <a:rPr lang="en-US" dirty="0"/>
              <a:t>The Science and Application of Positive Psychology </a:t>
            </a:r>
            <a:br>
              <a:rPr lang="en-US" dirty="0"/>
            </a:br>
            <a:r>
              <a:rPr lang="en-US" dirty="0"/>
              <a:t>© Cambridge University Press 2021</a:t>
            </a:r>
          </a:p>
        </p:txBody>
      </p:sp>
    </p:spTree>
    <p:extLst>
      <p:ext uri="{BB962C8B-B14F-4D97-AF65-F5344CB8AC3E}">
        <p14:creationId xmlns:p14="http://schemas.microsoft.com/office/powerpoint/2010/main" val="19303058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F5FA861B6BEB4497E30226FB654B7F" ma:contentTypeVersion="14" ma:contentTypeDescription="Create a new document." ma:contentTypeScope="" ma:versionID="5446b6abc1174e76b1ecf231e0511309">
  <xsd:schema xmlns:xsd="http://www.w3.org/2001/XMLSchema" xmlns:xs="http://www.w3.org/2001/XMLSchema" xmlns:p="http://schemas.microsoft.com/office/2006/metadata/properties" xmlns:ns3="098d3ce3-1732-4665-af2b-0c47aa6f0599" xmlns:ns4="6ebc9d44-dfc5-41fa-9646-f594d8bccd35" targetNamespace="http://schemas.microsoft.com/office/2006/metadata/properties" ma:root="true" ma:fieldsID="6ac3cd6cbff858ee08bb67d456e99cb1" ns3:_="" ns4:_="">
    <xsd:import namespace="098d3ce3-1732-4665-af2b-0c47aa6f0599"/>
    <xsd:import namespace="6ebc9d44-dfc5-41fa-9646-f594d8bccd3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8d3ce3-1732-4665-af2b-0c47aa6f05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ebc9d44-dfc5-41fa-9646-f594d8bccd3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A77D237-49E5-43D1-BBAE-C65D674315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8d3ce3-1732-4665-af2b-0c47aa6f0599"/>
    <ds:schemaRef ds:uri="6ebc9d44-dfc5-41fa-9646-f594d8bccd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14F560-3B9A-438C-83B1-6E3F72FA0877}">
  <ds:schemaRefs>
    <ds:schemaRef ds:uri="http://schemas.microsoft.com/sharepoint/v3/contenttype/forms"/>
  </ds:schemaRefs>
</ds:datastoreItem>
</file>

<file path=customXml/itemProps3.xml><?xml version="1.0" encoding="utf-8"?>
<ds:datastoreItem xmlns:ds="http://schemas.openxmlformats.org/officeDocument/2006/customXml" ds:itemID="{0F9FC689-0397-489D-B6C4-918490A97925}">
  <ds:schemaRefs>
    <ds:schemaRef ds:uri="http://www.w3.org/XML/1998/namespace"/>
    <ds:schemaRef ds:uri="http://schemas.microsoft.com/office/2006/documentManagement/types"/>
    <ds:schemaRef ds:uri="http://schemas.microsoft.com/office/infopath/2007/PartnerControls"/>
    <ds:schemaRef ds:uri="http://purl.org/dc/elements/1.1/"/>
    <ds:schemaRef ds:uri="http://purl.org/dc/dcmitype/"/>
    <ds:schemaRef ds:uri="http://purl.org/dc/terms/"/>
    <ds:schemaRef ds:uri="http://schemas.openxmlformats.org/package/2006/metadata/core-properties"/>
    <ds:schemaRef ds:uri="6ebc9d44-dfc5-41fa-9646-f594d8bccd35"/>
    <ds:schemaRef ds:uri="098d3ce3-1732-4665-af2b-0c47aa6f0599"/>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5357</TotalTime>
  <Words>3951</Words>
  <Application>Microsoft Office PowerPoint</Application>
  <PresentationFormat>On-screen Show (4:3)</PresentationFormat>
  <Paragraphs>316</Paragraphs>
  <Slides>48</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Arial</vt:lpstr>
      <vt:lpstr>Calibri</vt:lpstr>
      <vt:lpstr>Calibri Light</vt:lpstr>
      <vt:lpstr>Cambria</vt:lpstr>
      <vt:lpstr>Georgia</vt:lpstr>
      <vt:lpstr>Rockwell</vt:lpstr>
      <vt:lpstr>Symbol</vt:lpstr>
      <vt:lpstr>Wingdings</vt:lpstr>
      <vt:lpstr>Wingdings 2</vt:lpstr>
      <vt:lpstr>Office Theme</vt:lpstr>
      <vt:lpstr>Chapter 7</vt:lpstr>
      <vt:lpstr>What are positive expectancies?</vt:lpstr>
      <vt:lpstr>PowerPoint Presentation</vt:lpstr>
      <vt:lpstr>Goals</vt:lpstr>
      <vt:lpstr>PowerPoint Presentation</vt:lpstr>
      <vt:lpstr>Journal Entry #15 Goal Setting</vt:lpstr>
      <vt:lpstr>Journal Entry continued</vt:lpstr>
      <vt:lpstr>Journal Entry</vt:lpstr>
      <vt:lpstr>Goals</vt:lpstr>
      <vt:lpstr>Characteristics of goals</vt:lpstr>
      <vt:lpstr>Characteristics of goals</vt:lpstr>
      <vt:lpstr>Characteristics of Goals</vt:lpstr>
      <vt:lpstr>Characteristics of Goals</vt:lpstr>
      <vt:lpstr>Characteristics of goals</vt:lpstr>
      <vt:lpstr>Optimism: Learned and  Dispositional</vt:lpstr>
      <vt:lpstr>Dispositional Optimism</vt:lpstr>
      <vt:lpstr>Dispositional optimism</vt:lpstr>
      <vt:lpstr>Measuring dispositional optimism</vt:lpstr>
      <vt:lpstr>LOT-R</vt:lpstr>
      <vt:lpstr>Dispositional Optimism Research</vt:lpstr>
      <vt:lpstr>Coping with HS to College Transition</vt:lpstr>
      <vt:lpstr>Coping with HS to College Transition</vt:lpstr>
      <vt:lpstr>Learned Optimism</vt:lpstr>
      <vt:lpstr>Learned Optimism</vt:lpstr>
      <vt:lpstr>What would you do?</vt:lpstr>
      <vt:lpstr>Learned optimism</vt:lpstr>
      <vt:lpstr>Measuring learned optimism</vt:lpstr>
      <vt:lpstr>What is Optimism? </vt:lpstr>
      <vt:lpstr>Childhood Antecedents of Learned Optimism</vt:lpstr>
      <vt:lpstr>The Right Way to Criticize</vt:lpstr>
      <vt:lpstr>Criticizing a Preschool Child</vt:lpstr>
      <vt:lpstr>Criticizing a Preschool Child</vt:lpstr>
      <vt:lpstr>Criticizing a Preschool Child</vt:lpstr>
      <vt:lpstr>Increasing Optimism</vt:lpstr>
      <vt:lpstr>ABCDE Model for Pessimistic Thoughts</vt:lpstr>
      <vt:lpstr>ABCDE Model</vt:lpstr>
      <vt:lpstr>Disputations</vt:lpstr>
      <vt:lpstr>4 ways to make disputations convincing</vt:lpstr>
      <vt:lpstr>4 ways to make disputations convincing</vt:lpstr>
      <vt:lpstr>Journal Entry #16:  Explanatory Style</vt:lpstr>
      <vt:lpstr>PowerPoint Presentation</vt:lpstr>
      <vt:lpstr>Hope</vt:lpstr>
      <vt:lpstr>Hope</vt:lpstr>
      <vt:lpstr>Measuring Hope</vt:lpstr>
      <vt:lpstr>Hope, optimism, and well-being</vt:lpstr>
      <vt:lpstr>Unrealistic optimism  (aka, optimism bias)</vt:lpstr>
      <vt:lpstr>Culture and positive expectancies</vt:lpstr>
      <vt:lpstr>Culture and positive expectancies</vt:lpstr>
    </vt:vector>
  </TitlesOfParts>
  <Company>Cambridge University Press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Jane Adams</dc:creator>
  <cp:lastModifiedBy>Traver, Holly</cp:lastModifiedBy>
  <cp:revision>57</cp:revision>
  <dcterms:created xsi:type="dcterms:W3CDTF">2021-07-26T18:02:28Z</dcterms:created>
  <dcterms:modified xsi:type="dcterms:W3CDTF">2025-05-31T13:00:18Z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0x01010031F5FA861B6BEB4497E30226FB654B7F</vt:lpwstr>
  </property>
</Properties>
</file>