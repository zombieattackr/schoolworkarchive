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5" r:id="rId4"/>
    <p:sldMasterId id="2147483659" r:id="rId5"/>
  </p:sldMasterIdLst>
  <p:notesMasterIdLst>
    <p:notesMasterId r:id="rId36"/>
  </p:notesMasterIdLst>
  <p:handoutMasterIdLst>
    <p:handoutMasterId r:id="rId37"/>
  </p:handoutMasterIdLst>
  <p:sldIdLst>
    <p:sldId id="259" r:id="rId6"/>
    <p:sldId id="306" r:id="rId7"/>
    <p:sldId id="307" r:id="rId8"/>
    <p:sldId id="260" r:id="rId9"/>
    <p:sldId id="305" r:id="rId10"/>
    <p:sldId id="277" r:id="rId11"/>
    <p:sldId id="278" r:id="rId12"/>
    <p:sldId id="279" r:id="rId13"/>
    <p:sldId id="280" r:id="rId14"/>
    <p:sldId id="281" r:id="rId15"/>
    <p:sldId id="282" r:id="rId16"/>
    <p:sldId id="261" r:id="rId17"/>
    <p:sldId id="262" r:id="rId18"/>
    <p:sldId id="263" r:id="rId19"/>
    <p:sldId id="308" r:id="rId20"/>
    <p:sldId id="264" r:id="rId21"/>
    <p:sldId id="265" r:id="rId22"/>
    <p:sldId id="301" r:id="rId23"/>
    <p:sldId id="302" r:id="rId24"/>
    <p:sldId id="266" r:id="rId25"/>
    <p:sldId id="269" r:id="rId26"/>
    <p:sldId id="270" r:id="rId27"/>
    <p:sldId id="271" r:id="rId28"/>
    <p:sldId id="272" r:id="rId29"/>
    <p:sldId id="273" r:id="rId30"/>
    <p:sldId id="274" r:id="rId31"/>
    <p:sldId id="275" r:id="rId32"/>
    <p:sldId id="276" r:id="rId33"/>
    <p:sldId id="303" r:id="rId34"/>
    <p:sldId id="304" r:id="rId3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86241D-8EA4-45B6-9443-D4F431218675}" v="3" dt="2022-07-26T14:32:52.0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8" autoAdjust="0"/>
    <p:restoredTop sz="95365" autoAdjust="0"/>
  </p:normalViewPr>
  <p:slideViewPr>
    <p:cSldViewPr snapToGrid="0">
      <p:cViewPr varScale="1">
        <p:scale>
          <a:sx n="42" d="100"/>
          <a:sy n="42" d="100"/>
        </p:scale>
        <p:origin x="597" y="3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6" d="100"/>
          <a:sy n="66" d="100"/>
        </p:scale>
        <p:origin x="228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viewProps" Target="viewProps.xml"/><Relationship Id="rId21" Type="http://schemas.openxmlformats.org/officeDocument/2006/relationships/slide" Target="slides/slide16.xml"/><Relationship Id="rId34" Type="http://schemas.openxmlformats.org/officeDocument/2006/relationships/slide" Target="slides/slide29.xml"/><Relationship Id="rId42" Type="http://schemas.microsoft.com/office/2015/10/relationships/revisionInfo" Target="revisionInfo.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_rels/data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ata4.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_rels/data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svg"/><Relationship Id="rId1" Type="http://schemas.openxmlformats.org/officeDocument/2006/relationships/image" Target="../media/image26.png"/><Relationship Id="rId4" Type="http://schemas.openxmlformats.org/officeDocument/2006/relationships/image" Target="../media/image29.svg"/></Relationships>
</file>

<file path=ppt/diagrams/_rels/data8.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svg"/><Relationship Id="rId1" Type="http://schemas.openxmlformats.org/officeDocument/2006/relationships/image" Target="../media/image31.png"/><Relationship Id="rId6" Type="http://schemas.openxmlformats.org/officeDocument/2006/relationships/image" Target="../media/image36.svg"/><Relationship Id="rId5" Type="http://schemas.openxmlformats.org/officeDocument/2006/relationships/image" Target="../media/image35.png"/><Relationship Id="rId10" Type="http://schemas.openxmlformats.org/officeDocument/2006/relationships/image" Target="../media/image40.svg"/><Relationship Id="rId4" Type="http://schemas.openxmlformats.org/officeDocument/2006/relationships/image" Target="../media/image34.svg"/><Relationship Id="rId9" Type="http://schemas.openxmlformats.org/officeDocument/2006/relationships/image" Target="../media/image39.png"/></Relationships>
</file>

<file path=ppt/diagrams/_rels/drawing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rawing4.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_rels/drawing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svg"/><Relationship Id="rId1" Type="http://schemas.openxmlformats.org/officeDocument/2006/relationships/image" Target="../media/image26.png"/><Relationship Id="rId4" Type="http://schemas.openxmlformats.org/officeDocument/2006/relationships/image" Target="../media/image29.svg"/></Relationships>
</file>

<file path=ppt/diagrams/_rels/drawing8.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svg"/><Relationship Id="rId1" Type="http://schemas.openxmlformats.org/officeDocument/2006/relationships/image" Target="../media/image31.png"/><Relationship Id="rId6" Type="http://schemas.openxmlformats.org/officeDocument/2006/relationships/image" Target="../media/image36.svg"/><Relationship Id="rId5" Type="http://schemas.openxmlformats.org/officeDocument/2006/relationships/image" Target="../media/image35.png"/><Relationship Id="rId10" Type="http://schemas.openxmlformats.org/officeDocument/2006/relationships/image" Target="../media/image40.svg"/><Relationship Id="rId4" Type="http://schemas.openxmlformats.org/officeDocument/2006/relationships/image" Target="../media/image34.svg"/><Relationship Id="rId9" Type="http://schemas.openxmlformats.org/officeDocument/2006/relationships/image" Target="../media/image39.pn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311C461-C10C-4A9C-A9DF-8A86A518F7D3}"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F9466784-7C24-4567-B367-8D2B8E2F51BD}">
      <dgm:prSet/>
      <dgm:spPr/>
      <dgm:t>
        <a:bodyPr/>
        <a:lstStyle/>
        <a:p>
          <a:r>
            <a:rPr lang="en-US" b="0" i="0" baseline="0"/>
            <a:t>Burnout and disengagement cost U.S. companies </a:t>
          </a:r>
          <a:r>
            <a:rPr lang="en-US" b="1" i="0" baseline="0"/>
            <a:t>over $300 billion annually</a:t>
          </a:r>
          <a:r>
            <a:rPr lang="en-US" b="0" i="0" baseline="0"/>
            <a:t> (Gallup).</a:t>
          </a:r>
          <a:endParaRPr lang="en-US"/>
        </a:p>
      </dgm:t>
    </dgm:pt>
    <dgm:pt modelId="{5C172D3E-B11C-4EAE-BB08-675F839D0526}" type="parTrans" cxnId="{E11D1610-8985-45D6-8ABA-621FDDC80213}">
      <dgm:prSet/>
      <dgm:spPr/>
      <dgm:t>
        <a:bodyPr/>
        <a:lstStyle/>
        <a:p>
          <a:endParaRPr lang="en-US"/>
        </a:p>
      </dgm:t>
    </dgm:pt>
    <dgm:pt modelId="{32A67843-E32B-4732-873F-F067B1386279}" type="sibTrans" cxnId="{E11D1610-8985-45D6-8ABA-621FDDC80213}">
      <dgm:prSet/>
      <dgm:spPr/>
      <dgm:t>
        <a:bodyPr/>
        <a:lstStyle/>
        <a:p>
          <a:endParaRPr lang="en-US"/>
        </a:p>
      </dgm:t>
    </dgm:pt>
    <dgm:pt modelId="{933BDADA-BB22-4876-8D89-19B53841B1DA}">
      <dgm:prSet/>
      <dgm:spPr/>
      <dgm:t>
        <a:bodyPr/>
        <a:lstStyle/>
        <a:p>
          <a:r>
            <a:rPr lang="en-US" b="0" i="0" baseline="0"/>
            <a:t>Toxic work environments can </a:t>
          </a:r>
          <a:r>
            <a:rPr lang="en-US" b="1" i="0" baseline="0"/>
            <a:t>spread negativity</a:t>
          </a:r>
          <a:r>
            <a:rPr lang="en-US" b="0" i="0" baseline="0"/>
            <a:t>, decrease morale, and damage reputations.</a:t>
          </a:r>
          <a:endParaRPr lang="en-US"/>
        </a:p>
      </dgm:t>
    </dgm:pt>
    <dgm:pt modelId="{70684625-90AA-494F-BF07-2AF0F79526DD}" type="parTrans" cxnId="{88DC0BE3-313F-45D2-A65C-D95211F26421}">
      <dgm:prSet/>
      <dgm:spPr/>
      <dgm:t>
        <a:bodyPr/>
        <a:lstStyle/>
        <a:p>
          <a:endParaRPr lang="en-US"/>
        </a:p>
      </dgm:t>
    </dgm:pt>
    <dgm:pt modelId="{C9E30437-5828-40D6-9646-A83CB8B28F58}" type="sibTrans" cxnId="{88DC0BE3-313F-45D2-A65C-D95211F26421}">
      <dgm:prSet/>
      <dgm:spPr/>
      <dgm:t>
        <a:bodyPr/>
        <a:lstStyle/>
        <a:p>
          <a:endParaRPr lang="en-US"/>
        </a:p>
      </dgm:t>
    </dgm:pt>
    <dgm:pt modelId="{4722ED0D-F997-4A34-A625-F68E8338A0FA}" type="pres">
      <dgm:prSet presAssocID="{F311C461-C10C-4A9C-A9DF-8A86A518F7D3}" presName="root" presStyleCnt="0">
        <dgm:presLayoutVars>
          <dgm:dir/>
          <dgm:resizeHandles val="exact"/>
        </dgm:presLayoutVars>
      </dgm:prSet>
      <dgm:spPr/>
    </dgm:pt>
    <dgm:pt modelId="{375F14C4-F4E1-46C7-B410-5A661513ECCB}" type="pres">
      <dgm:prSet presAssocID="{F9466784-7C24-4567-B367-8D2B8E2F51BD}" presName="compNode" presStyleCnt="0"/>
      <dgm:spPr/>
    </dgm:pt>
    <dgm:pt modelId="{55E774A6-471E-4044-A2D4-DA836B0BBC5B}" type="pres">
      <dgm:prSet presAssocID="{F9466784-7C24-4567-B367-8D2B8E2F51BD}" presName="bgRect" presStyleLbl="bgShp" presStyleIdx="0" presStyleCnt="2"/>
      <dgm:spPr/>
    </dgm:pt>
    <dgm:pt modelId="{D26716DC-6529-4ACA-8AFF-84C8DA2DB7E1}" type="pres">
      <dgm:prSet presAssocID="{F9466784-7C24-4567-B367-8D2B8E2F51BD}"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r Graph with Downward Trend"/>
        </a:ext>
      </dgm:extLst>
    </dgm:pt>
    <dgm:pt modelId="{5F8808E6-8FB3-4797-9F7A-57BFA4570B40}" type="pres">
      <dgm:prSet presAssocID="{F9466784-7C24-4567-B367-8D2B8E2F51BD}" presName="spaceRect" presStyleCnt="0"/>
      <dgm:spPr/>
    </dgm:pt>
    <dgm:pt modelId="{28F2A66E-5F5C-4992-822F-F4887D0D272A}" type="pres">
      <dgm:prSet presAssocID="{F9466784-7C24-4567-B367-8D2B8E2F51BD}" presName="parTx" presStyleLbl="revTx" presStyleIdx="0" presStyleCnt="2">
        <dgm:presLayoutVars>
          <dgm:chMax val="0"/>
          <dgm:chPref val="0"/>
        </dgm:presLayoutVars>
      </dgm:prSet>
      <dgm:spPr/>
    </dgm:pt>
    <dgm:pt modelId="{22729DA7-5D6D-4DD0-A555-46FA0705D98B}" type="pres">
      <dgm:prSet presAssocID="{32A67843-E32B-4732-873F-F067B1386279}" presName="sibTrans" presStyleCnt="0"/>
      <dgm:spPr/>
    </dgm:pt>
    <dgm:pt modelId="{6E25A41E-527A-43DE-B135-2EE2CB9705F7}" type="pres">
      <dgm:prSet presAssocID="{933BDADA-BB22-4876-8D89-19B53841B1DA}" presName="compNode" presStyleCnt="0"/>
      <dgm:spPr/>
    </dgm:pt>
    <dgm:pt modelId="{D516C03C-D666-4B06-9C2B-3F4E9895C56E}" type="pres">
      <dgm:prSet presAssocID="{933BDADA-BB22-4876-8D89-19B53841B1DA}" presName="bgRect" presStyleLbl="bgShp" presStyleIdx="1" presStyleCnt="2"/>
      <dgm:spPr/>
    </dgm:pt>
    <dgm:pt modelId="{BCD0B418-DEEC-49B2-BF3C-FE8633112D37}" type="pres">
      <dgm:prSet presAssocID="{933BDADA-BB22-4876-8D89-19B53841B1DA}"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adioactive"/>
        </a:ext>
      </dgm:extLst>
    </dgm:pt>
    <dgm:pt modelId="{A5197F92-0EB2-4AF2-9710-8657DD879E76}" type="pres">
      <dgm:prSet presAssocID="{933BDADA-BB22-4876-8D89-19B53841B1DA}" presName="spaceRect" presStyleCnt="0"/>
      <dgm:spPr/>
    </dgm:pt>
    <dgm:pt modelId="{F39DF57C-3120-4254-BDDD-77DB9B4065A8}" type="pres">
      <dgm:prSet presAssocID="{933BDADA-BB22-4876-8D89-19B53841B1DA}" presName="parTx" presStyleLbl="revTx" presStyleIdx="1" presStyleCnt="2">
        <dgm:presLayoutVars>
          <dgm:chMax val="0"/>
          <dgm:chPref val="0"/>
        </dgm:presLayoutVars>
      </dgm:prSet>
      <dgm:spPr/>
    </dgm:pt>
  </dgm:ptLst>
  <dgm:cxnLst>
    <dgm:cxn modelId="{E11D1610-8985-45D6-8ABA-621FDDC80213}" srcId="{F311C461-C10C-4A9C-A9DF-8A86A518F7D3}" destId="{F9466784-7C24-4567-B367-8D2B8E2F51BD}" srcOrd="0" destOrd="0" parTransId="{5C172D3E-B11C-4EAE-BB08-675F839D0526}" sibTransId="{32A67843-E32B-4732-873F-F067B1386279}"/>
    <dgm:cxn modelId="{9AEF8813-F4C4-47FE-B94A-325977EDE895}" type="presOf" srcId="{F9466784-7C24-4567-B367-8D2B8E2F51BD}" destId="{28F2A66E-5F5C-4992-822F-F4887D0D272A}" srcOrd="0" destOrd="0" presId="urn:microsoft.com/office/officeart/2018/2/layout/IconVerticalSolidList"/>
    <dgm:cxn modelId="{D694F63A-3EE8-4E85-896B-ABC31D80DB6D}" type="presOf" srcId="{F311C461-C10C-4A9C-A9DF-8A86A518F7D3}" destId="{4722ED0D-F997-4A34-A625-F68E8338A0FA}" srcOrd="0" destOrd="0" presId="urn:microsoft.com/office/officeart/2018/2/layout/IconVerticalSolidList"/>
    <dgm:cxn modelId="{BF51C955-18AB-481E-AEB0-AFB38033D435}" type="presOf" srcId="{933BDADA-BB22-4876-8D89-19B53841B1DA}" destId="{F39DF57C-3120-4254-BDDD-77DB9B4065A8}" srcOrd="0" destOrd="0" presId="urn:microsoft.com/office/officeart/2018/2/layout/IconVerticalSolidList"/>
    <dgm:cxn modelId="{88DC0BE3-313F-45D2-A65C-D95211F26421}" srcId="{F311C461-C10C-4A9C-A9DF-8A86A518F7D3}" destId="{933BDADA-BB22-4876-8D89-19B53841B1DA}" srcOrd="1" destOrd="0" parTransId="{70684625-90AA-494F-BF07-2AF0F79526DD}" sibTransId="{C9E30437-5828-40D6-9646-A83CB8B28F58}"/>
    <dgm:cxn modelId="{EE7F571D-892B-405D-A59F-91FC2764C073}" type="presParOf" srcId="{4722ED0D-F997-4A34-A625-F68E8338A0FA}" destId="{375F14C4-F4E1-46C7-B410-5A661513ECCB}" srcOrd="0" destOrd="0" presId="urn:microsoft.com/office/officeart/2018/2/layout/IconVerticalSolidList"/>
    <dgm:cxn modelId="{8770C1E9-5035-46EC-91F7-E727D8A6E906}" type="presParOf" srcId="{375F14C4-F4E1-46C7-B410-5A661513ECCB}" destId="{55E774A6-471E-4044-A2D4-DA836B0BBC5B}" srcOrd="0" destOrd="0" presId="urn:microsoft.com/office/officeart/2018/2/layout/IconVerticalSolidList"/>
    <dgm:cxn modelId="{0658B0A7-A15A-44FA-BA56-E52FDC9B99BC}" type="presParOf" srcId="{375F14C4-F4E1-46C7-B410-5A661513ECCB}" destId="{D26716DC-6529-4ACA-8AFF-84C8DA2DB7E1}" srcOrd="1" destOrd="0" presId="urn:microsoft.com/office/officeart/2018/2/layout/IconVerticalSolidList"/>
    <dgm:cxn modelId="{5ED2D296-AAD6-4F06-ABE2-330ED5D1794E}" type="presParOf" srcId="{375F14C4-F4E1-46C7-B410-5A661513ECCB}" destId="{5F8808E6-8FB3-4797-9F7A-57BFA4570B40}" srcOrd="2" destOrd="0" presId="urn:microsoft.com/office/officeart/2018/2/layout/IconVerticalSolidList"/>
    <dgm:cxn modelId="{1288664A-EE95-49A2-ADB6-3825FFBE971A}" type="presParOf" srcId="{375F14C4-F4E1-46C7-B410-5A661513ECCB}" destId="{28F2A66E-5F5C-4992-822F-F4887D0D272A}" srcOrd="3" destOrd="0" presId="urn:microsoft.com/office/officeart/2018/2/layout/IconVerticalSolidList"/>
    <dgm:cxn modelId="{E6D7214E-219C-4D7B-9FEA-0A244E998657}" type="presParOf" srcId="{4722ED0D-F997-4A34-A625-F68E8338A0FA}" destId="{22729DA7-5D6D-4DD0-A555-46FA0705D98B}" srcOrd="1" destOrd="0" presId="urn:microsoft.com/office/officeart/2018/2/layout/IconVerticalSolidList"/>
    <dgm:cxn modelId="{A7893A21-BEBC-49CF-AF96-A74899D1D26E}" type="presParOf" srcId="{4722ED0D-F997-4A34-A625-F68E8338A0FA}" destId="{6E25A41E-527A-43DE-B135-2EE2CB9705F7}" srcOrd="2" destOrd="0" presId="urn:microsoft.com/office/officeart/2018/2/layout/IconVerticalSolidList"/>
    <dgm:cxn modelId="{1498BCB9-2016-47E8-A013-623D52491946}" type="presParOf" srcId="{6E25A41E-527A-43DE-B135-2EE2CB9705F7}" destId="{D516C03C-D666-4B06-9C2B-3F4E9895C56E}" srcOrd="0" destOrd="0" presId="urn:microsoft.com/office/officeart/2018/2/layout/IconVerticalSolidList"/>
    <dgm:cxn modelId="{A4721421-2273-4ABF-BE97-46619EE7578E}" type="presParOf" srcId="{6E25A41E-527A-43DE-B135-2EE2CB9705F7}" destId="{BCD0B418-DEEC-49B2-BF3C-FE8633112D37}" srcOrd="1" destOrd="0" presId="urn:microsoft.com/office/officeart/2018/2/layout/IconVerticalSolidList"/>
    <dgm:cxn modelId="{B6D92B2E-C597-4259-B9AD-36DDE1CBA187}" type="presParOf" srcId="{6E25A41E-527A-43DE-B135-2EE2CB9705F7}" destId="{A5197F92-0EB2-4AF2-9710-8657DD879E76}" srcOrd="2" destOrd="0" presId="urn:microsoft.com/office/officeart/2018/2/layout/IconVerticalSolidList"/>
    <dgm:cxn modelId="{1E7A0272-5F17-4BDC-AB09-88D928065E9E}" type="presParOf" srcId="{6E25A41E-527A-43DE-B135-2EE2CB9705F7}" destId="{F39DF57C-3120-4254-BDDD-77DB9B4065A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97CCB8F-5CDC-44CF-8178-4A6E10924D42}" type="doc">
      <dgm:prSet loTypeId="urn:microsoft.com/office/officeart/2005/8/layout/vList5" loCatId="list" qsTypeId="urn:microsoft.com/office/officeart/2005/8/quickstyle/simple4" qsCatId="simple" csTypeId="urn:microsoft.com/office/officeart/2005/8/colors/colorful2" csCatId="colorful"/>
      <dgm:spPr/>
      <dgm:t>
        <a:bodyPr/>
        <a:lstStyle/>
        <a:p>
          <a:endParaRPr lang="en-US"/>
        </a:p>
      </dgm:t>
    </dgm:pt>
    <dgm:pt modelId="{C220D773-D9D3-4D80-A58F-A962D6FF195E}">
      <dgm:prSet/>
      <dgm:spPr/>
      <dgm:t>
        <a:bodyPr/>
        <a:lstStyle/>
        <a:p>
          <a:r>
            <a:rPr lang="en-US"/>
            <a:t>35% of 4,700 full and part-time employees in the US report being engaged with (committed to and enthusiastic about) their work</a:t>
          </a:r>
        </a:p>
      </dgm:t>
    </dgm:pt>
    <dgm:pt modelId="{7B0E4553-7213-4BEC-A7BC-53250CE4B463}" type="parTrans" cxnId="{F769C330-CF49-4481-A0D8-861828200DA9}">
      <dgm:prSet/>
      <dgm:spPr/>
      <dgm:t>
        <a:bodyPr/>
        <a:lstStyle/>
        <a:p>
          <a:endParaRPr lang="en-US"/>
        </a:p>
      </dgm:t>
    </dgm:pt>
    <dgm:pt modelId="{C0E7E51D-EFBF-4AE6-8004-BB85370504CC}" type="sibTrans" cxnId="{F769C330-CF49-4481-A0D8-861828200DA9}">
      <dgm:prSet/>
      <dgm:spPr/>
      <dgm:t>
        <a:bodyPr/>
        <a:lstStyle/>
        <a:p>
          <a:endParaRPr lang="en-US"/>
        </a:p>
      </dgm:t>
    </dgm:pt>
    <dgm:pt modelId="{B0A9E0E4-938D-4E5A-B697-6D5D052CD61C}">
      <dgm:prSet/>
      <dgm:spPr/>
      <dgm:t>
        <a:bodyPr/>
        <a:lstStyle/>
        <a:p>
          <a:r>
            <a:rPr lang="en-US"/>
            <a:t>13% report being actively disengaged (miserable at work and spreading misery to others)</a:t>
          </a:r>
        </a:p>
      </dgm:t>
    </dgm:pt>
    <dgm:pt modelId="{741A9CA2-78FB-4C40-A2E2-8033F130B40E}" type="parTrans" cxnId="{66A9B2D9-523E-439D-AF5B-F9D4BE44CA3E}">
      <dgm:prSet/>
      <dgm:spPr/>
      <dgm:t>
        <a:bodyPr/>
        <a:lstStyle/>
        <a:p>
          <a:endParaRPr lang="en-US"/>
        </a:p>
      </dgm:t>
    </dgm:pt>
    <dgm:pt modelId="{D7445D05-3661-4C61-8698-8C651C2EDCAB}" type="sibTrans" cxnId="{66A9B2D9-523E-439D-AF5B-F9D4BE44CA3E}">
      <dgm:prSet/>
      <dgm:spPr/>
      <dgm:t>
        <a:bodyPr/>
        <a:lstStyle/>
        <a:p>
          <a:endParaRPr lang="en-US"/>
        </a:p>
      </dgm:t>
    </dgm:pt>
    <dgm:pt modelId="{62956201-CA75-4C59-9F7D-1609232E439B}">
      <dgm:prSet/>
      <dgm:spPr/>
      <dgm:t>
        <a:bodyPr/>
        <a:lstStyle/>
        <a:p>
          <a:r>
            <a:rPr lang="en-US"/>
            <a:t>52% put their time in at work but not their passion or energy</a:t>
          </a:r>
        </a:p>
      </dgm:t>
    </dgm:pt>
    <dgm:pt modelId="{697D96F7-9124-4C60-A3DB-F2D6C917CED9}" type="parTrans" cxnId="{19E29494-077F-4BE3-A666-DA1F2ADFAB6E}">
      <dgm:prSet/>
      <dgm:spPr/>
      <dgm:t>
        <a:bodyPr/>
        <a:lstStyle/>
        <a:p>
          <a:endParaRPr lang="en-US"/>
        </a:p>
      </dgm:t>
    </dgm:pt>
    <dgm:pt modelId="{18068063-56F6-450E-B1EE-062716794FEB}" type="sibTrans" cxnId="{19E29494-077F-4BE3-A666-DA1F2ADFAB6E}">
      <dgm:prSet/>
      <dgm:spPr/>
      <dgm:t>
        <a:bodyPr/>
        <a:lstStyle/>
        <a:p>
          <a:endParaRPr lang="en-US"/>
        </a:p>
      </dgm:t>
    </dgm:pt>
    <dgm:pt modelId="{3786AC8D-D357-4CE1-A21B-82B6525737C9}">
      <dgm:prSet/>
      <dgm:spPr/>
      <dgm:t>
        <a:bodyPr/>
        <a:lstStyle/>
        <a:p>
          <a:r>
            <a:rPr lang="en-US"/>
            <a:t>Many people spend a huge amount of time working</a:t>
          </a:r>
        </a:p>
      </dgm:t>
    </dgm:pt>
    <dgm:pt modelId="{5CDEEF96-A342-43BD-B8C0-B38C0D4B5E89}" type="parTrans" cxnId="{9D2147C4-279D-468C-9A52-E952FF6F6A5F}">
      <dgm:prSet/>
      <dgm:spPr/>
      <dgm:t>
        <a:bodyPr/>
        <a:lstStyle/>
        <a:p>
          <a:endParaRPr lang="en-US"/>
        </a:p>
      </dgm:t>
    </dgm:pt>
    <dgm:pt modelId="{C028EADB-9252-4BCB-932F-DE0246E06487}" type="sibTrans" cxnId="{9D2147C4-279D-468C-9A52-E952FF6F6A5F}">
      <dgm:prSet/>
      <dgm:spPr/>
      <dgm:t>
        <a:bodyPr/>
        <a:lstStyle/>
        <a:p>
          <a:endParaRPr lang="en-US"/>
        </a:p>
      </dgm:t>
    </dgm:pt>
    <dgm:pt modelId="{FBBF968B-B18C-4F75-A32E-39B7AC522947}">
      <dgm:prSet/>
      <dgm:spPr/>
      <dgm:t>
        <a:bodyPr/>
        <a:lstStyle/>
        <a:p>
          <a:r>
            <a:rPr lang="en-US"/>
            <a:t>If you worked from age 18 – 67, 39 hours/week, five weeks of vacation/year, you’d work 92,120 hours over your lifetime</a:t>
          </a:r>
        </a:p>
      </dgm:t>
    </dgm:pt>
    <dgm:pt modelId="{7525105D-F6C7-40A0-AAD6-E34902C6E864}" type="parTrans" cxnId="{4DA93A71-2910-4AD1-8B2B-DF103F61C82F}">
      <dgm:prSet/>
      <dgm:spPr/>
      <dgm:t>
        <a:bodyPr/>
        <a:lstStyle/>
        <a:p>
          <a:endParaRPr lang="en-US"/>
        </a:p>
      </dgm:t>
    </dgm:pt>
    <dgm:pt modelId="{FDF54501-872F-472A-AEBB-FCB7E0B18918}" type="sibTrans" cxnId="{4DA93A71-2910-4AD1-8B2B-DF103F61C82F}">
      <dgm:prSet/>
      <dgm:spPr/>
      <dgm:t>
        <a:bodyPr/>
        <a:lstStyle/>
        <a:p>
          <a:endParaRPr lang="en-US"/>
        </a:p>
      </dgm:t>
    </dgm:pt>
    <dgm:pt modelId="{2E2FEC55-EF24-4509-9CE1-04505FE7D562}" type="pres">
      <dgm:prSet presAssocID="{397CCB8F-5CDC-44CF-8178-4A6E10924D42}" presName="Name0" presStyleCnt="0">
        <dgm:presLayoutVars>
          <dgm:dir/>
          <dgm:animLvl val="lvl"/>
          <dgm:resizeHandles val="exact"/>
        </dgm:presLayoutVars>
      </dgm:prSet>
      <dgm:spPr/>
    </dgm:pt>
    <dgm:pt modelId="{656863B0-65FE-4F44-B45A-2B54EABFA516}" type="pres">
      <dgm:prSet presAssocID="{C220D773-D9D3-4D80-A58F-A962D6FF195E}" presName="linNode" presStyleCnt="0"/>
      <dgm:spPr/>
    </dgm:pt>
    <dgm:pt modelId="{966F7FC0-0F57-4A66-8969-7B9E1B26C883}" type="pres">
      <dgm:prSet presAssocID="{C220D773-D9D3-4D80-A58F-A962D6FF195E}" presName="parentText" presStyleLbl="node1" presStyleIdx="0" presStyleCnt="2">
        <dgm:presLayoutVars>
          <dgm:chMax val="1"/>
          <dgm:bulletEnabled val="1"/>
        </dgm:presLayoutVars>
      </dgm:prSet>
      <dgm:spPr/>
    </dgm:pt>
    <dgm:pt modelId="{130B2FA8-B85F-4458-9F06-20FB67AE6DF4}" type="pres">
      <dgm:prSet presAssocID="{C220D773-D9D3-4D80-A58F-A962D6FF195E}" presName="descendantText" presStyleLbl="alignAccFollowNode1" presStyleIdx="0" presStyleCnt="2">
        <dgm:presLayoutVars>
          <dgm:bulletEnabled val="1"/>
        </dgm:presLayoutVars>
      </dgm:prSet>
      <dgm:spPr/>
    </dgm:pt>
    <dgm:pt modelId="{6C09D15B-949A-4EDC-A636-CAE764227602}" type="pres">
      <dgm:prSet presAssocID="{C0E7E51D-EFBF-4AE6-8004-BB85370504CC}" presName="sp" presStyleCnt="0"/>
      <dgm:spPr/>
    </dgm:pt>
    <dgm:pt modelId="{465EC4D9-A216-43FD-B440-4CCB10849D5F}" type="pres">
      <dgm:prSet presAssocID="{3786AC8D-D357-4CE1-A21B-82B6525737C9}" presName="linNode" presStyleCnt="0"/>
      <dgm:spPr/>
    </dgm:pt>
    <dgm:pt modelId="{201A35B7-E811-4EB5-9A01-C35A97CF8F27}" type="pres">
      <dgm:prSet presAssocID="{3786AC8D-D357-4CE1-A21B-82B6525737C9}" presName="parentText" presStyleLbl="node1" presStyleIdx="1" presStyleCnt="2">
        <dgm:presLayoutVars>
          <dgm:chMax val="1"/>
          <dgm:bulletEnabled val="1"/>
        </dgm:presLayoutVars>
      </dgm:prSet>
      <dgm:spPr/>
    </dgm:pt>
    <dgm:pt modelId="{85368669-6CB0-4B1B-BF35-F50613991C50}" type="pres">
      <dgm:prSet presAssocID="{3786AC8D-D357-4CE1-A21B-82B6525737C9}" presName="descendantText" presStyleLbl="alignAccFollowNode1" presStyleIdx="1" presStyleCnt="2">
        <dgm:presLayoutVars>
          <dgm:bulletEnabled val="1"/>
        </dgm:presLayoutVars>
      </dgm:prSet>
      <dgm:spPr/>
    </dgm:pt>
  </dgm:ptLst>
  <dgm:cxnLst>
    <dgm:cxn modelId="{72CCEF0D-2C5C-40F5-93F4-83BDB7971BDE}" type="presOf" srcId="{62956201-CA75-4C59-9F7D-1609232E439B}" destId="{130B2FA8-B85F-4458-9F06-20FB67AE6DF4}" srcOrd="0" destOrd="1" presId="urn:microsoft.com/office/officeart/2005/8/layout/vList5"/>
    <dgm:cxn modelId="{FA4A492D-E687-4ACB-B020-D81B37A7714E}" type="presOf" srcId="{C220D773-D9D3-4D80-A58F-A962D6FF195E}" destId="{966F7FC0-0F57-4A66-8969-7B9E1B26C883}" srcOrd="0" destOrd="0" presId="urn:microsoft.com/office/officeart/2005/8/layout/vList5"/>
    <dgm:cxn modelId="{F769C330-CF49-4481-A0D8-861828200DA9}" srcId="{397CCB8F-5CDC-44CF-8178-4A6E10924D42}" destId="{C220D773-D9D3-4D80-A58F-A962D6FF195E}" srcOrd="0" destOrd="0" parTransId="{7B0E4553-7213-4BEC-A7BC-53250CE4B463}" sibTransId="{C0E7E51D-EFBF-4AE6-8004-BB85370504CC}"/>
    <dgm:cxn modelId="{ED08876A-B256-439F-BF85-B1A11FE61CB3}" type="presOf" srcId="{397CCB8F-5CDC-44CF-8178-4A6E10924D42}" destId="{2E2FEC55-EF24-4509-9CE1-04505FE7D562}" srcOrd="0" destOrd="0" presId="urn:microsoft.com/office/officeart/2005/8/layout/vList5"/>
    <dgm:cxn modelId="{4DA93A71-2910-4AD1-8B2B-DF103F61C82F}" srcId="{3786AC8D-D357-4CE1-A21B-82B6525737C9}" destId="{FBBF968B-B18C-4F75-A32E-39B7AC522947}" srcOrd="0" destOrd="0" parTransId="{7525105D-F6C7-40A0-AAD6-E34902C6E864}" sibTransId="{FDF54501-872F-472A-AEBB-FCB7E0B18918}"/>
    <dgm:cxn modelId="{104F2584-3638-4515-ADA6-15E55E54ECE4}" type="presOf" srcId="{FBBF968B-B18C-4F75-A32E-39B7AC522947}" destId="{85368669-6CB0-4B1B-BF35-F50613991C50}" srcOrd="0" destOrd="0" presId="urn:microsoft.com/office/officeart/2005/8/layout/vList5"/>
    <dgm:cxn modelId="{19E29494-077F-4BE3-A666-DA1F2ADFAB6E}" srcId="{C220D773-D9D3-4D80-A58F-A962D6FF195E}" destId="{62956201-CA75-4C59-9F7D-1609232E439B}" srcOrd="1" destOrd="0" parTransId="{697D96F7-9124-4C60-A3DB-F2D6C917CED9}" sibTransId="{18068063-56F6-450E-B1EE-062716794FEB}"/>
    <dgm:cxn modelId="{9D2147C4-279D-468C-9A52-E952FF6F6A5F}" srcId="{397CCB8F-5CDC-44CF-8178-4A6E10924D42}" destId="{3786AC8D-D357-4CE1-A21B-82B6525737C9}" srcOrd="1" destOrd="0" parTransId="{5CDEEF96-A342-43BD-B8C0-B38C0D4B5E89}" sibTransId="{C028EADB-9252-4BCB-932F-DE0246E06487}"/>
    <dgm:cxn modelId="{6142DBCB-A5B3-4C35-9BB2-D07FF185D32B}" type="presOf" srcId="{3786AC8D-D357-4CE1-A21B-82B6525737C9}" destId="{201A35B7-E811-4EB5-9A01-C35A97CF8F27}" srcOrd="0" destOrd="0" presId="urn:microsoft.com/office/officeart/2005/8/layout/vList5"/>
    <dgm:cxn modelId="{66A9B2D9-523E-439D-AF5B-F9D4BE44CA3E}" srcId="{C220D773-D9D3-4D80-A58F-A962D6FF195E}" destId="{B0A9E0E4-938D-4E5A-B697-6D5D052CD61C}" srcOrd="0" destOrd="0" parTransId="{741A9CA2-78FB-4C40-A2E2-8033F130B40E}" sibTransId="{D7445D05-3661-4C61-8698-8C651C2EDCAB}"/>
    <dgm:cxn modelId="{186C09E5-15DC-4EF3-B0A8-C07F3D4BC200}" type="presOf" srcId="{B0A9E0E4-938D-4E5A-B697-6D5D052CD61C}" destId="{130B2FA8-B85F-4458-9F06-20FB67AE6DF4}" srcOrd="0" destOrd="0" presId="urn:microsoft.com/office/officeart/2005/8/layout/vList5"/>
    <dgm:cxn modelId="{4EF5D844-392F-4234-8C98-A83D5C6192AD}" type="presParOf" srcId="{2E2FEC55-EF24-4509-9CE1-04505FE7D562}" destId="{656863B0-65FE-4F44-B45A-2B54EABFA516}" srcOrd="0" destOrd="0" presId="urn:microsoft.com/office/officeart/2005/8/layout/vList5"/>
    <dgm:cxn modelId="{0ABCB81A-1044-41F0-AC9C-D73BA0012DDF}" type="presParOf" srcId="{656863B0-65FE-4F44-B45A-2B54EABFA516}" destId="{966F7FC0-0F57-4A66-8969-7B9E1B26C883}" srcOrd="0" destOrd="0" presId="urn:microsoft.com/office/officeart/2005/8/layout/vList5"/>
    <dgm:cxn modelId="{D503B433-FB88-417F-882F-CE0B0742BEBD}" type="presParOf" srcId="{656863B0-65FE-4F44-B45A-2B54EABFA516}" destId="{130B2FA8-B85F-4458-9F06-20FB67AE6DF4}" srcOrd="1" destOrd="0" presId="urn:microsoft.com/office/officeart/2005/8/layout/vList5"/>
    <dgm:cxn modelId="{148DE363-F9E2-4BFA-AF6A-E5168E97D5DE}" type="presParOf" srcId="{2E2FEC55-EF24-4509-9CE1-04505FE7D562}" destId="{6C09D15B-949A-4EDC-A636-CAE764227602}" srcOrd="1" destOrd="0" presId="urn:microsoft.com/office/officeart/2005/8/layout/vList5"/>
    <dgm:cxn modelId="{D789870C-BEE7-40DF-ABD9-58BE4B17830B}" type="presParOf" srcId="{2E2FEC55-EF24-4509-9CE1-04505FE7D562}" destId="{465EC4D9-A216-43FD-B440-4CCB10849D5F}" srcOrd="2" destOrd="0" presId="urn:microsoft.com/office/officeart/2005/8/layout/vList5"/>
    <dgm:cxn modelId="{F137A762-97BA-4DB4-9115-7FCE05B0FDCD}" type="presParOf" srcId="{465EC4D9-A216-43FD-B440-4CCB10849D5F}" destId="{201A35B7-E811-4EB5-9A01-C35A97CF8F27}" srcOrd="0" destOrd="0" presId="urn:microsoft.com/office/officeart/2005/8/layout/vList5"/>
    <dgm:cxn modelId="{6F7F9385-F36C-4DE1-AA47-EA86F07EFD9B}" type="presParOf" srcId="{465EC4D9-A216-43FD-B440-4CCB10849D5F}" destId="{85368669-6CB0-4B1B-BF35-F50613991C50}"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31A5622-6C5F-4F8F-9B4A-D99C40FC34B9}"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4E68D053-8B12-4A9E-B5FF-942C3D49B49D}">
      <dgm:prSet/>
      <dgm:spPr/>
      <dgm:t>
        <a:bodyPr/>
        <a:lstStyle/>
        <a:p>
          <a:pPr>
            <a:lnSpc>
              <a:spcPct val="100000"/>
            </a:lnSpc>
          </a:pPr>
          <a:r>
            <a:rPr lang="en-US"/>
            <a:t>Positive, work-related state of mind, dedication, and absorption</a:t>
          </a:r>
        </a:p>
      </dgm:t>
    </dgm:pt>
    <dgm:pt modelId="{411031CD-0262-445C-ACDD-155341D4C4FC}" type="parTrans" cxnId="{EAF5A2C7-5A74-4DDA-ACAE-4025A8F9CF4F}">
      <dgm:prSet/>
      <dgm:spPr/>
      <dgm:t>
        <a:bodyPr/>
        <a:lstStyle/>
        <a:p>
          <a:endParaRPr lang="en-US"/>
        </a:p>
      </dgm:t>
    </dgm:pt>
    <dgm:pt modelId="{877518D9-FFB9-4589-ACB7-6CA6664D1A0D}" type="sibTrans" cxnId="{EAF5A2C7-5A74-4DDA-ACAE-4025A8F9CF4F}">
      <dgm:prSet/>
      <dgm:spPr/>
      <dgm:t>
        <a:bodyPr/>
        <a:lstStyle/>
        <a:p>
          <a:endParaRPr lang="en-US"/>
        </a:p>
      </dgm:t>
    </dgm:pt>
    <dgm:pt modelId="{4C23D650-76A3-425E-BA4A-4B53844A7CF5}">
      <dgm:prSet/>
      <dgm:spPr/>
      <dgm:t>
        <a:bodyPr/>
        <a:lstStyle/>
        <a:p>
          <a:pPr>
            <a:lnSpc>
              <a:spcPct val="100000"/>
            </a:lnSpc>
          </a:pPr>
          <a:r>
            <a:rPr lang="en-US" dirty="0"/>
            <a:t>Characterized by energy, involvement, and efficacy (which is opposite of job burnout elements of exhaustion, cynicism, inefficacy)</a:t>
          </a:r>
        </a:p>
      </dgm:t>
    </dgm:pt>
    <dgm:pt modelId="{F81F8142-2201-4479-BDF8-739F347D5835}" type="parTrans" cxnId="{17C2EEA4-EBEA-4D15-968E-C1186B657DF4}">
      <dgm:prSet/>
      <dgm:spPr/>
      <dgm:t>
        <a:bodyPr/>
        <a:lstStyle/>
        <a:p>
          <a:endParaRPr lang="en-US"/>
        </a:p>
      </dgm:t>
    </dgm:pt>
    <dgm:pt modelId="{0625DAA7-DA0B-415C-B37A-0539E8E77DC5}" type="sibTrans" cxnId="{17C2EEA4-EBEA-4D15-968E-C1186B657DF4}">
      <dgm:prSet/>
      <dgm:spPr/>
      <dgm:t>
        <a:bodyPr/>
        <a:lstStyle/>
        <a:p>
          <a:endParaRPr lang="en-US"/>
        </a:p>
      </dgm:t>
    </dgm:pt>
    <dgm:pt modelId="{C4997022-73BF-4D1D-914A-59DBF8F43D6B}">
      <dgm:prSet/>
      <dgm:spPr/>
      <dgm:t>
        <a:bodyPr/>
        <a:lstStyle/>
        <a:p>
          <a:pPr>
            <a:lnSpc>
              <a:spcPct val="100000"/>
            </a:lnSpc>
          </a:pPr>
          <a:r>
            <a:rPr lang="en-US"/>
            <a:t>Differs from job satisfaction…both involve positive focus, but engagement goes beyond with involvement, absorption, dedication</a:t>
          </a:r>
        </a:p>
      </dgm:t>
    </dgm:pt>
    <dgm:pt modelId="{A4383C4D-C95C-43E3-8250-7C85CB6EA90B}" type="parTrans" cxnId="{E7044CC3-7832-45AC-AC95-4F941395F7F5}">
      <dgm:prSet/>
      <dgm:spPr/>
      <dgm:t>
        <a:bodyPr/>
        <a:lstStyle/>
        <a:p>
          <a:endParaRPr lang="en-US"/>
        </a:p>
      </dgm:t>
    </dgm:pt>
    <dgm:pt modelId="{4A30807E-5310-4EDC-A819-FA831B57B239}" type="sibTrans" cxnId="{E7044CC3-7832-45AC-AC95-4F941395F7F5}">
      <dgm:prSet/>
      <dgm:spPr/>
      <dgm:t>
        <a:bodyPr/>
        <a:lstStyle/>
        <a:p>
          <a:endParaRPr lang="en-US"/>
        </a:p>
      </dgm:t>
    </dgm:pt>
    <dgm:pt modelId="{A37E84C5-2D61-4746-ABE6-B9CAE5C7BDDB}" type="pres">
      <dgm:prSet presAssocID="{431A5622-6C5F-4F8F-9B4A-D99C40FC34B9}" presName="root" presStyleCnt="0">
        <dgm:presLayoutVars>
          <dgm:dir/>
          <dgm:resizeHandles val="exact"/>
        </dgm:presLayoutVars>
      </dgm:prSet>
      <dgm:spPr/>
    </dgm:pt>
    <dgm:pt modelId="{E4E8A13D-EC69-4942-8138-2207B145CB1D}" type="pres">
      <dgm:prSet presAssocID="{4E68D053-8B12-4A9E-B5FF-942C3D49B49D}" presName="compNode" presStyleCnt="0"/>
      <dgm:spPr/>
    </dgm:pt>
    <dgm:pt modelId="{EAB984AE-CD46-4EA4-9777-09871E6BDD38}" type="pres">
      <dgm:prSet presAssocID="{4E68D053-8B12-4A9E-B5FF-942C3D49B49D}" presName="bgRect" presStyleLbl="bgShp" presStyleIdx="0" presStyleCnt="3"/>
      <dgm:spPr/>
    </dgm:pt>
    <dgm:pt modelId="{564A198C-BDA5-4901-8F4A-B65BAB6511C8}" type="pres">
      <dgm:prSet presAssocID="{4E68D053-8B12-4A9E-B5FF-942C3D49B49D}"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rain"/>
        </a:ext>
      </dgm:extLst>
    </dgm:pt>
    <dgm:pt modelId="{4EA13043-841B-4183-ABF2-D3B0EB3A05AF}" type="pres">
      <dgm:prSet presAssocID="{4E68D053-8B12-4A9E-B5FF-942C3D49B49D}" presName="spaceRect" presStyleCnt="0"/>
      <dgm:spPr/>
    </dgm:pt>
    <dgm:pt modelId="{328A0BCF-4B4C-45E6-ADA5-74D219601A79}" type="pres">
      <dgm:prSet presAssocID="{4E68D053-8B12-4A9E-B5FF-942C3D49B49D}" presName="parTx" presStyleLbl="revTx" presStyleIdx="0" presStyleCnt="3">
        <dgm:presLayoutVars>
          <dgm:chMax val="0"/>
          <dgm:chPref val="0"/>
        </dgm:presLayoutVars>
      </dgm:prSet>
      <dgm:spPr/>
    </dgm:pt>
    <dgm:pt modelId="{3387B4DB-9267-408F-9515-E2C9E1A80ECE}" type="pres">
      <dgm:prSet presAssocID="{877518D9-FFB9-4589-ACB7-6CA6664D1A0D}" presName="sibTrans" presStyleCnt="0"/>
      <dgm:spPr/>
    </dgm:pt>
    <dgm:pt modelId="{6F4500A8-038D-4537-8E17-A46CBF3FD435}" type="pres">
      <dgm:prSet presAssocID="{4C23D650-76A3-425E-BA4A-4B53844A7CF5}" presName="compNode" presStyleCnt="0"/>
      <dgm:spPr/>
    </dgm:pt>
    <dgm:pt modelId="{39CEAB94-37F9-458E-9A6F-B5C3DF25AAD2}" type="pres">
      <dgm:prSet presAssocID="{4C23D650-76A3-425E-BA4A-4B53844A7CF5}" presName="bgRect" presStyleLbl="bgShp" presStyleIdx="1" presStyleCnt="3"/>
      <dgm:spPr/>
    </dgm:pt>
    <dgm:pt modelId="{550571CA-07ED-4395-83F8-1A6C7B840C6E}" type="pres">
      <dgm:prSet presAssocID="{4C23D650-76A3-425E-BA4A-4B53844A7CF5}"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Firefighter"/>
        </a:ext>
      </dgm:extLst>
    </dgm:pt>
    <dgm:pt modelId="{2A9297BF-D789-4A8F-B1AE-51E623D57E85}" type="pres">
      <dgm:prSet presAssocID="{4C23D650-76A3-425E-BA4A-4B53844A7CF5}" presName="spaceRect" presStyleCnt="0"/>
      <dgm:spPr/>
    </dgm:pt>
    <dgm:pt modelId="{95BBA0CC-1233-496A-8A02-72CC252DAD3F}" type="pres">
      <dgm:prSet presAssocID="{4C23D650-76A3-425E-BA4A-4B53844A7CF5}" presName="parTx" presStyleLbl="revTx" presStyleIdx="1" presStyleCnt="3">
        <dgm:presLayoutVars>
          <dgm:chMax val="0"/>
          <dgm:chPref val="0"/>
        </dgm:presLayoutVars>
      </dgm:prSet>
      <dgm:spPr/>
    </dgm:pt>
    <dgm:pt modelId="{6509E9F8-7F83-4E9E-9B54-F823A7B5179B}" type="pres">
      <dgm:prSet presAssocID="{0625DAA7-DA0B-415C-B37A-0539E8E77DC5}" presName="sibTrans" presStyleCnt="0"/>
      <dgm:spPr/>
    </dgm:pt>
    <dgm:pt modelId="{2C76F77D-0AEB-443F-B1F5-C201909A8D0C}" type="pres">
      <dgm:prSet presAssocID="{C4997022-73BF-4D1D-914A-59DBF8F43D6B}" presName="compNode" presStyleCnt="0"/>
      <dgm:spPr/>
    </dgm:pt>
    <dgm:pt modelId="{DDF489DC-B0F3-4073-8FAD-1A3AF15D657C}" type="pres">
      <dgm:prSet presAssocID="{C4997022-73BF-4D1D-914A-59DBF8F43D6B}" presName="bgRect" presStyleLbl="bgShp" presStyleIdx="2" presStyleCnt="3"/>
      <dgm:spPr/>
    </dgm:pt>
    <dgm:pt modelId="{7A57433F-DBBB-4C77-BCB9-B07BD37D0BAE}" type="pres">
      <dgm:prSet presAssocID="{C4997022-73BF-4D1D-914A-59DBF8F43D6B}"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Workflow"/>
        </a:ext>
      </dgm:extLst>
    </dgm:pt>
    <dgm:pt modelId="{D1183D20-4302-4754-925F-66CC161FE39C}" type="pres">
      <dgm:prSet presAssocID="{C4997022-73BF-4D1D-914A-59DBF8F43D6B}" presName="spaceRect" presStyleCnt="0"/>
      <dgm:spPr/>
    </dgm:pt>
    <dgm:pt modelId="{CDC460B9-663D-458F-8901-C47062958F7E}" type="pres">
      <dgm:prSet presAssocID="{C4997022-73BF-4D1D-914A-59DBF8F43D6B}" presName="parTx" presStyleLbl="revTx" presStyleIdx="2" presStyleCnt="3">
        <dgm:presLayoutVars>
          <dgm:chMax val="0"/>
          <dgm:chPref val="0"/>
        </dgm:presLayoutVars>
      </dgm:prSet>
      <dgm:spPr/>
    </dgm:pt>
  </dgm:ptLst>
  <dgm:cxnLst>
    <dgm:cxn modelId="{DB696671-1E23-48A2-9C2A-398C100462FE}" type="presOf" srcId="{4E68D053-8B12-4A9E-B5FF-942C3D49B49D}" destId="{328A0BCF-4B4C-45E6-ADA5-74D219601A79}" srcOrd="0" destOrd="0" presId="urn:microsoft.com/office/officeart/2018/2/layout/IconVerticalSolidList"/>
    <dgm:cxn modelId="{D8A8E951-BBF5-41A4-8406-4EA8247E5A0F}" type="presOf" srcId="{4C23D650-76A3-425E-BA4A-4B53844A7CF5}" destId="{95BBA0CC-1233-496A-8A02-72CC252DAD3F}" srcOrd="0" destOrd="0" presId="urn:microsoft.com/office/officeart/2018/2/layout/IconVerticalSolidList"/>
    <dgm:cxn modelId="{AFEDEB8C-B39F-4C8C-946A-595E7D6B9E80}" type="presOf" srcId="{431A5622-6C5F-4F8F-9B4A-D99C40FC34B9}" destId="{A37E84C5-2D61-4746-ABE6-B9CAE5C7BDDB}" srcOrd="0" destOrd="0" presId="urn:microsoft.com/office/officeart/2018/2/layout/IconVerticalSolidList"/>
    <dgm:cxn modelId="{C993359B-4FAE-4C6F-846D-E06DA33C79F1}" type="presOf" srcId="{C4997022-73BF-4D1D-914A-59DBF8F43D6B}" destId="{CDC460B9-663D-458F-8901-C47062958F7E}" srcOrd="0" destOrd="0" presId="urn:microsoft.com/office/officeart/2018/2/layout/IconVerticalSolidList"/>
    <dgm:cxn modelId="{17C2EEA4-EBEA-4D15-968E-C1186B657DF4}" srcId="{431A5622-6C5F-4F8F-9B4A-D99C40FC34B9}" destId="{4C23D650-76A3-425E-BA4A-4B53844A7CF5}" srcOrd="1" destOrd="0" parTransId="{F81F8142-2201-4479-BDF8-739F347D5835}" sibTransId="{0625DAA7-DA0B-415C-B37A-0539E8E77DC5}"/>
    <dgm:cxn modelId="{E7044CC3-7832-45AC-AC95-4F941395F7F5}" srcId="{431A5622-6C5F-4F8F-9B4A-D99C40FC34B9}" destId="{C4997022-73BF-4D1D-914A-59DBF8F43D6B}" srcOrd="2" destOrd="0" parTransId="{A4383C4D-C95C-43E3-8250-7C85CB6EA90B}" sibTransId="{4A30807E-5310-4EDC-A819-FA831B57B239}"/>
    <dgm:cxn modelId="{EAF5A2C7-5A74-4DDA-ACAE-4025A8F9CF4F}" srcId="{431A5622-6C5F-4F8F-9B4A-D99C40FC34B9}" destId="{4E68D053-8B12-4A9E-B5FF-942C3D49B49D}" srcOrd="0" destOrd="0" parTransId="{411031CD-0262-445C-ACDD-155341D4C4FC}" sibTransId="{877518D9-FFB9-4589-ACB7-6CA6664D1A0D}"/>
    <dgm:cxn modelId="{7EA933A4-DA09-4EAC-8EEB-5189C8AA3D39}" type="presParOf" srcId="{A37E84C5-2D61-4746-ABE6-B9CAE5C7BDDB}" destId="{E4E8A13D-EC69-4942-8138-2207B145CB1D}" srcOrd="0" destOrd="0" presId="urn:microsoft.com/office/officeart/2018/2/layout/IconVerticalSolidList"/>
    <dgm:cxn modelId="{89601BA5-2748-4D77-BFF1-E45BDBD73553}" type="presParOf" srcId="{E4E8A13D-EC69-4942-8138-2207B145CB1D}" destId="{EAB984AE-CD46-4EA4-9777-09871E6BDD38}" srcOrd="0" destOrd="0" presId="urn:microsoft.com/office/officeart/2018/2/layout/IconVerticalSolidList"/>
    <dgm:cxn modelId="{672DEBD9-0786-4D96-8F0E-A5F955F5FDCA}" type="presParOf" srcId="{E4E8A13D-EC69-4942-8138-2207B145CB1D}" destId="{564A198C-BDA5-4901-8F4A-B65BAB6511C8}" srcOrd="1" destOrd="0" presId="urn:microsoft.com/office/officeart/2018/2/layout/IconVerticalSolidList"/>
    <dgm:cxn modelId="{6505812C-D6B2-45A4-A1FD-78EB7CB1A799}" type="presParOf" srcId="{E4E8A13D-EC69-4942-8138-2207B145CB1D}" destId="{4EA13043-841B-4183-ABF2-D3B0EB3A05AF}" srcOrd="2" destOrd="0" presId="urn:microsoft.com/office/officeart/2018/2/layout/IconVerticalSolidList"/>
    <dgm:cxn modelId="{DFBDC83B-A66C-4BFE-B3AA-A604ECEF380F}" type="presParOf" srcId="{E4E8A13D-EC69-4942-8138-2207B145CB1D}" destId="{328A0BCF-4B4C-45E6-ADA5-74D219601A79}" srcOrd="3" destOrd="0" presId="urn:microsoft.com/office/officeart/2018/2/layout/IconVerticalSolidList"/>
    <dgm:cxn modelId="{B84B2516-4BC0-4A1A-B435-1DCEEEF883A9}" type="presParOf" srcId="{A37E84C5-2D61-4746-ABE6-B9CAE5C7BDDB}" destId="{3387B4DB-9267-408F-9515-E2C9E1A80ECE}" srcOrd="1" destOrd="0" presId="urn:microsoft.com/office/officeart/2018/2/layout/IconVerticalSolidList"/>
    <dgm:cxn modelId="{968F50F0-F9EF-4082-AECA-47134BFC917E}" type="presParOf" srcId="{A37E84C5-2D61-4746-ABE6-B9CAE5C7BDDB}" destId="{6F4500A8-038D-4537-8E17-A46CBF3FD435}" srcOrd="2" destOrd="0" presId="urn:microsoft.com/office/officeart/2018/2/layout/IconVerticalSolidList"/>
    <dgm:cxn modelId="{B3537716-EF16-4250-9B62-776D7F986C40}" type="presParOf" srcId="{6F4500A8-038D-4537-8E17-A46CBF3FD435}" destId="{39CEAB94-37F9-458E-9A6F-B5C3DF25AAD2}" srcOrd="0" destOrd="0" presId="urn:microsoft.com/office/officeart/2018/2/layout/IconVerticalSolidList"/>
    <dgm:cxn modelId="{11F3F39D-F0AA-47C6-8472-FE358F6CE501}" type="presParOf" srcId="{6F4500A8-038D-4537-8E17-A46CBF3FD435}" destId="{550571CA-07ED-4395-83F8-1A6C7B840C6E}" srcOrd="1" destOrd="0" presId="urn:microsoft.com/office/officeart/2018/2/layout/IconVerticalSolidList"/>
    <dgm:cxn modelId="{0E11AF3C-5AC1-4700-9561-F66D9CF4F40A}" type="presParOf" srcId="{6F4500A8-038D-4537-8E17-A46CBF3FD435}" destId="{2A9297BF-D789-4A8F-B1AE-51E623D57E85}" srcOrd="2" destOrd="0" presId="urn:microsoft.com/office/officeart/2018/2/layout/IconVerticalSolidList"/>
    <dgm:cxn modelId="{FFC43DF7-A6B0-4031-8DCC-E5F3EE7D01BE}" type="presParOf" srcId="{6F4500A8-038D-4537-8E17-A46CBF3FD435}" destId="{95BBA0CC-1233-496A-8A02-72CC252DAD3F}" srcOrd="3" destOrd="0" presId="urn:microsoft.com/office/officeart/2018/2/layout/IconVerticalSolidList"/>
    <dgm:cxn modelId="{5A790F70-B421-4E89-99D3-3738E4016CE0}" type="presParOf" srcId="{A37E84C5-2D61-4746-ABE6-B9CAE5C7BDDB}" destId="{6509E9F8-7F83-4E9E-9B54-F823A7B5179B}" srcOrd="3" destOrd="0" presId="urn:microsoft.com/office/officeart/2018/2/layout/IconVerticalSolidList"/>
    <dgm:cxn modelId="{ABFA85D5-D5D6-4DDC-B236-0CAF4D4AA12C}" type="presParOf" srcId="{A37E84C5-2D61-4746-ABE6-B9CAE5C7BDDB}" destId="{2C76F77D-0AEB-443F-B1F5-C201909A8D0C}" srcOrd="4" destOrd="0" presId="urn:microsoft.com/office/officeart/2018/2/layout/IconVerticalSolidList"/>
    <dgm:cxn modelId="{946DEC4F-55D2-4C7D-BA4F-F78A73553A71}" type="presParOf" srcId="{2C76F77D-0AEB-443F-B1F5-C201909A8D0C}" destId="{DDF489DC-B0F3-4073-8FAD-1A3AF15D657C}" srcOrd="0" destOrd="0" presId="urn:microsoft.com/office/officeart/2018/2/layout/IconVerticalSolidList"/>
    <dgm:cxn modelId="{6EBA0D34-F09E-4CF0-84A1-AB93D592CA0C}" type="presParOf" srcId="{2C76F77D-0AEB-443F-B1F5-C201909A8D0C}" destId="{7A57433F-DBBB-4C77-BCB9-B07BD37D0BAE}" srcOrd="1" destOrd="0" presId="urn:microsoft.com/office/officeart/2018/2/layout/IconVerticalSolidList"/>
    <dgm:cxn modelId="{F5A7970A-515D-4BC0-9FD6-31B042F24666}" type="presParOf" srcId="{2C76F77D-0AEB-443F-B1F5-C201909A8D0C}" destId="{D1183D20-4302-4754-925F-66CC161FE39C}" srcOrd="2" destOrd="0" presId="urn:microsoft.com/office/officeart/2018/2/layout/IconVerticalSolidList"/>
    <dgm:cxn modelId="{E947FAA1-A3A8-450B-9715-3D49A1262DD3}" type="presParOf" srcId="{2C76F77D-0AEB-443F-B1F5-C201909A8D0C}" destId="{CDC460B9-663D-458F-8901-C47062958F7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96D4DD4-0A23-4F59-95B7-9DCABD999838}"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75880445-5522-4146-940F-B8468F5B688E}">
      <dgm:prSet/>
      <dgm:spPr/>
      <dgm:t>
        <a:bodyPr/>
        <a:lstStyle/>
        <a:p>
          <a:r>
            <a:rPr lang="en-US"/>
            <a:t>Positive emotions linked with approach-oriented behaviors</a:t>
          </a:r>
        </a:p>
      </dgm:t>
    </dgm:pt>
    <dgm:pt modelId="{CD43ECB0-E3BE-4CB6-BD90-BC4A8BD45571}" type="parTrans" cxnId="{0F5ECAB7-0F45-4C7F-A75E-B1901C91A2F3}">
      <dgm:prSet/>
      <dgm:spPr/>
      <dgm:t>
        <a:bodyPr/>
        <a:lstStyle/>
        <a:p>
          <a:endParaRPr lang="en-US"/>
        </a:p>
      </dgm:t>
    </dgm:pt>
    <dgm:pt modelId="{4550FFBD-6D35-404A-A51F-5098F7204DAC}" type="sibTrans" cxnId="{0F5ECAB7-0F45-4C7F-A75E-B1901C91A2F3}">
      <dgm:prSet/>
      <dgm:spPr/>
      <dgm:t>
        <a:bodyPr/>
        <a:lstStyle/>
        <a:p>
          <a:endParaRPr lang="en-US"/>
        </a:p>
      </dgm:t>
    </dgm:pt>
    <dgm:pt modelId="{8B6FFDAC-EE41-4E89-8299-215C71A2A228}">
      <dgm:prSet/>
      <dgm:spPr/>
      <dgm:t>
        <a:bodyPr/>
        <a:lstStyle/>
        <a:p>
          <a:r>
            <a:rPr lang="en-US"/>
            <a:t>More likely to enter novel situations, interact with others, pursue new goals</a:t>
          </a:r>
        </a:p>
      </dgm:t>
    </dgm:pt>
    <dgm:pt modelId="{0EEB70E9-49E7-4938-B5DD-1CA182EB00E3}" type="parTrans" cxnId="{98F4A9DD-6D8F-46CB-BA1A-A47B8AF918EC}">
      <dgm:prSet/>
      <dgm:spPr/>
      <dgm:t>
        <a:bodyPr/>
        <a:lstStyle/>
        <a:p>
          <a:endParaRPr lang="en-US"/>
        </a:p>
      </dgm:t>
    </dgm:pt>
    <dgm:pt modelId="{7131A18A-0B43-4BBD-9908-6D039BA9529A}" type="sibTrans" cxnId="{98F4A9DD-6D8F-46CB-BA1A-A47B8AF918EC}">
      <dgm:prSet/>
      <dgm:spPr/>
      <dgm:t>
        <a:bodyPr/>
        <a:lstStyle/>
        <a:p>
          <a:endParaRPr lang="en-US"/>
        </a:p>
      </dgm:t>
    </dgm:pt>
    <dgm:pt modelId="{0C466AD3-1FAB-4103-AD9B-1E9E742BDB7B}">
      <dgm:prSet/>
      <dgm:spPr/>
      <dgm:t>
        <a:bodyPr/>
        <a:lstStyle/>
        <a:p>
          <a:r>
            <a:rPr lang="en-US"/>
            <a:t>More engaged with work</a:t>
          </a:r>
        </a:p>
      </dgm:t>
    </dgm:pt>
    <dgm:pt modelId="{4F643628-E041-49EC-94A5-856D2D05E352}" type="parTrans" cxnId="{E479A600-7989-42D5-8818-FA8CFCE29623}">
      <dgm:prSet/>
      <dgm:spPr/>
      <dgm:t>
        <a:bodyPr/>
        <a:lstStyle/>
        <a:p>
          <a:endParaRPr lang="en-US"/>
        </a:p>
      </dgm:t>
    </dgm:pt>
    <dgm:pt modelId="{1AFA690B-E33B-4670-9917-C8F83AEF8ADD}" type="sibTrans" cxnId="{E479A600-7989-42D5-8818-FA8CFCE29623}">
      <dgm:prSet/>
      <dgm:spPr/>
      <dgm:t>
        <a:bodyPr/>
        <a:lstStyle/>
        <a:p>
          <a:endParaRPr lang="en-US"/>
        </a:p>
      </dgm:t>
    </dgm:pt>
    <dgm:pt modelId="{6627DC8C-F125-41B5-ADF5-3A900453AD75}">
      <dgm:prSet/>
      <dgm:spPr/>
      <dgm:t>
        <a:bodyPr/>
        <a:lstStyle/>
        <a:p>
          <a:r>
            <a:rPr lang="en-US"/>
            <a:t>Less burnout, less emotional exhaustion, less absenteeism, less turnover</a:t>
          </a:r>
        </a:p>
      </dgm:t>
    </dgm:pt>
    <dgm:pt modelId="{CF55F767-A101-4998-9A9E-A8B67DD6856D}" type="parTrans" cxnId="{A3DC8AC7-1134-495F-9EC8-FAFD3DC645A6}">
      <dgm:prSet/>
      <dgm:spPr/>
      <dgm:t>
        <a:bodyPr/>
        <a:lstStyle/>
        <a:p>
          <a:endParaRPr lang="en-US"/>
        </a:p>
      </dgm:t>
    </dgm:pt>
    <dgm:pt modelId="{BEA4EE4F-5D01-4ECF-B827-421A633CB25B}" type="sibTrans" cxnId="{A3DC8AC7-1134-495F-9EC8-FAFD3DC645A6}">
      <dgm:prSet/>
      <dgm:spPr/>
      <dgm:t>
        <a:bodyPr/>
        <a:lstStyle/>
        <a:p>
          <a:endParaRPr lang="en-US"/>
        </a:p>
      </dgm:t>
    </dgm:pt>
    <dgm:pt modelId="{E578C175-D2CD-4BDF-9CA3-995816BBE231}">
      <dgm:prSet/>
      <dgm:spPr/>
      <dgm:t>
        <a:bodyPr/>
        <a:lstStyle/>
        <a:p>
          <a:r>
            <a:rPr lang="en-US"/>
            <a:t>More popular, gain more social support</a:t>
          </a:r>
        </a:p>
      </dgm:t>
    </dgm:pt>
    <dgm:pt modelId="{716776AA-C94C-406D-8C3A-41041AC8D675}" type="parTrans" cxnId="{914C3488-B73F-4915-9E77-B731C1B580FF}">
      <dgm:prSet/>
      <dgm:spPr/>
      <dgm:t>
        <a:bodyPr/>
        <a:lstStyle/>
        <a:p>
          <a:endParaRPr lang="en-US"/>
        </a:p>
      </dgm:t>
    </dgm:pt>
    <dgm:pt modelId="{9C3AF015-8861-4434-9531-1A0928AC8318}" type="sibTrans" cxnId="{914C3488-B73F-4915-9E77-B731C1B580FF}">
      <dgm:prSet/>
      <dgm:spPr/>
      <dgm:t>
        <a:bodyPr/>
        <a:lstStyle/>
        <a:p>
          <a:endParaRPr lang="en-US"/>
        </a:p>
      </dgm:t>
    </dgm:pt>
    <dgm:pt modelId="{7F59C29F-D919-4A37-BA10-D3CC08B3D428}">
      <dgm:prSet/>
      <dgm:spPr/>
      <dgm:t>
        <a:bodyPr/>
        <a:lstStyle/>
        <a:p>
          <a:r>
            <a:rPr lang="en-US"/>
            <a:t>Engage in more helpful behavior</a:t>
          </a:r>
        </a:p>
      </dgm:t>
    </dgm:pt>
    <dgm:pt modelId="{FE4F803E-2752-454C-A99B-EC7056CD2910}" type="parTrans" cxnId="{700F753C-047E-493A-9FF8-861882A045F5}">
      <dgm:prSet/>
      <dgm:spPr/>
      <dgm:t>
        <a:bodyPr/>
        <a:lstStyle/>
        <a:p>
          <a:endParaRPr lang="en-US"/>
        </a:p>
      </dgm:t>
    </dgm:pt>
    <dgm:pt modelId="{36EEE655-7CE6-4E8D-BF90-9F2F3B0C3D55}" type="sibTrans" cxnId="{700F753C-047E-493A-9FF8-861882A045F5}">
      <dgm:prSet/>
      <dgm:spPr/>
      <dgm:t>
        <a:bodyPr/>
        <a:lstStyle/>
        <a:p>
          <a:endParaRPr lang="en-US"/>
        </a:p>
      </dgm:t>
    </dgm:pt>
    <dgm:pt modelId="{214C7AE2-0B22-4F7A-9A99-C7787B12FC8C}" type="pres">
      <dgm:prSet presAssocID="{396D4DD4-0A23-4F59-95B7-9DCABD999838}" presName="root" presStyleCnt="0">
        <dgm:presLayoutVars>
          <dgm:dir/>
          <dgm:resizeHandles val="exact"/>
        </dgm:presLayoutVars>
      </dgm:prSet>
      <dgm:spPr/>
    </dgm:pt>
    <dgm:pt modelId="{C3DD83E7-4B52-4F0A-86CB-2CC2D39227B6}" type="pres">
      <dgm:prSet presAssocID="{75880445-5522-4146-940F-B8468F5B688E}" presName="compNode" presStyleCnt="0"/>
      <dgm:spPr/>
    </dgm:pt>
    <dgm:pt modelId="{612191EE-EB36-425D-A494-27627169B51D}" type="pres">
      <dgm:prSet presAssocID="{75880445-5522-4146-940F-B8468F5B688E}" presName="bgRect" presStyleLbl="bgShp" presStyleIdx="0" presStyleCnt="4"/>
      <dgm:spPr/>
    </dgm:pt>
    <dgm:pt modelId="{104EFCD8-F98E-4B4A-A6F6-D920D14D5640}" type="pres">
      <dgm:prSet presAssocID="{75880445-5522-4146-940F-B8468F5B688E}"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nce"/>
        </a:ext>
      </dgm:extLst>
    </dgm:pt>
    <dgm:pt modelId="{1D65FB4A-3ECE-4ED2-86D2-3C9B54C8D719}" type="pres">
      <dgm:prSet presAssocID="{75880445-5522-4146-940F-B8468F5B688E}" presName="spaceRect" presStyleCnt="0"/>
      <dgm:spPr/>
    </dgm:pt>
    <dgm:pt modelId="{8729B827-EC2D-46C9-9843-E23B8CA3824F}" type="pres">
      <dgm:prSet presAssocID="{75880445-5522-4146-940F-B8468F5B688E}" presName="parTx" presStyleLbl="revTx" presStyleIdx="0" presStyleCnt="6">
        <dgm:presLayoutVars>
          <dgm:chMax val="0"/>
          <dgm:chPref val="0"/>
        </dgm:presLayoutVars>
      </dgm:prSet>
      <dgm:spPr/>
    </dgm:pt>
    <dgm:pt modelId="{2C717750-6353-4FC5-A35A-D94948EB9F4C}" type="pres">
      <dgm:prSet presAssocID="{75880445-5522-4146-940F-B8468F5B688E}" presName="desTx" presStyleLbl="revTx" presStyleIdx="1" presStyleCnt="6">
        <dgm:presLayoutVars/>
      </dgm:prSet>
      <dgm:spPr/>
    </dgm:pt>
    <dgm:pt modelId="{497C5C1A-4D39-4925-9A6C-902C13EBC042}" type="pres">
      <dgm:prSet presAssocID="{4550FFBD-6D35-404A-A51F-5098F7204DAC}" presName="sibTrans" presStyleCnt="0"/>
      <dgm:spPr/>
    </dgm:pt>
    <dgm:pt modelId="{9FA30F9C-93E8-4AD0-A15D-05202F1D04BD}" type="pres">
      <dgm:prSet presAssocID="{0C466AD3-1FAB-4103-AD9B-1E9E742BDB7B}" presName="compNode" presStyleCnt="0"/>
      <dgm:spPr/>
    </dgm:pt>
    <dgm:pt modelId="{25F964A1-13C3-495F-ABED-C90765294ED0}" type="pres">
      <dgm:prSet presAssocID="{0C466AD3-1FAB-4103-AD9B-1E9E742BDB7B}" presName="bgRect" presStyleLbl="bgShp" presStyleIdx="1" presStyleCnt="4"/>
      <dgm:spPr/>
    </dgm:pt>
    <dgm:pt modelId="{B51D978B-EDCD-4250-8F77-5524CB8FE0C3}" type="pres">
      <dgm:prSet presAssocID="{0C466AD3-1FAB-4103-AD9B-1E9E742BDB7B}"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rain in head"/>
        </a:ext>
      </dgm:extLst>
    </dgm:pt>
    <dgm:pt modelId="{65F06F63-D42C-4DA9-ABF1-B28932639459}" type="pres">
      <dgm:prSet presAssocID="{0C466AD3-1FAB-4103-AD9B-1E9E742BDB7B}" presName="spaceRect" presStyleCnt="0"/>
      <dgm:spPr/>
    </dgm:pt>
    <dgm:pt modelId="{8D26E6F1-7BF5-4F7C-9EB3-B9991C12FF79}" type="pres">
      <dgm:prSet presAssocID="{0C466AD3-1FAB-4103-AD9B-1E9E742BDB7B}" presName="parTx" presStyleLbl="revTx" presStyleIdx="2" presStyleCnt="6">
        <dgm:presLayoutVars>
          <dgm:chMax val="0"/>
          <dgm:chPref val="0"/>
        </dgm:presLayoutVars>
      </dgm:prSet>
      <dgm:spPr/>
    </dgm:pt>
    <dgm:pt modelId="{63593EA4-DC5D-42B4-96F7-C06B49585113}" type="pres">
      <dgm:prSet presAssocID="{0C466AD3-1FAB-4103-AD9B-1E9E742BDB7B}" presName="desTx" presStyleLbl="revTx" presStyleIdx="3" presStyleCnt="6">
        <dgm:presLayoutVars/>
      </dgm:prSet>
      <dgm:spPr/>
    </dgm:pt>
    <dgm:pt modelId="{649FE236-F7FC-4F85-B691-E58C0998914C}" type="pres">
      <dgm:prSet presAssocID="{1AFA690B-E33B-4670-9917-C8F83AEF8ADD}" presName="sibTrans" presStyleCnt="0"/>
      <dgm:spPr/>
    </dgm:pt>
    <dgm:pt modelId="{E6315F9F-4E94-4C5E-A18D-D8D4750E5FDF}" type="pres">
      <dgm:prSet presAssocID="{E578C175-D2CD-4BDF-9CA3-995816BBE231}" presName="compNode" presStyleCnt="0"/>
      <dgm:spPr/>
    </dgm:pt>
    <dgm:pt modelId="{0736A2E4-1430-49EE-8170-0152AD3EE04E}" type="pres">
      <dgm:prSet presAssocID="{E578C175-D2CD-4BDF-9CA3-995816BBE231}" presName="bgRect" presStyleLbl="bgShp" presStyleIdx="2" presStyleCnt="4"/>
      <dgm:spPr/>
    </dgm:pt>
    <dgm:pt modelId="{64A47095-378E-4261-8C1A-2550D2114307}" type="pres">
      <dgm:prSet presAssocID="{E578C175-D2CD-4BDF-9CA3-995816BBE231}"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ocial Network"/>
        </a:ext>
      </dgm:extLst>
    </dgm:pt>
    <dgm:pt modelId="{D55F71D5-51FD-400B-8925-04E0F5AD3AC8}" type="pres">
      <dgm:prSet presAssocID="{E578C175-D2CD-4BDF-9CA3-995816BBE231}" presName="spaceRect" presStyleCnt="0"/>
      <dgm:spPr/>
    </dgm:pt>
    <dgm:pt modelId="{DCE5166F-A47F-45C8-8E20-2B4279C87044}" type="pres">
      <dgm:prSet presAssocID="{E578C175-D2CD-4BDF-9CA3-995816BBE231}" presName="parTx" presStyleLbl="revTx" presStyleIdx="4" presStyleCnt="6">
        <dgm:presLayoutVars>
          <dgm:chMax val="0"/>
          <dgm:chPref val="0"/>
        </dgm:presLayoutVars>
      </dgm:prSet>
      <dgm:spPr/>
    </dgm:pt>
    <dgm:pt modelId="{A6E16A8E-2288-4F03-8486-F430F2144381}" type="pres">
      <dgm:prSet presAssocID="{9C3AF015-8861-4434-9531-1A0928AC8318}" presName="sibTrans" presStyleCnt="0"/>
      <dgm:spPr/>
    </dgm:pt>
    <dgm:pt modelId="{77BCA439-B08F-4719-933C-8F2F454EE230}" type="pres">
      <dgm:prSet presAssocID="{7F59C29F-D919-4A37-BA10-D3CC08B3D428}" presName="compNode" presStyleCnt="0"/>
      <dgm:spPr/>
    </dgm:pt>
    <dgm:pt modelId="{2914F8BB-C337-48FC-AD95-84620AF649C6}" type="pres">
      <dgm:prSet presAssocID="{7F59C29F-D919-4A37-BA10-D3CC08B3D428}" presName="bgRect" presStyleLbl="bgShp" presStyleIdx="3" presStyleCnt="4"/>
      <dgm:spPr/>
    </dgm:pt>
    <dgm:pt modelId="{6053779E-D168-4633-B064-49EC673A8223}" type="pres">
      <dgm:prSet presAssocID="{7F59C29F-D919-4A37-BA10-D3CC08B3D428}"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miling Face with No Fill"/>
        </a:ext>
      </dgm:extLst>
    </dgm:pt>
    <dgm:pt modelId="{08BA054E-6D20-4E4C-87A8-8D987B490B02}" type="pres">
      <dgm:prSet presAssocID="{7F59C29F-D919-4A37-BA10-D3CC08B3D428}" presName="spaceRect" presStyleCnt="0"/>
      <dgm:spPr/>
    </dgm:pt>
    <dgm:pt modelId="{8379A752-AD07-4C8F-8678-E8609B5BDC7D}" type="pres">
      <dgm:prSet presAssocID="{7F59C29F-D919-4A37-BA10-D3CC08B3D428}" presName="parTx" presStyleLbl="revTx" presStyleIdx="5" presStyleCnt="6">
        <dgm:presLayoutVars>
          <dgm:chMax val="0"/>
          <dgm:chPref val="0"/>
        </dgm:presLayoutVars>
      </dgm:prSet>
      <dgm:spPr/>
    </dgm:pt>
  </dgm:ptLst>
  <dgm:cxnLst>
    <dgm:cxn modelId="{E479A600-7989-42D5-8818-FA8CFCE29623}" srcId="{396D4DD4-0A23-4F59-95B7-9DCABD999838}" destId="{0C466AD3-1FAB-4103-AD9B-1E9E742BDB7B}" srcOrd="1" destOrd="0" parTransId="{4F643628-E041-49EC-94A5-856D2D05E352}" sibTransId="{1AFA690B-E33B-4670-9917-C8F83AEF8ADD}"/>
    <dgm:cxn modelId="{FC8C840F-9A69-44A7-B469-C3AFCE80AC70}" type="presOf" srcId="{0C466AD3-1FAB-4103-AD9B-1E9E742BDB7B}" destId="{8D26E6F1-7BF5-4F7C-9EB3-B9991C12FF79}" srcOrd="0" destOrd="0" presId="urn:microsoft.com/office/officeart/2018/2/layout/IconVerticalSolidList"/>
    <dgm:cxn modelId="{700F753C-047E-493A-9FF8-861882A045F5}" srcId="{396D4DD4-0A23-4F59-95B7-9DCABD999838}" destId="{7F59C29F-D919-4A37-BA10-D3CC08B3D428}" srcOrd="3" destOrd="0" parTransId="{FE4F803E-2752-454C-A99B-EC7056CD2910}" sibTransId="{36EEE655-7CE6-4E8D-BF90-9F2F3B0C3D55}"/>
    <dgm:cxn modelId="{46CD5B3D-90C6-41CE-90B9-3CA2D32E00DA}" type="presOf" srcId="{E578C175-D2CD-4BDF-9CA3-995816BBE231}" destId="{DCE5166F-A47F-45C8-8E20-2B4279C87044}" srcOrd="0" destOrd="0" presId="urn:microsoft.com/office/officeart/2018/2/layout/IconVerticalSolidList"/>
    <dgm:cxn modelId="{7559B66E-19FE-434C-ABB4-05E8ED20D5A8}" type="presOf" srcId="{75880445-5522-4146-940F-B8468F5B688E}" destId="{8729B827-EC2D-46C9-9843-E23B8CA3824F}" srcOrd="0" destOrd="0" presId="urn:microsoft.com/office/officeart/2018/2/layout/IconVerticalSolidList"/>
    <dgm:cxn modelId="{C33B7E83-FC12-41F9-A631-369444D8DC55}" type="presOf" srcId="{7F59C29F-D919-4A37-BA10-D3CC08B3D428}" destId="{8379A752-AD07-4C8F-8678-E8609B5BDC7D}" srcOrd="0" destOrd="0" presId="urn:microsoft.com/office/officeart/2018/2/layout/IconVerticalSolidList"/>
    <dgm:cxn modelId="{914C3488-B73F-4915-9E77-B731C1B580FF}" srcId="{396D4DD4-0A23-4F59-95B7-9DCABD999838}" destId="{E578C175-D2CD-4BDF-9CA3-995816BBE231}" srcOrd="2" destOrd="0" parTransId="{716776AA-C94C-406D-8C3A-41041AC8D675}" sibTransId="{9C3AF015-8861-4434-9531-1A0928AC8318}"/>
    <dgm:cxn modelId="{0F5ECAB7-0F45-4C7F-A75E-B1901C91A2F3}" srcId="{396D4DD4-0A23-4F59-95B7-9DCABD999838}" destId="{75880445-5522-4146-940F-B8468F5B688E}" srcOrd="0" destOrd="0" parTransId="{CD43ECB0-E3BE-4CB6-BD90-BC4A8BD45571}" sibTransId="{4550FFBD-6D35-404A-A51F-5098F7204DAC}"/>
    <dgm:cxn modelId="{A3DC8AC7-1134-495F-9EC8-FAFD3DC645A6}" srcId="{0C466AD3-1FAB-4103-AD9B-1E9E742BDB7B}" destId="{6627DC8C-F125-41B5-ADF5-3A900453AD75}" srcOrd="0" destOrd="0" parTransId="{CF55F767-A101-4998-9A9E-A8B67DD6856D}" sibTransId="{BEA4EE4F-5D01-4ECF-B827-421A633CB25B}"/>
    <dgm:cxn modelId="{2B2320D8-1D51-47F1-9474-172FB428797F}" type="presOf" srcId="{8B6FFDAC-EE41-4E89-8299-215C71A2A228}" destId="{2C717750-6353-4FC5-A35A-D94948EB9F4C}" srcOrd="0" destOrd="0" presId="urn:microsoft.com/office/officeart/2018/2/layout/IconVerticalSolidList"/>
    <dgm:cxn modelId="{BBB720DA-F7CD-4185-A2DF-27D78C62E5AC}" type="presOf" srcId="{396D4DD4-0A23-4F59-95B7-9DCABD999838}" destId="{214C7AE2-0B22-4F7A-9A99-C7787B12FC8C}" srcOrd="0" destOrd="0" presId="urn:microsoft.com/office/officeart/2018/2/layout/IconVerticalSolidList"/>
    <dgm:cxn modelId="{98F4A9DD-6D8F-46CB-BA1A-A47B8AF918EC}" srcId="{75880445-5522-4146-940F-B8468F5B688E}" destId="{8B6FFDAC-EE41-4E89-8299-215C71A2A228}" srcOrd="0" destOrd="0" parTransId="{0EEB70E9-49E7-4938-B5DD-1CA182EB00E3}" sibTransId="{7131A18A-0B43-4BBD-9908-6D039BA9529A}"/>
    <dgm:cxn modelId="{E101D1EC-8EE3-4628-82C4-E3424D084EB0}" type="presOf" srcId="{6627DC8C-F125-41B5-ADF5-3A900453AD75}" destId="{63593EA4-DC5D-42B4-96F7-C06B49585113}" srcOrd="0" destOrd="0" presId="urn:microsoft.com/office/officeart/2018/2/layout/IconVerticalSolidList"/>
    <dgm:cxn modelId="{4206337F-EDA6-4BA0-8D33-324317E0E85B}" type="presParOf" srcId="{214C7AE2-0B22-4F7A-9A99-C7787B12FC8C}" destId="{C3DD83E7-4B52-4F0A-86CB-2CC2D39227B6}" srcOrd="0" destOrd="0" presId="urn:microsoft.com/office/officeart/2018/2/layout/IconVerticalSolidList"/>
    <dgm:cxn modelId="{EBF9CE26-E51B-4166-84A3-A91C2533049A}" type="presParOf" srcId="{C3DD83E7-4B52-4F0A-86CB-2CC2D39227B6}" destId="{612191EE-EB36-425D-A494-27627169B51D}" srcOrd="0" destOrd="0" presId="urn:microsoft.com/office/officeart/2018/2/layout/IconVerticalSolidList"/>
    <dgm:cxn modelId="{BC43C110-68A9-43B5-A908-58532D12ED98}" type="presParOf" srcId="{C3DD83E7-4B52-4F0A-86CB-2CC2D39227B6}" destId="{104EFCD8-F98E-4B4A-A6F6-D920D14D5640}" srcOrd="1" destOrd="0" presId="urn:microsoft.com/office/officeart/2018/2/layout/IconVerticalSolidList"/>
    <dgm:cxn modelId="{3F82E976-054B-49D6-AEFA-218F6533CBC5}" type="presParOf" srcId="{C3DD83E7-4B52-4F0A-86CB-2CC2D39227B6}" destId="{1D65FB4A-3ECE-4ED2-86D2-3C9B54C8D719}" srcOrd="2" destOrd="0" presId="urn:microsoft.com/office/officeart/2018/2/layout/IconVerticalSolidList"/>
    <dgm:cxn modelId="{0158EC07-2F7F-463B-9A1B-CDE03A308749}" type="presParOf" srcId="{C3DD83E7-4B52-4F0A-86CB-2CC2D39227B6}" destId="{8729B827-EC2D-46C9-9843-E23B8CA3824F}" srcOrd="3" destOrd="0" presId="urn:microsoft.com/office/officeart/2018/2/layout/IconVerticalSolidList"/>
    <dgm:cxn modelId="{338E6D8F-C409-49B1-9E23-50AA6E005CB6}" type="presParOf" srcId="{C3DD83E7-4B52-4F0A-86CB-2CC2D39227B6}" destId="{2C717750-6353-4FC5-A35A-D94948EB9F4C}" srcOrd="4" destOrd="0" presId="urn:microsoft.com/office/officeart/2018/2/layout/IconVerticalSolidList"/>
    <dgm:cxn modelId="{FF4D1D2C-4A87-4BDA-84CF-E3DB44CB472E}" type="presParOf" srcId="{214C7AE2-0B22-4F7A-9A99-C7787B12FC8C}" destId="{497C5C1A-4D39-4925-9A6C-902C13EBC042}" srcOrd="1" destOrd="0" presId="urn:microsoft.com/office/officeart/2018/2/layout/IconVerticalSolidList"/>
    <dgm:cxn modelId="{03D1EF71-C2E4-429D-AB6C-E0344AF85BC9}" type="presParOf" srcId="{214C7AE2-0B22-4F7A-9A99-C7787B12FC8C}" destId="{9FA30F9C-93E8-4AD0-A15D-05202F1D04BD}" srcOrd="2" destOrd="0" presId="urn:microsoft.com/office/officeart/2018/2/layout/IconVerticalSolidList"/>
    <dgm:cxn modelId="{C5339168-160F-4E38-9685-296829C672CB}" type="presParOf" srcId="{9FA30F9C-93E8-4AD0-A15D-05202F1D04BD}" destId="{25F964A1-13C3-495F-ABED-C90765294ED0}" srcOrd="0" destOrd="0" presId="urn:microsoft.com/office/officeart/2018/2/layout/IconVerticalSolidList"/>
    <dgm:cxn modelId="{F25EF96E-C369-4E3A-BCBD-2B60023BCA31}" type="presParOf" srcId="{9FA30F9C-93E8-4AD0-A15D-05202F1D04BD}" destId="{B51D978B-EDCD-4250-8F77-5524CB8FE0C3}" srcOrd="1" destOrd="0" presId="urn:microsoft.com/office/officeart/2018/2/layout/IconVerticalSolidList"/>
    <dgm:cxn modelId="{A23CCA6F-50AA-40AB-811F-0513CC3ACD5E}" type="presParOf" srcId="{9FA30F9C-93E8-4AD0-A15D-05202F1D04BD}" destId="{65F06F63-D42C-4DA9-ABF1-B28932639459}" srcOrd="2" destOrd="0" presId="urn:microsoft.com/office/officeart/2018/2/layout/IconVerticalSolidList"/>
    <dgm:cxn modelId="{534DEFE1-DD09-436B-808A-C664829F48E9}" type="presParOf" srcId="{9FA30F9C-93E8-4AD0-A15D-05202F1D04BD}" destId="{8D26E6F1-7BF5-4F7C-9EB3-B9991C12FF79}" srcOrd="3" destOrd="0" presId="urn:microsoft.com/office/officeart/2018/2/layout/IconVerticalSolidList"/>
    <dgm:cxn modelId="{0E2AE9FE-BC8D-4559-98DF-8762576E8148}" type="presParOf" srcId="{9FA30F9C-93E8-4AD0-A15D-05202F1D04BD}" destId="{63593EA4-DC5D-42B4-96F7-C06B49585113}" srcOrd="4" destOrd="0" presId="urn:microsoft.com/office/officeart/2018/2/layout/IconVerticalSolidList"/>
    <dgm:cxn modelId="{2F04272D-A7E0-4D16-BF8A-7227A2C94178}" type="presParOf" srcId="{214C7AE2-0B22-4F7A-9A99-C7787B12FC8C}" destId="{649FE236-F7FC-4F85-B691-E58C0998914C}" srcOrd="3" destOrd="0" presId="urn:microsoft.com/office/officeart/2018/2/layout/IconVerticalSolidList"/>
    <dgm:cxn modelId="{97530339-6F6F-42F8-9380-83508540EF1C}" type="presParOf" srcId="{214C7AE2-0B22-4F7A-9A99-C7787B12FC8C}" destId="{E6315F9F-4E94-4C5E-A18D-D8D4750E5FDF}" srcOrd="4" destOrd="0" presId="urn:microsoft.com/office/officeart/2018/2/layout/IconVerticalSolidList"/>
    <dgm:cxn modelId="{572323D3-4404-4D46-B434-AC0A6AFAC659}" type="presParOf" srcId="{E6315F9F-4E94-4C5E-A18D-D8D4750E5FDF}" destId="{0736A2E4-1430-49EE-8170-0152AD3EE04E}" srcOrd="0" destOrd="0" presId="urn:microsoft.com/office/officeart/2018/2/layout/IconVerticalSolidList"/>
    <dgm:cxn modelId="{1F510074-E054-43D0-98C1-12AF749DDD58}" type="presParOf" srcId="{E6315F9F-4E94-4C5E-A18D-D8D4750E5FDF}" destId="{64A47095-378E-4261-8C1A-2550D2114307}" srcOrd="1" destOrd="0" presId="urn:microsoft.com/office/officeart/2018/2/layout/IconVerticalSolidList"/>
    <dgm:cxn modelId="{F188F200-950D-4153-BBC8-E810DDB38FDC}" type="presParOf" srcId="{E6315F9F-4E94-4C5E-A18D-D8D4750E5FDF}" destId="{D55F71D5-51FD-400B-8925-04E0F5AD3AC8}" srcOrd="2" destOrd="0" presId="urn:microsoft.com/office/officeart/2018/2/layout/IconVerticalSolidList"/>
    <dgm:cxn modelId="{CEBB9BBF-D374-4394-9F2A-E277E4FB58AA}" type="presParOf" srcId="{E6315F9F-4E94-4C5E-A18D-D8D4750E5FDF}" destId="{DCE5166F-A47F-45C8-8E20-2B4279C87044}" srcOrd="3" destOrd="0" presId="urn:microsoft.com/office/officeart/2018/2/layout/IconVerticalSolidList"/>
    <dgm:cxn modelId="{34C8AB88-4C8C-451B-A1C9-8BEBD7E9B843}" type="presParOf" srcId="{214C7AE2-0B22-4F7A-9A99-C7787B12FC8C}" destId="{A6E16A8E-2288-4F03-8486-F430F2144381}" srcOrd="5" destOrd="0" presId="urn:microsoft.com/office/officeart/2018/2/layout/IconVerticalSolidList"/>
    <dgm:cxn modelId="{CADD2AF1-C0BE-49E9-B51B-A0617CCED2F6}" type="presParOf" srcId="{214C7AE2-0B22-4F7A-9A99-C7787B12FC8C}" destId="{77BCA439-B08F-4719-933C-8F2F454EE230}" srcOrd="6" destOrd="0" presId="urn:microsoft.com/office/officeart/2018/2/layout/IconVerticalSolidList"/>
    <dgm:cxn modelId="{49A42161-8A51-4873-A62D-83749FB4C8C5}" type="presParOf" srcId="{77BCA439-B08F-4719-933C-8F2F454EE230}" destId="{2914F8BB-C337-48FC-AD95-84620AF649C6}" srcOrd="0" destOrd="0" presId="urn:microsoft.com/office/officeart/2018/2/layout/IconVerticalSolidList"/>
    <dgm:cxn modelId="{6BFAC826-2148-415D-8602-451BCDA5D09F}" type="presParOf" srcId="{77BCA439-B08F-4719-933C-8F2F454EE230}" destId="{6053779E-D168-4633-B064-49EC673A8223}" srcOrd="1" destOrd="0" presId="urn:microsoft.com/office/officeart/2018/2/layout/IconVerticalSolidList"/>
    <dgm:cxn modelId="{66F6D99A-3504-459A-B627-D110F040AEBB}" type="presParOf" srcId="{77BCA439-B08F-4719-933C-8F2F454EE230}" destId="{08BA054E-6D20-4E4C-87A8-8D987B490B02}" srcOrd="2" destOrd="0" presId="urn:microsoft.com/office/officeart/2018/2/layout/IconVerticalSolidList"/>
    <dgm:cxn modelId="{D52143DD-E752-439E-A21A-C4B9A95FB629}" type="presParOf" srcId="{77BCA439-B08F-4719-933C-8F2F454EE230}" destId="{8379A752-AD07-4C8F-8678-E8609B5BDC7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DB9900D-037A-4FE6-91BD-880ED7DB8402}"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10EB6759-1264-4806-96A2-3EB6A1E5254E}">
      <dgm:prSet/>
      <dgm:spPr/>
      <dgm:t>
        <a:bodyPr/>
        <a:lstStyle/>
        <a:p>
          <a:r>
            <a:rPr lang="en-US"/>
            <a:t>Frequency of positive emotions more important than the intensity, because bursts (e.g., motivational seminar) are short lived, so need more frequent</a:t>
          </a:r>
        </a:p>
      </dgm:t>
    </dgm:pt>
    <dgm:pt modelId="{EA4B017F-3FF0-4C60-A376-426E3AB4E297}" type="parTrans" cxnId="{1343DA4F-9646-4DD7-990F-0FCE0F1D437E}">
      <dgm:prSet/>
      <dgm:spPr/>
      <dgm:t>
        <a:bodyPr/>
        <a:lstStyle/>
        <a:p>
          <a:endParaRPr lang="en-US"/>
        </a:p>
      </dgm:t>
    </dgm:pt>
    <dgm:pt modelId="{0930347C-83FA-4432-9F1C-7172EB6B04CE}" type="sibTrans" cxnId="{1343DA4F-9646-4DD7-990F-0FCE0F1D437E}">
      <dgm:prSet/>
      <dgm:spPr/>
      <dgm:t>
        <a:bodyPr/>
        <a:lstStyle/>
        <a:p>
          <a:endParaRPr lang="en-US"/>
        </a:p>
      </dgm:t>
    </dgm:pt>
    <dgm:pt modelId="{F43BC7D4-4A40-40B1-9445-F4A99AFAC11F}">
      <dgm:prSet/>
      <dgm:spPr/>
      <dgm:t>
        <a:bodyPr/>
        <a:lstStyle/>
        <a:p>
          <a:r>
            <a:rPr lang="en-US"/>
            <a:t>Create work environments that induce positive emotions more consistently</a:t>
          </a:r>
        </a:p>
      </dgm:t>
    </dgm:pt>
    <dgm:pt modelId="{752A280F-F1E4-4DCC-BAF5-37EE8D1775D4}" type="parTrans" cxnId="{338042AA-C604-4CFB-B68A-D96125B4EACD}">
      <dgm:prSet/>
      <dgm:spPr/>
      <dgm:t>
        <a:bodyPr/>
        <a:lstStyle/>
        <a:p>
          <a:endParaRPr lang="en-US"/>
        </a:p>
      </dgm:t>
    </dgm:pt>
    <dgm:pt modelId="{36C8F5B2-6002-4CA9-9B5D-855B645A9A59}" type="sibTrans" cxnId="{338042AA-C604-4CFB-B68A-D96125B4EACD}">
      <dgm:prSet/>
      <dgm:spPr/>
      <dgm:t>
        <a:bodyPr/>
        <a:lstStyle/>
        <a:p>
          <a:endParaRPr lang="en-US"/>
        </a:p>
      </dgm:t>
    </dgm:pt>
    <dgm:pt modelId="{34245045-60F9-4BA4-B5EA-BD642953F135}" type="pres">
      <dgm:prSet presAssocID="{CDB9900D-037A-4FE6-91BD-880ED7DB8402}" presName="linear" presStyleCnt="0">
        <dgm:presLayoutVars>
          <dgm:animLvl val="lvl"/>
          <dgm:resizeHandles val="exact"/>
        </dgm:presLayoutVars>
      </dgm:prSet>
      <dgm:spPr/>
    </dgm:pt>
    <dgm:pt modelId="{DFF17B03-1D67-4CB2-8214-21AC90061024}" type="pres">
      <dgm:prSet presAssocID="{10EB6759-1264-4806-96A2-3EB6A1E5254E}" presName="parentText" presStyleLbl="node1" presStyleIdx="0" presStyleCnt="2">
        <dgm:presLayoutVars>
          <dgm:chMax val="0"/>
          <dgm:bulletEnabled val="1"/>
        </dgm:presLayoutVars>
      </dgm:prSet>
      <dgm:spPr/>
    </dgm:pt>
    <dgm:pt modelId="{5A7FD1EA-983E-48B0-A937-605A3BC26C6C}" type="pres">
      <dgm:prSet presAssocID="{0930347C-83FA-4432-9F1C-7172EB6B04CE}" presName="spacer" presStyleCnt="0"/>
      <dgm:spPr/>
    </dgm:pt>
    <dgm:pt modelId="{DEACCFB7-15CC-4B3F-A56A-C5ABC428AEFB}" type="pres">
      <dgm:prSet presAssocID="{F43BC7D4-4A40-40B1-9445-F4A99AFAC11F}" presName="parentText" presStyleLbl="node1" presStyleIdx="1" presStyleCnt="2">
        <dgm:presLayoutVars>
          <dgm:chMax val="0"/>
          <dgm:bulletEnabled val="1"/>
        </dgm:presLayoutVars>
      </dgm:prSet>
      <dgm:spPr/>
    </dgm:pt>
  </dgm:ptLst>
  <dgm:cxnLst>
    <dgm:cxn modelId="{84EE3869-C236-44FA-9CEA-1D4357750A3E}" type="presOf" srcId="{F43BC7D4-4A40-40B1-9445-F4A99AFAC11F}" destId="{DEACCFB7-15CC-4B3F-A56A-C5ABC428AEFB}" srcOrd="0" destOrd="0" presId="urn:microsoft.com/office/officeart/2005/8/layout/vList2"/>
    <dgm:cxn modelId="{1343DA4F-9646-4DD7-990F-0FCE0F1D437E}" srcId="{CDB9900D-037A-4FE6-91BD-880ED7DB8402}" destId="{10EB6759-1264-4806-96A2-3EB6A1E5254E}" srcOrd="0" destOrd="0" parTransId="{EA4B017F-3FF0-4C60-A376-426E3AB4E297}" sibTransId="{0930347C-83FA-4432-9F1C-7172EB6B04CE}"/>
    <dgm:cxn modelId="{60712A5A-293C-432A-9582-E80A6CD3E359}" type="presOf" srcId="{10EB6759-1264-4806-96A2-3EB6A1E5254E}" destId="{DFF17B03-1D67-4CB2-8214-21AC90061024}" srcOrd="0" destOrd="0" presId="urn:microsoft.com/office/officeart/2005/8/layout/vList2"/>
    <dgm:cxn modelId="{338042AA-C604-4CFB-B68A-D96125B4EACD}" srcId="{CDB9900D-037A-4FE6-91BD-880ED7DB8402}" destId="{F43BC7D4-4A40-40B1-9445-F4A99AFAC11F}" srcOrd="1" destOrd="0" parTransId="{752A280F-F1E4-4DCC-BAF5-37EE8D1775D4}" sibTransId="{36C8F5B2-6002-4CA9-9B5D-855B645A9A59}"/>
    <dgm:cxn modelId="{ED0036BB-6181-4BCF-9BC2-CD26997D84BA}" type="presOf" srcId="{CDB9900D-037A-4FE6-91BD-880ED7DB8402}" destId="{34245045-60F9-4BA4-B5EA-BD642953F135}" srcOrd="0" destOrd="0" presId="urn:microsoft.com/office/officeart/2005/8/layout/vList2"/>
    <dgm:cxn modelId="{CFD6B8E1-6D4E-4F8C-BEC4-44DDAB68E666}" type="presParOf" srcId="{34245045-60F9-4BA4-B5EA-BD642953F135}" destId="{DFF17B03-1D67-4CB2-8214-21AC90061024}" srcOrd="0" destOrd="0" presId="urn:microsoft.com/office/officeart/2005/8/layout/vList2"/>
    <dgm:cxn modelId="{DF26881A-BAF0-4DAD-BAEE-6A219F3E575C}" type="presParOf" srcId="{34245045-60F9-4BA4-B5EA-BD642953F135}" destId="{5A7FD1EA-983E-48B0-A937-605A3BC26C6C}" srcOrd="1" destOrd="0" presId="urn:microsoft.com/office/officeart/2005/8/layout/vList2"/>
    <dgm:cxn modelId="{91F1E6D6-7429-4E0E-BC17-D47EE536273F}" type="presParOf" srcId="{34245045-60F9-4BA4-B5EA-BD642953F135}" destId="{DEACCFB7-15CC-4B3F-A56A-C5ABC428AEFB}"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62980E4-4498-4602-86EE-6A118FF30608}" type="doc">
      <dgm:prSet loTypeId="urn:microsoft.com/office/officeart/2018/2/layout/IconLabelDescriptionList" loCatId="icon" qsTypeId="urn:microsoft.com/office/officeart/2005/8/quickstyle/simple1" qsCatId="simple" csTypeId="urn:microsoft.com/office/officeart/2018/5/colors/Iconchunking_neutralbg_accent1_2" csCatId="accent1" phldr="1"/>
      <dgm:spPr/>
      <dgm:t>
        <a:bodyPr/>
        <a:lstStyle/>
        <a:p>
          <a:endParaRPr lang="en-US"/>
        </a:p>
      </dgm:t>
    </dgm:pt>
    <dgm:pt modelId="{807E7DBA-698D-4521-BB1F-60557C35211B}">
      <dgm:prSet custT="1"/>
      <dgm:spPr/>
      <dgm:t>
        <a:bodyPr/>
        <a:lstStyle/>
        <a:p>
          <a:pPr>
            <a:defRPr b="1"/>
          </a:pPr>
          <a:r>
            <a:rPr lang="en-US" sz="2000" dirty="0"/>
            <a:t>Strong correlation between happiness and employment success</a:t>
          </a:r>
        </a:p>
      </dgm:t>
    </dgm:pt>
    <dgm:pt modelId="{B52E4464-BA83-4589-AE0A-65FD544735EC}" type="parTrans" cxnId="{A9381DAA-25EA-44B3-8A90-084457D314AE}">
      <dgm:prSet/>
      <dgm:spPr/>
      <dgm:t>
        <a:bodyPr/>
        <a:lstStyle/>
        <a:p>
          <a:endParaRPr lang="en-US"/>
        </a:p>
      </dgm:t>
    </dgm:pt>
    <dgm:pt modelId="{11073F2A-691D-49C0-8927-B7447E478E36}" type="sibTrans" cxnId="{A9381DAA-25EA-44B3-8A90-084457D314AE}">
      <dgm:prSet/>
      <dgm:spPr/>
      <dgm:t>
        <a:bodyPr/>
        <a:lstStyle/>
        <a:p>
          <a:endParaRPr lang="en-US"/>
        </a:p>
      </dgm:t>
    </dgm:pt>
    <dgm:pt modelId="{A70287D0-652F-4EC2-B69A-A24F7130A197}">
      <dgm:prSet/>
      <dgm:spPr/>
      <dgm:t>
        <a:bodyPr/>
        <a:lstStyle/>
        <a:p>
          <a:pPr>
            <a:defRPr b="1"/>
          </a:pPr>
          <a:r>
            <a:rPr lang="en-US"/>
            <a:t>Happier people:</a:t>
          </a:r>
        </a:p>
      </dgm:t>
    </dgm:pt>
    <dgm:pt modelId="{D07E3A7B-09BE-4D73-B085-997EC4907364}" type="parTrans" cxnId="{D7594A4A-CC9D-41E3-AD3B-88BA7693432A}">
      <dgm:prSet/>
      <dgm:spPr/>
      <dgm:t>
        <a:bodyPr/>
        <a:lstStyle/>
        <a:p>
          <a:endParaRPr lang="en-US"/>
        </a:p>
      </dgm:t>
    </dgm:pt>
    <dgm:pt modelId="{5C333CC9-14CC-427D-8EC3-1D811395B37B}" type="sibTrans" cxnId="{D7594A4A-CC9D-41E3-AD3B-88BA7693432A}">
      <dgm:prSet/>
      <dgm:spPr/>
      <dgm:t>
        <a:bodyPr/>
        <a:lstStyle/>
        <a:p>
          <a:endParaRPr lang="en-US"/>
        </a:p>
      </dgm:t>
    </dgm:pt>
    <dgm:pt modelId="{23B8AF5D-6BF1-403F-A478-012523034C8F}">
      <dgm:prSet custT="1"/>
      <dgm:spPr/>
      <dgm:t>
        <a:bodyPr/>
        <a:lstStyle/>
        <a:p>
          <a:r>
            <a:rPr lang="en-US" sz="2000" dirty="0"/>
            <a:t>Higher job satisfaction</a:t>
          </a:r>
        </a:p>
      </dgm:t>
    </dgm:pt>
    <dgm:pt modelId="{8007FB4A-6B39-4530-9F04-A4F993D2A557}" type="parTrans" cxnId="{E872A910-F0F3-49FC-A203-CC9A86DADAD8}">
      <dgm:prSet/>
      <dgm:spPr/>
      <dgm:t>
        <a:bodyPr/>
        <a:lstStyle/>
        <a:p>
          <a:endParaRPr lang="en-US"/>
        </a:p>
      </dgm:t>
    </dgm:pt>
    <dgm:pt modelId="{B37F3B6F-529A-4120-9DA5-FCFE26B16084}" type="sibTrans" cxnId="{E872A910-F0F3-49FC-A203-CC9A86DADAD8}">
      <dgm:prSet/>
      <dgm:spPr/>
      <dgm:t>
        <a:bodyPr/>
        <a:lstStyle/>
        <a:p>
          <a:endParaRPr lang="en-US"/>
        </a:p>
      </dgm:t>
    </dgm:pt>
    <dgm:pt modelId="{7A6AEC20-DAFA-426E-9914-09B6203C5422}">
      <dgm:prSet custT="1"/>
      <dgm:spPr/>
      <dgm:t>
        <a:bodyPr/>
        <a:lstStyle/>
        <a:p>
          <a:r>
            <a:rPr lang="en-US" sz="2000" dirty="0"/>
            <a:t>Better performance evaluations from supervisors</a:t>
          </a:r>
        </a:p>
      </dgm:t>
    </dgm:pt>
    <dgm:pt modelId="{A40176D2-03C3-4F15-9966-E1F3DA0FBBD3}" type="parTrans" cxnId="{E830C9F5-7D15-42C4-94AA-007C77423AE6}">
      <dgm:prSet/>
      <dgm:spPr/>
      <dgm:t>
        <a:bodyPr/>
        <a:lstStyle/>
        <a:p>
          <a:endParaRPr lang="en-US"/>
        </a:p>
      </dgm:t>
    </dgm:pt>
    <dgm:pt modelId="{AD8ED8CE-BCF8-4964-9B0C-7CD7750F7606}" type="sibTrans" cxnId="{E830C9F5-7D15-42C4-94AA-007C77423AE6}">
      <dgm:prSet/>
      <dgm:spPr/>
      <dgm:t>
        <a:bodyPr/>
        <a:lstStyle/>
        <a:p>
          <a:endParaRPr lang="en-US"/>
        </a:p>
      </dgm:t>
    </dgm:pt>
    <dgm:pt modelId="{AF6778AA-7531-464D-8609-53C043D4FC45}">
      <dgm:prSet custT="1"/>
      <dgm:spPr/>
      <dgm:t>
        <a:bodyPr/>
        <a:lstStyle/>
        <a:p>
          <a:r>
            <a:rPr lang="en-US" sz="2000" dirty="0"/>
            <a:t>Better retention in jobs</a:t>
          </a:r>
        </a:p>
      </dgm:t>
    </dgm:pt>
    <dgm:pt modelId="{B3103B16-32C3-4CE9-8119-A4791A5DD10F}" type="parTrans" cxnId="{289D28C6-FDF9-4C0C-B9EB-68522C41AA99}">
      <dgm:prSet/>
      <dgm:spPr/>
      <dgm:t>
        <a:bodyPr/>
        <a:lstStyle/>
        <a:p>
          <a:endParaRPr lang="en-US"/>
        </a:p>
      </dgm:t>
    </dgm:pt>
    <dgm:pt modelId="{21ADDFBB-4B4B-42E8-8DF1-980EB2AD2D0D}" type="sibTrans" cxnId="{289D28C6-FDF9-4C0C-B9EB-68522C41AA99}">
      <dgm:prSet/>
      <dgm:spPr/>
      <dgm:t>
        <a:bodyPr/>
        <a:lstStyle/>
        <a:p>
          <a:endParaRPr lang="en-US"/>
        </a:p>
      </dgm:t>
    </dgm:pt>
    <dgm:pt modelId="{FC4CBA93-7DF0-4F46-9D06-6DABB2073B3C}">
      <dgm:prSet custT="1"/>
      <dgm:spPr/>
      <dgm:t>
        <a:bodyPr/>
        <a:lstStyle/>
        <a:p>
          <a:r>
            <a:rPr lang="en-US" sz="2000" dirty="0"/>
            <a:t>Fewer sick days</a:t>
          </a:r>
        </a:p>
      </dgm:t>
    </dgm:pt>
    <dgm:pt modelId="{09B7F797-D68C-458D-B54E-A95BD0C58680}" type="parTrans" cxnId="{53BE17E9-7ED7-4B00-8ED2-86EA565A3195}">
      <dgm:prSet/>
      <dgm:spPr/>
      <dgm:t>
        <a:bodyPr/>
        <a:lstStyle/>
        <a:p>
          <a:endParaRPr lang="en-US"/>
        </a:p>
      </dgm:t>
    </dgm:pt>
    <dgm:pt modelId="{07FB1E8E-6045-4FCD-98D6-347D52B6D7DD}" type="sibTrans" cxnId="{53BE17E9-7ED7-4B00-8ED2-86EA565A3195}">
      <dgm:prSet/>
      <dgm:spPr/>
      <dgm:t>
        <a:bodyPr/>
        <a:lstStyle/>
        <a:p>
          <a:endParaRPr lang="en-US"/>
        </a:p>
      </dgm:t>
    </dgm:pt>
    <dgm:pt modelId="{23630FF7-635E-4E14-BC91-9987AAAB21DF}">
      <dgm:prSet custT="1"/>
      <dgm:spPr/>
      <dgm:t>
        <a:bodyPr/>
        <a:lstStyle/>
        <a:p>
          <a:r>
            <a:rPr lang="en-US" sz="2000"/>
            <a:t>Less burn-out</a:t>
          </a:r>
        </a:p>
      </dgm:t>
    </dgm:pt>
    <dgm:pt modelId="{59E877AC-40F9-4629-90CF-C6ED3EE4D140}" type="parTrans" cxnId="{F1856F87-F88B-4036-A7FB-3D8B2AC43204}">
      <dgm:prSet/>
      <dgm:spPr/>
      <dgm:t>
        <a:bodyPr/>
        <a:lstStyle/>
        <a:p>
          <a:endParaRPr lang="en-US"/>
        </a:p>
      </dgm:t>
    </dgm:pt>
    <dgm:pt modelId="{3A2E2440-78A0-4F35-82CD-1AFB1EE374A9}" type="sibTrans" cxnId="{F1856F87-F88B-4036-A7FB-3D8B2AC43204}">
      <dgm:prSet/>
      <dgm:spPr/>
      <dgm:t>
        <a:bodyPr/>
        <a:lstStyle/>
        <a:p>
          <a:endParaRPr lang="en-US"/>
        </a:p>
      </dgm:t>
    </dgm:pt>
    <dgm:pt modelId="{C14896D1-3951-4FB8-99F5-FFD8980BB1C8}">
      <dgm:prSet custT="1"/>
      <dgm:spPr/>
      <dgm:t>
        <a:bodyPr/>
        <a:lstStyle/>
        <a:p>
          <a:r>
            <a:rPr lang="en-US" sz="2000" dirty="0"/>
            <a:t>Higher income</a:t>
          </a:r>
        </a:p>
      </dgm:t>
    </dgm:pt>
    <dgm:pt modelId="{DBC78190-F778-4F26-89E7-A464ACAA3CD4}" type="parTrans" cxnId="{C2FB23AA-24BB-4CD0-A02A-EADE73B63DA7}">
      <dgm:prSet/>
      <dgm:spPr/>
      <dgm:t>
        <a:bodyPr/>
        <a:lstStyle/>
        <a:p>
          <a:endParaRPr lang="en-US"/>
        </a:p>
      </dgm:t>
    </dgm:pt>
    <dgm:pt modelId="{328172AF-CD50-4B1A-BF54-961B4F6E0C91}" type="sibTrans" cxnId="{C2FB23AA-24BB-4CD0-A02A-EADE73B63DA7}">
      <dgm:prSet/>
      <dgm:spPr/>
      <dgm:t>
        <a:bodyPr/>
        <a:lstStyle/>
        <a:p>
          <a:endParaRPr lang="en-US"/>
        </a:p>
      </dgm:t>
    </dgm:pt>
    <dgm:pt modelId="{190F98BB-1922-4062-8246-E21F8A4ECCEB}" type="pres">
      <dgm:prSet presAssocID="{D62980E4-4498-4602-86EE-6A118FF30608}" presName="root" presStyleCnt="0">
        <dgm:presLayoutVars>
          <dgm:dir/>
          <dgm:resizeHandles val="exact"/>
        </dgm:presLayoutVars>
      </dgm:prSet>
      <dgm:spPr/>
    </dgm:pt>
    <dgm:pt modelId="{D17E1859-1DBD-4AAA-8BDA-310298F0DBF7}" type="pres">
      <dgm:prSet presAssocID="{807E7DBA-698D-4521-BB1F-60557C35211B}" presName="compNode" presStyleCnt="0"/>
      <dgm:spPr/>
    </dgm:pt>
    <dgm:pt modelId="{56523539-B300-4FE7-8C9E-A6EED85EF895}" type="pres">
      <dgm:prSet presAssocID="{807E7DBA-698D-4521-BB1F-60557C35211B}"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pward trend"/>
        </a:ext>
      </dgm:extLst>
    </dgm:pt>
    <dgm:pt modelId="{B58DED27-64C3-4935-BC6B-E305541A9CF2}" type="pres">
      <dgm:prSet presAssocID="{807E7DBA-698D-4521-BB1F-60557C35211B}" presName="iconSpace" presStyleCnt="0"/>
      <dgm:spPr/>
    </dgm:pt>
    <dgm:pt modelId="{3BF4000A-F5C8-4DFE-9A48-91C4D0FAF4B6}" type="pres">
      <dgm:prSet presAssocID="{807E7DBA-698D-4521-BB1F-60557C35211B}" presName="parTx" presStyleLbl="revTx" presStyleIdx="0" presStyleCnt="4">
        <dgm:presLayoutVars>
          <dgm:chMax val="0"/>
          <dgm:chPref val="0"/>
        </dgm:presLayoutVars>
      </dgm:prSet>
      <dgm:spPr/>
    </dgm:pt>
    <dgm:pt modelId="{223DF584-686E-46C0-83E9-60F4A95D5C1D}" type="pres">
      <dgm:prSet presAssocID="{807E7DBA-698D-4521-BB1F-60557C35211B}" presName="txSpace" presStyleCnt="0"/>
      <dgm:spPr/>
    </dgm:pt>
    <dgm:pt modelId="{58149B55-B079-4F0D-AA43-FF593125D4E6}" type="pres">
      <dgm:prSet presAssocID="{807E7DBA-698D-4521-BB1F-60557C35211B}" presName="desTx" presStyleLbl="revTx" presStyleIdx="1" presStyleCnt="4">
        <dgm:presLayoutVars/>
      </dgm:prSet>
      <dgm:spPr/>
    </dgm:pt>
    <dgm:pt modelId="{5AF36612-337D-4C43-A290-92C1929CF688}" type="pres">
      <dgm:prSet presAssocID="{11073F2A-691D-49C0-8927-B7447E478E36}" presName="sibTrans" presStyleCnt="0"/>
      <dgm:spPr/>
    </dgm:pt>
    <dgm:pt modelId="{99D2CC87-7DA7-40A8-974A-6BAF4B99C0CD}" type="pres">
      <dgm:prSet presAssocID="{A70287D0-652F-4EC2-B69A-A24F7130A197}" presName="compNode" presStyleCnt="0"/>
      <dgm:spPr/>
    </dgm:pt>
    <dgm:pt modelId="{E0241D66-B572-4D09-B37C-AFB78FDB0E5C}" type="pres">
      <dgm:prSet presAssocID="{A70287D0-652F-4EC2-B69A-A24F7130A197}"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miling Face with No Fill"/>
        </a:ext>
      </dgm:extLst>
    </dgm:pt>
    <dgm:pt modelId="{007E99E1-E848-414C-848E-2EB9A304A224}" type="pres">
      <dgm:prSet presAssocID="{A70287D0-652F-4EC2-B69A-A24F7130A197}" presName="iconSpace" presStyleCnt="0"/>
      <dgm:spPr/>
    </dgm:pt>
    <dgm:pt modelId="{4F9ED3BB-8E38-4BDF-B49A-D42BF2A2CC69}" type="pres">
      <dgm:prSet presAssocID="{A70287D0-652F-4EC2-B69A-A24F7130A197}" presName="parTx" presStyleLbl="revTx" presStyleIdx="2" presStyleCnt="4">
        <dgm:presLayoutVars>
          <dgm:chMax val="0"/>
          <dgm:chPref val="0"/>
        </dgm:presLayoutVars>
      </dgm:prSet>
      <dgm:spPr/>
    </dgm:pt>
    <dgm:pt modelId="{BA0AD4DB-81A3-4CC4-B531-3F5B5014E403}" type="pres">
      <dgm:prSet presAssocID="{A70287D0-652F-4EC2-B69A-A24F7130A197}" presName="txSpace" presStyleCnt="0"/>
      <dgm:spPr/>
    </dgm:pt>
    <dgm:pt modelId="{A2703120-79C6-43E8-AB7A-6AD6C1DD942D}" type="pres">
      <dgm:prSet presAssocID="{A70287D0-652F-4EC2-B69A-A24F7130A197}" presName="desTx" presStyleLbl="revTx" presStyleIdx="3" presStyleCnt="4">
        <dgm:presLayoutVars/>
      </dgm:prSet>
      <dgm:spPr/>
    </dgm:pt>
  </dgm:ptLst>
  <dgm:cxnLst>
    <dgm:cxn modelId="{E872A910-F0F3-49FC-A203-CC9A86DADAD8}" srcId="{A70287D0-652F-4EC2-B69A-A24F7130A197}" destId="{23B8AF5D-6BF1-403F-A478-012523034C8F}" srcOrd="0" destOrd="0" parTransId="{8007FB4A-6B39-4530-9F04-A4F993D2A557}" sibTransId="{B37F3B6F-529A-4120-9DA5-FCFE26B16084}"/>
    <dgm:cxn modelId="{1E2D5220-722A-4FCA-9574-99E90ACA5D25}" type="presOf" srcId="{C14896D1-3951-4FB8-99F5-FFD8980BB1C8}" destId="{A2703120-79C6-43E8-AB7A-6AD6C1DD942D}" srcOrd="0" destOrd="5" presId="urn:microsoft.com/office/officeart/2018/2/layout/IconLabelDescriptionList"/>
    <dgm:cxn modelId="{014C9E21-ADC6-4B96-96F4-04D9DE5E2063}" type="presOf" srcId="{D62980E4-4498-4602-86EE-6A118FF30608}" destId="{190F98BB-1922-4062-8246-E21F8A4ECCEB}" srcOrd="0" destOrd="0" presId="urn:microsoft.com/office/officeart/2018/2/layout/IconLabelDescriptionList"/>
    <dgm:cxn modelId="{5084E623-B18F-4C3C-B5C6-B2CED14B8FF0}" type="presOf" srcId="{A70287D0-652F-4EC2-B69A-A24F7130A197}" destId="{4F9ED3BB-8E38-4BDF-B49A-D42BF2A2CC69}" srcOrd="0" destOrd="0" presId="urn:microsoft.com/office/officeart/2018/2/layout/IconLabelDescriptionList"/>
    <dgm:cxn modelId="{D7594A4A-CC9D-41E3-AD3B-88BA7693432A}" srcId="{D62980E4-4498-4602-86EE-6A118FF30608}" destId="{A70287D0-652F-4EC2-B69A-A24F7130A197}" srcOrd="1" destOrd="0" parTransId="{D07E3A7B-09BE-4D73-B085-997EC4907364}" sibTransId="{5C333CC9-14CC-427D-8EC3-1D811395B37B}"/>
    <dgm:cxn modelId="{CBD9AA70-721F-4A51-AFAC-90D4F9C03B48}" type="presOf" srcId="{23B8AF5D-6BF1-403F-A478-012523034C8F}" destId="{A2703120-79C6-43E8-AB7A-6AD6C1DD942D}" srcOrd="0" destOrd="0" presId="urn:microsoft.com/office/officeart/2018/2/layout/IconLabelDescriptionList"/>
    <dgm:cxn modelId="{456A2E87-767E-4AB6-941C-47330EAFA756}" type="presOf" srcId="{AF6778AA-7531-464D-8609-53C043D4FC45}" destId="{A2703120-79C6-43E8-AB7A-6AD6C1DD942D}" srcOrd="0" destOrd="2" presId="urn:microsoft.com/office/officeart/2018/2/layout/IconLabelDescriptionList"/>
    <dgm:cxn modelId="{F1856F87-F88B-4036-A7FB-3D8B2AC43204}" srcId="{A70287D0-652F-4EC2-B69A-A24F7130A197}" destId="{23630FF7-635E-4E14-BC91-9987AAAB21DF}" srcOrd="4" destOrd="0" parTransId="{59E877AC-40F9-4629-90CF-C6ED3EE4D140}" sibTransId="{3A2E2440-78A0-4F35-82CD-1AFB1EE374A9}"/>
    <dgm:cxn modelId="{A9381DAA-25EA-44B3-8A90-084457D314AE}" srcId="{D62980E4-4498-4602-86EE-6A118FF30608}" destId="{807E7DBA-698D-4521-BB1F-60557C35211B}" srcOrd="0" destOrd="0" parTransId="{B52E4464-BA83-4589-AE0A-65FD544735EC}" sibTransId="{11073F2A-691D-49C0-8927-B7447E478E36}"/>
    <dgm:cxn modelId="{C2FB23AA-24BB-4CD0-A02A-EADE73B63DA7}" srcId="{A70287D0-652F-4EC2-B69A-A24F7130A197}" destId="{C14896D1-3951-4FB8-99F5-FFD8980BB1C8}" srcOrd="5" destOrd="0" parTransId="{DBC78190-F778-4F26-89E7-A464ACAA3CD4}" sibTransId="{328172AF-CD50-4B1A-BF54-961B4F6E0C91}"/>
    <dgm:cxn modelId="{11DB65AC-6802-4607-88E0-0A62E4BE44C3}" type="presOf" srcId="{23630FF7-635E-4E14-BC91-9987AAAB21DF}" destId="{A2703120-79C6-43E8-AB7A-6AD6C1DD942D}" srcOrd="0" destOrd="4" presId="urn:microsoft.com/office/officeart/2018/2/layout/IconLabelDescriptionList"/>
    <dgm:cxn modelId="{C397AAAE-FF14-4C11-8741-1AF389C694E4}" type="presOf" srcId="{7A6AEC20-DAFA-426E-9914-09B6203C5422}" destId="{A2703120-79C6-43E8-AB7A-6AD6C1DD942D}" srcOrd="0" destOrd="1" presId="urn:microsoft.com/office/officeart/2018/2/layout/IconLabelDescriptionList"/>
    <dgm:cxn modelId="{F76791BA-C435-4536-83EA-7A5721F3436E}" type="presOf" srcId="{FC4CBA93-7DF0-4F46-9D06-6DABB2073B3C}" destId="{A2703120-79C6-43E8-AB7A-6AD6C1DD942D}" srcOrd="0" destOrd="3" presId="urn:microsoft.com/office/officeart/2018/2/layout/IconLabelDescriptionList"/>
    <dgm:cxn modelId="{289D28C6-FDF9-4C0C-B9EB-68522C41AA99}" srcId="{A70287D0-652F-4EC2-B69A-A24F7130A197}" destId="{AF6778AA-7531-464D-8609-53C043D4FC45}" srcOrd="2" destOrd="0" parTransId="{B3103B16-32C3-4CE9-8119-A4791A5DD10F}" sibTransId="{21ADDFBB-4B4B-42E8-8DF1-980EB2AD2D0D}"/>
    <dgm:cxn modelId="{53BE17E9-7ED7-4B00-8ED2-86EA565A3195}" srcId="{A70287D0-652F-4EC2-B69A-A24F7130A197}" destId="{FC4CBA93-7DF0-4F46-9D06-6DABB2073B3C}" srcOrd="3" destOrd="0" parTransId="{09B7F797-D68C-458D-B54E-A95BD0C58680}" sibTransId="{07FB1E8E-6045-4FCD-98D6-347D52B6D7DD}"/>
    <dgm:cxn modelId="{A13317F2-2B6E-41DF-8AB3-0D542766BEDD}" type="presOf" srcId="{807E7DBA-698D-4521-BB1F-60557C35211B}" destId="{3BF4000A-F5C8-4DFE-9A48-91C4D0FAF4B6}" srcOrd="0" destOrd="0" presId="urn:microsoft.com/office/officeart/2018/2/layout/IconLabelDescriptionList"/>
    <dgm:cxn modelId="{E830C9F5-7D15-42C4-94AA-007C77423AE6}" srcId="{A70287D0-652F-4EC2-B69A-A24F7130A197}" destId="{7A6AEC20-DAFA-426E-9914-09B6203C5422}" srcOrd="1" destOrd="0" parTransId="{A40176D2-03C3-4F15-9966-E1F3DA0FBBD3}" sibTransId="{AD8ED8CE-BCF8-4964-9B0C-7CD7750F7606}"/>
    <dgm:cxn modelId="{E23A8135-7658-47D6-8922-13E1154557F8}" type="presParOf" srcId="{190F98BB-1922-4062-8246-E21F8A4ECCEB}" destId="{D17E1859-1DBD-4AAA-8BDA-310298F0DBF7}" srcOrd="0" destOrd="0" presId="urn:microsoft.com/office/officeart/2018/2/layout/IconLabelDescriptionList"/>
    <dgm:cxn modelId="{FCF2F603-506D-4603-9068-84664F0D2E65}" type="presParOf" srcId="{D17E1859-1DBD-4AAA-8BDA-310298F0DBF7}" destId="{56523539-B300-4FE7-8C9E-A6EED85EF895}" srcOrd="0" destOrd="0" presId="urn:microsoft.com/office/officeart/2018/2/layout/IconLabelDescriptionList"/>
    <dgm:cxn modelId="{AE456E94-3B99-40EF-A2DF-E551076A5753}" type="presParOf" srcId="{D17E1859-1DBD-4AAA-8BDA-310298F0DBF7}" destId="{B58DED27-64C3-4935-BC6B-E305541A9CF2}" srcOrd="1" destOrd="0" presId="urn:microsoft.com/office/officeart/2018/2/layout/IconLabelDescriptionList"/>
    <dgm:cxn modelId="{36879D47-8412-4784-A684-F3CAC4FDAAE4}" type="presParOf" srcId="{D17E1859-1DBD-4AAA-8BDA-310298F0DBF7}" destId="{3BF4000A-F5C8-4DFE-9A48-91C4D0FAF4B6}" srcOrd="2" destOrd="0" presId="urn:microsoft.com/office/officeart/2018/2/layout/IconLabelDescriptionList"/>
    <dgm:cxn modelId="{93B6C36F-781B-4A44-8443-A049D462221F}" type="presParOf" srcId="{D17E1859-1DBD-4AAA-8BDA-310298F0DBF7}" destId="{223DF584-686E-46C0-83E9-60F4A95D5C1D}" srcOrd="3" destOrd="0" presId="urn:microsoft.com/office/officeart/2018/2/layout/IconLabelDescriptionList"/>
    <dgm:cxn modelId="{E221BB8E-341D-4BA7-A36D-DBF0EF89CF5C}" type="presParOf" srcId="{D17E1859-1DBD-4AAA-8BDA-310298F0DBF7}" destId="{58149B55-B079-4F0D-AA43-FF593125D4E6}" srcOrd="4" destOrd="0" presId="urn:microsoft.com/office/officeart/2018/2/layout/IconLabelDescriptionList"/>
    <dgm:cxn modelId="{6534AD98-A500-4725-A752-CF101A36C642}" type="presParOf" srcId="{190F98BB-1922-4062-8246-E21F8A4ECCEB}" destId="{5AF36612-337D-4C43-A290-92C1929CF688}" srcOrd="1" destOrd="0" presId="urn:microsoft.com/office/officeart/2018/2/layout/IconLabelDescriptionList"/>
    <dgm:cxn modelId="{5823C92E-47AD-4B8B-9651-AD8FCE1D2ED3}" type="presParOf" srcId="{190F98BB-1922-4062-8246-E21F8A4ECCEB}" destId="{99D2CC87-7DA7-40A8-974A-6BAF4B99C0CD}" srcOrd="2" destOrd="0" presId="urn:microsoft.com/office/officeart/2018/2/layout/IconLabelDescriptionList"/>
    <dgm:cxn modelId="{842F1877-37C5-45E4-8DB0-9B6362C3540D}" type="presParOf" srcId="{99D2CC87-7DA7-40A8-974A-6BAF4B99C0CD}" destId="{E0241D66-B572-4D09-B37C-AFB78FDB0E5C}" srcOrd="0" destOrd="0" presId="urn:microsoft.com/office/officeart/2018/2/layout/IconLabelDescriptionList"/>
    <dgm:cxn modelId="{31A9AA4F-860A-43B2-B8BF-B99776FCB18B}" type="presParOf" srcId="{99D2CC87-7DA7-40A8-974A-6BAF4B99C0CD}" destId="{007E99E1-E848-414C-848E-2EB9A304A224}" srcOrd="1" destOrd="0" presId="urn:microsoft.com/office/officeart/2018/2/layout/IconLabelDescriptionList"/>
    <dgm:cxn modelId="{9A5A3890-7CA9-4888-87C7-42E0B5484AF9}" type="presParOf" srcId="{99D2CC87-7DA7-40A8-974A-6BAF4B99C0CD}" destId="{4F9ED3BB-8E38-4BDF-B49A-D42BF2A2CC69}" srcOrd="2" destOrd="0" presId="urn:microsoft.com/office/officeart/2018/2/layout/IconLabelDescriptionList"/>
    <dgm:cxn modelId="{8713E1FA-9B28-476A-88C8-45BC5C27B878}" type="presParOf" srcId="{99D2CC87-7DA7-40A8-974A-6BAF4B99C0CD}" destId="{BA0AD4DB-81A3-4CC4-B531-3F5B5014E403}" srcOrd="3" destOrd="0" presId="urn:microsoft.com/office/officeart/2018/2/layout/IconLabelDescriptionList"/>
    <dgm:cxn modelId="{E43EECC8-D7C0-46D0-AF81-3B7F62A35F22}" type="presParOf" srcId="{99D2CC87-7DA7-40A8-974A-6BAF4B99C0CD}" destId="{A2703120-79C6-43E8-AB7A-6AD6C1DD942D}"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6368B574-AFB4-42F2-AF52-584246309F6E}"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en-US"/>
        </a:p>
      </dgm:t>
    </dgm:pt>
    <dgm:pt modelId="{F17BF309-856F-4574-9673-ED74FE42A5C3}">
      <dgm:prSet/>
      <dgm:spPr/>
      <dgm:t>
        <a:bodyPr/>
        <a:lstStyle/>
        <a:p>
          <a:r>
            <a:rPr lang="en-US"/>
            <a:t>In a sample of 156 racially, ethnically, and socio-economically diverse 7</a:t>
          </a:r>
          <a:r>
            <a:rPr lang="en-US" baseline="30000"/>
            <a:t>th</a:t>
          </a:r>
          <a:r>
            <a:rPr lang="en-US"/>
            <a:t> and 8</a:t>
          </a:r>
          <a:r>
            <a:rPr lang="en-US" baseline="30000"/>
            <a:t>th</a:t>
          </a:r>
          <a:r>
            <a:rPr lang="en-US"/>
            <a:t> graders from the Southeastern US</a:t>
          </a:r>
        </a:p>
      </dgm:t>
    </dgm:pt>
    <dgm:pt modelId="{ED60E309-102A-46B4-B6DA-8B443D33D5A2}" type="parTrans" cxnId="{87E75158-2DA4-447F-A8A2-C3B3711BBD85}">
      <dgm:prSet/>
      <dgm:spPr/>
      <dgm:t>
        <a:bodyPr/>
        <a:lstStyle/>
        <a:p>
          <a:endParaRPr lang="en-US"/>
        </a:p>
      </dgm:t>
    </dgm:pt>
    <dgm:pt modelId="{69B30A81-E799-4B38-B5D4-B934DE166BC1}" type="sibTrans" cxnId="{87E75158-2DA4-447F-A8A2-C3B3711BBD85}">
      <dgm:prSet/>
      <dgm:spPr/>
      <dgm:t>
        <a:bodyPr/>
        <a:lstStyle/>
        <a:p>
          <a:endParaRPr lang="en-US"/>
        </a:p>
      </dgm:t>
    </dgm:pt>
    <dgm:pt modelId="{A3449B85-C640-46E8-9FE7-D2C1F34E8461}">
      <dgm:prSet/>
      <dgm:spPr/>
      <dgm:t>
        <a:bodyPr/>
        <a:lstStyle/>
        <a:p>
          <a:r>
            <a:rPr lang="en-US"/>
            <a:t>Positive affect at age 14 predicted job satisfaction and self-reported job competence at age 25</a:t>
          </a:r>
        </a:p>
      </dgm:t>
    </dgm:pt>
    <dgm:pt modelId="{3D48C648-3C1E-4DCA-A279-5CD07ED31816}" type="parTrans" cxnId="{7432C547-99EF-40DB-8550-9CD9D91D01D7}">
      <dgm:prSet/>
      <dgm:spPr/>
      <dgm:t>
        <a:bodyPr/>
        <a:lstStyle/>
        <a:p>
          <a:endParaRPr lang="en-US"/>
        </a:p>
      </dgm:t>
    </dgm:pt>
    <dgm:pt modelId="{80CAD575-DF1F-4C3A-834C-1C991AD51EB9}" type="sibTrans" cxnId="{7432C547-99EF-40DB-8550-9CD9D91D01D7}">
      <dgm:prSet/>
      <dgm:spPr/>
      <dgm:t>
        <a:bodyPr/>
        <a:lstStyle/>
        <a:p>
          <a:endParaRPr lang="en-US"/>
        </a:p>
      </dgm:t>
    </dgm:pt>
    <dgm:pt modelId="{3EC48FC1-DB9E-4EC5-85B1-CECFF47080DC}">
      <dgm:prSet/>
      <dgm:spPr/>
      <dgm:t>
        <a:bodyPr/>
        <a:lstStyle/>
        <a:p>
          <a:r>
            <a:rPr lang="en-US"/>
            <a:t>In a sample of first year college students (N = 13,676) at 25 colleges and universities in the US</a:t>
          </a:r>
        </a:p>
      </dgm:t>
    </dgm:pt>
    <dgm:pt modelId="{07B3421D-5586-4EA6-9658-C386CB1BFAF4}" type="parTrans" cxnId="{F683281A-3841-41B5-A73A-4EBFB92DFD33}">
      <dgm:prSet/>
      <dgm:spPr/>
      <dgm:t>
        <a:bodyPr/>
        <a:lstStyle/>
        <a:p>
          <a:endParaRPr lang="en-US"/>
        </a:p>
      </dgm:t>
    </dgm:pt>
    <dgm:pt modelId="{29DB17FC-DF9C-48D8-91EB-9444AD6954E8}" type="sibTrans" cxnId="{F683281A-3841-41B5-A73A-4EBFB92DFD33}">
      <dgm:prSet/>
      <dgm:spPr/>
      <dgm:t>
        <a:bodyPr/>
        <a:lstStyle/>
        <a:p>
          <a:endParaRPr lang="en-US"/>
        </a:p>
      </dgm:t>
    </dgm:pt>
    <dgm:pt modelId="{4C785047-9C8F-4B8A-8066-2310D8924A6B}">
      <dgm:prSet/>
      <dgm:spPr/>
      <dgm:t>
        <a:bodyPr/>
        <a:lstStyle/>
        <a:p>
          <a:r>
            <a:rPr lang="en-US"/>
            <a:t>Participant rated cheerfulness at age 19 associated with income at age 37</a:t>
          </a:r>
        </a:p>
      </dgm:t>
    </dgm:pt>
    <dgm:pt modelId="{9A81C895-5B45-4F61-ACDF-9F9CE84421DA}" type="parTrans" cxnId="{A159F869-2957-44FD-A6F9-73DF447B202A}">
      <dgm:prSet/>
      <dgm:spPr/>
      <dgm:t>
        <a:bodyPr/>
        <a:lstStyle/>
        <a:p>
          <a:endParaRPr lang="en-US"/>
        </a:p>
      </dgm:t>
    </dgm:pt>
    <dgm:pt modelId="{65E1A621-38A5-4C6E-9DCD-101E79541F82}" type="sibTrans" cxnId="{A159F869-2957-44FD-A6F9-73DF447B202A}">
      <dgm:prSet/>
      <dgm:spPr/>
      <dgm:t>
        <a:bodyPr/>
        <a:lstStyle/>
        <a:p>
          <a:endParaRPr lang="en-US"/>
        </a:p>
      </dgm:t>
    </dgm:pt>
    <dgm:pt modelId="{E8A99142-E2E1-4C31-A018-291C9B297F56}">
      <dgm:prSet/>
      <dgm:spPr/>
      <dgm:t>
        <a:bodyPr/>
        <a:lstStyle/>
        <a:p>
          <a:r>
            <a:rPr lang="en-US"/>
            <a:t>Moderated by parental income at age 19: association strongest at “high” parental income</a:t>
          </a:r>
        </a:p>
      </dgm:t>
    </dgm:pt>
    <dgm:pt modelId="{5D56883D-3C74-4E9B-921F-DF35CC8B5166}" type="parTrans" cxnId="{31697A4A-0A80-47EE-9916-0BB76C27F001}">
      <dgm:prSet/>
      <dgm:spPr/>
      <dgm:t>
        <a:bodyPr/>
        <a:lstStyle/>
        <a:p>
          <a:endParaRPr lang="en-US"/>
        </a:p>
      </dgm:t>
    </dgm:pt>
    <dgm:pt modelId="{6951C0A7-9937-4180-93DC-A7F563644E15}" type="sibTrans" cxnId="{31697A4A-0A80-47EE-9916-0BB76C27F001}">
      <dgm:prSet/>
      <dgm:spPr/>
      <dgm:t>
        <a:bodyPr/>
        <a:lstStyle/>
        <a:p>
          <a:endParaRPr lang="en-US"/>
        </a:p>
      </dgm:t>
    </dgm:pt>
    <dgm:pt modelId="{51820485-EBE9-48E0-B01F-48853DD27832}" type="pres">
      <dgm:prSet presAssocID="{6368B574-AFB4-42F2-AF52-584246309F6E}" presName="Name0" presStyleCnt="0">
        <dgm:presLayoutVars>
          <dgm:dir/>
          <dgm:animLvl val="lvl"/>
          <dgm:resizeHandles val="exact"/>
        </dgm:presLayoutVars>
      </dgm:prSet>
      <dgm:spPr/>
    </dgm:pt>
    <dgm:pt modelId="{F7E267E8-976B-4E9B-B4A8-0DC4D8F7D222}" type="pres">
      <dgm:prSet presAssocID="{F17BF309-856F-4574-9673-ED74FE42A5C3}" presName="linNode" presStyleCnt="0"/>
      <dgm:spPr/>
    </dgm:pt>
    <dgm:pt modelId="{DAE806E1-DB4C-4A58-9235-6B647097587B}" type="pres">
      <dgm:prSet presAssocID="{F17BF309-856F-4574-9673-ED74FE42A5C3}" presName="parentText" presStyleLbl="node1" presStyleIdx="0" presStyleCnt="2">
        <dgm:presLayoutVars>
          <dgm:chMax val="1"/>
          <dgm:bulletEnabled val="1"/>
        </dgm:presLayoutVars>
      </dgm:prSet>
      <dgm:spPr/>
    </dgm:pt>
    <dgm:pt modelId="{9F636062-5AE6-4818-AF2C-C253C66CF06F}" type="pres">
      <dgm:prSet presAssocID="{F17BF309-856F-4574-9673-ED74FE42A5C3}" presName="descendantText" presStyleLbl="alignAccFollowNode1" presStyleIdx="0" presStyleCnt="2">
        <dgm:presLayoutVars>
          <dgm:bulletEnabled val="1"/>
        </dgm:presLayoutVars>
      </dgm:prSet>
      <dgm:spPr/>
    </dgm:pt>
    <dgm:pt modelId="{493456AB-53EF-4CD9-9972-80B3140AD4B4}" type="pres">
      <dgm:prSet presAssocID="{69B30A81-E799-4B38-B5D4-B934DE166BC1}" presName="sp" presStyleCnt="0"/>
      <dgm:spPr/>
    </dgm:pt>
    <dgm:pt modelId="{D3B4ACA5-C8F3-460B-B440-7479E281BC99}" type="pres">
      <dgm:prSet presAssocID="{3EC48FC1-DB9E-4EC5-85B1-CECFF47080DC}" presName="linNode" presStyleCnt="0"/>
      <dgm:spPr/>
    </dgm:pt>
    <dgm:pt modelId="{DA1765F2-483A-479E-A17A-3B9677E33747}" type="pres">
      <dgm:prSet presAssocID="{3EC48FC1-DB9E-4EC5-85B1-CECFF47080DC}" presName="parentText" presStyleLbl="node1" presStyleIdx="1" presStyleCnt="2">
        <dgm:presLayoutVars>
          <dgm:chMax val="1"/>
          <dgm:bulletEnabled val="1"/>
        </dgm:presLayoutVars>
      </dgm:prSet>
      <dgm:spPr/>
    </dgm:pt>
    <dgm:pt modelId="{BB4AEFAE-E62E-4050-A1BC-40C59834DF9D}" type="pres">
      <dgm:prSet presAssocID="{3EC48FC1-DB9E-4EC5-85B1-CECFF47080DC}" presName="descendantText" presStyleLbl="alignAccFollowNode1" presStyleIdx="1" presStyleCnt="2">
        <dgm:presLayoutVars>
          <dgm:bulletEnabled val="1"/>
        </dgm:presLayoutVars>
      </dgm:prSet>
      <dgm:spPr/>
    </dgm:pt>
  </dgm:ptLst>
  <dgm:cxnLst>
    <dgm:cxn modelId="{F683281A-3841-41B5-A73A-4EBFB92DFD33}" srcId="{6368B574-AFB4-42F2-AF52-584246309F6E}" destId="{3EC48FC1-DB9E-4EC5-85B1-CECFF47080DC}" srcOrd="1" destOrd="0" parTransId="{07B3421D-5586-4EA6-9658-C386CB1BFAF4}" sibTransId="{29DB17FC-DF9C-48D8-91EB-9444AD6954E8}"/>
    <dgm:cxn modelId="{6A85102B-B0F0-45E9-A05B-F9030B78EB4D}" type="presOf" srcId="{6368B574-AFB4-42F2-AF52-584246309F6E}" destId="{51820485-EBE9-48E0-B01F-48853DD27832}" srcOrd="0" destOrd="0" presId="urn:microsoft.com/office/officeart/2005/8/layout/vList5"/>
    <dgm:cxn modelId="{7432C547-99EF-40DB-8550-9CD9D91D01D7}" srcId="{F17BF309-856F-4574-9673-ED74FE42A5C3}" destId="{A3449B85-C640-46E8-9FE7-D2C1F34E8461}" srcOrd="0" destOrd="0" parTransId="{3D48C648-3C1E-4DCA-A279-5CD07ED31816}" sibTransId="{80CAD575-DF1F-4C3A-834C-1C991AD51EB9}"/>
    <dgm:cxn modelId="{A159F869-2957-44FD-A6F9-73DF447B202A}" srcId="{3EC48FC1-DB9E-4EC5-85B1-CECFF47080DC}" destId="{4C785047-9C8F-4B8A-8066-2310D8924A6B}" srcOrd="0" destOrd="0" parTransId="{9A81C895-5B45-4F61-ACDF-9F9CE84421DA}" sibTransId="{65E1A621-38A5-4C6E-9DCD-101E79541F82}"/>
    <dgm:cxn modelId="{842F374A-7939-4D83-B097-372214EA610F}" type="presOf" srcId="{F17BF309-856F-4574-9673-ED74FE42A5C3}" destId="{DAE806E1-DB4C-4A58-9235-6B647097587B}" srcOrd="0" destOrd="0" presId="urn:microsoft.com/office/officeart/2005/8/layout/vList5"/>
    <dgm:cxn modelId="{31697A4A-0A80-47EE-9916-0BB76C27F001}" srcId="{3EC48FC1-DB9E-4EC5-85B1-CECFF47080DC}" destId="{E8A99142-E2E1-4C31-A018-291C9B297F56}" srcOrd="1" destOrd="0" parTransId="{5D56883D-3C74-4E9B-921F-DF35CC8B5166}" sibTransId="{6951C0A7-9937-4180-93DC-A7F563644E15}"/>
    <dgm:cxn modelId="{3AE8A572-8A08-4168-984A-0306544661A4}" type="presOf" srcId="{E8A99142-E2E1-4C31-A018-291C9B297F56}" destId="{BB4AEFAE-E62E-4050-A1BC-40C59834DF9D}" srcOrd="0" destOrd="1" presId="urn:microsoft.com/office/officeart/2005/8/layout/vList5"/>
    <dgm:cxn modelId="{87E75158-2DA4-447F-A8A2-C3B3711BBD85}" srcId="{6368B574-AFB4-42F2-AF52-584246309F6E}" destId="{F17BF309-856F-4574-9673-ED74FE42A5C3}" srcOrd="0" destOrd="0" parTransId="{ED60E309-102A-46B4-B6DA-8B443D33D5A2}" sibTransId="{69B30A81-E799-4B38-B5D4-B934DE166BC1}"/>
    <dgm:cxn modelId="{8775DD8E-9E94-49C6-98FA-64CF66F29C2A}" type="presOf" srcId="{A3449B85-C640-46E8-9FE7-D2C1F34E8461}" destId="{9F636062-5AE6-4818-AF2C-C253C66CF06F}" srcOrd="0" destOrd="0" presId="urn:microsoft.com/office/officeart/2005/8/layout/vList5"/>
    <dgm:cxn modelId="{A1F1F4F8-374E-430D-AAFC-704BFC426B32}" type="presOf" srcId="{3EC48FC1-DB9E-4EC5-85B1-CECFF47080DC}" destId="{DA1765F2-483A-479E-A17A-3B9677E33747}" srcOrd="0" destOrd="0" presId="urn:microsoft.com/office/officeart/2005/8/layout/vList5"/>
    <dgm:cxn modelId="{76DA70FB-3951-49B5-B5FE-8D55069636BF}" type="presOf" srcId="{4C785047-9C8F-4B8A-8066-2310D8924A6B}" destId="{BB4AEFAE-E62E-4050-A1BC-40C59834DF9D}" srcOrd="0" destOrd="0" presId="urn:microsoft.com/office/officeart/2005/8/layout/vList5"/>
    <dgm:cxn modelId="{B53A63A4-E8BB-4E50-BCE8-8C4B125D704C}" type="presParOf" srcId="{51820485-EBE9-48E0-B01F-48853DD27832}" destId="{F7E267E8-976B-4E9B-B4A8-0DC4D8F7D222}" srcOrd="0" destOrd="0" presId="urn:microsoft.com/office/officeart/2005/8/layout/vList5"/>
    <dgm:cxn modelId="{F26252AD-7C79-4741-81A3-53654E60F2C4}" type="presParOf" srcId="{F7E267E8-976B-4E9B-B4A8-0DC4D8F7D222}" destId="{DAE806E1-DB4C-4A58-9235-6B647097587B}" srcOrd="0" destOrd="0" presId="urn:microsoft.com/office/officeart/2005/8/layout/vList5"/>
    <dgm:cxn modelId="{CEA0641E-3516-45B7-B3C0-1DEFD2E6DE21}" type="presParOf" srcId="{F7E267E8-976B-4E9B-B4A8-0DC4D8F7D222}" destId="{9F636062-5AE6-4818-AF2C-C253C66CF06F}" srcOrd="1" destOrd="0" presId="urn:microsoft.com/office/officeart/2005/8/layout/vList5"/>
    <dgm:cxn modelId="{2B179103-714F-486A-8C74-E3C2CA90BE5D}" type="presParOf" srcId="{51820485-EBE9-48E0-B01F-48853DD27832}" destId="{493456AB-53EF-4CD9-9972-80B3140AD4B4}" srcOrd="1" destOrd="0" presId="urn:microsoft.com/office/officeart/2005/8/layout/vList5"/>
    <dgm:cxn modelId="{0D524664-DB93-4714-919B-B61FBC03ACF3}" type="presParOf" srcId="{51820485-EBE9-48E0-B01F-48853DD27832}" destId="{D3B4ACA5-C8F3-460B-B440-7479E281BC99}" srcOrd="2" destOrd="0" presId="urn:microsoft.com/office/officeart/2005/8/layout/vList5"/>
    <dgm:cxn modelId="{8FF0758E-ED29-489E-B4DA-41251975896D}" type="presParOf" srcId="{D3B4ACA5-C8F3-460B-B440-7479E281BC99}" destId="{DA1765F2-483A-479E-A17A-3B9677E33747}" srcOrd="0" destOrd="0" presId="urn:microsoft.com/office/officeart/2005/8/layout/vList5"/>
    <dgm:cxn modelId="{59E049F5-ED32-40F7-9BF0-D2154BB60450}" type="presParOf" srcId="{D3B4ACA5-C8F3-460B-B440-7479E281BC99}" destId="{BB4AEFAE-E62E-4050-A1BC-40C59834DF9D}"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AF7D6DA4-4CC2-4AA8-99D7-C456EDE2D9D7}"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2B15D4D1-1A6A-4E32-A53F-75C44E565F6A}">
      <dgm:prSet/>
      <dgm:spPr/>
      <dgm:t>
        <a:bodyPr/>
        <a:lstStyle/>
        <a:p>
          <a:r>
            <a:rPr lang="en-US"/>
            <a:t>Pretend you are a </a:t>
          </a:r>
          <a:r>
            <a:rPr lang="en-US" b="1"/>
            <a:t>Well-Being Consultant Team</a:t>
          </a:r>
          <a:r>
            <a:rPr lang="en-US"/>
            <a:t> hired to improve happiness at work</a:t>
          </a:r>
        </a:p>
      </dgm:t>
    </dgm:pt>
    <dgm:pt modelId="{23643BC6-653C-4F5C-8CE8-F35E9F28DCE2}" type="parTrans" cxnId="{2973B3E4-B8AB-4C66-BFB2-F6110D3A6294}">
      <dgm:prSet/>
      <dgm:spPr/>
      <dgm:t>
        <a:bodyPr/>
        <a:lstStyle/>
        <a:p>
          <a:endParaRPr lang="en-US"/>
        </a:p>
      </dgm:t>
    </dgm:pt>
    <dgm:pt modelId="{F23F855A-C2A1-4512-AE18-C144AB88DA29}" type="sibTrans" cxnId="{2973B3E4-B8AB-4C66-BFB2-F6110D3A6294}">
      <dgm:prSet/>
      <dgm:spPr/>
      <dgm:t>
        <a:bodyPr/>
        <a:lstStyle/>
        <a:p>
          <a:endParaRPr lang="en-US"/>
        </a:p>
      </dgm:t>
    </dgm:pt>
    <dgm:pt modelId="{236C707E-8658-41AE-B343-D74FF23C8467}">
      <dgm:prSet/>
      <dgm:spPr/>
      <dgm:t>
        <a:bodyPr/>
        <a:lstStyle/>
        <a:p>
          <a:r>
            <a:rPr lang="en-US"/>
            <a:t>3 Areas to Improve</a:t>
          </a:r>
        </a:p>
      </dgm:t>
    </dgm:pt>
    <dgm:pt modelId="{769C7368-1792-4B47-B259-48EC8BB7B816}" type="parTrans" cxnId="{80E5576C-24B3-4772-876B-D5931BF676C6}">
      <dgm:prSet/>
      <dgm:spPr/>
      <dgm:t>
        <a:bodyPr/>
        <a:lstStyle/>
        <a:p>
          <a:endParaRPr lang="en-US"/>
        </a:p>
      </dgm:t>
    </dgm:pt>
    <dgm:pt modelId="{A8EF7F6C-A4D0-4A26-B274-34A16127A14D}" type="sibTrans" cxnId="{80E5576C-24B3-4772-876B-D5931BF676C6}">
      <dgm:prSet/>
      <dgm:spPr/>
      <dgm:t>
        <a:bodyPr/>
        <a:lstStyle/>
        <a:p>
          <a:endParaRPr lang="en-US"/>
        </a:p>
      </dgm:t>
    </dgm:pt>
    <dgm:pt modelId="{FFCDF715-8BA1-40E1-A85F-A4FB0D354854}">
      <dgm:prSet/>
      <dgm:spPr/>
      <dgm:t>
        <a:bodyPr/>
        <a:lstStyle/>
        <a:p>
          <a:r>
            <a:rPr lang="en-US"/>
            <a:t>Positive emotions: How can you increase daily joy, appreciation, or fun at work?</a:t>
          </a:r>
        </a:p>
      </dgm:t>
    </dgm:pt>
    <dgm:pt modelId="{12CEE8E0-330B-475D-BAAF-2EC9A4BCED2A}" type="parTrans" cxnId="{912588C5-A230-4A0A-B832-1181D01AAB7B}">
      <dgm:prSet/>
      <dgm:spPr/>
      <dgm:t>
        <a:bodyPr/>
        <a:lstStyle/>
        <a:p>
          <a:endParaRPr lang="en-US"/>
        </a:p>
      </dgm:t>
    </dgm:pt>
    <dgm:pt modelId="{131DA2B1-8210-4AFA-8979-82E14B50302E}" type="sibTrans" cxnId="{912588C5-A230-4A0A-B832-1181D01AAB7B}">
      <dgm:prSet/>
      <dgm:spPr/>
      <dgm:t>
        <a:bodyPr/>
        <a:lstStyle/>
        <a:p>
          <a:endParaRPr lang="en-US"/>
        </a:p>
      </dgm:t>
    </dgm:pt>
    <dgm:pt modelId="{6A451204-61BF-467A-8FB7-24827E579909}">
      <dgm:prSet/>
      <dgm:spPr/>
      <dgm:t>
        <a:bodyPr/>
        <a:lstStyle/>
        <a:p>
          <a:r>
            <a:rPr lang="en-US"/>
            <a:t>Engagement and Purpose: How can employees feel more connected to meaningful work?</a:t>
          </a:r>
        </a:p>
      </dgm:t>
    </dgm:pt>
    <dgm:pt modelId="{205318B5-C37B-4790-9334-1D6E4C0468E9}" type="parTrans" cxnId="{98129A7B-6C82-4A23-8224-1CC6BE50D272}">
      <dgm:prSet/>
      <dgm:spPr/>
      <dgm:t>
        <a:bodyPr/>
        <a:lstStyle/>
        <a:p>
          <a:endParaRPr lang="en-US"/>
        </a:p>
      </dgm:t>
    </dgm:pt>
    <dgm:pt modelId="{6C32858C-3C12-41E9-9619-0BA3B8658CE6}" type="sibTrans" cxnId="{98129A7B-6C82-4A23-8224-1CC6BE50D272}">
      <dgm:prSet/>
      <dgm:spPr/>
      <dgm:t>
        <a:bodyPr/>
        <a:lstStyle/>
        <a:p>
          <a:endParaRPr lang="en-US"/>
        </a:p>
      </dgm:t>
    </dgm:pt>
    <dgm:pt modelId="{9B1F3275-2854-4D6E-BEDA-FB91026C49DF}">
      <dgm:prSet/>
      <dgm:spPr/>
      <dgm:t>
        <a:bodyPr/>
        <a:lstStyle/>
        <a:p>
          <a:r>
            <a:rPr lang="en-US"/>
            <a:t>Relationships and Culture: What can be done to build trust, support and teamwork?</a:t>
          </a:r>
        </a:p>
      </dgm:t>
    </dgm:pt>
    <dgm:pt modelId="{4339D691-99C8-449A-8467-B7441CA08E9B}" type="parTrans" cxnId="{DCD97687-E08A-4B66-A9A0-B1FF62F4764F}">
      <dgm:prSet/>
      <dgm:spPr/>
      <dgm:t>
        <a:bodyPr/>
        <a:lstStyle/>
        <a:p>
          <a:endParaRPr lang="en-US"/>
        </a:p>
      </dgm:t>
    </dgm:pt>
    <dgm:pt modelId="{027D3647-7B85-4FDB-B239-AAE178A23EAE}" type="sibTrans" cxnId="{DCD97687-E08A-4B66-A9A0-B1FF62F4764F}">
      <dgm:prSet/>
      <dgm:spPr/>
      <dgm:t>
        <a:bodyPr/>
        <a:lstStyle/>
        <a:p>
          <a:endParaRPr lang="en-US"/>
        </a:p>
      </dgm:t>
    </dgm:pt>
    <dgm:pt modelId="{27AB2FD0-EC83-4484-8458-BB01A846FAFA}" type="pres">
      <dgm:prSet presAssocID="{AF7D6DA4-4CC2-4AA8-99D7-C456EDE2D9D7}" presName="root" presStyleCnt="0">
        <dgm:presLayoutVars>
          <dgm:dir/>
          <dgm:resizeHandles val="exact"/>
        </dgm:presLayoutVars>
      </dgm:prSet>
      <dgm:spPr/>
    </dgm:pt>
    <dgm:pt modelId="{76FBCCF3-F883-44D0-A729-BD6BA100CEBB}" type="pres">
      <dgm:prSet presAssocID="{2B15D4D1-1A6A-4E32-A53F-75C44E565F6A}" presName="compNode" presStyleCnt="0"/>
      <dgm:spPr/>
    </dgm:pt>
    <dgm:pt modelId="{42E9FCDA-BA13-4488-838C-28F85F7B7BD9}" type="pres">
      <dgm:prSet presAssocID="{2B15D4D1-1A6A-4E32-A53F-75C44E565F6A}" presName="bgRect" presStyleLbl="bgShp" presStyleIdx="0" presStyleCnt="5"/>
      <dgm:spPr/>
    </dgm:pt>
    <dgm:pt modelId="{DC469060-217A-415C-99EA-66EAE24BC510}" type="pres">
      <dgm:prSet presAssocID="{2B15D4D1-1A6A-4E32-A53F-75C44E565F6A}"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roup"/>
        </a:ext>
      </dgm:extLst>
    </dgm:pt>
    <dgm:pt modelId="{9952FEB5-EAE5-4109-8490-0348548BEB33}" type="pres">
      <dgm:prSet presAssocID="{2B15D4D1-1A6A-4E32-A53F-75C44E565F6A}" presName="spaceRect" presStyleCnt="0"/>
      <dgm:spPr/>
    </dgm:pt>
    <dgm:pt modelId="{7E49A92D-5A72-4009-AB9C-B8FDD427363E}" type="pres">
      <dgm:prSet presAssocID="{2B15D4D1-1A6A-4E32-A53F-75C44E565F6A}" presName="parTx" presStyleLbl="revTx" presStyleIdx="0" presStyleCnt="5">
        <dgm:presLayoutVars>
          <dgm:chMax val="0"/>
          <dgm:chPref val="0"/>
        </dgm:presLayoutVars>
      </dgm:prSet>
      <dgm:spPr/>
    </dgm:pt>
    <dgm:pt modelId="{559A9728-E11C-4333-B610-B62BBB57C0F1}" type="pres">
      <dgm:prSet presAssocID="{F23F855A-C2A1-4512-AE18-C144AB88DA29}" presName="sibTrans" presStyleCnt="0"/>
      <dgm:spPr/>
    </dgm:pt>
    <dgm:pt modelId="{46BC5650-C4F9-4582-9F7D-FA5A78ABC9F5}" type="pres">
      <dgm:prSet presAssocID="{236C707E-8658-41AE-B343-D74FF23C8467}" presName="compNode" presStyleCnt="0"/>
      <dgm:spPr/>
    </dgm:pt>
    <dgm:pt modelId="{723F299E-3B9C-48F6-8CE7-93E4F700E696}" type="pres">
      <dgm:prSet presAssocID="{236C707E-8658-41AE-B343-D74FF23C8467}" presName="bgRect" presStyleLbl="bgShp" presStyleIdx="1" presStyleCnt="5"/>
      <dgm:spPr/>
    </dgm:pt>
    <dgm:pt modelId="{12D568DC-FDC2-408E-84D3-B7A728E50BAE}" type="pres">
      <dgm:prSet presAssocID="{236C707E-8658-41AE-B343-D74FF23C8467}"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pward trend"/>
        </a:ext>
      </dgm:extLst>
    </dgm:pt>
    <dgm:pt modelId="{DA5542C9-C108-4243-ABB1-6694BFAC2615}" type="pres">
      <dgm:prSet presAssocID="{236C707E-8658-41AE-B343-D74FF23C8467}" presName="spaceRect" presStyleCnt="0"/>
      <dgm:spPr/>
    </dgm:pt>
    <dgm:pt modelId="{1950896B-0D75-46A0-B53E-1C50D7E78759}" type="pres">
      <dgm:prSet presAssocID="{236C707E-8658-41AE-B343-D74FF23C8467}" presName="parTx" presStyleLbl="revTx" presStyleIdx="1" presStyleCnt="5">
        <dgm:presLayoutVars>
          <dgm:chMax val="0"/>
          <dgm:chPref val="0"/>
        </dgm:presLayoutVars>
      </dgm:prSet>
      <dgm:spPr/>
    </dgm:pt>
    <dgm:pt modelId="{38E8B907-6987-4D0C-B4DF-5433C1EC2F4F}" type="pres">
      <dgm:prSet presAssocID="{A8EF7F6C-A4D0-4A26-B274-34A16127A14D}" presName="sibTrans" presStyleCnt="0"/>
      <dgm:spPr/>
    </dgm:pt>
    <dgm:pt modelId="{D545352B-7849-4B71-A1AA-B5851EE20E51}" type="pres">
      <dgm:prSet presAssocID="{FFCDF715-8BA1-40E1-A85F-A4FB0D354854}" presName="compNode" presStyleCnt="0"/>
      <dgm:spPr/>
    </dgm:pt>
    <dgm:pt modelId="{04E23F3E-912F-401C-A9E5-843BF0497FFE}" type="pres">
      <dgm:prSet presAssocID="{FFCDF715-8BA1-40E1-A85F-A4FB0D354854}" presName="bgRect" presStyleLbl="bgShp" presStyleIdx="2" presStyleCnt="5"/>
      <dgm:spPr/>
    </dgm:pt>
    <dgm:pt modelId="{4A3DC65D-A10B-45DD-BF31-3CE4CC4E11A5}" type="pres">
      <dgm:prSet presAssocID="{FFCDF715-8BA1-40E1-A85F-A4FB0D354854}"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Angel Face Outline"/>
        </a:ext>
      </dgm:extLst>
    </dgm:pt>
    <dgm:pt modelId="{DA70FD7E-F2E4-4993-9190-D8EC781277A9}" type="pres">
      <dgm:prSet presAssocID="{FFCDF715-8BA1-40E1-A85F-A4FB0D354854}" presName="spaceRect" presStyleCnt="0"/>
      <dgm:spPr/>
    </dgm:pt>
    <dgm:pt modelId="{41B3CC56-FD7A-49D7-864D-8CD566EE8D65}" type="pres">
      <dgm:prSet presAssocID="{FFCDF715-8BA1-40E1-A85F-A4FB0D354854}" presName="parTx" presStyleLbl="revTx" presStyleIdx="2" presStyleCnt="5">
        <dgm:presLayoutVars>
          <dgm:chMax val="0"/>
          <dgm:chPref val="0"/>
        </dgm:presLayoutVars>
      </dgm:prSet>
      <dgm:spPr/>
    </dgm:pt>
    <dgm:pt modelId="{5D09569E-1A50-46A0-8623-48D08FCBD0EF}" type="pres">
      <dgm:prSet presAssocID="{131DA2B1-8210-4AFA-8979-82E14B50302E}" presName="sibTrans" presStyleCnt="0"/>
      <dgm:spPr/>
    </dgm:pt>
    <dgm:pt modelId="{8CCC2FAC-4DA8-4962-93AA-CB2C34466352}" type="pres">
      <dgm:prSet presAssocID="{6A451204-61BF-467A-8FB7-24827E579909}" presName="compNode" presStyleCnt="0"/>
      <dgm:spPr/>
    </dgm:pt>
    <dgm:pt modelId="{FDDFA5B4-8953-4B4D-9C5F-D25306DF3190}" type="pres">
      <dgm:prSet presAssocID="{6A451204-61BF-467A-8FB7-24827E579909}" presName="bgRect" presStyleLbl="bgShp" presStyleIdx="3" presStyleCnt="5"/>
      <dgm:spPr/>
    </dgm:pt>
    <dgm:pt modelId="{66767AC7-3CE7-49BB-BC96-EDDAF2F94FAD}" type="pres">
      <dgm:prSet presAssocID="{6A451204-61BF-467A-8FB7-24827E579909}"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onnections"/>
        </a:ext>
      </dgm:extLst>
    </dgm:pt>
    <dgm:pt modelId="{70206C2A-C471-4FF2-9A91-03575F857AB7}" type="pres">
      <dgm:prSet presAssocID="{6A451204-61BF-467A-8FB7-24827E579909}" presName="spaceRect" presStyleCnt="0"/>
      <dgm:spPr/>
    </dgm:pt>
    <dgm:pt modelId="{ED2D029B-A3F9-428F-B3D1-DEBDF1208C53}" type="pres">
      <dgm:prSet presAssocID="{6A451204-61BF-467A-8FB7-24827E579909}" presName="parTx" presStyleLbl="revTx" presStyleIdx="3" presStyleCnt="5">
        <dgm:presLayoutVars>
          <dgm:chMax val="0"/>
          <dgm:chPref val="0"/>
        </dgm:presLayoutVars>
      </dgm:prSet>
      <dgm:spPr/>
    </dgm:pt>
    <dgm:pt modelId="{4DEB8BC6-B692-4371-B814-D756AF8BAE12}" type="pres">
      <dgm:prSet presAssocID="{6C32858C-3C12-41E9-9619-0BA3B8658CE6}" presName="sibTrans" presStyleCnt="0"/>
      <dgm:spPr/>
    </dgm:pt>
    <dgm:pt modelId="{FD6F23D0-81C5-4CB9-BB84-47E22AEE6327}" type="pres">
      <dgm:prSet presAssocID="{9B1F3275-2854-4D6E-BEDA-FB91026C49DF}" presName="compNode" presStyleCnt="0"/>
      <dgm:spPr/>
    </dgm:pt>
    <dgm:pt modelId="{9E207B78-44CF-4B97-A439-90CACC60E1B5}" type="pres">
      <dgm:prSet presAssocID="{9B1F3275-2854-4D6E-BEDA-FB91026C49DF}" presName="bgRect" presStyleLbl="bgShp" presStyleIdx="4" presStyleCnt="5"/>
      <dgm:spPr/>
    </dgm:pt>
    <dgm:pt modelId="{C85E1406-D5BE-4FA7-BC27-64A01C3D6496}" type="pres">
      <dgm:prSet presAssocID="{9B1F3275-2854-4D6E-BEDA-FB91026C49DF}"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heers"/>
        </a:ext>
      </dgm:extLst>
    </dgm:pt>
    <dgm:pt modelId="{AF947A58-5814-42D0-AD0D-A5DDDDEA3F1C}" type="pres">
      <dgm:prSet presAssocID="{9B1F3275-2854-4D6E-BEDA-FB91026C49DF}" presName="spaceRect" presStyleCnt="0"/>
      <dgm:spPr/>
    </dgm:pt>
    <dgm:pt modelId="{C0A1B249-5A9F-4BB5-AE3C-A70F1AD75FE2}" type="pres">
      <dgm:prSet presAssocID="{9B1F3275-2854-4D6E-BEDA-FB91026C49DF}" presName="parTx" presStyleLbl="revTx" presStyleIdx="4" presStyleCnt="5">
        <dgm:presLayoutVars>
          <dgm:chMax val="0"/>
          <dgm:chPref val="0"/>
        </dgm:presLayoutVars>
      </dgm:prSet>
      <dgm:spPr/>
    </dgm:pt>
  </dgm:ptLst>
  <dgm:cxnLst>
    <dgm:cxn modelId="{2B32C201-D00D-488F-AA05-3B184D9B051C}" type="presOf" srcId="{2B15D4D1-1A6A-4E32-A53F-75C44E565F6A}" destId="{7E49A92D-5A72-4009-AB9C-B8FDD427363E}" srcOrd="0" destOrd="0" presId="urn:microsoft.com/office/officeart/2018/2/layout/IconVerticalSolidList"/>
    <dgm:cxn modelId="{A7AE591A-268C-4D41-B254-A887CD88EB06}" type="presOf" srcId="{AF7D6DA4-4CC2-4AA8-99D7-C456EDE2D9D7}" destId="{27AB2FD0-EC83-4484-8458-BB01A846FAFA}" srcOrd="0" destOrd="0" presId="urn:microsoft.com/office/officeart/2018/2/layout/IconVerticalSolidList"/>
    <dgm:cxn modelId="{47ED9D4A-439B-4AC1-82D6-FA33432B0880}" type="presOf" srcId="{236C707E-8658-41AE-B343-D74FF23C8467}" destId="{1950896B-0D75-46A0-B53E-1C50D7E78759}" srcOrd="0" destOrd="0" presId="urn:microsoft.com/office/officeart/2018/2/layout/IconVerticalSolidList"/>
    <dgm:cxn modelId="{80E5576C-24B3-4772-876B-D5931BF676C6}" srcId="{AF7D6DA4-4CC2-4AA8-99D7-C456EDE2D9D7}" destId="{236C707E-8658-41AE-B343-D74FF23C8467}" srcOrd="1" destOrd="0" parTransId="{769C7368-1792-4B47-B259-48EC8BB7B816}" sibTransId="{A8EF7F6C-A4D0-4A26-B274-34A16127A14D}"/>
    <dgm:cxn modelId="{98129A7B-6C82-4A23-8224-1CC6BE50D272}" srcId="{AF7D6DA4-4CC2-4AA8-99D7-C456EDE2D9D7}" destId="{6A451204-61BF-467A-8FB7-24827E579909}" srcOrd="3" destOrd="0" parTransId="{205318B5-C37B-4790-9334-1D6E4C0468E9}" sibTransId="{6C32858C-3C12-41E9-9619-0BA3B8658CE6}"/>
    <dgm:cxn modelId="{DCD97687-E08A-4B66-A9A0-B1FF62F4764F}" srcId="{AF7D6DA4-4CC2-4AA8-99D7-C456EDE2D9D7}" destId="{9B1F3275-2854-4D6E-BEDA-FB91026C49DF}" srcOrd="4" destOrd="0" parTransId="{4339D691-99C8-449A-8467-B7441CA08E9B}" sibTransId="{027D3647-7B85-4FDB-B239-AAE178A23EAE}"/>
    <dgm:cxn modelId="{912588C5-A230-4A0A-B832-1181D01AAB7B}" srcId="{AF7D6DA4-4CC2-4AA8-99D7-C456EDE2D9D7}" destId="{FFCDF715-8BA1-40E1-A85F-A4FB0D354854}" srcOrd="2" destOrd="0" parTransId="{12CEE8E0-330B-475D-BAAF-2EC9A4BCED2A}" sibTransId="{131DA2B1-8210-4AFA-8979-82E14B50302E}"/>
    <dgm:cxn modelId="{5DFA57DD-D29A-41B5-943C-036F5886D5C9}" type="presOf" srcId="{6A451204-61BF-467A-8FB7-24827E579909}" destId="{ED2D029B-A3F9-428F-B3D1-DEBDF1208C53}" srcOrd="0" destOrd="0" presId="urn:microsoft.com/office/officeart/2018/2/layout/IconVerticalSolidList"/>
    <dgm:cxn modelId="{323CE4DF-9369-4EF7-A75C-36757B4F4130}" type="presOf" srcId="{FFCDF715-8BA1-40E1-A85F-A4FB0D354854}" destId="{41B3CC56-FD7A-49D7-864D-8CD566EE8D65}" srcOrd="0" destOrd="0" presId="urn:microsoft.com/office/officeart/2018/2/layout/IconVerticalSolidList"/>
    <dgm:cxn modelId="{2973B3E4-B8AB-4C66-BFB2-F6110D3A6294}" srcId="{AF7D6DA4-4CC2-4AA8-99D7-C456EDE2D9D7}" destId="{2B15D4D1-1A6A-4E32-A53F-75C44E565F6A}" srcOrd="0" destOrd="0" parTransId="{23643BC6-653C-4F5C-8CE8-F35E9F28DCE2}" sibTransId="{F23F855A-C2A1-4512-AE18-C144AB88DA29}"/>
    <dgm:cxn modelId="{D956C5F5-2423-495D-9CB8-E9DEA9B97BA3}" type="presOf" srcId="{9B1F3275-2854-4D6E-BEDA-FB91026C49DF}" destId="{C0A1B249-5A9F-4BB5-AE3C-A70F1AD75FE2}" srcOrd="0" destOrd="0" presId="urn:microsoft.com/office/officeart/2018/2/layout/IconVerticalSolidList"/>
    <dgm:cxn modelId="{05A4AF3D-1185-4E63-BFC8-48209EB58321}" type="presParOf" srcId="{27AB2FD0-EC83-4484-8458-BB01A846FAFA}" destId="{76FBCCF3-F883-44D0-A729-BD6BA100CEBB}" srcOrd="0" destOrd="0" presId="urn:microsoft.com/office/officeart/2018/2/layout/IconVerticalSolidList"/>
    <dgm:cxn modelId="{B7B10F57-C66A-4783-83A8-789AAE31D3C3}" type="presParOf" srcId="{76FBCCF3-F883-44D0-A729-BD6BA100CEBB}" destId="{42E9FCDA-BA13-4488-838C-28F85F7B7BD9}" srcOrd="0" destOrd="0" presId="urn:microsoft.com/office/officeart/2018/2/layout/IconVerticalSolidList"/>
    <dgm:cxn modelId="{C849BFD5-DBA6-42D6-9251-59D5544A4C41}" type="presParOf" srcId="{76FBCCF3-F883-44D0-A729-BD6BA100CEBB}" destId="{DC469060-217A-415C-99EA-66EAE24BC510}" srcOrd="1" destOrd="0" presId="urn:microsoft.com/office/officeart/2018/2/layout/IconVerticalSolidList"/>
    <dgm:cxn modelId="{5601A146-EE8A-4224-A029-3F82C3254814}" type="presParOf" srcId="{76FBCCF3-F883-44D0-A729-BD6BA100CEBB}" destId="{9952FEB5-EAE5-4109-8490-0348548BEB33}" srcOrd="2" destOrd="0" presId="urn:microsoft.com/office/officeart/2018/2/layout/IconVerticalSolidList"/>
    <dgm:cxn modelId="{7201787C-A061-4463-83E1-48FFDA589687}" type="presParOf" srcId="{76FBCCF3-F883-44D0-A729-BD6BA100CEBB}" destId="{7E49A92D-5A72-4009-AB9C-B8FDD427363E}" srcOrd="3" destOrd="0" presId="urn:microsoft.com/office/officeart/2018/2/layout/IconVerticalSolidList"/>
    <dgm:cxn modelId="{C08E0556-82AF-4EDD-99EB-E07FD6A90885}" type="presParOf" srcId="{27AB2FD0-EC83-4484-8458-BB01A846FAFA}" destId="{559A9728-E11C-4333-B610-B62BBB57C0F1}" srcOrd="1" destOrd="0" presId="urn:microsoft.com/office/officeart/2018/2/layout/IconVerticalSolidList"/>
    <dgm:cxn modelId="{CC099536-6E55-45B3-8DAF-D12BD8FF5D37}" type="presParOf" srcId="{27AB2FD0-EC83-4484-8458-BB01A846FAFA}" destId="{46BC5650-C4F9-4582-9F7D-FA5A78ABC9F5}" srcOrd="2" destOrd="0" presId="urn:microsoft.com/office/officeart/2018/2/layout/IconVerticalSolidList"/>
    <dgm:cxn modelId="{11AFF389-6101-4357-AA95-DC59A5C66882}" type="presParOf" srcId="{46BC5650-C4F9-4582-9F7D-FA5A78ABC9F5}" destId="{723F299E-3B9C-48F6-8CE7-93E4F700E696}" srcOrd="0" destOrd="0" presId="urn:microsoft.com/office/officeart/2018/2/layout/IconVerticalSolidList"/>
    <dgm:cxn modelId="{4D6757A6-E69E-4B58-9E7B-15832F8AD50F}" type="presParOf" srcId="{46BC5650-C4F9-4582-9F7D-FA5A78ABC9F5}" destId="{12D568DC-FDC2-408E-84D3-B7A728E50BAE}" srcOrd="1" destOrd="0" presId="urn:microsoft.com/office/officeart/2018/2/layout/IconVerticalSolidList"/>
    <dgm:cxn modelId="{3C297345-1FDF-4AEF-8039-215AF1EDAA7B}" type="presParOf" srcId="{46BC5650-C4F9-4582-9F7D-FA5A78ABC9F5}" destId="{DA5542C9-C108-4243-ABB1-6694BFAC2615}" srcOrd="2" destOrd="0" presId="urn:microsoft.com/office/officeart/2018/2/layout/IconVerticalSolidList"/>
    <dgm:cxn modelId="{4396094C-80EA-4B9B-AFCA-6DAC5136F223}" type="presParOf" srcId="{46BC5650-C4F9-4582-9F7D-FA5A78ABC9F5}" destId="{1950896B-0D75-46A0-B53E-1C50D7E78759}" srcOrd="3" destOrd="0" presId="urn:microsoft.com/office/officeart/2018/2/layout/IconVerticalSolidList"/>
    <dgm:cxn modelId="{71671F2F-8F9A-43CE-984F-2EFAF9D04D61}" type="presParOf" srcId="{27AB2FD0-EC83-4484-8458-BB01A846FAFA}" destId="{38E8B907-6987-4D0C-B4DF-5433C1EC2F4F}" srcOrd="3" destOrd="0" presId="urn:microsoft.com/office/officeart/2018/2/layout/IconVerticalSolidList"/>
    <dgm:cxn modelId="{5A355A85-C089-4324-A905-56E302A6B86E}" type="presParOf" srcId="{27AB2FD0-EC83-4484-8458-BB01A846FAFA}" destId="{D545352B-7849-4B71-A1AA-B5851EE20E51}" srcOrd="4" destOrd="0" presId="urn:microsoft.com/office/officeart/2018/2/layout/IconVerticalSolidList"/>
    <dgm:cxn modelId="{24E4F74E-17CA-4F69-BD7F-E47D3D0E03A7}" type="presParOf" srcId="{D545352B-7849-4B71-A1AA-B5851EE20E51}" destId="{04E23F3E-912F-401C-A9E5-843BF0497FFE}" srcOrd="0" destOrd="0" presId="urn:microsoft.com/office/officeart/2018/2/layout/IconVerticalSolidList"/>
    <dgm:cxn modelId="{8EC9032E-A0AC-4069-83DA-A72096CDE669}" type="presParOf" srcId="{D545352B-7849-4B71-A1AA-B5851EE20E51}" destId="{4A3DC65D-A10B-45DD-BF31-3CE4CC4E11A5}" srcOrd="1" destOrd="0" presId="urn:microsoft.com/office/officeart/2018/2/layout/IconVerticalSolidList"/>
    <dgm:cxn modelId="{F78D29F7-7215-44E2-A980-A668A8DC34BF}" type="presParOf" srcId="{D545352B-7849-4B71-A1AA-B5851EE20E51}" destId="{DA70FD7E-F2E4-4993-9190-D8EC781277A9}" srcOrd="2" destOrd="0" presId="urn:microsoft.com/office/officeart/2018/2/layout/IconVerticalSolidList"/>
    <dgm:cxn modelId="{2EC9136F-5DC1-4E8F-A86B-9368DB3FC2BD}" type="presParOf" srcId="{D545352B-7849-4B71-A1AA-B5851EE20E51}" destId="{41B3CC56-FD7A-49D7-864D-8CD566EE8D65}" srcOrd="3" destOrd="0" presId="urn:microsoft.com/office/officeart/2018/2/layout/IconVerticalSolidList"/>
    <dgm:cxn modelId="{FA706882-041A-4C56-B705-235F49DDBCF6}" type="presParOf" srcId="{27AB2FD0-EC83-4484-8458-BB01A846FAFA}" destId="{5D09569E-1A50-46A0-8623-48D08FCBD0EF}" srcOrd="5" destOrd="0" presId="urn:microsoft.com/office/officeart/2018/2/layout/IconVerticalSolidList"/>
    <dgm:cxn modelId="{4F4195A4-E7DB-45B1-9E57-DF91AE62D476}" type="presParOf" srcId="{27AB2FD0-EC83-4484-8458-BB01A846FAFA}" destId="{8CCC2FAC-4DA8-4962-93AA-CB2C34466352}" srcOrd="6" destOrd="0" presId="urn:microsoft.com/office/officeart/2018/2/layout/IconVerticalSolidList"/>
    <dgm:cxn modelId="{E36D8F82-21CB-485D-8506-7E157CD4637F}" type="presParOf" srcId="{8CCC2FAC-4DA8-4962-93AA-CB2C34466352}" destId="{FDDFA5B4-8953-4B4D-9C5F-D25306DF3190}" srcOrd="0" destOrd="0" presId="urn:microsoft.com/office/officeart/2018/2/layout/IconVerticalSolidList"/>
    <dgm:cxn modelId="{7DA88AAD-9BCF-4EA6-B52D-A9D7B59BC39B}" type="presParOf" srcId="{8CCC2FAC-4DA8-4962-93AA-CB2C34466352}" destId="{66767AC7-3CE7-49BB-BC96-EDDAF2F94FAD}" srcOrd="1" destOrd="0" presId="urn:microsoft.com/office/officeart/2018/2/layout/IconVerticalSolidList"/>
    <dgm:cxn modelId="{DF80EF4F-BC23-4EE8-A2C5-4C33B12D1F7E}" type="presParOf" srcId="{8CCC2FAC-4DA8-4962-93AA-CB2C34466352}" destId="{70206C2A-C471-4FF2-9A91-03575F857AB7}" srcOrd="2" destOrd="0" presId="urn:microsoft.com/office/officeart/2018/2/layout/IconVerticalSolidList"/>
    <dgm:cxn modelId="{F789EEB4-C95E-497D-9776-60F6BCFDE0B4}" type="presParOf" srcId="{8CCC2FAC-4DA8-4962-93AA-CB2C34466352}" destId="{ED2D029B-A3F9-428F-B3D1-DEBDF1208C53}" srcOrd="3" destOrd="0" presId="urn:microsoft.com/office/officeart/2018/2/layout/IconVerticalSolidList"/>
    <dgm:cxn modelId="{02BC191F-474E-4926-8CD3-AF99F838528D}" type="presParOf" srcId="{27AB2FD0-EC83-4484-8458-BB01A846FAFA}" destId="{4DEB8BC6-B692-4371-B814-D756AF8BAE12}" srcOrd="7" destOrd="0" presId="urn:microsoft.com/office/officeart/2018/2/layout/IconVerticalSolidList"/>
    <dgm:cxn modelId="{36800FD7-BB94-4579-A8D3-BF2000A522CA}" type="presParOf" srcId="{27AB2FD0-EC83-4484-8458-BB01A846FAFA}" destId="{FD6F23D0-81C5-4CB9-BB84-47E22AEE6327}" srcOrd="8" destOrd="0" presId="urn:microsoft.com/office/officeart/2018/2/layout/IconVerticalSolidList"/>
    <dgm:cxn modelId="{04B5B718-0361-4F7B-8E0D-1D5C61E88E49}" type="presParOf" srcId="{FD6F23D0-81C5-4CB9-BB84-47E22AEE6327}" destId="{9E207B78-44CF-4B97-A439-90CACC60E1B5}" srcOrd="0" destOrd="0" presId="urn:microsoft.com/office/officeart/2018/2/layout/IconVerticalSolidList"/>
    <dgm:cxn modelId="{84F2895C-7EB9-401F-9C57-5A0EC8C282AD}" type="presParOf" srcId="{FD6F23D0-81C5-4CB9-BB84-47E22AEE6327}" destId="{C85E1406-D5BE-4FA7-BC27-64A01C3D6496}" srcOrd="1" destOrd="0" presId="urn:microsoft.com/office/officeart/2018/2/layout/IconVerticalSolidList"/>
    <dgm:cxn modelId="{FA06172A-1DB9-4DB5-AE78-EE06396B02C7}" type="presParOf" srcId="{FD6F23D0-81C5-4CB9-BB84-47E22AEE6327}" destId="{AF947A58-5814-42D0-AD0D-A5DDDDEA3F1C}" srcOrd="2" destOrd="0" presId="urn:microsoft.com/office/officeart/2018/2/layout/IconVerticalSolidList"/>
    <dgm:cxn modelId="{709E7B8C-5AAD-429E-9F27-C24D07155391}" type="presParOf" srcId="{FD6F23D0-81C5-4CB9-BB84-47E22AEE6327}" destId="{C0A1B249-5A9F-4BB5-AE3C-A70F1AD75FE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AB3415AE-1BC0-4E6C-B39A-1D9526AD8FC2}" type="doc">
      <dgm:prSet loTypeId="urn:microsoft.com/office/officeart/2005/8/layout/vList5" loCatId="list" qsTypeId="urn:microsoft.com/office/officeart/2005/8/quickstyle/simple1" qsCatId="simple" csTypeId="urn:microsoft.com/office/officeart/2005/8/colors/colorful2" csCatId="colorful"/>
      <dgm:spPr/>
      <dgm:t>
        <a:bodyPr/>
        <a:lstStyle/>
        <a:p>
          <a:endParaRPr lang="en-US"/>
        </a:p>
      </dgm:t>
    </dgm:pt>
    <dgm:pt modelId="{153CAE7F-221F-4030-BE31-04F6F2FF1AF0}">
      <dgm:prSet/>
      <dgm:spPr/>
      <dgm:t>
        <a:bodyPr/>
        <a:lstStyle/>
        <a:p>
          <a:r>
            <a:rPr lang="en-US"/>
            <a:t>Job – way to make money </a:t>
          </a:r>
        </a:p>
      </dgm:t>
    </dgm:pt>
    <dgm:pt modelId="{A1C6782F-C9A5-4EA8-95B9-73E655584047}" type="parTrans" cxnId="{EA1FEA15-5D7A-4525-BD97-604BC40579EC}">
      <dgm:prSet/>
      <dgm:spPr/>
      <dgm:t>
        <a:bodyPr/>
        <a:lstStyle/>
        <a:p>
          <a:endParaRPr lang="en-US"/>
        </a:p>
      </dgm:t>
    </dgm:pt>
    <dgm:pt modelId="{2C183C3E-8F14-49E9-8D1D-FAF16854FABC}" type="sibTrans" cxnId="{EA1FEA15-5D7A-4525-BD97-604BC40579EC}">
      <dgm:prSet/>
      <dgm:spPr/>
      <dgm:t>
        <a:bodyPr/>
        <a:lstStyle/>
        <a:p>
          <a:endParaRPr lang="en-US"/>
        </a:p>
      </dgm:t>
    </dgm:pt>
    <dgm:pt modelId="{2BA81136-E007-4DC6-91F3-091EF966C993}">
      <dgm:prSet/>
      <dgm:spPr/>
      <dgm:t>
        <a:bodyPr/>
        <a:lstStyle/>
        <a:p>
          <a:r>
            <a:rPr lang="en-US"/>
            <a:t>Means to an end</a:t>
          </a:r>
        </a:p>
      </dgm:t>
    </dgm:pt>
    <dgm:pt modelId="{5CEFA894-D2B7-4757-933E-3691AAF91168}" type="parTrans" cxnId="{8AD3B54F-1C53-44F2-968C-83A441A3164C}">
      <dgm:prSet/>
      <dgm:spPr/>
      <dgm:t>
        <a:bodyPr/>
        <a:lstStyle/>
        <a:p>
          <a:endParaRPr lang="en-US"/>
        </a:p>
      </dgm:t>
    </dgm:pt>
    <dgm:pt modelId="{5107A29B-0C5F-4B51-836D-AC8BBBCEEF5D}" type="sibTrans" cxnId="{8AD3B54F-1C53-44F2-968C-83A441A3164C}">
      <dgm:prSet/>
      <dgm:spPr/>
      <dgm:t>
        <a:bodyPr/>
        <a:lstStyle/>
        <a:p>
          <a:endParaRPr lang="en-US"/>
        </a:p>
      </dgm:t>
    </dgm:pt>
    <dgm:pt modelId="{7139A4D2-6F7E-48CF-9A1E-521115FBDF9E}">
      <dgm:prSet/>
      <dgm:spPr/>
      <dgm:t>
        <a:bodyPr/>
        <a:lstStyle/>
        <a:p>
          <a:r>
            <a:rPr lang="en-US"/>
            <a:t>Enjoyment of life outside of work prioritized</a:t>
          </a:r>
        </a:p>
      </dgm:t>
    </dgm:pt>
    <dgm:pt modelId="{5A46AE98-7378-4C95-B8D5-95D35A9EB345}" type="parTrans" cxnId="{B87E0C3C-A964-4D72-9778-AA8E26090B88}">
      <dgm:prSet/>
      <dgm:spPr/>
      <dgm:t>
        <a:bodyPr/>
        <a:lstStyle/>
        <a:p>
          <a:endParaRPr lang="en-US"/>
        </a:p>
      </dgm:t>
    </dgm:pt>
    <dgm:pt modelId="{233D959D-A323-4731-8A10-228F7F67C743}" type="sibTrans" cxnId="{B87E0C3C-A964-4D72-9778-AA8E26090B88}">
      <dgm:prSet/>
      <dgm:spPr/>
      <dgm:t>
        <a:bodyPr/>
        <a:lstStyle/>
        <a:p>
          <a:endParaRPr lang="en-US"/>
        </a:p>
      </dgm:t>
    </dgm:pt>
    <dgm:pt modelId="{9267DE3E-5BFA-427A-B965-C447B220D631}">
      <dgm:prSet/>
      <dgm:spPr/>
      <dgm:t>
        <a:bodyPr/>
        <a:lstStyle/>
        <a:p>
          <a:r>
            <a:rPr lang="en-US"/>
            <a:t>Career – potential for advancement at work</a:t>
          </a:r>
        </a:p>
      </dgm:t>
    </dgm:pt>
    <dgm:pt modelId="{D27CD064-49CA-4C26-9184-7A18B67D07AA}" type="parTrans" cxnId="{918E5029-CC6C-4CC8-9410-B6F818CAF8E2}">
      <dgm:prSet/>
      <dgm:spPr/>
      <dgm:t>
        <a:bodyPr/>
        <a:lstStyle/>
        <a:p>
          <a:endParaRPr lang="en-US"/>
        </a:p>
      </dgm:t>
    </dgm:pt>
    <dgm:pt modelId="{D2D03DF1-5E3F-40F9-8B82-4B7C3B88AB60}" type="sibTrans" cxnId="{918E5029-CC6C-4CC8-9410-B6F818CAF8E2}">
      <dgm:prSet/>
      <dgm:spPr/>
      <dgm:t>
        <a:bodyPr/>
        <a:lstStyle/>
        <a:p>
          <a:endParaRPr lang="en-US"/>
        </a:p>
      </dgm:t>
    </dgm:pt>
    <dgm:pt modelId="{11650F87-1FDE-48FA-AADE-E6AC62FEE1A4}">
      <dgm:prSet/>
      <dgm:spPr/>
      <dgm:t>
        <a:bodyPr/>
        <a:lstStyle/>
        <a:p>
          <a:r>
            <a:rPr lang="en-US" dirty="0"/>
            <a:t>Gains and promotions are personally meaningful</a:t>
          </a:r>
        </a:p>
      </dgm:t>
    </dgm:pt>
    <dgm:pt modelId="{4F788948-D423-4604-9300-270993938C7D}" type="parTrans" cxnId="{B7AA896D-FCDF-4EA9-A865-DA7D2D8F1583}">
      <dgm:prSet/>
      <dgm:spPr/>
      <dgm:t>
        <a:bodyPr/>
        <a:lstStyle/>
        <a:p>
          <a:endParaRPr lang="en-US"/>
        </a:p>
      </dgm:t>
    </dgm:pt>
    <dgm:pt modelId="{DD2238FF-B28B-41A4-8231-973DA8979894}" type="sibTrans" cxnId="{B7AA896D-FCDF-4EA9-A865-DA7D2D8F1583}">
      <dgm:prSet/>
      <dgm:spPr/>
      <dgm:t>
        <a:bodyPr/>
        <a:lstStyle/>
        <a:p>
          <a:endParaRPr lang="en-US"/>
        </a:p>
      </dgm:t>
    </dgm:pt>
    <dgm:pt modelId="{8CA28F72-0C26-4436-BB3C-9748131B92A7}">
      <dgm:prSet/>
      <dgm:spPr/>
      <dgm:t>
        <a:bodyPr/>
        <a:lstStyle/>
        <a:p>
          <a:r>
            <a:rPr lang="en-US"/>
            <a:t>Opportunities to gain prestige, power, and prove oneself</a:t>
          </a:r>
        </a:p>
      </dgm:t>
    </dgm:pt>
    <dgm:pt modelId="{72C9A539-C4CE-4F73-8452-1943BA6DC1E5}" type="parTrans" cxnId="{864DB7C3-F3B8-473F-8378-7A12BC4C4277}">
      <dgm:prSet/>
      <dgm:spPr/>
      <dgm:t>
        <a:bodyPr/>
        <a:lstStyle/>
        <a:p>
          <a:endParaRPr lang="en-US"/>
        </a:p>
      </dgm:t>
    </dgm:pt>
    <dgm:pt modelId="{DFF3FE13-52A7-4BAD-9076-D1AB7303C2ED}" type="sibTrans" cxnId="{864DB7C3-F3B8-473F-8378-7A12BC4C4277}">
      <dgm:prSet/>
      <dgm:spPr/>
      <dgm:t>
        <a:bodyPr/>
        <a:lstStyle/>
        <a:p>
          <a:endParaRPr lang="en-US"/>
        </a:p>
      </dgm:t>
    </dgm:pt>
    <dgm:pt modelId="{8DEB94AA-768E-4807-867D-825537B91E9C}">
      <dgm:prSet/>
      <dgm:spPr/>
      <dgm:t>
        <a:bodyPr/>
        <a:lstStyle/>
        <a:p>
          <a:r>
            <a:rPr lang="en-US"/>
            <a:t>Calling – work is inseparable from the person</a:t>
          </a:r>
        </a:p>
      </dgm:t>
    </dgm:pt>
    <dgm:pt modelId="{F13A1097-CD81-4FB5-92EA-3E708A29A712}" type="parTrans" cxnId="{09725464-49B5-4138-8855-EF1BE0DE4653}">
      <dgm:prSet/>
      <dgm:spPr/>
      <dgm:t>
        <a:bodyPr/>
        <a:lstStyle/>
        <a:p>
          <a:endParaRPr lang="en-US"/>
        </a:p>
      </dgm:t>
    </dgm:pt>
    <dgm:pt modelId="{71C89237-0E7C-4C4A-A093-85DADEA851BF}" type="sibTrans" cxnId="{09725464-49B5-4138-8855-EF1BE0DE4653}">
      <dgm:prSet/>
      <dgm:spPr/>
      <dgm:t>
        <a:bodyPr/>
        <a:lstStyle/>
        <a:p>
          <a:endParaRPr lang="en-US"/>
        </a:p>
      </dgm:t>
    </dgm:pt>
    <dgm:pt modelId="{7FD9619B-8B5E-4A09-BD87-FFFEE1DD2825}">
      <dgm:prSet/>
      <dgm:spPr/>
      <dgm:t>
        <a:bodyPr/>
        <a:lstStyle/>
        <a:p>
          <a:r>
            <a:rPr lang="en-US"/>
            <a:t>Work reflects values, passion, and meaning</a:t>
          </a:r>
        </a:p>
      </dgm:t>
    </dgm:pt>
    <dgm:pt modelId="{3965EBAE-1CAB-4C76-B743-A927D5FB8D8C}" type="parTrans" cxnId="{F92AA4C4-9E80-45B7-A0FC-7ABC9042FC9C}">
      <dgm:prSet/>
      <dgm:spPr/>
      <dgm:t>
        <a:bodyPr/>
        <a:lstStyle/>
        <a:p>
          <a:endParaRPr lang="en-US"/>
        </a:p>
      </dgm:t>
    </dgm:pt>
    <dgm:pt modelId="{514B981C-2ADD-4266-A031-6E6DD3E160B0}" type="sibTrans" cxnId="{F92AA4C4-9E80-45B7-A0FC-7ABC9042FC9C}">
      <dgm:prSet/>
      <dgm:spPr/>
      <dgm:t>
        <a:bodyPr/>
        <a:lstStyle/>
        <a:p>
          <a:endParaRPr lang="en-US"/>
        </a:p>
      </dgm:t>
    </dgm:pt>
    <dgm:pt modelId="{7CDE6DCF-B53F-4C99-A318-65B881AD644D}">
      <dgm:prSet/>
      <dgm:spPr/>
      <dgm:t>
        <a:bodyPr/>
        <a:lstStyle/>
        <a:p>
          <a:r>
            <a:rPr lang="en-US"/>
            <a:t>Can be in any type of work</a:t>
          </a:r>
        </a:p>
      </dgm:t>
    </dgm:pt>
    <dgm:pt modelId="{00AC7558-6CE7-4292-B2B9-4B0CA7C2FFA9}" type="parTrans" cxnId="{5FC8CEBB-B65F-4EC6-A0A2-D5CFC43E0CAA}">
      <dgm:prSet/>
      <dgm:spPr/>
      <dgm:t>
        <a:bodyPr/>
        <a:lstStyle/>
        <a:p>
          <a:endParaRPr lang="en-US"/>
        </a:p>
      </dgm:t>
    </dgm:pt>
    <dgm:pt modelId="{444D2496-43CC-49F2-BFAC-6EB21DD3B3B8}" type="sibTrans" cxnId="{5FC8CEBB-B65F-4EC6-A0A2-D5CFC43E0CAA}">
      <dgm:prSet/>
      <dgm:spPr/>
      <dgm:t>
        <a:bodyPr/>
        <a:lstStyle/>
        <a:p>
          <a:endParaRPr lang="en-US"/>
        </a:p>
      </dgm:t>
    </dgm:pt>
    <dgm:pt modelId="{B0FDC2D8-740F-420F-9D8C-F2E50DDE092C}" type="pres">
      <dgm:prSet presAssocID="{AB3415AE-1BC0-4E6C-B39A-1D9526AD8FC2}" presName="Name0" presStyleCnt="0">
        <dgm:presLayoutVars>
          <dgm:dir/>
          <dgm:animLvl val="lvl"/>
          <dgm:resizeHandles val="exact"/>
        </dgm:presLayoutVars>
      </dgm:prSet>
      <dgm:spPr/>
    </dgm:pt>
    <dgm:pt modelId="{CE86997B-3DF1-43D7-AE04-FEC4632ADA40}" type="pres">
      <dgm:prSet presAssocID="{153CAE7F-221F-4030-BE31-04F6F2FF1AF0}" presName="linNode" presStyleCnt="0"/>
      <dgm:spPr/>
    </dgm:pt>
    <dgm:pt modelId="{F99C1EAC-F9E8-46BC-9FCF-CE8C213B4858}" type="pres">
      <dgm:prSet presAssocID="{153CAE7F-221F-4030-BE31-04F6F2FF1AF0}" presName="parentText" presStyleLbl="node1" presStyleIdx="0" presStyleCnt="3">
        <dgm:presLayoutVars>
          <dgm:chMax val="1"/>
          <dgm:bulletEnabled val="1"/>
        </dgm:presLayoutVars>
      </dgm:prSet>
      <dgm:spPr/>
    </dgm:pt>
    <dgm:pt modelId="{775017BD-7351-4563-87A7-4676313A42E0}" type="pres">
      <dgm:prSet presAssocID="{153CAE7F-221F-4030-BE31-04F6F2FF1AF0}" presName="descendantText" presStyleLbl="alignAccFollowNode1" presStyleIdx="0" presStyleCnt="3">
        <dgm:presLayoutVars>
          <dgm:bulletEnabled val="1"/>
        </dgm:presLayoutVars>
      </dgm:prSet>
      <dgm:spPr/>
    </dgm:pt>
    <dgm:pt modelId="{6BF1F8B5-D073-4BF0-ADE8-B554EF4F12FE}" type="pres">
      <dgm:prSet presAssocID="{2C183C3E-8F14-49E9-8D1D-FAF16854FABC}" presName="sp" presStyleCnt="0"/>
      <dgm:spPr/>
    </dgm:pt>
    <dgm:pt modelId="{0A5F57B0-36D4-4E65-AC50-A00F81676D8E}" type="pres">
      <dgm:prSet presAssocID="{9267DE3E-5BFA-427A-B965-C447B220D631}" presName="linNode" presStyleCnt="0"/>
      <dgm:spPr/>
    </dgm:pt>
    <dgm:pt modelId="{139BA1CC-C88E-4028-9265-160EFF566107}" type="pres">
      <dgm:prSet presAssocID="{9267DE3E-5BFA-427A-B965-C447B220D631}" presName="parentText" presStyleLbl="node1" presStyleIdx="1" presStyleCnt="3">
        <dgm:presLayoutVars>
          <dgm:chMax val="1"/>
          <dgm:bulletEnabled val="1"/>
        </dgm:presLayoutVars>
      </dgm:prSet>
      <dgm:spPr/>
    </dgm:pt>
    <dgm:pt modelId="{9C32E800-529B-43E4-BCF8-3E13CBC159DB}" type="pres">
      <dgm:prSet presAssocID="{9267DE3E-5BFA-427A-B965-C447B220D631}" presName="descendantText" presStyleLbl="alignAccFollowNode1" presStyleIdx="1" presStyleCnt="3">
        <dgm:presLayoutVars>
          <dgm:bulletEnabled val="1"/>
        </dgm:presLayoutVars>
      </dgm:prSet>
      <dgm:spPr/>
    </dgm:pt>
    <dgm:pt modelId="{62B963D3-DD88-4346-BBC2-1555C8EF8B7B}" type="pres">
      <dgm:prSet presAssocID="{D2D03DF1-5E3F-40F9-8B82-4B7C3B88AB60}" presName="sp" presStyleCnt="0"/>
      <dgm:spPr/>
    </dgm:pt>
    <dgm:pt modelId="{CDBFABEA-9CEB-4C72-9F80-4BB548EAB615}" type="pres">
      <dgm:prSet presAssocID="{8DEB94AA-768E-4807-867D-825537B91E9C}" presName="linNode" presStyleCnt="0"/>
      <dgm:spPr/>
    </dgm:pt>
    <dgm:pt modelId="{FF3FA24E-1E0D-4AAE-AAD7-465B669A4799}" type="pres">
      <dgm:prSet presAssocID="{8DEB94AA-768E-4807-867D-825537B91E9C}" presName="parentText" presStyleLbl="node1" presStyleIdx="2" presStyleCnt="3">
        <dgm:presLayoutVars>
          <dgm:chMax val="1"/>
          <dgm:bulletEnabled val="1"/>
        </dgm:presLayoutVars>
      </dgm:prSet>
      <dgm:spPr/>
    </dgm:pt>
    <dgm:pt modelId="{870DF06C-029E-473B-8DDA-6ADB01E469FC}" type="pres">
      <dgm:prSet presAssocID="{8DEB94AA-768E-4807-867D-825537B91E9C}" presName="descendantText" presStyleLbl="alignAccFollowNode1" presStyleIdx="2" presStyleCnt="3">
        <dgm:presLayoutVars>
          <dgm:bulletEnabled val="1"/>
        </dgm:presLayoutVars>
      </dgm:prSet>
      <dgm:spPr/>
    </dgm:pt>
  </dgm:ptLst>
  <dgm:cxnLst>
    <dgm:cxn modelId="{13991D07-EE40-45C0-9F39-262F551180D4}" type="presOf" srcId="{11650F87-1FDE-48FA-AADE-E6AC62FEE1A4}" destId="{9C32E800-529B-43E4-BCF8-3E13CBC159DB}" srcOrd="0" destOrd="0" presId="urn:microsoft.com/office/officeart/2005/8/layout/vList5"/>
    <dgm:cxn modelId="{EA1FEA15-5D7A-4525-BD97-604BC40579EC}" srcId="{AB3415AE-1BC0-4E6C-B39A-1D9526AD8FC2}" destId="{153CAE7F-221F-4030-BE31-04F6F2FF1AF0}" srcOrd="0" destOrd="0" parTransId="{A1C6782F-C9A5-4EA8-95B9-73E655584047}" sibTransId="{2C183C3E-8F14-49E9-8D1D-FAF16854FABC}"/>
    <dgm:cxn modelId="{34E62417-D708-47AF-AA92-81BE0CE6676C}" type="presOf" srcId="{8CA28F72-0C26-4436-BB3C-9748131B92A7}" destId="{9C32E800-529B-43E4-BCF8-3E13CBC159DB}" srcOrd="0" destOrd="1" presId="urn:microsoft.com/office/officeart/2005/8/layout/vList5"/>
    <dgm:cxn modelId="{918E5029-CC6C-4CC8-9410-B6F818CAF8E2}" srcId="{AB3415AE-1BC0-4E6C-B39A-1D9526AD8FC2}" destId="{9267DE3E-5BFA-427A-B965-C447B220D631}" srcOrd="1" destOrd="0" parTransId="{D27CD064-49CA-4C26-9184-7A18B67D07AA}" sibTransId="{D2D03DF1-5E3F-40F9-8B82-4B7C3B88AB60}"/>
    <dgm:cxn modelId="{B87E0C3C-A964-4D72-9778-AA8E26090B88}" srcId="{153CAE7F-221F-4030-BE31-04F6F2FF1AF0}" destId="{7139A4D2-6F7E-48CF-9A1E-521115FBDF9E}" srcOrd="1" destOrd="0" parTransId="{5A46AE98-7378-4C95-B8D5-95D35A9EB345}" sibTransId="{233D959D-A323-4731-8A10-228F7F67C743}"/>
    <dgm:cxn modelId="{77C51A62-0F2A-41EC-83CC-95F8FA40A5BF}" type="presOf" srcId="{7FD9619B-8B5E-4A09-BD87-FFFEE1DD2825}" destId="{870DF06C-029E-473B-8DDA-6ADB01E469FC}" srcOrd="0" destOrd="0" presId="urn:microsoft.com/office/officeart/2005/8/layout/vList5"/>
    <dgm:cxn modelId="{09725464-49B5-4138-8855-EF1BE0DE4653}" srcId="{AB3415AE-1BC0-4E6C-B39A-1D9526AD8FC2}" destId="{8DEB94AA-768E-4807-867D-825537B91E9C}" srcOrd="2" destOrd="0" parTransId="{F13A1097-CD81-4FB5-92EA-3E708A29A712}" sibTransId="{71C89237-0E7C-4C4A-A093-85DADEA851BF}"/>
    <dgm:cxn modelId="{12731867-4695-4612-8710-C6D5D81DBD82}" type="presOf" srcId="{8DEB94AA-768E-4807-867D-825537B91E9C}" destId="{FF3FA24E-1E0D-4AAE-AAD7-465B669A4799}" srcOrd="0" destOrd="0" presId="urn:microsoft.com/office/officeart/2005/8/layout/vList5"/>
    <dgm:cxn modelId="{B7AA896D-FCDF-4EA9-A865-DA7D2D8F1583}" srcId="{9267DE3E-5BFA-427A-B965-C447B220D631}" destId="{11650F87-1FDE-48FA-AADE-E6AC62FEE1A4}" srcOrd="0" destOrd="0" parTransId="{4F788948-D423-4604-9300-270993938C7D}" sibTransId="{DD2238FF-B28B-41A4-8231-973DA8979894}"/>
    <dgm:cxn modelId="{8AD3B54F-1C53-44F2-968C-83A441A3164C}" srcId="{153CAE7F-221F-4030-BE31-04F6F2FF1AF0}" destId="{2BA81136-E007-4DC6-91F3-091EF966C993}" srcOrd="0" destOrd="0" parTransId="{5CEFA894-D2B7-4757-933E-3691AAF91168}" sibTransId="{5107A29B-0C5F-4B51-836D-AC8BBBCEEF5D}"/>
    <dgm:cxn modelId="{D00E1676-CEFB-4E43-98CA-3E6A5C86CD80}" type="presOf" srcId="{7CDE6DCF-B53F-4C99-A318-65B881AD644D}" destId="{870DF06C-029E-473B-8DDA-6ADB01E469FC}" srcOrd="0" destOrd="1" presId="urn:microsoft.com/office/officeart/2005/8/layout/vList5"/>
    <dgm:cxn modelId="{DA452057-96D2-45F8-98FA-EB04FB5084C2}" type="presOf" srcId="{AB3415AE-1BC0-4E6C-B39A-1D9526AD8FC2}" destId="{B0FDC2D8-740F-420F-9D8C-F2E50DDE092C}" srcOrd="0" destOrd="0" presId="urn:microsoft.com/office/officeart/2005/8/layout/vList5"/>
    <dgm:cxn modelId="{5FC8CEBB-B65F-4EC6-A0A2-D5CFC43E0CAA}" srcId="{8DEB94AA-768E-4807-867D-825537B91E9C}" destId="{7CDE6DCF-B53F-4C99-A318-65B881AD644D}" srcOrd="1" destOrd="0" parTransId="{00AC7558-6CE7-4292-B2B9-4B0CA7C2FFA9}" sibTransId="{444D2496-43CC-49F2-BFAC-6EB21DD3B3B8}"/>
    <dgm:cxn modelId="{864DB7C3-F3B8-473F-8378-7A12BC4C4277}" srcId="{9267DE3E-5BFA-427A-B965-C447B220D631}" destId="{8CA28F72-0C26-4436-BB3C-9748131B92A7}" srcOrd="1" destOrd="0" parTransId="{72C9A539-C4CE-4F73-8452-1943BA6DC1E5}" sibTransId="{DFF3FE13-52A7-4BAD-9076-D1AB7303C2ED}"/>
    <dgm:cxn modelId="{F92AA4C4-9E80-45B7-A0FC-7ABC9042FC9C}" srcId="{8DEB94AA-768E-4807-867D-825537B91E9C}" destId="{7FD9619B-8B5E-4A09-BD87-FFFEE1DD2825}" srcOrd="0" destOrd="0" parTransId="{3965EBAE-1CAB-4C76-B743-A927D5FB8D8C}" sibTransId="{514B981C-2ADD-4266-A031-6E6DD3E160B0}"/>
    <dgm:cxn modelId="{8AF202DA-6FC6-49EA-9C7B-17BA38465F73}" type="presOf" srcId="{2BA81136-E007-4DC6-91F3-091EF966C993}" destId="{775017BD-7351-4563-87A7-4676313A42E0}" srcOrd="0" destOrd="0" presId="urn:microsoft.com/office/officeart/2005/8/layout/vList5"/>
    <dgm:cxn modelId="{4FDF6FE5-DB2A-475D-BB2B-8CBCC7E56723}" type="presOf" srcId="{7139A4D2-6F7E-48CF-9A1E-521115FBDF9E}" destId="{775017BD-7351-4563-87A7-4676313A42E0}" srcOrd="0" destOrd="1" presId="urn:microsoft.com/office/officeart/2005/8/layout/vList5"/>
    <dgm:cxn modelId="{BEA83AEE-CA99-4C7E-A0DF-6851C93450C1}" type="presOf" srcId="{9267DE3E-5BFA-427A-B965-C447B220D631}" destId="{139BA1CC-C88E-4028-9265-160EFF566107}" srcOrd="0" destOrd="0" presId="urn:microsoft.com/office/officeart/2005/8/layout/vList5"/>
    <dgm:cxn modelId="{6ACCC4F8-AEC6-4714-BF44-5D1F5BDF0B0D}" type="presOf" srcId="{153CAE7F-221F-4030-BE31-04F6F2FF1AF0}" destId="{F99C1EAC-F9E8-46BC-9FCF-CE8C213B4858}" srcOrd="0" destOrd="0" presId="urn:microsoft.com/office/officeart/2005/8/layout/vList5"/>
    <dgm:cxn modelId="{163C7FD1-1F07-4E7C-8F08-256BD59D2FDF}" type="presParOf" srcId="{B0FDC2D8-740F-420F-9D8C-F2E50DDE092C}" destId="{CE86997B-3DF1-43D7-AE04-FEC4632ADA40}" srcOrd="0" destOrd="0" presId="urn:microsoft.com/office/officeart/2005/8/layout/vList5"/>
    <dgm:cxn modelId="{07F90127-E2D9-4A80-BC6C-09A762F49FC7}" type="presParOf" srcId="{CE86997B-3DF1-43D7-AE04-FEC4632ADA40}" destId="{F99C1EAC-F9E8-46BC-9FCF-CE8C213B4858}" srcOrd="0" destOrd="0" presId="urn:microsoft.com/office/officeart/2005/8/layout/vList5"/>
    <dgm:cxn modelId="{4293BE53-351A-4F2D-A947-CB01BA125CA4}" type="presParOf" srcId="{CE86997B-3DF1-43D7-AE04-FEC4632ADA40}" destId="{775017BD-7351-4563-87A7-4676313A42E0}" srcOrd="1" destOrd="0" presId="urn:microsoft.com/office/officeart/2005/8/layout/vList5"/>
    <dgm:cxn modelId="{8374EDE5-3160-45D3-8A36-F97232BE2B2A}" type="presParOf" srcId="{B0FDC2D8-740F-420F-9D8C-F2E50DDE092C}" destId="{6BF1F8B5-D073-4BF0-ADE8-B554EF4F12FE}" srcOrd="1" destOrd="0" presId="urn:microsoft.com/office/officeart/2005/8/layout/vList5"/>
    <dgm:cxn modelId="{7F5BB058-30F9-49BD-BE6B-A0C9E32A96EB}" type="presParOf" srcId="{B0FDC2D8-740F-420F-9D8C-F2E50DDE092C}" destId="{0A5F57B0-36D4-4E65-AC50-A00F81676D8E}" srcOrd="2" destOrd="0" presId="urn:microsoft.com/office/officeart/2005/8/layout/vList5"/>
    <dgm:cxn modelId="{FF124009-4E92-498B-A0FE-F468DE054403}" type="presParOf" srcId="{0A5F57B0-36D4-4E65-AC50-A00F81676D8E}" destId="{139BA1CC-C88E-4028-9265-160EFF566107}" srcOrd="0" destOrd="0" presId="urn:microsoft.com/office/officeart/2005/8/layout/vList5"/>
    <dgm:cxn modelId="{5F052F61-CCC2-45DD-9960-31431A4CA2E3}" type="presParOf" srcId="{0A5F57B0-36D4-4E65-AC50-A00F81676D8E}" destId="{9C32E800-529B-43E4-BCF8-3E13CBC159DB}" srcOrd="1" destOrd="0" presId="urn:microsoft.com/office/officeart/2005/8/layout/vList5"/>
    <dgm:cxn modelId="{C4145638-9031-4B2D-92CC-3725E1C711F0}" type="presParOf" srcId="{B0FDC2D8-740F-420F-9D8C-F2E50DDE092C}" destId="{62B963D3-DD88-4346-BBC2-1555C8EF8B7B}" srcOrd="3" destOrd="0" presId="urn:microsoft.com/office/officeart/2005/8/layout/vList5"/>
    <dgm:cxn modelId="{CF9CA970-8365-482A-89BA-95409FC7FB0C}" type="presParOf" srcId="{B0FDC2D8-740F-420F-9D8C-F2E50DDE092C}" destId="{CDBFABEA-9CEB-4C72-9F80-4BB548EAB615}" srcOrd="4" destOrd="0" presId="urn:microsoft.com/office/officeart/2005/8/layout/vList5"/>
    <dgm:cxn modelId="{58EF9015-B5F3-45E7-B3C0-5C7D4B3F7659}" type="presParOf" srcId="{CDBFABEA-9CEB-4C72-9F80-4BB548EAB615}" destId="{FF3FA24E-1E0D-4AAE-AAD7-465B669A4799}" srcOrd="0" destOrd="0" presId="urn:microsoft.com/office/officeart/2005/8/layout/vList5"/>
    <dgm:cxn modelId="{2CC0FF97-C29A-4051-AECC-108D5ED503C7}" type="presParOf" srcId="{CDBFABEA-9CEB-4C72-9F80-4BB548EAB615}" destId="{870DF06C-029E-473B-8DDA-6ADB01E469FC}"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5F0D7324-9350-44EF-A351-1EB046A67AFF}" type="doc">
      <dgm:prSet loTypeId="urn:microsoft.com/office/officeart/2005/8/layout/matrix3" loCatId="matrix" qsTypeId="urn:microsoft.com/office/officeart/2005/8/quickstyle/simple1" qsCatId="simple" csTypeId="urn:microsoft.com/office/officeart/2005/8/colors/colorful1" csCatId="colorful"/>
      <dgm:spPr/>
      <dgm:t>
        <a:bodyPr/>
        <a:lstStyle/>
        <a:p>
          <a:endParaRPr lang="en-US"/>
        </a:p>
      </dgm:t>
    </dgm:pt>
    <dgm:pt modelId="{01BE4D5C-D281-44D0-ACAE-0B0E364D9518}">
      <dgm:prSet/>
      <dgm:spPr/>
      <dgm:t>
        <a:bodyPr/>
        <a:lstStyle/>
        <a:p>
          <a:r>
            <a:rPr lang="en-US"/>
            <a:t>Underlying reasons for being prosocial in the workplace</a:t>
          </a:r>
        </a:p>
      </dgm:t>
    </dgm:pt>
    <dgm:pt modelId="{181AE8D5-9B83-46F6-8A3A-C1BF07E9EB7A}" type="parTrans" cxnId="{091E2D35-0154-4934-B3E7-B6DD822CADB4}">
      <dgm:prSet/>
      <dgm:spPr/>
      <dgm:t>
        <a:bodyPr/>
        <a:lstStyle/>
        <a:p>
          <a:endParaRPr lang="en-US"/>
        </a:p>
      </dgm:t>
    </dgm:pt>
    <dgm:pt modelId="{23F000FC-B2B8-4EB7-82BA-A419675B0B07}" type="sibTrans" cxnId="{091E2D35-0154-4934-B3E7-B6DD822CADB4}">
      <dgm:prSet/>
      <dgm:spPr/>
      <dgm:t>
        <a:bodyPr/>
        <a:lstStyle/>
        <a:p>
          <a:endParaRPr lang="en-US"/>
        </a:p>
      </dgm:t>
    </dgm:pt>
    <dgm:pt modelId="{6B79865F-ED07-49EB-80BA-189CB8AFE1CD}">
      <dgm:prSet/>
      <dgm:spPr/>
      <dgm:t>
        <a:bodyPr/>
        <a:lstStyle/>
        <a:p>
          <a:r>
            <a:rPr lang="en-US"/>
            <a:t>Desire to help other people</a:t>
          </a:r>
        </a:p>
      </dgm:t>
    </dgm:pt>
    <dgm:pt modelId="{EDA57EF6-840D-429A-A583-2E8AD5CF6507}" type="parTrans" cxnId="{3A835FE6-05BE-4907-B765-4BEF756C161B}">
      <dgm:prSet/>
      <dgm:spPr/>
      <dgm:t>
        <a:bodyPr/>
        <a:lstStyle/>
        <a:p>
          <a:endParaRPr lang="en-US"/>
        </a:p>
      </dgm:t>
    </dgm:pt>
    <dgm:pt modelId="{4D181E2B-95FA-4C22-ACD5-6262CF7C50F6}" type="sibTrans" cxnId="{3A835FE6-05BE-4907-B765-4BEF756C161B}">
      <dgm:prSet/>
      <dgm:spPr/>
      <dgm:t>
        <a:bodyPr/>
        <a:lstStyle/>
        <a:p>
          <a:endParaRPr lang="en-US"/>
        </a:p>
      </dgm:t>
    </dgm:pt>
    <dgm:pt modelId="{D195F147-3CB4-4887-84C8-CF4AE432BF9D}">
      <dgm:prSet/>
      <dgm:spPr/>
      <dgm:t>
        <a:bodyPr/>
        <a:lstStyle/>
        <a:p>
          <a:r>
            <a:rPr lang="en-US"/>
            <a:t>May have multiple motives in action at a given moment</a:t>
          </a:r>
        </a:p>
      </dgm:t>
    </dgm:pt>
    <dgm:pt modelId="{9E375DB8-7C43-42A5-BE94-E994700A5F83}" type="parTrans" cxnId="{79A23900-97D4-4B77-BCB3-02ABA3FCEE0E}">
      <dgm:prSet/>
      <dgm:spPr/>
      <dgm:t>
        <a:bodyPr/>
        <a:lstStyle/>
        <a:p>
          <a:endParaRPr lang="en-US"/>
        </a:p>
      </dgm:t>
    </dgm:pt>
    <dgm:pt modelId="{57B64592-584F-4789-93D3-D1BCF36E95E7}" type="sibTrans" cxnId="{79A23900-97D4-4B77-BCB3-02ABA3FCEE0E}">
      <dgm:prSet/>
      <dgm:spPr/>
      <dgm:t>
        <a:bodyPr/>
        <a:lstStyle/>
        <a:p>
          <a:endParaRPr lang="en-US"/>
        </a:p>
      </dgm:t>
    </dgm:pt>
    <dgm:pt modelId="{F77DB803-BC51-4AE0-B51A-C209FC5716F3}">
      <dgm:prSet/>
      <dgm:spPr/>
      <dgm:t>
        <a:bodyPr/>
        <a:lstStyle/>
        <a:p>
          <a:r>
            <a:rPr lang="en-US"/>
            <a:t>Can be simultaneously self-motivated and other-motivated</a:t>
          </a:r>
        </a:p>
      </dgm:t>
    </dgm:pt>
    <dgm:pt modelId="{405B8E48-B9A2-4F81-B9B7-E9FD21606964}" type="parTrans" cxnId="{0C380587-7E33-4898-B4BC-6F20639B5408}">
      <dgm:prSet/>
      <dgm:spPr/>
      <dgm:t>
        <a:bodyPr/>
        <a:lstStyle/>
        <a:p>
          <a:endParaRPr lang="en-US"/>
        </a:p>
      </dgm:t>
    </dgm:pt>
    <dgm:pt modelId="{70717335-F71B-4480-96CE-580A9F4596AB}" type="sibTrans" cxnId="{0C380587-7E33-4898-B4BC-6F20639B5408}">
      <dgm:prSet/>
      <dgm:spPr/>
      <dgm:t>
        <a:bodyPr/>
        <a:lstStyle/>
        <a:p>
          <a:endParaRPr lang="en-US"/>
        </a:p>
      </dgm:t>
    </dgm:pt>
    <dgm:pt modelId="{544D7A46-0860-4573-BC47-2DA16A639DC9}" type="pres">
      <dgm:prSet presAssocID="{5F0D7324-9350-44EF-A351-1EB046A67AFF}" presName="matrix" presStyleCnt="0">
        <dgm:presLayoutVars>
          <dgm:chMax val="1"/>
          <dgm:dir/>
          <dgm:resizeHandles val="exact"/>
        </dgm:presLayoutVars>
      </dgm:prSet>
      <dgm:spPr/>
    </dgm:pt>
    <dgm:pt modelId="{0F894098-B30D-4026-870E-D48245EEADC8}" type="pres">
      <dgm:prSet presAssocID="{5F0D7324-9350-44EF-A351-1EB046A67AFF}" presName="diamond" presStyleLbl="bgShp" presStyleIdx="0" presStyleCnt="1"/>
      <dgm:spPr/>
    </dgm:pt>
    <dgm:pt modelId="{6479585A-903C-4763-83E1-F0C0C18950E6}" type="pres">
      <dgm:prSet presAssocID="{5F0D7324-9350-44EF-A351-1EB046A67AFF}" presName="quad1" presStyleLbl="node1" presStyleIdx="0" presStyleCnt="4">
        <dgm:presLayoutVars>
          <dgm:chMax val="0"/>
          <dgm:chPref val="0"/>
          <dgm:bulletEnabled val="1"/>
        </dgm:presLayoutVars>
      </dgm:prSet>
      <dgm:spPr/>
    </dgm:pt>
    <dgm:pt modelId="{FA3AF90C-FAF4-454B-8B0A-A68AA4E78D35}" type="pres">
      <dgm:prSet presAssocID="{5F0D7324-9350-44EF-A351-1EB046A67AFF}" presName="quad2" presStyleLbl="node1" presStyleIdx="1" presStyleCnt="4">
        <dgm:presLayoutVars>
          <dgm:chMax val="0"/>
          <dgm:chPref val="0"/>
          <dgm:bulletEnabled val="1"/>
        </dgm:presLayoutVars>
      </dgm:prSet>
      <dgm:spPr/>
    </dgm:pt>
    <dgm:pt modelId="{DCDF2C68-87CB-4920-B0FC-1D7AF08763F4}" type="pres">
      <dgm:prSet presAssocID="{5F0D7324-9350-44EF-A351-1EB046A67AFF}" presName="quad3" presStyleLbl="node1" presStyleIdx="2" presStyleCnt="4">
        <dgm:presLayoutVars>
          <dgm:chMax val="0"/>
          <dgm:chPref val="0"/>
          <dgm:bulletEnabled val="1"/>
        </dgm:presLayoutVars>
      </dgm:prSet>
      <dgm:spPr/>
    </dgm:pt>
    <dgm:pt modelId="{DE3F8E7C-E45C-43B7-854F-678F4C4D406D}" type="pres">
      <dgm:prSet presAssocID="{5F0D7324-9350-44EF-A351-1EB046A67AFF}" presName="quad4" presStyleLbl="node1" presStyleIdx="3" presStyleCnt="4">
        <dgm:presLayoutVars>
          <dgm:chMax val="0"/>
          <dgm:chPref val="0"/>
          <dgm:bulletEnabled val="1"/>
        </dgm:presLayoutVars>
      </dgm:prSet>
      <dgm:spPr/>
    </dgm:pt>
  </dgm:ptLst>
  <dgm:cxnLst>
    <dgm:cxn modelId="{79A23900-97D4-4B77-BCB3-02ABA3FCEE0E}" srcId="{5F0D7324-9350-44EF-A351-1EB046A67AFF}" destId="{D195F147-3CB4-4887-84C8-CF4AE432BF9D}" srcOrd="2" destOrd="0" parTransId="{9E375DB8-7C43-42A5-BE94-E994700A5F83}" sibTransId="{57B64592-584F-4789-93D3-D1BCF36E95E7}"/>
    <dgm:cxn modelId="{091E2D35-0154-4934-B3E7-B6DD822CADB4}" srcId="{5F0D7324-9350-44EF-A351-1EB046A67AFF}" destId="{01BE4D5C-D281-44D0-ACAE-0B0E364D9518}" srcOrd="0" destOrd="0" parTransId="{181AE8D5-9B83-46F6-8A3A-C1BF07E9EB7A}" sibTransId="{23F000FC-B2B8-4EB7-82BA-A419675B0B07}"/>
    <dgm:cxn modelId="{0C380587-7E33-4898-B4BC-6F20639B5408}" srcId="{5F0D7324-9350-44EF-A351-1EB046A67AFF}" destId="{F77DB803-BC51-4AE0-B51A-C209FC5716F3}" srcOrd="3" destOrd="0" parTransId="{405B8E48-B9A2-4F81-B9B7-E9FD21606964}" sibTransId="{70717335-F71B-4480-96CE-580A9F4596AB}"/>
    <dgm:cxn modelId="{CEE478A8-0065-4DA3-BE55-4D5B734A51DA}" type="presOf" srcId="{5F0D7324-9350-44EF-A351-1EB046A67AFF}" destId="{544D7A46-0860-4573-BC47-2DA16A639DC9}" srcOrd="0" destOrd="0" presId="urn:microsoft.com/office/officeart/2005/8/layout/matrix3"/>
    <dgm:cxn modelId="{1A4E9BDE-61E1-46F9-B31A-37AF85AA8189}" type="presOf" srcId="{6B79865F-ED07-49EB-80BA-189CB8AFE1CD}" destId="{FA3AF90C-FAF4-454B-8B0A-A68AA4E78D35}" srcOrd="0" destOrd="0" presId="urn:microsoft.com/office/officeart/2005/8/layout/matrix3"/>
    <dgm:cxn modelId="{3A835FE6-05BE-4907-B765-4BEF756C161B}" srcId="{5F0D7324-9350-44EF-A351-1EB046A67AFF}" destId="{6B79865F-ED07-49EB-80BA-189CB8AFE1CD}" srcOrd="1" destOrd="0" parTransId="{EDA57EF6-840D-429A-A583-2E8AD5CF6507}" sibTransId="{4D181E2B-95FA-4C22-ACD5-6262CF7C50F6}"/>
    <dgm:cxn modelId="{753CD7E6-7DB1-4209-8C11-9D062CD5247B}" type="presOf" srcId="{F77DB803-BC51-4AE0-B51A-C209FC5716F3}" destId="{DE3F8E7C-E45C-43B7-854F-678F4C4D406D}" srcOrd="0" destOrd="0" presId="urn:microsoft.com/office/officeart/2005/8/layout/matrix3"/>
    <dgm:cxn modelId="{831165F9-D417-4713-B04C-E8D8276B0821}" type="presOf" srcId="{01BE4D5C-D281-44D0-ACAE-0B0E364D9518}" destId="{6479585A-903C-4763-83E1-F0C0C18950E6}" srcOrd="0" destOrd="0" presId="urn:microsoft.com/office/officeart/2005/8/layout/matrix3"/>
    <dgm:cxn modelId="{0866E8FC-E6B5-486A-B325-FD972ACDAC67}" type="presOf" srcId="{D195F147-3CB4-4887-84C8-CF4AE432BF9D}" destId="{DCDF2C68-87CB-4920-B0FC-1D7AF08763F4}" srcOrd="0" destOrd="0" presId="urn:microsoft.com/office/officeart/2005/8/layout/matrix3"/>
    <dgm:cxn modelId="{AF82701F-DCFB-40D1-B22E-47D358777226}" type="presParOf" srcId="{544D7A46-0860-4573-BC47-2DA16A639DC9}" destId="{0F894098-B30D-4026-870E-D48245EEADC8}" srcOrd="0" destOrd="0" presId="urn:microsoft.com/office/officeart/2005/8/layout/matrix3"/>
    <dgm:cxn modelId="{B8C6A9E7-C4E5-486C-9EFB-CEA31EA0C6FD}" type="presParOf" srcId="{544D7A46-0860-4573-BC47-2DA16A639DC9}" destId="{6479585A-903C-4763-83E1-F0C0C18950E6}" srcOrd="1" destOrd="0" presId="urn:microsoft.com/office/officeart/2005/8/layout/matrix3"/>
    <dgm:cxn modelId="{8FD42048-B719-4907-98D6-756594D5A70F}" type="presParOf" srcId="{544D7A46-0860-4573-BC47-2DA16A639DC9}" destId="{FA3AF90C-FAF4-454B-8B0A-A68AA4E78D35}" srcOrd="2" destOrd="0" presId="urn:microsoft.com/office/officeart/2005/8/layout/matrix3"/>
    <dgm:cxn modelId="{68724246-C7DC-41A4-BD68-46940FEEAE8E}" type="presParOf" srcId="{544D7A46-0860-4573-BC47-2DA16A639DC9}" destId="{DCDF2C68-87CB-4920-B0FC-1D7AF08763F4}" srcOrd="3" destOrd="0" presId="urn:microsoft.com/office/officeart/2005/8/layout/matrix3"/>
    <dgm:cxn modelId="{55D50604-9C97-4818-9806-0F5B701CB610}" type="presParOf" srcId="{544D7A46-0860-4573-BC47-2DA16A639DC9}" destId="{DE3F8E7C-E45C-43B7-854F-678F4C4D406D}"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0EA47D26-94B4-4ACC-9EE0-B55B36A9FE79}"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96FDA211-B155-44A6-8C25-62893102E3AE}">
      <dgm:prSet custT="1"/>
      <dgm:spPr/>
      <dgm:t>
        <a:bodyPr/>
        <a:lstStyle/>
        <a:p>
          <a:r>
            <a:rPr lang="en-US" sz="2400" dirty="0"/>
            <a:t>Perception that your work has a positive impact on others</a:t>
          </a:r>
        </a:p>
      </dgm:t>
    </dgm:pt>
    <dgm:pt modelId="{D49D9FDA-AEA0-422F-A911-98E53C3DA64D}" type="parTrans" cxnId="{45F035CB-2661-43E6-9700-37525D8D6FB7}">
      <dgm:prSet/>
      <dgm:spPr/>
      <dgm:t>
        <a:bodyPr/>
        <a:lstStyle/>
        <a:p>
          <a:endParaRPr lang="en-US"/>
        </a:p>
      </dgm:t>
    </dgm:pt>
    <dgm:pt modelId="{C92C09A6-F53A-4F8B-9CDF-9BFB9675ED8A}" type="sibTrans" cxnId="{45F035CB-2661-43E6-9700-37525D8D6FB7}">
      <dgm:prSet/>
      <dgm:spPr/>
      <dgm:t>
        <a:bodyPr/>
        <a:lstStyle/>
        <a:p>
          <a:endParaRPr lang="en-US"/>
        </a:p>
      </dgm:t>
    </dgm:pt>
    <dgm:pt modelId="{1CF38FDF-B14E-483A-A393-ACCEF62C4901}">
      <dgm:prSet custT="1"/>
      <dgm:spPr/>
      <dgm:t>
        <a:bodyPr/>
        <a:lstStyle/>
        <a:p>
          <a:r>
            <a:rPr lang="en-US" sz="2400" dirty="0"/>
            <a:t>Acknowledge the ways in which your work makes the lives of other people better</a:t>
          </a:r>
        </a:p>
      </dgm:t>
    </dgm:pt>
    <dgm:pt modelId="{EF4678E8-401B-4527-A594-9E0694071659}" type="parTrans" cxnId="{C74DE693-3BE6-4AF0-B608-E4D312AC0FDE}">
      <dgm:prSet/>
      <dgm:spPr/>
      <dgm:t>
        <a:bodyPr/>
        <a:lstStyle/>
        <a:p>
          <a:endParaRPr lang="en-US"/>
        </a:p>
      </dgm:t>
    </dgm:pt>
    <dgm:pt modelId="{4AB4C113-E0E5-4ADA-B94A-6D99A1658604}" type="sibTrans" cxnId="{C74DE693-3BE6-4AF0-B608-E4D312AC0FDE}">
      <dgm:prSet/>
      <dgm:spPr/>
      <dgm:t>
        <a:bodyPr/>
        <a:lstStyle/>
        <a:p>
          <a:endParaRPr lang="en-US"/>
        </a:p>
      </dgm:t>
    </dgm:pt>
    <dgm:pt modelId="{4F27057C-CFA6-4483-A05B-68ECDAA06A8D}">
      <dgm:prSet/>
      <dgm:spPr/>
      <dgm:t>
        <a:bodyPr/>
        <a:lstStyle/>
        <a:p>
          <a:r>
            <a:rPr lang="en-US" dirty="0"/>
            <a:t>Participants assigned to think about societal impact of their jobs reported lower negative affect and intention to quit, and higher positive affect and willingness to recommend job to others compared to those asked to think about the positive impression of their jobs</a:t>
          </a:r>
        </a:p>
      </dgm:t>
    </dgm:pt>
    <dgm:pt modelId="{3C76D9E2-8BCF-49C1-884E-E09866DA8FA1}" type="parTrans" cxnId="{FA4F66ED-5725-486E-BAEE-B5CD57F5966F}">
      <dgm:prSet/>
      <dgm:spPr/>
      <dgm:t>
        <a:bodyPr/>
        <a:lstStyle/>
        <a:p>
          <a:endParaRPr lang="en-US"/>
        </a:p>
      </dgm:t>
    </dgm:pt>
    <dgm:pt modelId="{854DA725-CAE6-4BAF-A8CE-F4C817D01343}" type="sibTrans" cxnId="{FA4F66ED-5725-486E-BAEE-B5CD57F5966F}">
      <dgm:prSet/>
      <dgm:spPr/>
      <dgm:t>
        <a:bodyPr/>
        <a:lstStyle/>
        <a:p>
          <a:endParaRPr lang="en-US"/>
        </a:p>
      </dgm:t>
    </dgm:pt>
    <dgm:pt modelId="{F92C0FE1-B1EF-4E1C-B4A9-A25442D373A3}" type="pres">
      <dgm:prSet presAssocID="{0EA47D26-94B4-4ACC-9EE0-B55B36A9FE79}" presName="linear" presStyleCnt="0">
        <dgm:presLayoutVars>
          <dgm:animLvl val="lvl"/>
          <dgm:resizeHandles val="exact"/>
        </dgm:presLayoutVars>
      </dgm:prSet>
      <dgm:spPr/>
    </dgm:pt>
    <dgm:pt modelId="{7970ECB5-E305-4D4F-BD86-21B2BD71D329}" type="pres">
      <dgm:prSet presAssocID="{96FDA211-B155-44A6-8C25-62893102E3AE}" presName="parentText" presStyleLbl="node1" presStyleIdx="0" presStyleCnt="3">
        <dgm:presLayoutVars>
          <dgm:chMax val="0"/>
          <dgm:bulletEnabled val="1"/>
        </dgm:presLayoutVars>
      </dgm:prSet>
      <dgm:spPr/>
    </dgm:pt>
    <dgm:pt modelId="{E29895C2-2F26-41C9-A279-6D96919F4290}" type="pres">
      <dgm:prSet presAssocID="{C92C09A6-F53A-4F8B-9CDF-9BFB9675ED8A}" presName="spacer" presStyleCnt="0"/>
      <dgm:spPr/>
    </dgm:pt>
    <dgm:pt modelId="{C5F01E25-3C27-4FDF-82F2-48040530F383}" type="pres">
      <dgm:prSet presAssocID="{1CF38FDF-B14E-483A-A393-ACCEF62C4901}" presName="parentText" presStyleLbl="node1" presStyleIdx="1" presStyleCnt="3">
        <dgm:presLayoutVars>
          <dgm:chMax val="0"/>
          <dgm:bulletEnabled val="1"/>
        </dgm:presLayoutVars>
      </dgm:prSet>
      <dgm:spPr/>
    </dgm:pt>
    <dgm:pt modelId="{BB2113A6-9729-40C8-BC17-EBBB76FBBF10}" type="pres">
      <dgm:prSet presAssocID="{4AB4C113-E0E5-4ADA-B94A-6D99A1658604}" presName="spacer" presStyleCnt="0"/>
      <dgm:spPr/>
    </dgm:pt>
    <dgm:pt modelId="{B83B9F03-8FDC-432F-9FC3-FB4183D6B3A5}" type="pres">
      <dgm:prSet presAssocID="{4F27057C-CFA6-4483-A05B-68ECDAA06A8D}" presName="parentText" presStyleLbl="node1" presStyleIdx="2" presStyleCnt="3">
        <dgm:presLayoutVars>
          <dgm:chMax val="0"/>
          <dgm:bulletEnabled val="1"/>
        </dgm:presLayoutVars>
      </dgm:prSet>
      <dgm:spPr/>
    </dgm:pt>
  </dgm:ptLst>
  <dgm:cxnLst>
    <dgm:cxn modelId="{74CE1D12-82EF-4F38-83C9-34408F2793E3}" type="presOf" srcId="{4F27057C-CFA6-4483-A05B-68ECDAA06A8D}" destId="{B83B9F03-8FDC-432F-9FC3-FB4183D6B3A5}" srcOrd="0" destOrd="0" presId="urn:microsoft.com/office/officeart/2005/8/layout/vList2"/>
    <dgm:cxn modelId="{00416267-6370-4654-B739-100D5241CEC4}" type="presOf" srcId="{96FDA211-B155-44A6-8C25-62893102E3AE}" destId="{7970ECB5-E305-4D4F-BD86-21B2BD71D329}" srcOrd="0" destOrd="0" presId="urn:microsoft.com/office/officeart/2005/8/layout/vList2"/>
    <dgm:cxn modelId="{C74DE693-3BE6-4AF0-B608-E4D312AC0FDE}" srcId="{0EA47D26-94B4-4ACC-9EE0-B55B36A9FE79}" destId="{1CF38FDF-B14E-483A-A393-ACCEF62C4901}" srcOrd="1" destOrd="0" parTransId="{EF4678E8-401B-4527-A594-9E0694071659}" sibTransId="{4AB4C113-E0E5-4ADA-B94A-6D99A1658604}"/>
    <dgm:cxn modelId="{4B796399-D9D2-413D-B94F-4336B5327BC3}" type="presOf" srcId="{0EA47D26-94B4-4ACC-9EE0-B55B36A9FE79}" destId="{F92C0FE1-B1EF-4E1C-B4A9-A25442D373A3}" srcOrd="0" destOrd="0" presId="urn:microsoft.com/office/officeart/2005/8/layout/vList2"/>
    <dgm:cxn modelId="{E591A5B8-2966-4FD2-9167-207FE3C6FAF5}" type="presOf" srcId="{1CF38FDF-B14E-483A-A393-ACCEF62C4901}" destId="{C5F01E25-3C27-4FDF-82F2-48040530F383}" srcOrd="0" destOrd="0" presId="urn:microsoft.com/office/officeart/2005/8/layout/vList2"/>
    <dgm:cxn modelId="{45F035CB-2661-43E6-9700-37525D8D6FB7}" srcId="{0EA47D26-94B4-4ACC-9EE0-B55B36A9FE79}" destId="{96FDA211-B155-44A6-8C25-62893102E3AE}" srcOrd="0" destOrd="0" parTransId="{D49D9FDA-AEA0-422F-A911-98E53C3DA64D}" sibTransId="{C92C09A6-F53A-4F8B-9CDF-9BFB9675ED8A}"/>
    <dgm:cxn modelId="{FA4F66ED-5725-486E-BAEE-B5CD57F5966F}" srcId="{0EA47D26-94B4-4ACC-9EE0-B55B36A9FE79}" destId="{4F27057C-CFA6-4483-A05B-68ECDAA06A8D}" srcOrd="2" destOrd="0" parTransId="{3C76D9E2-8BCF-49C1-884E-E09866DA8FA1}" sibTransId="{854DA725-CAE6-4BAF-A8CE-F4C817D01343}"/>
    <dgm:cxn modelId="{7AB17936-1B09-4E0C-AB8B-E18B0594C964}" type="presParOf" srcId="{F92C0FE1-B1EF-4E1C-B4A9-A25442D373A3}" destId="{7970ECB5-E305-4D4F-BD86-21B2BD71D329}" srcOrd="0" destOrd="0" presId="urn:microsoft.com/office/officeart/2005/8/layout/vList2"/>
    <dgm:cxn modelId="{D1A97472-F06D-4EC9-85F3-DB9ED9A722B7}" type="presParOf" srcId="{F92C0FE1-B1EF-4E1C-B4A9-A25442D373A3}" destId="{E29895C2-2F26-41C9-A279-6D96919F4290}" srcOrd="1" destOrd="0" presId="urn:microsoft.com/office/officeart/2005/8/layout/vList2"/>
    <dgm:cxn modelId="{FCFF0D61-59F1-40E5-84C3-12E48FD250EB}" type="presParOf" srcId="{F92C0FE1-B1EF-4E1C-B4A9-A25442D373A3}" destId="{C5F01E25-3C27-4FDF-82F2-48040530F383}" srcOrd="2" destOrd="0" presId="urn:microsoft.com/office/officeart/2005/8/layout/vList2"/>
    <dgm:cxn modelId="{B8C4494A-FE19-4DCC-B1FB-6BBAFE72A6E8}" type="presParOf" srcId="{F92C0FE1-B1EF-4E1C-B4A9-A25442D373A3}" destId="{BB2113A6-9729-40C8-BC17-EBBB76FBBF10}" srcOrd="3" destOrd="0" presId="urn:microsoft.com/office/officeart/2005/8/layout/vList2"/>
    <dgm:cxn modelId="{E0D7836D-1160-4B5F-8260-5C044F799674}" type="presParOf" srcId="{F92C0FE1-B1EF-4E1C-B4A9-A25442D373A3}" destId="{B83B9F03-8FDC-432F-9FC3-FB4183D6B3A5}"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7A609A2B-95AB-48B0-9DBB-4C15EF24AA94}"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87EBB0E8-34D9-41AB-A20A-8FD457467ACB}">
      <dgm:prSet/>
      <dgm:spPr/>
      <dgm:t>
        <a:bodyPr/>
        <a:lstStyle/>
        <a:p>
          <a:r>
            <a:rPr lang="en-US"/>
            <a:t>Focus on </a:t>
          </a:r>
          <a:r>
            <a:rPr lang="en-US" b="1" u="sng"/>
            <a:t>making</a:t>
          </a:r>
          <a:r>
            <a:rPr lang="en-US"/>
            <a:t> the perfect job instead of </a:t>
          </a:r>
          <a:r>
            <a:rPr lang="en-US" b="1" u="sng"/>
            <a:t>finding</a:t>
          </a:r>
          <a:r>
            <a:rPr lang="en-US"/>
            <a:t> the perfect job</a:t>
          </a:r>
        </a:p>
      </dgm:t>
    </dgm:pt>
    <dgm:pt modelId="{8392E1F1-3C70-4F6D-9E28-CC6A4224C7D9}" type="parTrans" cxnId="{D4D2BAA1-13B1-4738-9D55-D9397A66453B}">
      <dgm:prSet/>
      <dgm:spPr/>
      <dgm:t>
        <a:bodyPr/>
        <a:lstStyle/>
        <a:p>
          <a:endParaRPr lang="en-US"/>
        </a:p>
      </dgm:t>
    </dgm:pt>
    <dgm:pt modelId="{0F16D305-77CC-40AF-986B-113BA870AE9D}" type="sibTrans" cxnId="{D4D2BAA1-13B1-4738-9D55-D9397A66453B}">
      <dgm:prSet/>
      <dgm:spPr/>
      <dgm:t>
        <a:bodyPr/>
        <a:lstStyle/>
        <a:p>
          <a:endParaRPr lang="en-US"/>
        </a:p>
      </dgm:t>
    </dgm:pt>
    <dgm:pt modelId="{FB06B0BD-38FF-4C15-8D17-63EA2019DEEC}">
      <dgm:prSet/>
      <dgm:spPr/>
      <dgm:t>
        <a:bodyPr/>
        <a:lstStyle/>
        <a:p>
          <a:r>
            <a:rPr lang="en-US"/>
            <a:t>Making job fit with one’s skills, goals, and values</a:t>
          </a:r>
        </a:p>
      </dgm:t>
    </dgm:pt>
    <dgm:pt modelId="{84220C98-A111-4492-B763-A7C6611F9C31}" type="parTrans" cxnId="{CFBDAE3F-ABA8-4B44-BE77-389881A8077D}">
      <dgm:prSet/>
      <dgm:spPr/>
      <dgm:t>
        <a:bodyPr/>
        <a:lstStyle/>
        <a:p>
          <a:endParaRPr lang="en-US"/>
        </a:p>
      </dgm:t>
    </dgm:pt>
    <dgm:pt modelId="{E43F3760-525A-4CFE-967B-D834210EFC27}" type="sibTrans" cxnId="{CFBDAE3F-ABA8-4B44-BE77-389881A8077D}">
      <dgm:prSet/>
      <dgm:spPr/>
      <dgm:t>
        <a:bodyPr/>
        <a:lstStyle/>
        <a:p>
          <a:endParaRPr lang="en-US"/>
        </a:p>
      </dgm:t>
    </dgm:pt>
    <dgm:pt modelId="{0F23F63B-256D-4C6C-92C4-915E4D27F786}">
      <dgm:prSet/>
      <dgm:spPr/>
      <dgm:t>
        <a:bodyPr/>
        <a:lstStyle/>
        <a:p>
          <a:r>
            <a:rPr lang="en-US"/>
            <a:t>Job Crafting associated with:</a:t>
          </a:r>
        </a:p>
      </dgm:t>
    </dgm:pt>
    <dgm:pt modelId="{957FCE04-EE93-480F-AEDA-9799EC4DC339}" type="parTrans" cxnId="{EAFD135A-BD68-4269-B94F-3ECA3B59257B}">
      <dgm:prSet/>
      <dgm:spPr/>
      <dgm:t>
        <a:bodyPr/>
        <a:lstStyle/>
        <a:p>
          <a:endParaRPr lang="en-US"/>
        </a:p>
      </dgm:t>
    </dgm:pt>
    <dgm:pt modelId="{C99D0CF4-5269-4B35-BF9D-E4E51611D622}" type="sibTrans" cxnId="{EAFD135A-BD68-4269-B94F-3ECA3B59257B}">
      <dgm:prSet/>
      <dgm:spPr/>
      <dgm:t>
        <a:bodyPr/>
        <a:lstStyle/>
        <a:p>
          <a:endParaRPr lang="en-US"/>
        </a:p>
      </dgm:t>
    </dgm:pt>
    <dgm:pt modelId="{D9FD9652-2818-40DB-8462-495626D83FF1}">
      <dgm:prSet/>
      <dgm:spPr/>
      <dgm:t>
        <a:bodyPr/>
        <a:lstStyle/>
        <a:p>
          <a:r>
            <a:rPr lang="en-US"/>
            <a:t>Job satisfaction</a:t>
          </a:r>
        </a:p>
      </dgm:t>
    </dgm:pt>
    <dgm:pt modelId="{7BD38A46-10BE-4754-A7B4-FEA3278CE054}" type="parTrans" cxnId="{C90E5CB2-A0A9-4628-A2B3-0730A4AE69F8}">
      <dgm:prSet/>
      <dgm:spPr/>
      <dgm:t>
        <a:bodyPr/>
        <a:lstStyle/>
        <a:p>
          <a:endParaRPr lang="en-US"/>
        </a:p>
      </dgm:t>
    </dgm:pt>
    <dgm:pt modelId="{D67FF0B9-C40F-496B-913F-19DDCBEC213B}" type="sibTrans" cxnId="{C90E5CB2-A0A9-4628-A2B3-0730A4AE69F8}">
      <dgm:prSet/>
      <dgm:spPr/>
      <dgm:t>
        <a:bodyPr/>
        <a:lstStyle/>
        <a:p>
          <a:endParaRPr lang="en-US"/>
        </a:p>
      </dgm:t>
    </dgm:pt>
    <dgm:pt modelId="{7DA393B7-A6B1-491B-B7C1-84DF231E9886}">
      <dgm:prSet/>
      <dgm:spPr/>
      <dgm:t>
        <a:bodyPr/>
        <a:lstStyle/>
        <a:p>
          <a:r>
            <a:rPr lang="en-US"/>
            <a:t>More meaning in work</a:t>
          </a:r>
        </a:p>
      </dgm:t>
    </dgm:pt>
    <dgm:pt modelId="{1D9E4A42-085C-450A-943F-9F4A6BAE1025}" type="parTrans" cxnId="{6A5E6F29-2DDC-4295-8337-5D6EB20B32A4}">
      <dgm:prSet/>
      <dgm:spPr/>
      <dgm:t>
        <a:bodyPr/>
        <a:lstStyle/>
        <a:p>
          <a:endParaRPr lang="en-US"/>
        </a:p>
      </dgm:t>
    </dgm:pt>
    <dgm:pt modelId="{841DFF64-DAC9-4CAF-A50A-A83AD06832CA}" type="sibTrans" cxnId="{6A5E6F29-2DDC-4295-8337-5D6EB20B32A4}">
      <dgm:prSet/>
      <dgm:spPr/>
      <dgm:t>
        <a:bodyPr/>
        <a:lstStyle/>
        <a:p>
          <a:endParaRPr lang="en-US"/>
        </a:p>
      </dgm:t>
    </dgm:pt>
    <dgm:pt modelId="{A670B534-0AE6-475B-90D8-367A82537863}">
      <dgm:prSet/>
      <dgm:spPr/>
      <dgm:t>
        <a:bodyPr/>
        <a:lstStyle/>
        <a:p>
          <a:r>
            <a:rPr lang="en-US"/>
            <a:t>Perception that job requires skillful behavior</a:t>
          </a:r>
        </a:p>
      </dgm:t>
    </dgm:pt>
    <dgm:pt modelId="{A4082D56-6FD7-459A-8E9C-F1B9FBB1C2F0}" type="parTrans" cxnId="{D7DC2B23-F363-4AFA-8176-1ACEE261D8D4}">
      <dgm:prSet/>
      <dgm:spPr/>
      <dgm:t>
        <a:bodyPr/>
        <a:lstStyle/>
        <a:p>
          <a:endParaRPr lang="en-US"/>
        </a:p>
      </dgm:t>
    </dgm:pt>
    <dgm:pt modelId="{01AC8160-BC38-4CD2-97F9-0AFE134DA50B}" type="sibTrans" cxnId="{D7DC2B23-F363-4AFA-8176-1ACEE261D8D4}">
      <dgm:prSet/>
      <dgm:spPr/>
      <dgm:t>
        <a:bodyPr/>
        <a:lstStyle/>
        <a:p>
          <a:endParaRPr lang="en-US"/>
        </a:p>
      </dgm:t>
    </dgm:pt>
    <dgm:pt modelId="{D1650C39-E5B3-4D5F-9ECE-761070A776C7}">
      <dgm:prSet/>
      <dgm:spPr/>
      <dgm:t>
        <a:bodyPr/>
        <a:lstStyle/>
        <a:p>
          <a:r>
            <a:rPr lang="en-US"/>
            <a:t>Can involve:</a:t>
          </a:r>
        </a:p>
      </dgm:t>
    </dgm:pt>
    <dgm:pt modelId="{5780680E-C733-47F4-889A-4BCBD2B1EC55}" type="parTrans" cxnId="{A51192A2-F713-4D0E-9BA1-85BF648D7B4E}">
      <dgm:prSet/>
      <dgm:spPr/>
      <dgm:t>
        <a:bodyPr/>
        <a:lstStyle/>
        <a:p>
          <a:endParaRPr lang="en-US"/>
        </a:p>
      </dgm:t>
    </dgm:pt>
    <dgm:pt modelId="{D2E5D6A5-57C7-42FF-BA97-E73B8B4D976D}" type="sibTrans" cxnId="{A51192A2-F713-4D0E-9BA1-85BF648D7B4E}">
      <dgm:prSet/>
      <dgm:spPr/>
      <dgm:t>
        <a:bodyPr/>
        <a:lstStyle/>
        <a:p>
          <a:endParaRPr lang="en-US"/>
        </a:p>
      </dgm:t>
    </dgm:pt>
    <dgm:pt modelId="{51F931BD-B94A-48C1-8E09-F86F7509C093}">
      <dgm:prSet/>
      <dgm:spPr/>
      <dgm:t>
        <a:bodyPr/>
        <a:lstStyle/>
        <a:p>
          <a:r>
            <a:rPr lang="en-US" dirty="0"/>
            <a:t>Changing boundaries of position – add/subtract tasks</a:t>
          </a:r>
        </a:p>
      </dgm:t>
    </dgm:pt>
    <dgm:pt modelId="{A2AC7A9F-BA0A-4500-BAAE-8C9C6937B359}" type="parTrans" cxnId="{49034BD4-FE96-43F8-94AA-9C86E2A77453}">
      <dgm:prSet/>
      <dgm:spPr/>
      <dgm:t>
        <a:bodyPr/>
        <a:lstStyle/>
        <a:p>
          <a:endParaRPr lang="en-US"/>
        </a:p>
      </dgm:t>
    </dgm:pt>
    <dgm:pt modelId="{AE5A8226-146C-4C52-887A-EB72708A1A9F}" type="sibTrans" cxnId="{49034BD4-FE96-43F8-94AA-9C86E2A77453}">
      <dgm:prSet/>
      <dgm:spPr/>
      <dgm:t>
        <a:bodyPr/>
        <a:lstStyle/>
        <a:p>
          <a:endParaRPr lang="en-US"/>
        </a:p>
      </dgm:t>
    </dgm:pt>
    <dgm:pt modelId="{13562013-E3CD-4952-A38D-13602E2D615C}">
      <dgm:prSet/>
      <dgm:spPr/>
      <dgm:t>
        <a:bodyPr/>
        <a:lstStyle/>
        <a:p>
          <a:r>
            <a:rPr lang="en-US" dirty="0"/>
            <a:t>Changing relational aspects of work</a:t>
          </a:r>
        </a:p>
      </dgm:t>
    </dgm:pt>
    <dgm:pt modelId="{727BB5BE-05B5-4CE6-88B8-56E4D0E1BAC4}" type="parTrans" cxnId="{DEB4AF4B-F957-4DBF-8400-64FF6C6D3ACA}">
      <dgm:prSet/>
      <dgm:spPr/>
      <dgm:t>
        <a:bodyPr/>
        <a:lstStyle/>
        <a:p>
          <a:endParaRPr lang="en-US"/>
        </a:p>
      </dgm:t>
    </dgm:pt>
    <dgm:pt modelId="{794C2D24-072F-4565-8B9E-980F6D0CF728}" type="sibTrans" cxnId="{DEB4AF4B-F957-4DBF-8400-64FF6C6D3ACA}">
      <dgm:prSet/>
      <dgm:spPr/>
      <dgm:t>
        <a:bodyPr/>
        <a:lstStyle/>
        <a:p>
          <a:endParaRPr lang="en-US"/>
        </a:p>
      </dgm:t>
    </dgm:pt>
    <dgm:pt modelId="{50E77DCF-8108-4194-B362-9A997B4E6089}">
      <dgm:prSet/>
      <dgm:spPr/>
      <dgm:t>
        <a:bodyPr/>
        <a:lstStyle/>
        <a:p>
          <a:r>
            <a:rPr lang="en-US" dirty="0"/>
            <a:t>Thinking about job differently</a:t>
          </a:r>
        </a:p>
      </dgm:t>
    </dgm:pt>
    <dgm:pt modelId="{3E2F4A82-BF7E-4ADD-A193-1740B7C10F6E}" type="parTrans" cxnId="{3C996ECC-DEAA-4666-BEBB-1B72BECF112A}">
      <dgm:prSet/>
      <dgm:spPr/>
      <dgm:t>
        <a:bodyPr/>
        <a:lstStyle/>
        <a:p>
          <a:endParaRPr lang="en-US"/>
        </a:p>
      </dgm:t>
    </dgm:pt>
    <dgm:pt modelId="{0E948DAF-5950-4017-81FE-4B8C4C322AE5}" type="sibTrans" cxnId="{3C996ECC-DEAA-4666-BEBB-1B72BECF112A}">
      <dgm:prSet/>
      <dgm:spPr/>
      <dgm:t>
        <a:bodyPr/>
        <a:lstStyle/>
        <a:p>
          <a:endParaRPr lang="en-US"/>
        </a:p>
      </dgm:t>
    </dgm:pt>
    <dgm:pt modelId="{CB712F04-18EA-4E79-9BF4-C6A175FC3911}" type="pres">
      <dgm:prSet presAssocID="{7A609A2B-95AB-48B0-9DBB-4C15EF24AA94}" presName="linear" presStyleCnt="0">
        <dgm:presLayoutVars>
          <dgm:animLvl val="lvl"/>
          <dgm:resizeHandles val="exact"/>
        </dgm:presLayoutVars>
      </dgm:prSet>
      <dgm:spPr/>
    </dgm:pt>
    <dgm:pt modelId="{8B05B763-B3B1-4FC7-AA43-27D9C8B81E42}" type="pres">
      <dgm:prSet presAssocID="{87EBB0E8-34D9-41AB-A20A-8FD457467ACB}" presName="parentText" presStyleLbl="node1" presStyleIdx="0" presStyleCnt="4">
        <dgm:presLayoutVars>
          <dgm:chMax val="0"/>
          <dgm:bulletEnabled val="1"/>
        </dgm:presLayoutVars>
      </dgm:prSet>
      <dgm:spPr/>
    </dgm:pt>
    <dgm:pt modelId="{A0F10068-8BEF-43BB-9986-75924E9AEA86}" type="pres">
      <dgm:prSet presAssocID="{0F16D305-77CC-40AF-986B-113BA870AE9D}" presName="spacer" presStyleCnt="0"/>
      <dgm:spPr/>
    </dgm:pt>
    <dgm:pt modelId="{AD209266-D718-44C0-A80B-8872ECD164BB}" type="pres">
      <dgm:prSet presAssocID="{FB06B0BD-38FF-4C15-8D17-63EA2019DEEC}" presName="parentText" presStyleLbl="node1" presStyleIdx="1" presStyleCnt="4">
        <dgm:presLayoutVars>
          <dgm:chMax val="0"/>
          <dgm:bulletEnabled val="1"/>
        </dgm:presLayoutVars>
      </dgm:prSet>
      <dgm:spPr/>
    </dgm:pt>
    <dgm:pt modelId="{B24D1D58-0AE2-4993-9B56-5598CB2DC5F3}" type="pres">
      <dgm:prSet presAssocID="{E43F3760-525A-4CFE-967B-D834210EFC27}" presName="spacer" presStyleCnt="0"/>
      <dgm:spPr/>
    </dgm:pt>
    <dgm:pt modelId="{F6309B0A-16F0-4929-9894-2EF9B11FAA88}" type="pres">
      <dgm:prSet presAssocID="{0F23F63B-256D-4C6C-92C4-915E4D27F786}" presName="parentText" presStyleLbl="node1" presStyleIdx="2" presStyleCnt="4">
        <dgm:presLayoutVars>
          <dgm:chMax val="0"/>
          <dgm:bulletEnabled val="1"/>
        </dgm:presLayoutVars>
      </dgm:prSet>
      <dgm:spPr/>
    </dgm:pt>
    <dgm:pt modelId="{B5C8B18E-1A4A-4BC1-B0A0-7DD7C713909F}" type="pres">
      <dgm:prSet presAssocID="{0F23F63B-256D-4C6C-92C4-915E4D27F786}" presName="childText" presStyleLbl="revTx" presStyleIdx="0" presStyleCnt="2">
        <dgm:presLayoutVars>
          <dgm:bulletEnabled val="1"/>
        </dgm:presLayoutVars>
      </dgm:prSet>
      <dgm:spPr/>
    </dgm:pt>
    <dgm:pt modelId="{7C08802A-8587-4238-BC8C-2D3F18C36C3E}" type="pres">
      <dgm:prSet presAssocID="{D1650C39-E5B3-4D5F-9ECE-761070A776C7}" presName="parentText" presStyleLbl="node1" presStyleIdx="3" presStyleCnt="4">
        <dgm:presLayoutVars>
          <dgm:chMax val="0"/>
          <dgm:bulletEnabled val="1"/>
        </dgm:presLayoutVars>
      </dgm:prSet>
      <dgm:spPr/>
    </dgm:pt>
    <dgm:pt modelId="{876A6FCC-8F78-4691-B828-B07C2DD119BD}" type="pres">
      <dgm:prSet presAssocID="{D1650C39-E5B3-4D5F-9ECE-761070A776C7}" presName="childText" presStyleLbl="revTx" presStyleIdx="1" presStyleCnt="2">
        <dgm:presLayoutVars>
          <dgm:bulletEnabled val="1"/>
        </dgm:presLayoutVars>
      </dgm:prSet>
      <dgm:spPr/>
    </dgm:pt>
  </dgm:ptLst>
  <dgm:cxnLst>
    <dgm:cxn modelId="{6EBC510D-04E8-4185-B0EF-83FBD78A1C58}" type="presOf" srcId="{D1650C39-E5B3-4D5F-9ECE-761070A776C7}" destId="{7C08802A-8587-4238-BC8C-2D3F18C36C3E}" srcOrd="0" destOrd="0" presId="urn:microsoft.com/office/officeart/2005/8/layout/vList2"/>
    <dgm:cxn modelId="{D7DC2B23-F363-4AFA-8176-1ACEE261D8D4}" srcId="{0F23F63B-256D-4C6C-92C4-915E4D27F786}" destId="{A670B534-0AE6-475B-90D8-367A82537863}" srcOrd="2" destOrd="0" parTransId="{A4082D56-6FD7-459A-8E9C-F1B9FBB1C2F0}" sibTransId="{01AC8160-BC38-4CD2-97F9-0AFE134DA50B}"/>
    <dgm:cxn modelId="{DC717728-4E4E-4CED-A314-E53866131EC6}" type="presOf" srcId="{7A609A2B-95AB-48B0-9DBB-4C15EF24AA94}" destId="{CB712F04-18EA-4E79-9BF4-C6A175FC3911}" srcOrd="0" destOrd="0" presId="urn:microsoft.com/office/officeart/2005/8/layout/vList2"/>
    <dgm:cxn modelId="{588CFE28-64E0-45F4-BEDD-12157C6B6F4D}" type="presOf" srcId="{A670B534-0AE6-475B-90D8-367A82537863}" destId="{B5C8B18E-1A4A-4BC1-B0A0-7DD7C713909F}" srcOrd="0" destOrd="2" presId="urn:microsoft.com/office/officeart/2005/8/layout/vList2"/>
    <dgm:cxn modelId="{6A5E6F29-2DDC-4295-8337-5D6EB20B32A4}" srcId="{0F23F63B-256D-4C6C-92C4-915E4D27F786}" destId="{7DA393B7-A6B1-491B-B7C1-84DF231E9886}" srcOrd="1" destOrd="0" parTransId="{1D9E4A42-085C-450A-943F-9F4A6BAE1025}" sibTransId="{841DFF64-DAC9-4CAF-A50A-A83AD06832CA}"/>
    <dgm:cxn modelId="{CFBDAE3F-ABA8-4B44-BE77-389881A8077D}" srcId="{7A609A2B-95AB-48B0-9DBB-4C15EF24AA94}" destId="{FB06B0BD-38FF-4C15-8D17-63EA2019DEEC}" srcOrd="1" destOrd="0" parTransId="{84220C98-A111-4492-B763-A7C6611F9C31}" sibTransId="{E43F3760-525A-4CFE-967B-D834210EFC27}"/>
    <dgm:cxn modelId="{9965D35C-0FA6-4EBC-96B3-D784AFCA2E4A}" type="presOf" srcId="{13562013-E3CD-4952-A38D-13602E2D615C}" destId="{876A6FCC-8F78-4691-B828-B07C2DD119BD}" srcOrd="0" destOrd="1" presId="urn:microsoft.com/office/officeart/2005/8/layout/vList2"/>
    <dgm:cxn modelId="{FB911060-75D3-4340-88F1-C0E6A21DC11F}" type="presOf" srcId="{7DA393B7-A6B1-491B-B7C1-84DF231E9886}" destId="{B5C8B18E-1A4A-4BC1-B0A0-7DD7C713909F}" srcOrd="0" destOrd="1" presId="urn:microsoft.com/office/officeart/2005/8/layout/vList2"/>
    <dgm:cxn modelId="{DEB4AF4B-F957-4DBF-8400-64FF6C6D3ACA}" srcId="{D1650C39-E5B3-4D5F-9ECE-761070A776C7}" destId="{13562013-E3CD-4952-A38D-13602E2D615C}" srcOrd="1" destOrd="0" parTransId="{727BB5BE-05B5-4CE6-88B8-56E4D0E1BAC4}" sibTransId="{794C2D24-072F-4565-8B9E-980F6D0CF728}"/>
    <dgm:cxn modelId="{358D0A4D-D858-4F84-AE1D-2700EF75B530}" type="presOf" srcId="{D9FD9652-2818-40DB-8462-495626D83FF1}" destId="{B5C8B18E-1A4A-4BC1-B0A0-7DD7C713909F}" srcOrd="0" destOrd="0" presId="urn:microsoft.com/office/officeart/2005/8/layout/vList2"/>
    <dgm:cxn modelId="{E076026F-259C-4FFF-AF2C-280E18EA0C70}" type="presOf" srcId="{51F931BD-B94A-48C1-8E09-F86F7509C093}" destId="{876A6FCC-8F78-4691-B828-B07C2DD119BD}" srcOrd="0" destOrd="0" presId="urn:microsoft.com/office/officeart/2005/8/layout/vList2"/>
    <dgm:cxn modelId="{EAFD135A-BD68-4269-B94F-3ECA3B59257B}" srcId="{7A609A2B-95AB-48B0-9DBB-4C15EF24AA94}" destId="{0F23F63B-256D-4C6C-92C4-915E4D27F786}" srcOrd="2" destOrd="0" parTransId="{957FCE04-EE93-480F-AEDA-9799EC4DC339}" sibTransId="{C99D0CF4-5269-4B35-BF9D-E4E51611D622}"/>
    <dgm:cxn modelId="{D4D2BAA1-13B1-4738-9D55-D9397A66453B}" srcId="{7A609A2B-95AB-48B0-9DBB-4C15EF24AA94}" destId="{87EBB0E8-34D9-41AB-A20A-8FD457467ACB}" srcOrd="0" destOrd="0" parTransId="{8392E1F1-3C70-4F6D-9E28-CC6A4224C7D9}" sibTransId="{0F16D305-77CC-40AF-986B-113BA870AE9D}"/>
    <dgm:cxn modelId="{A51192A2-F713-4D0E-9BA1-85BF648D7B4E}" srcId="{7A609A2B-95AB-48B0-9DBB-4C15EF24AA94}" destId="{D1650C39-E5B3-4D5F-9ECE-761070A776C7}" srcOrd="3" destOrd="0" parTransId="{5780680E-C733-47F4-889A-4BCBD2B1EC55}" sibTransId="{D2E5D6A5-57C7-42FF-BA97-E73B8B4D976D}"/>
    <dgm:cxn modelId="{C90E5CB2-A0A9-4628-A2B3-0730A4AE69F8}" srcId="{0F23F63B-256D-4C6C-92C4-915E4D27F786}" destId="{D9FD9652-2818-40DB-8462-495626D83FF1}" srcOrd="0" destOrd="0" parTransId="{7BD38A46-10BE-4754-A7B4-FEA3278CE054}" sibTransId="{D67FF0B9-C40F-496B-913F-19DDCBEC213B}"/>
    <dgm:cxn modelId="{A6EF0CBB-D678-4DE4-8108-611E85FE29C3}" type="presOf" srcId="{0F23F63B-256D-4C6C-92C4-915E4D27F786}" destId="{F6309B0A-16F0-4929-9894-2EF9B11FAA88}" srcOrd="0" destOrd="0" presId="urn:microsoft.com/office/officeart/2005/8/layout/vList2"/>
    <dgm:cxn modelId="{E48A50C7-F721-41DB-BDAB-35A90653D4B5}" type="presOf" srcId="{50E77DCF-8108-4194-B362-9A997B4E6089}" destId="{876A6FCC-8F78-4691-B828-B07C2DD119BD}" srcOrd="0" destOrd="2" presId="urn:microsoft.com/office/officeart/2005/8/layout/vList2"/>
    <dgm:cxn modelId="{3C996ECC-DEAA-4666-BEBB-1B72BECF112A}" srcId="{D1650C39-E5B3-4D5F-9ECE-761070A776C7}" destId="{50E77DCF-8108-4194-B362-9A997B4E6089}" srcOrd="2" destOrd="0" parTransId="{3E2F4A82-BF7E-4ADD-A193-1740B7C10F6E}" sibTransId="{0E948DAF-5950-4017-81FE-4B8C4C322AE5}"/>
    <dgm:cxn modelId="{49034BD4-FE96-43F8-94AA-9C86E2A77453}" srcId="{D1650C39-E5B3-4D5F-9ECE-761070A776C7}" destId="{51F931BD-B94A-48C1-8E09-F86F7509C093}" srcOrd="0" destOrd="0" parTransId="{A2AC7A9F-BA0A-4500-BAAE-8C9C6937B359}" sibTransId="{AE5A8226-146C-4C52-887A-EB72708A1A9F}"/>
    <dgm:cxn modelId="{59F8CEDC-2554-42A3-8F93-9E6896A48EA7}" type="presOf" srcId="{87EBB0E8-34D9-41AB-A20A-8FD457467ACB}" destId="{8B05B763-B3B1-4FC7-AA43-27D9C8B81E42}" srcOrd="0" destOrd="0" presId="urn:microsoft.com/office/officeart/2005/8/layout/vList2"/>
    <dgm:cxn modelId="{C41C45F3-56BB-4F7B-97E2-543247E6C7D6}" type="presOf" srcId="{FB06B0BD-38FF-4C15-8D17-63EA2019DEEC}" destId="{AD209266-D718-44C0-A80B-8872ECD164BB}" srcOrd="0" destOrd="0" presId="urn:microsoft.com/office/officeart/2005/8/layout/vList2"/>
    <dgm:cxn modelId="{F517A4D3-2138-4A1C-AFE9-0827DA8DF147}" type="presParOf" srcId="{CB712F04-18EA-4E79-9BF4-C6A175FC3911}" destId="{8B05B763-B3B1-4FC7-AA43-27D9C8B81E42}" srcOrd="0" destOrd="0" presId="urn:microsoft.com/office/officeart/2005/8/layout/vList2"/>
    <dgm:cxn modelId="{B198AD3A-C547-4197-914E-C2494A456DA5}" type="presParOf" srcId="{CB712F04-18EA-4E79-9BF4-C6A175FC3911}" destId="{A0F10068-8BEF-43BB-9986-75924E9AEA86}" srcOrd="1" destOrd="0" presId="urn:microsoft.com/office/officeart/2005/8/layout/vList2"/>
    <dgm:cxn modelId="{5F924FB7-A8AF-4C85-91D8-8120CBD8966F}" type="presParOf" srcId="{CB712F04-18EA-4E79-9BF4-C6A175FC3911}" destId="{AD209266-D718-44C0-A80B-8872ECD164BB}" srcOrd="2" destOrd="0" presId="urn:microsoft.com/office/officeart/2005/8/layout/vList2"/>
    <dgm:cxn modelId="{10C8F2F5-0876-41D3-9B4B-3FFF86BD704E}" type="presParOf" srcId="{CB712F04-18EA-4E79-9BF4-C6A175FC3911}" destId="{B24D1D58-0AE2-4993-9B56-5598CB2DC5F3}" srcOrd="3" destOrd="0" presId="urn:microsoft.com/office/officeart/2005/8/layout/vList2"/>
    <dgm:cxn modelId="{CEF4112F-E7FD-4E31-BF50-5C1EE61A0A97}" type="presParOf" srcId="{CB712F04-18EA-4E79-9BF4-C6A175FC3911}" destId="{F6309B0A-16F0-4929-9894-2EF9B11FAA88}" srcOrd="4" destOrd="0" presId="urn:microsoft.com/office/officeart/2005/8/layout/vList2"/>
    <dgm:cxn modelId="{ADC06114-B6D8-455D-B40A-0076CDC8ED88}" type="presParOf" srcId="{CB712F04-18EA-4E79-9BF4-C6A175FC3911}" destId="{B5C8B18E-1A4A-4BC1-B0A0-7DD7C713909F}" srcOrd="5" destOrd="0" presId="urn:microsoft.com/office/officeart/2005/8/layout/vList2"/>
    <dgm:cxn modelId="{671416A3-4C0D-44E5-BA4D-7969E1EDF125}" type="presParOf" srcId="{CB712F04-18EA-4E79-9BF4-C6A175FC3911}" destId="{7C08802A-8587-4238-BC8C-2D3F18C36C3E}" srcOrd="6" destOrd="0" presId="urn:microsoft.com/office/officeart/2005/8/layout/vList2"/>
    <dgm:cxn modelId="{0D2C12D2-0F98-4800-BDE6-D9F6BF4538B7}" type="presParOf" srcId="{CB712F04-18EA-4E79-9BF4-C6A175FC3911}" destId="{876A6FCC-8F78-4691-B828-B07C2DD119BD}"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EFD593E1-69F9-4BD8-B40E-2609AFD52F3A}"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99C16AD4-8EF6-4E6A-9FDA-671DC179862D}">
      <dgm:prSet/>
      <dgm:spPr/>
      <dgm:t>
        <a:bodyPr/>
        <a:lstStyle/>
        <a:p>
          <a:r>
            <a:rPr lang="en-US"/>
            <a:t>Having a friend at work (especially for women) is associated with:</a:t>
          </a:r>
        </a:p>
      </dgm:t>
    </dgm:pt>
    <dgm:pt modelId="{8A4E9ABA-E912-421F-8E5A-B6DF0288FEE1}" type="parTrans" cxnId="{DF06E181-C49F-4C05-93E2-EA9D7460DF0F}">
      <dgm:prSet/>
      <dgm:spPr/>
      <dgm:t>
        <a:bodyPr/>
        <a:lstStyle/>
        <a:p>
          <a:endParaRPr lang="en-US"/>
        </a:p>
      </dgm:t>
    </dgm:pt>
    <dgm:pt modelId="{25642CD1-AA39-4419-B9DB-DE965E27F750}" type="sibTrans" cxnId="{DF06E181-C49F-4C05-93E2-EA9D7460DF0F}">
      <dgm:prSet/>
      <dgm:spPr/>
      <dgm:t>
        <a:bodyPr/>
        <a:lstStyle/>
        <a:p>
          <a:endParaRPr lang="en-US"/>
        </a:p>
      </dgm:t>
    </dgm:pt>
    <dgm:pt modelId="{33B349F6-839D-48D8-9D68-FB08FB17BAA5}">
      <dgm:prSet/>
      <dgm:spPr/>
      <dgm:t>
        <a:bodyPr/>
        <a:lstStyle/>
        <a:p>
          <a:r>
            <a:rPr lang="en-US"/>
            <a:t>More engagement at work</a:t>
          </a:r>
        </a:p>
      </dgm:t>
    </dgm:pt>
    <dgm:pt modelId="{C271E72C-05EB-4E9B-9596-B49453E3E6EE}" type="parTrans" cxnId="{82A61F20-71E4-4FA3-881D-02EAAB901CEC}">
      <dgm:prSet/>
      <dgm:spPr/>
      <dgm:t>
        <a:bodyPr/>
        <a:lstStyle/>
        <a:p>
          <a:endParaRPr lang="en-US"/>
        </a:p>
      </dgm:t>
    </dgm:pt>
    <dgm:pt modelId="{C0BA3CE7-6803-457E-90B9-AD9C3B3BE1A5}" type="sibTrans" cxnId="{82A61F20-71E4-4FA3-881D-02EAAB901CEC}">
      <dgm:prSet/>
      <dgm:spPr/>
      <dgm:t>
        <a:bodyPr/>
        <a:lstStyle/>
        <a:p>
          <a:endParaRPr lang="en-US"/>
        </a:p>
      </dgm:t>
    </dgm:pt>
    <dgm:pt modelId="{440AEBA9-AAF6-4EB8-899B-90950B464F4A}">
      <dgm:prSet/>
      <dgm:spPr/>
      <dgm:t>
        <a:bodyPr/>
        <a:lstStyle/>
        <a:p>
          <a:r>
            <a:rPr lang="en-US"/>
            <a:t>More positive and negative experiences at work</a:t>
          </a:r>
        </a:p>
      </dgm:t>
    </dgm:pt>
    <dgm:pt modelId="{839712CA-EE86-48DB-8A00-7630955F8F34}" type="parTrans" cxnId="{41676895-BC3D-4B57-A6F0-7424A526D8DC}">
      <dgm:prSet/>
      <dgm:spPr/>
      <dgm:t>
        <a:bodyPr/>
        <a:lstStyle/>
        <a:p>
          <a:endParaRPr lang="en-US"/>
        </a:p>
      </dgm:t>
    </dgm:pt>
    <dgm:pt modelId="{5C2F03AF-3901-45F2-A86A-0AD302816A3A}" type="sibTrans" cxnId="{41676895-BC3D-4B57-A6F0-7424A526D8DC}">
      <dgm:prSet/>
      <dgm:spPr/>
      <dgm:t>
        <a:bodyPr/>
        <a:lstStyle/>
        <a:p>
          <a:endParaRPr lang="en-US"/>
        </a:p>
      </dgm:t>
    </dgm:pt>
    <dgm:pt modelId="{8F9B0B2A-FBB7-4A21-92BC-7B484E9C7848}">
      <dgm:prSet/>
      <dgm:spPr/>
      <dgm:t>
        <a:bodyPr/>
        <a:lstStyle/>
        <a:p>
          <a:r>
            <a:rPr lang="en-US"/>
            <a:t>More risks that could lead to innovation</a:t>
          </a:r>
        </a:p>
      </dgm:t>
    </dgm:pt>
    <dgm:pt modelId="{F3227BDE-6B9B-492B-8052-6254E04B73C1}" type="parTrans" cxnId="{0E3E37DD-04B8-4E69-8809-E203BF8B6AC8}">
      <dgm:prSet/>
      <dgm:spPr/>
      <dgm:t>
        <a:bodyPr/>
        <a:lstStyle/>
        <a:p>
          <a:endParaRPr lang="en-US"/>
        </a:p>
      </dgm:t>
    </dgm:pt>
    <dgm:pt modelId="{BDFD00CC-82BF-429A-8909-6EF135E68814}" type="sibTrans" cxnId="{0E3E37DD-04B8-4E69-8809-E203BF8B6AC8}">
      <dgm:prSet/>
      <dgm:spPr/>
      <dgm:t>
        <a:bodyPr/>
        <a:lstStyle/>
        <a:p>
          <a:endParaRPr lang="en-US"/>
        </a:p>
      </dgm:t>
    </dgm:pt>
    <dgm:pt modelId="{EF3A2F25-731E-4BEB-BCC4-62B461FA5A2B}">
      <dgm:prSet/>
      <dgm:spPr/>
      <dgm:t>
        <a:bodyPr/>
        <a:lstStyle/>
        <a:p>
          <a:r>
            <a:rPr lang="en-US"/>
            <a:t>Higher retention</a:t>
          </a:r>
        </a:p>
      </dgm:t>
    </dgm:pt>
    <dgm:pt modelId="{8E1305EA-0FF4-47E5-A328-C5BFD9A1DDF0}" type="parTrans" cxnId="{E86F1C94-2641-41DE-85A2-41D61E2ED5DE}">
      <dgm:prSet/>
      <dgm:spPr/>
      <dgm:t>
        <a:bodyPr/>
        <a:lstStyle/>
        <a:p>
          <a:endParaRPr lang="en-US"/>
        </a:p>
      </dgm:t>
    </dgm:pt>
    <dgm:pt modelId="{0E9ECDD3-3E4C-4361-8DB2-3A39D743CDCD}" type="sibTrans" cxnId="{E86F1C94-2641-41DE-85A2-41D61E2ED5DE}">
      <dgm:prSet/>
      <dgm:spPr/>
      <dgm:t>
        <a:bodyPr/>
        <a:lstStyle/>
        <a:p>
          <a:endParaRPr lang="en-US"/>
        </a:p>
      </dgm:t>
    </dgm:pt>
    <dgm:pt modelId="{5A0A48EA-8E19-43D9-9574-C4794ACFC56F}">
      <dgm:prSet/>
      <dgm:spPr/>
      <dgm:t>
        <a:bodyPr/>
        <a:lstStyle/>
        <a:p>
          <a:r>
            <a:rPr lang="en-US"/>
            <a:t>Occupational self-esteem</a:t>
          </a:r>
        </a:p>
      </dgm:t>
    </dgm:pt>
    <dgm:pt modelId="{725A9ACE-EA8C-4166-8741-0A1D34D01FC7}" type="parTrans" cxnId="{E79B7C72-E82A-4254-9A32-8C634B1511AC}">
      <dgm:prSet/>
      <dgm:spPr/>
      <dgm:t>
        <a:bodyPr/>
        <a:lstStyle/>
        <a:p>
          <a:endParaRPr lang="en-US"/>
        </a:p>
      </dgm:t>
    </dgm:pt>
    <dgm:pt modelId="{FDFB3664-14AC-4BD5-B334-D5DB798B537C}" type="sibTrans" cxnId="{E79B7C72-E82A-4254-9A32-8C634B1511AC}">
      <dgm:prSet/>
      <dgm:spPr/>
      <dgm:t>
        <a:bodyPr/>
        <a:lstStyle/>
        <a:p>
          <a:endParaRPr lang="en-US"/>
        </a:p>
      </dgm:t>
    </dgm:pt>
    <dgm:pt modelId="{9270B20C-B15B-4A03-B68C-1D193D669FAC}">
      <dgm:prSet/>
      <dgm:spPr/>
      <dgm:t>
        <a:bodyPr/>
        <a:lstStyle/>
        <a:p>
          <a:r>
            <a:rPr lang="en-US"/>
            <a:t>Life and job satisfaction</a:t>
          </a:r>
        </a:p>
      </dgm:t>
    </dgm:pt>
    <dgm:pt modelId="{497C293F-4F25-4054-AD93-80CBF1822FDC}" type="parTrans" cxnId="{38C2B0B1-0323-463E-864E-D35332064E42}">
      <dgm:prSet/>
      <dgm:spPr/>
      <dgm:t>
        <a:bodyPr/>
        <a:lstStyle/>
        <a:p>
          <a:endParaRPr lang="en-US"/>
        </a:p>
      </dgm:t>
    </dgm:pt>
    <dgm:pt modelId="{EDDB1E6F-CE1F-4908-A5E1-615F8BB201EA}" type="sibTrans" cxnId="{38C2B0B1-0323-463E-864E-D35332064E42}">
      <dgm:prSet/>
      <dgm:spPr/>
      <dgm:t>
        <a:bodyPr/>
        <a:lstStyle/>
        <a:p>
          <a:endParaRPr lang="en-US"/>
        </a:p>
      </dgm:t>
    </dgm:pt>
    <dgm:pt modelId="{9C0034A2-41EE-4140-9C52-0CC665334B9C}">
      <dgm:prSet/>
      <dgm:spPr/>
      <dgm:t>
        <a:bodyPr/>
        <a:lstStyle/>
        <a:p>
          <a:r>
            <a:rPr lang="en-US"/>
            <a:t>Positive affect</a:t>
          </a:r>
        </a:p>
      </dgm:t>
    </dgm:pt>
    <dgm:pt modelId="{0A8A0EE2-84B7-4F3C-8B95-4D8D0121E052}" type="parTrans" cxnId="{4C2F9490-C306-40F5-8033-8C4FD4E5B16B}">
      <dgm:prSet/>
      <dgm:spPr/>
      <dgm:t>
        <a:bodyPr/>
        <a:lstStyle/>
        <a:p>
          <a:endParaRPr lang="en-US"/>
        </a:p>
      </dgm:t>
    </dgm:pt>
    <dgm:pt modelId="{4142D577-5B86-49E1-9FD4-A9870C9DBB10}" type="sibTrans" cxnId="{4C2F9490-C306-40F5-8033-8C4FD4E5B16B}">
      <dgm:prSet/>
      <dgm:spPr/>
      <dgm:t>
        <a:bodyPr/>
        <a:lstStyle/>
        <a:p>
          <a:endParaRPr lang="en-US"/>
        </a:p>
      </dgm:t>
    </dgm:pt>
    <dgm:pt modelId="{F66B117E-D554-44F1-8CE3-1099F251FC8B}">
      <dgm:prSet/>
      <dgm:spPr/>
      <dgm:t>
        <a:bodyPr/>
        <a:lstStyle/>
        <a:p>
          <a:r>
            <a:rPr lang="en-US"/>
            <a:t>When randomized to interdependent or independent work groups, those in interdependent groups more likely to form a friendship tie</a:t>
          </a:r>
        </a:p>
      </dgm:t>
    </dgm:pt>
    <dgm:pt modelId="{9E7CD597-B19D-45A3-A034-1DDD48BFE15D}" type="parTrans" cxnId="{4254A8A3-44B4-4F96-A6AD-36CDE056E646}">
      <dgm:prSet/>
      <dgm:spPr/>
      <dgm:t>
        <a:bodyPr/>
        <a:lstStyle/>
        <a:p>
          <a:endParaRPr lang="en-US"/>
        </a:p>
      </dgm:t>
    </dgm:pt>
    <dgm:pt modelId="{929CD188-7717-4D0B-9147-E94A15B336F2}" type="sibTrans" cxnId="{4254A8A3-44B4-4F96-A6AD-36CDE056E646}">
      <dgm:prSet/>
      <dgm:spPr/>
      <dgm:t>
        <a:bodyPr/>
        <a:lstStyle/>
        <a:p>
          <a:endParaRPr lang="en-US"/>
        </a:p>
      </dgm:t>
    </dgm:pt>
    <dgm:pt modelId="{D53E5385-849F-49DC-9AD0-93822D34D897}" type="pres">
      <dgm:prSet presAssocID="{EFD593E1-69F9-4BD8-B40E-2609AFD52F3A}" presName="linear" presStyleCnt="0">
        <dgm:presLayoutVars>
          <dgm:animLvl val="lvl"/>
          <dgm:resizeHandles val="exact"/>
        </dgm:presLayoutVars>
      </dgm:prSet>
      <dgm:spPr/>
    </dgm:pt>
    <dgm:pt modelId="{13C0FAD0-E7C6-4E01-AC3F-0C10D56ABAB7}" type="pres">
      <dgm:prSet presAssocID="{99C16AD4-8EF6-4E6A-9FDA-671DC179862D}" presName="parentText" presStyleLbl="node1" presStyleIdx="0" presStyleCnt="2">
        <dgm:presLayoutVars>
          <dgm:chMax val="0"/>
          <dgm:bulletEnabled val="1"/>
        </dgm:presLayoutVars>
      </dgm:prSet>
      <dgm:spPr/>
    </dgm:pt>
    <dgm:pt modelId="{B18117E7-ACC0-4ED0-9DEF-6011C530D2FA}" type="pres">
      <dgm:prSet presAssocID="{99C16AD4-8EF6-4E6A-9FDA-671DC179862D}" presName="childText" presStyleLbl="revTx" presStyleIdx="0" presStyleCnt="1">
        <dgm:presLayoutVars>
          <dgm:bulletEnabled val="1"/>
        </dgm:presLayoutVars>
      </dgm:prSet>
      <dgm:spPr/>
    </dgm:pt>
    <dgm:pt modelId="{309B51BE-9742-44BD-8662-2DB995C4198F}" type="pres">
      <dgm:prSet presAssocID="{F66B117E-D554-44F1-8CE3-1099F251FC8B}" presName="parentText" presStyleLbl="node1" presStyleIdx="1" presStyleCnt="2">
        <dgm:presLayoutVars>
          <dgm:chMax val="0"/>
          <dgm:bulletEnabled val="1"/>
        </dgm:presLayoutVars>
      </dgm:prSet>
      <dgm:spPr/>
    </dgm:pt>
  </dgm:ptLst>
  <dgm:cxnLst>
    <dgm:cxn modelId="{70DB9D04-B454-44ED-AFD1-757E24EE37D8}" type="presOf" srcId="{8F9B0B2A-FBB7-4A21-92BC-7B484E9C7848}" destId="{B18117E7-ACC0-4ED0-9DEF-6011C530D2FA}" srcOrd="0" destOrd="2" presId="urn:microsoft.com/office/officeart/2005/8/layout/vList2"/>
    <dgm:cxn modelId="{82A61F20-71E4-4FA3-881D-02EAAB901CEC}" srcId="{99C16AD4-8EF6-4E6A-9FDA-671DC179862D}" destId="{33B349F6-839D-48D8-9D68-FB08FB17BAA5}" srcOrd="0" destOrd="0" parTransId="{C271E72C-05EB-4E9B-9596-B49453E3E6EE}" sibTransId="{C0BA3CE7-6803-457E-90B9-AD9C3B3BE1A5}"/>
    <dgm:cxn modelId="{ADA0CB21-0294-4436-917F-5CB304D183C7}" type="presOf" srcId="{5A0A48EA-8E19-43D9-9574-C4794ACFC56F}" destId="{B18117E7-ACC0-4ED0-9DEF-6011C530D2FA}" srcOrd="0" destOrd="4" presId="urn:microsoft.com/office/officeart/2005/8/layout/vList2"/>
    <dgm:cxn modelId="{8CA03928-A612-4C45-83AB-42D49140CC0F}" type="presOf" srcId="{EFD593E1-69F9-4BD8-B40E-2609AFD52F3A}" destId="{D53E5385-849F-49DC-9AD0-93822D34D897}" srcOrd="0" destOrd="0" presId="urn:microsoft.com/office/officeart/2005/8/layout/vList2"/>
    <dgm:cxn modelId="{3600E45D-BAF4-4DC7-A41F-EC78B21920C5}" type="presOf" srcId="{F66B117E-D554-44F1-8CE3-1099F251FC8B}" destId="{309B51BE-9742-44BD-8662-2DB995C4198F}" srcOrd="0" destOrd="0" presId="urn:microsoft.com/office/officeart/2005/8/layout/vList2"/>
    <dgm:cxn modelId="{AF7FE449-B5FA-4A9E-A742-8AAA8C420155}" type="presOf" srcId="{33B349F6-839D-48D8-9D68-FB08FB17BAA5}" destId="{B18117E7-ACC0-4ED0-9DEF-6011C530D2FA}" srcOrd="0" destOrd="0" presId="urn:microsoft.com/office/officeart/2005/8/layout/vList2"/>
    <dgm:cxn modelId="{E79B7C72-E82A-4254-9A32-8C634B1511AC}" srcId="{99C16AD4-8EF6-4E6A-9FDA-671DC179862D}" destId="{5A0A48EA-8E19-43D9-9574-C4794ACFC56F}" srcOrd="4" destOrd="0" parTransId="{725A9ACE-EA8C-4166-8741-0A1D34D01FC7}" sibTransId="{FDFB3664-14AC-4BD5-B334-D5DB798B537C}"/>
    <dgm:cxn modelId="{5C2F6674-2ABB-4D85-B11D-ABA21F446564}" type="presOf" srcId="{9270B20C-B15B-4A03-B68C-1D193D669FAC}" destId="{B18117E7-ACC0-4ED0-9DEF-6011C530D2FA}" srcOrd="0" destOrd="5" presId="urn:microsoft.com/office/officeart/2005/8/layout/vList2"/>
    <dgm:cxn modelId="{DF06E181-C49F-4C05-93E2-EA9D7460DF0F}" srcId="{EFD593E1-69F9-4BD8-B40E-2609AFD52F3A}" destId="{99C16AD4-8EF6-4E6A-9FDA-671DC179862D}" srcOrd="0" destOrd="0" parTransId="{8A4E9ABA-E912-421F-8E5A-B6DF0288FEE1}" sibTransId="{25642CD1-AA39-4419-B9DB-DE965E27F750}"/>
    <dgm:cxn modelId="{4C2F9490-C306-40F5-8033-8C4FD4E5B16B}" srcId="{99C16AD4-8EF6-4E6A-9FDA-671DC179862D}" destId="{9C0034A2-41EE-4140-9C52-0CC665334B9C}" srcOrd="6" destOrd="0" parTransId="{0A8A0EE2-84B7-4F3C-8B95-4D8D0121E052}" sibTransId="{4142D577-5B86-49E1-9FD4-A9870C9DBB10}"/>
    <dgm:cxn modelId="{E86F1C94-2641-41DE-85A2-41D61E2ED5DE}" srcId="{99C16AD4-8EF6-4E6A-9FDA-671DC179862D}" destId="{EF3A2F25-731E-4BEB-BCC4-62B461FA5A2B}" srcOrd="3" destOrd="0" parTransId="{8E1305EA-0FF4-47E5-A328-C5BFD9A1DDF0}" sibTransId="{0E9ECDD3-3E4C-4361-8DB2-3A39D743CDCD}"/>
    <dgm:cxn modelId="{41676895-BC3D-4B57-A6F0-7424A526D8DC}" srcId="{99C16AD4-8EF6-4E6A-9FDA-671DC179862D}" destId="{440AEBA9-AAF6-4EB8-899B-90950B464F4A}" srcOrd="1" destOrd="0" parTransId="{839712CA-EE86-48DB-8A00-7630955F8F34}" sibTransId="{5C2F03AF-3901-45F2-A86A-0AD302816A3A}"/>
    <dgm:cxn modelId="{C17C6F95-2B06-4265-91D1-4FC746BA3C0D}" type="presOf" srcId="{9C0034A2-41EE-4140-9C52-0CC665334B9C}" destId="{B18117E7-ACC0-4ED0-9DEF-6011C530D2FA}" srcOrd="0" destOrd="6" presId="urn:microsoft.com/office/officeart/2005/8/layout/vList2"/>
    <dgm:cxn modelId="{4254A8A3-44B4-4F96-A6AD-36CDE056E646}" srcId="{EFD593E1-69F9-4BD8-B40E-2609AFD52F3A}" destId="{F66B117E-D554-44F1-8CE3-1099F251FC8B}" srcOrd="1" destOrd="0" parTransId="{9E7CD597-B19D-45A3-A034-1DDD48BFE15D}" sibTransId="{929CD188-7717-4D0B-9147-E94A15B336F2}"/>
    <dgm:cxn modelId="{5C0FE6AF-0613-45D1-AF06-EAC4F1D3E334}" type="presOf" srcId="{EF3A2F25-731E-4BEB-BCC4-62B461FA5A2B}" destId="{B18117E7-ACC0-4ED0-9DEF-6011C530D2FA}" srcOrd="0" destOrd="3" presId="urn:microsoft.com/office/officeart/2005/8/layout/vList2"/>
    <dgm:cxn modelId="{38C2B0B1-0323-463E-864E-D35332064E42}" srcId="{99C16AD4-8EF6-4E6A-9FDA-671DC179862D}" destId="{9270B20C-B15B-4A03-B68C-1D193D669FAC}" srcOrd="5" destOrd="0" parTransId="{497C293F-4F25-4054-AD93-80CBF1822FDC}" sibTransId="{EDDB1E6F-CE1F-4908-A5E1-615F8BB201EA}"/>
    <dgm:cxn modelId="{841A6FCB-993D-4E3D-841C-C423FC806673}" type="presOf" srcId="{99C16AD4-8EF6-4E6A-9FDA-671DC179862D}" destId="{13C0FAD0-E7C6-4E01-AC3F-0C10D56ABAB7}" srcOrd="0" destOrd="0" presId="urn:microsoft.com/office/officeart/2005/8/layout/vList2"/>
    <dgm:cxn modelId="{A7CFACCF-0060-460D-A180-7A182580B751}" type="presOf" srcId="{440AEBA9-AAF6-4EB8-899B-90950B464F4A}" destId="{B18117E7-ACC0-4ED0-9DEF-6011C530D2FA}" srcOrd="0" destOrd="1" presId="urn:microsoft.com/office/officeart/2005/8/layout/vList2"/>
    <dgm:cxn modelId="{0E3E37DD-04B8-4E69-8809-E203BF8B6AC8}" srcId="{99C16AD4-8EF6-4E6A-9FDA-671DC179862D}" destId="{8F9B0B2A-FBB7-4A21-92BC-7B484E9C7848}" srcOrd="2" destOrd="0" parTransId="{F3227BDE-6B9B-492B-8052-6254E04B73C1}" sibTransId="{BDFD00CC-82BF-429A-8909-6EF135E68814}"/>
    <dgm:cxn modelId="{9F83BE6C-FDEB-461F-9B61-58DBF708268D}" type="presParOf" srcId="{D53E5385-849F-49DC-9AD0-93822D34D897}" destId="{13C0FAD0-E7C6-4E01-AC3F-0C10D56ABAB7}" srcOrd="0" destOrd="0" presId="urn:microsoft.com/office/officeart/2005/8/layout/vList2"/>
    <dgm:cxn modelId="{5299C6FE-B70F-442A-9FF9-651CCC531853}" type="presParOf" srcId="{D53E5385-849F-49DC-9AD0-93822D34D897}" destId="{B18117E7-ACC0-4ED0-9DEF-6011C530D2FA}" srcOrd="1" destOrd="0" presId="urn:microsoft.com/office/officeart/2005/8/layout/vList2"/>
    <dgm:cxn modelId="{0185ED67-AC1B-4297-816A-2EE0D03F426B}" type="presParOf" srcId="{D53E5385-849F-49DC-9AD0-93822D34D897}" destId="{309B51BE-9742-44BD-8662-2DB995C4198F}"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AA6870BB-CBEF-4ED5-A579-855799E8472C}" type="doc">
      <dgm:prSet loTypeId="urn:microsoft.com/office/officeart/2005/8/layout/matrix3" loCatId="matrix" qsTypeId="urn:microsoft.com/office/officeart/2005/8/quickstyle/simple1" qsCatId="simple" csTypeId="urn:microsoft.com/office/officeart/2005/8/colors/colorful1" csCatId="colorful"/>
      <dgm:spPr/>
      <dgm:t>
        <a:bodyPr/>
        <a:lstStyle/>
        <a:p>
          <a:endParaRPr lang="en-US"/>
        </a:p>
      </dgm:t>
    </dgm:pt>
    <dgm:pt modelId="{1F327A37-5847-4B67-806C-88F9AC4D3585}">
      <dgm:prSet/>
      <dgm:spPr/>
      <dgm:t>
        <a:bodyPr/>
        <a:lstStyle/>
        <a:p>
          <a:r>
            <a:rPr lang="en-US" dirty="0"/>
            <a:t>Work-Family Conflict (WFC) – degree to which commitments and experiences at work disrupt family life and commitments in family life disrupt work</a:t>
          </a:r>
        </a:p>
      </dgm:t>
    </dgm:pt>
    <dgm:pt modelId="{DB1A828E-A8AE-412B-BF9E-D73DE678D3A3}" type="parTrans" cxnId="{E376051C-56B9-4CA6-AD59-CE7C8F276F2B}">
      <dgm:prSet/>
      <dgm:spPr/>
      <dgm:t>
        <a:bodyPr/>
        <a:lstStyle/>
        <a:p>
          <a:endParaRPr lang="en-US"/>
        </a:p>
      </dgm:t>
    </dgm:pt>
    <dgm:pt modelId="{29AD99A9-3E5E-498A-BE51-23B48068C227}" type="sibTrans" cxnId="{E376051C-56B9-4CA6-AD59-CE7C8F276F2B}">
      <dgm:prSet/>
      <dgm:spPr/>
      <dgm:t>
        <a:bodyPr/>
        <a:lstStyle/>
        <a:p>
          <a:endParaRPr lang="en-US"/>
        </a:p>
      </dgm:t>
    </dgm:pt>
    <dgm:pt modelId="{A85A8E03-BF21-497B-8B60-754404879AD7}">
      <dgm:prSet/>
      <dgm:spPr/>
      <dgm:t>
        <a:bodyPr/>
        <a:lstStyle/>
        <a:p>
          <a:r>
            <a:rPr lang="en-US"/>
            <a:t>Association between (higher) WFC and (lower) life satisfaction is weaker in collectivistic cultures</a:t>
          </a:r>
        </a:p>
      </dgm:t>
    </dgm:pt>
    <dgm:pt modelId="{6EED7F5A-B890-40B9-8DCB-9139E25500A5}" type="parTrans" cxnId="{72FD3CEE-7C8C-4582-AE5E-9390AD9666AF}">
      <dgm:prSet/>
      <dgm:spPr/>
      <dgm:t>
        <a:bodyPr/>
        <a:lstStyle/>
        <a:p>
          <a:endParaRPr lang="en-US"/>
        </a:p>
      </dgm:t>
    </dgm:pt>
    <dgm:pt modelId="{B4FB14C4-FC3B-433F-9A98-810AA4B97423}" type="sibTrans" cxnId="{72FD3CEE-7C8C-4582-AE5E-9390AD9666AF}">
      <dgm:prSet/>
      <dgm:spPr/>
      <dgm:t>
        <a:bodyPr/>
        <a:lstStyle/>
        <a:p>
          <a:endParaRPr lang="en-US"/>
        </a:p>
      </dgm:t>
    </dgm:pt>
    <dgm:pt modelId="{78CDA30F-2565-47F7-BDEB-B21D0EC9E31A}">
      <dgm:prSet/>
      <dgm:spPr/>
      <dgm:t>
        <a:bodyPr/>
        <a:lstStyle/>
        <a:p>
          <a:r>
            <a:rPr lang="en-US"/>
            <a:t>Relative Centrality of Work (RCW) – degree to which work outcomes are a central focus on one’s life</a:t>
          </a:r>
        </a:p>
      </dgm:t>
    </dgm:pt>
    <dgm:pt modelId="{36295182-DD45-4D5F-86A9-595BBE0C3151}" type="parTrans" cxnId="{F2556D71-17B0-4B13-8DA5-94456D41FDD5}">
      <dgm:prSet/>
      <dgm:spPr/>
      <dgm:t>
        <a:bodyPr/>
        <a:lstStyle/>
        <a:p>
          <a:endParaRPr lang="en-US"/>
        </a:p>
      </dgm:t>
    </dgm:pt>
    <dgm:pt modelId="{7015B271-00B5-42BF-B048-02D55036DA28}" type="sibTrans" cxnId="{F2556D71-17B0-4B13-8DA5-94456D41FDD5}">
      <dgm:prSet/>
      <dgm:spPr/>
      <dgm:t>
        <a:bodyPr/>
        <a:lstStyle/>
        <a:p>
          <a:endParaRPr lang="en-US"/>
        </a:p>
      </dgm:t>
    </dgm:pt>
    <dgm:pt modelId="{27D87E97-FEB9-4F64-AF6F-60B4915E0EAD}">
      <dgm:prSet/>
      <dgm:spPr/>
      <dgm:t>
        <a:bodyPr/>
        <a:lstStyle/>
        <a:p>
          <a:r>
            <a:rPr lang="en-US"/>
            <a:t>Cross-cultural differences in RCW</a:t>
          </a:r>
        </a:p>
      </dgm:t>
    </dgm:pt>
    <dgm:pt modelId="{A5DEED6E-EE86-4C2E-93B4-CE7DB4CF0F1A}" type="parTrans" cxnId="{0D3BA4DA-7AF8-490E-9EAE-36C8C59C56B3}">
      <dgm:prSet/>
      <dgm:spPr/>
      <dgm:t>
        <a:bodyPr/>
        <a:lstStyle/>
        <a:p>
          <a:endParaRPr lang="en-US"/>
        </a:p>
      </dgm:t>
    </dgm:pt>
    <dgm:pt modelId="{0CDD12B9-05C3-4A95-9155-F7922A059A11}" type="sibTrans" cxnId="{0D3BA4DA-7AF8-490E-9EAE-36C8C59C56B3}">
      <dgm:prSet/>
      <dgm:spPr/>
      <dgm:t>
        <a:bodyPr/>
        <a:lstStyle/>
        <a:p>
          <a:endParaRPr lang="en-US"/>
        </a:p>
      </dgm:t>
    </dgm:pt>
    <dgm:pt modelId="{B3111902-6444-4A8C-9F88-E4FE596C9A36}">
      <dgm:prSet/>
      <dgm:spPr/>
      <dgm:t>
        <a:bodyPr/>
        <a:lstStyle/>
        <a:p>
          <a:r>
            <a:rPr lang="en-US"/>
            <a:t>Participants in US 2x as likely as any other country to report they would stop working if they won the lottery</a:t>
          </a:r>
        </a:p>
      </dgm:t>
    </dgm:pt>
    <dgm:pt modelId="{A73B7166-1A43-4D63-BD9F-E3AEA7FF4CFC}" type="parTrans" cxnId="{B7916433-01CA-464C-BE4A-0ADB8E39C14D}">
      <dgm:prSet/>
      <dgm:spPr/>
      <dgm:t>
        <a:bodyPr/>
        <a:lstStyle/>
        <a:p>
          <a:endParaRPr lang="en-US"/>
        </a:p>
      </dgm:t>
    </dgm:pt>
    <dgm:pt modelId="{C1E6D381-CAD0-4FCF-BC6D-7CBAA569CEBF}" type="sibTrans" cxnId="{B7916433-01CA-464C-BE4A-0ADB8E39C14D}">
      <dgm:prSet/>
      <dgm:spPr/>
      <dgm:t>
        <a:bodyPr/>
        <a:lstStyle/>
        <a:p>
          <a:endParaRPr lang="en-US"/>
        </a:p>
      </dgm:t>
    </dgm:pt>
    <dgm:pt modelId="{2CE618FA-047C-49AE-8676-C24BEB803D54}" type="pres">
      <dgm:prSet presAssocID="{AA6870BB-CBEF-4ED5-A579-855799E8472C}" presName="matrix" presStyleCnt="0">
        <dgm:presLayoutVars>
          <dgm:chMax val="1"/>
          <dgm:dir/>
          <dgm:resizeHandles val="exact"/>
        </dgm:presLayoutVars>
      </dgm:prSet>
      <dgm:spPr/>
    </dgm:pt>
    <dgm:pt modelId="{5E201DB7-AE42-4FD8-A4B0-7B8BB0E5903E}" type="pres">
      <dgm:prSet presAssocID="{AA6870BB-CBEF-4ED5-A579-855799E8472C}" presName="diamond" presStyleLbl="bgShp" presStyleIdx="0" presStyleCnt="1"/>
      <dgm:spPr/>
    </dgm:pt>
    <dgm:pt modelId="{1A040521-22A5-42C8-85DD-9A0367E34507}" type="pres">
      <dgm:prSet presAssocID="{AA6870BB-CBEF-4ED5-A579-855799E8472C}" presName="quad1" presStyleLbl="node1" presStyleIdx="0" presStyleCnt="4">
        <dgm:presLayoutVars>
          <dgm:chMax val="0"/>
          <dgm:chPref val="0"/>
          <dgm:bulletEnabled val="1"/>
        </dgm:presLayoutVars>
      </dgm:prSet>
      <dgm:spPr/>
    </dgm:pt>
    <dgm:pt modelId="{BC1622B6-0D00-48AE-93F0-6236E8A5BADA}" type="pres">
      <dgm:prSet presAssocID="{AA6870BB-CBEF-4ED5-A579-855799E8472C}" presName="quad2" presStyleLbl="node1" presStyleIdx="1" presStyleCnt="4">
        <dgm:presLayoutVars>
          <dgm:chMax val="0"/>
          <dgm:chPref val="0"/>
          <dgm:bulletEnabled val="1"/>
        </dgm:presLayoutVars>
      </dgm:prSet>
      <dgm:spPr/>
    </dgm:pt>
    <dgm:pt modelId="{1476D3E4-122A-496C-9182-10E3F0696303}" type="pres">
      <dgm:prSet presAssocID="{AA6870BB-CBEF-4ED5-A579-855799E8472C}" presName="quad3" presStyleLbl="node1" presStyleIdx="2" presStyleCnt="4">
        <dgm:presLayoutVars>
          <dgm:chMax val="0"/>
          <dgm:chPref val="0"/>
          <dgm:bulletEnabled val="1"/>
        </dgm:presLayoutVars>
      </dgm:prSet>
      <dgm:spPr/>
    </dgm:pt>
    <dgm:pt modelId="{CFF6C254-7E73-4F84-9CB4-309530E5513E}" type="pres">
      <dgm:prSet presAssocID="{AA6870BB-CBEF-4ED5-A579-855799E8472C}" presName="quad4" presStyleLbl="node1" presStyleIdx="3" presStyleCnt="4">
        <dgm:presLayoutVars>
          <dgm:chMax val="0"/>
          <dgm:chPref val="0"/>
          <dgm:bulletEnabled val="1"/>
        </dgm:presLayoutVars>
      </dgm:prSet>
      <dgm:spPr/>
    </dgm:pt>
  </dgm:ptLst>
  <dgm:cxnLst>
    <dgm:cxn modelId="{0D668B06-C9F8-4D4E-ABBD-D93C2B3889A3}" type="presOf" srcId="{AA6870BB-CBEF-4ED5-A579-855799E8472C}" destId="{2CE618FA-047C-49AE-8676-C24BEB803D54}" srcOrd="0" destOrd="0" presId="urn:microsoft.com/office/officeart/2005/8/layout/matrix3"/>
    <dgm:cxn modelId="{E376051C-56B9-4CA6-AD59-CE7C8F276F2B}" srcId="{AA6870BB-CBEF-4ED5-A579-855799E8472C}" destId="{1F327A37-5847-4B67-806C-88F9AC4D3585}" srcOrd="0" destOrd="0" parTransId="{DB1A828E-A8AE-412B-BF9E-D73DE678D3A3}" sibTransId="{29AD99A9-3E5E-498A-BE51-23B48068C227}"/>
    <dgm:cxn modelId="{B7916433-01CA-464C-BE4A-0ADB8E39C14D}" srcId="{27D87E97-FEB9-4F64-AF6F-60B4915E0EAD}" destId="{B3111902-6444-4A8C-9F88-E4FE596C9A36}" srcOrd="0" destOrd="0" parTransId="{A73B7166-1A43-4D63-BD9F-E3AEA7FF4CFC}" sibTransId="{C1E6D381-CAD0-4FCF-BC6D-7CBAA569CEBF}"/>
    <dgm:cxn modelId="{F2556D71-17B0-4B13-8DA5-94456D41FDD5}" srcId="{AA6870BB-CBEF-4ED5-A579-855799E8472C}" destId="{78CDA30F-2565-47F7-BDEB-B21D0EC9E31A}" srcOrd="2" destOrd="0" parTransId="{36295182-DD45-4D5F-86A9-595BBE0C3151}" sibTransId="{7015B271-00B5-42BF-B048-02D55036DA28}"/>
    <dgm:cxn modelId="{350C1889-66A1-4EB4-BCD6-8051A8AA93CC}" type="presOf" srcId="{78CDA30F-2565-47F7-BDEB-B21D0EC9E31A}" destId="{1476D3E4-122A-496C-9182-10E3F0696303}" srcOrd="0" destOrd="0" presId="urn:microsoft.com/office/officeart/2005/8/layout/matrix3"/>
    <dgm:cxn modelId="{EFD7F78E-AA08-4000-90DB-F35DB0CB0E7F}" type="presOf" srcId="{B3111902-6444-4A8C-9F88-E4FE596C9A36}" destId="{CFF6C254-7E73-4F84-9CB4-309530E5513E}" srcOrd="0" destOrd="1" presId="urn:microsoft.com/office/officeart/2005/8/layout/matrix3"/>
    <dgm:cxn modelId="{1C93E490-9A1E-4190-A640-EAE8DA13C28A}" type="presOf" srcId="{A85A8E03-BF21-497B-8B60-754404879AD7}" destId="{BC1622B6-0D00-48AE-93F0-6236E8A5BADA}" srcOrd="0" destOrd="0" presId="urn:microsoft.com/office/officeart/2005/8/layout/matrix3"/>
    <dgm:cxn modelId="{8A74B8A6-9F7C-4D75-8CED-A668CCB648F8}" type="presOf" srcId="{1F327A37-5847-4B67-806C-88F9AC4D3585}" destId="{1A040521-22A5-42C8-85DD-9A0367E34507}" srcOrd="0" destOrd="0" presId="urn:microsoft.com/office/officeart/2005/8/layout/matrix3"/>
    <dgm:cxn modelId="{0D3BA4DA-7AF8-490E-9EAE-36C8C59C56B3}" srcId="{AA6870BB-CBEF-4ED5-A579-855799E8472C}" destId="{27D87E97-FEB9-4F64-AF6F-60B4915E0EAD}" srcOrd="3" destOrd="0" parTransId="{A5DEED6E-EE86-4C2E-93B4-CE7DB4CF0F1A}" sibTransId="{0CDD12B9-05C3-4A95-9155-F7922A059A11}"/>
    <dgm:cxn modelId="{72FD3CEE-7C8C-4582-AE5E-9390AD9666AF}" srcId="{AA6870BB-CBEF-4ED5-A579-855799E8472C}" destId="{A85A8E03-BF21-497B-8B60-754404879AD7}" srcOrd="1" destOrd="0" parTransId="{6EED7F5A-B890-40B9-8DCB-9139E25500A5}" sibTransId="{B4FB14C4-FC3B-433F-9A98-810AA4B97423}"/>
    <dgm:cxn modelId="{A1EC53FB-46F2-4C98-A918-795357D2F58B}" type="presOf" srcId="{27D87E97-FEB9-4F64-AF6F-60B4915E0EAD}" destId="{CFF6C254-7E73-4F84-9CB4-309530E5513E}" srcOrd="0" destOrd="0" presId="urn:microsoft.com/office/officeart/2005/8/layout/matrix3"/>
    <dgm:cxn modelId="{B04E64BC-7C85-4A3B-8373-11C9921D4EB2}" type="presParOf" srcId="{2CE618FA-047C-49AE-8676-C24BEB803D54}" destId="{5E201DB7-AE42-4FD8-A4B0-7B8BB0E5903E}" srcOrd="0" destOrd="0" presId="urn:microsoft.com/office/officeart/2005/8/layout/matrix3"/>
    <dgm:cxn modelId="{3F4EBC6D-BCD3-4F1A-8F87-E5BFFEAFCCAB}" type="presParOf" srcId="{2CE618FA-047C-49AE-8676-C24BEB803D54}" destId="{1A040521-22A5-42C8-85DD-9A0367E34507}" srcOrd="1" destOrd="0" presId="urn:microsoft.com/office/officeart/2005/8/layout/matrix3"/>
    <dgm:cxn modelId="{A0091BAD-8CB5-46F7-B518-696F98324093}" type="presParOf" srcId="{2CE618FA-047C-49AE-8676-C24BEB803D54}" destId="{BC1622B6-0D00-48AE-93F0-6236E8A5BADA}" srcOrd="2" destOrd="0" presId="urn:microsoft.com/office/officeart/2005/8/layout/matrix3"/>
    <dgm:cxn modelId="{96B2354E-6A4C-4D16-A33C-6D51CD5DD3B1}" type="presParOf" srcId="{2CE618FA-047C-49AE-8676-C24BEB803D54}" destId="{1476D3E4-122A-496C-9182-10E3F0696303}" srcOrd="3" destOrd="0" presId="urn:microsoft.com/office/officeart/2005/8/layout/matrix3"/>
    <dgm:cxn modelId="{2121DEDC-37C3-4290-936E-E7FD6D10E56B}" type="presParOf" srcId="{2CE618FA-047C-49AE-8676-C24BEB803D54}" destId="{CFF6C254-7E73-4F84-9CB4-309530E5513E}"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A11C2447-DA1D-43C9-BCF2-2197FA40C5AA}"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99A33ED2-F141-4323-88AF-33AADC2A12B3}">
      <dgm:prSet/>
      <dgm:spPr/>
      <dgm:t>
        <a:bodyPr/>
        <a:lstStyle/>
        <a:p>
          <a:r>
            <a:rPr lang="en-US"/>
            <a:t>Leaders posses a vision that is discrepant from the status quo, resonates with followers</a:t>
          </a:r>
        </a:p>
      </dgm:t>
    </dgm:pt>
    <dgm:pt modelId="{CE0BABBA-E74D-426E-8091-0E68058DF6EE}" type="parTrans" cxnId="{D88133DB-F283-4B44-968B-DA10EC9B6871}">
      <dgm:prSet/>
      <dgm:spPr/>
      <dgm:t>
        <a:bodyPr/>
        <a:lstStyle/>
        <a:p>
          <a:endParaRPr lang="en-US"/>
        </a:p>
      </dgm:t>
    </dgm:pt>
    <dgm:pt modelId="{78283778-EA70-4C56-A26F-BD3847D44672}" type="sibTrans" cxnId="{D88133DB-F283-4B44-968B-DA10EC9B6871}">
      <dgm:prSet/>
      <dgm:spPr/>
      <dgm:t>
        <a:bodyPr/>
        <a:lstStyle/>
        <a:p>
          <a:endParaRPr lang="en-US"/>
        </a:p>
      </dgm:t>
    </dgm:pt>
    <dgm:pt modelId="{6778B762-9C03-45F6-A1FB-CB10906B8D38}">
      <dgm:prSet/>
      <dgm:spPr/>
      <dgm:t>
        <a:bodyPr/>
        <a:lstStyle/>
        <a:p>
          <a:r>
            <a:rPr lang="en-US"/>
            <a:t>Leaders have optimism and excitement about future</a:t>
          </a:r>
        </a:p>
      </dgm:t>
    </dgm:pt>
    <dgm:pt modelId="{0FA503B2-1B7D-4A69-8F10-D91B26E95040}" type="parTrans" cxnId="{8BCD208F-8D4D-4A4B-A965-C96D3ECFBC9B}">
      <dgm:prSet/>
      <dgm:spPr/>
      <dgm:t>
        <a:bodyPr/>
        <a:lstStyle/>
        <a:p>
          <a:endParaRPr lang="en-US"/>
        </a:p>
      </dgm:t>
    </dgm:pt>
    <dgm:pt modelId="{FF8F8562-AC97-4A85-95C8-5EB62A0BC226}" type="sibTrans" cxnId="{8BCD208F-8D4D-4A4B-A965-C96D3ECFBC9B}">
      <dgm:prSet/>
      <dgm:spPr/>
      <dgm:t>
        <a:bodyPr/>
        <a:lstStyle/>
        <a:p>
          <a:endParaRPr lang="en-US"/>
        </a:p>
      </dgm:t>
    </dgm:pt>
    <dgm:pt modelId="{C902331C-7376-4940-B53C-5CFADA41E6CA}">
      <dgm:prSet/>
      <dgm:spPr/>
      <dgm:t>
        <a:bodyPr/>
        <a:lstStyle/>
        <a:p>
          <a:r>
            <a:rPr lang="en-US"/>
            <a:t>Leaders value individuals for unique talents and seek to maximize their self-actualization</a:t>
          </a:r>
        </a:p>
      </dgm:t>
    </dgm:pt>
    <dgm:pt modelId="{9AF915E5-7007-40CD-8BDF-7522B80320B9}" type="parTrans" cxnId="{C72272D6-34F3-4A3C-BB4C-4284980C72BC}">
      <dgm:prSet/>
      <dgm:spPr/>
      <dgm:t>
        <a:bodyPr/>
        <a:lstStyle/>
        <a:p>
          <a:endParaRPr lang="en-US"/>
        </a:p>
      </dgm:t>
    </dgm:pt>
    <dgm:pt modelId="{ABBE1A4D-13E1-4C38-87C1-213D431D3277}" type="sibTrans" cxnId="{C72272D6-34F3-4A3C-BB4C-4284980C72BC}">
      <dgm:prSet/>
      <dgm:spPr/>
      <dgm:t>
        <a:bodyPr/>
        <a:lstStyle/>
        <a:p>
          <a:endParaRPr lang="en-US"/>
        </a:p>
      </dgm:t>
    </dgm:pt>
    <dgm:pt modelId="{D3011EED-277D-4E11-8868-0B112D1335E3}">
      <dgm:prSet/>
      <dgm:spPr/>
      <dgm:t>
        <a:bodyPr/>
        <a:lstStyle/>
        <a:p>
          <a:r>
            <a:rPr lang="en-US"/>
            <a:t>High in dedication and hard work</a:t>
          </a:r>
        </a:p>
      </dgm:t>
    </dgm:pt>
    <dgm:pt modelId="{6EF009C4-E06E-4E6F-BBF2-F21A2F552023}" type="parTrans" cxnId="{0FD89B9F-E752-4BCA-8006-8ACE9EF99525}">
      <dgm:prSet/>
      <dgm:spPr/>
      <dgm:t>
        <a:bodyPr/>
        <a:lstStyle/>
        <a:p>
          <a:endParaRPr lang="en-US"/>
        </a:p>
      </dgm:t>
    </dgm:pt>
    <dgm:pt modelId="{DB3B3FAF-0ACB-4452-9234-ED6E1949CFB0}" type="sibTrans" cxnId="{0FD89B9F-E752-4BCA-8006-8ACE9EF99525}">
      <dgm:prSet/>
      <dgm:spPr/>
      <dgm:t>
        <a:bodyPr/>
        <a:lstStyle/>
        <a:p>
          <a:endParaRPr lang="en-US"/>
        </a:p>
      </dgm:t>
    </dgm:pt>
    <dgm:pt modelId="{99B9219C-98DA-4E76-9AB9-46716C462532}">
      <dgm:prSet/>
      <dgm:spPr/>
      <dgm:t>
        <a:bodyPr/>
        <a:lstStyle/>
        <a:p>
          <a:r>
            <a:rPr lang="en-US"/>
            <a:t>High integrity</a:t>
          </a:r>
        </a:p>
      </dgm:t>
    </dgm:pt>
    <dgm:pt modelId="{E8638EC3-932A-4566-99A8-98E794458D8C}" type="parTrans" cxnId="{4707217C-A070-4920-B2C7-40EC07183DA0}">
      <dgm:prSet/>
      <dgm:spPr/>
      <dgm:t>
        <a:bodyPr/>
        <a:lstStyle/>
        <a:p>
          <a:endParaRPr lang="en-US"/>
        </a:p>
      </dgm:t>
    </dgm:pt>
    <dgm:pt modelId="{998F0C4F-94E2-453D-AE84-18C7849B3796}" type="sibTrans" cxnId="{4707217C-A070-4920-B2C7-40EC07183DA0}">
      <dgm:prSet/>
      <dgm:spPr/>
      <dgm:t>
        <a:bodyPr/>
        <a:lstStyle/>
        <a:p>
          <a:endParaRPr lang="en-US"/>
        </a:p>
      </dgm:t>
    </dgm:pt>
    <dgm:pt modelId="{8D5F0008-7C2B-4870-8A5E-B794274CE22B}">
      <dgm:prSet/>
      <dgm:spPr/>
      <dgm:t>
        <a:bodyPr/>
        <a:lstStyle/>
        <a:p>
          <a:r>
            <a:rPr lang="en-US"/>
            <a:t>Provide clear directives and specific feedback</a:t>
          </a:r>
        </a:p>
      </dgm:t>
    </dgm:pt>
    <dgm:pt modelId="{FC0575CA-3C9B-42B4-9A35-2AEABFC97460}" type="parTrans" cxnId="{4B4683F8-1412-41A6-BBD5-ACB4214EDF67}">
      <dgm:prSet/>
      <dgm:spPr/>
      <dgm:t>
        <a:bodyPr/>
        <a:lstStyle/>
        <a:p>
          <a:endParaRPr lang="en-US"/>
        </a:p>
      </dgm:t>
    </dgm:pt>
    <dgm:pt modelId="{02017C06-38A5-4BE6-8359-2F5CF93FE257}" type="sibTrans" cxnId="{4B4683F8-1412-41A6-BBD5-ACB4214EDF67}">
      <dgm:prSet/>
      <dgm:spPr/>
      <dgm:t>
        <a:bodyPr/>
        <a:lstStyle/>
        <a:p>
          <a:endParaRPr lang="en-US"/>
        </a:p>
      </dgm:t>
    </dgm:pt>
    <dgm:pt modelId="{1FBBAFE3-3798-4DB3-AB4A-B5168E42F41D}">
      <dgm:prSet/>
      <dgm:spPr/>
      <dgm:t>
        <a:bodyPr/>
        <a:lstStyle/>
        <a:p>
          <a:r>
            <a:rPr lang="en-US"/>
            <a:t>Possess charisma</a:t>
          </a:r>
        </a:p>
      </dgm:t>
    </dgm:pt>
    <dgm:pt modelId="{2A91D9CC-EE20-4771-96DF-BA065AC00EC5}" type="parTrans" cxnId="{462E7E40-6092-4BB4-8612-265AED22C51A}">
      <dgm:prSet/>
      <dgm:spPr/>
      <dgm:t>
        <a:bodyPr/>
        <a:lstStyle/>
        <a:p>
          <a:endParaRPr lang="en-US"/>
        </a:p>
      </dgm:t>
    </dgm:pt>
    <dgm:pt modelId="{6CCD0CFC-A91E-4274-A977-DE0DEC56860A}" type="sibTrans" cxnId="{462E7E40-6092-4BB4-8612-265AED22C51A}">
      <dgm:prSet/>
      <dgm:spPr/>
      <dgm:t>
        <a:bodyPr/>
        <a:lstStyle/>
        <a:p>
          <a:endParaRPr lang="en-US"/>
        </a:p>
      </dgm:t>
    </dgm:pt>
    <dgm:pt modelId="{C1909B36-4ECA-4EB5-B65B-707EF7434CC1}" type="pres">
      <dgm:prSet presAssocID="{A11C2447-DA1D-43C9-BCF2-2197FA40C5AA}" presName="linear" presStyleCnt="0">
        <dgm:presLayoutVars>
          <dgm:animLvl val="lvl"/>
          <dgm:resizeHandles val="exact"/>
        </dgm:presLayoutVars>
      </dgm:prSet>
      <dgm:spPr/>
    </dgm:pt>
    <dgm:pt modelId="{BF2BFD29-66F6-4FED-A7D2-F05538B37965}" type="pres">
      <dgm:prSet presAssocID="{99A33ED2-F141-4323-88AF-33AADC2A12B3}" presName="parentText" presStyleLbl="node1" presStyleIdx="0" presStyleCnt="7">
        <dgm:presLayoutVars>
          <dgm:chMax val="0"/>
          <dgm:bulletEnabled val="1"/>
        </dgm:presLayoutVars>
      </dgm:prSet>
      <dgm:spPr/>
    </dgm:pt>
    <dgm:pt modelId="{F9D84F82-106C-4139-8405-807C1AA87C4B}" type="pres">
      <dgm:prSet presAssocID="{78283778-EA70-4C56-A26F-BD3847D44672}" presName="spacer" presStyleCnt="0"/>
      <dgm:spPr/>
    </dgm:pt>
    <dgm:pt modelId="{DB674B00-484A-429E-9D12-8985DF8F0AEC}" type="pres">
      <dgm:prSet presAssocID="{6778B762-9C03-45F6-A1FB-CB10906B8D38}" presName="parentText" presStyleLbl="node1" presStyleIdx="1" presStyleCnt="7">
        <dgm:presLayoutVars>
          <dgm:chMax val="0"/>
          <dgm:bulletEnabled val="1"/>
        </dgm:presLayoutVars>
      </dgm:prSet>
      <dgm:spPr/>
    </dgm:pt>
    <dgm:pt modelId="{FE4CE0EB-67C5-4301-8C8C-9566E663FBD9}" type="pres">
      <dgm:prSet presAssocID="{FF8F8562-AC97-4A85-95C8-5EB62A0BC226}" presName="spacer" presStyleCnt="0"/>
      <dgm:spPr/>
    </dgm:pt>
    <dgm:pt modelId="{2CAE38F6-C265-4059-9774-33C1B1057E50}" type="pres">
      <dgm:prSet presAssocID="{C902331C-7376-4940-B53C-5CFADA41E6CA}" presName="parentText" presStyleLbl="node1" presStyleIdx="2" presStyleCnt="7">
        <dgm:presLayoutVars>
          <dgm:chMax val="0"/>
          <dgm:bulletEnabled val="1"/>
        </dgm:presLayoutVars>
      </dgm:prSet>
      <dgm:spPr/>
    </dgm:pt>
    <dgm:pt modelId="{8893A869-214A-4A73-B34C-22C3C040BDAB}" type="pres">
      <dgm:prSet presAssocID="{ABBE1A4D-13E1-4C38-87C1-213D431D3277}" presName="spacer" presStyleCnt="0"/>
      <dgm:spPr/>
    </dgm:pt>
    <dgm:pt modelId="{8801C626-5651-4463-8BEC-8087834FB292}" type="pres">
      <dgm:prSet presAssocID="{D3011EED-277D-4E11-8868-0B112D1335E3}" presName="parentText" presStyleLbl="node1" presStyleIdx="3" presStyleCnt="7">
        <dgm:presLayoutVars>
          <dgm:chMax val="0"/>
          <dgm:bulletEnabled val="1"/>
        </dgm:presLayoutVars>
      </dgm:prSet>
      <dgm:spPr/>
    </dgm:pt>
    <dgm:pt modelId="{A1A540D8-83ED-42B1-9A9C-BE142382DD2C}" type="pres">
      <dgm:prSet presAssocID="{DB3B3FAF-0ACB-4452-9234-ED6E1949CFB0}" presName="spacer" presStyleCnt="0"/>
      <dgm:spPr/>
    </dgm:pt>
    <dgm:pt modelId="{6115E47B-0126-436C-8177-4AEE214FF20B}" type="pres">
      <dgm:prSet presAssocID="{99B9219C-98DA-4E76-9AB9-46716C462532}" presName="parentText" presStyleLbl="node1" presStyleIdx="4" presStyleCnt="7">
        <dgm:presLayoutVars>
          <dgm:chMax val="0"/>
          <dgm:bulletEnabled val="1"/>
        </dgm:presLayoutVars>
      </dgm:prSet>
      <dgm:spPr/>
    </dgm:pt>
    <dgm:pt modelId="{DDE24A0B-8089-4647-A4E5-3D989842A7D6}" type="pres">
      <dgm:prSet presAssocID="{998F0C4F-94E2-453D-AE84-18C7849B3796}" presName="spacer" presStyleCnt="0"/>
      <dgm:spPr/>
    </dgm:pt>
    <dgm:pt modelId="{579EB99A-72E4-4412-91A6-8DE913C6A00F}" type="pres">
      <dgm:prSet presAssocID="{8D5F0008-7C2B-4870-8A5E-B794274CE22B}" presName="parentText" presStyleLbl="node1" presStyleIdx="5" presStyleCnt="7">
        <dgm:presLayoutVars>
          <dgm:chMax val="0"/>
          <dgm:bulletEnabled val="1"/>
        </dgm:presLayoutVars>
      </dgm:prSet>
      <dgm:spPr/>
    </dgm:pt>
    <dgm:pt modelId="{258E4E30-5960-4122-B275-BC310AA7B369}" type="pres">
      <dgm:prSet presAssocID="{02017C06-38A5-4BE6-8359-2F5CF93FE257}" presName="spacer" presStyleCnt="0"/>
      <dgm:spPr/>
    </dgm:pt>
    <dgm:pt modelId="{3EFBB928-618E-4F1F-A198-04BA242EFB35}" type="pres">
      <dgm:prSet presAssocID="{1FBBAFE3-3798-4DB3-AB4A-B5168E42F41D}" presName="parentText" presStyleLbl="node1" presStyleIdx="6" presStyleCnt="7">
        <dgm:presLayoutVars>
          <dgm:chMax val="0"/>
          <dgm:bulletEnabled val="1"/>
        </dgm:presLayoutVars>
      </dgm:prSet>
      <dgm:spPr/>
    </dgm:pt>
  </dgm:ptLst>
  <dgm:cxnLst>
    <dgm:cxn modelId="{3D98E40D-4890-4599-9560-62E8357E36C4}" type="presOf" srcId="{1FBBAFE3-3798-4DB3-AB4A-B5168E42F41D}" destId="{3EFBB928-618E-4F1F-A198-04BA242EFB35}" srcOrd="0" destOrd="0" presId="urn:microsoft.com/office/officeart/2005/8/layout/vList2"/>
    <dgm:cxn modelId="{8149731D-CA4A-4228-A400-E80EA85EFCEE}" type="presOf" srcId="{99A33ED2-F141-4323-88AF-33AADC2A12B3}" destId="{BF2BFD29-66F6-4FED-A7D2-F05538B37965}" srcOrd="0" destOrd="0" presId="urn:microsoft.com/office/officeart/2005/8/layout/vList2"/>
    <dgm:cxn modelId="{C47DF83F-50D0-4E81-8FDA-4195B0B6233F}" type="presOf" srcId="{99B9219C-98DA-4E76-9AB9-46716C462532}" destId="{6115E47B-0126-436C-8177-4AEE214FF20B}" srcOrd="0" destOrd="0" presId="urn:microsoft.com/office/officeart/2005/8/layout/vList2"/>
    <dgm:cxn modelId="{462E7E40-6092-4BB4-8612-265AED22C51A}" srcId="{A11C2447-DA1D-43C9-BCF2-2197FA40C5AA}" destId="{1FBBAFE3-3798-4DB3-AB4A-B5168E42F41D}" srcOrd="6" destOrd="0" parTransId="{2A91D9CC-EE20-4771-96DF-BA065AC00EC5}" sibTransId="{6CCD0CFC-A91E-4274-A977-DE0DEC56860A}"/>
    <dgm:cxn modelId="{3EB78A5F-77F4-4352-9A5D-CEFA26B55169}" type="presOf" srcId="{A11C2447-DA1D-43C9-BCF2-2197FA40C5AA}" destId="{C1909B36-4ECA-4EB5-B65B-707EF7434CC1}" srcOrd="0" destOrd="0" presId="urn:microsoft.com/office/officeart/2005/8/layout/vList2"/>
    <dgm:cxn modelId="{A2332D45-9613-417A-A20C-1AA28EBA7E0A}" type="presOf" srcId="{D3011EED-277D-4E11-8868-0B112D1335E3}" destId="{8801C626-5651-4463-8BEC-8087834FB292}" srcOrd="0" destOrd="0" presId="urn:microsoft.com/office/officeart/2005/8/layout/vList2"/>
    <dgm:cxn modelId="{4707217C-A070-4920-B2C7-40EC07183DA0}" srcId="{A11C2447-DA1D-43C9-BCF2-2197FA40C5AA}" destId="{99B9219C-98DA-4E76-9AB9-46716C462532}" srcOrd="4" destOrd="0" parTransId="{E8638EC3-932A-4566-99A8-98E794458D8C}" sibTransId="{998F0C4F-94E2-453D-AE84-18C7849B3796}"/>
    <dgm:cxn modelId="{8BCD208F-8D4D-4A4B-A965-C96D3ECFBC9B}" srcId="{A11C2447-DA1D-43C9-BCF2-2197FA40C5AA}" destId="{6778B762-9C03-45F6-A1FB-CB10906B8D38}" srcOrd="1" destOrd="0" parTransId="{0FA503B2-1B7D-4A69-8F10-D91B26E95040}" sibTransId="{FF8F8562-AC97-4A85-95C8-5EB62A0BC226}"/>
    <dgm:cxn modelId="{0FD89B9F-E752-4BCA-8006-8ACE9EF99525}" srcId="{A11C2447-DA1D-43C9-BCF2-2197FA40C5AA}" destId="{D3011EED-277D-4E11-8868-0B112D1335E3}" srcOrd="3" destOrd="0" parTransId="{6EF009C4-E06E-4E6F-BBF2-F21A2F552023}" sibTransId="{DB3B3FAF-0ACB-4452-9234-ED6E1949CFB0}"/>
    <dgm:cxn modelId="{322730C6-44E0-4ECD-B223-9A425C73CEA6}" type="presOf" srcId="{8D5F0008-7C2B-4870-8A5E-B794274CE22B}" destId="{579EB99A-72E4-4412-91A6-8DE913C6A00F}" srcOrd="0" destOrd="0" presId="urn:microsoft.com/office/officeart/2005/8/layout/vList2"/>
    <dgm:cxn modelId="{C72272D6-34F3-4A3C-BB4C-4284980C72BC}" srcId="{A11C2447-DA1D-43C9-BCF2-2197FA40C5AA}" destId="{C902331C-7376-4940-B53C-5CFADA41E6CA}" srcOrd="2" destOrd="0" parTransId="{9AF915E5-7007-40CD-8BDF-7522B80320B9}" sibTransId="{ABBE1A4D-13E1-4C38-87C1-213D431D3277}"/>
    <dgm:cxn modelId="{1304B5D7-3DED-4184-8E75-AD243B7623EB}" type="presOf" srcId="{C902331C-7376-4940-B53C-5CFADA41E6CA}" destId="{2CAE38F6-C265-4059-9774-33C1B1057E50}" srcOrd="0" destOrd="0" presId="urn:microsoft.com/office/officeart/2005/8/layout/vList2"/>
    <dgm:cxn modelId="{D88133DB-F283-4B44-968B-DA10EC9B6871}" srcId="{A11C2447-DA1D-43C9-BCF2-2197FA40C5AA}" destId="{99A33ED2-F141-4323-88AF-33AADC2A12B3}" srcOrd="0" destOrd="0" parTransId="{CE0BABBA-E74D-426E-8091-0E68058DF6EE}" sibTransId="{78283778-EA70-4C56-A26F-BD3847D44672}"/>
    <dgm:cxn modelId="{4B4683F8-1412-41A6-BBD5-ACB4214EDF67}" srcId="{A11C2447-DA1D-43C9-BCF2-2197FA40C5AA}" destId="{8D5F0008-7C2B-4870-8A5E-B794274CE22B}" srcOrd="5" destOrd="0" parTransId="{FC0575CA-3C9B-42B4-9A35-2AEABFC97460}" sibTransId="{02017C06-38A5-4BE6-8359-2F5CF93FE257}"/>
    <dgm:cxn modelId="{683E17FF-4145-47FE-8D4C-C8058972BDC7}" type="presOf" srcId="{6778B762-9C03-45F6-A1FB-CB10906B8D38}" destId="{DB674B00-484A-429E-9D12-8985DF8F0AEC}" srcOrd="0" destOrd="0" presId="urn:microsoft.com/office/officeart/2005/8/layout/vList2"/>
    <dgm:cxn modelId="{318DEC2C-57E3-4A63-B6FA-7221053B413B}" type="presParOf" srcId="{C1909B36-4ECA-4EB5-B65B-707EF7434CC1}" destId="{BF2BFD29-66F6-4FED-A7D2-F05538B37965}" srcOrd="0" destOrd="0" presId="urn:microsoft.com/office/officeart/2005/8/layout/vList2"/>
    <dgm:cxn modelId="{E0038253-5233-49ED-BF6B-AAE370046686}" type="presParOf" srcId="{C1909B36-4ECA-4EB5-B65B-707EF7434CC1}" destId="{F9D84F82-106C-4139-8405-807C1AA87C4B}" srcOrd="1" destOrd="0" presId="urn:microsoft.com/office/officeart/2005/8/layout/vList2"/>
    <dgm:cxn modelId="{4DF2F88E-B249-40A8-9165-023CEA609ED0}" type="presParOf" srcId="{C1909B36-4ECA-4EB5-B65B-707EF7434CC1}" destId="{DB674B00-484A-429E-9D12-8985DF8F0AEC}" srcOrd="2" destOrd="0" presId="urn:microsoft.com/office/officeart/2005/8/layout/vList2"/>
    <dgm:cxn modelId="{0AE40C8D-0169-481D-9C59-DB70270AE19D}" type="presParOf" srcId="{C1909B36-4ECA-4EB5-B65B-707EF7434CC1}" destId="{FE4CE0EB-67C5-4301-8C8C-9566E663FBD9}" srcOrd="3" destOrd="0" presId="urn:microsoft.com/office/officeart/2005/8/layout/vList2"/>
    <dgm:cxn modelId="{A5725C61-7634-4BF0-88EC-DBA6F3AE36FC}" type="presParOf" srcId="{C1909B36-4ECA-4EB5-B65B-707EF7434CC1}" destId="{2CAE38F6-C265-4059-9774-33C1B1057E50}" srcOrd="4" destOrd="0" presId="urn:microsoft.com/office/officeart/2005/8/layout/vList2"/>
    <dgm:cxn modelId="{A2F1F3D4-EBEA-4494-978D-2977788A5A51}" type="presParOf" srcId="{C1909B36-4ECA-4EB5-B65B-707EF7434CC1}" destId="{8893A869-214A-4A73-B34C-22C3C040BDAB}" srcOrd="5" destOrd="0" presId="urn:microsoft.com/office/officeart/2005/8/layout/vList2"/>
    <dgm:cxn modelId="{FCAF0116-B7A7-43DC-8BFE-E0665DE18635}" type="presParOf" srcId="{C1909B36-4ECA-4EB5-B65B-707EF7434CC1}" destId="{8801C626-5651-4463-8BEC-8087834FB292}" srcOrd="6" destOrd="0" presId="urn:microsoft.com/office/officeart/2005/8/layout/vList2"/>
    <dgm:cxn modelId="{F79DA5FC-4E3B-4B6B-83D4-06153795282D}" type="presParOf" srcId="{C1909B36-4ECA-4EB5-B65B-707EF7434CC1}" destId="{A1A540D8-83ED-42B1-9A9C-BE142382DD2C}" srcOrd="7" destOrd="0" presId="urn:microsoft.com/office/officeart/2005/8/layout/vList2"/>
    <dgm:cxn modelId="{DC16FE33-33C6-4BF3-9B86-1A420BBD1C8C}" type="presParOf" srcId="{C1909B36-4ECA-4EB5-B65B-707EF7434CC1}" destId="{6115E47B-0126-436C-8177-4AEE214FF20B}" srcOrd="8" destOrd="0" presId="urn:microsoft.com/office/officeart/2005/8/layout/vList2"/>
    <dgm:cxn modelId="{ED7D0373-1C3E-4EAF-AA79-CBA359224A03}" type="presParOf" srcId="{C1909B36-4ECA-4EB5-B65B-707EF7434CC1}" destId="{DDE24A0B-8089-4647-A4E5-3D989842A7D6}" srcOrd="9" destOrd="0" presId="urn:microsoft.com/office/officeart/2005/8/layout/vList2"/>
    <dgm:cxn modelId="{FA81A972-59F8-48CC-9B99-429D879369DE}" type="presParOf" srcId="{C1909B36-4ECA-4EB5-B65B-707EF7434CC1}" destId="{579EB99A-72E4-4412-91A6-8DE913C6A00F}" srcOrd="10" destOrd="0" presId="urn:microsoft.com/office/officeart/2005/8/layout/vList2"/>
    <dgm:cxn modelId="{DA9B00B7-45FD-4075-854F-B4C37BCBD1D5}" type="presParOf" srcId="{C1909B36-4ECA-4EB5-B65B-707EF7434CC1}" destId="{258E4E30-5960-4122-B275-BC310AA7B369}" srcOrd="11" destOrd="0" presId="urn:microsoft.com/office/officeart/2005/8/layout/vList2"/>
    <dgm:cxn modelId="{3A98B7F2-FFC4-4778-98D3-BE3F7C72DA18}" type="presParOf" srcId="{C1909B36-4ECA-4EB5-B65B-707EF7434CC1}" destId="{3EFBB928-618E-4F1F-A198-04BA242EFB35}" srcOrd="1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E774A6-471E-4044-A2D4-DA836B0BBC5B}">
      <dsp:nvSpPr>
        <dsp:cNvPr id="0" name=""/>
        <dsp:cNvSpPr/>
      </dsp:nvSpPr>
      <dsp:spPr>
        <a:xfrm>
          <a:off x="0" y="707092"/>
          <a:ext cx="7886700" cy="130540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26716DC-6529-4ACA-8AFF-84C8DA2DB7E1}">
      <dsp:nvSpPr>
        <dsp:cNvPr id="0" name=""/>
        <dsp:cNvSpPr/>
      </dsp:nvSpPr>
      <dsp:spPr>
        <a:xfrm>
          <a:off x="394883" y="1000807"/>
          <a:ext cx="717970" cy="71797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8F2A66E-5F5C-4992-822F-F4887D0D272A}">
      <dsp:nvSpPr>
        <dsp:cNvPr id="0" name=""/>
        <dsp:cNvSpPr/>
      </dsp:nvSpPr>
      <dsp:spPr>
        <a:xfrm>
          <a:off x="1507738" y="707092"/>
          <a:ext cx="6378961"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1066800">
            <a:lnSpc>
              <a:spcPct val="90000"/>
            </a:lnSpc>
            <a:spcBef>
              <a:spcPct val="0"/>
            </a:spcBef>
            <a:spcAft>
              <a:spcPct val="35000"/>
            </a:spcAft>
            <a:buNone/>
          </a:pPr>
          <a:r>
            <a:rPr lang="en-US" sz="2400" b="0" i="0" kern="1200" baseline="0"/>
            <a:t>Burnout and disengagement cost U.S. companies </a:t>
          </a:r>
          <a:r>
            <a:rPr lang="en-US" sz="2400" b="1" i="0" kern="1200" baseline="0"/>
            <a:t>over $300 billion annually</a:t>
          </a:r>
          <a:r>
            <a:rPr lang="en-US" sz="2400" b="0" i="0" kern="1200" baseline="0"/>
            <a:t> (Gallup).</a:t>
          </a:r>
          <a:endParaRPr lang="en-US" sz="2400" kern="1200"/>
        </a:p>
      </dsp:txBody>
      <dsp:txXfrm>
        <a:off x="1507738" y="707092"/>
        <a:ext cx="6378961" cy="1305401"/>
      </dsp:txXfrm>
    </dsp:sp>
    <dsp:sp modelId="{D516C03C-D666-4B06-9C2B-3F4E9895C56E}">
      <dsp:nvSpPr>
        <dsp:cNvPr id="0" name=""/>
        <dsp:cNvSpPr/>
      </dsp:nvSpPr>
      <dsp:spPr>
        <a:xfrm>
          <a:off x="0" y="2338844"/>
          <a:ext cx="7886700" cy="130540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D0B418-DEEC-49B2-BF3C-FE8633112D37}">
      <dsp:nvSpPr>
        <dsp:cNvPr id="0" name=""/>
        <dsp:cNvSpPr/>
      </dsp:nvSpPr>
      <dsp:spPr>
        <a:xfrm>
          <a:off x="394883" y="2632559"/>
          <a:ext cx="717970" cy="71797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39DF57C-3120-4254-BDDD-77DB9B4065A8}">
      <dsp:nvSpPr>
        <dsp:cNvPr id="0" name=""/>
        <dsp:cNvSpPr/>
      </dsp:nvSpPr>
      <dsp:spPr>
        <a:xfrm>
          <a:off x="1507738" y="2338844"/>
          <a:ext cx="6378961"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1066800">
            <a:lnSpc>
              <a:spcPct val="90000"/>
            </a:lnSpc>
            <a:spcBef>
              <a:spcPct val="0"/>
            </a:spcBef>
            <a:spcAft>
              <a:spcPct val="35000"/>
            </a:spcAft>
            <a:buNone/>
          </a:pPr>
          <a:r>
            <a:rPr lang="en-US" sz="2400" b="0" i="0" kern="1200" baseline="0"/>
            <a:t>Toxic work environments can </a:t>
          </a:r>
          <a:r>
            <a:rPr lang="en-US" sz="2400" b="1" i="0" kern="1200" baseline="0"/>
            <a:t>spread negativity</a:t>
          </a:r>
          <a:r>
            <a:rPr lang="en-US" sz="2400" b="0" i="0" kern="1200" baseline="0"/>
            <a:t>, decrease morale, and damage reputations.</a:t>
          </a:r>
          <a:endParaRPr lang="en-US" sz="2400" kern="1200"/>
        </a:p>
      </dsp:txBody>
      <dsp:txXfrm>
        <a:off x="1507738" y="2338844"/>
        <a:ext cx="6378961" cy="130540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0B2FA8-B85F-4458-9F06-20FB67AE6DF4}">
      <dsp:nvSpPr>
        <dsp:cNvPr id="0" name=""/>
        <dsp:cNvSpPr/>
      </dsp:nvSpPr>
      <dsp:spPr>
        <a:xfrm rot="5400000">
          <a:off x="2335930" y="-269781"/>
          <a:ext cx="2128307" cy="3200079"/>
        </a:xfrm>
        <a:prstGeom prst="round2SameRect">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8580" tIns="34290" rIns="68580" bIns="34290" numCol="1" spcCol="1270" anchor="ctr" anchorCtr="0">
          <a:noAutofit/>
        </a:bodyPr>
        <a:lstStyle/>
        <a:p>
          <a:pPr marL="171450" lvl="1" indent="-171450" algn="l" defTabSz="800100">
            <a:lnSpc>
              <a:spcPct val="90000"/>
            </a:lnSpc>
            <a:spcBef>
              <a:spcPct val="0"/>
            </a:spcBef>
            <a:spcAft>
              <a:spcPct val="15000"/>
            </a:spcAft>
            <a:buChar char="•"/>
          </a:pPr>
          <a:r>
            <a:rPr lang="en-US" sz="1800" kern="1200"/>
            <a:t>13% report being actively disengaged (miserable at work and spreading misery to others)</a:t>
          </a:r>
        </a:p>
        <a:p>
          <a:pPr marL="171450" lvl="1" indent="-171450" algn="l" defTabSz="800100">
            <a:lnSpc>
              <a:spcPct val="90000"/>
            </a:lnSpc>
            <a:spcBef>
              <a:spcPct val="0"/>
            </a:spcBef>
            <a:spcAft>
              <a:spcPct val="15000"/>
            </a:spcAft>
            <a:buChar char="•"/>
          </a:pPr>
          <a:r>
            <a:rPr lang="en-US" sz="1800" kern="1200"/>
            <a:t>52% put their time in at work but not their passion or energy</a:t>
          </a:r>
        </a:p>
      </dsp:txBody>
      <dsp:txXfrm rot="-5400000">
        <a:off x="1800045" y="369999"/>
        <a:ext cx="3096184" cy="1920517"/>
      </dsp:txXfrm>
    </dsp:sp>
    <dsp:sp modelId="{966F7FC0-0F57-4A66-8969-7B9E1B26C883}">
      <dsp:nvSpPr>
        <dsp:cNvPr id="0" name=""/>
        <dsp:cNvSpPr/>
      </dsp:nvSpPr>
      <dsp:spPr>
        <a:xfrm>
          <a:off x="0" y="66"/>
          <a:ext cx="1800044" cy="2660383"/>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en-US" sz="1700" kern="1200"/>
            <a:t>35% of 4,700 full and part-time employees in the US report being engaged with (committed to and enthusiastic about) their work</a:t>
          </a:r>
        </a:p>
      </dsp:txBody>
      <dsp:txXfrm>
        <a:off x="87871" y="87937"/>
        <a:ext cx="1624302" cy="2484641"/>
      </dsp:txXfrm>
    </dsp:sp>
    <dsp:sp modelId="{85368669-6CB0-4B1B-BF35-F50613991C50}">
      <dsp:nvSpPr>
        <dsp:cNvPr id="0" name=""/>
        <dsp:cNvSpPr/>
      </dsp:nvSpPr>
      <dsp:spPr>
        <a:xfrm rot="5400000">
          <a:off x="2335930" y="2523621"/>
          <a:ext cx="2128307" cy="3200079"/>
        </a:xfrm>
        <a:prstGeom prst="round2SameRect">
          <a:avLst/>
        </a:prstGeom>
        <a:solidFill>
          <a:schemeClr val="accent2">
            <a:tint val="40000"/>
            <a:alpha val="90000"/>
            <a:hueOff val="-849226"/>
            <a:satOff val="-75346"/>
            <a:lumOff val="-769"/>
            <a:alphaOff val="0"/>
          </a:schemeClr>
        </a:solidFill>
        <a:ln w="6350" cap="flat" cmpd="sng" algn="ctr">
          <a:solidFill>
            <a:schemeClr val="accent2">
              <a:tint val="40000"/>
              <a:alpha val="90000"/>
              <a:hueOff val="-849226"/>
              <a:satOff val="-75346"/>
              <a:lumOff val="-769"/>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8580" tIns="34290" rIns="68580" bIns="34290" numCol="1" spcCol="1270" anchor="ctr" anchorCtr="0">
          <a:noAutofit/>
        </a:bodyPr>
        <a:lstStyle/>
        <a:p>
          <a:pPr marL="171450" lvl="1" indent="-171450" algn="l" defTabSz="800100">
            <a:lnSpc>
              <a:spcPct val="90000"/>
            </a:lnSpc>
            <a:spcBef>
              <a:spcPct val="0"/>
            </a:spcBef>
            <a:spcAft>
              <a:spcPct val="15000"/>
            </a:spcAft>
            <a:buChar char="•"/>
          </a:pPr>
          <a:r>
            <a:rPr lang="en-US" sz="1800" kern="1200"/>
            <a:t>If you worked from age 18 – 67, 39 hours/week, five weeks of vacation/year, you’d work 92,120 hours over your lifetime</a:t>
          </a:r>
        </a:p>
      </dsp:txBody>
      <dsp:txXfrm rot="-5400000">
        <a:off x="1800045" y="3163402"/>
        <a:ext cx="3096184" cy="1920517"/>
      </dsp:txXfrm>
    </dsp:sp>
    <dsp:sp modelId="{201A35B7-E811-4EB5-9A01-C35A97CF8F27}">
      <dsp:nvSpPr>
        <dsp:cNvPr id="0" name=""/>
        <dsp:cNvSpPr/>
      </dsp:nvSpPr>
      <dsp:spPr>
        <a:xfrm>
          <a:off x="0" y="2793469"/>
          <a:ext cx="1800044" cy="2660383"/>
        </a:xfrm>
        <a:prstGeom prst="roundRect">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en-US" sz="1700" kern="1200"/>
            <a:t>Many people spend a huge amount of time working</a:t>
          </a:r>
        </a:p>
      </dsp:txBody>
      <dsp:txXfrm>
        <a:off x="87871" y="2881340"/>
        <a:ext cx="1624302" cy="248464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B984AE-CD46-4EA4-9777-09871E6BDD38}">
      <dsp:nvSpPr>
        <dsp:cNvPr id="0" name=""/>
        <dsp:cNvSpPr/>
      </dsp:nvSpPr>
      <dsp:spPr>
        <a:xfrm>
          <a:off x="0" y="531"/>
          <a:ext cx="78867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64A198C-BDA5-4901-8F4A-B65BAB6511C8}">
      <dsp:nvSpPr>
        <dsp:cNvPr id="0" name=""/>
        <dsp:cNvSpPr/>
      </dsp:nvSpPr>
      <dsp:spPr>
        <a:xfrm>
          <a:off x="375988" y="280191"/>
          <a:ext cx="683614" cy="6836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28A0BCF-4B4C-45E6-ADA5-74D219601A79}">
      <dsp:nvSpPr>
        <dsp:cNvPr id="0" name=""/>
        <dsp:cNvSpPr/>
      </dsp:nvSpPr>
      <dsp:spPr>
        <a:xfrm>
          <a:off x="1435590" y="531"/>
          <a:ext cx="64511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33450">
            <a:lnSpc>
              <a:spcPct val="100000"/>
            </a:lnSpc>
            <a:spcBef>
              <a:spcPct val="0"/>
            </a:spcBef>
            <a:spcAft>
              <a:spcPct val="35000"/>
            </a:spcAft>
            <a:buNone/>
          </a:pPr>
          <a:r>
            <a:rPr lang="en-US" sz="2100" kern="1200"/>
            <a:t>Positive, work-related state of mind, dedication, and absorption</a:t>
          </a:r>
        </a:p>
      </dsp:txBody>
      <dsp:txXfrm>
        <a:off x="1435590" y="531"/>
        <a:ext cx="6451109" cy="1242935"/>
      </dsp:txXfrm>
    </dsp:sp>
    <dsp:sp modelId="{39CEAB94-37F9-458E-9A6F-B5C3DF25AAD2}">
      <dsp:nvSpPr>
        <dsp:cNvPr id="0" name=""/>
        <dsp:cNvSpPr/>
      </dsp:nvSpPr>
      <dsp:spPr>
        <a:xfrm>
          <a:off x="0" y="1554201"/>
          <a:ext cx="78867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50571CA-07ED-4395-83F8-1A6C7B840C6E}">
      <dsp:nvSpPr>
        <dsp:cNvPr id="0" name=""/>
        <dsp:cNvSpPr/>
      </dsp:nvSpPr>
      <dsp:spPr>
        <a:xfrm>
          <a:off x="375988" y="1833861"/>
          <a:ext cx="683614" cy="6836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5BBA0CC-1233-496A-8A02-72CC252DAD3F}">
      <dsp:nvSpPr>
        <dsp:cNvPr id="0" name=""/>
        <dsp:cNvSpPr/>
      </dsp:nvSpPr>
      <dsp:spPr>
        <a:xfrm>
          <a:off x="1435590" y="1554201"/>
          <a:ext cx="64511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33450">
            <a:lnSpc>
              <a:spcPct val="100000"/>
            </a:lnSpc>
            <a:spcBef>
              <a:spcPct val="0"/>
            </a:spcBef>
            <a:spcAft>
              <a:spcPct val="35000"/>
            </a:spcAft>
            <a:buNone/>
          </a:pPr>
          <a:r>
            <a:rPr lang="en-US" sz="2100" kern="1200" dirty="0"/>
            <a:t>Characterized by energy, involvement, and efficacy (which is opposite of job burnout elements of exhaustion, cynicism, inefficacy)</a:t>
          </a:r>
        </a:p>
      </dsp:txBody>
      <dsp:txXfrm>
        <a:off x="1435590" y="1554201"/>
        <a:ext cx="6451109" cy="1242935"/>
      </dsp:txXfrm>
    </dsp:sp>
    <dsp:sp modelId="{DDF489DC-B0F3-4073-8FAD-1A3AF15D657C}">
      <dsp:nvSpPr>
        <dsp:cNvPr id="0" name=""/>
        <dsp:cNvSpPr/>
      </dsp:nvSpPr>
      <dsp:spPr>
        <a:xfrm>
          <a:off x="0" y="3107870"/>
          <a:ext cx="78867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A57433F-DBBB-4C77-BCB9-B07BD37D0BAE}">
      <dsp:nvSpPr>
        <dsp:cNvPr id="0" name=""/>
        <dsp:cNvSpPr/>
      </dsp:nvSpPr>
      <dsp:spPr>
        <a:xfrm>
          <a:off x="375988" y="3387531"/>
          <a:ext cx="683614" cy="6836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DC460B9-663D-458F-8901-C47062958F7E}">
      <dsp:nvSpPr>
        <dsp:cNvPr id="0" name=""/>
        <dsp:cNvSpPr/>
      </dsp:nvSpPr>
      <dsp:spPr>
        <a:xfrm>
          <a:off x="1435590" y="3107870"/>
          <a:ext cx="64511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33450">
            <a:lnSpc>
              <a:spcPct val="100000"/>
            </a:lnSpc>
            <a:spcBef>
              <a:spcPct val="0"/>
            </a:spcBef>
            <a:spcAft>
              <a:spcPct val="35000"/>
            </a:spcAft>
            <a:buNone/>
          </a:pPr>
          <a:r>
            <a:rPr lang="en-US" sz="2100" kern="1200"/>
            <a:t>Differs from job satisfaction…both involve positive focus, but engagement goes beyond with involvement, absorption, dedication</a:t>
          </a:r>
        </a:p>
      </dsp:txBody>
      <dsp:txXfrm>
        <a:off x="1435590" y="3107870"/>
        <a:ext cx="6451109" cy="124293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2191EE-EB36-425D-A494-27627169B51D}">
      <dsp:nvSpPr>
        <dsp:cNvPr id="0" name=""/>
        <dsp:cNvSpPr/>
      </dsp:nvSpPr>
      <dsp:spPr>
        <a:xfrm>
          <a:off x="0" y="2447"/>
          <a:ext cx="4941519" cy="1240389"/>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04EFCD8-F98E-4B4A-A6F6-D920D14D5640}">
      <dsp:nvSpPr>
        <dsp:cNvPr id="0" name=""/>
        <dsp:cNvSpPr/>
      </dsp:nvSpPr>
      <dsp:spPr>
        <a:xfrm>
          <a:off x="375217" y="281534"/>
          <a:ext cx="682214" cy="6822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729B827-EC2D-46C9-9843-E23B8CA3824F}">
      <dsp:nvSpPr>
        <dsp:cNvPr id="0" name=""/>
        <dsp:cNvSpPr/>
      </dsp:nvSpPr>
      <dsp:spPr>
        <a:xfrm>
          <a:off x="1432649" y="2447"/>
          <a:ext cx="2223683" cy="12403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275" tIns="131275" rIns="131275" bIns="131275" numCol="1" spcCol="1270" anchor="ctr" anchorCtr="0">
          <a:noAutofit/>
        </a:bodyPr>
        <a:lstStyle/>
        <a:p>
          <a:pPr marL="0" lvl="0" indent="0" algn="l" defTabSz="755650">
            <a:lnSpc>
              <a:spcPct val="90000"/>
            </a:lnSpc>
            <a:spcBef>
              <a:spcPct val="0"/>
            </a:spcBef>
            <a:spcAft>
              <a:spcPct val="35000"/>
            </a:spcAft>
            <a:buNone/>
          </a:pPr>
          <a:r>
            <a:rPr lang="en-US" sz="1700" kern="1200"/>
            <a:t>Positive emotions linked with approach-oriented behaviors</a:t>
          </a:r>
        </a:p>
      </dsp:txBody>
      <dsp:txXfrm>
        <a:off x="1432649" y="2447"/>
        <a:ext cx="2223683" cy="1240389"/>
      </dsp:txXfrm>
    </dsp:sp>
    <dsp:sp modelId="{2C717750-6353-4FC5-A35A-D94948EB9F4C}">
      <dsp:nvSpPr>
        <dsp:cNvPr id="0" name=""/>
        <dsp:cNvSpPr/>
      </dsp:nvSpPr>
      <dsp:spPr>
        <a:xfrm>
          <a:off x="3656332" y="2447"/>
          <a:ext cx="1285186" cy="12403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275" tIns="131275" rIns="131275" bIns="131275" numCol="1" spcCol="1270" anchor="ctr" anchorCtr="0">
          <a:noAutofit/>
        </a:bodyPr>
        <a:lstStyle/>
        <a:p>
          <a:pPr marL="0" lvl="0" indent="0" algn="l" defTabSz="488950">
            <a:lnSpc>
              <a:spcPct val="90000"/>
            </a:lnSpc>
            <a:spcBef>
              <a:spcPct val="0"/>
            </a:spcBef>
            <a:spcAft>
              <a:spcPct val="35000"/>
            </a:spcAft>
            <a:buNone/>
          </a:pPr>
          <a:r>
            <a:rPr lang="en-US" sz="1100" kern="1200"/>
            <a:t>More likely to enter novel situations, interact with others, pursue new goals</a:t>
          </a:r>
        </a:p>
      </dsp:txBody>
      <dsp:txXfrm>
        <a:off x="3656332" y="2447"/>
        <a:ext cx="1285186" cy="1240389"/>
      </dsp:txXfrm>
    </dsp:sp>
    <dsp:sp modelId="{25F964A1-13C3-495F-ABED-C90765294ED0}">
      <dsp:nvSpPr>
        <dsp:cNvPr id="0" name=""/>
        <dsp:cNvSpPr/>
      </dsp:nvSpPr>
      <dsp:spPr>
        <a:xfrm>
          <a:off x="0" y="1552933"/>
          <a:ext cx="4941519" cy="1240389"/>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51D978B-EDCD-4250-8F77-5524CB8FE0C3}">
      <dsp:nvSpPr>
        <dsp:cNvPr id="0" name=""/>
        <dsp:cNvSpPr/>
      </dsp:nvSpPr>
      <dsp:spPr>
        <a:xfrm>
          <a:off x="375217" y="1832021"/>
          <a:ext cx="682214" cy="6822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D26E6F1-7BF5-4F7C-9EB3-B9991C12FF79}">
      <dsp:nvSpPr>
        <dsp:cNvPr id="0" name=""/>
        <dsp:cNvSpPr/>
      </dsp:nvSpPr>
      <dsp:spPr>
        <a:xfrm>
          <a:off x="1432649" y="1552933"/>
          <a:ext cx="2223683" cy="12403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275" tIns="131275" rIns="131275" bIns="131275" numCol="1" spcCol="1270" anchor="ctr" anchorCtr="0">
          <a:noAutofit/>
        </a:bodyPr>
        <a:lstStyle/>
        <a:p>
          <a:pPr marL="0" lvl="0" indent="0" algn="l" defTabSz="755650">
            <a:lnSpc>
              <a:spcPct val="90000"/>
            </a:lnSpc>
            <a:spcBef>
              <a:spcPct val="0"/>
            </a:spcBef>
            <a:spcAft>
              <a:spcPct val="35000"/>
            </a:spcAft>
            <a:buNone/>
          </a:pPr>
          <a:r>
            <a:rPr lang="en-US" sz="1700" kern="1200"/>
            <a:t>More engaged with work</a:t>
          </a:r>
        </a:p>
      </dsp:txBody>
      <dsp:txXfrm>
        <a:off x="1432649" y="1552933"/>
        <a:ext cx="2223683" cy="1240389"/>
      </dsp:txXfrm>
    </dsp:sp>
    <dsp:sp modelId="{63593EA4-DC5D-42B4-96F7-C06B49585113}">
      <dsp:nvSpPr>
        <dsp:cNvPr id="0" name=""/>
        <dsp:cNvSpPr/>
      </dsp:nvSpPr>
      <dsp:spPr>
        <a:xfrm>
          <a:off x="3656332" y="1552933"/>
          <a:ext cx="1285186" cy="12403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275" tIns="131275" rIns="131275" bIns="131275" numCol="1" spcCol="1270" anchor="ctr" anchorCtr="0">
          <a:noAutofit/>
        </a:bodyPr>
        <a:lstStyle/>
        <a:p>
          <a:pPr marL="0" lvl="0" indent="0" algn="l" defTabSz="488950">
            <a:lnSpc>
              <a:spcPct val="90000"/>
            </a:lnSpc>
            <a:spcBef>
              <a:spcPct val="0"/>
            </a:spcBef>
            <a:spcAft>
              <a:spcPct val="35000"/>
            </a:spcAft>
            <a:buNone/>
          </a:pPr>
          <a:r>
            <a:rPr lang="en-US" sz="1100" kern="1200"/>
            <a:t>Less burnout, less emotional exhaustion, less absenteeism, less turnover</a:t>
          </a:r>
        </a:p>
      </dsp:txBody>
      <dsp:txXfrm>
        <a:off x="3656332" y="1552933"/>
        <a:ext cx="1285186" cy="1240389"/>
      </dsp:txXfrm>
    </dsp:sp>
    <dsp:sp modelId="{0736A2E4-1430-49EE-8170-0152AD3EE04E}">
      <dsp:nvSpPr>
        <dsp:cNvPr id="0" name=""/>
        <dsp:cNvSpPr/>
      </dsp:nvSpPr>
      <dsp:spPr>
        <a:xfrm>
          <a:off x="0" y="3103420"/>
          <a:ext cx="4941519" cy="1240389"/>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4A47095-378E-4261-8C1A-2550D2114307}">
      <dsp:nvSpPr>
        <dsp:cNvPr id="0" name=""/>
        <dsp:cNvSpPr/>
      </dsp:nvSpPr>
      <dsp:spPr>
        <a:xfrm>
          <a:off x="375217" y="3382507"/>
          <a:ext cx="682214" cy="6822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CE5166F-A47F-45C8-8E20-2B4279C87044}">
      <dsp:nvSpPr>
        <dsp:cNvPr id="0" name=""/>
        <dsp:cNvSpPr/>
      </dsp:nvSpPr>
      <dsp:spPr>
        <a:xfrm>
          <a:off x="1432649" y="3103420"/>
          <a:ext cx="3508869" cy="12403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275" tIns="131275" rIns="131275" bIns="131275" numCol="1" spcCol="1270" anchor="ctr" anchorCtr="0">
          <a:noAutofit/>
        </a:bodyPr>
        <a:lstStyle/>
        <a:p>
          <a:pPr marL="0" lvl="0" indent="0" algn="l" defTabSz="755650">
            <a:lnSpc>
              <a:spcPct val="90000"/>
            </a:lnSpc>
            <a:spcBef>
              <a:spcPct val="0"/>
            </a:spcBef>
            <a:spcAft>
              <a:spcPct val="35000"/>
            </a:spcAft>
            <a:buNone/>
          </a:pPr>
          <a:r>
            <a:rPr lang="en-US" sz="1700" kern="1200"/>
            <a:t>More popular, gain more social support</a:t>
          </a:r>
        </a:p>
      </dsp:txBody>
      <dsp:txXfrm>
        <a:off x="1432649" y="3103420"/>
        <a:ext cx="3508869" cy="1240389"/>
      </dsp:txXfrm>
    </dsp:sp>
    <dsp:sp modelId="{2914F8BB-C337-48FC-AD95-84620AF649C6}">
      <dsp:nvSpPr>
        <dsp:cNvPr id="0" name=""/>
        <dsp:cNvSpPr/>
      </dsp:nvSpPr>
      <dsp:spPr>
        <a:xfrm>
          <a:off x="0" y="4653906"/>
          <a:ext cx="4941519" cy="1240389"/>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53779E-D168-4633-B064-49EC673A8223}">
      <dsp:nvSpPr>
        <dsp:cNvPr id="0" name=""/>
        <dsp:cNvSpPr/>
      </dsp:nvSpPr>
      <dsp:spPr>
        <a:xfrm>
          <a:off x="375217" y="4932994"/>
          <a:ext cx="682214" cy="68221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379A752-AD07-4C8F-8678-E8609B5BDC7D}">
      <dsp:nvSpPr>
        <dsp:cNvPr id="0" name=""/>
        <dsp:cNvSpPr/>
      </dsp:nvSpPr>
      <dsp:spPr>
        <a:xfrm>
          <a:off x="1432649" y="4653906"/>
          <a:ext cx="3508869" cy="12403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275" tIns="131275" rIns="131275" bIns="131275" numCol="1" spcCol="1270" anchor="ctr" anchorCtr="0">
          <a:noAutofit/>
        </a:bodyPr>
        <a:lstStyle/>
        <a:p>
          <a:pPr marL="0" lvl="0" indent="0" algn="l" defTabSz="755650">
            <a:lnSpc>
              <a:spcPct val="90000"/>
            </a:lnSpc>
            <a:spcBef>
              <a:spcPct val="0"/>
            </a:spcBef>
            <a:spcAft>
              <a:spcPct val="35000"/>
            </a:spcAft>
            <a:buNone/>
          </a:pPr>
          <a:r>
            <a:rPr lang="en-US" sz="1700" kern="1200"/>
            <a:t>Engage in more helpful behavior</a:t>
          </a:r>
        </a:p>
      </dsp:txBody>
      <dsp:txXfrm>
        <a:off x="1432649" y="4653906"/>
        <a:ext cx="3508869" cy="124038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F17B03-1D67-4CB2-8214-21AC90061024}">
      <dsp:nvSpPr>
        <dsp:cNvPr id="0" name=""/>
        <dsp:cNvSpPr/>
      </dsp:nvSpPr>
      <dsp:spPr>
        <a:xfrm>
          <a:off x="0" y="239228"/>
          <a:ext cx="4040626" cy="190476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Frequency of positive emotions more important than the intensity, because bursts (e.g., motivational seminar) are short lived, so need more frequent</a:t>
          </a:r>
        </a:p>
      </dsp:txBody>
      <dsp:txXfrm>
        <a:off x="92983" y="332211"/>
        <a:ext cx="3854660" cy="1718794"/>
      </dsp:txXfrm>
    </dsp:sp>
    <dsp:sp modelId="{DEACCFB7-15CC-4B3F-A56A-C5ABC428AEFB}">
      <dsp:nvSpPr>
        <dsp:cNvPr id="0" name=""/>
        <dsp:cNvSpPr/>
      </dsp:nvSpPr>
      <dsp:spPr>
        <a:xfrm>
          <a:off x="0" y="2207349"/>
          <a:ext cx="4040626" cy="1904760"/>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Create work environments that induce positive emotions more consistently</a:t>
          </a:r>
        </a:p>
      </dsp:txBody>
      <dsp:txXfrm>
        <a:off x="92983" y="2300332"/>
        <a:ext cx="3854660" cy="171879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523539-B300-4FE7-8C9E-A6EED85EF895}">
      <dsp:nvSpPr>
        <dsp:cNvPr id="0" name=""/>
        <dsp:cNvSpPr/>
      </dsp:nvSpPr>
      <dsp:spPr>
        <a:xfrm>
          <a:off x="8947" y="71481"/>
          <a:ext cx="1315996" cy="127570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BF4000A-F5C8-4DFE-9A48-91C4D0FAF4B6}">
      <dsp:nvSpPr>
        <dsp:cNvPr id="0" name=""/>
        <dsp:cNvSpPr/>
      </dsp:nvSpPr>
      <dsp:spPr>
        <a:xfrm>
          <a:off x="8947" y="1535789"/>
          <a:ext cx="3759989" cy="5467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89000">
            <a:lnSpc>
              <a:spcPct val="90000"/>
            </a:lnSpc>
            <a:spcBef>
              <a:spcPct val="0"/>
            </a:spcBef>
            <a:spcAft>
              <a:spcPct val="35000"/>
            </a:spcAft>
            <a:buNone/>
            <a:defRPr b="1"/>
          </a:pPr>
          <a:r>
            <a:rPr lang="en-US" sz="2000" kern="1200" dirty="0"/>
            <a:t>Strong correlation between happiness and employment success</a:t>
          </a:r>
        </a:p>
      </dsp:txBody>
      <dsp:txXfrm>
        <a:off x="8947" y="1535789"/>
        <a:ext cx="3759989" cy="546729"/>
      </dsp:txXfrm>
    </dsp:sp>
    <dsp:sp modelId="{58149B55-B079-4F0D-AA43-FF593125D4E6}">
      <dsp:nvSpPr>
        <dsp:cNvPr id="0" name=""/>
        <dsp:cNvSpPr/>
      </dsp:nvSpPr>
      <dsp:spPr>
        <a:xfrm>
          <a:off x="8947" y="2170242"/>
          <a:ext cx="3759989" cy="2287411"/>
        </a:xfrm>
        <a:prstGeom prst="rect">
          <a:avLst/>
        </a:prstGeom>
        <a:noFill/>
        <a:ln>
          <a:noFill/>
        </a:ln>
        <a:effectLst/>
      </dsp:spPr>
      <dsp:style>
        <a:lnRef idx="0">
          <a:scrgbClr r="0" g="0" b="0"/>
        </a:lnRef>
        <a:fillRef idx="0">
          <a:scrgbClr r="0" g="0" b="0"/>
        </a:fillRef>
        <a:effectRef idx="0">
          <a:scrgbClr r="0" g="0" b="0"/>
        </a:effectRef>
        <a:fontRef idx="minor"/>
      </dsp:style>
    </dsp:sp>
    <dsp:sp modelId="{E0241D66-B572-4D09-B37C-AFB78FDB0E5C}">
      <dsp:nvSpPr>
        <dsp:cNvPr id="0" name=""/>
        <dsp:cNvSpPr/>
      </dsp:nvSpPr>
      <dsp:spPr>
        <a:xfrm>
          <a:off x="4426934" y="71481"/>
          <a:ext cx="1315996" cy="127570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F9ED3BB-8E38-4BDF-B49A-D42BF2A2CC69}">
      <dsp:nvSpPr>
        <dsp:cNvPr id="0" name=""/>
        <dsp:cNvSpPr/>
      </dsp:nvSpPr>
      <dsp:spPr>
        <a:xfrm>
          <a:off x="4426934" y="1535789"/>
          <a:ext cx="3759989" cy="5467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600200">
            <a:lnSpc>
              <a:spcPct val="90000"/>
            </a:lnSpc>
            <a:spcBef>
              <a:spcPct val="0"/>
            </a:spcBef>
            <a:spcAft>
              <a:spcPct val="35000"/>
            </a:spcAft>
            <a:buNone/>
            <a:defRPr b="1"/>
          </a:pPr>
          <a:r>
            <a:rPr lang="en-US" sz="3600" kern="1200"/>
            <a:t>Happier people:</a:t>
          </a:r>
        </a:p>
      </dsp:txBody>
      <dsp:txXfrm>
        <a:off x="4426934" y="1535789"/>
        <a:ext cx="3759989" cy="546729"/>
      </dsp:txXfrm>
    </dsp:sp>
    <dsp:sp modelId="{A2703120-79C6-43E8-AB7A-6AD6C1DD942D}">
      <dsp:nvSpPr>
        <dsp:cNvPr id="0" name=""/>
        <dsp:cNvSpPr/>
      </dsp:nvSpPr>
      <dsp:spPr>
        <a:xfrm>
          <a:off x="4426934" y="2170242"/>
          <a:ext cx="3759989" cy="22874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89000">
            <a:lnSpc>
              <a:spcPct val="90000"/>
            </a:lnSpc>
            <a:spcBef>
              <a:spcPct val="0"/>
            </a:spcBef>
            <a:spcAft>
              <a:spcPct val="35000"/>
            </a:spcAft>
            <a:buNone/>
          </a:pPr>
          <a:r>
            <a:rPr lang="en-US" sz="2000" kern="1200" dirty="0"/>
            <a:t>Higher job satisfaction</a:t>
          </a:r>
        </a:p>
        <a:p>
          <a:pPr marL="0" lvl="0" indent="0" algn="l" defTabSz="889000">
            <a:lnSpc>
              <a:spcPct val="90000"/>
            </a:lnSpc>
            <a:spcBef>
              <a:spcPct val="0"/>
            </a:spcBef>
            <a:spcAft>
              <a:spcPct val="35000"/>
            </a:spcAft>
            <a:buNone/>
          </a:pPr>
          <a:r>
            <a:rPr lang="en-US" sz="2000" kern="1200" dirty="0"/>
            <a:t>Better performance evaluations from supervisors</a:t>
          </a:r>
        </a:p>
        <a:p>
          <a:pPr marL="0" lvl="0" indent="0" algn="l" defTabSz="889000">
            <a:lnSpc>
              <a:spcPct val="90000"/>
            </a:lnSpc>
            <a:spcBef>
              <a:spcPct val="0"/>
            </a:spcBef>
            <a:spcAft>
              <a:spcPct val="35000"/>
            </a:spcAft>
            <a:buNone/>
          </a:pPr>
          <a:r>
            <a:rPr lang="en-US" sz="2000" kern="1200" dirty="0"/>
            <a:t>Better retention in jobs</a:t>
          </a:r>
        </a:p>
        <a:p>
          <a:pPr marL="0" lvl="0" indent="0" algn="l" defTabSz="889000">
            <a:lnSpc>
              <a:spcPct val="90000"/>
            </a:lnSpc>
            <a:spcBef>
              <a:spcPct val="0"/>
            </a:spcBef>
            <a:spcAft>
              <a:spcPct val="35000"/>
            </a:spcAft>
            <a:buNone/>
          </a:pPr>
          <a:r>
            <a:rPr lang="en-US" sz="2000" kern="1200" dirty="0"/>
            <a:t>Fewer sick days</a:t>
          </a:r>
        </a:p>
        <a:p>
          <a:pPr marL="0" lvl="0" indent="0" algn="l" defTabSz="889000">
            <a:lnSpc>
              <a:spcPct val="90000"/>
            </a:lnSpc>
            <a:spcBef>
              <a:spcPct val="0"/>
            </a:spcBef>
            <a:spcAft>
              <a:spcPct val="35000"/>
            </a:spcAft>
            <a:buNone/>
          </a:pPr>
          <a:r>
            <a:rPr lang="en-US" sz="2000" kern="1200"/>
            <a:t>Less burn-out</a:t>
          </a:r>
        </a:p>
        <a:p>
          <a:pPr marL="0" lvl="0" indent="0" algn="l" defTabSz="889000">
            <a:lnSpc>
              <a:spcPct val="90000"/>
            </a:lnSpc>
            <a:spcBef>
              <a:spcPct val="0"/>
            </a:spcBef>
            <a:spcAft>
              <a:spcPct val="35000"/>
            </a:spcAft>
            <a:buNone/>
          </a:pPr>
          <a:r>
            <a:rPr lang="en-US" sz="2000" kern="1200" dirty="0"/>
            <a:t>Higher income</a:t>
          </a:r>
        </a:p>
      </dsp:txBody>
      <dsp:txXfrm>
        <a:off x="4426934" y="2170242"/>
        <a:ext cx="3759989" cy="228741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636062-5AE6-4818-AF2C-C253C66CF06F}">
      <dsp:nvSpPr>
        <dsp:cNvPr id="0" name=""/>
        <dsp:cNvSpPr/>
      </dsp:nvSpPr>
      <dsp:spPr>
        <a:xfrm rot="5400000">
          <a:off x="4513935" y="-1462414"/>
          <a:ext cx="1698041" cy="5047488"/>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Char char="•"/>
          </a:pPr>
          <a:r>
            <a:rPr lang="en-US" sz="2000" kern="1200"/>
            <a:t>Positive affect at age 14 predicted job satisfaction and self-reported job competence at age 25</a:t>
          </a:r>
        </a:p>
      </dsp:txBody>
      <dsp:txXfrm rot="-5400000">
        <a:off x="2839212" y="295201"/>
        <a:ext cx="4964596" cy="1532257"/>
      </dsp:txXfrm>
    </dsp:sp>
    <dsp:sp modelId="{DAE806E1-DB4C-4A58-9235-6B647097587B}">
      <dsp:nvSpPr>
        <dsp:cNvPr id="0" name=""/>
        <dsp:cNvSpPr/>
      </dsp:nvSpPr>
      <dsp:spPr>
        <a:xfrm>
          <a:off x="0" y="53"/>
          <a:ext cx="2839212" cy="212255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en-US" sz="2100" kern="1200"/>
            <a:t>In a sample of 156 racially, ethnically, and socio-economically diverse 7</a:t>
          </a:r>
          <a:r>
            <a:rPr lang="en-US" sz="2100" kern="1200" baseline="30000"/>
            <a:t>th</a:t>
          </a:r>
          <a:r>
            <a:rPr lang="en-US" sz="2100" kern="1200"/>
            <a:t> and 8</a:t>
          </a:r>
          <a:r>
            <a:rPr lang="en-US" sz="2100" kern="1200" baseline="30000"/>
            <a:t>th</a:t>
          </a:r>
          <a:r>
            <a:rPr lang="en-US" sz="2100" kern="1200"/>
            <a:t> graders from the Southeastern US</a:t>
          </a:r>
        </a:p>
      </dsp:txBody>
      <dsp:txXfrm>
        <a:off x="103614" y="103667"/>
        <a:ext cx="2631984" cy="1915324"/>
      </dsp:txXfrm>
    </dsp:sp>
    <dsp:sp modelId="{BB4AEFAE-E62E-4050-A1BC-40C59834DF9D}">
      <dsp:nvSpPr>
        <dsp:cNvPr id="0" name=""/>
        <dsp:cNvSpPr/>
      </dsp:nvSpPr>
      <dsp:spPr>
        <a:xfrm rot="5400000">
          <a:off x="4513935" y="766264"/>
          <a:ext cx="1698041" cy="5047488"/>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Char char="•"/>
          </a:pPr>
          <a:r>
            <a:rPr lang="en-US" sz="2000" kern="1200"/>
            <a:t>Participant rated cheerfulness at age 19 associated with income at age 37</a:t>
          </a:r>
        </a:p>
        <a:p>
          <a:pPr marL="228600" lvl="1" indent="-228600" algn="l" defTabSz="889000">
            <a:lnSpc>
              <a:spcPct val="90000"/>
            </a:lnSpc>
            <a:spcBef>
              <a:spcPct val="0"/>
            </a:spcBef>
            <a:spcAft>
              <a:spcPct val="15000"/>
            </a:spcAft>
            <a:buChar char="•"/>
          </a:pPr>
          <a:r>
            <a:rPr lang="en-US" sz="2000" kern="1200"/>
            <a:t>Moderated by parental income at age 19: association strongest at “high” parental income</a:t>
          </a:r>
        </a:p>
      </dsp:txBody>
      <dsp:txXfrm rot="-5400000">
        <a:off x="2839212" y="2523879"/>
        <a:ext cx="4964596" cy="1532257"/>
      </dsp:txXfrm>
    </dsp:sp>
    <dsp:sp modelId="{DA1765F2-483A-479E-A17A-3B9677E33747}">
      <dsp:nvSpPr>
        <dsp:cNvPr id="0" name=""/>
        <dsp:cNvSpPr/>
      </dsp:nvSpPr>
      <dsp:spPr>
        <a:xfrm>
          <a:off x="0" y="2228732"/>
          <a:ext cx="2839212" cy="212255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en-US" sz="2100" kern="1200"/>
            <a:t>In a sample of first year college students (N = 13,676) at 25 colleges and universities in the US</a:t>
          </a:r>
        </a:p>
      </dsp:txBody>
      <dsp:txXfrm>
        <a:off x="103614" y="2332346"/>
        <a:ext cx="2631984" cy="191532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E9FCDA-BA13-4488-838C-28F85F7B7BD9}">
      <dsp:nvSpPr>
        <dsp:cNvPr id="0" name=""/>
        <dsp:cNvSpPr/>
      </dsp:nvSpPr>
      <dsp:spPr>
        <a:xfrm>
          <a:off x="0" y="3399"/>
          <a:ext cx="7886700" cy="72408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C469060-217A-415C-99EA-66EAE24BC510}">
      <dsp:nvSpPr>
        <dsp:cNvPr id="0" name=""/>
        <dsp:cNvSpPr/>
      </dsp:nvSpPr>
      <dsp:spPr>
        <a:xfrm>
          <a:off x="219037" y="166319"/>
          <a:ext cx="398249" cy="3982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E49A92D-5A72-4009-AB9C-B8FDD427363E}">
      <dsp:nvSpPr>
        <dsp:cNvPr id="0" name=""/>
        <dsp:cNvSpPr/>
      </dsp:nvSpPr>
      <dsp:spPr>
        <a:xfrm>
          <a:off x="836323" y="3399"/>
          <a:ext cx="70503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44550">
            <a:lnSpc>
              <a:spcPct val="90000"/>
            </a:lnSpc>
            <a:spcBef>
              <a:spcPct val="0"/>
            </a:spcBef>
            <a:spcAft>
              <a:spcPct val="35000"/>
            </a:spcAft>
            <a:buNone/>
          </a:pPr>
          <a:r>
            <a:rPr lang="en-US" sz="1900" kern="1200"/>
            <a:t>Pretend you are a </a:t>
          </a:r>
          <a:r>
            <a:rPr lang="en-US" sz="1900" b="1" kern="1200"/>
            <a:t>Well-Being Consultant Team</a:t>
          </a:r>
          <a:r>
            <a:rPr lang="en-US" sz="1900" kern="1200"/>
            <a:t> hired to improve happiness at work</a:t>
          </a:r>
        </a:p>
      </dsp:txBody>
      <dsp:txXfrm>
        <a:off x="836323" y="3399"/>
        <a:ext cx="7050376" cy="724089"/>
      </dsp:txXfrm>
    </dsp:sp>
    <dsp:sp modelId="{723F299E-3B9C-48F6-8CE7-93E4F700E696}">
      <dsp:nvSpPr>
        <dsp:cNvPr id="0" name=""/>
        <dsp:cNvSpPr/>
      </dsp:nvSpPr>
      <dsp:spPr>
        <a:xfrm>
          <a:off x="0" y="908511"/>
          <a:ext cx="7886700" cy="72408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2D568DC-FDC2-408E-84D3-B7A728E50BAE}">
      <dsp:nvSpPr>
        <dsp:cNvPr id="0" name=""/>
        <dsp:cNvSpPr/>
      </dsp:nvSpPr>
      <dsp:spPr>
        <a:xfrm>
          <a:off x="219037" y="1071431"/>
          <a:ext cx="398249" cy="3982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950896B-0D75-46A0-B53E-1C50D7E78759}">
      <dsp:nvSpPr>
        <dsp:cNvPr id="0" name=""/>
        <dsp:cNvSpPr/>
      </dsp:nvSpPr>
      <dsp:spPr>
        <a:xfrm>
          <a:off x="836323" y="908511"/>
          <a:ext cx="70503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44550">
            <a:lnSpc>
              <a:spcPct val="90000"/>
            </a:lnSpc>
            <a:spcBef>
              <a:spcPct val="0"/>
            </a:spcBef>
            <a:spcAft>
              <a:spcPct val="35000"/>
            </a:spcAft>
            <a:buNone/>
          </a:pPr>
          <a:r>
            <a:rPr lang="en-US" sz="1900" kern="1200"/>
            <a:t>3 Areas to Improve</a:t>
          </a:r>
        </a:p>
      </dsp:txBody>
      <dsp:txXfrm>
        <a:off x="836323" y="908511"/>
        <a:ext cx="7050376" cy="724089"/>
      </dsp:txXfrm>
    </dsp:sp>
    <dsp:sp modelId="{04E23F3E-912F-401C-A9E5-843BF0497FFE}">
      <dsp:nvSpPr>
        <dsp:cNvPr id="0" name=""/>
        <dsp:cNvSpPr/>
      </dsp:nvSpPr>
      <dsp:spPr>
        <a:xfrm>
          <a:off x="0" y="1813624"/>
          <a:ext cx="7886700" cy="72408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A3DC65D-A10B-45DD-BF31-3CE4CC4E11A5}">
      <dsp:nvSpPr>
        <dsp:cNvPr id="0" name=""/>
        <dsp:cNvSpPr/>
      </dsp:nvSpPr>
      <dsp:spPr>
        <a:xfrm>
          <a:off x="219037" y="1976544"/>
          <a:ext cx="398249" cy="39824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1B3CC56-FD7A-49D7-864D-8CD566EE8D65}">
      <dsp:nvSpPr>
        <dsp:cNvPr id="0" name=""/>
        <dsp:cNvSpPr/>
      </dsp:nvSpPr>
      <dsp:spPr>
        <a:xfrm>
          <a:off x="836323" y="1813624"/>
          <a:ext cx="70503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44550">
            <a:lnSpc>
              <a:spcPct val="90000"/>
            </a:lnSpc>
            <a:spcBef>
              <a:spcPct val="0"/>
            </a:spcBef>
            <a:spcAft>
              <a:spcPct val="35000"/>
            </a:spcAft>
            <a:buNone/>
          </a:pPr>
          <a:r>
            <a:rPr lang="en-US" sz="1900" kern="1200"/>
            <a:t>Positive emotions: How can you increase daily joy, appreciation, or fun at work?</a:t>
          </a:r>
        </a:p>
      </dsp:txBody>
      <dsp:txXfrm>
        <a:off x="836323" y="1813624"/>
        <a:ext cx="7050376" cy="724089"/>
      </dsp:txXfrm>
    </dsp:sp>
    <dsp:sp modelId="{FDDFA5B4-8953-4B4D-9C5F-D25306DF3190}">
      <dsp:nvSpPr>
        <dsp:cNvPr id="0" name=""/>
        <dsp:cNvSpPr/>
      </dsp:nvSpPr>
      <dsp:spPr>
        <a:xfrm>
          <a:off x="0" y="2718736"/>
          <a:ext cx="7886700" cy="72408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6767AC7-3CE7-49BB-BC96-EDDAF2F94FAD}">
      <dsp:nvSpPr>
        <dsp:cNvPr id="0" name=""/>
        <dsp:cNvSpPr/>
      </dsp:nvSpPr>
      <dsp:spPr>
        <a:xfrm>
          <a:off x="219037" y="2881656"/>
          <a:ext cx="398249" cy="39824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D2D029B-A3F9-428F-B3D1-DEBDF1208C53}">
      <dsp:nvSpPr>
        <dsp:cNvPr id="0" name=""/>
        <dsp:cNvSpPr/>
      </dsp:nvSpPr>
      <dsp:spPr>
        <a:xfrm>
          <a:off x="836323" y="2718736"/>
          <a:ext cx="70503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44550">
            <a:lnSpc>
              <a:spcPct val="90000"/>
            </a:lnSpc>
            <a:spcBef>
              <a:spcPct val="0"/>
            </a:spcBef>
            <a:spcAft>
              <a:spcPct val="35000"/>
            </a:spcAft>
            <a:buNone/>
          </a:pPr>
          <a:r>
            <a:rPr lang="en-US" sz="1900" kern="1200"/>
            <a:t>Engagement and Purpose: How can employees feel more connected to meaningful work?</a:t>
          </a:r>
        </a:p>
      </dsp:txBody>
      <dsp:txXfrm>
        <a:off x="836323" y="2718736"/>
        <a:ext cx="7050376" cy="724089"/>
      </dsp:txXfrm>
    </dsp:sp>
    <dsp:sp modelId="{9E207B78-44CF-4B97-A439-90CACC60E1B5}">
      <dsp:nvSpPr>
        <dsp:cNvPr id="0" name=""/>
        <dsp:cNvSpPr/>
      </dsp:nvSpPr>
      <dsp:spPr>
        <a:xfrm>
          <a:off x="0" y="3623848"/>
          <a:ext cx="7886700" cy="72408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85E1406-D5BE-4FA7-BC27-64A01C3D6496}">
      <dsp:nvSpPr>
        <dsp:cNvPr id="0" name=""/>
        <dsp:cNvSpPr/>
      </dsp:nvSpPr>
      <dsp:spPr>
        <a:xfrm>
          <a:off x="219037" y="3786768"/>
          <a:ext cx="398249" cy="39824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0A1B249-5A9F-4BB5-AE3C-A70F1AD75FE2}">
      <dsp:nvSpPr>
        <dsp:cNvPr id="0" name=""/>
        <dsp:cNvSpPr/>
      </dsp:nvSpPr>
      <dsp:spPr>
        <a:xfrm>
          <a:off x="836323" y="3623848"/>
          <a:ext cx="70503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44550">
            <a:lnSpc>
              <a:spcPct val="90000"/>
            </a:lnSpc>
            <a:spcBef>
              <a:spcPct val="0"/>
            </a:spcBef>
            <a:spcAft>
              <a:spcPct val="35000"/>
            </a:spcAft>
            <a:buNone/>
          </a:pPr>
          <a:r>
            <a:rPr lang="en-US" sz="1900" kern="1200"/>
            <a:t>Relationships and Culture: What can be done to build trust, support and teamwork?</a:t>
          </a:r>
        </a:p>
      </dsp:txBody>
      <dsp:txXfrm>
        <a:off x="836323" y="3623848"/>
        <a:ext cx="7050376" cy="72408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5017BD-7351-4563-87A7-4676313A42E0}">
      <dsp:nvSpPr>
        <dsp:cNvPr id="0" name=""/>
        <dsp:cNvSpPr/>
      </dsp:nvSpPr>
      <dsp:spPr>
        <a:xfrm rot="5400000">
          <a:off x="2186711" y="-589732"/>
          <a:ext cx="1121829" cy="2586000"/>
        </a:xfrm>
        <a:prstGeom prst="round2Same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a:lnSpc>
              <a:spcPct val="90000"/>
            </a:lnSpc>
            <a:spcBef>
              <a:spcPct val="0"/>
            </a:spcBef>
            <a:spcAft>
              <a:spcPct val="15000"/>
            </a:spcAft>
            <a:buChar char="•"/>
          </a:pPr>
          <a:r>
            <a:rPr lang="en-US" sz="1400" kern="1200"/>
            <a:t>Means to an end</a:t>
          </a:r>
        </a:p>
        <a:p>
          <a:pPr marL="114300" lvl="1" indent="-114300" algn="l" defTabSz="622300">
            <a:lnSpc>
              <a:spcPct val="90000"/>
            </a:lnSpc>
            <a:spcBef>
              <a:spcPct val="0"/>
            </a:spcBef>
            <a:spcAft>
              <a:spcPct val="15000"/>
            </a:spcAft>
            <a:buChar char="•"/>
          </a:pPr>
          <a:r>
            <a:rPr lang="en-US" sz="1400" kern="1200"/>
            <a:t>Enjoyment of life outside of work prioritized</a:t>
          </a:r>
        </a:p>
      </dsp:txBody>
      <dsp:txXfrm rot="-5400000">
        <a:off x="1454626" y="197116"/>
        <a:ext cx="2531237" cy="1012303"/>
      </dsp:txXfrm>
    </dsp:sp>
    <dsp:sp modelId="{F99C1EAC-F9E8-46BC-9FCF-CE8C213B4858}">
      <dsp:nvSpPr>
        <dsp:cNvPr id="0" name=""/>
        <dsp:cNvSpPr/>
      </dsp:nvSpPr>
      <dsp:spPr>
        <a:xfrm>
          <a:off x="0" y="2124"/>
          <a:ext cx="1454625" cy="1402286"/>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US" sz="1600" kern="1200"/>
            <a:t>Job – way to make money </a:t>
          </a:r>
        </a:p>
      </dsp:txBody>
      <dsp:txXfrm>
        <a:off x="68454" y="70578"/>
        <a:ext cx="1317717" cy="1265378"/>
      </dsp:txXfrm>
    </dsp:sp>
    <dsp:sp modelId="{9C32E800-529B-43E4-BCF8-3E13CBC159DB}">
      <dsp:nvSpPr>
        <dsp:cNvPr id="0" name=""/>
        <dsp:cNvSpPr/>
      </dsp:nvSpPr>
      <dsp:spPr>
        <a:xfrm rot="5400000">
          <a:off x="2186711" y="882668"/>
          <a:ext cx="1121829" cy="2586000"/>
        </a:xfrm>
        <a:prstGeom prst="round2SameRect">
          <a:avLst/>
        </a:prstGeom>
        <a:solidFill>
          <a:schemeClr val="accent2">
            <a:tint val="40000"/>
            <a:alpha val="90000"/>
            <a:hueOff val="-424613"/>
            <a:satOff val="-37673"/>
            <a:lumOff val="-385"/>
            <a:alphaOff val="0"/>
          </a:schemeClr>
        </a:solidFill>
        <a:ln w="12700" cap="flat" cmpd="sng" algn="ctr">
          <a:solidFill>
            <a:schemeClr val="accent2">
              <a:tint val="40000"/>
              <a:alpha val="90000"/>
              <a:hueOff val="-424613"/>
              <a:satOff val="-37673"/>
              <a:lumOff val="-38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a:lnSpc>
              <a:spcPct val="90000"/>
            </a:lnSpc>
            <a:spcBef>
              <a:spcPct val="0"/>
            </a:spcBef>
            <a:spcAft>
              <a:spcPct val="15000"/>
            </a:spcAft>
            <a:buChar char="•"/>
          </a:pPr>
          <a:r>
            <a:rPr lang="en-US" sz="1400" kern="1200" dirty="0"/>
            <a:t>Gains and promotions are personally meaningful</a:t>
          </a:r>
        </a:p>
        <a:p>
          <a:pPr marL="114300" lvl="1" indent="-114300" algn="l" defTabSz="622300">
            <a:lnSpc>
              <a:spcPct val="90000"/>
            </a:lnSpc>
            <a:spcBef>
              <a:spcPct val="0"/>
            </a:spcBef>
            <a:spcAft>
              <a:spcPct val="15000"/>
            </a:spcAft>
            <a:buChar char="•"/>
          </a:pPr>
          <a:r>
            <a:rPr lang="en-US" sz="1400" kern="1200"/>
            <a:t>Opportunities to gain prestige, power, and prove oneself</a:t>
          </a:r>
        </a:p>
      </dsp:txBody>
      <dsp:txXfrm rot="-5400000">
        <a:off x="1454626" y="1669517"/>
        <a:ext cx="2531237" cy="1012303"/>
      </dsp:txXfrm>
    </dsp:sp>
    <dsp:sp modelId="{139BA1CC-C88E-4028-9265-160EFF566107}">
      <dsp:nvSpPr>
        <dsp:cNvPr id="0" name=""/>
        <dsp:cNvSpPr/>
      </dsp:nvSpPr>
      <dsp:spPr>
        <a:xfrm>
          <a:off x="0" y="1474525"/>
          <a:ext cx="1454625" cy="1402286"/>
        </a:xfrm>
        <a:prstGeom prst="roundRect">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US" sz="1600" kern="1200"/>
            <a:t>Career – potential for advancement at work</a:t>
          </a:r>
        </a:p>
      </dsp:txBody>
      <dsp:txXfrm>
        <a:off x="68454" y="1542979"/>
        <a:ext cx="1317717" cy="1265378"/>
      </dsp:txXfrm>
    </dsp:sp>
    <dsp:sp modelId="{870DF06C-029E-473B-8DDA-6ADB01E469FC}">
      <dsp:nvSpPr>
        <dsp:cNvPr id="0" name=""/>
        <dsp:cNvSpPr/>
      </dsp:nvSpPr>
      <dsp:spPr>
        <a:xfrm rot="5400000">
          <a:off x="2186711" y="2355069"/>
          <a:ext cx="1121829" cy="2586000"/>
        </a:xfrm>
        <a:prstGeom prst="round2SameRect">
          <a:avLst/>
        </a:prstGeom>
        <a:solidFill>
          <a:schemeClr val="accent2">
            <a:tint val="40000"/>
            <a:alpha val="90000"/>
            <a:hueOff val="-849226"/>
            <a:satOff val="-75346"/>
            <a:lumOff val="-769"/>
            <a:alphaOff val="0"/>
          </a:schemeClr>
        </a:solidFill>
        <a:ln w="12700" cap="flat" cmpd="sng" algn="ctr">
          <a:solidFill>
            <a:schemeClr val="accent2">
              <a:tint val="40000"/>
              <a:alpha val="90000"/>
              <a:hueOff val="-849226"/>
              <a:satOff val="-75346"/>
              <a:lumOff val="-76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a:lnSpc>
              <a:spcPct val="90000"/>
            </a:lnSpc>
            <a:spcBef>
              <a:spcPct val="0"/>
            </a:spcBef>
            <a:spcAft>
              <a:spcPct val="15000"/>
            </a:spcAft>
            <a:buChar char="•"/>
          </a:pPr>
          <a:r>
            <a:rPr lang="en-US" sz="1400" kern="1200"/>
            <a:t>Work reflects values, passion, and meaning</a:t>
          </a:r>
        </a:p>
        <a:p>
          <a:pPr marL="114300" lvl="1" indent="-114300" algn="l" defTabSz="622300">
            <a:lnSpc>
              <a:spcPct val="90000"/>
            </a:lnSpc>
            <a:spcBef>
              <a:spcPct val="0"/>
            </a:spcBef>
            <a:spcAft>
              <a:spcPct val="15000"/>
            </a:spcAft>
            <a:buChar char="•"/>
          </a:pPr>
          <a:r>
            <a:rPr lang="en-US" sz="1400" kern="1200"/>
            <a:t>Can be in any type of work</a:t>
          </a:r>
        </a:p>
      </dsp:txBody>
      <dsp:txXfrm rot="-5400000">
        <a:off x="1454626" y="3141918"/>
        <a:ext cx="2531237" cy="1012303"/>
      </dsp:txXfrm>
    </dsp:sp>
    <dsp:sp modelId="{FF3FA24E-1E0D-4AAE-AAD7-465B669A4799}">
      <dsp:nvSpPr>
        <dsp:cNvPr id="0" name=""/>
        <dsp:cNvSpPr/>
      </dsp:nvSpPr>
      <dsp:spPr>
        <a:xfrm>
          <a:off x="0" y="2946926"/>
          <a:ext cx="1454625" cy="1402286"/>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US" sz="1600" kern="1200"/>
            <a:t>Calling – work is inseparable from the person</a:t>
          </a:r>
        </a:p>
      </dsp:txBody>
      <dsp:txXfrm>
        <a:off x="68454" y="3015380"/>
        <a:ext cx="1317717" cy="1265378"/>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894098-B30D-4026-870E-D48245EEADC8}">
      <dsp:nvSpPr>
        <dsp:cNvPr id="0" name=""/>
        <dsp:cNvSpPr/>
      </dsp:nvSpPr>
      <dsp:spPr>
        <a:xfrm>
          <a:off x="0" y="403478"/>
          <a:ext cx="4697730" cy="4697730"/>
        </a:xfrm>
        <a:prstGeom prst="diamond">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479585A-903C-4763-83E1-F0C0C18950E6}">
      <dsp:nvSpPr>
        <dsp:cNvPr id="0" name=""/>
        <dsp:cNvSpPr/>
      </dsp:nvSpPr>
      <dsp:spPr>
        <a:xfrm>
          <a:off x="446284" y="849763"/>
          <a:ext cx="1832114" cy="183211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Underlying reasons for being prosocial in the workplace</a:t>
          </a:r>
        </a:p>
      </dsp:txBody>
      <dsp:txXfrm>
        <a:off x="535720" y="939199"/>
        <a:ext cx="1653242" cy="1653242"/>
      </dsp:txXfrm>
    </dsp:sp>
    <dsp:sp modelId="{FA3AF90C-FAF4-454B-8B0A-A68AA4E78D35}">
      <dsp:nvSpPr>
        <dsp:cNvPr id="0" name=""/>
        <dsp:cNvSpPr/>
      </dsp:nvSpPr>
      <dsp:spPr>
        <a:xfrm>
          <a:off x="2419330" y="849763"/>
          <a:ext cx="1832114" cy="1832114"/>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Desire to help other people</a:t>
          </a:r>
        </a:p>
      </dsp:txBody>
      <dsp:txXfrm>
        <a:off x="2508766" y="939199"/>
        <a:ext cx="1653242" cy="1653242"/>
      </dsp:txXfrm>
    </dsp:sp>
    <dsp:sp modelId="{DCDF2C68-87CB-4920-B0FC-1D7AF08763F4}">
      <dsp:nvSpPr>
        <dsp:cNvPr id="0" name=""/>
        <dsp:cNvSpPr/>
      </dsp:nvSpPr>
      <dsp:spPr>
        <a:xfrm>
          <a:off x="446284" y="2822809"/>
          <a:ext cx="1832114" cy="1832114"/>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May have multiple motives in action at a given moment</a:t>
          </a:r>
        </a:p>
      </dsp:txBody>
      <dsp:txXfrm>
        <a:off x="535720" y="2912245"/>
        <a:ext cx="1653242" cy="1653242"/>
      </dsp:txXfrm>
    </dsp:sp>
    <dsp:sp modelId="{DE3F8E7C-E45C-43B7-854F-678F4C4D406D}">
      <dsp:nvSpPr>
        <dsp:cNvPr id="0" name=""/>
        <dsp:cNvSpPr/>
      </dsp:nvSpPr>
      <dsp:spPr>
        <a:xfrm>
          <a:off x="2419330" y="2822809"/>
          <a:ext cx="1832114" cy="1832114"/>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Can be simultaneously self-motivated and other-motivated</a:t>
          </a:r>
        </a:p>
      </dsp:txBody>
      <dsp:txXfrm>
        <a:off x="2508766" y="2912245"/>
        <a:ext cx="1653242" cy="1653242"/>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70ECB5-E305-4D4F-BD86-21B2BD71D329}">
      <dsp:nvSpPr>
        <dsp:cNvPr id="0" name=""/>
        <dsp:cNvSpPr/>
      </dsp:nvSpPr>
      <dsp:spPr>
        <a:xfrm>
          <a:off x="0" y="34805"/>
          <a:ext cx="5000124" cy="1762129"/>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Perception that your work has a positive impact on others</a:t>
          </a:r>
        </a:p>
      </dsp:txBody>
      <dsp:txXfrm>
        <a:off x="86020" y="120825"/>
        <a:ext cx="4828084" cy="1590089"/>
      </dsp:txXfrm>
    </dsp:sp>
    <dsp:sp modelId="{C5F01E25-3C27-4FDF-82F2-48040530F383}">
      <dsp:nvSpPr>
        <dsp:cNvPr id="0" name=""/>
        <dsp:cNvSpPr/>
      </dsp:nvSpPr>
      <dsp:spPr>
        <a:xfrm>
          <a:off x="0" y="1845895"/>
          <a:ext cx="5000124" cy="1762129"/>
        </a:xfrm>
        <a:prstGeom prst="roundRect">
          <a:avLst/>
        </a:prstGeom>
        <a:gradFill rotWithShape="0">
          <a:gsLst>
            <a:gs pos="0">
              <a:schemeClr val="accent2">
                <a:hueOff val="-727682"/>
                <a:satOff val="-41964"/>
                <a:lumOff val="4314"/>
                <a:alphaOff val="0"/>
                <a:satMod val="103000"/>
                <a:lumMod val="102000"/>
                <a:tint val="94000"/>
              </a:schemeClr>
            </a:gs>
            <a:gs pos="50000">
              <a:schemeClr val="accent2">
                <a:hueOff val="-727682"/>
                <a:satOff val="-41964"/>
                <a:lumOff val="4314"/>
                <a:alphaOff val="0"/>
                <a:satMod val="110000"/>
                <a:lumMod val="100000"/>
                <a:shade val="100000"/>
              </a:schemeClr>
            </a:gs>
            <a:gs pos="100000">
              <a:schemeClr val="accent2">
                <a:hueOff val="-727682"/>
                <a:satOff val="-41964"/>
                <a:lumOff val="431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Acknowledge the ways in which your work makes the lives of other people better</a:t>
          </a:r>
        </a:p>
      </dsp:txBody>
      <dsp:txXfrm>
        <a:off x="86020" y="1931915"/>
        <a:ext cx="4828084" cy="1590089"/>
      </dsp:txXfrm>
    </dsp:sp>
    <dsp:sp modelId="{B83B9F03-8FDC-432F-9FC3-FB4183D6B3A5}">
      <dsp:nvSpPr>
        <dsp:cNvPr id="0" name=""/>
        <dsp:cNvSpPr/>
      </dsp:nvSpPr>
      <dsp:spPr>
        <a:xfrm>
          <a:off x="0" y="3656984"/>
          <a:ext cx="5000124" cy="1762129"/>
        </a:xfrm>
        <a:prstGeom prst="roundRect">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t>Participants assigned to think about societal impact of their jobs reported lower negative affect and intention to quit, and higher positive affect and willingness to recommend job to others compared to those asked to think about the positive impression of their jobs</a:t>
          </a:r>
        </a:p>
      </dsp:txBody>
      <dsp:txXfrm>
        <a:off x="86020" y="3743004"/>
        <a:ext cx="4828084" cy="1590089"/>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05B763-B3B1-4FC7-AA43-27D9C8B81E42}">
      <dsp:nvSpPr>
        <dsp:cNvPr id="0" name=""/>
        <dsp:cNvSpPr/>
      </dsp:nvSpPr>
      <dsp:spPr>
        <a:xfrm>
          <a:off x="0" y="35933"/>
          <a:ext cx="5278040" cy="87516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Focus on </a:t>
          </a:r>
          <a:r>
            <a:rPr lang="en-US" sz="2200" b="1" u="sng" kern="1200"/>
            <a:t>making</a:t>
          </a:r>
          <a:r>
            <a:rPr lang="en-US" sz="2200" kern="1200"/>
            <a:t> the perfect job instead of </a:t>
          </a:r>
          <a:r>
            <a:rPr lang="en-US" sz="2200" b="1" u="sng" kern="1200"/>
            <a:t>finding</a:t>
          </a:r>
          <a:r>
            <a:rPr lang="en-US" sz="2200" kern="1200"/>
            <a:t> the perfect job</a:t>
          </a:r>
        </a:p>
      </dsp:txBody>
      <dsp:txXfrm>
        <a:off x="42722" y="78655"/>
        <a:ext cx="5192596" cy="789716"/>
      </dsp:txXfrm>
    </dsp:sp>
    <dsp:sp modelId="{AD209266-D718-44C0-A80B-8872ECD164BB}">
      <dsp:nvSpPr>
        <dsp:cNvPr id="0" name=""/>
        <dsp:cNvSpPr/>
      </dsp:nvSpPr>
      <dsp:spPr>
        <a:xfrm>
          <a:off x="0" y="974453"/>
          <a:ext cx="5278040" cy="875160"/>
        </a:xfrm>
        <a:prstGeom prst="roundRect">
          <a:avLst/>
        </a:prstGeom>
        <a:solidFill>
          <a:schemeClr val="accent5">
            <a:hueOff val="-2451115"/>
            <a:satOff val="-3409"/>
            <a:lumOff val="-130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Making job fit with one’s skills, goals, and values</a:t>
          </a:r>
        </a:p>
      </dsp:txBody>
      <dsp:txXfrm>
        <a:off x="42722" y="1017175"/>
        <a:ext cx="5192596" cy="789716"/>
      </dsp:txXfrm>
    </dsp:sp>
    <dsp:sp modelId="{F6309B0A-16F0-4929-9894-2EF9B11FAA88}">
      <dsp:nvSpPr>
        <dsp:cNvPr id="0" name=""/>
        <dsp:cNvSpPr/>
      </dsp:nvSpPr>
      <dsp:spPr>
        <a:xfrm>
          <a:off x="0" y="1912973"/>
          <a:ext cx="5278040" cy="875160"/>
        </a:xfrm>
        <a:prstGeom prst="roundRect">
          <a:avLst/>
        </a:prstGeom>
        <a:solidFill>
          <a:schemeClr val="accent5">
            <a:hueOff val="-4902230"/>
            <a:satOff val="-6819"/>
            <a:lumOff val="-261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Job Crafting associated with:</a:t>
          </a:r>
        </a:p>
      </dsp:txBody>
      <dsp:txXfrm>
        <a:off x="42722" y="1955695"/>
        <a:ext cx="5192596" cy="789716"/>
      </dsp:txXfrm>
    </dsp:sp>
    <dsp:sp modelId="{B5C8B18E-1A4A-4BC1-B0A0-7DD7C713909F}">
      <dsp:nvSpPr>
        <dsp:cNvPr id="0" name=""/>
        <dsp:cNvSpPr/>
      </dsp:nvSpPr>
      <dsp:spPr>
        <a:xfrm>
          <a:off x="0" y="2788133"/>
          <a:ext cx="5278040" cy="8880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578"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a:t>Job satisfaction</a:t>
          </a:r>
        </a:p>
        <a:p>
          <a:pPr marL="171450" lvl="1" indent="-171450" algn="l" defTabSz="755650">
            <a:lnSpc>
              <a:spcPct val="90000"/>
            </a:lnSpc>
            <a:spcBef>
              <a:spcPct val="0"/>
            </a:spcBef>
            <a:spcAft>
              <a:spcPct val="20000"/>
            </a:spcAft>
            <a:buChar char="•"/>
          </a:pPr>
          <a:r>
            <a:rPr lang="en-US" sz="1700" kern="1200"/>
            <a:t>More meaning in work</a:t>
          </a:r>
        </a:p>
        <a:p>
          <a:pPr marL="171450" lvl="1" indent="-171450" algn="l" defTabSz="755650">
            <a:lnSpc>
              <a:spcPct val="90000"/>
            </a:lnSpc>
            <a:spcBef>
              <a:spcPct val="0"/>
            </a:spcBef>
            <a:spcAft>
              <a:spcPct val="20000"/>
            </a:spcAft>
            <a:buChar char="•"/>
          </a:pPr>
          <a:r>
            <a:rPr lang="en-US" sz="1700" kern="1200"/>
            <a:t>Perception that job requires skillful behavior</a:t>
          </a:r>
        </a:p>
      </dsp:txBody>
      <dsp:txXfrm>
        <a:off x="0" y="2788133"/>
        <a:ext cx="5278040" cy="888030"/>
      </dsp:txXfrm>
    </dsp:sp>
    <dsp:sp modelId="{7C08802A-8587-4238-BC8C-2D3F18C36C3E}">
      <dsp:nvSpPr>
        <dsp:cNvPr id="0" name=""/>
        <dsp:cNvSpPr/>
      </dsp:nvSpPr>
      <dsp:spPr>
        <a:xfrm>
          <a:off x="0" y="3676163"/>
          <a:ext cx="5278040" cy="875160"/>
        </a:xfrm>
        <a:prstGeom prst="roundRect">
          <a:avLst/>
        </a:prstGeom>
        <a:solidFill>
          <a:schemeClr val="accent5">
            <a:hueOff val="-7353344"/>
            <a:satOff val="-10228"/>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Can involve:</a:t>
          </a:r>
        </a:p>
      </dsp:txBody>
      <dsp:txXfrm>
        <a:off x="42722" y="3718885"/>
        <a:ext cx="5192596" cy="789716"/>
      </dsp:txXfrm>
    </dsp:sp>
    <dsp:sp modelId="{876A6FCC-8F78-4691-B828-B07C2DD119BD}">
      <dsp:nvSpPr>
        <dsp:cNvPr id="0" name=""/>
        <dsp:cNvSpPr/>
      </dsp:nvSpPr>
      <dsp:spPr>
        <a:xfrm>
          <a:off x="0" y="4551323"/>
          <a:ext cx="5278040" cy="8880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578"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dirty="0"/>
            <a:t>Changing boundaries of position – add/subtract tasks</a:t>
          </a:r>
        </a:p>
        <a:p>
          <a:pPr marL="171450" lvl="1" indent="-171450" algn="l" defTabSz="755650">
            <a:lnSpc>
              <a:spcPct val="90000"/>
            </a:lnSpc>
            <a:spcBef>
              <a:spcPct val="0"/>
            </a:spcBef>
            <a:spcAft>
              <a:spcPct val="20000"/>
            </a:spcAft>
            <a:buChar char="•"/>
          </a:pPr>
          <a:r>
            <a:rPr lang="en-US" sz="1700" kern="1200" dirty="0"/>
            <a:t>Changing relational aspects of work</a:t>
          </a:r>
        </a:p>
        <a:p>
          <a:pPr marL="171450" lvl="1" indent="-171450" algn="l" defTabSz="755650">
            <a:lnSpc>
              <a:spcPct val="90000"/>
            </a:lnSpc>
            <a:spcBef>
              <a:spcPct val="0"/>
            </a:spcBef>
            <a:spcAft>
              <a:spcPct val="20000"/>
            </a:spcAft>
            <a:buChar char="•"/>
          </a:pPr>
          <a:r>
            <a:rPr lang="en-US" sz="1700" kern="1200" dirty="0"/>
            <a:t>Thinking about job differently</a:t>
          </a:r>
        </a:p>
      </dsp:txBody>
      <dsp:txXfrm>
        <a:off x="0" y="4551323"/>
        <a:ext cx="5278040" cy="888030"/>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C0FAD0-E7C6-4E01-AC3F-0C10D56ABAB7}">
      <dsp:nvSpPr>
        <dsp:cNvPr id="0" name=""/>
        <dsp:cNvSpPr/>
      </dsp:nvSpPr>
      <dsp:spPr>
        <a:xfrm>
          <a:off x="0" y="12876"/>
          <a:ext cx="5278040" cy="1629736"/>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Having a friend at work (especially for women) is associated with:</a:t>
          </a:r>
        </a:p>
      </dsp:txBody>
      <dsp:txXfrm>
        <a:off x="79557" y="92433"/>
        <a:ext cx="5118926" cy="1470622"/>
      </dsp:txXfrm>
    </dsp:sp>
    <dsp:sp modelId="{B18117E7-ACC0-4ED0-9DEF-6011C530D2FA}">
      <dsp:nvSpPr>
        <dsp:cNvPr id="0" name=""/>
        <dsp:cNvSpPr/>
      </dsp:nvSpPr>
      <dsp:spPr>
        <a:xfrm>
          <a:off x="0" y="1642613"/>
          <a:ext cx="5278040" cy="21900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578"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a:t>More engagement at work</a:t>
          </a:r>
        </a:p>
        <a:p>
          <a:pPr marL="171450" lvl="1" indent="-171450" algn="l" defTabSz="800100">
            <a:lnSpc>
              <a:spcPct val="90000"/>
            </a:lnSpc>
            <a:spcBef>
              <a:spcPct val="0"/>
            </a:spcBef>
            <a:spcAft>
              <a:spcPct val="20000"/>
            </a:spcAft>
            <a:buChar char="•"/>
          </a:pPr>
          <a:r>
            <a:rPr lang="en-US" sz="1800" kern="1200"/>
            <a:t>More positive and negative experiences at work</a:t>
          </a:r>
        </a:p>
        <a:p>
          <a:pPr marL="171450" lvl="1" indent="-171450" algn="l" defTabSz="800100">
            <a:lnSpc>
              <a:spcPct val="90000"/>
            </a:lnSpc>
            <a:spcBef>
              <a:spcPct val="0"/>
            </a:spcBef>
            <a:spcAft>
              <a:spcPct val="20000"/>
            </a:spcAft>
            <a:buChar char="•"/>
          </a:pPr>
          <a:r>
            <a:rPr lang="en-US" sz="1800" kern="1200"/>
            <a:t>More risks that could lead to innovation</a:t>
          </a:r>
        </a:p>
        <a:p>
          <a:pPr marL="171450" lvl="1" indent="-171450" algn="l" defTabSz="800100">
            <a:lnSpc>
              <a:spcPct val="90000"/>
            </a:lnSpc>
            <a:spcBef>
              <a:spcPct val="0"/>
            </a:spcBef>
            <a:spcAft>
              <a:spcPct val="20000"/>
            </a:spcAft>
            <a:buChar char="•"/>
          </a:pPr>
          <a:r>
            <a:rPr lang="en-US" sz="1800" kern="1200"/>
            <a:t>Higher retention</a:t>
          </a:r>
        </a:p>
        <a:p>
          <a:pPr marL="171450" lvl="1" indent="-171450" algn="l" defTabSz="800100">
            <a:lnSpc>
              <a:spcPct val="90000"/>
            </a:lnSpc>
            <a:spcBef>
              <a:spcPct val="0"/>
            </a:spcBef>
            <a:spcAft>
              <a:spcPct val="20000"/>
            </a:spcAft>
            <a:buChar char="•"/>
          </a:pPr>
          <a:r>
            <a:rPr lang="en-US" sz="1800" kern="1200"/>
            <a:t>Occupational self-esteem</a:t>
          </a:r>
        </a:p>
        <a:p>
          <a:pPr marL="171450" lvl="1" indent="-171450" algn="l" defTabSz="800100">
            <a:lnSpc>
              <a:spcPct val="90000"/>
            </a:lnSpc>
            <a:spcBef>
              <a:spcPct val="0"/>
            </a:spcBef>
            <a:spcAft>
              <a:spcPct val="20000"/>
            </a:spcAft>
            <a:buChar char="•"/>
          </a:pPr>
          <a:r>
            <a:rPr lang="en-US" sz="1800" kern="1200"/>
            <a:t>Life and job satisfaction</a:t>
          </a:r>
        </a:p>
        <a:p>
          <a:pPr marL="171450" lvl="1" indent="-171450" algn="l" defTabSz="800100">
            <a:lnSpc>
              <a:spcPct val="90000"/>
            </a:lnSpc>
            <a:spcBef>
              <a:spcPct val="0"/>
            </a:spcBef>
            <a:spcAft>
              <a:spcPct val="20000"/>
            </a:spcAft>
            <a:buChar char="•"/>
          </a:pPr>
          <a:r>
            <a:rPr lang="en-US" sz="1800" kern="1200"/>
            <a:t>Positive affect</a:t>
          </a:r>
        </a:p>
      </dsp:txBody>
      <dsp:txXfrm>
        <a:off x="0" y="1642613"/>
        <a:ext cx="5278040" cy="2190060"/>
      </dsp:txXfrm>
    </dsp:sp>
    <dsp:sp modelId="{309B51BE-9742-44BD-8662-2DB995C4198F}">
      <dsp:nvSpPr>
        <dsp:cNvPr id="0" name=""/>
        <dsp:cNvSpPr/>
      </dsp:nvSpPr>
      <dsp:spPr>
        <a:xfrm>
          <a:off x="0" y="3832673"/>
          <a:ext cx="5278040" cy="1629736"/>
        </a:xfrm>
        <a:prstGeom prst="roundRect">
          <a:avLst/>
        </a:prstGeom>
        <a:solidFill>
          <a:schemeClr val="accent5">
            <a:hueOff val="-7353344"/>
            <a:satOff val="-10228"/>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When randomized to interdependent or independent work groups, those in interdependent groups more likely to form a friendship tie</a:t>
          </a:r>
        </a:p>
      </dsp:txBody>
      <dsp:txXfrm>
        <a:off x="79557" y="3912230"/>
        <a:ext cx="5118926" cy="1470622"/>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201DB7-AE42-4FD8-A4B0-7B8BB0E5903E}">
      <dsp:nvSpPr>
        <dsp:cNvPr id="0" name=""/>
        <dsp:cNvSpPr/>
      </dsp:nvSpPr>
      <dsp:spPr>
        <a:xfrm>
          <a:off x="0" y="98623"/>
          <a:ext cx="5278040" cy="5278040"/>
        </a:xfrm>
        <a:prstGeom prst="diamond">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A040521-22A5-42C8-85DD-9A0367E34507}">
      <dsp:nvSpPr>
        <dsp:cNvPr id="0" name=""/>
        <dsp:cNvSpPr/>
      </dsp:nvSpPr>
      <dsp:spPr>
        <a:xfrm>
          <a:off x="501413" y="600036"/>
          <a:ext cx="2058435" cy="2058435"/>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Work-Family Conflict (WFC) – degree to which commitments and experiences at work disrupt family life and commitments in family life disrupt work</a:t>
          </a:r>
        </a:p>
      </dsp:txBody>
      <dsp:txXfrm>
        <a:off x="601898" y="700521"/>
        <a:ext cx="1857465" cy="1857465"/>
      </dsp:txXfrm>
    </dsp:sp>
    <dsp:sp modelId="{BC1622B6-0D00-48AE-93F0-6236E8A5BADA}">
      <dsp:nvSpPr>
        <dsp:cNvPr id="0" name=""/>
        <dsp:cNvSpPr/>
      </dsp:nvSpPr>
      <dsp:spPr>
        <a:xfrm>
          <a:off x="2718191" y="600036"/>
          <a:ext cx="2058435" cy="2058435"/>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Association between (higher) WFC and (lower) life satisfaction is weaker in collectivistic cultures</a:t>
          </a:r>
        </a:p>
      </dsp:txBody>
      <dsp:txXfrm>
        <a:off x="2818676" y="700521"/>
        <a:ext cx="1857465" cy="1857465"/>
      </dsp:txXfrm>
    </dsp:sp>
    <dsp:sp modelId="{1476D3E4-122A-496C-9182-10E3F0696303}">
      <dsp:nvSpPr>
        <dsp:cNvPr id="0" name=""/>
        <dsp:cNvSpPr/>
      </dsp:nvSpPr>
      <dsp:spPr>
        <a:xfrm>
          <a:off x="501413" y="2816814"/>
          <a:ext cx="2058435" cy="2058435"/>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Relative Centrality of Work (RCW) – degree to which work outcomes are a central focus on one’s life</a:t>
          </a:r>
        </a:p>
      </dsp:txBody>
      <dsp:txXfrm>
        <a:off x="601898" y="2917299"/>
        <a:ext cx="1857465" cy="1857465"/>
      </dsp:txXfrm>
    </dsp:sp>
    <dsp:sp modelId="{CFF6C254-7E73-4F84-9CB4-309530E5513E}">
      <dsp:nvSpPr>
        <dsp:cNvPr id="0" name=""/>
        <dsp:cNvSpPr/>
      </dsp:nvSpPr>
      <dsp:spPr>
        <a:xfrm>
          <a:off x="2718191" y="2816814"/>
          <a:ext cx="2058435" cy="2058435"/>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kern="1200"/>
            <a:t>Cross-cultural differences in RCW</a:t>
          </a:r>
        </a:p>
        <a:p>
          <a:pPr marL="114300" lvl="1" indent="-114300" algn="l" defTabSz="533400">
            <a:lnSpc>
              <a:spcPct val="90000"/>
            </a:lnSpc>
            <a:spcBef>
              <a:spcPct val="0"/>
            </a:spcBef>
            <a:spcAft>
              <a:spcPct val="15000"/>
            </a:spcAft>
            <a:buChar char="•"/>
          </a:pPr>
          <a:r>
            <a:rPr lang="en-US" sz="1200" kern="1200"/>
            <a:t>Participants in US 2x as likely as any other country to report they would stop working if they won the lottery</a:t>
          </a:r>
        </a:p>
      </dsp:txBody>
      <dsp:txXfrm>
        <a:off x="2818676" y="2917299"/>
        <a:ext cx="1857465" cy="1857465"/>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2BFD29-66F6-4FED-A7D2-F05538B37965}">
      <dsp:nvSpPr>
        <dsp:cNvPr id="0" name=""/>
        <dsp:cNvSpPr/>
      </dsp:nvSpPr>
      <dsp:spPr>
        <a:xfrm>
          <a:off x="0" y="138841"/>
          <a:ext cx="4941519" cy="75582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Leaders posses a vision that is discrepant from the status quo, resonates with followers</a:t>
          </a:r>
        </a:p>
      </dsp:txBody>
      <dsp:txXfrm>
        <a:off x="36896" y="175737"/>
        <a:ext cx="4867727" cy="682028"/>
      </dsp:txXfrm>
    </dsp:sp>
    <dsp:sp modelId="{DB674B00-484A-429E-9D12-8985DF8F0AEC}">
      <dsp:nvSpPr>
        <dsp:cNvPr id="0" name=""/>
        <dsp:cNvSpPr/>
      </dsp:nvSpPr>
      <dsp:spPr>
        <a:xfrm>
          <a:off x="0" y="949381"/>
          <a:ext cx="4941519" cy="755820"/>
        </a:xfrm>
        <a:prstGeom prst="roundRect">
          <a:avLst/>
        </a:prstGeom>
        <a:solidFill>
          <a:schemeClr val="accent2">
            <a:hueOff val="-242561"/>
            <a:satOff val="-13988"/>
            <a:lumOff val="143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Leaders have optimism and excitement about future</a:t>
          </a:r>
        </a:p>
      </dsp:txBody>
      <dsp:txXfrm>
        <a:off x="36896" y="986277"/>
        <a:ext cx="4867727" cy="682028"/>
      </dsp:txXfrm>
    </dsp:sp>
    <dsp:sp modelId="{2CAE38F6-C265-4059-9774-33C1B1057E50}">
      <dsp:nvSpPr>
        <dsp:cNvPr id="0" name=""/>
        <dsp:cNvSpPr/>
      </dsp:nvSpPr>
      <dsp:spPr>
        <a:xfrm>
          <a:off x="0" y="1759921"/>
          <a:ext cx="4941519" cy="755820"/>
        </a:xfrm>
        <a:prstGeom prst="roundRect">
          <a:avLst/>
        </a:prstGeom>
        <a:solidFill>
          <a:schemeClr val="accent2">
            <a:hueOff val="-485121"/>
            <a:satOff val="-27976"/>
            <a:lumOff val="28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Leaders value individuals for unique talents and seek to maximize their self-actualization</a:t>
          </a:r>
        </a:p>
      </dsp:txBody>
      <dsp:txXfrm>
        <a:off x="36896" y="1796817"/>
        <a:ext cx="4867727" cy="682028"/>
      </dsp:txXfrm>
    </dsp:sp>
    <dsp:sp modelId="{8801C626-5651-4463-8BEC-8087834FB292}">
      <dsp:nvSpPr>
        <dsp:cNvPr id="0" name=""/>
        <dsp:cNvSpPr/>
      </dsp:nvSpPr>
      <dsp:spPr>
        <a:xfrm>
          <a:off x="0" y="2570461"/>
          <a:ext cx="4941519" cy="755820"/>
        </a:xfrm>
        <a:prstGeom prst="roundRect">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High in dedication and hard work</a:t>
          </a:r>
        </a:p>
      </dsp:txBody>
      <dsp:txXfrm>
        <a:off x="36896" y="2607357"/>
        <a:ext cx="4867727" cy="682028"/>
      </dsp:txXfrm>
    </dsp:sp>
    <dsp:sp modelId="{6115E47B-0126-436C-8177-4AEE214FF20B}">
      <dsp:nvSpPr>
        <dsp:cNvPr id="0" name=""/>
        <dsp:cNvSpPr/>
      </dsp:nvSpPr>
      <dsp:spPr>
        <a:xfrm>
          <a:off x="0" y="3381001"/>
          <a:ext cx="4941519" cy="755820"/>
        </a:xfrm>
        <a:prstGeom prst="roundRect">
          <a:avLst/>
        </a:prstGeom>
        <a:solidFill>
          <a:schemeClr val="accent2">
            <a:hueOff val="-970242"/>
            <a:satOff val="-55952"/>
            <a:lumOff val="575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High integrity</a:t>
          </a:r>
        </a:p>
      </dsp:txBody>
      <dsp:txXfrm>
        <a:off x="36896" y="3417897"/>
        <a:ext cx="4867727" cy="682028"/>
      </dsp:txXfrm>
    </dsp:sp>
    <dsp:sp modelId="{579EB99A-72E4-4412-91A6-8DE913C6A00F}">
      <dsp:nvSpPr>
        <dsp:cNvPr id="0" name=""/>
        <dsp:cNvSpPr/>
      </dsp:nvSpPr>
      <dsp:spPr>
        <a:xfrm>
          <a:off x="0" y="4191541"/>
          <a:ext cx="4941519" cy="755820"/>
        </a:xfrm>
        <a:prstGeom prst="roundRect">
          <a:avLst/>
        </a:prstGeom>
        <a:solidFill>
          <a:schemeClr val="accent2">
            <a:hueOff val="-1212803"/>
            <a:satOff val="-69940"/>
            <a:lumOff val="719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Provide clear directives and specific feedback</a:t>
          </a:r>
        </a:p>
      </dsp:txBody>
      <dsp:txXfrm>
        <a:off x="36896" y="4228437"/>
        <a:ext cx="4867727" cy="682028"/>
      </dsp:txXfrm>
    </dsp:sp>
    <dsp:sp modelId="{3EFBB928-618E-4F1F-A198-04BA242EFB35}">
      <dsp:nvSpPr>
        <dsp:cNvPr id="0" name=""/>
        <dsp:cNvSpPr/>
      </dsp:nvSpPr>
      <dsp:spPr>
        <a:xfrm>
          <a:off x="0" y="5002081"/>
          <a:ext cx="4941519" cy="755820"/>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Possess charisma</a:t>
          </a:r>
        </a:p>
      </dsp:txBody>
      <dsp:txXfrm>
        <a:off x="36896" y="5038977"/>
        <a:ext cx="4867727" cy="68202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DF72A1B-196A-4155-8397-EF46A3A2FFBA}" type="datetimeFigureOut">
              <a:rPr lang="en-US" smtClean="0"/>
              <a:t>5/31/2025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C5B57E6-BB92-47A0-B1B1-ED183A0B4C65}" type="slidenum">
              <a:rPr lang="en-US" smtClean="0"/>
              <a:t>‹#›</a:t>
            </a:fld>
            <a:endParaRPr lang="en-US"/>
          </a:p>
        </p:txBody>
      </p:sp>
    </p:spTree>
    <p:extLst>
      <p:ext uri="{BB962C8B-B14F-4D97-AF65-F5344CB8AC3E}">
        <p14:creationId xmlns:p14="http://schemas.microsoft.com/office/powerpoint/2010/main" val="3551794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E69A6D-8697-4D2F-B6E0-21678FE988F9}" type="datetimeFigureOut">
              <a:rPr lang="en-US" smtClean="0"/>
              <a:t>5/31/2025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B5EBDA-FB43-46D3-ADD5-6E5F4CE48D99}" type="slidenum">
              <a:rPr lang="en-US" smtClean="0"/>
              <a:t>‹#›</a:t>
            </a:fld>
            <a:endParaRPr lang="en-US"/>
          </a:p>
        </p:txBody>
      </p:sp>
    </p:spTree>
    <p:extLst>
      <p:ext uri="{BB962C8B-B14F-4D97-AF65-F5344CB8AC3E}">
        <p14:creationId xmlns:p14="http://schemas.microsoft.com/office/powerpoint/2010/main" val="941370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0">
              <a:lnSpc>
                <a:spcPct val="100000"/>
              </a:lnSpc>
              <a:spcBef>
                <a:spcPts val="0"/>
              </a:spcBef>
              <a:spcAft>
                <a:spcPts val="0"/>
              </a:spcAft>
              <a:buClrTx/>
              <a:buSzTx/>
              <a:buFontTx/>
              <a:buNone/>
              <a:tabLst/>
              <a:defRPr/>
            </a:pPr>
            <a:r>
              <a:rPr lang="en-IN" sz="1200" u="sng" dirty="0"/>
              <a:t>Three views of occupation and explanation</a:t>
            </a:r>
            <a:r>
              <a:rPr lang="en-IN" sz="1200" dirty="0"/>
              <a:t>: Job, calling, career. Job </a:t>
            </a:r>
            <a:r>
              <a:rPr lang="en-US" sz="1200" kern="1200" dirty="0">
                <a:solidFill>
                  <a:schemeClr val="tx1"/>
                </a:solidFill>
                <a:effectLst/>
                <a:latin typeface="+mn-lt"/>
                <a:ea typeface="+mn-ea"/>
                <a:cs typeface="+mn-cs"/>
              </a:rPr>
              <a:t>focuses on the financial gains from work and on the necessity of work and earning a living. Career</a:t>
            </a:r>
            <a:r>
              <a:rPr lang="en-US" sz="1200" kern="1200" baseline="0" dirty="0">
                <a:solidFill>
                  <a:schemeClr val="tx1"/>
                </a:solidFill>
                <a:effectLst/>
                <a:latin typeface="+mn-lt"/>
                <a:ea typeface="+mn-ea"/>
                <a:cs typeface="+mn-cs"/>
              </a:rPr>
              <a:t> is </a:t>
            </a:r>
            <a:r>
              <a:rPr lang="en-US" sz="1200" kern="1200" dirty="0">
                <a:solidFill>
                  <a:schemeClr val="tx1"/>
                </a:solidFill>
                <a:effectLst/>
                <a:latin typeface="+mn-lt"/>
                <a:ea typeface="+mn-ea"/>
                <a:cs typeface="+mn-cs"/>
              </a:rPr>
              <a:t>a way to facilitate achievement motivation, stimulate their need for competition, or enhance prestige and satisfaction. Calling</a:t>
            </a:r>
            <a:r>
              <a:rPr lang="en-US" sz="1200" kern="1200" baseline="0" dirty="0">
                <a:solidFill>
                  <a:schemeClr val="tx1"/>
                </a:solidFill>
                <a:effectLst/>
                <a:latin typeface="+mn-lt"/>
                <a:ea typeface="+mn-ea"/>
                <a:cs typeface="+mn-cs"/>
              </a:rPr>
              <a:t> is</a:t>
            </a:r>
            <a:r>
              <a:rPr lang="en-US" sz="1200" kern="1200" dirty="0">
                <a:solidFill>
                  <a:schemeClr val="tx1"/>
                </a:solidFill>
                <a:effectLst/>
                <a:latin typeface="+mn-lt"/>
                <a:ea typeface="+mn-ea"/>
                <a:cs typeface="+mn-cs"/>
              </a:rPr>
              <a:t> a source of personal fulfillment; for many, this sense of fulfillment and meaning came from recognizing or simply believing that what they did had a socially useful purpose. </a:t>
            </a:r>
          </a:p>
          <a:p>
            <a:pPr marL="0" marR="0" indent="0" algn="l" defTabSz="914400" rtl="0" eaLnBrk="1" fontAlgn="auto" latinLnBrk="0" hangingPunct="0">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indent="0" algn="l" defTabSz="914400" rtl="0" eaLnBrk="1" fontAlgn="auto" latinLnBrk="0" hangingPunct="0">
              <a:lnSpc>
                <a:spcPct val="100000"/>
              </a:lnSpc>
              <a:spcBef>
                <a:spcPts val="0"/>
              </a:spcBef>
              <a:spcAft>
                <a:spcPts val="0"/>
              </a:spcAft>
              <a:buClrTx/>
              <a:buSzTx/>
              <a:buFontTx/>
              <a:buNone/>
              <a:tabLst/>
              <a:defRPr/>
            </a:pPr>
            <a:r>
              <a:rPr lang="en-US" sz="1200" u="sng" dirty="0"/>
              <a:t>Features of calling</a:t>
            </a:r>
            <a:r>
              <a:rPr lang="en-US" sz="1200" dirty="0"/>
              <a:t>: </a:t>
            </a:r>
          </a:p>
          <a:p>
            <a:pPr marL="228600" marR="0" indent="-228600" algn="l" defTabSz="914400" rtl="0" eaLnBrk="1" fontAlgn="auto" latinLnBrk="0" hangingPunct="0">
              <a:lnSpc>
                <a:spcPct val="100000"/>
              </a:lnSpc>
              <a:spcBef>
                <a:spcPts val="0"/>
              </a:spcBef>
              <a:spcAft>
                <a:spcPts val="0"/>
              </a:spcAft>
              <a:buClrTx/>
              <a:buSzTx/>
              <a:buFontTx/>
              <a:buAutoNum type="arabicParenR"/>
              <a:tabLst/>
              <a:defRPr/>
            </a:pPr>
            <a:r>
              <a:rPr lang="en-US" sz="1200" i="0" kern="1200" dirty="0">
                <a:solidFill>
                  <a:schemeClr val="tx1"/>
                </a:solidFill>
                <a:effectLst/>
                <a:latin typeface="+mn-lt"/>
                <a:ea typeface="+mn-ea"/>
                <a:cs typeface="+mn-cs"/>
              </a:rPr>
              <a:t>Action-orientation, that is, an emphasis on doing rather than simply being. Specifically, a calling refers to a course of action, an activity to be done. </a:t>
            </a:r>
          </a:p>
          <a:p>
            <a:pPr marL="228600" marR="0" indent="-228600" algn="l" defTabSz="914400" rtl="0" eaLnBrk="1" fontAlgn="auto" latinLnBrk="0" hangingPunct="0">
              <a:lnSpc>
                <a:spcPct val="100000"/>
              </a:lnSpc>
              <a:spcBef>
                <a:spcPts val="0"/>
              </a:spcBef>
              <a:spcAft>
                <a:spcPts val="0"/>
              </a:spcAft>
              <a:buClrTx/>
              <a:buSzTx/>
              <a:buFontTx/>
              <a:buAutoNum type="arabicParenR"/>
              <a:tabLst/>
              <a:defRPr/>
            </a:pPr>
            <a:r>
              <a:rPr lang="en-US" sz="1200" i="0" kern="1200" dirty="0">
                <a:solidFill>
                  <a:schemeClr val="tx1"/>
                </a:solidFill>
                <a:effectLst/>
                <a:latin typeface="+mn-lt"/>
                <a:ea typeface="+mn-ea"/>
                <a:cs typeface="+mn-cs"/>
              </a:rPr>
              <a:t>Sense of clarity of purpose, direction, meaning, and personal mission.</a:t>
            </a:r>
          </a:p>
          <a:p>
            <a:pPr marL="228600" marR="0" indent="-228600" algn="l" defTabSz="914400" rtl="0" eaLnBrk="1" fontAlgn="auto" latinLnBrk="0" hangingPunct="0">
              <a:lnSpc>
                <a:spcPct val="100000"/>
              </a:lnSpc>
              <a:spcBef>
                <a:spcPts val="0"/>
              </a:spcBef>
              <a:spcAft>
                <a:spcPts val="0"/>
              </a:spcAft>
              <a:buClrTx/>
              <a:buSzTx/>
              <a:buFontTx/>
              <a:buAutoNum type="arabicParenR"/>
              <a:tabLst/>
              <a:defRPr/>
            </a:pPr>
            <a:r>
              <a:rPr lang="en-US" sz="1200" i="0" kern="1200" dirty="0" err="1">
                <a:solidFill>
                  <a:schemeClr val="tx1"/>
                </a:solidFill>
                <a:effectLst/>
                <a:latin typeface="+mn-lt"/>
                <a:ea typeface="+mn-ea"/>
                <a:cs typeface="+mn-cs"/>
              </a:rPr>
              <a:t>Prosocial</a:t>
            </a:r>
            <a:r>
              <a:rPr lang="en-US" sz="1200" i="0" kern="1200" dirty="0">
                <a:solidFill>
                  <a:schemeClr val="tx1"/>
                </a:solidFill>
                <a:effectLst/>
                <a:latin typeface="+mn-lt"/>
                <a:ea typeface="+mn-ea"/>
                <a:cs typeface="+mn-cs"/>
              </a:rPr>
              <a:t> intention, that is, a desire to make the world a better place.</a:t>
            </a:r>
          </a:p>
          <a:p>
            <a:pPr marL="228600" marR="0" indent="-228600" algn="l" defTabSz="914400" rtl="0" eaLnBrk="1" fontAlgn="auto" latinLnBrk="0" hangingPunct="0">
              <a:lnSpc>
                <a:spcPct val="100000"/>
              </a:lnSpc>
              <a:spcBef>
                <a:spcPts val="0"/>
              </a:spcBef>
              <a:spcAft>
                <a:spcPts val="0"/>
              </a:spcAft>
              <a:buClrTx/>
              <a:buSzTx/>
              <a:buFontTx/>
              <a:buAutoNum type="arabicParenR"/>
              <a:tabLst/>
              <a:defRPr/>
            </a:pPr>
            <a:endParaRPr lang="en-US" sz="1200" i="0" kern="1200" dirty="0">
              <a:solidFill>
                <a:schemeClr val="tx1"/>
              </a:solidFill>
              <a:effectLst/>
              <a:latin typeface="+mn-lt"/>
              <a:ea typeface="+mn-ea"/>
              <a:cs typeface="+mn-cs"/>
            </a:endParaRPr>
          </a:p>
          <a:p>
            <a:pPr marL="0" marR="0" lvl="0" indent="0" algn="l" defTabSz="914400" rtl="0" eaLnBrk="1" fontAlgn="auto" latinLnBrk="0" hangingPunct="0">
              <a:lnSpc>
                <a:spcPct val="100000"/>
              </a:lnSpc>
              <a:spcBef>
                <a:spcPts val="0"/>
              </a:spcBef>
              <a:spcAft>
                <a:spcPts val="0"/>
              </a:spcAft>
              <a:buClrTx/>
              <a:buSzTx/>
              <a:buFontTx/>
              <a:buNone/>
              <a:tabLst/>
              <a:defRPr/>
            </a:pPr>
            <a:r>
              <a:rPr lang="en-US" sz="1200" i="0" u="sng" dirty="0"/>
              <a:t>People who regard their work as calling reap benefits</a:t>
            </a:r>
            <a:r>
              <a:rPr lang="en-US" sz="1200" dirty="0"/>
              <a:t>: </a:t>
            </a:r>
            <a:r>
              <a:rPr lang="en-US" sz="1200" kern="1200" dirty="0">
                <a:solidFill>
                  <a:schemeClr val="tx1"/>
                </a:solidFill>
                <a:effectLst/>
                <a:latin typeface="+mn-lt"/>
                <a:ea typeface="+mn-ea"/>
                <a:cs typeface="+mn-cs"/>
              </a:rPr>
              <a:t>More focused career decision-making, higher motivation, increased job satisfaction, lower stress and frustration, stronger organizational commitment, and better organizational citizenship behavior.</a:t>
            </a:r>
            <a:r>
              <a:rPr lang="en-US" sz="1200" dirty="0"/>
              <a:t> </a:t>
            </a:r>
            <a:endParaRPr lang="en-IN" sz="1200" dirty="0"/>
          </a:p>
          <a:p>
            <a:pPr marL="228600" marR="0" indent="-228600" algn="l" defTabSz="914400" rtl="0" eaLnBrk="1" fontAlgn="auto" latinLnBrk="0" hangingPunct="0">
              <a:lnSpc>
                <a:spcPct val="100000"/>
              </a:lnSpc>
              <a:spcBef>
                <a:spcPts val="0"/>
              </a:spcBef>
              <a:spcAft>
                <a:spcPts val="0"/>
              </a:spcAft>
              <a:buClrTx/>
              <a:buSzTx/>
              <a:buFontTx/>
              <a:buAutoNum type="arabicParenR"/>
              <a:tabLst/>
              <a:defRPr/>
            </a:pPr>
            <a:endParaRPr lang="en-IN" sz="1200" i="0" kern="1200" dirty="0">
              <a:solidFill>
                <a:schemeClr val="tx1"/>
              </a:solidFill>
              <a:effectLst/>
              <a:latin typeface="+mn-lt"/>
              <a:ea typeface="+mn-ea"/>
              <a:cs typeface="+mn-cs"/>
            </a:endParaRPr>
          </a:p>
          <a:p>
            <a:pPr marL="0" marR="0" indent="0" algn="l" defTabSz="914400" rtl="0" eaLnBrk="1" fontAlgn="auto" latinLnBrk="0" hangingPunct="0">
              <a:lnSpc>
                <a:spcPct val="100000"/>
              </a:lnSpc>
              <a:spcBef>
                <a:spcPts val="0"/>
              </a:spcBef>
              <a:spcAft>
                <a:spcPts val="0"/>
              </a:spcAft>
              <a:buClrTx/>
              <a:buSzTx/>
              <a:buFontTx/>
              <a:buNone/>
              <a:tabLst/>
              <a:defRPr/>
            </a:pPr>
            <a:endParaRPr lang="en-IN" sz="1200" dirty="0"/>
          </a:p>
          <a:p>
            <a:pPr marL="0" marR="0" indent="0" algn="l" defTabSz="914400" rtl="0" eaLnBrk="1" fontAlgn="auto" latinLnBrk="0" hangingPunct="0">
              <a:lnSpc>
                <a:spcPct val="100000"/>
              </a:lnSpc>
              <a:spcBef>
                <a:spcPts val="0"/>
              </a:spcBef>
              <a:spcAft>
                <a:spcPts val="0"/>
              </a:spcAft>
              <a:buClrTx/>
              <a:buSzTx/>
              <a:buFontTx/>
              <a:buNone/>
              <a:tabLst/>
              <a:defRPr/>
            </a:pPr>
            <a:endParaRPr lang="en-IN" sz="1200" i="0" kern="1200" dirty="0">
              <a:solidFill>
                <a:schemeClr val="tx1"/>
              </a:solidFill>
              <a:effectLst/>
              <a:latin typeface="+mn-lt"/>
              <a:ea typeface="+mn-ea"/>
              <a:cs typeface="+mn-cs"/>
            </a:endParaRPr>
          </a:p>
          <a:p>
            <a:pPr marL="0" marR="0" indent="0" algn="l" defTabSz="914400" rtl="0" eaLnBrk="1" fontAlgn="auto" latinLnBrk="0" hangingPunct="0">
              <a:lnSpc>
                <a:spcPct val="100000"/>
              </a:lnSpc>
              <a:spcBef>
                <a:spcPts val="0"/>
              </a:spcBef>
              <a:spcAft>
                <a:spcPts val="0"/>
              </a:spcAft>
              <a:buClrTx/>
              <a:buSzTx/>
              <a:buFontTx/>
              <a:buNone/>
              <a:tabLst/>
              <a:defRPr/>
            </a:pPr>
            <a:endParaRPr lang="en-US" sz="1200" i="0" kern="1200" dirty="0">
              <a:solidFill>
                <a:schemeClr val="tx1"/>
              </a:solidFill>
              <a:effectLst/>
              <a:latin typeface="+mn-lt"/>
              <a:ea typeface="+mn-ea"/>
              <a:cs typeface="+mn-cs"/>
            </a:endParaRPr>
          </a:p>
          <a:p>
            <a:pPr hangingPunct="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39974C31-EB4A-4B21-8134-CB5741A1DC5F}" type="slidenum">
              <a:rPr lang="en-US" smtClean="0"/>
              <a:t>18</a:t>
            </a:fld>
            <a:endParaRPr lang="en-US"/>
          </a:p>
        </p:txBody>
      </p:sp>
    </p:spTree>
    <p:extLst>
      <p:ext uri="{BB962C8B-B14F-4D97-AF65-F5344CB8AC3E}">
        <p14:creationId xmlns:p14="http://schemas.microsoft.com/office/powerpoint/2010/main" val="38026381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0">
              <a:lnSpc>
                <a:spcPct val="100000"/>
              </a:lnSpc>
              <a:spcBef>
                <a:spcPts val="0"/>
              </a:spcBef>
              <a:spcAft>
                <a:spcPts val="0"/>
              </a:spcAft>
              <a:buClrTx/>
              <a:buSzTx/>
              <a:buFontTx/>
              <a:buNone/>
              <a:tabLst/>
              <a:defRPr/>
            </a:pPr>
            <a:r>
              <a:rPr lang="en-IN" sz="1200" u="sng" dirty="0"/>
              <a:t>Three views of occupation and explanation</a:t>
            </a:r>
            <a:r>
              <a:rPr lang="en-IN" sz="1200" dirty="0"/>
              <a:t>: Job, calling, career. Job </a:t>
            </a:r>
            <a:r>
              <a:rPr lang="en-US" sz="1200" kern="1200" dirty="0">
                <a:solidFill>
                  <a:schemeClr val="tx1"/>
                </a:solidFill>
                <a:effectLst/>
                <a:latin typeface="+mn-lt"/>
                <a:ea typeface="+mn-ea"/>
                <a:cs typeface="+mn-cs"/>
              </a:rPr>
              <a:t>focuses on the financial gains from work and on the necessity of work and earning a living. Career</a:t>
            </a:r>
            <a:r>
              <a:rPr lang="en-US" sz="1200" kern="1200" baseline="0" dirty="0">
                <a:solidFill>
                  <a:schemeClr val="tx1"/>
                </a:solidFill>
                <a:effectLst/>
                <a:latin typeface="+mn-lt"/>
                <a:ea typeface="+mn-ea"/>
                <a:cs typeface="+mn-cs"/>
              </a:rPr>
              <a:t> is </a:t>
            </a:r>
            <a:r>
              <a:rPr lang="en-US" sz="1200" kern="1200" dirty="0">
                <a:solidFill>
                  <a:schemeClr val="tx1"/>
                </a:solidFill>
                <a:effectLst/>
                <a:latin typeface="+mn-lt"/>
                <a:ea typeface="+mn-ea"/>
                <a:cs typeface="+mn-cs"/>
              </a:rPr>
              <a:t>a way to facilitate achievement motivation, stimulate their need for competition, or enhance prestige and satisfaction. Calling</a:t>
            </a:r>
            <a:r>
              <a:rPr lang="en-US" sz="1200" kern="1200" baseline="0" dirty="0">
                <a:solidFill>
                  <a:schemeClr val="tx1"/>
                </a:solidFill>
                <a:effectLst/>
                <a:latin typeface="+mn-lt"/>
                <a:ea typeface="+mn-ea"/>
                <a:cs typeface="+mn-cs"/>
              </a:rPr>
              <a:t> is</a:t>
            </a:r>
            <a:r>
              <a:rPr lang="en-US" sz="1200" kern="1200" dirty="0">
                <a:solidFill>
                  <a:schemeClr val="tx1"/>
                </a:solidFill>
                <a:effectLst/>
                <a:latin typeface="+mn-lt"/>
                <a:ea typeface="+mn-ea"/>
                <a:cs typeface="+mn-cs"/>
              </a:rPr>
              <a:t> a source of personal fulfillment; for many, this sense of fulfillment and meaning came from recognizing or simply believing that what they did had a socially useful purpose. </a:t>
            </a:r>
          </a:p>
          <a:p>
            <a:pPr marL="0" marR="0" indent="0" algn="l" defTabSz="914400" rtl="0" eaLnBrk="1" fontAlgn="auto" latinLnBrk="0" hangingPunct="0">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indent="0" algn="l" defTabSz="914400" rtl="0" eaLnBrk="1" fontAlgn="auto" latinLnBrk="0" hangingPunct="0">
              <a:lnSpc>
                <a:spcPct val="100000"/>
              </a:lnSpc>
              <a:spcBef>
                <a:spcPts val="0"/>
              </a:spcBef>
              <a:spcAft>
                <a:spcPts val="0"/>
              </a:spcAft>
              <a:buClrTx/>
              <a:buSzTx/>
              <a:buFontTx/>
              <a:buNone/>
              <a:tabLst/>
              <a:defRPr/>
            </a:pPr>
            <a:r>
              <a:rPr lang="en-US" sz="1200" u="sng" dirty="0"/>
              <a:t>Features of calling</a:t>
            </a:r>
            <a:r>
              <a:rPr lang="en-US" sz="1200" dirty="0"/>
              <a:t>: </a:t>
            </a:r>
          </a:p>
          <a:p>
            <a:pPr marL="228600" marR="0" indent="-228600" algn="l" defTabSz="914400" rtl="0" eaLnBrk="1" fontAlgn="auto" latinLnBrk="0" hangingPunct="0">
              <a:lnSpc>
                <a:spcPct val="100000"/>
              </a:lnSpc>
              <a:spcBef>
                <a:spcPts val="0"/>
              </a:spcBef>
              <a:spcAft>
                <a:spcPts val="0"/>
              </a:spcAft>
              <a:buClrTx/>
              <a:buSzTx/>
              <a:buFontTx/>
              <a:buAutoNum type="arabicParenR"/>
              <a:tabLst/>
              <a:defRPr/>
            </a:pPr>
            <a:r>
              <a:rPr lang="en-US" sz="1200" i="0" kern="1200" dirty="0">
                <a:solidFill>
                  <a:schemeClr val="tx1"/>
                </a:solidFill>
                <a:effectLst/>
                <a:latin typeface="+mn-lt"/>
                <a:ea typeface="+mn-ea"/>
                <a:cs typeface="+mn-cs"/>
              </a:rPr>
              <a:t>Action-orientation, that is, an emphasis on doing rather than simply being. Specifically, a calling refers to a course of action, an activity to be done. </a:t>
            </a:r>
          </a:p>
          <a:p>
            <a:pPr marL="228600" marR="0" indent="-228600" algn="l" defTabSz="914400" rtl="0" eaLnBrk="1" fontAlgn="auto" latinLnBrk="0" hangingPunct="0">
              <a:lnSpc>
                <a:spcPct val="100000"/>
              </a:lnSpc>
              <a:spcBef>
                <a:spcPts val="0"/>
              </a:spcBef>
              <a:spcAft>
                <a:spcPts val="0"/>
              </a:spcAft>
              <a:buClrTx/>
              <a:buSzTx/>
              <a:buFontTx/>
              <a:buAutoNum type="arabicParenR"/>
              <a:tabLst/>
              <a:defRPr/>
            </a:pPr>
            <a:r>
              <a:rPr lang="en-US" sz="1200" i="0" kern="1200" dirty="0">
                <a:solidFill>
                  <a:schemeClr val="tx1"/>
                </a:solidFill>
                <a:effectLst/>
                <a:latin typeface="+mn-lt"/>
                <a:ea typeface="+mn-ea"/>
                <a:cs typeface="+mn-cs"/>
              </a:rPr>
              <a:t>Sense of clarity of purpose, direction, meaning, and personal mission.</a:t>
            </a:r>
          </a:p>
          <a:p>
            <a:pPr marL="228600" marR="0" indent="-228600" algn="l" defTabSz="914400" rtl="0" eaLnBrk="1" fontAlgn="auto" latinLnBrk="0" hangingPunct="0">
              <a:lnSpc>
                <a:spcPct val="100000"/>
              </a:lnSpc>
              <a:spcBef>
                <a:spcPts val="0"/>
              </a:spcBef>
              <a:spcAft>
                <a:spcPts val="0"/>
              </a:spcAft>
              <a:buClrTx/>
              <a:buSzTx/>
              <a:buFontTx/>
              <a:buAutoNum type="arabicParenR"/>
              <a:tabLst/>
              <a:defRPr/>
            </a:pPr>
            <a:r>
              <a:rPr lang="en-US" sz="1200" i="0" kern="1200" dirty="0" err="1">
                <a:solidFill>
                  <a:schemeClr val="tx1"/>
                </a:solidFill>
                <a:effectLst/>
                <a:latin typeface="+mn-lt"/>
                <a:ea typeface="+mn-ea"/>
                <a:cs typeface="+mn-cs"/>
              </a:rPr>
              <a:t>Prosocial</a:t>
            </a:r>
            <a:r>
              <a:rPr lang="en-US" sz="1200" i="0" kern="1200" dirty="0">
                <a:solidFill>
                  <a:schemeClr val="tx1"/>
                </a:solidFill>
                <a:effectLst/>
                <a:latin typeface="+mn-lt"/>
                <a:ea typeface="+mn-ea"/>
                <a:cs typeface="+mn-cs"/>
              </a:rPr>
              <a:t> intention, that is, a desire to make the world a better place.</a:t>
            </a:r>
          </a:p>
          <a:p>
            <a:pPr marL="228600" marR="0" indent="-228600" algn="l" defTabSz="914400" rtl="0" eaLnBrk="1" fontAlgn="auto" latinLnBrk="0" hangingPunct="0">
              <a:lnSpc>
                <a:spcPct val="100000"/>
              </a:lnSpc>
              <a:spcBef>
                <a:spcPts val="0"/>
              </a:spcBef>
              <a:spcAft>
                <a:spcPts val="0"/>
              </a:spcAft>
              <a:buClrTx/>
              <a:buSzTx/>
              <a:buFontTx/>
              <a:buAutoNum type="arabicParenR"/>
              <a:tabLst/>
              <a:defRPr/>
            </a:pPr>
            <a:endParaRPr lang="en-US" sz="1200" i="0" kern="1200" dirty="0">
              <a:solidFill>
                <a:schemeClr val="tx1"/>
              </a:solidFill>
              <a:effectLst/>
              <a:latin typeface="+mn-lt"/>
              <a:ea typeface="+mn-ea"/>
              <a:cs typeface="+mn-cs"/>
            </a:endParaRPr>
          </a:p>
          <a:p>
            <a:pPr marL="0" marR="0" lvl="0" indent="0" algn="l" defTabSz="914400" rtl="0" eaLnBrk="1" fontAlgn="auto" latinLnBrk="0" hangingPunct="0">
              <a:lnSpc>
                <a:spcPct val="100000"/>
              </a:lnSpc>
              <a:spcBef>
                <a:spcPts val="0"/>
              </a:spcBef>
              <a:spcAft>
                <a:spcPts val="0"/>
              </a:spcAft>
              <a:buClrTx/>
              <a:buSzTx/>
              <a:buFontTx/>
              <a:buNone/>
              <a:tabLst/>
              <a:defRPr/>
            </a:pPr>
            <a:r>
              <a:rPr lang="en-US" sz="1200" i="0" u="sng" dirty="0"/>
              <a:t>People who regard their work as calling reap benefits</a:t>
            </a:r>
            <a:r>
              <a:rPr lang="en-US" sz="1200" dirty="0"/>
              <a:t>: </a:t>
            </a:r>
            <a:r>
              <a:rPr lang="en-US" sz="1200" kern="1200" dirty="0">
                <a:solidFill>
                  <a:schemeClr val="tx1"/>
                </a:solidFill>
                <a:effectLst/>
                <a:latin typeface="+mn-lt"/>
                <a:ea typeface="+mn-ea"/>
                <a:cs typeface="+mn-cs"/>
              </a:rPr>
              <a:t>More focused career decision-making, higher motivation, increased job satisfaction, lower stress and frustration, stronger organizational commitment, and better organizational citizenship behavior.</a:t>
            </a:r>
            <a:r>
              <a:rPr lang="en-US" sz="1200" dirty="0"/>
              <a:t> </a:t>
            </a:r>
            <a:endParaRPr lang="en-IN" sz="1200" dirty="0"/>
          </a:p>
          <a:p>
            <a:pPr marL="228600" marR="0" indent="-228600" algn="l" defTabSz="914400" rtl="0" eaLnBrk="1" fontAlgn="auto" latinLnBrk="0" hangingPunct="0">
              <a:lnSpc>
                <a:spcPct val="100000"/>
              </a:lnSpc>
              <a:spcBef>
                <a:spcPts val="0"/>
              </a:spcBef>
              <a:spcAft>
                <a:spcPts val="0"/>
              </a:spcAft>
              <a:buClrTx/>
              <a:buSzTx/>
              <a:buFontTx/>
              <a:buAutoNum type="arabicParenR"/>
              <a:tabLst/>
              <a:defRPr/>
            </a:pPr>
            <a:endParaRPr lang="en-IN" sz="1200" i="0" kern="1200" dirty="0">
              <a:solidFill>
                <a:schemeClr val="tx1"/>
              </a:solidFill>
              <a:effectLst/>
              <a:latin typeface="+mn-lt"/>
              <a:ea typeface="+mn-ea"/>
              <a:cs typeface="+mn-cs"/>
            </a:endParaRPr>
          </a:p>
          <a:p>
            <a:pPr marL="0" marR="0" indent="0" algn="l" defTabSz="914400" rtl="0" eaLnBrk="1" fontAlgn="auto" latinLnBrk="0" hangingPunct="0">
              <a:lnSpc>
                <a:spcPct val="100000"/>
              </a:lnSpc>
              <a:spcBef>
                <a:spcPts val="0"/>
              </a:spcBef>
              <a:spcAft>
                <a:spcPts val="0"/>
              </a:spcAft>
              <a:buClrTx/>
              <a:buSzTx/>
              <a:buFontTx/>
              <a:buNone/>
              <a:tabLst/>
              <a:defRPr/>
            </a:pPr>
            <a:endParaRPr lang="en-IN" sz="1200" dirty="0"/>
          </a:p>
          <a:p>
            <a:pPr marL="0" marR="0" indent="0" algn="l" defTabSz="914400" rtl="0" eaLnBrk="1" fontAlgn="auto" latinLnBrk="0" hangingPunct="0">
              <a:lnSpc>
                <a:spcPct val="100000"/>
              </a:lnSpc>
              <a:spcBef>
                <a:spcPts val="0"/>
              </a:spcBef>
              <a:spcAft>
                <a:spcPts val="0"/>
              </a:spcAft>
              <a:buClrTx/>
              <a:buSzTx/>
              <a:buFontTx/>
              <a:buNone/>
              <a:tabLst/>
              <a:defRPr/>
            </a:pPr>
            <a:endParaRPr lang="en-IN" sz="1200" i="0" kern="1200" dirty="0">
              <a:solidFill>
                <a:schemeClr val="tx1"/>
              </a:solidFill>
              <a:effectLst/>
              <a:latin typeface="+mn-lt"/>
              <a:ea typeface="+mn-ea"/>
              <a:cs typeface="+mn-cs"/>
            </a:endParaRPr>
          </a:p>
          <a:p>
            <a:pPr marL="0" marR="0" indent="0" algn="l" defTabSz="914400" rtl="0" eaLnBrk="1" fontAlgn="auto" latinLnBrk="0" hangingPunct="0">
              <a:lnSpc>
                <a:spcPct val="100000"/>
              </a:lnSpc>
              <a:spcBef>
                <a:spcPts val="0"/>
              </a:spcBef>
              <a:spcAft>
                <a:spcPts val="0"/>
              </a:spcAft>
              <a:buClrTx/>
              <a:buSzTx/>
              <a:buFontTx/>
              <a:buNone/>
              <a:tabLst/>
              <a:defRPr/>
            </a:pPr>
            <a:endParaRPr lang="en-US" sz="1200" i="0" kern="1200" dirty="0">
              <a:solidFill>
                <a:schemeClr val="tx1"/>
              </a:solidFill>
              <a:effectLst/>
              <a:latin typeface="+mn-lt"/>
              <a:ea typeface="+mn-ea"/>
              <a:cs typeface="+mn-cs"/>
            </a:endParaRPr>
          </a:p>
          <a:p>
            <a:pPr hangingPunct="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39974C31-EB4A-4B21-8134-CB5741A1DC5F}" type="slidenum">
              <a:rPr lang="en-US" smtClean="0"/>
              <a:t>19</a:t>
            </a:fld>
            <a:endParaRPr lang="en-US"/>
          </a:p>
        </p:txBody>
      </p:sp>
    </p:spTree>
    <p:extLst>
      <p:ext uri="{BB962C8B-B14F-4D97-AF65-F5344CB8AC3E}">
        <p14:creationId xmlns:p14="http://schemas.microsoft.com/office/powerpoint/2010/main" val="25059762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734381"/>
            <a:ext cx="7886700" cy="2852737"/>
          </a:xfrm>
        </p:spPr>
        <p:txBody>
          <a:bodyPr anchor="ctr"/>
          <a:lstStyle>
            <a:lvl1pPr algn="ctr">
              <a:defRPr sz="6000"/>
            </a:lvl1pPr>
          </a:lstStyle>
          <a:p>
            <a:r>
              <a:rPr lang="en-US" dirty="0"/>
              <a:t>Click to edit Master title style</a:t>
            </a:r>
          </a:p>
        </p:txBody>
      </p:sp>
      <p:sp>
        <p:nvSpPr>
          <p:cNvPr id="3" name="Text Placeholder 2"/>
          <p:cNvSpPr>
            <a:spLocks noGrp="1"/>
          </p:cNvSpPr>
          <p:nvPr>
            <p:ph type="body" idx="1"/>
          </p:nvPr>
        </p:nvSpPr>
        <p:spPr>
          <a:xfrm>
            <a:off x="623888" y="3587118"/>
            <a:ext cx="7886700" cy="1500187"/>
          </a:xfrm>
        </p:spPr>
        <p:txBody>
          <a:bodyPr>
            <a:normAutofit/>
          </a:bodyPr>
          <a:lstStyle>
            <a:lvl1pPr marL="0" indent="0" algn="ctr">
              <a:buNone/>
              <a:defRPr sz="4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7" name="Footer Placeholder 6"/>
          <p:cNvSpPr>
            <a:spLocks noGrp="1"/>
          </p:cNvSpPr>
          <p:nvPr>
            <p:ph type="ftr" sz="quarter" idx="10"/>
          </p:nvPr>
        </p:nvSpPr>
        <p:spPr/>
        <p:txBody>
          <a:bodyPr/>
          <a:lstStyle/>
          <a:p>
            <a:r>
              <a:rPr lang="en-US" dirty="0"/>
              <a:t>The Science of Positive Psychology © Cambridge University Press 2021</a:t>
            </a:r>
          </a:p>
        </p:txBody>
      </p:sp>
    </p:spTree>
    <p:extLst>
      <p:ext uri="{BB962C8B-B14F-4D97-AF65-F5344CB8AC3E}">
        <p14:creationId xmlns:p14="http://schemas.microsoft.com/office/powerpoint/2010/main" val="41661008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7" name="Title 6"/>
          <p:cNvSpPr>
            <a:spLocks noGrp="1"/>
          </p:cNvSpPr>
          <p:nvPr>
            <p:ph type="title"/>
          </p:nvPr>
        </p:nvSpPr>
        <p:spPr/>
        <p:txBody>
          <a:bodyPr/>
          <a:lstStyle/>
          <a:p>
            <a:r>
              <a:rPr lang="en-US" dirty="0"/>
              <a:t>Click to edit Master title style</a:t>
            </a:r>
          </a:p>
        </p:txBody>
      </p:sp>
      <p:sp>
        <p:nvSpPr>
          <p:cNvPr id="5" name="Footer Placeholder 4"/>
          <p:cNvSpPr>
            <a:spLocks noGrp="1"/>
          </p:cNvSpPr>
          <p:nvPr>
            <p:ph type="ftr" sz="quarter" idx="11"/>
          </p:nvPr>
        </p:nvSpPr>
        <p:spPr>
          <a:xfrm>
            <a:off x="2002155" y="6451713"/>
            <a:ext cx="5139690" cy="276999"/>
          </a:xfrm>
        </p:spPr>
        <p:txBody>
          <a:bodyPr/>
          <a:lstStyle/>
          <a:p>
            <a:r>
              <a:rPr lang="en-US" dirty="0"/>
              <a:t>The Science of Positive Psychology © Cambridge University Press 2021</a:t>
            </a:r>
          </a:p>
        </p:txBody>
      </p:sp>
    </p:spTree>
    <p:extLst>
      <p:ext uri="{BB962C8B-B14F-4D97-AF65-F5344CB8AC3E}">
        <p14:creationId xmlns:p14="http://schemas.microsoft.com/office/powerpoint/2010/main" val="38360782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a:xfrm>
            <a:off x="2002155" y="6447131"/>
            <a:ext cx="5139690" cy="276999"/>
          </a:xfrm>
        </p:spPr>
        <p:txBody>
          <a:bodyPr/>
          <a:lstStyle/>
          <a:p>
            <a:r>
              <a:rPr lang="en-US" dirty="0"/>
              <a:t>The Science of Positive Psychology © Cambridge University Press 2021</a:t>
            </a:r>
          </a:p>
        </p:txBody>
      </p:sp>
    </p:spTree>
    <p:extLst>
      <p:ext uri="{BB962C8B-B14F-4D97-AF65-F5344CB8AC3E}">
        <p14:creationId xmlns:p14="http://schemas.microsoft.com/office/powerpoint/2010/main" val="3706566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9" name="Rectangle 8"/>
          <p:cNvSpPr/>
          <p:nvPr/>
        </p:nvSpPr>
        <p:spPr>
          <a:xfrm>
            <a:off x="0" y="0"/>
            <a:ext cx="9144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9"/>
          <p:cNvSpPr/>
          <p:nvPr/>
        </p:nvSpPr>
        <p:spPr>
          <a:xfrm>
            <a:off x="4762" y="0"/>
            <a:ext cx="9139239" cy="4572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42900" y="4960137"/>
            <a:ext cx="5829300" cy="1463040"/>
          </a:xfrm>
        </p:spPr>
        <p:txBody>
          <a:bodyPr anchor="ctr">
            <a:normAutofit/>
          </a:bodyPr>
          <a:lstStyle>
            <a:lvl1pPr algn="r">
              <a:defRPr sz="4400" spc="200" baseline="0"/>
            </a:lvl1pPr>
          </a:lstStyle>
          <a:p>
            <a:r>
              <a:rPr lang="en-US"/>
              <a:t>Click to edit Master title style</a:t>
            </a:r>
            <a:endParaRPr lang="en-US" dirty="0"/>
          </a:p>
        </p:txBody>
      </p:sp>
      <p:sp>
        <p:nvSpPr>
          <p:cNvPr id="3" name="Subtitle 2"/>
          <p:cNvSpPr>
            <a:spLocks noGrp="1"/>
          </p:cNvSpPr>
          <p:nvPr>
            <p:ph type="subTitle" idx="1"/>
          </p:nvPr>
        </p:nvSpPr>
        <p:spPr>
          <a:xfrm>
            <a:off x="6457950" y="4960137"/>
            <a:ext cx="2400300" cy="1463040"/>
          </a:xfrm>
        </p:spPr>
        <p:txBody>
          <a:bodyPr lIns="91440" rIns="91440" anchor="ctr">
            <a:normAutofit/>
          </a:bodyPr>
          <a:lstStyle>
            <a:lvl1pPr marL="0" indent="0" algn="l">
              <a:lnSpc>
                <a:spcPct val="100000"/>
              </a:lnSpc>
              <a:spcBef>
                <a:spcPts val="0"/>
              </a:spcBef>
              <a:buNone/>
              <a:defRPr sz="160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pPr eaLnBrk="1" latinLnBrk="0" hangingPunct="1"/>
            <a:fld id="{9D21D778-B565-4D7E-94D7-64010A445B68}" type="datetimeFigureOut">
              <a:rPr lang="en-US" smtClean="0"/>
              <a:pPr eaLnBrk="1" latinLnBrk="0" hangingPunct="1"/>
              <a:t>5/31/2025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2C6B1FF6-39B9-40F5-8B67-33C6354A3D4F}" type="slidenum">
              <a:rPr kumimoji="0" lang="en-US" smtClean="0"/>
              <a:pPr eaLnBrk="1" latinLnBrk="0" hangingPunct="1"/>
              <a:t>‹#›</a:t>
            </a:fld>
            <a:endParaRPr kumimoji="0" lang="en-US" dirty="0">
              <a:solidFill>
                <a:schemeClr val="accent3">
                  <a:shade val="75000"/>
                </a:schemeClr>
              </a:solidFill>
            </a:endParaRPr>
          </a:p>
        </p:txBody>
      </p:sp>
      <p:cxnSp>
        <p:nvCxnSpPr>
          <p:cNvPr id="8" name="Straight Connector 7"/>
          <p:cNvCxnSpPr/>
          <p:nvPr/>
        </p:nvCxnSpPr>
        <p:spPr>
          <a:xfrm flipV="1">
            <a:off x="6290132"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66311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eaLnBrk="1" latinLnBrk="0" hangingPunct="1"/>
            <a:fld id="{9D21D778-B565-4D7E-94D7-64010A445B68}" type="datetimeFigureOut">
              <a:rPr lang="en-US" smtClean="0"/>
              <a:pPr eaLnBrk="1" latinLnBrk="0" hangingPunct="1"/>
              <a:t>5/31/2025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2C6B1FF6-39B9-40F5-8B67-33C6354A3D4F}" type="slidenum">
              <a:rPr kumimoji="0" lang="en-US" smtClean="0"/>
              <a:pPr eaLnBrk="1" latinLnBrk="0" hangingPunct="1"/>
              <a:t>‹#›</a:t>
            </a:fld>
            <a:endParaRPr kumimoji="0" lang="en-US" dirty="0"/>
          </a:p>
        </p:txBody>
      </p:sp>
    </p:spTree>
    <p:extLst>
      <p:ext uri="{BB962C8B-B14F-4D97-AF65-F5344CB8AC3E}">
        <p14:creationId xmlns:p14="http://schemas.microsoft.com/office/powerpoint/2010/main" val="5964283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9144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Freeform 10"/>
          <p:cNvSpPr/>
          <p:nvPr/>
        </p:nvSpPr>
        <p:spPr>
          <a:xfrm>
            <a:off x="4762" y="0"/>
            <a:ext cx="9139239" cy="4572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4960137"/>
            <a:ext cx="5829300" cy="1463040"/>
          </a:xfrm>
        </p:spPr>
        <p:txBody>
          <a:bodyPr anchor="ctr">
            <a:normAutofit/>
          </a:bodyPr>
          <a:lstStyle>
            <a:lvl1pPr algn="r">
              <a:defRPr sz="44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6457950" y="4960137"/>
            <a:ext cx="24003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eaLnBrk="1" latinLnBrk="0" hangingPunct="1"/>
            <a:fld id="{9D21D778-B565-4D7E-94D7-64010A445B68}" type="datetimeFigureOut">
              <a:rPr lang="en-US" smtClean="0"/>
              <a:pPr eaLnBrk="1" latinLnBrk="0" hangingPunct="1"/>
              <a:t>5/31/2025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2C6B1FF6-39B9-40F5-8B67-33C6354A3D4F}" type="slidenum">
              <a:rPr kumimoji="0" lang="en-US" smtClean="0"/>
              <a:pPr eaLnBrk="1" latinLnBrk="0" hangingPunct="1"/>
              <a:t>‹#›</a:t>
            </a:fld>
            <a:endParaRPr kumimoji="0" lang="en-US" dirty="0">
              <a:solidFill>
                <a:schemeClr val="accent3">
                  <a:shade val="75000"/>
                </a:schemeClr>
              </a:solidFill>
            </a:endParaRPr>
          </a:p>
        </p:txBody>
      </p:sp>
      <p:cxnSp>
        <p:nvCxnSpPr>
          <p:cNvPr id="8" name="Straight Connector 7"/>
          <p:cNvCxnSpPr/>
          <p:nvPr/>
        </p:nvCxnSpPr>
        <p:spPr>
          <a:xfrm flipV="1">
            <a:off x="6290132"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53721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7290054"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768096" y="2286000"/>
            <a:ext cx="35661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91990" y="2286000"/>
            <a:ext cx="35661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eaLnBrk="1" latinLnBrk="0" hangingPunct="1"/>
            <a:fld id="{9D21D778-B565-4D7E-94D7-64010A445B68}" type="datetimeFigureOut">
              <a:rPr lang="en-US" smtClean="0"/>
              <a:pPr eaLnBrk="1" latinLnBrk="0" hangingPunct="1"/>
              <a:t>5/31/2025</a:t>
            </a:fld>
            <a:endParaRPr lang="en-US"/>
          </a:p>
        </p:txBody>
      </p:sp>
      <p:sp>
        <p:nvSpPr>
          <p:cNvPr id="6" name="Footer Placeholder 5"/>
          <p:cNvSpPr>
            <a:spLocks noGrp="1"/>
          </p:cNvSpPr>
          <p:nvPr>
            <p:ph type="ftr" sz="quarter" idx="11"/>
          </p:nvPr>
        </p:nvSpPr>
        <p:spPr/>
        <p:txBody>
          <a:bodyPr/>
          <a:lstStyle/>
          <a:p>
            <a:endParaRPr kumimoji="0" lang="en-US" dirty="0"/>
          </a:p>
        </p:txBody>
      </p:sp>
      <p:sp>
        <p:nvSpPr>
          <p:cNvPr id="7" name="Slide Number Placeholder 6"/>
          <p:cNvSpPr>
            <a:spLocks noGrp="1"/>
          </p:cNvSpPr>
          <p:nvPr>
            <p:ph type="sldNum" sz="quarter" idx="12"/>
          </p:nvPr>
        </p:nvSpPr>
        <p:spPr/>
        <p:txBody>
          <a:bodyPr/>
          <a:lstStyle/>
          <a:p>
            <a:fld id="{2C6B1FF6-39B9-40F5-8B67-33C6354A3D4F}" type="slidenum">
              <a:rPr kumimoji="0" lang="en-US" smtClean="0"/>
              <a:pPr eaLnBrk="1" latinLnBrk="0" hangingPunct="1"/>
              <a:t>‹#›</a:t>
            </a:fld>
            <a:endParaRPr kumimoji="0" lang="en-US"/>
          </a:p>
        </p:txBody>
      </p:sp>
    </p:spTree>
    <p:extLst>
      <p:ext uri="{BB962C8B-B14F-4D97-AF65-F5344CB8AC3E}">
        <p14:creationId xmlns:p14="http://schemas.microsoft.com/office/powerpoint/2010/main" val="22607779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768096" y="585216"/>
            <a:ext cx="7290054" cy="14996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768096" y="2179636"/>
            <a:ext cx="3566160" cy="822960"/>
          </a:xfrm>
        </p:spPr>
        <p:txBody>
          <a:bodyPr lIns="137160" rIns="137160" anchor="ctr">
            <a:normAutofit/>
          </a:bodyPr>
          <a:lstStyle>
            <a:lvl1pPr marL="0" indent="0">
              <a:spcBef>
                <a:spcPts val="0"/>
              </a:spcBef>
              <a:spcAft>
                <a:spcPts val="0"/>
              </a:spcAft>
              <a:buNone/>
              <a:defRPr sz="22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768096" y="2967788"/>
            <a:ext cx="3566160" cy="33415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91990" y="2179636"/>
            <a:ext cx="3566160" cy="822960"/>
          </a:xfrm>
        </p:spPr>
        <p:txBody>
          <a:bodyPr lIns="137160" rIns="137160" anchor="ctr">
            <a:normAutofit/>
          </a:bodyPr>
          <a:lstStyle>
            <a:lvl1pPr marL="0" indent="0">
              <a:spcBef>
                <a:spcPts val="0"/>
              </a:spcBef>
              <a:spcAft>
                <a:spcPts val="0"/>
              </a:spcAft>
              <a:buNone/>
              <a:defRPr lang="en-US" sz="22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Edit Master text styles</a:t>
            </a:r>
          </a:p>
        </p:txBody>
      </p:sp>
      <p:sp>
        <p:nvSpPr>
          <p:cNvPr id="6" name="Content Placeholder 5"/>
          <p:cNvSpPr>
            <a:spLocks noGrp="1"/>
          </p:cNvSpPr>
          <p:nvPr>
            <p:ph sz="quarter" idx="4"/>
          </p:nvPr>
        </p:nvSpPr>
        <p:spPr>
          <a:xfrm>
            <a:off x="4491990" y="2967788"/>
            <a:ext cx="3566160" cy="33415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eaLnBrk="1" latinLnBrk="0" hangingPunct="1"/>
            <a:fld id="{9D21D778-B565-4D7E-94D7-64010A445B68}" type="datetimeFigureOut">
              <a:rPr lang="en-US" smtClean="0"/>
              <a:pPr eaLnBrk="1" latinLnBrk="0" hangingPunct="1"/>
              <a:t>5/31/2025</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pPr algn="ctr" eaLnBrk="1" latinLnBrk="0" hangingPunct="1"/>
            <a:fld id="{2C6B1FF6-39B9-40F5-8B67-33C6354A3D4F}" type="slidenum">
              <a:rPr kumimoji="0" lang="en-US" smtClean="0"/>
              <a:pPr algn="ctr" eaLnBrk="1" latinLnBrk="0" hangingPunct="1"/>
              <a:t>‹#›</a:t>
            </a:fld>
            <a:endParaRPr kumimoji="0" lang="en-US" dirty="0"/>
          </a:p>
        </p:txBody>
      </p:sp>
    </p:spTree>
    <p:extLst>
      <p:ext uri="{BB962C8B-B14F-4D97-AF65-F5344CB8AC3E}">
        <p14:creationId xmlns:p14="http://schemas.microsoft.com/office/powerpoint/2010/main" val="32619871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eaLnBrk="1" latinLnBrk="0" hangingPunct="1"/>
            <a:fld id="{9D21D778-B565-4D7E-94D7-64010A445B68}" type="datetimeFigureOut">
              <a:rPr lang="en-US" smtClean="0"/>
              <a:pPr eaLnBrk="1" latinLnBrk="0" hangingPunct="1"/>
              <a:t>5/31/2025</a:t>
            </a:fld>
            <a:endParaRPr lang="en-US"/>
          </a:p>
        </p:txBody>
      </p:sp>
      <p:sp>
        <p:nvSpPr>
          <p:cNvPr id="4" name="Footer Placeholder 3"/>
          <p:cNvSpPr>
            <a:spLocks noGrp="1"/>
          </p:cNvSpPr>
          <p:nvPr>
            <p:ph type="ftr" sz="quarter" idx="11"/>
          </p:nvPr>
        </p:nvSpPr>
        <p:spPr/>
        <p:txBody>
          <a:bodyPr/>
          <a:lstStyle/>
          <a:p>
            <a:endParaRPr kumimoji="0" lang="en-US" dirty="0"/>
          </a:p>
        </p:txBody>
      </p:sp>
      <p:sp>
        <p:nvSpPr>
          <p:cNvPr id="5" name="Slide Number Placeholder 4"/>
          <p:cNvSpPr>
            <a:spLocks noGrp="1"/>
          </p:cNvSpPr>
          <p:nvPr>
            <p:ph type="sldNum" sz="quarter" idx="12"/>
          </p:nvPr>
        </p:nvSpPr>
        <p:spPr/>
        <p:txBody>
          <a:bodyPr/>
          <a:lstStyle/>
          <a:p>
            <a:fld id="{2C6B1FF6-39B9-40F5-8B67-33C6354A3D4F}" type="slidenum">
              <a:rPr kumimoji="0" lang="en-US" smtClean="0"/>
              <a:pPr eaLnBrk="1" latinLnBrk="0" hangingPunct="1"/>
              <a:t>‹#›</a:t>
            </a:fld>
            <a:endParaRPr kumimoji="0" lang="en-US" dirty="0"/>
          </a:p>
        </p:txBody>
      </p:sp>
    </p:spTree>
    <p:extLst>
      <p:ext uri="{BB962C8B-B14F-4D97-AF65-F5344CB8AC3E}">
        <p14:creationId xmlns:p14="http://schemas.microsoft.com/office/powerpoint/2010/main" val="6966753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9D21D778-B565-4D7E-94D7-64010A445B68}" type="datetimeFigureOut">
              <a:rPr lang="en-US" smtClean="0"/>
              <a:pPr eaLnBrk="1" latinLnBrk="0" hangingPunct="1"/>
              <a:t>5/31/2025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2C6B1FF6-39B9-40F5-8B67-33C6354A3D4F}" type="slidenum">
              <a:rPr kumimoji="0" lang="en-US" smtClean="0"/>
              <a:pPr eaLnBrk="1" latinLnBrk="0" hangingPunct="1"/>
              <a:t>‹#›</a:t>
            </a:fld>
            <a:endParaRPr kumimoji="0" lang="en-US" dirty="0">
              <a:solidFill>
                <a:srgbClr val="FFFFFF"/>
              </a:solidFill>
            </a:endParaRPr>
          </a:p>
        </p:txBody>
      </p:sp>
    </p:spTree>
    <p:extLst>
      <p:ext uri="{BB962C8B-B14F-4D97-AF65-F5344CB8AC3E}">
        <p14:creationId xmlns:p14="http://schemas.microsoft.com/office/powerpoint/2010/main" val="28841237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768096" y="471509"/>
            <a:ext cx="3291840" cy="1737360"/>
          </a:xfrm>
        </p:spPr>
        <p:txBody>
          <a:bodyPr>
            <a:noAutofit/>
          </a:bodyPr>
          <a:lstStyle>
            <a:lvl1pPr>
              <a:lnSpc>
                <a:spcPct val="80000"/>
              </a:lnSpc>
              <a:defRPr sz="3600"/>
            </a:lvl1pPr>
          </a:lstStyle>
          <a:p>
            <a:r>
              <a:rPr lang="en-US"/>
              <a:t>Click to edit Master title style</a:t>
            </a:r>
            <a:endParaRPr lang="en-US" dirty="0"/>
          </a:p>
        </p:txBody>
      </p:sp>
      <p:sp>
        <p:nvSpPr>
          <p:cNvPr id="3" name="Content Placeholder 2"/>
          <p:cNvSpPr>
            <a:spLocks noGrp="1"/>
          </p:cNvSpPr>
          <p:nvPr>
            <p:ph idx="1"/>
          </p:nvPr>
        </p:nvSpPr>
        <p:spPr>
          <a:xfrm>
            <a:off x="4286250" y="822960"/>
            <a:ext cx="4258818" cy="5184648"/>
          </a:xfrm>
        </p:spPr>
        <p:txBody>
          <a:bodyPr>
            <a:normAutofit/>
          </a:bodyPr>
          <a:lstStyle>
            <a:lvl1pPr>
              <a:defRPr sz="2000"/>
            </a:lvl1pPr>
            <a:lvl2pPr>
              <a:defRPr sz="16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8096" y="2257506"/>
            <a:ext cx="329184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pPr eaLnBrk="1" latinLnBrk="0" hangingPunct="1"/>
            <a:fld id="{9D21D778-B565-4D7E-94D7-64010A445B68}" type="datetimeFigureOut">
              <a:rPr lang="en-US" smtClean="0"/>
              <a:pPr eaLnBrk="1" latinLnBrk="0" hangingPunct="1"/>
              <a:t>5/31/2025</a:t>
            </a:fld>
            <a:endParaRPr lang="en-US"/>
          </a:p>
        </p:txBody>
      </p:sp>
      <p:sp>
        <p:nvSpPr>
          <p:cNvPr id="6" name="Footer Placeholder 5"/>
          <p:cNvSpPr>
            <a:spLocks noGrp="1"/>
          </p:cNvSpPr>
          <p:nvPr>
            <p:ph type="ftr" sz="quarter" idx="11"/>
          </p:nvPr>
        </p:nvSpPr>
        <p:spPr/>
        <p:txBody>
          <a:bodyPr/>
          <a:lstStyle/>
          <a:p>
            <a:endParaRPr kumimoji="0" lang="en-US" dirty="0"/>
          </a:p>
        </p:txBody>
      </p:sp>
      <p:sp>
        <p:nvSpPr>
          <p:cNvPr id="7" name="Slide Number Placeholder 6"/>
          <p:cNvSpPr>
            <a:spLocks noGrp="1"/>
          </p:cNvSpPr>
          <p:nvPr>
            <p:ph type="sldNum" sz="quarter" idx="12"/>
          </p:nvPr>
        </p:nvSpPr>
        <p:spPr/>
        <p:txBody>
          <a:bodyPr/>
          <a:lstStyle/>
          <a:p>
            <a:fld id="{2C6B1FF6-39B9-40F5-8B67-33C6354A3D4F}" type="slidenum">
              <a:rPr kumimoji="0" lang="en-US" smtClean="0"/>
              <a:pPr eaLnBrk="1" latinLnBrk="0" hangingPunct="1"/>
              <a:t>‹#›</a:t>
            </a:fld>
            <a:endParaRPr kumimoji="0" lang="en-US" dirty="0">
              <a:solidFill>
                <a:schemeClr val="accent3">
                  <a:shade val="75000"/>
                </a:schemeClr>
              </a:solidFill>
            </a:endParaRPr>
          </a:p>
        </p:txBody>
      </p:sp>
    </p:spTree>
    <p:extLst>
      <p:ext uri="{BB962C8B-B14F-4D97-AF65-F5344CB8AC3E}">
        <p14:creationId xmlns:p14="http://schemas.microsoft.com/office/powerpoint/2010/main" val="6309597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4960138"/>
            <a:ext cx="5829300" cy="1463040"/>
          </a:xfrm>
        </p:spPr>
        <p:txBody>
          <a:bodyPr anchor="ctr">
            <a:normAutofit/>
          </a:bodyPr>
          <a:lstStyle>
            <a:lvl1pPr algn="r">
              <a:defRPr sz="44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9141714" cy="4572000"/>
          </a:xfrm>
          <a:solidFill>
            <a:schemeClr val="accent1">
              <a:lumMod val="60000"/>
              <a:lumOff val="40000"/>
            </a:schemeClr>
          </a:solidFill>
        </p:spPr>
        <p:txBody>
          <a:bodyPr lIns="457200" tIns="365760"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457950" y="4960138"/>
            <a:ext cx="24003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pPr eaLnBrk="1" latinLnBrk="0" hangingPunct="1"/>
            <a:fld id="{9D21D778-B565-4D7E-94D7-64010A445B68}" type="datetimeFigureOut">
              <a:rPr lang="en-US" smtClean="0"/>
              <a:pPr eaLnBrk="1" latinLnBrk="0" hangingPunct="1"/>
              <a:t>5/31/2025</a:t>
            </a:fld>
            <a:endParaRPr lang="en-US" dirty="0"/>
          </a:p>
        </p:txBody>
      </p:sp>
      <p:sp>
        <p:nvSpPr>
          <p:cNvPr id="6" name="Footer Placeholder 5"/>
          <p:cNvSpPr>
            <a:spLocks noGrp="1"/>
          </p:cNvSpPr>
          <p:nvPr>
            <p:ph type="ftr" sz="quarter" idx="11"/>
          </p:nvPr>
        </p:nvSpPr>
        <p:spPr/>
        <p:txBody>
          <a:bodyPr/>
          <a:lstStyle/>
          <a:p>
            <a:endParaRPr kumimoji="0" lang="en-US" dirty="0"/>
          </a:p>
        </p:txBody>
      </p:sp>
      <p:sp>
        <p:nvSpPr>
          <p:cNvPr id="7" name="Slide Number Placeholder 6"/>
          <p:cNvSpPr>
            <a:spLocks noGrp="1"/>
          </p:cNvSpPr>
          <p:nvPr>
            <p:ph type="sldNum" sz="quarter" idx="12"/>
          </p:nvPr>
        </p:nvSpPr>
        <p:spPr/>
        <p:txBody>
          <a:bodyPr/>
          <a:lstStyle/>
          <a:p>
            <a:fld id="{2C6B1FF6-39B9-40F5-8B67-33C6354A3D4F}" type="slidenum">
              <a:rPr kumimoji="0" lang="en-US" smtClean="0"/>
              <a:pPr eaLnBrk="1" latinLnBrk="0" hangingPunct="1"/>
              <a:t>‹#›</a:t>
            </a:fld>
            <a:endParaRPr kumimoji="0" lang="en-US" dirty="0"/>
          </a:p>
        </p:txBody>
      </p:sp>
      <p:cxnSp>
        <p:nvCxnSpPr>
          <p:cNvPr id="8" name="Straight Connector 7"/>
          <p:cNvCxnSpPr/>
          <p:nvPr/>
        </p:nvCxnSpPr>
        <p:spPr>
          <a:xfrm flipV="1">
            <a:off x="6290132"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36606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eaLnBrk="1" latinLnBrk="0" hangingPunct="1"/>
            <a:fld id="{9D21D778-B565-4D7E-94D7-64010A445B68}" type="datetimeFigureOut">
              <a:rPr lang="en-US" smtClean="0"/>
              <a:pPr eaLnBrk="1" latinLnBrk="0" hangingPunct="1"/>
              <a:t>5/31/2025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2C6B1FF6-39B9-40F5-8B67-33C6354A3D4F}" type="slidenum">
              <a:rPr kumimoji="0" lang="en-US" smtClean="0"/>
              <a:pPr eaLnBrk="1" latinLnBrk="0" hangingPunct="1"/>
              <a:t>‹#›</a:t>
            </a:fld>
            <a:endParaRPr kumimoji="0" lang="en-US"/>
          </a:p>
        </p:txBody>
      </p:sp>
    </p:spTree>
    <p:extLst>
      <p:ext uri="{BB962C8B-B14F-4D97-AF65-F5344CB8AC3E}">
        <p14:creationId xmlns:p14="http://schemas.microsoft.com/office/powerpoint/2010/main" val="39422645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762000"/>
            <a:ext cx="1971675"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742951" y="762000"/>
            <a:ext cx="5686425" cy="54102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eaLnBrk="1" latinLnBrk="0" hangingPunct="1"/>
            <a:fld id="{9D21D778-B565-4D7E-94D7-64010A445B68}" type="datetimeFigureOut">
              <a:rPr lang="en-US" smtClean="0"/>
              <a:pPr eaLnBrk="1" latinLnBrk="0" hangingPunct="1"/>
              <a:t>5/31/2025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2C6B1FF6-39B9-40F5-8B67-33C6354A3D4F}" type="slidenum">
              <a:rPr kumimoji="0" lang="en-US" smtClean="0"/>
              <a:pPr eaLnBrk="1" latinLnBrk="0" hangingPunct="1"/>
              <a:t>‹#›</a:t>
            </a:fld>
            <a:endParaRPr kumimoji="0" lang="en-US" dirty="0"/>
          </a:p>
        </p:txBody>
      </p:sp>
      <p:cxnSp>
        <p:nvCxnSpPr>
          <p:cNvPr id="7" name="Straight Connector 6"/>
          <p:cNvCxnSpPr/>
          <p:nvPr/>
        </p:nvCxnSpPr>
        <p:spPr>
          <a:xfrm rot="5400000" flipV="1">
            <a:off x="7543800" y="173563"/>
            <a:ext cx="0" cy="6858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185764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5" cstate="print">
            <a:extLst>
              <a:ext uri="{28A0092B-C50C-407E-A947-70E740481C1C}">
                <a14:useLocalDpi xmlns:a14="http://schemas.microsoft.com/office/drawing/2010/main" val="0"/>
              </a:ext>
            </a:extLst>
          </a:blip>
          <a:srcRect t="83837"/>
          <a:stretch/>
        </p:blipFill>
        <p:spPr>
          <a:xfrm>
            <a:off x="-12767" y="6322425"/>
            <a:ext cx="9156768" cy="535577"/>
          </a:xfrm>
          <a:prstGeom prst="rect">
            <a:avLst/>
          </a:prstGeom>
        </p:spPr>
      </p:pic>
      <p:sp>
        <p:nvSpPr>
          <p:cNvPr id="2" name="Title Placeholder 1"/>
          <p:cNvSpPr>
            <a:spLocks noGrp="1"/>
          </p:cNvSpPr>
          <p:nvPr>
            <p:ph type="title"/>
          </p:nvPr>
        </p:nvSpPr>
        <p:spPr>
          <a:xfrm>
            <a:off x="628650" y="365128"/>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2002155" y="6451713"/>
            <a:ext cx="5139690" cy="276999"/>
          </a:xfrm>
          <a:prstGeom prst="rect">
            <a:avLst/>
          </a:prstGeom>
        </p:spPr>
        <p:txBody>
          <a:bodyPr vert="horz" lIns="91440" tIns="45720" rIns="91440" bIns="45720" rtlCol="0" anchor="ctr" anchorCtr="1">
            <a:spAutoFit/>
          </a:bodyPr>
          <a:lstStyle>
            <a:lvl1pPr algn="ctr">
              <a:defRPr sz="1200">
                <a:solidFill>
                  <a:schemeClr val="tx1">
                    <a:lumMod val="75000"/>
                    <a:lumOff val="25000"/>
                  </a:schemeClr>
                </a:solidFill>
              </a:defRPr>
            </a:lvl1pPr>
          </a:lstStyle>
          <a:p>
            <a:r>
              <a:rPr lang="en-US" dirty="0"/>
              <a:t>The Science of Positive Psychology © Cambridge University Press 2021</a:t>
            </a:r>
          </a:p>
        </p:txBody>
      </p:sp>
      <p:pic>
        <p:nvPicPr>
          <p:cNvPr id="10" name="Picture 9"/>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69669" y="6403081"/>
            <a:ext cx="1932486" cy="400593"/>
          </a:xfrm>
          <a:prstGeom prst="rect">
            <a:avLst/>
          </a:prstGeom>
        </p:spPr>
      </p:pic>
    </p:spTree>
    <p:extLst>
      <p:ext uri="{BB962C8B-B14F-4D97-AF65-F5344CB8AC3E}">
        <p14:creationId xmlns:p14="http://schemas.microsoft.com/office/powerpoint/2010/main" val="3980212316"/>
      </p:ext>
    </p:extLst>
  </p:cSld>
  <p:clrMap bg1="lt1" tx1="dk1" bg2="lt2" tx2="dk2" accent1="accent1" accent2="accent2" accent3="accent3" accent4="accent4" accent5="accent5" accent6="accent6" hlink="hlink" folHlink="folHlink"/>
  <p:sldLayoutIdLst>
    <p:sldLayoutId id="2147483658" r:id="rId1"/>
    <p:sldLayoutId id="2147483656" r:id="rId2"/>
    <p:sldLayoutId id="2147483657" r:id="rId3"/>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8096" y="585216"/>
            <a:ext cx="7290054"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768096" y="2286000"/>
            <a:ext cx="7290055" cy="4023360"/>
          </a:xfrm>
          <a:prstGeom prst="rect">
            <a:avLst/>
          </a:prstGeom>
        </p:spPr>
        <p:txBody>
          <a:bodyPr vert="horz" lIns="45720" tIns="45720" rIns="4572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8097" y="6470704"/>
            <a:ext cx="161560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pPr algn="r" eaLnBrk="1" latinLnBrk="0" hangingPunct="1"/>
            <a:fld id="{9D21D778-B565-4D7E-94D7-64010A445B68}" type="datetimeFigureOut">
              <a:rPr lang="en-US" smtClean="0"/>
              <a:pPr algn="r" eaLnBrk="1" latinLnBrk="0" hangingPunct="1"/>
              <a:t>5/31/2025</a:t>
            </a:fld>
            <a:endParaRPr lang="en-US" sz="1400" dirty="0">
              <a:solidFill>
                <a:srgbClr val="FFFFFF"/>
              </a:solidFill>
            </a:endParaRPr>
          </a:p>
        </p:txBody>
      </p:sp>
      <p:sp>
        <p:nvSpPr>
          <p:cNvPr id="5" name="Footer Placeholder 4"/>
          <p:cNvSpPr>
            <a:spLocks noGrp="1"/>
          </p:cNvSpPr>
          <p:nvPr>
            <p:ph type="ftr" sz="quarter" idx="3"/>
          </p:nvPr>
        </p:nvSpPr>
        <p:spPr>
          <a:xfrm>
            <a:off x="3632200" y="6470704"/>
            <a:ext cx="4426094"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pPr algn="l" eaLnBrk="1" latinLnBrk="0" hangingPunct="1"/>
            <a:endParaRPr kumimoji="0" lang="en-US" dirty="0">
              <a:solidFill>
                <a:srgbClr val="FFFFFF"/>
              </a:solidFill>
            </a:endParaRPr>
          </a:p>
        </p:txBody>
      </p:sp>
      <p:sp>
        <p:nvSpPr>
          <p:cNvPr id="6" name="Slide Number Placeholder 5"/>
          <p:cNvSpPr>
            <a:spLocks noGrp="1"/>
          </p:cNvSpPr>
          <p:nvPr>
            <p:ph type="sldNum" sz="quarter" idx="4"/>
          </p:nvPr>
        </p:nvSpPr>
        <p:spPr>
          <a:xfrm>
            <a:off x="8128000" y="6470704"/>
            <a:ext cx="730250"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pPr algn="ctr" eaLnBrk="1" latinLnBrk="0" hangingPunct="1"/>
            <a:fld id="{2C6B1FF6-39B9-40F5-8B67-33C6354A3D4F}" type="slidenum">
              <a:rPr kumimoji="0" lang="en-US" smtClean="0"/>
              <a:pPr algn="ctr" eaLnBrk="1" latinLnBrk="0" hangingPunct="1"/>
              <a:t>‹#›</a:t>
            </a:fld>
            <a:endParaRPr kumimoji="0" lang="en-US" sz="1600" dirty="0">
              <a:solidFill>
                <a:schemeClr val="accent3">
                  <a:shade val="75000"/>
                </a:schemeClr>
              </a:solidFill>
            </a:endParaRPr>
          </a:p>
        </p:txBody>
      </p:sp>
      <p:cxnSp>
        <p:nvCxnSpPr>
          <p:cNvPr id="7" name="Straight Connector 6"/>
          <p:cNvCxnSpPr/>
          <p:nvPr/>
        </p:nvCxnSpPr>
        <p:spPr>
          <a:xfrm flipV="1">
            <a:off x="5715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258977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txStyles>
    <p:titleStyle>
      <a:lvl1pPr algn="l" defTabSz="914400" rtl="0" eaLnBrk="1" latinLnBrk="0" hangingPunct="1">
        <a:lnSpc>
          <a:spcPct val="80000"/>
        </a:lnSpc>
        <a:spcBef>
          <a:spcPct val="0"/>
        </a:spcBef>
        <a:buNone/>
        <a:defRPr sz="44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0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6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3.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0.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25.jpeg"/><Relationship Id="rId1" Type="http://schemas.openxmlformats.org/officeDocument/2006/relationships/slideLayout" Target="../slideLayouts/slideLayout3.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3.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3.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3.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3.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image" Target="../media/image41.jpeg"/><Relationship Id="rId1" Type="http://schemas.openxmlformats.org/officeDocument/2006/relationships/slideLayout" Target="../slideLayouts/slideLayout3.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7.x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3.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3.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24.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3.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3.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3.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2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3.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7000" r="-17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3888" y="734381"/>
            <a:ext cx="4095257" cy="1767081"/>
          </a:xfrm>
        </p:spPr>
        <p:txBody>
          <a:bodyPr/>
          <a:lstStyle/>
          <a:p>
            <a:r>
              <a:rPr lang="en-GB" dirty="0"/>
              <a:t>Chapter 13</a:t>
            </a:r>
            <a:endParaRPr lang="en-US" dirty="0"/>
          </a:p>
        </p:txBody>
      </p:sp>
      <p:sp>
        <p:nvSpPr>
          <p:cNvPr id="3" name="Text Placeholder 2"/>
          <p:cNvSpPr>
            <a:spLocks noGrp="1"/>
          </p:cNvSpPr>
          <p:nvPr>
            <p:ph type="body" idx="1"/>
          </p:nvPr>
        </p:nvSpPr>
        <p:spPr>
          <a:xfrm>
            <a:off x="6005185" y="412994"/>
            <a:ext cx="2855036" cy="1500187"/>
          </a:xfrm>
        </p:spPr>
        <p:txBody>
          <a:bodyPr>
            <a:normAutofit fontScale="92500" lnSpcReduction="20000"/>
          </a:bodyPr>
          <a:lstStyle/>
          <a:p>
            <a:r>
              <a:rPr lang="en-US" dirty="0"/>
              <a:t>Happiness and Success at Work</a:t>
            </a:r>
          </a:p>
        </p:txBody>
      </p:sp>
      <p:sp>
        <p:nvSpPr>
          <p:cNvPr id="4" name="Footer Placeholder 3"/>
          <p:cNvSpPr>
            <a:spLocks noGrp="1"/>
          </p:cNvSpPr>
          <p:nvPr>
            <p:ph type="ftr" sz="quarter" idx="10"/>
          </p:nvPr>
        </p:nvSpPr>
        <p:spPr>
          <a:xfrm>
            <a:off x="1755970" y="6334789"/>
            <a:ext cx="6306576" cy="461665"/>
          </a:xfrm>
        </p:spPr>
        <p:txBody>
          <a:bodyPr/>
          <a:lstStyle/>
          <a:p>
            <a:r>
              <a:rPr lang="en-US" dirty="0"/>
              <a:t>The Science and Application of Positive Psychology © Cambridge University Press 2021</a:t>
            </a:r>
          </a:p>
        </p:txBody>
      </p:sp>
    </p:spTree>
    <p:extLst>
      <p:ext uri="{BB962C8B-B14F-4D97-AF65-F5344CB8AC3E}">
        <p14:creationId xmlns:p14="http://schemas.microsoft.com/office/powerpoint/2010/main" val="4177224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4E7D6-F2B0-4C1A-2A76-B549ABCF88F8}"/>
              </a:ext>
            </a:extLst>
          </p:cNvPr>
          <p:cNvSpPr>
            <a:spLocks noGrp="1"/>
          </p:cNvSpPr>
          <p:nvPr>
            <p:ph type="title"/>
          </p:nvPr>
        </p:nvSpPr>
        <p:spPr/>
        <p:txBody>
          <a:bodyPr/>
          <a:lstStyle/>
          <a:p>
            <a:r>
              <a:rPr lang="en-US" dirty="0">
                <a:solidFill>
                  <a:schemeClr val="accent1">
                    <a:lumMod val="50000"/>
                  </a:schemeClr>
                </a:solidFill>
              </a:rPr>
              <a:t>Why Happiness at Work Matters: Overview</a:t>
            </a:r>
          </a:p>
        </p:txBody>
      </p:sp>
      <p:sp>
        <p:nvSpPr>
          <p:cNvPr id="3" name="Content Placeholder 2">
            <a:extLst>
              <a:ext uri="{FF2B5EF4-FFF2-40B4-BE49-F238E27FC236}">
                <a16:creationId xmlns:a16="http://schemas.microsoft.com/office/drawing/2014/main" id="{F4DC17CD-DF2C-D7B7-DDBC-1240F7BCFAA6}"/>
              </a:ext>
            </a:extLst>
          </p:cNvPr>
          <p:cNvSpPr>
            <a:spLocks noGrp="1"/>
          </p:cNvSpPr>
          <p:nvPr>
            <p:ph idx="1"/>
          </p:nvPr>
        </p:nvSpPr>
        <p:spPr/>
        <p:txBody>
          <a:bodyPr>
            <a:normAutofit fontScale="92500" lnSpcReduction="10000"/>
          </a:bodyPr>
          <a:lstStyle/>
          <a:p>
            <a:r>
              <a:rPr lang="en-US" dirty="0"/>
              <a:t>Happy workers 10-20% more productive than unhappy (have better focus, problem-solving, creativity…think Fredrickson Broaden and Build)</a:t>
            </a:r>
          </a:p>
          <a:p>
            <a:r>
              <a:rPr lang="en-US" dirty="0"/>
              <a:t>Happiness boosts physical and mental health</a:t>
            </a:r>
          </a:p>
          <a:p>
            <a:pPr lvl="1"/>
            <a:r>
              <a:rPr lang="en-US" dirty="0"/>
              <a:t>Chronic stress and unhappiness leads to burnout, anxiety, heart disease</a:t>
            </a:r>
          </a:p>
          <a:p>
            <a:pPr lvl="1"/>
            <a:r>
              <a:rPr lang="en-US" dirty="0"/>
              <a:t>Happy employees have stronger immune systems</a:t>
            </a:r>
          </a:p>
          <a:p>
            <a:r>
              <a:rPr lang="en-US" dirty="0"/>
              <a:t>Happiness </a:t>
            </a:r>
          </a:p>
          <a:p>
            <a:pPr lvl="1"/>
            <a:r>
              <a:rPr lang="en-US" dirty="0"/>
              <a:t>reduces turnover, increases loyalty</a:t>
            </a:r>
          </a:p>
          <a:p>
            <a:pPr lvl="1"/>
            <a:r>
              <a:rPr lang="en-US" dirty="0"/>
              <a:t>enhances teamwork and collaboration</a:t>
            </a:r>
          </a:p>
          <a:p>
            <a:pPr lvl="1"/>
            <a:r>
              <a:rPr lang="en-US" dirty="0"/>
              <a:t>Fuels organizational innovation</a:t>
            </a:r>
          </a:p>
          <a:p>
            <a:pPr lvl="1"/>
            <a:r>
              <a:rPr lang="en-US" dirty="0"/>
              <a:t>Impacts the bottom line</a:t>
            </a:r>
          </a:p>
          <a:p>
            <a:endParaRPr lang="en-US" dirty="0"/>
          </a:p>
        </p:txBody>
      </p:sp>
      <p:sp>
        <p:nvSpPr>
          <p:cNvPr id="4" name="Footer Placeholder 3">
            <a:extLst>
              <a:ext uri="{FF2B5EF4-FFF2-40B4-BE49-F238E27FC236}">
                <a16:creationId xmlns:a16="http://schemas.microsoft.com/office/drawing/2014/main" id="{3285867B-0079-C285-B889-A49D47BDC4C1}"/>
              </a:ext>
            </a:extLst>
          </p:cNvPr>
          <p:cNvSpPr>
            <a:spLocks noGrp="1"/>
          </p:cNvSpPr>
          <p:nvPr>
            <p:ph type="ftr" sz="quarter" idx="11"/>
          </p:nvPr>
        </p:nvSpPr>
        <p:spPr/>
        <p:txBody>
          <a:bodyPr/>
          <a:lstStyle/>
          <a:p>
            <a:r>
              <a:rPr lang="en-US"/>
              <a:t>The Science of Positive Psychology © Cambridge University Press 2021</a:t>
            </a:r>
            <a:endParaRPr lang="en-US" dirty="0"/>
          </a:p>
        </p:txBody>
      </p:sp>
    </p:spTree>
    <p:extLst>
      <p:ext uri="{BB962C8B-B14F-4D97-AF65-F5344CB8AC3E}">
        <p14:creationId xmlns:p14="http://schemas.microsoft.com/office/powerpoint/2010/main" val="1868773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CBB57-E86C-D062-619C-53E296646C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2513A1-D614-1ABF-72A3-2961823B973B}"/>
              </a:ext>
            </a:extLst>
          </p:cNvPr>
          <p:cNvSpPr>
            <a:spLocks noGrp="1"/>
          </p:cNvSpPr>
          <p:nvPr>
            <p:ph type="title"/>
          </p:nvPr>
        </p:nvSpPr>
        <p:spPr>
          <a:xfrm>
            <a:off x="628650" y="365128"/>
            <a:ext cx="7886700" cy="1325563"/>
          </a:xfrm>
        </p:spPr>
        <p:txBody>
          <a:bodyPr anchor="ctr">
            <a:normAutofit/>
          </a:bodyPr>
          <a:lstStyle/>
          <a:p>
            <a:r>
              <a:rPr lang="en-US"/>
              <a:t>Flip Side: Why Unhappiness at Work Matters</a:t>
            </a:r>
          </a:p>
        </p:txBody>
      </p:sp>
      <p:sp>
        <p:nvSpPr>
          <p:cNvPr id="4" name="Footer Placeholder 3">
            <a:extLst>
              <a:ext uri="{FF2B5EF4-FFF2-40B4-BE49-F238E27FC236}">
                <a16:creationId xmlns:a16="http://schemas.microsoft.com/office/drawing/2014/main" id="{9B2CDFD2-5105-1279-BAFC-AF12C98E6C69}"/>
              </a:ext>
            </a:extLst>
          </p:cNvPr>
          <p:cNvSpPr>
            <a:spLocks noGrp="1"/>
          </p:cNvSpPr>
          <p:nvPr>
            <p:ph type="ftr" sz="quarter" idx="11"/>
          </p:nvPr>
        </p:nvSpPr>
        <p:spPr>
          <a:xfrm>
            <a:off x="2002155" y="6447131"/>
            <a:ext cx="5139690" cy="276999"/>
          </a:xfrm>
        </p:spPr>
        <p:txBody>
          <a:bodyPr anchor="ctr">
            <a:normAutofit/>
          </a:bodyPr>
          <a:lstStyle/>
          <a:p>
            <a:pPr>
              <a:spcAft>
                <a:spcPts val="600"/>
              </a:spcAft>
            </a:pPr>
            <a:r>
              <a:rPr lang="en-US"/>
              <a:t>The Science of Positive Psychology © Cambridge University Press 2021</a:t>
            </a:r>
          </a:p>
        </p:txBody>
      </p:sp>
      <p:graphicFrame>
        <p:nvGraphicFramePr>
          <p:cNvPr id="7" name="Rectangle 1">
            <a:extLst>
              <a:ext uri="{FF2B5EF4-FFF2-40B4-BE49-F238E27FC236}">
                <a16:creationId xmlns:a16="http://schemas.microsoft.com/office/drawing/2014/main" id="{A4762CE0-00C4-14D2-C6EF-ED6D934B92FF}"/>
              </a:ext>
            </a:extLst>
          </p:cNvPr>
          <p:cNvGraphicFramePr>
            <a:graphicFrameLocks noGrp="1"/>
          </p:cNvGraphicFramePr>
          <p:nvPr>
            <p:ph idx="1"/>
            <p:extLst>
              <p:ext uri="{D42A27DB-BD31-4B8C-83A1-F6EECF244321}">
                <p14:modId xmlns:p14="http://schemas.microsoft.com/office/powerpoint/2010/main" val="448064051"/>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554843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Rectangle 21">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0C295189-36D5-33F8-A3C7-5E55F0338EAC}"/>
              </a:ext>
            </a:extLst>
          </p:cNvPr>
          <p:cNvSpPr>
            <a:spLocks noGrp="1"/>
          </p:cNvSpPr>
          <p:nvPr>
            <p:ph type="title"/>
          </p:nvPr>
        </p:nvSpPr>
        <p:spPr>
          <a:xfrm>
            <a:off x="439858" y="1683756"/>
            <a:ext cx="2336449" cy="2396359"/>
          </a:xfrm>
        </p:spPr>
        <p:txBody>
          <a:bodyPr anchor="b">
            <a:normAutofit/>
          </a:bodyPr>
          <a:lstStyle/>
          <a:p>
            <a:pPr algn="r"/>
            <a:r>
              <a:rPr lang="en-US" sz="3500">
                <a:solidFill>
                  <a:srgbClr val="FFFFFF"/>
                </a:solidFill>
              </a:rPr>
              <a:t>Why does happiness at work matter?</a:t>
            </a:r>
          </a:p>
        </p:txBody>
      </p:sp>
      <p:sp>
        <p:nvSpPr>
          <p:cNvPr id="4" name="Footer Placeholder 3">
            <a:extLst>
              <a:ext uri="{FF2B5EF4-FFF2-40B4-BE49-F238E27FC236}">
                <a16:creationId xmlns:a16="http://schemas.microsoft.com/office/drawing/2014/main" id="{58DCAB70-BBB1-3335-1393-3C1903182020}"/>
              </a:ext>
            </a:extLst>
          </p:cNvPr>
          <p:cNvSpPr>
            <a:spLocks noGrp="1"/>
          </p:cNvSpPr>
          <p:nvPr>
            <p:ph type="ftr" sz="quarter" idx="11"/>
          </p:nvPr>
        </p:nvSpPr>
        <p:spPr>
          <a:xfrm rot="5400000">
            <a:off x="-1371600" y="1984248"/>
            <a:ext cx="3086100" cy="365125"/>
          </a:xfrm>
        </p:spPr>
        <p:txBody>
          <a:bodyPr>
            <a:normAutofit/>
          </a:bodyPr>
          <a:lstStyle/>
          <a:p>
            <a:pPr algn="l">
              <a:lnSpc>
                <a:spcPct val="90000"/>
              </a:lnSpc>
              <a:spcAft>
                <a:spcPts val="600"/>
              </a:spcAft>
            </a:pPr>
            <a:r>
              <a:rPr lang="en-US" sz="900">
                <a:solidFill>
                  <a:srgbClr val="FFFFFF"/>
                </a:solidFill>
              </a:rPr>
              <a:t>The Science and Application of Positive Psychology © Cambridge University Press 2021</a:t>
            </a:r>
          </a:p>
        </p:txBody>
      </p:sp>
      <p:graphicFrame>
        <p:nvGraphicFramePr>
          <p:cNvPr id="8" name="Content Placeholder 5">
            <a:extLst>
              <a:ext uri="{FF2B5EF4-FFF2-40B4-BE49-F238E27FC236}">
                <a16:creationId xmlns:a16="http://schemas.microsoft.com/office/drawing/2014/main" id="{8C980D1B-D1F9-426C-0FCA-4878BDD8E73F}"/>
              </a:ext>
            </a:extLst>
          </p:cNvPr>
          <p:cNvGraphicFramePr>
            <a:graphicFrameLocks noGrp="1"/>
          </p:cNvGraphicFramePr>
          <p:nvPr>
            <p:ph idx="1"/>
            <p:extLst>
              <p:ext uri="{D42A27DB-BD31-4B8C-83A1-F6EECF244321}">
                <p14:modId xmlns:p14="http://schemas.microsoft.com/office/powerpoint/2010/main" val="815070741"/>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186817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61657BD-3333-446A-A16A-CBDC77C8E5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457200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a:extLst>
              <a:ext uri="{FF2B5EF4-FFF2-40B4-BE49-F238E27FC236}">
                <a16:creationId xmlns:a16="http://schemas.microsoft.com/office/drawing/2014/main" id="{52CAFF06-4D3A-42A5-8614-B1FA47EA0F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600" y="643467"/>
            <a:ext cx="8178799" cy="5571066"/>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AAC0DC95-5DB9-8E4A-DEE8-357BB10E8A17}"/>
              </a:ext>
            </a:extLst>
          </p:cNvPr>
          <p:cNvPicPr>
            <a:picLocks noChangeAspect="1"/>
          </p:cNvPicPr>
          <p:nvPr/>
        </p:nvPicPr>
        <p:blipFill>
          <a:blip r:embed="rId2"/>
          <a:stretch>
            <a:fillRect/>
          </a:stretch>
        </p:blipFill>
        <p:spPr>
          <a:xfrm>
            <a:off x="2826596" y="804333"/>
            <a:ext cx="3490805" cy="5249331"/>
          </a:xfrm>
          <a:prstGeom prst="rect">
            <a:avLst/>
          </a:prstGeom>
        </p:spPr>
      </p:pic>
    </p:spTree>
    <p:extLst>
      <p:ext uri="{BB962C8B-B14F-4D97-AF65-F5344CB8AC3E}">
        <p14:creationId xmlns:p14="http://schemas.microsoft.com/office/powerpoint/2010/main" val="24765636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08FEF-96B8-42E3-95AA-77B56DC2988F}"/>
              </a:ext>
            </a:extLst>
          </p:cNvPr>
          <p:cNvSpPr>
            <a:spLocks noGrp="1"/>
          </p:cNvSpPr>
          <p:nvPr>
            <p:ph type="title"/>
          </p:nvPr>
        </p:nvSpPr>
        <p:spPr/>
        <p:txBody>
          <a:bodyPr/>
          <a:lstStyle/>
          <a:p>
            <a:r>
              <a:rPr lang="en-US" dirty="0"/>
              <a:t>Employee Engagement</a:t>
            </a:r>
          </a:p>
        </p:txBody>
      </p:sp>
      <p:graphicFrame>
        <p:nvGraphicFramePr>
          <p:cNvPr id="16" name="Content Placeholder 2">
            <a:extLst>
              <a:ext uri="{FF2B5EF4-FFF2-40B4-BE49-F238E27FC236}">
                <a16:creationId xmlns:a16="http://schemas.microsoft.com/office/drawing/2014/main" id="{E84D7673-5611-C221-A0E4-53E1DD3DDACE}"/>
              </a:ext>
            </a:extLst>
          </p:cNvPr>
          <p:cNvGraphicFramePr>
            <a:graphicFrameLocks noGrp="1"/>
          </p:cNvGraphicFramePr>
          <p:nvPr>
            <p:ph idx="1"/>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a:extLst>
              <a:ext uri="{FF2B5EF4-FFF2-40B4-BE49-F238E27FC236}">
                <a16:creationId xmlns:a16="http://schemas.microsoft.com/office/drawing/2014/main" id="{44A53036-BBFF-4A57-99A5-919AB936AB8A}"/>
              </a:ext>
            </a:extLst>
          </p:cNvPr>
          <p:cNvSpPr>
            <a:spLocks noGrp="1"/>
          </p:cNvSpPr>
          <p:nvPr>
            <p:ph type="ftr" sz="quarter" idx="11"/>
          </p:nvPr>
        </p:nvSpPr>
        <p:spPr/>
        <p:txBody>
          <a:bodyPr/>
          <a:lstStyle/>
          <a:p>
            <a:r>
              <a:rPr lang="en-US"/>
              <a:t>The Science of Positive Psychology © Cambridge University Press 2021</a:t>
            </a:r>
            <a:endParaRPr lang="en-US" dirty="0"/>
          </a:p>
        </p:txBody>
      </p:sp>
    </p:spTree>
    <p:extLst>
      <p:ext uri="{BB962C8B-B14F-4D97-AF65-F5344CB8AC3E}">
        <p14:creationId xmlns:p14="http://schemas.microsoft.com/office/powerpoint/2010/main" val="1193707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AF16318-8FB4-4B43-B26D-06B0AEC3A236}"/>
              </a:ext>
            </a:extLst>
          </p:cNvPr>
          <p:cNvSpPr>
            <a:spLocks noGrp="1"/>
          </p:cNvSpPr>
          <p:nvPr>
            <p:ph type="title"/>
          </p:nvPr>
        </p:nvSpPr>
        <p:spPr>
          <a:xfrm>
            <a:off x="515125" y="1153572"/>
            <a:ext cx="2400300" cy="4461163"/>
          </a:xfrm>
        </p:spPr>
        <p:txBody>
          <a:bodyPr>
            <a:normAutofit/>
          </a:bodyPr>
          <a:lstStyle/>
          <a:p>
            <a:r>
              <a:rPr lang="en-US" sz="3100" dirty="0">
                <a:solidFill>
                  <a:srgbClr val="FFFFFF"/>
                </a:solidFill>
              </a:rPr>
              <a:t>What Promotes Engagement?</a:t>
            </a:r>
          </a:p>
        </p:txBody>
      </p:sp>
      <p:sp>
        <p:nvSpPr>
          <p:cNvPr id="13" name="Arc 1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9BADA699-24F8-439C-945A-4D34A6EC8953}"/>
              </a:ext>
            </a:extLst>
          </p:cNvPr>
          <p:cNvSpPr>
            <a:spLocks noGrp="1"/>
          </p:cNvSpPr>
          <p:nvPr>
            <p:ph idx="1"/>
          </p:nvPr>
        </p:nvSpPr>
        <p:spPr>
          <a:xfrm>
            <a:off x="3335481" y="591344"/>
            <a:ext cx="5179868" cy="5585619"/>
          </a:xfrm>
        </p:spPr>
        <p:txBody>
          <a:bodyPr anchor="ctr">
            <a:normAutofit/>
          </a:bodyPr>
          <a:lstStyle/>
          <a:p>
            <a:r>
              <a:rPr lang="en-US" dirty="0"/>
              <a:t>Positive emotionality disposition</a:t>
            </a:r>
          </a:p>
          <a:p>
            <a:pPr lvl="1"/>
            <a:r>
              <a:rPr lang="en-US"/>
              <a:t>High…more enthusiastic, energetic, excited about job, report higher JS</a:t>
            </a:r>
          </a:p>
          <a:p>
            <a:pPr lvl="1"/>
            <a:r>
              <a:rPr lang="en-US"/>
              <a:t>Zest, or approach life with anticipation, energy, excitement, a form of positive emotionality, predicts seeing work as calling and JS</a:t>
            </a:r>
          </a:p>
          <a:p>
            <a:endParaRPr lang="en-US" dirty="0"/>
          </a:p>
          <a:p>
            <a:endParaRPr lang="en-US" dirty="0"/>
          </a:p>
        </p:txBody>
      </p:sp>
      <p:sp>
        <p:nvSpPr>
          <p:cNvPr id="4" name="Footer Placeholder 3">
            <a:extLst>
              <a:ext uri="{FF2B5EF4-FFF2-40B4-BE49-F238E27FC236}">
                <a16:creationId xmlns:a16="http://schemas.microsoft.com/office/drawing/2014/main" id="{57651FF6-2BED-45B0-A845-F5D6170C4077}"/>
              </a:ext>
            </a:extLst>
          </p:cNvPr>
          <p:cNvSpPr>
            <a:spLocks noGrp="1"/>
          </p:cNvSpPr>
          <p:nvPr>
            <p:ph type="ftr" sz="quarter" idx="11"/>
          </p:nvPr>
        </p:nvSpPr>
        <p:spPr>
          <a:xfrm>
            <a:off x="3028950" y="6356350"/>
            <a:ext cx="3938380" cy="365125"/>
          </a:xfrm>
        </p:spPr>
        <p:txBody>
          <a:bodyPr>
            <a:normAutofit/>
          </a:bodyPr>
          <a:lstStyle/>
          <a:p>
            <a:pPr>
              <a:lnSpc>
                <a:spcPct val="90000"/>
              </a:lnSpc>
              <a:spcAft>
                <a:spcPts val="600"/>
              </a:spcAft>
            </a:pPr>
            <a:r>
              <a:rPr lang="en-US" sz="1000"/>
              <a:t>The Science of Positive Psychology © Cambridge University Press 2021</a:t>
            </a:r>
          </a:p>
        </p:txBody>
      </p:sp>
    </p:spTree>
    <p:extLst>
      <p:ext uri="{BB962C8B-B14F-4D97-AF65-F5344CB8AC3E}">
        <p14:creationId xmlns:p14="http://schemas.microsoft.com/office/powerpoint/2010/main" val="14700565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AF16318-8FB4-4B43-B26D-06B0AEC3A236}"/>
              </a:ext>
            </a:extLst>
          </p:cNvPr>
          <p:cNvSpPr>
            <a:spLocks noGrp="1"/>
          </p:cNvSpPr>
          <p:nvPr>
            <p:ph type="title"/>
          </p:nvPr>
        </p:nvSpPr>
        <p:spPr>
          <a:xfrm>
            <a:off x="515125" y="1153572"/>
            <a:ext cx="2400300" cy="4461163"/>
          </a:xfrm>
        </p:spPr>
        <p:txBody>
          <a:bodyPr>
            <a:normAutofit/>
          </a:bodyPr>
          <a:lstStyle/>
          <a:p>
            <a:r>
              <a:rPr lang="en-US" sz="3100">
                <a:solidFill>
                  <a:srgbClr val="FFFFFF"/>
                </a:solidFill>
              </a:rPr>
              <a:t>What Promotes Engagement?</a:t>
            </a:r>
          </a:p>
        </p:txBody>
      </p:sp>
      <p:sp>
        <p:nvSpPr>
          <p:cNvPr id="13" name="Arc 1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9BADA699-24F8-439C-945A-4D34A6EC8953}"/>
              </a:ext>
            </a:extLst>
          </p:cNvPr>
          <p:cNvSpPr>
            <a:spLocks noGrp="1"/>
          </p:cNvSpPr>
          <p:nvPr>
            <p:ph idx="1"/>
          </p:nvPr>
        </p:nvSpPr>
        <p:spPr>
          <a:xfrm>
            <a:off x="3335481" y="591344"/>
            <a:ext cx="5179868" cy="5585619"/>
          </a:xfrm>
        </p:spPr>
        <p:txBody>
          <a:bodyPr anchor="ctr">
            <a:normAutofit/>
          </a:bodyPr>
          <a:lstStyle/>
          <a:p>
            <a:r>
              <a:rPr lang="en-US" dirty="0"/>
              <a:t>Positive emotions</a:t>
            </a:r>
          </a:p>
          <a:p>
            <a:pPr lvl="1"/>
            <a:r>
              <a:rPr lang="en-US" dirty="0"/>
              <a:t>Helps enhance problem-solving and decision-making…flexible, creative, innovative problem solving</a:t>
            </a:r>
          </a:p>
          <a:p>
            <a:pPr lvl="1"/>
            <a:r>
              <a:rPr lang="en-US" dirty="0"/>
              <a:t>Contributes to positive spontaneous behavior</a:t>
            </a:r>
          </a:p>
          <a:p>
            <a:pPr lvl="1"/>
            <a:r>
              <a:rPr lang="en-US" dirty="0"/>
              <a:t>Think Fredrickson’s Broaden and Build Theory</a:t>
            </a:r>
          </a:p>
          <a:p>
            <a:pPr lvl="1"/>
            <a:r>
              <a:rPr lang="en-US" dirty="0"/>
              <a:t>Enhances workplace achievement</a:t>
            </a:r>
          </a:p>
          <a:p>
            <a:pPr lvl="2"/>
            <a:r>
              <a:rPr lang="en-US" dirty="0"/>
              <a:t>Positive moods…more sociable, less aggressive</a:t>
            </a:r>
          </a:p>
          <a:p>
            <a:pPr lvl="2"/>
            <a:r>
              <a:rPr lang="en-US" dirty="0"/>
              <a:t>More likely to engage in OCBs</a:t>
            </a:r>
          </a:p>
          <a:p>
            <a:endParaRPr lang="en-US" dirty="0"/>
          </a:p>
          <a:p>
            <a:endParaRPr lang="en-US" dirty="0"/>
          </a:p>
        </p:txBody>
      </p:sp>
      <p:sp>
        <p:nvSpPr>
          <p:cNvPr id="4" name="Footer Placeholder 3">
            <a:extLst>
              <a:ext uri="{FF2B5EF4-FFF2-40B4-BE49-F238E27FC236}">
                <a16:creationId xmlns:a16="http://schemas.microsoft.com/office/drawing/2014/main" id="{57651FF6-2BED-45B0-A845-F5D6170C4077}"/>
              </a:ext>
            </a:extLst>
          </p:cNvPr>
          <p:cNvSpPr>
            <a:spLocks noGrp="1"/>
          </p:cNvSpPr>
          <p:nvPr>
            <p:ph type="ftr" sz="quarter" idx="11"/>
          </p:nvPr>
        </p:nvSpPr>
        <p:spPr>
          <a:xfrm>
            <a:off x="3028950" y="6356350"/>
            <a:ext cx="3938380" cy="365125"/>
          </a:xfrm>
        </p:spPr>
        <p:txBody>
          <a:bodyPr>
            <a:normAutofit/>
          </a:bodyPr>
          <a:lstStyle/>
          <a:p>
            <a:pPr>
              <a:lnSpc>
                <a:spcPct val="90000"/>
              </a:lnSpc>
              <a:spcAft>
                <a:spcPts val="600"/>
              </a:spcAft>
            </a:pPr>
            <a:r>
              <a:rPr lang="en-US" sz="1000"/>
              <a:t>The Science of Positive Psychology © Cambridge University Press 2021</a:t>
            </a:r>
          </a:p>
        </p:txBody>
      </p:sp>
    </p:spTree>
    <p:extLst>
      <p:ext uri="{BB962C8B-B14F-4D97-AF65-F5344CB8AC3E}">
        <p14:creationId xmlns:p14="http://schemas.microsoft.com/office/powerpoint/2010/main" val="17774907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A5B4632-C963-4296-86F0-79AA9EA5AE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253746" y="303591"/>
            <a:ext cx="3251495" cy="5896743"/>
          </a:xfrm>
          <a:prstGeom prst="rect">
            <a:avLst/>
          </a:prstGeom>
          <a:solidFill>
            <a:schemeClr val="tx1">
              <a:lumMod val="75000"/>
              <a:lumOff val="25000"/>
            </a:schemeClr>
          </a:solidFill>
          <a:ln w="127000" cap="sq" cmpd="thinThick">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24BCBD-6120-4BFD-B43C-753B7CE59653}"/>
              </a:ext>
            </a:extLst>
          </p:cNvPr>
          <p:cNvSpPr>
            <a:spLocks noGrp="1"/>
          </p:cNvSpPr>
          <p:nvPr>
            <p:ph type="title"/>
          </p:nvPr>
        </p:nvSpPr>
        <p:spPr>
          <a:xfrm>
            <a:off x="445770" y="637125"/>
            <a:ext cx="2851707" cy="5256371"/>
          </a:xfrm>
        </p:spPr>
        <p:txBody>
          <a:bodyPr>
            <a:normAutofit/>
          </a:bodyPr>
          <a:lstStyle/>
          <a:p>
            <a:r>
              <a:rPr lang="en-US" sz="3900">
                <a:solidFill>
                  <a:schemeClr val="bg1"/>
                </a:solidFill>
              </a:rPr>
              <a:t>Explanations for Positive Emotions </a:t>
            </a:r>
          </a:p>
        </p:txBody>
      </p:sp>
      <p:sp>
        <p:nvSpPr>
          <p:cNvPr id="4" name="Footer Placeholder 3">
            <a:extLst>
              <a:ext uri="{FF2B5EF4-FFF2-40B4-BE49-F238E27FC236}">
                <a16:creationId xmlns:a16="http://schemas.microsoft.com/office/drawing/2014/main" id="{3999549E-E653-4AF8-881C-F39E88BAE248}"/>
              </a:ext>
            </a:extLst>
          </p:cNvPr>
          <p:cNvSpPr>
            <a:spLocks noGrp="1"/>
          </p:cNvSpPr>
          <p:nvPr>
            <p:ph type="ftr" sz="quarter" idx="11"/>
          </p:nvPr>
        </p:nvSpPr>
        <p:spPr>
          <a:xfrm>
            <a:off x="3028950" y="6356350"/>
            <a:ext cx="3086100" cy="365125"/>
          </a:xfrm>
        </p:spPr>
        <p:txBody>
          <a:bodyPr>
            <a:normAutofit/>
          </a:bodyPr>
          <a:lstStyle/>
          <a:p>
            <a:pPr>
              <a:lnSpc>
                <a:spcPct val="90000"/>
              </a:lnSpc>
              <a:spcAft>
                <a:spcPts val="600"/>
              </a:spcAft>
            </a:pPr>
            <a:r>
              <a:rPr lang="en-US" sz="900">
                <a:solidFill>
                  <a:srgbClr val="898989"/>
                </a:solidFill>
              </a:rPr>
              <a:t>The Science of Positive Psychology © Cambridge University Press 2021</a:t>
            </a:r>
          </a:p>
        </p:txBody>
      </p:sp>
      <p:graphicFrame>
        <p:nvGraphicFramePr>
          <p:cNvPr id="6" name="Content Placeholder 2">
            <a:extLst>
              <a:ext uri="{FF2B5EF4-FFF2-40B4-BE49-F238E27FC236}">
                <a16:creationId xmlns:a16="http://schemas.microsoft.com/office/drawing/2014/main" id="{EBCE9A6D-5874-529B-C8C5-B0CC6486B068}"/>
              </a:ext>
            </a:extLst>
          </p:cNvPr>
          <p:cNvGraphicFramePr>
            <a:graphicFrameLocks noGrp="1"/>
          </p:cNvGraphicFramePr>
          <p:nvPr>
            <p:ph idx="1"/>
            <p:extLst>
              <p:ext uri="{D42A27DB-BD31-4B8C-83A1-F6EECF244321}">
                <p14:modId xmlns:p14="http://schemas.microsoft.com/office/powerpoint/2010/main" val="1122085024"/>
              </p:ext>
            </p:extLst>
          </p:nvPr>
        </p:nvGraphicFramePr>
        <p:xfrm>
          <a:off x="3875238" y="303591"/>
          <a:ext cx="4941519" cy="58967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546226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DB304A14-32D0-4873-B914-423ED7B8DA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Content Placeholder 2">
            <a:extLst>
              <a:ext uri="{FF2B5EF4-FFF2-40B4-BE49-F238E27FC236}">
                <a16:creationId xmlns:a16="http://schemas.microsoft.com/office/drawing/2014/main" id="{5082186B-3E7C-4720-AF13-B9C22FBBA719}"/>
              </a:ext>
            </a:extLst>
          </p:cNvPr>
          <p:cNvSpPr>
            <a:spLocks noGrp="1"/>
          </p:cNvSpPr>
          <p:nvPr>
            <p:ph idx="1"/>
          </p:nvPr>
        </p:nvSpPr>
        <p:spPr>
          <a:xfrm>
            <a:off x="628650" y="1825625"/>
            <a:ext cx="4040626" cy="4351338"/>
          </a:xfrm>
        </p:spPr>
        <p:txBody>
          <a:bodyPr>
            <a:normAutofit/>
          </a:bodyPr>
          <a:lstStyle/>
          <a:p>
            <a:pPr marL="0" indent="0">
              <a:buNone/>
            </a:pPr>
            <a:r>
              <a:rPr lang="en-US" dirty="0"/>
              <a:t>What’s more important: Having more frequent positive emotions or more intense emotions?</a:t>
            </a:r>
          </a:p>
        </p:txBody>
      </p:sp>
      <p:pic>
        <p:nvPicPr>
          <p:cNvPr id="7" name="Picture 5" descr="Wood human figure">
            <a:extLst>
              <a:ext uri="{FF2B5EF4-FFF2-40B4-BE49-F238E27FC236}">
                <a16:creationId xmlns:a16="http://schemas.microsoft.com/office/drawing/2014/main" id="{1A65EEB4-4345-F8B9-09E7-762940EAA906}"/>
              </a:ext>
            </a:extLst>
          </p:cNvPr>
          <p:cNvPicPr>
            <a:picLocks noChangeAspect="1"/>
          </p:cNvPicPr>
          <p:nvPr/>
        </p:nvPicPr>
        <p:blipFill rotWithShape="1">
          <a:blip r:embed="rId2"/>
          <a:srcRect r="49865" b="2"/>
          <a:stretch/>
        </p:blipFill>
        <p:spPr>
          <a:xfrm>
            <a:off x="4965970" y="1295416"/>
            <a:ext cx="4178030" cy="5562584"/>
          </a:xfrm>
          <a:custGeom>
            <a:avLst/>
            <a:gdLst/>
            <a:ahLst/>
            <a:cxnLst/>
            <a:rect l="l" t="t" r="r" b="b"/>
            <a:pathLst>
              <a:path w="5570706" h="5562584">
                <a:moveTo>
                  <a:pt x="3374687" y="0"/>
                </a:moveTo>
                <a:cubicBezTo>
                  <a:pt x="4190094" y="0"/>
                  <a:pt x="4937956" y="289196"/>
                  <a:pt x="5521301" y="770615"/>
                </a:cubicBezTo>
                <a:lnTo>
                  <a:pt x="5570706" y="815517"/>
                </a:lnTo>
                <a:lnTo>
                  <a:pt x="5570706" y="5562584"/>
                </a:lnTo>
                <a:lnTo>
                  <a:pt x="808135" y="5562584"/>
                </a:lnTo>
                <a:lnTo>
                  <a:pt x="770615" y="5521302"/>
                </a:lnTo>
                <a:cubicBezTo>
                  <a:pt x="289196" y="4937957"/>
                  <a:pt x="0" y="4190095"/>
                  <a:pt x="0" y="3374687"/>
                </a:cubicBezTo>
                <a:cubicBezTo>
                  <a:pt x="0" y="1510899"/>
                  <a:pt x="1510899" y="0"/>
                  <a:pt x="3374687" y="0"/>
                </a:cubicBezTo>
                <a:close/>
              </a:path>
            </a:pathLst>
          </a:custGeom>
        </p:spPr>
      </p:pic>
      <p:sp>
        <p:nvSpPr>
          <p:cNvPr id="19" name="!!Oval">
            <a:extLst>
              <a:ext uri="{FF2B5EF4-FFF2-40B4-BE49-F238E27FC236}">
                <a16:creationId xmlns:a16="http://schemas.microsoft.com/office/drawing/2014/main" id="{1D460C86-854F-4FB3-ABC2-E823D8FEB9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2588" y="1656147"/>
            <a:ext cx="409575" cy="5461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1" name="!!Arc">
            <a:extLst>
              <a:ext uri="{FF2B5EF4-FFF2-40B4-BE49-F238E27FC236}">
                <a16:creationId xmlns:a16="http://schemas.microsoft.com/office/drawing/2014/main" id="{BB48116A-278A-4CC5-89D3-9DE8E8FF12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01054" y="587516"/>
            <a:ext cx="2240924"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BDC3A869-721B-4F79-8BD9-9DD91F4F89B2}"/>
              </a:ext>
            </a:extLst>
          </p:cNvPr>
          <p:cNvSpPr>
            <a:spLocks noGrp="1"/>
          </p:cNvSpPr>
          <p:nvPr>
            <p:ph type="ftr" sz="quarter" idx="11"/>
          </p:nvPr>
        </p:nvSpPr>
        <p:spPr>
          <a:xfrm>
            <a:off x="2409939" y="6356350"/>
            <a:ext cx="2259337" cy="365125"/>
          </a:xfrm>
        </p:spPr>
        <p:txBody>
          <a:bodyPr>
            <a:normAutofit/>
          </a:bodyPr>
          <a:lstStyle/>
          <a:p>
            <a:pPr algn="r">
              <a:lnSpc>
                <a:spcPct val="90000"/>
              </a:lnSpc>
              <a:spcAft>
                <a:spcPts val="600"/>
              </a:spcAft>
            </a:pPr>
            <a:r>
              <a:rPr lang="en-US" sz="900"/>
              <a:t>The Science of Positive Psychology © Cambridge University Press 2021</a:t>
            </a:r>
          </a:p>
        </p:txBody>
      </p:sp>
    </p:spTree>
    <p:extLst>
      <p:ext uri="{BB962C8B-B14F-4D97-AF65-F5344CB8AC3E}">
        <p14:creationId xmlns:p14="http://schemas.microsoft.com/office/powerpoint/2010/main" val="15803933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B304A14-32D0-4873-B914-423ED7B8DA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7" name="Picture 6">
            <a:extLst>
              <a:ext uri="{FF2B5EF4-FFF2-40B4-BE49-F238E27FC236}">
                <a16:creationId xmlns:a16="http://schemas.microsoft.com/office/drawing/2014/main" id="{27710A67-C2BF-AD99-D121-EB5C84B2A9B7}"/>
              </a:ext>
            </a:extLst>
          </p:cNvPr>
          <p:cNvPicPr>
            <a:picLocks noChangeAspect="1"/>
          </p:cNvPicPr>
          <p:nvPr/>
        </p:nvPicPr>
        <p:blipFill rotWithShape="1">
          <a:blip r:embed="rId2"/>
          <a:srcRect l="34511" r="15354" b="2"/>
          <a:stretch/>
        </p:blipFill>
        <p:spPr>
          <a:xfrm>
            <a:off x="4965970" y="1295416"/>
            <a:ext cx="4178030" cy="5562584"/>
          </a:xfrm>
          <a:custGeom>
            <a:avLst/>
            <a:gdLst/>
            <a:ahLst/>
            <a:cxnLst/>
            <a:rect l="l" t="t" r="r" b="b"/>
            <a:pathLst>
              <a:path w="5570706" h="5562584">
                <a:moveTo>
                  <a:pt x="3374687" y="0"/>
                </a:moveTo>
                <a:cubicBezTo>
                  <a:pt x="4190094" y="0"/>
                  <a:pt x="4937956" y="289196"/>
                  <a:pt x="5521301" y="770615"/>
                </a:cubicBezTo>
                <a:lnTo>
                  <a:pt x="5570706" y="815517"/>
                </a:lnTo>
                <a:lnTo>
                  <a:pt x="5570706" y="5562584"/>
                </a:lnTo>
                <a:lnTo>
                  <a:pt x="808135" y="5562584"/>
                </a:lnTo>
                <a:lnTo>
                  <a:pt x="770615" y="5521302"/>
                </a:lnTo>
                <a:cubicBezTo>
                  <a:pt x="289196" y="4937957"/>
                  <a:pt x="0" y="4190095"/>
                  <a:pt x="0" y="3374687"/>
                </a:cubicBezTo>
                <a:cubicBezTo>
                  <a:pt x="0" y="1510899"/>
                  <a:pt x="1510899" y="0"/>
                  <a:pt x="3374687" y="0"/>
                </a:cubicBezTo>
                <a:close/>
              </a:path>
            </a:pathLst>
          </a:custGeom>
        </p:spPr>
      </p:pic>
      <p:sp>
        <p:nvSpPr>
          <p:cNvPr id="13" name="!!Oval">
            <a:extLst>
              <a:ext uri="{FF2B5EF4-FFF2-40B4-BE49-F238E27FC236}">
                <a16:creationId xmlns:a16="http://schemas.microsoft.com/office/drawing/2014/main" id="{1D460C86-854F-4FB3-ABC2-E823D8FEB9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2588" y="1656147"/>
            <a:ext cx="409575" cy="5461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5" name="!!Arc">
            <a:extLst>
              <a:ext uri="{FF2B5EF4-FFF2-40B4-BE49-F238E27FC236}">
                <a16:creationId xmlns:a16="http://schemas.microsoft.com/office/drawing/2014/main" id="{BB48116A-278A-4CC5-89D3-9DE8E8FF12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01054" y="587516"/>
            <a:ext cx="2240924"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07C1E6E4-4CBA-4B3E-A5A2-5B7027B4CB89}"/>
              </a:ext>
            </a:extLst>
          </p:cNvPr>
          <p:cNvSpPr>
            <a:spLocks noGrp="1"/>
          </p:cNvSpPr>
          <p:nvPr>
            <p:ph type="ftr" sz="quarter" idx="11"/>
          </p:nvPr>
        </p:nvSpPr>
        <p:spPr>
          <a:xfrm>
            <a:off x="2409939" y="6356350"/>
            <a:ext cx="2259337" cy="365125"/>
          </a:xfrm>
        </p:spPr>
        <p:txBody>
          <a:bodyPr>
            <a:normAutofit/>
          </a:bodyPr>
          <a:lstStyle/>
          <a:p>
            <a:pPr algn="r">
              <a:lnSpc>
                <a:spcPct val="90000"/>
              </a:lnSpc>
              <a:spcAft>
                <a:spcPts val="600"/>
              </a:spcAft>
            </a:pPr>
            <a:r>
              <a:rPr lang="en-US" sz="900"/>
              <a:t>The Science of Positive Psychology © Cambridge University Press 2021</a:t>
            </a:r>
          </a:p>
        </p:txBody>
      </p:sp>
      <p:graphicFrame>
        <p:nvGraphicFramePr>
          <p:cNvPr id="6" name="Content Placeholder 2">
            <a:extLst>
              <a:ext uri="{FF2B5EF4-FFF2-40B4-BE49-F238E27FC236}">
                <a16:creationId xmlns:a16="http://schemas.microsoft.com/office/drawing/2014/main" id="{CE586755-A268-42BE-96F3-D2FCC4E22E4D}"/>
              </a:ext>
            </a:extLst>
          </p:cNvPr>
          <p:cNvGraphicFramePr>
            <a:graphicFrameLocks noGrp="1"/>
          </p:cNvGraphicFramePr>
          <p:nvPr>
            <p:ph idx="1"/>
            <p:extLst>
              <p:ext uri="{D42A27DB-BD31-4B8C-83A1-F6EECF244321}">
                <p14:modId xmlns:p14="http://schemas.microsoft.com/office/powerpoint/2010/main" val="1752329705"/>
              </p:ext>
            </p:extLst>
          </p:nvPr>
        </p:nvGraphicFramePr>
        <p:xfrm>
          <a:off x="628650" y="1825625"/>
          <a:ext cx="4040626"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283985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9C11898-79E1-5C1C-F203-095D47629C72}"/>
              </a:ext>
            </a:extLst>
          </p:cNvPr>
          <p:cNvSpPr>
            <a:spLocks noGrp="1"/>
          </p:cNvSpPr>
          <p:nvPr>
            <p:ph type="title"/>
          </p:nvPr>
        </p:nvSpPr>
        <p:spPr>
          <a:xfrm>
            <a:off x="1028697" y="348865"/>
            <a:ext cx="7533018" cy="877729"/>
          </a:xfrm>
        </p:spPr>
        <p:txBody>
          <a:bodyPr anchor="ctr">
            <a:normAutofit/>
          </a:bodyPr>
          <a:lstStyle/>
          <a:p>
            <a:r>
              <a:rPr lang="en-US" sz="3500">
                <a:solidFill>
                  <a:srgbClr val="FFFFFF"/>
                </a:solidFill>
              </a:rPr>
              <a:t>Happiness and Employment Success</a:t>
            </a:r>
          </a:p>
        </p:txBody>
      </p:sp>
      <p:sp>
        <p:nvSpPr>
          <p:cNvPr id="4" name="Footer Placeholder 3">
            <a:extLst>
              <a:ext uri="{FF2B5EF4-FFF2-40B4-BE49-F238E27FC236}">
                <a16:creationId xmlns:a16="http://schemas.microsoft.com/office/drawing/2014/main" id="{EB29CD5D-F70D-BEA1-35B1-08C06793FFAA}"/>
              </a:ext>
            </a:extLst>
          </p:cNvPr>
          <p:cNvSpPr>
            <a:spLocks noGrp="1"/>
          </p:cNvSpPr>
          <p:nvPr>
            <p:ph type="ftr" sz="quarter" idx="11"/>
          </p:nvPr>
        </p:nvSpPr>
        <p:spPr>
          <a:xfrm rot="5400000">
            <a:off x="-1371600" y="1984248"/>
            <a:ext cx="3086100" cy="365125"/>
          </a:xfrm>
        </p:spPr>
        <p:txBody>
          <a:bodyPr>
            <a:normAutofit/>
          </a:bodyPr>
          <a:lstStyle/>
          <a:p>
            <a:pPr algn="l">
              <a:lnSpc>
                <a:spcPct val="90000"/>
              </a:lnSpc>
              <a:spcAft>
                <a:spcPts val="600"/>
              </a:spcAft>
            </a:pPr>
            <a:r>
              <a:rPr lang="en-US" sz="900">
                <a:solidFill>
                  <a:srgbClr val="FFFFFF"/>
                </a:solidFill>
              </a:rPr>
              <a:t>The Science and Application of Positive Psychology © Cambridge University Press 2021</a:t>
            </a:r>
          </a:p>
        </p:txBody>
      </p:sp>
      <p:graphicFrame>
        <p:nvGraphicFramePr>
          <p:cNvPr id="6" name="Content Placeholder 2">
            <a:extLst>
              <a:ext uri="{FF2B5EF4-FFF2-40B4-BE49-F238E27FC236}">
                <a16:creationId xmlns:a16="http://schemas.microsoft.com/office/drawing/2014/main" id="{CC78C929-2F6C-A799-16E1-532F3874FD25}"/>
              </a:ext>
            </a:extLst>
          </p:cNvPr>
          <p:cNvGraphicFramePr>
            <a:graphicFrameLocks noGrp="1"/>
          </p:cNvGraphicFramePr>
          <p:nvPr>
            <p:ph idx="1"/>
            <p:extLst>
              <p:ext uri="{D42A27DB-BD31-4B8C-83A1-F6EECF244321}">
                <p14:modId xmlns:p14="http://schemas.microsoft.com/office/powerpoint/2010/main" val="1993049195"/>
              </p:ext>
            </p:extLst>
          </p:nvPr>
        </p:nvGraphicFramePr>
        <p:xfrm>
          <a:off x="483042" y="1776249"/>
          <a:ext cx="8195871" cy="45291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121517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1A95671B-3CC6-4792-9114-B74FAEA22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13">
            <a:extLst>
              <a:ext uri="{FF2B5EF4-FFF2-40B4-BE49-F238E27FC236}">
                <a16:creationId xmlns:a16="http://schemas.microsoft.com/office/drawing/2014/main" id="{870A7A73-A4AC-DFF1-9BC2-6E8CD677AFDB}"/>
              </a:ext>
            </a:extLst>
          </p:cNvPr>
          <p:cNvSpPr>
            <a:spLocks noGrp="1"/>
          </p:cNvSpPr>
          <p:nvPr>
            <p:ph idx="1"/>
          </p:nvPr>
        </p:nvSpPr>
        <p:spPr>
          <a:xfrm>
            <a:off x="881339" y="839407"/>
            <a:ext cx="7631722" cy="767904"/>
          </a:xfrm>
        </p:spPr>
        <p:txBody>
          <a:bodyPr anchor="ctr">
            <a:noAutofit/>
          </a:bodyPr>
          <a:lstStyle/>
          <a:p>
            <a:pPr marL="0" indent="0" algn="ctr">
              <a:buNone/>
            </a:pPr>
            <a:r>
              <a:rPr lang="en-US" dirty="0"/>
              <a:t>Positive Affect Predicts Goal-Setting and Intensity of Job Search</a:t>
            </a:r>
          </a:p>
          <a:p>
            <a:pPr marL="0" indent="0" algn="ctr">
              <a:buNone/>
            </a:pPr>
            <a:endParaRPr lang="en-US" dirty="0"/>
          </a:p>
          <a:p>
            <a:pPr marL="0" indent="0" algn="ctr">
              <a:buNone/>
            </a:pPr>
            <a:r>
              <a:rPr lang="en-US" dirty="0"/>
              <a:t>Which Predicts Job Interviews and Offers</a:t>
            </a:r>
          </a:p>
        </p:txBody>
      </p:sp>
      <p:pic>
        <p:nvPicPr>
          <p:cNvPr id="10" name="Content Placeholder 9">
            <a:extLst>
              <a:ext uri="{FF2B5EF4-FFF2-40B4-BE49-F238E27FC236}">
                <a16:creationId xmlns:a16="http://schemas.microsoft.com/office/drawing/2014/main" id="{57D21960-120E-0BB9-750D-D83955DD2505}"/>
              </a:ext>
            </a:extLst>
          </p:cNvPr>
          <p:cNvPicPr>
            <a:picLocks noChangeAspect="1"/>
          </p:cNvPicPr>
          <p:nvPr/>
        </p:nvPicPr>
        <p:blipFill>
          <a:blip r:embed="rId2"/>
          <a:stretch>
            <a:fillRect/>
          </a:stretch>
        </p:blipFill>
        <p:spPr>
          <a:xfrm>
            <a:off x="626365" y="2446717"/>
            <a:ext cx="7886696" cy="3816256"/>
          </a:xfrm>
          <a:prstGeom prst="rect">
            <a:avLst/>
          </a:prstGeom>
        </p:spPr>
      </p:pic>
      <p:sp>
        <p:nvSpPr>
          <p:cNvPr id="4" name="Footer Placeholder 3">
            <a:extLst>
              <a:ext uri="{FF2B5EF4-FFF2-40B4-BE49-F238E27FC236}">
                <a16:creationId xmlns:a16="http://schemas.microsoft.com/office/drawing/2014/main" id="{032227B9-608D-8CA8-1BAD-33244BEE255A}"/>
              </a:ext>
            </a:extLst>
          </p:cNvPr>
          <p:cNvSpPr>
            <a:spLocks noGrp="1"/>
          </p:cNvSpPr>
          <p:nvPr>
            <p:ph type="ftr" sz="quarter" idx="11"/>
          </p:nvPr>
        </p:nvSpPr>
        <p:spPr>
          <a:xfrm>
            <a:off x="3028950" y="6356350"/>
            <a:ext cx="3086100" cy="365125"/>
          </a:xfrm>
        </p:spPr>
        <p:txBody>
          <a:bodyPr vert="horz" lIns="91440" tIns="45720" rIns="91440" bIns="45720" rtlCol="0">
            <a:normAutofit/>
          </a:bodyPr>
          <a:lstStyle/>
          <a:p>
            <a:pPr defTabSz="914400">
              <a:lnSpc>
                <a:spcPct val="90000"/>
              </a:lnSpc>
              <a:spcAft>
                <a:spcPts val="600"/>
              </a:spcAft>
            </a:pPr>
            <a:r>
              <a:rPr lang="en-US" sz="900" kern="1200" dirty="0">
                <a:latin typeface="+mn-lt"/>
                <a:ea typeface="+mn-ea"/>
                <a:cs typeface="+mn-cs"/>
              </a:rPr>
              <a:t>The Science and Application of Positive Psychology © Cambridge University Press 2021</a:t>
            </a:r>
          </a:p>
        </p:txBody>
      </p:sp>
    </p:spTree>
    <p:extLst>
      <p:ext uri="{BB962C8B-B14F-4D97-AF65-F5344CB8AC3E}">
        <p14:creationId xmlns:p14="http://schemas.microsoft.com/office/powerpoint/2010/main" val="3432750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EBD4D-86AB-B10B-5F61-1AADA76783A5}"/>
              </a:ext>
            </a:extLst>
          </p:cNvPr>
          <p:cNvSpPr>
            <a:spLocks noGrp="1"/>
          </p:cNvSpPr>
          <p:nvPr>
            <p:ph type="title"/>
          </p:nvPr>
        </p:nvSpPr>
        <p:spPr/>
        <p:txBody>
          <a:bodyPr/>
          <a:lstStyle/>
          <a:p>
            <a:r>
              <a:rPr lang="en-US" dirty="0"/>
              <a:t>Happiness Prospectively Predicts Job Outcomes</a:t>
            </a:r>
          </a:p>
        </p:txBody>
      </p:sp>
      <p:graphicFrame>
        <p:nvGraphicFramePr>
          <p:cNvPr id="6" name="Content Placeholder 2">
            <a:extLst>
              <a:ext uri="{FF2B5EF4-FFF2-40B4-BE49-F238E27FC236}">
                <a16:creationId xmlns:a16="http://schemas.microsoft.com/office/drawing/2014/main" id="{99D6FF57-BABD-64EF-92B2-6273B85F3522}"/>
              </a:ext>
            </a:extLst>
          </p:cNvPr>
          <p:cNvGraphicFramePr>
            <a:graphicFrameLocks noGrp="1"/>
          </p:cNvGraphicFramePr>
          <p:nvPr>
            <p:ph idx="1"/>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a:extLst>
              <a:ext uri="{FF2B5EF4-FFF2-40B4-BE49-F238E27FC236}">
                <a16:creationId xmlns:a16="http://schemas.microsoft.com/office/drawing/2014/main" id="{5DA8A72C-C1DC-173E-CDB1-9F52F07A703A}"/>
              </a:ext>
            </a:extLst>
          </p:cNvPr>
          <p:cNvSpPr>
            <a:spLocks noGrp="1"/>
          </p:cNvSpPr>
          <p:nvPr>
            <p:ph type="ftr" sz="quarter" idx="11"/>
          </p:nvPr>
        </p:nvSpPr>
        <p:spPr>
          <a:xfrm>
            <a:off x="2002155" y="6354798"/>
            <a:ext cx="6130730" cy="461665"/>
          </a:xfrm>
        </p:spPr>
        <p:txBody>
          <a:bodyPr/>
          <a:lstStyle/>
          <a:p>
            <a:r>
              <a:rPr lang="en-US" dirty="0"/>
              <a:t>The Science and Application of Positive Psychology © Cambridge University Press 2021</a:t>
            </a:r>
          </a:p>
        </p:txBody>
      </p:sp>
    </p:spTree>
    <p:extLst>
      <p:ext uri="{BB962C8B-B14F-4D97-AF65-F5344CB8AC3E}">
        <p14:creationId xmlns:p14="http://schemas.microsoft.com/office/powerpoint/2010/main" val="20425218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23DA1-1808-4ED9-9F58-72CE53C156EE}"/>
              </a:ext>
            </a:extLst>
          </p:cNvPr>
          <p:cNvSpPr>
            <a:spLocks noGrp="1"/>
          </p:cNvSpPr>
          <p:nvPr>
            <p:ph type="title"/>
          </p:nvPr>
        </p:nvSpPr>
        <p:spPr>
          <a:xfrm>
            <a:off x="628650" y="365128"/>
            <a:ext cx="7886700" cy="1325563"/>
          </a:xfrm>
        </p:spPr>
        <p:txBody>
          <a:bodyPr anchor="ctr">
            <a:normAutofit/>
          </a:bodyPr>
          <a:lstStyle/>
          <a:p>
            <a:r>
              <a:rPr lang="en-US" dirty="0"/>
              <a:t>Journal Entry #22 </a:t>
            </a:r>
            <a:br>
              <a:rPr lang="en-US" dirty="0"/>
            </a:br>
            <a:r>
              <a:rPr lang="en-US" dirty="0"/>
              <a:t>Design a Happy Workplace</a:t>
            </a:r>
          </a:p>
        </p:txBody>
      </p:sp>
      <p:sp>
        <p:nvSpPr>
          <p:cNvPr id="4" name="Footer Placeholder 3">
            <a:extLst>
              <a:ext uri="{FF2B5EF4-FFF2-40B4-BE49-F238E27FC236}">
                <a16:creationId xmlns:a16="http://schemas.microsoft.com/office/drawing/2014/main" id="{7F1C8930-5784-E2DD-8112-83FA03BF856A}"/>
              </a:ext>
            </a:extLst>
          </p:cNvPr>
          <p:cNvSpPr>
            <a:spLocks noGrp="1"/>
          </p:cNvSpPr>
          <p:nvPr>
            <p:ph type="ftr" sz="quarter" idx="11"/>
          </p:nvPr>
        </p:nvSpPr>
        <p:spPr>
          <a:xfrm>
            <a:off x="2002155" y="6447131"/>
            <a:ext cx="5139690" cy="276999"/>
          </a:xfrm>
        </p:spPr>
        <p:txBody>
          <a:bodyPr anchor="ctr">
            <a:normAutofit/>
          </a:bodyPr>
          <a:lstStyle/>
          <a:p>
            <a:pPr>
              <a:spcAft>
                <a:spcPts val="600"/>
              </a:spcAft>
            </a:pPr>
            <a:r>
              <a:rPr lang="en-US"/>
              <a:t>The Science of Positive Psychology © Cambridge University Press 2021</a:t>
            </a:r>
          </a:p>
        </p:txBody>
      </p:sp>
      <p:graphicFrame>
        <p:nvGraphicFramePr>
          <p:cNvPr id="6" name="Content Placeholder 2">
            <a:extLst>
              <a:ext uri="{FF2B5EF4-FFF2-40B4-BE49-F238E27FC236}">
                <a16:creationId xmlns:a16="http://schemas.microsoft.com/office/drawing/2014/main" id="{0453DA57-8A75-7164-D947-69726CB2883B}"/>
              </a:ext>
            </a:extLst>
          </p:cNvPr>
          <p:cNvGraphicFramePr>
            <a:graphicFrameLocks noGrp="1"/>
          </p:cNvGraphicFramePr>
          <p:nvPr>
            <p:ph idx="1"/>
            <p:extLst>
              <p:ext uri="{D42A27DB-BD31-4B8C-83A1-F6EECF244321}">
                <p14:modId xmlns:p14="http://schemas.microsoft.com/office/powerpoint/2010/main" val="3363743422"/>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143984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17">
            <a:extLst>
              <a:ext uri="{FF2B5EF4-FFF2-40B4-BE49-F238E27FC236}">
                <a16:creationId xmlns:a16="http://schemas.microsoft.com/office/drawing/2014/main" id="{DB304A14-32D0-4873-B914-423ED7B8DA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45BAA6F7-0CAC-0FE4-FF71-6240B8950CF8}"/>
              </a:ext>
            </a:extLst>
          </p:cNvPr>
          <p:cNvSpPr>
            <a:spLocks noGrp="1"/>
          </p:cNvSpPr>
          <p:nvPr>
            <p:ph type="title"/>
          </p:nvPr>
        </p:nvSpPr>
        <p:spPr>
          <a:xfrm>
            <a:off x="628650" y="365125"/>
            <a:ext cx="4040626" cy="1325563"/>
          </a:xfrm>
        </p:spPr>
        <p:txBody>
          <a:bodyPr>
            <a:normAutofit/>
          </a:bodyPr>
          <a:lstStyle/>
          <a:p>
            <a:r>
              <a:rPr lang="en-US"/>
              <a:t>Job, Career, Calling</a:t>
            </a:r>
          </a:p>
        </p:txBody>
      </p:sp>
      <p:pic>
        <p:nvPicPr>
          <p:cNvPr id="25" name="Picture 13">
            <a:extLst>
              <a:ext uri="{FF2B5EF4-FFF2-40B4-BE49-F238E27FC236}">
                <a16:creationId xmlns:a16="http://schemas.microsoft.com/office/drawing/2014/main" id="{2BAE1C9C-71E9-1849-6710-0E5D217B0528}"/>
              </a:ext>
            </a:extLst>
          </p:cNvPr>
          <p:cNvPicPr>
            <a:picLocks noChangeAspect="1"/>
          </p:cNvPicPr>
          <p:nvPr/>
        </p:nvPicPr>
        <p:blipFill rotWithShape="1">
          <a:blip r:embed="rId2"/>
          <a:srcRect l="31910" r="17955" b="2"/>
          <a:stretch/>
        </p:blipFill>
        <p:spPr>
          <a:xfrm>
            <a:off x="4965970" y="1295416"/>
            <a:ext cx="4178030" cy="5562584"/>
          </a:xfrm>
          <a:custGeom>
            <a:avLst/>
            <a:gdLst/>
            <a:ahLst/>
            <a:cxnLst/>
            <a:rect l="l" t="t" r="r" b="b"/>
            <a:pathLst>
              <a:path w="5570706" h="5562584">
                <a:moveTo>
                  <a:pt x="3374687" y="0"/>
                </a:moveTo>
                <a:cubicBezTo>
                  <a:pt x="4190094" y="0"/>
                  <a:pt x="4937956" y="289196"/>
                  <a:pt x="5521301" y="770615"/>
                </a:cubicBezTo>
                <a:lnTo>
                  <a:pt x="5570706" y="815517"/>
                </a:lnTo>
                <a:lnTo>
                  <a:pt x="5570706" y="5562584"/>
                </a:lnTo>
                <a:lnTo>
                  <a:pt x="808135" y="5562584"/>
                </a:lnTo>
                <a:lnTo>
                  <a:pt x="770615" y="5521302"/>
                </a:lnTo>
                <a:cubicBezTo>
                  <a:pt x="289196" y="4937957"/>
                  <a:pt x="0" y="4190095"/>
                  <a:pt x="0" y="3374687"/>
                </a:cubicBezTo>
                <a:cubicBezTo>
                  <a:pt x="0" y="1510899"/>
                  <a:pt x="1510899" y="0"/>
                  <a:pt x="3374687" y="0"/>
                </a:cubicBezTo>
                <a:close/>
              </a:path>
            </a:pathLst>
          </a:custGeom>
        </p:spPr>
      </p:pic>
      <p:sp>
        <p:nvSpPr>
          <p:cNvPr id="26" name="!!Oval">
            <a:extLst>
              <a:ext uri="{FF2B5EF4-FFF2-40B4-BE49-F238E27FC236}">
                <a16:creationId xmlns:a16="http://schemas.microsoft.com/office/drawing/2014/main" id="{1D460C86-854F-4FB3-ABC2-E823D8FEB9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2588" y="1656147"/>
            <a:ext cx="409575" cy="5461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7" name="!!Arc">
            <a:extLst>
              <a:ext uri="{FF2B5EF4-FFF2-40B4-BE49-F238E27FC236}">
                <a16:creationId xmlns:a16="http://schemas.microsoft.com/office/drawing/2014/main" id="{BB48116A-278A-4CC5-89D3-9DE8E8FF12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01054" y="587516"/>
            <a:ext cx="2240924"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2B9F7BCA-9CEF-80DD-A12E-5D8EEC8AD75B}"/>
              </a:ext>
            </a:extLst>
          </p:cNvPr>
          <p:cNvSpPr>
            <a:spLocks noGrp="1"/>
          </p:cNvSpPr>
          <p:nvPr>
            <p:ph type="ftr" sz="quarter" idx="11"/>
          </p:nvPr>
        </p:nvSpPr>
        <p:spPr>
          <a:xfrm>
            <a:off x="2409939" y="6356350"/>
            <a:ext cx="2259337" cy="365125"/>
          </a:xfrm>
        </p:spPr>
        <p:txBody>
          <a:bodyPr>
            <a:normAutofit/>
          </a:bodyPr>
          <a:lstStyle/>
          <a:p>
            <a:pPr algn="r">
              <a:lnSpc>
                <a:spcPct val="90000"/>
              </a:lnSpc>
              <a:spcAft>
                <a:spcPts val="600"/>
              </a:spcAft>
            </a:pPr>
            <a:r>
              <a:rPr lang="en-US" sz="800"/>
              <a:t>The Science and Application of Positive Psychology © Cambridge University Press 2021</a:t>
            </a:r>
          </a:p>
        </p:txBody>
      </p:sp>
      <p:graphicFrame>
        <p:nvGraphicFramePr>
          <p:cNvPr id="28" name="Content Placeholder 2">
            <a:extLst>
              <a:ext uri="{FF2B5EF4-FFF2-40B4-BE49-F238E27FC236}">
                <a16:creationId xmlns:a16="http://schemas.microsoft.com/office/drawing/2014/main" id="{9A3376CD-CBE0-F850-F4CF-4C0C107BCC92}"/>
              </a:ext>
            </a:extLst>
          </p:cNvPr>
          <p:cNvGraphicFramePr>
            <a:graphicFrameLocks noGrp="1"/>
          </p:cNvGraphicFramePr>
          <p:nvPr>
            <p:ph idx="1"/>
            <p:extLst>
              <p:ext uri="{D42A27DB-BD31-4B8C-83A1-F6EECF244321}">
                <p14:modId xmlns:p14="http://schemas.microsoft.com/office/powerpoint/2010/main" val="2307507043"/>
              </p:ext>
            </p:extLst>
          </p:nvPr>
        </p:nvGraphicFramePr>
        <p:xfrm>
          <a:off x="628650" y="1825625"/>
          <a:ext cx="4040626"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321132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66E48AFA-8884-4F68-A44F-D2C1E8609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4DA4D8B2-9987-FCFC-E08F-0B625D4C21C9}"/>
              </a:ext>
            </a:extLst>
          </p:cNvPr>
          <p:cNvSpPr>
            <a:spLocks noGrp="1"/>
          </p:cNvSpPr>
          <p:nvPr>
            <p:ph type="title"/>
          </p:nvPr>
        </p:nvSpPr>
        <p:spPr>
          <a:xfrm>
            <a:off x="628650" y="3998018"/>
            <a:ext cx="2986391" cy="2216513"/>
          </a:xfrm>
        </p:spPr>
        <p:txBody>
          <a:bodyPr>
            <a:normAutofit/>
          </a:bodyPr>
          <a:lstStyle/>
          <a:p>
            <a:r>
              <a:rPr lang="en-US"/>
              <a:t>When Work is a Calling</a:t>
            </a:r>
          </a:p>
        </p:txBody>
      </p:sp>
      <p:sp>
        <p:nvSpPr>
          <p:cNvPr id="19" name="Arc 18">
            <a:extLst>
              <a:ext uri="{FF2B5EF4-FFF2-40B4-BE49-F238E27FC236}">
                <a16:creationId xmlns:a16="http://schemas.microsoft.com/office/drawing/2014/main" id="{969D19A6-08CB-498C-93EC-3FFB021FC6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6164896" y="3712762"/>
            <a:ext cx="2987899" cy="2240924"/>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328AA928-AFFA-81E2-ECD5-B528F93ED6E9}"/>
              </a:ext>
            </a:extLst>
          </p:cNvPr>
          <p:cNvPicPr>
            <a:picLocks noChangeAspect="1"/>
          </p:cNvPicPr>
          <p:nvPr/>
        </p:nvPicPr>
        <p:blipFill>
          <a:blip r:embed="rId2"/>
          <a:stretch>
            <a:fillRect/>
          </a:stretch>
        </p:blipFill>
        <p:spPr>
          <a:xfrm>
            <a:off x="494935" y="1137117"/>
            <a:ext cx="8154129" cy="2092246"/>
          </a:xfrm>
          <a:custGeom>
            <a:avLst/>
            <a:gdLst/>
            <a:ahLst/>
            <a:cxnLst/>
            <a:rect l="l" t="t" r="r" b="b"/>
            <a:pathLst>
              <a:path w="10580201" h="2957472">
                <a:moveTo>
                  <a:pt x="88961" y="0"/>
                </a:moveTo>
                <a:lnTo>
                  <a:pt x="10491240" y="0"/>
                </a:lnTo>
                <a:cubicBezTo>
                  <a:pt x="10540372" y="0"/>
                  <a:pt x="10580201" y="39829"/>
                  <a:pt x="10580201" y="88961"/>
                </a:cubicBezTo>
                <a:lnTo>
                  <a:pt x="10580201" y="2868511"/>
                </a:lnTo>
                <a:cubicBezTo>
                  <a:pt x="10580201" y="2917643"/>
                  <a:pt x="10540372" y="2957472"/>
                  <a:pt x="10491240" y="2957472"/>
                </a:cubicBezTo>
                <a:lnTo>
                  <a:pt x="88961" y="2957472"/>
                </a:lnTo>
                <a:cubicBezTo>
                  <a:pt x="39829" y="2957472"/>
                  <a:pt x="0" y="2917643"/>
                  <a:pt x="0" y="2868511"/>
                </a:cubicBezTo>
                <a:lnTo>
                  <a:pt x="0" y="88961"/>
                </a:lnTo>
                <a:cubicBezTo>
                  <a:pt x="0" y="39829"/>
                  <a:pt x="39829" y="0"/>
                  <a:pt x="88961" y="0"/>
                </a:cubicBezTo>
                <a:close/>
              </a:path>
            </a:pathLst>
          </a:custGeom>
        </p:spPr>
      </p:pic>
      <p:sp>
        <p:nvSpPr>
          <p:cNvPr id="3" name="Content Placeholder 2">
            <a:extLst>
              <a:ext uri="{FF2B5EF4-FFF2-40B4-BE49-F238E27FC236}">
                <a16:creationId xmlns:a16="http://schemas.microsoft.com/office/drawing/2014/main" id="{6D7B166A-E67C-7A3E-2D4B-C418A6E8DC42}"/>
              </a:ext>
            </a:extLst>
          </p:cNvPr>
          <p:cNvSpPr>
            <a:spLocks noGrp="1"/>
          </p:cNvSpPr>
          <p:nvPr>
            <p:ph idx="1"/>
          </p:nvPr>
        </p:nvSpPr>
        <p:spPr>
          <a:xfrm>
            <a:off x="3728126" y="3998019"/>
            <a:ext cx="4787224" cy="2216512"/>
          </a:xfrm>
        </p:spPr>
        <p:txBody>
          <a:bodyPr>
            <a:normAutofit/>
          </a:bodyPr>
          <a:lstStyle/>
          <a:p>
            <a:r>
              <a:rPr lang="en-US" sz="1500"/>
              <a:t>Perceiving a calling – having the experience that you are “meant” to do a certain type of work</a:t>
            </a:r>
          </a:p>
          <a:p>
            <a:r>
              <a:rPr lang="en-US" sz="1500"/>
              <a:t>Living a calling – finding or creating an opportunity within one’s work to access purpose or meaning or contribute to the greater good</a:t>
            </a:r>
          </a:p>
          <a:p>
            <a:r>
              <a:rPr lang="en-US" sz="1500"/>
              <a:t>Perceiving a calling and living a calling correlated about </a:t>
            </a:r>
            <a:r>
              <a:rPr lang="en-US" sz="1500" i="1"/>
              <a:t>r</a:t>
            </a:r>
            <a:r>
              <a:rPr lang="en-US" sz="1500"/>
              <a:t> = .50</a:t>
            </a:r>
          </a:p>
        </p:txBody>
      </p:sp>
      <p:sp>
        <p:nvSpPr>
          <p:cNvPr id="4" name="Footer Placeholder 3">
            <a:extLst>
              <a:ext uri="{FF2B5EF4-FFF2-40B4-BE49-F238E27FC236}">
                <a16:creationId xmlns:a16="http://schemas.microsoft.com/office/drawing/2014/main" id="{728C6E2E-5817-DCC0-51ED-3B01677FB21B}"/>
              </a:ext>
            </a:extLst>
          </p:cNvPr>
          <p:cNvSpPr>
            <a:spLocks noGrp="1"/>
          </p:cNvSpPr>
          <p:nvPr>
            <p:ph type="ftr" sz="quarter" idx="11"/>
          </p:nvPr>
        </p:nvSpPr>
        <p:spPr>
          <a:xfrm>
            <a:off x="3028950" y="6356350"/>
            <a:ext cx="3086100" cy="365125"/>
          </a:xfrm>
        </p:spPr>
        <p:txBody>
          <a:bodyPr>
            <a:normAutofit/>
          </a:bodyPr>
          <a:lstStyle/>
          <a:p>
            <a:pPr>
              <a:lnSpc>
                <a:spcPct val="90000"/>
              </a:lnSpc>
              <a:spcAft>
                <a:spcPts val="600"/>
              </a:spcAft>
            </a:pPr>
            <a:r>
              <a:rPr lang="en-US" sz="900"/>
              <a:t>The Science and Application of Positive Psychology © Cambridge University Press 2021</a:t>
            </a:r>
          </a:p>
        </p:txBody>
      </p:sp>
    </p:spTree>
    <p:extLst>
      <p:ext uri="{BB962C8B-B14F-4D97-AF65-F5344CB8AC3E}">
        <p14:creationId xmlns:p14="http://schemas.microsoft.com/office/powerpoint/2010/main" val="36656033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6891" y="1119031"/>
            <a:ext cx="3464954"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p:cNvSpPr>
            <a:spLocks noGrp="1"/>
          </p:cNvSpPr>
          <p:nvPr>
            <p:ph type="title"/>
          </p:nvPr>
        </p:nvSpPr>
        <p:spPr>
          <a:xfrm>
            <a:off x="878305" y="1396686"/>
            <a:ext cx="2430380" cy="4064628"/>
          </a:xfrm>
        </p:spPr>
        <p:txBody>
          <a:bodyPr>
            <a:normAutofit/>
          </a:bodyPr>
          <a:lstStyle/>
          <a:p>
            <a:r>
              <a:rPr lang="en-US">
                <a:solidFill>
                  <a:srgbClr val="FFFFFF"/>
                </a:solidFill>
              </a:rPr>
              <a:t>It’s not just a job, it’s a calling</a:t>
            </a:r>
            <a:br>
              <a:rPr lang="en-US">
                <a:solidFill>
                  <a:srgbClr val="FFFFFF"/>
                </a:solidFill>
              </a:rPr>
            </a:br>
            <a:endParaRPr lang="en-IN">
              <a:solidFill>
                <a:srgbClr val="FFFFFF"/>
              </a:solidFill>
            </a:endParaRPr>
          </a:p>
        </p:txBody>
      </p:sp>
      <p:sp>
        <p:nvSpPr>
          <p:cNvPr id="15" name="Arc 14">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6512790" y="941148"/>
            <a:ext cx="2240924"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 name="Oval 16">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536" y="4780992"/>
            <a:ext cx="409575"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 name="Content Placeholder 3"/>
          <p:cNvSpPr>
            <a:spLocks noGrp="1"/>
          </p:cNvSpPr>
          <p:nvPr>
            <p:ph idx="1"/>
          </p:nvPr>
        </p:nvSpPr>
        <p:spPr>
          <a:xfrm>
            <a:off x="4113397" y="1232064"/>
            <a:ext cx="4152298" cy="4506905"/>
          </a:xfrm>
        </p:spPr>
        <p:txBody>
          <a:bodyPr>
            <a:noAutofit/>
          </a:bodyPr>
          <a:lstStyle/>
          <a:p>
            <a:pPr marL="0" lvl="0" indent="0">
              <a:buNone/>
            </a:pPr>
            <a:r>
              <a:rPr lang="en-US" sz="2400" dirty="0"/>
              <a:t>Calling…related to individual success, resilience, and job satisfaction</a:t>
            </a:r>
          </a:p>
          <a:p>
            <a:pPr marL="0" lvl="0" indent="0">
              <a:buNone/>
            </a:pPr>
            <a:r>
              <a:rPr lang="en-US" sz="2400" dirty="0"/>
              <a:t>Features of calling</a:t>
            </a:r>
          </a:p>
          <a:p>
            <a:pPr lvl="1"/>
            <a:r>
              <a:rPr lang="en-US" dirty="0"/>
              <a:t>Action orientation (emphasis on </a:t>
            </a:r>
            <a:r>
              <a:rPr lang="en-US" i="1" dirty="0"/>
              <a:t>doing</a:t>
            </a:r>
            <a:r>
              <a:rPr lang="en-US" dirty="0"/>
              <a:t>)</a:t>
            </a:r>
          </a:p>
          <a:p>
            <a:pPr lvl="1"/>
            <a:r>
              <a:rPr lang="en-US" dirty="0"/>
              <a:t>Clarity of purpose, direction, meaning, personal mission</a:t>
            </a:r>
          </a:p>
          <a:p>
            <a:pPr lvl="1"/>
            <a:r>
              <a:rPr lang="en-US" dirty="0"/>
              <a:t>Prosocial intention (desire to make world a better place)</a:t>
            </a:r>
          </a:p>
        </p:txBody>
      </p:sp>
      <p:sp>
        <p:nvSpPr>
          <p:cNvPr id="6" name="Footer Placeholder 5"/>
          <p:cNvSpPr>
            <a:spLocks noGrp="1"/>
          </p:cNvSpPr>
          <p:nvPr>
            <p:ph type="ftr" sz="quarter" idx="11"/>
          </p:nvPr>
        </p:nvSpPr>
        <p:spPr>
          <a:xfrm>
            <a:off x="3028950" y="6356350"/>
            <a:ext cx="3086100" cy="365125"/>
          </a:xfrm>
        </p:spPr>
        <p:txBody>
          <a:bodyPr>
            <a:normAutofit/>
          </a:bodyPr>
          <a:lstStyle/>
          <a:p>
            <a:pPr>
              <a:lnSpc>
                <a:spcPct val="90000"/>
              </a:lnSpc>
              <a:spcAft>
                <a:spcPts val="600"/>
              </a:spcAft>
            </a:pPr>
            <a:r>
              <a:rPr lang="en-US" sz="900">
                <a:effectLst/>
                <a:latin typeface="Arial" panose="020B0604020202020204" pitchFamily="34" charset="0"/>
                <a:ea typeface="Calibri" panose="020F0502020204030204" pitchFamily="34" charset="0"/>
              </a:rPr>
              <a:t>Compton, </a:t>
            </a:r>
            <a:r>
              <a:rPr lang="en-US" sz="900" i="1">
                <a:effectLst/>
                <a:latin typeface="Arial" panose="020B0604020202020204" pitchFamily="34" charset="0"/>
                <a:ea typeface="Calibri" panose="020F0502020204030204" pitchFamily="34" charset="0"/>
              </a:rPr>
              <a:t>Positive Psychology, 3e</a:t>
            </a:r>
            <a:r>
              <a:rPr lang="en-US" sz="900">
                <a:effectLst/>
                <a:latin typeface="Arial" panose="020B0604020202020204" pitchFamily="34" charset="0"/>
                <a:ea typeface="Calibri" panose="020F0502020204030204" pitchFamily="34" charset="0"/>
              </a:rPr>
              <a:t>.</a:t>
            </a:r>
            <a:r>
              <a:rPr lang="en-US" sz="900" kern="1200">
                <a:effectLst/>
                <a:latin typeface="Arial" panose="020B0604020202020204" pitchFamily="34" charset="0"/>
                <a:ea typeface="Times New Roman" panose="02020603050405020304" pitchFamily="18" charset="0"/>
              </a:rPr>
              <a:t> </a:t>
            </a:r>
            <a:r>
              <a:rPr lang="en-US" sz="900">
                <a:effectLst/>
                <a:latin typeface="Arial" panose="020B0604020202020204" pitchFamily="34" charset="0"/>
                <a:ea typeface="Times New Roman" panose="02020603050405020304" pitchFamily="18" charset="0"/>
              </a:rPr>
              <a:t>© SAGE Publications, 2020.</a:t>
            </a:r>
            <a:endParaRPr lang="en-US" sz="900"/>
          </a:p>
        </p:txBody>
      </p:sp>
      <p:sp>
        <p:nvSpPr>
          <p:cNvPr id="5" name="Slide Number Placeholder 4"/>
          <p:cNvSpPr>
            <a:spLocks noGrp="1"/>
          </p:cNvSpPr>
          <p:nvPr>
            <p:ph type="sldNum" sz="quarter" idx="12"/>
          </p:nvPr>
        </p:nvSpPr>
        <p:spPr>
          <a:xfrm>
            <a:off x="6457950" y="6356351"/>
            <a:ext cx="2057400" cy="365125"/>
          </a:xfrm>
          <a:prstGeom prst="rect">
            <a:avLst/>
          </a:prstGeom>
        </p:spPr>
        <p:txBody>
          <a:bodyPr vert="horz" lIns="91440" tIns="45720" rIns="91440" bIns="45720" rtlCol="0">
            <a:normAutofit/>
          </a:bodyP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B6F15528-21DE-4FAA-801E-634DDDAF4B2B}" type="slidenum">
              <a:rPr lang="en-US" smtClean="0"/>
              <a:pPr>
                <a:spcAft>
                  <a:spcPts val="600"/>
                </a:spcAft>
              </a:pPr>
              <a:t>18</a:t>
            </a:fld>
            <a:endParaRPr lang="en-US"/>
          </a:p>
        </p:txBody>
      </p:sp>
    </p:spTree>
    <p:extLst>
      <p:ext uri="{BB962C8B-B14F-4D97-AF65-F5344CB8AC3E}">
        <p14:creationId xmlns:p14="http://schemas.microsoft.com/office/powerpoint/2010/main" val="40757342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pPr marL="0" indent="0">
              <a:buNone/>
            </a:pPr>
            <a:r>
              <a:rPr lang="en-US" sz="3600" dirty="0"/>
              <a:t>It’s not just a job, it’s a calling</a:t>
            </a:r>
          </a:p>
        </p:txBody>
      </p:sp>
      <p:sp>
        <p:nvSpPr>
          <p:cNvPr id="4" name="Content Placeholder 3"/>
          <p:cNvSpPr>
            <a:spLocks noGrp="1"/>
          </p:cNvSpPr>
          <p:nvPr>
            <p:ph idx="1"/>
          </p:nvPr>
        </p:nvSpPr>
        <p:spPr>
          <a:xfrm>
            <a:off x="628650" y="1825625"/>
            <a:ext cx="8058150" cy="4351338"/>
          </a:xfrm>
        </p:spPr>
        <p:txBody>
          <a:bodyPr>
            <a:noAutofit/>
          </a:bodyPr>
          <a:lstStyle/>
          <a:p>
            <a:pPr marL="0" lvl="0" indent="0">
              <a:buNone/>
            </a:pPr>
            <a:r>
              <a:rPr lang="en-US" sz="2800" dirty="0"/>
              <a:t>People who regard their work as calling reap benefits</a:t>
            </a:r>
          </a:p>
          <a:p>
            <a:pPr lvl="1"/>
            <a:r>
              <a:rPr lang="en-US" sz="2500" dirty="0"/>
              <a:t>Focused career decision making</a:t>
            </a:r>
          </a:p>
          <a:p>
            <a:pPr lvl="1"/>
            <a:r>
              <a:rPr lang="en-US" sz="2500" dirty="0"/>
              <a:t>Higher motivation</a:t>
            </a:r>
          </a:p>
          <a:p>
            <a:pPr lvl="1"/>
            <a:r>
              <a:rPr lang="en-US" sz="2500" dirty="0"/>
              <a:t>Increased job satisfaction</a:t>
            </a:r>
          </a:p>
          <a:p>
            <a:pPr lvl="1"/>
            <a:r>
              <a:rPr lang="en-US" sz="2500" dirty="0"/>
              <a:t>Lower stress and frustration</a:t>
            </a:r>
          </a:p>
          <a:p>
            <a:pPr lvl="1"/>
            <a:r>
              <a:rPr lang="en-US" sz="2500" dirty="0"/>
              <a:t>Stronger organizational commitment</a:t>
            </a:r>
          </a:p>
          <a:p>
            <a:pPr lvl="1"/>
            <a:r>
              <a:rPr lang="en-US" sz="2500" dirty="0"/>
              <a:t>Better organizational citizenship behavior</a:t>
            </a:r>
            <a:endParaRPr lang="en-IN" sz="2500" dirty="0"/>
          </a:p>
        </p:txBody>
      </p:sp>
      <p:sp>
        <p:nvSpPr>
          <p:cNvPr id="6" name="Footer Placeholder 5"/>
          <p:cNvSpPr>
            <a:spLocks noGrp="1"/>
          </p:cNvSpPr>
          <p:nvPr>
            <p:ph type="ftr" sz="quarter" idx="11"/>
          </p:nvPr>
        </p:nvSpPr>
        <p:spPr/>
        <p:txBody>
          <a:bodyPr/>
          <a:lstStyle/>
          <a:p>
            <a:r>
              <a:rPr lang="en-US" sz="1050">
                <a:solidFill>
                  <a:srgbClr val="7F7F7F"/>
                </a:solidFill>
                <a:effectLst/>
                <a:latin typeface="Arial" panose="020B0604020202020204" pitchFamily="34" charset="0"/>
                <a:ea typeface="Calibri" panose="020F0502020204030204" pitchFamily="34" charset="0"/>
              </a:rPr>
              <a:t>Compton, </a:t>
            </a:r>
            <a:r>
              <a:rPr lang="en-US" sz="1050" i="1">
                <a:solidFill>
                  <a:srgbClr val="7F7F7F"/>
                </a:solidFill>
                <a:effectLst/>
                <a:latin typeface="Arial" panose="020B0604020202020204" pitchFamily="34" charset="0"/>
                <a:ea typeface="Calibri" panose="020F0502020204030204" pitchFamily="34" charset="0"/>
              </a:rPr>
              <a:t>Positive Psychology, 3e</a:t>
            </a:r>
            <a:r>
              <a:rPr lang="en-US" sz="1050">
                <a:solidFill>
                  <a:srgbClr val="7F7F7F"/>
                </a:solidFill>
                <a:effectLst/>
                <a:latin typeface="Arial" panose="020B0604020202020204" pitchFamily="34" charset="0"/>
                <a:ea typeface="Calibri" panose="020F0502020204030204" pitchFamily="34" charset="0"/>
              </a:rPr>
              <a:t>.</a:t>
            </a:r>
            <a:r>
              <a:rPr lang="en-US" sz="1050" kern="1200">
                <a:solidFill>
                  <a:srgbClr val="7F7F7F"/>
                </a:solidFill>
                <a:effectLst/>
                <a:latin typeface="Arial" panose="020B0604020202020204" pitchFamily="34" charset="0"/>
                <a:ea typeface="Times New Roman" panose="02020603050405020304" pitchFamily="18" charset="0"/>
              </a:rPr>
              <a:t> </a:t>
            </a:r>
            <a:r>
              <a:rPr lang="en-US" sz="1050">
                <a:solidFill>
                  <a:srgbClr val="7F7F7F"/>
                </a:solidFill>
                <a:effectLst/>
                <a:latin typeface="Arial" panose="020B0604020202020204" pitchFamily="34" charset="0"/>
                <a:ea typeface="Times New Roman" panose="02020603050405020304" pitchFamily="18" charset="0"/>
              </a:rPr>
              <a:t>© SAGE Publications, 2020.</a:t>
            </a:r>
            <a:endParaRPr lang="en-US" dirty="0"/>
          </a:p>
        </p:txBody>
      </p:sp>
      <p:sp>
        <p:nvSpPr>
          <p:cNvPr id="5" name="Slide Number Placeholder 4"/>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19</a:t>
            </a:fld>
            <a:endParaRPr lang="en-US"/>
          </a:p>
        </p:txBody>
      </p:sp>
      <p:sp>
        <p:nvSpPr>
          <p:cNvPr id="2" name="TextBox 1"/>
          <p:cNvSpPr txBox="1"/>
          <p:nvPr/>
        </p:nvSpPr>
        <p:spPr>
          <a:xfrm>
            <a:off x="6305550" y="2523966"/>
            <a:ext cx="2362200" cy="1477328"/>
          </a:xfrm>
          <a:prstGeom prst="rect">
            <a:avLst/>
          </a:prstGeom>
          <a:solidFill>
            <a:schemeClr val="accent4">
              <a:lumMod val="20000"/>
              <a:lumOff val="80000"/>
            </a:schemeClr>
          </a:solidFill>
          <a:effectLst>
            <a:glow rad="63500">
              <a:schemeClr val="accent3">
                <a:satMod val="175000"/>
                <a:alpha val="40000"/>
              </a:schemeClr>
            </a:glow>
          </a:effectLst>
        </p:spPr>
        <p:txBody>
          <a:bodyPr wrap="square" rtlCol="0">
            <a:spAutoFit/>
          </a:bodyPr>
          <a:lstStyle/>
          <a:p>
            <a:r>
              <a:rPr lang="en-US" dirty="0"/>
              <a:t>Potential Downside: challenge to balance passion for work with family, social, and leisure activities</a:t>
            </a:r>
          </a:p>
        </p:txBody>
      </p:sp>
    </p:spTree>
    <p:extLst>
      <p:ext uri="{BB962C8B-B14F-4D97-AF65-F5344CB8AC3E}">
        <p14:creationId xmlns:p14="http://schemas.microsoft.com/office/powerpoint/2010/main" val="19754138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819A166-7571-4003-A6B8-B62034C3ED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8199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2FEEC9C-F651-9A59-82D4-1BB6D572E8C3}"/>
              </a:ext>
            </a:extLst>
          </p:cNvPr>
          <p:cNvSpPr>
            <a:spLocks noGrp="1"/>
          </p:cNvSpPr>
          <p:nvPr>
            <p:ph type="title"/>
          </p:nvPr>
        </p:nvSpPr>
        <p:spPr>
          <a:xfrm>
            <a:off x="393555" y="620392"/>
            <a:ext cx="2856201" cy="5504688"/>
          </a:xfrm>
        </p:spPr>
        <p:txBody>
          <a:bodyPr>
            <a:normAutofit/>
          </a:bodyPr>
          <a:lstStyle/>
          <a:p>
            <a:r>
              <a:rPr lang="en-US" sz="4800">
                <a:solidFill>
                  <a:schemeClr val="bg1"/>
                </a:solidFill>
              </a:rPr>
              <a:t>Prosocial Motives in the Workplace</a:t>
            </a:r>
          </a:p>
        </p:txBody>
      </p:sp>
      <p:sp>
        <p:nvSpPr>
          <p:cNvPr id="4" name="Footer Placeholder 3">
            <a:extLst>
              <a:ext uri="{FF2B5EF4-FFF2-40B4-BE49-F238E27FC236}">
                <a16:creationId xmlns:a16="http://schemas.microsoft.com/office/drawing/2014/main" id="{3CEC315C-F64B-DD89-7683-18C55667D89F}"/>
              </a:ext>
            </a:extLst>
          </p:cNvPr>
          <p:cNvSpPr>
            <a:spLocks noGrp="1"/>
          </p:cNvSpPr>
          <p:nvPr>
            <p:ph type="ftr" sz="quarter" idx="11"/>
          </p:nvPr>
        </p:nvSpPr>
        <p:spPr>
          <a:xfrm>
            <a:off x="3028950" y="6356350"/>
            <a:ext cx="3086100" cy="365125"/>
          </a:xfrm>
        </p:spPr>
        <p:txBody>
          <a:bodyPr>
            <a:normAutofit/>
          </a:bodyPr>
          <a:lstStyle/>
          <a:p>
            <a:pPr>
              <a:lnSpc>
                <a:spcPct val="90000"/>
              </a:lnSpc>
              <a:spcAft>
                <a:spcPts val="600"/>
              </a:spcAft>
            </a:pPr>
            <a:r>
              <a:rPr lang="en-US" sz="900"/>
              <a:t>The Science of Positive Psychology © Cambridge University Press 2021</a:t>
            </a:r>
          </a:p>
        </p:txBody>
      </p:sp>
      <p:graphicFrame>
        <p:nvGraphicFramePr>
          <p:cNvPr id="6" name="Content Placeholder 2">
            <a:extLst>
              <a:ext uri="{FF2B5EF4-FFF2-40B4-BE49-F238E27FC236}">
                <a16:creationId xmlns:a16="http://schemas.microsoft.com/office/drawing/2014/main" id="{B4B0C59A-854C-DA3B-C133-C6CECA649466}"/>
              </a:ext>
            </a:extLst>
          </p:cNvPr>
          <p:cNvGraphicFramePr>
            <a:graphicFrameLocks noGrp="1"/>
          </p:cNvGraphicFramePr>
          <p:nvPr>
            <p:ph idx="1"/>
            <p:extLst>
              <p:ext uri="{D42A27DB-BD31-4B8C-83A1-F6EECF244321}">
                <p14:modId xmlns:p14="http://schemas.microsoft.com/office/powerpoint/2010/main" val="2051283916"/>
              </p:ext>
            </p:extLst>
          </p:nvPr>
        </p:nvGraphicFramePr>
        <p:xfrm>
          <a:off x="4101291" y="620392"/>
          <a:ext cx="469773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536237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2"/>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77DCD5A0-A737-BE70-C4D6-CF9CAFC730BF}"/>
              </a:ext>
            </a:extLst>
          </p:cNvPr>
          <p:cNvSpPr>
            <a:spLocks noGrp="1"/>
          </p:cNvSpPr>
          <p:nvPr>
            <p:ph type="title"/>
          </p:nvPr>
        </p:nvSpPr>
        <p:spPr>
          <a:xfrm>
            <a:off x="628650" y="401221"/>
            <a:ext cx="7886700" cy="1348065"/>
          </a:xfrm>
        </p:spPr>
        <p:txBody>
          <a:bodyPr>
            <a:normAutofit/>
          </a:bodyPr>
          <a:lstStyle/>
          <a:p>
            <a:r>
              <a:rPr lang="en-US" sz="4700">
                <a:solidFill>
                  <a:srgbClr val="FFFFFF"/>
                </a:solidFill>
              </a:rPr>
              <a:t>Prosocial Behaviors</a:t>
            </a:r>
          </a:p>
        </p:txBody>
      </p:sp>
      <p:sp>
        <p:nvSpPr>
          <p:cNvPr id="4" name="Content Placeholder 3">
            <a:extLst>
              <a:ext uri="{FF2B5EF4-FFF2-40B4-BE49-F238E27FC236}">
                <a16:creationId xmlns:a16="http://schemas.microsoft.com/office/drawing/2014/main" id="{DD8A463C-B9BD-124B-B0F2-4ADAE2650A7D}"/>
              </a:ext>
            </a:extLst>
          </p:cNvPr>
          <p:cNvSpPr>
            <a:spLocks noGrp="1"/>
          </p:cNvSpPr>
          <p:nvPr>
            <p:ph idx="1"/>
          </p:nvPr>
        </p:nvSpPr>
        <p:spPr>
          <a:xfrm>
            <a:off x="628650" y="2586789"/>
            <a:ext cx="7886700" cy="3590174"/>
          </a:xfrm>
        </p:spPr>
        <p:txBody>
          <a:bodyPr>
            <a:normAutofit/>
          </a:bodyPr>
          <a:lstStyle/>
          <a:p>
            <a:r>
              <a:rPr lang="en-US" sz="2400" dirty="0"/>
              <a:t>Organizational Citizenship Behaviors (OCBs) – voluntary behaviors that demonstrate a worker’s commitment and loyalty that fall outside of contractual obligations</a:t>
            </a:r>
          </a:p>
          <a:p>
            <a:r>
              <a:rPr lang="en-US" sz="2400" dirty="0"/>
              <a:t>OCBs overlap with but are not redundant with prosocial behaviors at work</a:t>
            </a:r>
          </a:p>
          <a:p>
            <a:pPr lvl="1"/>
            <a:r>
              <a:rPr lang="en-US" dirty="0"/>
              <a:t>Mentoring  - prosocial but not OCB</a:t>
            </a:r>
          </a:p>
          <a:p>
            <a:pPr lvl="1"/>
            <a:r>
              <a:rPr lang="en-US" dirty="0"/>
              <a:t>Loyal to company – OCB but not prosocial</a:t>
            </a:r>
          </a:p>
          <a:p>
            <a:pPr lvl="1"/>
            <a:r>
              <a:rPr lang="en-US" dirty="0"/>
              <a:t>Helping co-worker with a work task – prosocial &amp; OCB</a:t>
            </a:r>
          </a:p>
        </p:txBody>
      </p:sp>
      <p:sp>
        <p:nvSpPr>
          <p:cNvPr id="5" name="Footer Placeholder 3">
            <a:extLst>
              <a:ext uri="{FF2B5EF4-FFF2-40B4-BE49-F238E27FC236}">
                <a16:creationId xmlns:a16="http://schemas.microsoft.com/office/drawing/2014/main" id="{A06D1459-0FC1-6C8D-3D52-0B8BAC7B613B}"/>
              </a:ext>
            </a:extLst>
          </p:cNvPr>
          <p:cNvSpPr>
            <a:spLocks noGrp="1"/>
          </p:cNvSpPr>
          <p:nvPr>
            <p:ph type="ftr" sz="quarter" idx="11"/>
          </p:nvPr>
        </p:nvSpPr>
        <p:spPr>
          <a:xfrm>
            <a:off x="3028950" y="6356350"/>
            <a:ext cx="3086100" cy="365125"/>
          </a:xfrm>
        </p:spPr>
        <p:txBody>
          <a:bodyPr>
            <a:normAutofit/>
          </a:bodyPr>
          <a:lstStyle/>
          <a:p>
            <a:pPr>
              <a:lnSpc>
                <a:spcPct val="90000"/>
              </a:lnSpc>
              <a:spcAft>
                <a:spcPts val="600"/>
              </a:spcAft>
            </a:pPr>
            <a:r>
              <a:rPr lang="en-US" sz="900"/>
              <a:t>The Science and Application of Positive Psychology © Cambridge University Press 2021</a:t>
            </a:r>
          </a:p>
        </p:txBody>
      </p:sp>
    </p:spTree>
    <p:extLst>
      <p:ext uri="{BB962C8B-B14F-4D97-AF65-F5344CB8AC3E}">
        <p14:creationId xmlns:p14="http://schemas.microsoft.com/office/powerpoint/2010/main" val="4555605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6D397-62FE-1061-3487-2300E48B0D0F}"/>
              </a:ext>
            </a:extLst>
          </p:cNvPr>
          <p:cNvSpPr>
            <a:spLocks noGrp="1"/>
          </p:cNvSpPr>
          <p:nvPr>
            <p:ph type="title"/>
          </p:nvPr>
        </p:nvSpPr>
        <p:spPr/>
        <p:txBody>
          <a:bodyPr>
            <a:normAutofit fontScale="90000"/>
          </a:bodyPr>
          <a:lstStyle/>
          <a:p>
            <a:r>
              <a:rPr lang="en-US" dirty="0"/>
              <a:t>Association between Frequency of Prosocial Behavior and Performance</a:t>
            </a:r>
          </a:p>
        </p:txBody>
      </p:sp>
      <p:pic>
        <p:nvPicPr>
          <p:cNvPr id="5" name="Content Placeholder 4">
            <a:extLst>
              <a:ext uri="{FF2B5EF4-FFF2-40B4-BE49-F238E27FC236}">
                <a16:creationId xmlns:a16="http://schemas.microsoft.com/office/drawing/2014/main" id="{25EE03C5-A447-8B4F-7097-9068AC40F111}"/>
              </a:ext>
            </a:extLst>
          </p:cNvPr>
          <p:cNvPicPr>
            <a:picLocks noGrp="1" noChangeAspect="1"/>
          </p:cNvPicPr>
          <p:nvPr>
            <p:ph idx="1"/>
          </p:nvPr>
        </p:nvPicPr>
        <p:blipFill>
          <a:blip r:embed="rId2"/>
          <a:stretch>
            <a:fillRect/>
          </a:stretch>
        </p:blipFill>
        <p:spPr>
          <a:xfrm>
            <a:off x="905609" y="2198077"/>
            <a:ext cx="7429500" cy="3807069"/>
          </a:xfrm>
          <a:prstGeom prst="rect">
            <a:avLst/>
          </a:prstGeom>
        </p:spPr>
      </p:pic>
      <p:sp>
        <p:nvSpPr>
          <p:cNvPr id="4" name="Footer Placeholder 3">
            <a:extLst>
              <a:ext uri="{FF2B5EF4-FFF2-40B4-BE49-F238E27FC236}">
                <a16:creationId xmlns:a16="http://schemas.microsoft.com/office/drawing/2014/main" id="{7A58DB25-2D0A-7444-2BB4-60303E551E77}"/>
              </a:ext>
            </a:extLst>
          </p:cNvPr>
          <p:cNvSpPr>
            <a:spLocks noGrp="1"/>
          </p:cNvSpPr>
          <p:nvPr>
            <p:ph type="ftr" sz="quarter" idx="11"/>
          </p:nvPr>
        </p:nvSpPr>
        <p:spPr>
          <a:xfrm>
            <a:off x="2002154" y="6354798"/>
            <a:ext cx="5761453" cy="461665"/>
          </a:xfrm>
        </p:spPr>
        <p:txBody>
          <a:bodyPr/>
          <a:lstStyle/>
          <a:p>
            <a:r>
              <a:rPr lang="en-US" dirty="0"/>
              <a:t>The Science and Application of Positive Psychology © Cambridge University Press 2021</a:t>
            </a:r>
          </a:p>
        </p:txBody>
      </p:sp>
    </p:spTree>
    <p:extLst>
      <p:ext uri="{BB962C8B-B14F-4D97-AF65-F5344CB8AC3E}">
        <p14:creationId xmlns:p14="http://schemas.microsoft.com/office/powerpoint/2010/main" val="22355436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79EC6A-6CF0-1B31-A11D-883B2EE51B1F}"/>
              </a:ext>
            </a:extLst>
          </p:cNvPr>
          <p:cNvSpPr>
            <a:spLocks noGrp="1"/>
          </p:cNvSpPr>
          <p:nvPr>
            <p:ph type="title"/>
          </p:nvPr>
        </p:nvSpPr>
        <p:spPr>
          <a:xfrm>
            <a:off x="439858" y="1683756"/>
            <a:ext cx="2336449" cy="2396359"/>
          </a:xfrm>
        </p:spPr>
        <p:txBody>
          <a:bodyPr anchor="b">
            <a:normAutofit/>
          </a:bodyPr>
          <a:lstStyle/>
          <a:p>
            <a:pPr algn="r"/>
            <a:r>
              <a:rPr lang="en-US" sz="3500">
                <a:solidFill>
                  <a:srgbClr val="FFFFFF"/>
                </a:solidFill>
              </a:rPr>
              <a:t>Prosocial Impact</a:t>
            </a:r>
          </a:p>
        </p:txBody>
      </p:sp>
      <p:sp>
        <p:nvSpPr>
          <p:cNvPr id="4" name="Footer Placeholder 3">
            <a:extLst>
              <a:ext uri="{FF2B5EF4-FFF2-40B4-BE49-F238E27FC236}">
                <a16:creationId xmlns:a16="http://schemas.microsoft.com/office/drawing/2014/main" id="{E0C5A0C7-4EC1-8CCE-398C-662C273C8516}"/>
              </a:ext>
            </a:extLst>
          </p:cNvPr>
          <p:cNvSpPr>
            <a:spLocks noGrp="1"/>
          </p:cNvSpPr>
          <p:nvPr>
            <p:ph type="ftr" sz="quarter" idx="11"/>
          </p:nvPr>
        </p:nvSpPr>
        <p:spPr>
          <a:xfrm rot="5400000">
            <a:off x="-1371600" y="1984248"/>
            <a:ext cx="3086100" cy="365125"/>
          </a:xfrm>
        </p:spPr>
        <p:txBody>
          <a:bodyPr>
            <a:normAutofit/>
          </a:bodyPr>
          <a:lstStyle/>
          <a:p>
            <a:pPr algn="l">
              <a:lnSpc>
                <a:spcPct val="90000"/>
              </a:lnSpc>
              <a:spcAft>
                <a:spcPts val="600"/>
              </a:spcAft>
            </a:pPr>
            <a:r>
              <a:rPr lang="en-US" sz="900">
                <a:solidFill>
                  <a:srgbClr val="FFFFFF"/>
                </a:solidFill>
              </a:rPr>
              <a:t>The Science and Application of Positive Psychology © Cambridge University Press 2021</a:t>
            </a:r>
          </a:p>
        </p:txBody>
      </p:sp>
      <p:graphicFrame>
        <p:nvGraphicFramePr>
          <p:cNvPr id="6" name="Content Placeholder 2">
            <a:extLst>
              <a:ext uri="{FF2B5EF4-FFF2-40B4-BE49-F238E27FC236}">
                <a16:creationId xmlns:a16="http://schemas.microsoft.com/office/drawing/2014/main" id="{835C7340-F958-AF13-5CB5-D64945190A9D}"/>
              </a:ext>
            </a:extLst>
          </p:cNvPr>
          <p:cNvGraphicFramePr>
            <a:graphicFrameLocks noGrp="1"/>
          </p:cNvGraphicFramePr>
          <p:nvPr>
            <p:ph idx="1"/>
            <p:extLst>
              <p:ext uri="{D42A27DB-BD31-4B8C-83A1-F6EECF244321}">
                <p14:modId xmlns:p14="http://schemas.microsoft.com/office/powerpoint/2010/main" val="442299194"/>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667716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E17E911-875F-4DE5-8699-99D9F1805A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9144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4C18F4-2E32-B6DC-5820-66166A310210}"/>
              </a:ext>
            </a:extLst>
          </p:cNvPr>
          <p:cNvSpPr>
            <a:spLocks noGrp="1"/>
          </p:cNvSpPr>
          <p:nvPr>
            <p:ph type="title"/>
          </p:nvPr>
        </p:nvSpPr>
        <p:spPr>
          <a:xfrm>
            <a:off x="350041" y="586855"/>
            <a:ext cx="2401025" cy="3387497"/>
          </a:xfrm>
        </p:spPr>
        <p:txBody>
          <a:bodyPr anchor="b">
            <a:normAutofit/>
          </a:bodyPr>
          <a:lstStyle/>
          <a:p>
            <a:pPr algn="r"/>
            <a:r>
              <a:rPr lang="en-US" sz="3200">
                <a:solidFill>
                  <a:srgbClr val="FFFFFF"/>
                </a:solidFill>
              </a:rPr>
              <a:t>Employers can make the job better: Demonstrate Trust in Workers</a:t>
            </a:r>
          </a:p>
        </p:txBody>
      </p:sp>
      <p:sp>
        <p:nvSpPr>
          <p:cNvPr id="4" name="Footer Placeholder 3">
            <a:extLst>
              <a:ext uri="{FF2B5EF4-FFF2-40B4-BE49-F238E27FC236}">
                <a16:creationId xmlns:a16="http://schemas.microsoft.com/office/drawing/2014/main" id="{73D0617E-22CC-2467-79C5-23DF06591270}"/>
              </a:ext>
            </a:extLst>
          </p:cNvPr>
          <p:cNvSpPr>
            <a:spLocks noGrp="1"/>
          </p:cNvSpPr>
          <p:nvPr>
            <p:ph type="ftr" sz="quarter" idx="11"/>
          </p:nvPr>
        </p:nvSpPr>
        <p:spPr>
          <a:xfrm rot="5400000">
            <a:off x="-1367673" y="2025628"/>
            <a:ext cx="3086100" cy="365125"/>
          </a:xfrm>
        </p:spPr>
        <p:txBody>
          <a:bodyPr>
            <a:normAutofit/>
          </a:bodyPr>
          <a:lstStyle/>
          <a:p>
            <a:pPr algn="l">
              <a:lnSpc>
                <a:spcPct val="90000"/>
              </a:lnSpc>
              <a:spcAft>
                <a:spcPts val="600"/>
              </a:spcAft>
            </a:pPr>
            <a:r>
              <a:rPr lang="en-US" sz="900">
                <a:solidFill>
                  <a:srgbClr val="FFFFFF"/>
                </a:solidFill>
              </a:rPr>
              <a:t>The Science and Application of Positive Psychology © Cambridge University Press 2021</a:t>
            </a:r>
          </a:p>
        </p:txBody>
      </p:sp>
      <p:sp>
        <p:nvSpPr>
          <p:cNvPr id="3" name="Content Placeholder 2">
            <a:extLst>
              <a:ext uri="{FF2B5EF4-FFF2-40B4-BE49-F238E27FC236}">
                <a16:creationId xmlns:a16="http://schemas.microsoft.com/office/drawing/2014/main" id="{96698D14-06F5-2CF1-3E86-10927B772C68}"/>
              </a:ext>
            </a:extLst>
          </p:cNvPr>
          <p:cNvSpPr>
            <a:spLocks noGrp="1"/>
          </p:cNvSpPr>
          <p:nvPr>
            <p:ph idx="1"/>
          </p:nvPr>
        </p:nvSpPr>
        <p:spPr>
          <a:xfrm>
            <a:off x="3436295" y="649480"/>
            <a:ext cx="2268977" cy="5546047"/>
          </a:xfrm>
        </p:spPr>
        <p:txBody>
          <a:bodyPr anchor="ctr">
            <a:normAutofit/>
          </a:bodyPr>
          <a:lstStyle/>
          <a:p>
            <a:r>
              <a:rPr lang="en-US" sz="1700" dirty="0"/>
              <a:t>Let My People Go Surfing – Patagonia</a:t>
            </a:r>
          </a:p>
          <a:p>
            <a:r>
              <a:rPr lang="en-US" sz="1700" dirty="0"/>
              <a:t>Autonomy – experience of choice and control in one’s work – is associated with:</a:t>
            </a:r>
          </a:p>
          <a:p>
            <a:pPr lvl="1"/>
            <a:r>
              <a:rPr lang="en-US" sz="1700" dirty="0"/>
              <a:t>More professional satisfaction</a:t>
            </a:r>
          </a:p>
          <a:p>
            <a:pPr lvl="1"/>
            <a:r>
              <a:rPr lang="en-US" sz="1700" dirty="0"/>
              <a:t>Less burn-out</a:t>
            </a:r>
          </a:p>
          <a:p>
            <a:pPr lvl="1"/>
            <a:r>
              <a:rPr lang="en-US" sz="1700" dirty="0"/>
              <a:t>More commitment to work</a:t>
            </a:r>
          </a:p>
          <a:p>
            <a:r>
              <a:rPr lang="en-US" sz="1700" dirty="0"/>
              <a:t>Bowles theorized that policies meant to increase control over employees result in less intrinsic motivation to engage in work</a:t>
            </a:r>
          </a:p>
        </p:txBody>
      </p:sp>
      <p:pic>
        <p:nvPicPr>
          <p:cNvPr id="6" name="Picture 5" descr="A silhouette of a surfer on riding a wave">
            <a:extLst>
              <a:ext uri="{FF2B5EF4-FFF2-40B4-BE49-F238E27FC236}">
                <a16:creationId xmlns:a16="http://schemas.microsoft.com/office/drawing/2014/main" id="{498C413F-7CC1-3CE4-69DB-14B9944142CD}"/>
              </a:ext>
            </a:extLst>
          </p:cNvPr>
          <p:cNvPicPr>
            <a:picLocks noChangeAspect="1"/>
          </p:cNvPicPr>
          <p:nvPr/>
        </p:nvPicPr>
        <p:blipFill rotWithShape="1">
          <a:blip r:embed="rId2"/>
          <a:srcRect l="46155" r="28731"/>
          <a:stretch/>
        </p:blipFill>
        <p:spPr>
          <a:xfrm>
            <a:off x="6082126" y="10"/>
            <a:ext cx="3061874" cy="6857990"/>
          </a:xfrm>
          <a:prstGeom prst="rect">
            <a:avLst/>
          </a:prstGeom>
        </p:spPr>
      </p:pic>
    </p:spTree>
    <p:extLst>
      <p:ext uri="{BB962C8B-B14F-4D97-AF65-F5344CB8AC3E}">
        <p14:creationId xmlns:p14="http://schemas.microsoft.com/office/powerpoint/2010/main" val="2422787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8">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8" y="448055"/>
            <a:ext cx="2560777" cy="3801257"/>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E27F19C2-D78F-22E6-0739-2A1FC0F0E21D}"/>
              </a:ext>
            </a:extLst>
          </p:cNvPr>
          <p:cNvSpPr>
            <a:spLocks noGrp="1"/>
          </p:cNvSpPr>
          <p:nvPr>
            <p:ph type="title"/>
          </p:nvPr>
        </p:nvSpPr>
        <p:spPr>
          <a:xfrm>
            <a:off x="582930" y="731519"/>
            <a:ext cx="2133893" cy="3237579"/>
          </a:xfrm>
        </p:spPr>
        <p:txBody>
          <a:bodyPr>
            <a:normAutofit/>
          </a:bodyPr>
          <a:lstStyle/>
          <a:p>
            <a:r>
              <a:rPr lang="en-US" sz="2600">
                <a:solidFill>
                  <a:srgbClr val="FFFFFF"/>
                </a:solidFill>
              </a:rPr>
              <a:t>Employers can make the job better: Provide Opportunities that Match Strengths</a:t>
            </a:r>
          </a:p>
        </p:txBody>
      </p:sp>
      <p:sp>
        <p:nvSpPr>
          <p:cNvPr id="16" name="Rectangle 10">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7" y="4419227"/>
            <a:ext cx="2560777" cy="1979852"/>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7" name="Rectangle 12">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3452" y="448055"/>
            <a:ext cx="5766356" cy="5952745"/>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8C6D8E1-687C-09C5-39C1-FCF67AD1B26D}"/>
              </a:ext>
            </a:extLst>
          </p:cNvPr>
          <p:cNvSpPr>
            <a:spLocks noGrp="1"/>
          </p:cNvSpPr>
          <p:nvPr>
            <p:ph idx="1"/>
          </p:nvPr>
        </p:nvSpPr>
        <p:spPr>
          <a:xfrm>
            <a:off x="3284781" y="686862"/>
            <a:ext cx="5278194" cy="5475129"/>
          </a:xfrm>
        </p:spPr>
        <p:txBody>
          <a:bodyPr anchor="ctr">
            <a:normAutofit/>
          </a:bodyPr>
          <a:lstStyle/>
          <a:p>
            <a:r>
              <a:rPr lang="en-US" sz="2300"/>
              <a:t>Peter Principle: </a:t>
            </a:r>
          </a:p>
          <a:p>
            <a:pPr lvl="1"/>
            <a:r>
              <a:rPr lang="en-US" sz="2300"/>
              <a:t>In hierarchical organizations, people are promoted to their level of incompetence where they stay for the rest of their career</a:t>
            </a:r>
          </a:p>
          <a:p>
            <a:pPr lvl="1"/>
            <a:r>
              <a:rPr lang="en-US" sz="2300"/>
              <a:t>Example: Performance in sales predicted promotion to managerial positions </a:t>
            </a:r>
            <a:r>
              <a:rPr lang="en-US" sz="2300" b="1" i="1"/>
              <a:t>even though </a:t>
            </a:r>
            <a:r>
              <a:rPr lang="en-US" sz="2300"/>
              <a:t>performance in sales was negatively correlated with performance in management</a:t>
            </a:r>
          </a:p>
          <a:p>
            <a:r>
              <a:rPr lang="en-US" sz="2300"/>
              <a:t>Solutions:</a:t>
            </a:r>
          </a:p>
          <a:p>
            <a:pPr lvl="1"/>
            <a:r>
              <a:rPr lang="en-US" sz="2300"/>
              <a:t>Match strengths to requirements of position</a:t>
            </a:r>
          </a:p>
          <a:p>
            <a:pPr lvl="1"/>
            <a:r>
              <a:rPr lang="en-US" sz="2300"/>
              <a:t>Reward people in positions in which they excel</a:t>
            </a:r>
          </a:p>
        </p:txBody>
      </p:sp>
      <p:sp>
        <p:nvSpPr>
          <p:cNvPr id="4" name="Footer Placeholder 3">
            <a:extLst>
              <a:ext uri="{FF2B5EF4-FFF2-40B4-BE49-F238E27FC236}">
                <a16:creationId xmlns:a16="http://schemas.microsoft.com/office/drawing/2014/main" id="{B345F303-01F7-B93A-EB8B-24E8CCB14F99}"/>
              </a:ext>
            </a:extLst>
          </p:cNvPr>
          <p:cNvSpPr>
            <a:spLocks noGrp="1"/>
          </p:cNvSpPr>
          <p:nvPr>
            <p:ph type="ftr" sz="quarter" idx="11"/>
          </p:nvPr>
        </p:nvSpPr>
        <p:spPr>
          <a:xfrm>
            <a:off x="346543" y="6407779"/>
            <a:ext cx="5006340" cy="365125"/>
          </a:xfrm>
        </p:spPr>
        <p:txBody>
          <a:bodyPr>
            <a:normAutofit/>
          </a:bodyPr>
          <a:lstStyle/>
          <a:p>
            <a:pPr algn="l">
              <a:spcAft>
                <a:spcPts val="600"/>
              </a:spcAft>
            </a:pPr>
            <a:r>
              <a:rPr lang="en-US" sz="900">
                <a:solidFill>
                  <a:schemeClr val="tx1">
                    <a:lumMod val="50000"/>
                    <a:lumOff val="50000"/>
                  </a:schemeClr>
                </a:solidFill>
              </a:rPr>
              <a:t>The Science and Application of Positive Psychology © Cambridge University Press 2021</a:t>
            </a:r>
          </a:p>
        </p:txBody>
      </p:sp>
    </p:spTree>
    <p:extLst>
      <p:ext uri="{BB962C8B-B14F-4D97-AF65-F5344CB8AC3E}">
        <p14:creationId xmlns:p14="http://schemas.microsoft.com/office/powerpoint/2010/main" val="27138647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8" y="448055"/>
            <a:ext cx="2560777" cy="3801257"/>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C16428FF-73DC-76D7-6094-5F426E968704}"/>
              </a:ext>
            </a:extLst>
          </p:cNvPr>
          <p:cNvSpPr>
            <a:spLocks noGrp="1"/>
          </p:cNvSpPr>
          <p:nvPr>
            <p:ph type="title"/>
          </p:nvPr>
        </p:nvSpPr>
        <p:spPr>
          <a:xfrm>
            <a:off x="582930" y="731519"/>
            <a:ext cx="2133893" cy="3237579"/>
          </a:xfrm>
        </p:spPr>
        <p:txBody>
          <a:bodyPr>
            <a:normAutofit/>
          </a:bodyPr>
          <a:lstStyle/>
          <a:p>
            <a:r>
              <a:rPr lang="en-US" sz="3300">
                <a:solidFill>
                  <a:srgbClr val="FFFFFF"/>
                </a:solidFill>
              </a:rPr>
              <a:t>Employees can make the job better: Job Crafting</a:t>
            </a:r>
          </a:p>
        </p:txBody>
      </p:sp>
      <p:sp>
        <p:nvSpPr>
          <p:cNvPr id="12" name="Rectangle 11">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7" y="4419227"/>
            <a:ext cx="2560777" cy="1979852"/>
          </a:xfrm>
          <a:prstGeom prst="rect">
            <a:avLst/>
          </a:prstGeom>
          <a:solidFill>
            <a:schemeClr val="accent5">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4" name="Rectangle 13">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3452" y="448055"/>
            <a:ext cx="5766356" cy="5952745"/>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DC448C01-2028-4314-FD9D-BAD48BB53384}"/>
              </a:ext>
            </a:extLst>
          </p:cNvPr>
          <p:cNvSpPr>
            <a:spLocks noGrp="1"/>
          </p:cNvSpPr>
          <p:nvPr>
            <p:ph type="ftr" sz="quarter" idx="11"/>
          </p:nvPr>
        </p:nvSpPr>
        <p:spPr>
          <a:xfrm>
            <a:off x="346543" y="6407779"/>
            <a:ext cx="5006340" cy="365125"/>
          </a:xfrm>
        </p:spPr>
        <p:txBody>
          <a:bodyPr>
            <a:normAutofit/>
          </a:bodyPr>
          <a:lstStyle/>
          <a:p>
            <a:pPr algn="l">
              <a:spcAft>
                <a:spcPts val="600"/>
              </a:spcAft>
            </a:pPr>
            <a:r>
              <a:rPr lang="en-US" sz="900">
                <a:solidFill>
                  <a:schemeClr val="tx1">
                    <a:lumMod val="50000"/>
                    <a:lumOff val="50000"/>
                  </a:schemeClr>
                </a:solidFill>
              </a:rPr>
              <a:t>The Science and Application of Positive Psychology © Cambridge University Press 2021</a:t>
            </a:r>
          </a:p>
        </p:txBody>
      </p:sp>
      <p:graphicFrame>
        <p:nvGraphicFramePr>
          <p:cNvPr id="6" name="Content Placeholder 2">
            <a:extLst>
              <a:ext uri="{FF2B5EF4-FFF2-40B4-BE49-F238E27FC236}">
                <a16:creationId xmlns:a16="http://schemas.microsoft.com/office/drawing/2014/main" id="{F7B6C46A-6C62-8ABF-DBA4-5853461E26C5}"/>
              </a:ext>
            </a:extLst>
          </p:cNvPr>
          <p:cNvGraphicFramePr>
            <a:graphicFrameLocks noGrp="1"/>
          </p:cNvGraphicFramePr>
          <p:nvPr>
            <p:ph idx="1"/>
            <p:extLst>
              <p:ext uri="{D42A27DB-BD31-4B8C-83A1-F6EECF244321}">
                <p14:modId xmlns:p14="http://schemas.microsoft.com/office/powerpoint/2010/main" val="4294627054"/>
              </p:ext>
            </p:extLst>
          </p:nvPr>
        </p:nvGraphicFramePr>
        <p:xfrm>
          <a:off x="3284934" y="687388"/>
          <a:ext cx="5278041" cy="54752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215952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8" y="448055"/>
            <a:ext cx="2560777" cy="3801257"/>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793AB7D1-2489-FCC8-C5EF-9475F59D8B5C}"/>
              </a:ext>
            </a:extLst>
          </p:cNvPr>
          <p:cNvSpPr>
            <a:spLocks noGrp="1"/>
          </p:cNvSpPr>
          <p:nvPr>
            <p:ph type="title"/>
          </p:nvPr>
        </p:nvSpPr>
        <p:spPr>
          <a:xfrm>
            <a:off x="582930" y="731519"/>
            <a:ext cx="2133893" cy="3237579"/>
          </a:xfrm>
        </p:spPr>
        <p:txBody>
          <a:bodyPr>
            <a:normAutofit/>
          </a:bodyPr>
          <a:lstStyle/>
          <a:p>
            <a:r>
              <a:rPr lang="en-US" sz="2800">
                <a:solidFill>
                  <a:srgbClr val="FFFFFF"/>
                </a:solidFill>
              </a:rPr>
              <a:t>Employees can make the job better: Make Social Connections</a:t>
            </a:r>
          </a:p>
        </p:txBody>
      </p:sp>
      <p:sp>
        <p:nvSpPr>
          <p:cNvPr id="12" name="Rectangle 11">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7" y="4419227"/>
            <a:ext cx="2560777" cy="1979852"/>
          </a:xfrm>
          <a:prstGeom prst="rect">
            <a:avLst/>
          </a:prstGeom>
          <a:solidFill>
            <a:schemeClr val="accent5">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4" name="Rectangle 13">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3452" y="448055"/>
            <a:ext cx="5766356" cy="5952745"/>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4A908E82-A2C8-D38C-4C04-D0A8F235CC84}"/>
              </a:ext>
            </a:extLst>
          </p:cNvPr>
          <p:cNvSpPr>
            <a:spLocks noGrp="1"/>
          </p:cNvSpPr>
          <p:nvPr>
            <p:ph type="ftr" sz="quarter" idx="11"/>
          </p:nvPr>
        </p:nvSpPr>
        <p:spPr>
          <a:xfrm>
            <a:off x="346543" y="6407779"/>
            <a:ext cx="5006340" cy="365125"/>
          </a:xfrm>
        </p:spPr>
        <p:txBody>
          <a:bodyPr>
            <a:normAutofit/>
          </a:bodyPr>
          <a:lstStyle/>
          <a:p>
            <a:pPr algn="l">
              <a:spcAft>
                <a:spcPts val="600"/>
              </a:spcAft>
            </a:pPr>
            <a:r>
              <a:rPr lang="en-US" sz="900">
                <a:solidFill>
                  <a:schemeClr val="tx1">
                    <a:lumMod val="50000"/>
                    <a:lumOff val="50000"/>
                  </a:schemeClr>
                </a:solidFill>
              </a:rPr>
              <a:t>The Science and Application of Positive Psychology © Cambridge University Press 2021</a:t>
            </a:r>
          </a:p>
        </p:txBody>
      </p:sp>
      <p:graphicFrame>
        <p:nvGraphicFramePr>
          <p:cNvPr id="6" name="Content Placeholder 2">
            <a:extLst>
              <a:ext uri="{FF2B5EF4-FFF2-40B4-BE49-F238E27FC236}">
                <a16:creationId xmlns:a16="http://schemas.microsoft.com/office/drawing/2014/main" id="{40736F2B-FF3C-4FE2-A0B4-F29551F8926A}"/>
              </a:ext>
            </a:extLst>
          </p:cNvPr>
          <p:cNvGraphicFramePr>
            <a:graphicFrameLocks noGrp="1"/>
          </p:cNvGraphicFramePr>
          <p:nvPr>
            <p:ph idx="1"/>
            <p:extLst>
              <p:ext uri="{D42A27DB-BD31-4B8C-83A1-F6EECF244321}">
                <p14:modId xmlns:p14="http://schemas.microsoft.com/office/powerpoint/2010/main" val="3534521841"/>
              </p:ext>
            </p:extLst>
          </p:nvPr>
        </p:nvGraphicFramePr>
        <p:xfrm>
          <a:off x="3284934" y="687388"/>
          <a:ext cx="5278041" cy="54752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251554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8" y="448055"/>
            <a:ext cx="2560777" cy="3801257"/>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D8BE7A5E-3F0D-CFF4-CB36-3D75E312627C}"/>
              </a:ext>
            </a:extLst>
          </p:cNvPr>
          <p:cNvSpPr>
            <a:spLocks noGrp="1"/>
          </p:cNvSpPr>
          <p:nvPr>
            <p:ph type="title"/>
          </p:nvPr>
        </p:nvSpPr>
        <p:spPr>
          <a:xfrm>
            <a:off x="582930" y="731519"/>
            <a:ext cx="2133893" cy="3237579"/>
          </a:xfrm>
        </p:spPr>
        <p:txBody>
          <a:bodyPr>
            <a:normAutofit/>
          </a:bodyPr>
          <a:lstStyle/>
          <a:p>
            <a:r>
              <a:rPr lang="en-US" sz="2800">
                <a:solidFill>
                  <a:srgbClr val="FFFFFF"/>
                </a:solidFill>
              </a:rPr>
              <a:t>Culture and Perspectives on Work</a:t>
            </a:r>
          </a:p>
        </p:txBody>
      </p:sp>
      <p:sp>
        <p:nvSpPr>
          <p:cNvPr id="12" name="Rectangle 11">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7" y="4419227"/>
            <a:ext cx="2560777" cy="1979852"/>
          </a:xfrm>
          <a:prstGeom prst="rect">
            <a:avLst/>
          </a:prstGeom>
          <a:solidFill>
            <a:schemeClr val="accent5">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4" name="Rectangle 13">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3452" y="448055"/>
            <a:ext cx="5766356" cy="5952745"/>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D56C9423-3F9A-A262-8109-DDF1695F1941}"/>
              </a:ext>
            </a:extLst>
          </p:cNvPr>
          <p:cNvSpPr>
            <a:spLocks noGrp="1"/>
          </p:cNvSpPr>
          <p:nvPr>
            <p:ph type="ftr" sz="quarter" idx="11"/>
          </p:nvPr>
        </p:nvSpPr>
        <p:spPr>
          <a:xfrm>
            <a:off x="346543" y="6407779"/>
            <a:ext cx="5006340" cy="365125"/>
          </a:xfrm>
        </p:spPr>
        <p:txBody>
          <a:bodyPr>
            <a:normAutofit/>
          </a:bodyPr>
          <a:lstStyle/>
          <a:p>
            <a:pPr algn="l">
              <a:spcAft>
                <a:spcPts val="600"/>
              </a:spcAft>
            </a:pPr>
            <a:r>
              <a:rPr lang="en-US" sz="900">
                <a:solidFill>
                  <a:schemeClr val="tx1">
                    <a:lumMod val="50000"/>
                    <a:lumOff val="50000"/>
                  </a:schemeClr>
                </a:solidFill>
              </a:rPr>
              <a:t>The Science and Application of Positive Psychology © Cambridge University Press 2021</a:t>
            </a:r>
          </a:p>
        </p:txBody>
      </p:sp>
      <p:graphicFrame>
        <p:nvGraphicFramePr>
          <p:cNvPr id="6" name="Content Placeholder 2">
            <a:extLst>
              <a:ext uri="{FF2B5EF4-FFF2-40B4-BE49-F238E27FC236}">
                <a16:creationId xmlns:a16="http://schemas.microsoft.com/office/drawing/2014/main" id="{6A3A20F7-AFC8-51BB-DE69-D1964D9AE271}"/>
              </a:ext>
            </a:extLst>
          </p:cNvPr>
          <p:cNvGraphicFramePr>
            <a:graphicFrameLocks noGrp="1"/>
          </p:cNvGraphicFramePr>
          <p:nvPr>
            <p:ph idx="1"/>
            <p:extLst>
              <p:ext uri="{D42A27DB-BD31-4B8C-83A1-F6EECF244321}">
                <p14:modId xmlns:p14="http://schemas.microsoft.com/office/powerpoint/2010/main" val="143184808"/>
              </p:ext>
            </p:extLst>
          </p:nvPr>
        </p:nvGraphicFramePr>
        <p:xfrm>
          <a:off x="3284934" y="687388"/>
          <a:ext cx="5278041" cy="54752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557841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1A87B-B8B5-4AC9-8BA6-915228DD2649}"/>
              </a:ext>
            </a:extLst>
          </p:cNvPr>
          <p:cNvSpPr>
            <a:spLocks noGrp="1"/>
          </p:cNvSpPr>
          <p:nvPr>
            <p:ph type="title"/>
          </p:nvPr>
        </p:nvSpPr>
        <p:spPr>
          <a:xfrm>
            <a:off x="628650" y="281045"/>
            <a:ext cx="7886700" cy="1325563"/>
          </a:xfrm>
        </p:spPr>
        <p:txBody>
          <a:bodyPr/>
          <a:lstStyle/>
          <a:p>
            <a:r>
              <a:rPr lang="en-US" dirty="0"/>
              <a:t>Work Motivation and Job Satisfaction</a:t>
            </a:r>
          </a:p>
        </p:txBody>
      </p:sp>
      <p:sp>
        <p:nvSpPr>
          <p:cNvPr id="4" name="Footer Placeholder 3">
            <a:extLst>
              <a:ext uri="{FF2B5EF4-FFF2-40B4-BE49-F238E27FC236}">
                <a16:creationId xmlns:a16="http://schemas.microsoft.com/office/drawing/2014/main" id="{6C9ACD92-2F40-4234-9A30-DE925324C26E}"/>
              </a:ext>
            </a:extLst>
          </p:cNvPr>
          <p:cNvSpPr>
            <a:spLocks noGrp="1"/>
          </p:cNvSpPr>
          <p:nvPr>
            <p:ph type="ftr" sz="quarter" idx="11"/>
          </p:nvPr>
        </p:nvSpPr>
        <p:spPr/>
        <p:txBody>
          <a:bodyPr/>
          <a:lstStyle/>
          <a:p>
            <a:r>
              <a:rPr lang="en-US"/>
              <a:t>The Science of Positive Psychology © Cambridge University Press 2021</a:t>
            </a:r>
            <a:endParaRPr lang="en-US" dirty="0"/>
          </a:p>
        </p:txBody>
      </p:sp>
      <p:pic>
        <p:nvPicPr>
          <p:cNvPr id="5" name="Picture 4">
            <a:extLst>
              <a:ext uri="{FF2B5EF4-FFF2-40B4-BE49-F238E27FC236}">
                <a16:creationId xmlns:a16="http://schemas.microsoft.com/office/drawing/2014/main" id="{81532939-4D85-4C2A-9FCF-E19EFED77275}"/>
              </a:ext>
            </a:extLst>
          </p:cNvPr>
          <p:cNvPicPr>
            <a:picLocks noChangeAspect="1"/>
          </p:cNvPicPr>
          <p:nvPr/>
        </p:nvPicPr>
        <p:blipFill>
          <a:blip r:embed="rId2"/>
          <a:stretch>
            <a:fillRect/>
          </a:stretch>
        </p:blipFill>
        <p:spPr>
          <a:xfrm>
            <a:off x="1345325" y="1620044"/>
            <a:ext cx="6096000" cy="4762500"/>
          </a:xfrm>
          <a:prstGeom prst="rect">
            <a:avLst/>
          </a:prstGeom>
        </p:spPr>
      </p:pic>
    </p:spTree>
    <p:extLst>
      <p:ext uri="{BB962C8B-B14F-4D97-AF65-F5344CB8AC3E}">
        <p14:creationId xmlns:p14="http://schemas.microsoft.com/office/powerpoint/2010/main" val="36727138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A5B4632-C963-4296-86F0-79AA9EA5AE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253746" y="303591"/>
            <a:ext cx="3251495" cy="5896743"/>
          </a:xfrm>
          <a:prstGeom prst="rect">
            <a:avLst/>
          </a:prstGeom>
          <a:solidFill>
            <a:schemeClr val="tx1">
              <a:lumMod val="75000"/>
              <a:lumOff val="25000"/>
            </a:schemeClr>
          </a:solidFill>
          <a:ln w="127000" cap="sq" cmpd="thinThick">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29F7A4-1C59-4B84-8B3C-64BFC419DD83}"/>
              </a:ext>
            </a:extLst>
          </p:cNvPr>
          <p:cNvSpPr>
            <a:spLocks noGrp="1"/>
          </p:cNvSpPr>
          <p:nvPr>
            <p:ph type="title"/>
          </p:nvPr>
        </p:nvSpPr>
        <p:spPr>
          <a:xfrm>
            <a:off x="445770" y="637125"/>
            <a:ext cx="2851707" cy="5256371"/>
          </a:xfrm>
        </p:spPr>
        <p:txBody>
          <a:bodyPr>
            <a:normAutofit/>
          </a:bodyPr>
          <a:lstStyle/>
          <a:p>
            <a:r>
              <a:rPr lang="en-US" sz="2900" dirty="0">
                <a:solidFill>
                  <a:schemeClr val="bg1"/>
                </a:solidFill>
              </a:rPr>
              <a:t>Transformational Leadership</a:t>
            </a:r>
            <a:br>
              <a:rPr lang="en-US" sz="2900" dirty="0">
                <a:solidFill>
                  <a:schemeClr val="bg1"/>
                </a:solidFill>
              </a:rPr>
            </a:br>
            <a:br>
              <a:rPr lang="en-US" sz="2900" dirty="0">
                <a:solidFill>
                  <a:schemeClr val="bg1"/>
                </a:solidFill>
              </a:rPr>
            </a:br>
            <a:r>
              <a:rPr lang="en-US" sz="2900" dirty="0">
                <a:solidFill>
                  <a:schemeClr val="bg1"/>
                </a:solidFill>
              </a:rPr>
              <a:t>How are transformational leaders effective?</a:t>
            </a:r>
          </a:p>
        </p:txBody>
      </p:sp>
      <p:sp>
        <p:nvSpPr>
          <p:cNvPr id="4" name="Footer Placeholder 3">
            <a:extLst>
              <a:ext uri="{FF2B5EF4-FFF2-40B4-BE49-F238E27FC236}">
                <a16:creationId xmlns:a16="http://schemas.microsoft.com/office/drawing/2014/main" id="{C730DB49-E353-4660-AB48-2A6CF4A4ECC6}"/>
              </a:ext>
            </a:extLst>
          </p:cNvPr>
          <p:cNvSpPr>
            <a:spLocks noGrp="1"/>
          </p:cNvSpPr>
          <p:nvPr>
            <p:ph type="ftr" sz="quarter" idx="11"/>
          </p:nvPr>
        </p:nvSpPr>
        <p:spPr>
          <a:xfrm>
            <a:off x="3028950" y="6356350"/>
            <a:ext cx="3086100" cy="365125"/>
          </a:xfrm>
        </p:spPr>
        <p:txBody>
          <a:bodyPr>
            <a:normAutofit/>
          </a:bodyPr>
          <a:lstStyle/>
          <a:p>
            <a:pPr>
              <a:lnSpc>
                <a:spcPct val="90000"/>
              </a:lnSpc>
              <a:spcAft>
                <a:spcPts val="600"/>
              </a:spcAft>
            </a:pPr>
            <a:r>
              <a:rPr lang="en-US" sz="900">
                <a:solidFill>
                  <a:srgbClr val="898989"/>
                </a:solidFill>
              </a:rPr>
              <a:t>The Science of Positive Psychology © Cambridge University Press 2021</a:t>
            </a:r>
          </a:p>
        </p:txBody>
      </p:sp>
      <p:graphicFrame>
        <p:nvGraphicFramePr>
          <p:cNvPr id="7" name="Content Placeholder 2">
            <a:extLst>
              <a:ext uri="{FF2B5EF4-FFF2-40B4-BE49-F238E27FC236}">
                <a16:creationId xmlns:a16="http://schemas.microsoft.com/office/drawing/2014/main" id="{F01A0F71-0BA5-7A5B-D03D-D1DB0090D35F}"/>
              </a:ext>
            </a:extLst>
          </p:cNvPr>
          <p:cNvGraphicFramePr>
            <a:graphicFrameLocks noGrp="1"/>
          </p:cNvGraphicFramePr>
          <p:nvPr>
            <p:ph idx="1"/>
            <p:extLst>
              <p:ext uri="{D42A27DB-BD31-4B8C-83A1-F6EECF244321}">
                <p14:modId xmlns:p14="http://schemas.microsoft.com/office/powerpoint/2010/main" val="2779076534"/>
              </p:ext>
            </p:extLst>
          </p:nvPr>
        </p:nvGraphicFramePr>
        <p:xfrm>
          <a:off x="3875238" y="303591"/>
          <a:ext cx="4941519" cy="58967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11966103"/>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3.jpeg"/></Relationships>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1F5FA861B6BEB4497E30226FB654B7F" ma:contentTypeVersion="14" ma:contentTypeDescription="Create a new document." ma:contentTypeScope="" ma:versionID="5446b6abc1174e76b1ecf231e0511309">
  <xsd:schema xmlns:xsd="http://www.w3.org/2001/XMLSchema" xmlns:xs="http://www.w3.org/2001/XMLSchema" xmlns:p="http://schemas.microsoft.com/office/2006/metadata/properties" xmlns:ns3="098d3ce3-1732-4665-af2b-0c47aa6f0599" xmlns:ns4="6ebc9d44-dfc5-41fa-9646-f594d8bccd35" targetNamespace="http://schemas.microsoft.com/office/2006/metadata/properties" ma:root="true" ma:fieldsID="6ac3cd6cbff858ee08bb67d456e99cb1" ns3:_="" ns4:_="">
    <xsd:import namespace="098d3ce3-1732-4665-af2b-0c47aa6f0599"/>
    <xsd:import namespace="6ebc9d44-dfc5-41fa-9646-f594d8bccd35"/>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3:MediaServiceLocation" minOccurs="0"/>
                <xsd:element ref="ns4:SharedWithUsers" minOccurs="0"/>
                <xsd:element ref="ns4:SharedWithDetails" minOccurs="0"/>
                <xsd:element ref="ns4:SharingHintHash"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98d3ce3-1732-4665-af2b-0c47aa6f059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1"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6ebc9d44-dfc5-41fa-9646-f594d8bccd35"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A77D237-49E5-43D1-BBAE-C65D6743158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98d3ce3-1732-4665-af2b-0c47aa6f0599"/>
    <ds:schemaRef ds:uri="6ebc9d44-dfc5-41fa-9646-f594d8bccd3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F9FC689-0397-489D-B6C4-918490A97925}">
  <ds:schemaRefs>
    <ds:schemaRef ds:uri="http://schemas.microsoft.com/office/2006/documentManagement/types"/>
    <ds:schemaRef ds:uri="http://schemas.microsoft.com/office/2006/metadata/properties"/>
    <ds:schemaRef ds:uri="6ebc9d44-dfc5-41fa-9646-f594d8bccd35"/>
    <ds:schemaRef ds:uri="http://purl.org/dc/dcmitype/"/>
    <ds:schemaRef ds:uri="http://purl.org/dc/elements/1.1/"/>
    <ds:schemaRef ds:uri="http://www.w3.org/XML/1998/namespace"/>
    <ds:schemaRef ds:uri="098d3ce3-1732-4665-af2b-0c47aa6f0599"/>
    <ds:schemaRef ds:uri="http://schemas.microsoft.com/office/infopath/2007/PartnerControls"/>
    <ds:schemaRef ds:uri="http://schemas.openxmlformats.org/package/2006/metadata/core-properties"/>
    <ds:schemaRef ds:uri="http://purl.org/dc/terms/"/>
  </ds:schemaRefs>
</ds:datastoreItem>
</file>

<file path=customXml/itemProps3.xml><?xml version="1.0" encoding="utf-8"?>
<ds:datastoreItem xmlns:ds="http://schemas.openxmlformats.org/officeDocument/2006/customXml" ds:itemID="{EF14F560-3B9A-438C-83B1-6E3F72FA087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4406</TotalTime>
  <Words>2224</Words>
  <Application>Microsoft Office PowerPoint</Application>
  <PresentationFormat>On-screen Show (4:3)</PresentationFormat>
  <Paragraphs>221</Paragraphs>
  <Slides>30</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30</vt:i4>
      </vt:variant>
    </vt:vector>
  </HeadingPairs>
  <TitlesOfParts>
    <vt:vector size="38" baseType="lpstr">
      <vt:lpstr>Arial</vt:lpstr>
      <vt:lpstr>Calibri</vt:lpstr>
      <vt:lpstr>Calibri Light</vt:lpstr>
      <vt:lpstr>Tw Cen MT</vt:lpstr>
      <vt:lpstr>Tw Cen MT Condensed</vt:lpstr>
      <vt:lpstr>Wingdings 3</vt:lpstr>
      <vt:lpstr>Office Theme</vt:lpstr>
      <vt:lpstr>Integral</vt:lpstr>
      <vt:lpstr>Chapter 13</vt:lpstr>
      <vt:lpstr>Why Happiness at Work Matters: Overview</vt:lpstr>
      <vt:lpstr>Flip Side: Why Unhappiness at Work Matters</vt:lpstr>
      <vt:lpstr>Why does happiness at work matter?</vt:lpstr>
      <vt:lpstr>PowerPoint Presentation</vt:lpstr>
      <vt:lpstr>Employee Engagement</vt:lpstr>
      <vt:lpstr>What Promotes Engagement?</vt:lpstr>
      <vt:lpstr>What Promotes Engagement?</vt:lpstr>
      <vt:lpstr>Explanations for Positive Emotions </vt:lpstr>
      <vt:lpstr>PowerPoint Presentation</vt:lpstr>
      <vt:lpstr>PowerPoint Presentation</vt:lpstr>
      <vt:lpstr>Happiness and Employment Success</vt:lpstr>
      <vt:lpstr>PowerPoint Presentation</vt:lpstr>
      <vt:lpstr>Happiness Prospectively Predicts Job Outcomes</vt:lpstr>
      <vt:lpstr>Journal Entry #22  Design a Happy Workplace</vt:lpstr>
      <vt:lpstr>Job, Career, Calling</vt:lpstr>
      <vt:lpstr>When Work is a Calling</vt:lpstr>
      <vt:lpstr>It’s not just a job, it’s a calling </vt:lpstr>
      <vt:lpstr>It’s not just a job, it’s a calling</vt:lpstr>
      <vt:lpstr>Prosocial Motives in the Workplace</vt:lpstr>
      <vt:lpstr>Prosocial Behaviors</vt:lpstr>
      <vt:lpstr>Association between Frequency of Prosocial Behavior and Performance</vt:lpstr>
      <vt:lpstr>Prosocial Impact</vt:lpstr>
      <vt:lpstr>Employers can make the job better: Demonstrate Trust in Workers</vt:lpstr>
      <vt:lpstr>Employers can make the job better: Provide Opportunities that Match Strengths</vt:lpstr>
      <vt:lpstr>Employees can make the job better: Job Crafting</vt:lpstr>
      <vt:lpstr>Employees can make the job better: Make Social Connections</vt:lpstr>
      <vt:lpstr>Culture and Perspectives on Work</vt:lpstr>
      <vt:lpstr>Work Motivation and Job Satisfaction</vt:lpstr>
      <vt:lpstr>Transformational Leadership  How are transformational leaders effective?</vt:lpstr>
    </vt:vector>
  </TitlesOfParts>
  <Company>Cambridge University Press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Jane Adams</dc:creator>
  <cp:lastModifiedBy>Traver, Holly</cp:lastModifiedBy>
  <cp:revision>38</cp:revision>
  <dcterms:created xsi:type="dcterms:W3CDTF">2021-07-26T18:02:28Z</dcterms:created>
  <dcterms:modified xsi:type="dcterms:W3CDTF">2025-05-31T14:58:00Z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0x01010031F5FA861B6BEB4497E30226FB654B7F</vt:lpwstr>
  </property>
</Properties>
</file>